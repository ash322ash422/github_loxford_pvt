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76" r:id="rId2"/>
    <p:sldId id="258" r:id="rId3"/>
    <p:sldId id="308" r:id="rId4"/>
    <p:sldId id="262" r:id="rId5"/>
    <p:sldId id="260" r:id="rId6"/>
    <p:sldId id="297" r:id="rId7"/>
    <p:sldId id="309" r:id="rId8"/>
    <p:sldId id="299" r:id="rId9"/>
    <p:sldId id="296" r:id="rId10"/>
    <p:sldId id="300" r:id="rId11"/>
    <p:sldId id="305" r:id="rId12"/>
    <p:sldId id="304" r:id="rId13"/>
    <p:sldId id="306" r:id="rId14"/>
    <p:sldId id="303" r:id="rId15"/>
    <p:sldId id="307" r:id="rId16"/>
    <p:sldId id="302" r:id="rId17"/>
    <p:sldId id="291" r:id="rId18"/>
    <p:sldId id="263" r:id="rId19"/>
    <p:sldId id="264" r:id="rId20"/>
    <p:sldId id="292" r:id="rId21"/>
    <p:sldId id="265" r:id="rId22"/>
    <p:sldId id="293" r:id="rId23"/>
    <p:sldId id="294" r:id="rId24"/>
    <p:sldId id="266" r:id="rId25"/>
    <p:sldId id="267" r:id="rId26"/>
    <p:sldId id="268" r:id="rId27"/>
    <p:sldId id="269" r:id="rId28"/>
    <p:sldId id="270" r:id="rId29"/>
    <p:sldId id="259" r:id="rId30"/>
    <p:sldId id="271" r:id="rId31"/>
    <p:sldId id="257" r:id="rId32"/>
    <p:sldId id="27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9/24/2026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3T04:42:49.759"/>
    </inkml:context>
    <inkml:brush xml:id="br0">
      <inkml:brushProperty name="width" value="0.2" units="cm"/>
      <inkml:brushProperty name="height" value="0.2" units="cm"/>
    </inkml:brush>
  </inkml:definitions>
  <inkml:trace contextRef="#ctx0" brushRef="#br0">38 47 11361 0 0,'0'0'3122'0'0,"-34"-8"-8836"0"0,31 4 4890 0 0,3 3 706 0 0,0 1 1 0 0,0-1-1 0 0,0 0 0 0 0,-1 1 0 0 0,1-1 1 0 0,0 1-1 0 0,0-1 0 0 0,0 0 1 0 0,0 1-1 0 0,0-1 0 0 0,0 0 0 0 0,0 1 1 0 0,1-1-1 0 0,-1 0 0 0 0,0 1 0 0 0,0-1 1 0 0,0 1-1 0 0,1-1 0 0 0,-1 0 0 0 0,0 1 1 0 0,0-1-1 0 0,3-2-589 0 0,8-15-2085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18:38:26.198"/>
    </inkml:context>
    <inkml:brush xml:id="br0">
      <inkml:brushProperty name="width" value="0.1" units="cm"/>
      <inkml:brushProperty name="height" value="0.1" units="cm"/>
      <inkml:brushProperty name="color" value="#E0EE26"/>
    </inkml:brush>
  </inkml:definitions>
  <inkml:trace contextRef="#ctx0" brushRef="#br0">20516 3964 24575,'-11'-18'0,"0"1"0,-1 0 0,-19-21 0,-8-10 0,-6-7 0,-2 3 0,-2 1 0,-65-51 0,55 51 0,32 26 0,10 8 0,-1 2 0,0 0 0,-1 1 0,0 0 0,-24-10 0,16 7 0,0-1 0,1-1 0,0-1 0,2-1 0,0-1 0,-27-35 0,-14-10 0,-37-38 0,-40-36 0,97 99 0,6 4 0,-61-44 0,-88-72 0,170 137 0,-9-7 0,13 11 0,0 0 0,-26-17 0,-11-6 0,2-3 0,-57-55 0,-26-22 0,37 33 0,-101-114 0,-99-107 0,124 128 0,147 151 0,-1 0 0,-1 2 0,-1 1 0,-2 1 0,1 1 0,-64-31 0,63 35 0,0 0 0,-33-26 0,39 25 0,-1 0 0,-1 2 0,-41-18 0,-45-22 0,79 38 0,4-1 0,0 0 0,-33-30 0,37 28 0,0 2 0,-1 0 0,-29-14 0,-62-24 0,-87-46 0,179 91 0,-1 0 0,-38-10 0,-6-2 0,39 11 0,-95-37 0,-221-58 0,242 92 0,77 13 0,1-1 0,-1-2 0,1 0 0,-29-11 0,10 0 0,-1 2 0,-1 2 0,-90-12 0,118 21 0,0-1 0,-27-10 0,-32-6 0,46 15 0,-71-9 0,1-4 0,-140-45 0,213 54 0,0 1 0,-1 2 0,0 0 0,-39-1 0,-122 6 0,97 3 0,40 2 0,0 3 0,0 1 0,1 3 0,-63 22 0,-77 15 0,91-36 0,-1-4 0,-174-9 0,103-2 0,110 4 0,-1-3 0,1-3 0,-102-22 0,-10-1 0,58 11 0,74 10 0,-42-9 0,0 3 0,-131-2 0,175 14 0,-1-3 0,-73-15 0,67 9 0,-77-5 0,62 14 0,39 2 0,0-2 0,0 0 0,0-1 0,1-2 0,-49-13 0,-6-8 0,0 3 0,-2 4 0,0 3 0,-1 4 0,0 3 0,-108 5 0,-221 19 0,288-6 0,-175 25 0,224-25 0,-1-4 0,-146-7 0,-34 2 0,154 11 0,59-5 0,-55 0 0,3-7 0,-3-1 0,-140 16 0,97-6 0,56-6 0,70-1 0,-1 1 0,1 0 0,-1 1 0,-23 10 0,-39 10 0,62-20 0,0 1 0,0 0 0,0 1 0,1 0 0,0 2 0,-20 12 0,16-9 0,-2 0 0,-27 11 0,22-13 0,-31 11 0,1 1 0,1 4 0,-79 46 0,122-62 0,-1 0 0,2 1 0,-1 0 0,1 1 0,1 0 0,-15 21 0,-41 83 0,31-52 0,-15 19 0,-43 84 0,43-77 0,33-61 0,-25 56 0,25-48 0,-26 44 0,26-52 0,1 1 0,-19 52 0,-23 66 0,39-107 0,2 0 0,2 1 0,-12 53 0,13-45 0,-1 0 0,-2-2 0,-3 0 0,-45 82 0,-13 13 0,44-86 0,13-21 0,-2 0 0,-39 48 0,6-11 0,44-55 0,0-2 0,-1 0 0,0 0 0,-1-1 0,-1-1 0,-26 21 0,20-21 0,-1-1 0,0-1 0,-1 0 0,0-2 0,-1 0 0,0-2 0,0-1 0,0 0 0,-1-2 0,0-1 0,0 0 0,-35-2 0,36-2 0,-1 1 0,1 1 0,0 1 0,-1 2 0,1 0 0,-44 14 0,-110 40 0,164-54 0,1 0 0,0 2 0,-17 9 0,19-9 0,0-1 0,0 0 0,-1-1 0,0 0 0,-16 4 0,-22-2 0,-1-3 0,-98-5 0,40-2 0,15 6 0,-103-4 0,182 0 0,1-1 0,-1-1 0,1 1 0,0-2 0,0 0 0,-16-10 0,15 8 0,-1 1 0,1 0 0,-1 1 0,0 0 0,-16-2 0,-114-3 0,8 1 0,131 9 0,-1-1 0,1 2 0,0-1 0,0 0 0,0 1 0,0 0 0,0 1 0,0-1 0,0 1 0,0 0 0,0 1 0,1-1 0,-1 1 0,1 0 0,0 1 0,0-1 0,0 1 0,-6 6 0,-40 24 0,36-28 0,0-2 0,0 1 0,0-2 0,0 0 0,-1-1 0,1 0 0,-1-1 0,-16-2 0,-44 6 0,-106 29 0,147-30 0,1-2 0,-63-3 0,66 0 0,-1 0 0,0 2 0,-55 9 0,31-1 0,-1-2 0,0-3 0,0-3 0,-78-7 0,16-5 0,-88-4 0,192 16 0,-159-6 0,151 3 0,0-1 0,0-1 0,0-1 0,1-2 0,-31-12 0,34 12 0,0 0 0,0 2 0,-1 0 0,0 1 0,0 1 0,-22-1 0,-126 5 0,65 2 0,85-3 0,-86 0 0,-123-15 0,16-16 0,137 19 0,38 5 0,0 1 0,-44 0 0,-91-9 0,85 4 0,-73-12 0,91 12 0,-122-6 0,97 16 0,-129 5 0,201-1 22,0 1 0,1 1 0,-1 1-1,2 0 1,-39 20 0,31-14-521,0-1 1,-30 7-1,31-12-6327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18:38:28.472"/>
    </inkml:context>
    <inkml:brush xml:id="br0">
      <inkml:brushProperty name="width" value="0.1" units="cm"/>
      <inkml:brushProperty name="height" value="0.1" units="cm"/>
      <inkml:brushProperty name="color" value="#E0EE26"/>
    </inkml:brush>
  </inkml:definitions>
  <inkml:trace contextRef="#ctx0" brushRef="#br0">167 0 24575,'-2'5'0,"0"0"0,0 0 0,-1-1 0,1 1 0,-1-1 0,0 0 0,0 0 0,-1 0 0,1 0 0,-1 0 0,-6 4 0,1 1 0,-23 23 0,12-13 0,-30 38 0,48-54 0,0-1 0,1 1 0,0-1 0,-1 1 0,1 0 0,0-1 0,0 1 0,0 0 0,1 0 0,-1 0 0,1-1 0,-1 1 0,1 0 0,0 0 0,0 0 0,0 0 0,1 0 0,-1 0 0,1 0 0,-1 0 0,1-1 0,0 1 0,0 0 0,0 0 0,1-1 0,-1 1 0,1-1 0,-1 1 0,1-1 0,0 0 0,0 1 0,0-1 0,0 0 0,0 0 0,0-1 0,5 4 0,9 7 0,1-1 0,1-1 0,0 0 0,22 9 0,-18-9 0,23 12-455,0 3 0,64 47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63499C-1FAC-4F66-96F8-6DA2CC28B748}" type="slidenum">
              <a:rPr lang="en-US" smtClean="0"/>
              <a:t>6</a:t>
            </a:fld>
            <a:endParaRPr lang="en-US"/>
          </a:p>
        </p:txBody>
      </p:sp>
    </p:spTree>
    <p:extLst>
      <p:ext uri="{BB962C8B-B14F-4D97-AF65-F5344CB8AC3E}">
        <p14:creationId xmlns:p14="http://schemas.microsoft.com/office/powerpoint/2010/main" val="706456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3DDD-16EE-91CA-5B1D-B3167DD6F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22BF9-7F70-6E72-E962-B41E78B54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6F488-28E6-BC94-13A9-92CF758878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EE0E85-BC43-684B-94F7-61F3797B56D7}"/>
              </a:ext>
            </a:extLst>
          </p:cNvPr>
          <p:cNvSpPr>
            <a:spLocks noGrp="1"/>
          </p:cNvSpPr>
          <p:nvPr>
            <p:ph type="sldNum" sz="quarter" idx="5"/>
          </p:nvPr>
        </p:nvSpPr>
        <p:spPr/>
        <p:txBody>
          <a:bodyPr/>
          <a:lstStyle/>
          <a:p>
            <a:fld id="{6C63499C-1FAC-4F66-96F8-6DA2CC28B748}" type="slidenum">
              <a:rPr lang="en-US" smtClean="0"/>
              <a:t>7</a:t>
            </a:fld>
            <a:endParaRPr lang="en-US"/>
          </a:p>
        </p:txBody>
      </p:sp>
    </p:spTree>
    <p:extLst>
      <p:ext uri="{BB962C8B-B14F-4D97-AF65-F5344CB8AC3E}">
        <p14:creationId xmlns:p14="http://schemas.microsoft.com/office/powerpoint/2010/main" val="3807667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9/24/2026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datacamp.com/tutorial/generative-adversarial-networks" TargetMode="External"/><Relationship Id="rId2" Type="http://schemas.openxmlformats.org/officeDocument/2006/relationships/hyperlink" Target="https://www.analyticsvidhya.com/blog/2021/06/a-detailed-explanation-of-gan-with-implementation-using-tensorflow-and-keras/" TargetMode="External"/><Relationship Id="rId1" Type="http://schemas.openxmlformats.org/officeDocument/2006/relationships/slideLayout" Target="../slideLayouts/slideLayout2.xml"/><Relationship Id="rId6" Type="http://schemas.openxmlformats.org/officeDocument/2006/relationships/hyperlink" Target="https://www.w3computing.com/articles/implementing-gans-generative-adversarial-networks-from-scratch/" TargetMode="External"/><Relationship Id="rId5" Type="http://schemas.openxmlformats.org/officeDocument/2006/relationships/hyperlink" Target="https://realpython.com/generative-adversarial-networks/" TargetMode="External"/><Relationship Id="rId4" Type="http://schemas.openxmlformats.org/officeDocument/2006/relationships/hyperlink" Target="https://www.digitalocean.com/community/tutorials/implementing-gans-in-tensorflow"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E2CCC5-C22C-BAAC-7DB9-CCB503095A94}"/>
              </a:ext>
            </a:extLst>
          </p:cNvPr>
          <p:cNvSpPr txBox="1"/>
          <p:nvPr/>
        </p:nvSpPr>
        <p:spPr>
          <a:xfrm>
            <a:off x="1426464" y="3244334"/>
            <a:ext cx="9427464" cy="523220"/>
          </a:xfrm>
          <a:prstGeom prst="rect">
            <a:avLst/>
          </a:prstGeom>
          <a:noFill/>
        </p:spPr>
        <p:txBody>
          <a:bodyPr wrap="square">
            <a:spAutoFit/>
          </a:bodyPr>
          <a:lstStyle/>
          <a:p>
            <a:r>
              <a:rPr lang="en-US" sz="2800" dirty="0">
                <a:solidFill>
                  <a:schemeClr val="accent6">
                    <a:lumMod val="60000"/>
                    <a:lumOff val="40000"/>
                  </a:schemeClr>
                </a:solidFill>
              </a:rPr>
              <a:t>https://www.youtube.com/watch?v=8L11aMN5KY8&amp;t=234s</a:t>
            </a:r>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B9AE45-E392-0F8C-F716-D2983FF8C6B9}"/>
              </a:ext>
            </a:extLst>
          </p:cNvPr>
          <p:cNvSpPr txBox="1"/>
          <p:nvPr/>
        </p:nvSpPr>
        <p:spPr>
          <a:xfrm>
            <a:off x="219456" y="146733"/>
            <a:ext cx="11850624" cy="2677656"/>
          </a:xfrm>
          <a:prstGeom prst="rect">
            <a:avLst/>
          </a:prstGeom>
          <a:noFill/>
        </p:spPr>
        <p:txBody>
          <a:bodyPr wrap="square">
            <a:spAutoFit/>
          </a:bodyPr>
          <a:lstStyle/>
          <a:p>
            <a:r>
              <a:rPr lang="en-US" sz="2400" b="1" dirty="0">
                <a:solidFill>
                  <a:schemeClr val="accent6">
                    <a:lumMod val="60000"/>
                    <a:lumOff val="40000"/>
                  </a:schemeClr>
                </a:solidFill>
              </a:rPr>
              <a:t>Generative Adversarial Networks (GANs)</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GANs were invented by Jan Goodfellow,  and his colleagues at the University of Montreal in 2014</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GAN is a class of algorithmic machine learning framework having two neural networks:</a:t>
            </a:r>
          </a:p>
          <a:p>
            <a:r>
              <a:rPr lang="en-US" sz="2400" b="1" i="1" dirty="0">
                <a:solidFill>
                  <a:schemeClr val="accent6">
                    <a:lumMod val="60000"/>
                    <a:lumOff val="40000"/>
                  </a:schemeClr>
                </a:solidFill>
              </a:rPr>
              <a:t>Generator + Discriminator</a:t>
            </a:r>
          </a:p>
        </p:txBody>
      </p:sp>
      <p:sp>
        <p:nvSpPr>
          <p:cNvPr id="3" name="Rectangle: Rounded Corners 2">
            <a:extLst>
              <a:ext uri="{FF2B5EF4-FFF2-40B4-BE49-F238E27FC236}">
                <a16:creationId xmlns:a16="http://schemas.microsoft.com/office/drawing/2014/main" id="{DB738CDE-E488-0017-785A-87553976347C}"/>
              </a:ext>
            </a:extLst>
          </p:cNvPr>
          <p:cNvSpPr/>
          <p:nvPr/>
        </p:nvSpPr>
        <p:spPr>
          <a:xfrm>
            <a:off x="4187952" y="5779008"/>
            <a:ext cx="2020824"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4" name="Rectangle: Rounded Corners 3">
            <a:extLst>
              <a:ext uri="{FF2B5EF4-FFF2-40B4-BE49-F238E27FC236}">
                <a16:creationId xmlns:a16="http://schemas.microsoft.com/office/drawing/2014/main" id="{2C19FF01-3E9D-73B4-852C-87D4A98855DC}"/>
              </a:ext>
            </a:extLst>
          </p:cNvPr>
          <p:cNvSpPr/>
          <p:nvPr/>
        </p:nvSpPr>
        <p:spPr>
          <a:xfrm>
            <a:off x="7888224" y="577900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6" name="Arrow: Right 5">
            <a:extLst>
              <a:ext uri="{FF2B5EF4-FFF2-40B4-BE49-F238E27FC236}">
                <a16:creationId xmlns:a16="http://schemas.microsoft.com/office/drawing/2014/main" id="{7ED6F2BF-884D-16F8-36CF-72E12F8DA3CE}"/>
              </a:ext>
            </a:extLst>
          </p:cNvPr>
          <p:cNvSpPr/>
          <p:nvPr/>
        </p:nvSpPr>
        <p:spPr>
          <a:xfrm>
            <a:off x="6490715" y="5757672"/>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16AFA31B-1C30-003B-3428-0D7B6663C41C}"/>
              </a:ext>
            </a:extLst>
          </p:cNvPr>
          <p:cNvSpPr/>
          <p:nvPr/>
        </p:nvSpPr>
        <p:spPr>
          <a:xfrm rot="10800000">
            <a:off x="6490715" y="6135624"/>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451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67511-1B04-644E-7651-FC8DBAF094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42B9136-2CDA-D7BB-F4AE-6892E83DF15F}"/>
              </a:ext>
            </a:extLst>
          </p:cNvPr>
          <p:cNvSpPr txBox="1"/>
          <p:nvPr/>
        </p:nvSpPr>
        <p:spPr>
          <a:xfrm>
            <a:off x="219456" y="146733"/>
            <a:ext cx="11850624" cy="3785652"/>
          </a:xfrm>
          <a:prstGeom prst="rect">
            <a:avLst/>
          </a:prstGeom>
          <a:noFill/>
        </p:spPr>
        <p:txBody>
          <a:bodyPr wrap="square">
            <a:spAutoFit/>
          </a:bodyPr>
          <a:lstStyle/>
          <a:p>
            <a:r>
              <a:rPr lang="en-US" sz="2400" dirty="0">
                <a:solidFill>
                  <a:schemeClr val="accent6">
                    <a:lumMod val="60000"/>
                    <a:lumOff val="40000"/>
                  </a:schemeClr>
                </a:solidFill>
              </a:rPr>
              <a:t>The </a:t>
            </a:r>
            <a:r>
              <a:rPr lang="en-US" sz="2400" b="1" dirty="0">
                <a:solidFill>
                  <a:schemeClr val="accent6">
                    <a:lumMod val="60000"/>
                    <a:lumOff val="40000"/>
                  </a:schemeClr>
                </a:solidFill>
              </a:rPr>
              <a:t>generator</a:t>
            </a:r>
            <a:r>
              <a:rPr lang="en-US" sz="2400" dirty="0">
                <a:solidFill>
                  <a:schemeClr val="accent6">
                    <a:lumMod val="60000"/>
                    <a:lumOff val="40000"/>
                  </a:schemeClr>
                </a:solidFill>
              </a:rPr>
              <a:t> and </a:t>
            </a:r>
            <a:r>
              <a:rPr lang="en-US" sz="2400" b="1" dirty="0">
                <a:solidFill>
                  <a:schemeClr val="accent6">
                    <a:lumMod val="60000"/>
                    <a:lumOff val="40000"/>
                  </a:schemeClr>
                </a:solidFill>
              </a:rPr>
              <a:t>discriminator</a:t>
            </a:r>
            <a:r>
              <a:rPr lang="en-US" sz="2400" dirty="0">
                <a:solidFill>
                  <a:schemeClr val="accent6">
                    <a:lumMod val="60000"/>
                    <a:lumOff val="40000"/>
                  </a:schemeClr>
                </a:solidFill>
              </a:rPr>
              <a:t> compete against each other: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generator generates fake data and tries to fool the discriminator.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discriminator tries to keep from being fooled.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generator will keep making </a:t>
            </a:r>
            <a:r>
              <a:rPr lang="en-US" sz="2400" b="1" i="1" dirty="0">
                <a:solidFill>
                  <a:schemeClr val="accent6">
                    <a:lumMod val="60000"/>
                    <a:lumOff val="40000"/>
                  </a:schemeClr>
                </a:solidFill>
              </a:rPr>
              <a:t>newer, improved</a:t>
            </a:r>
            <a:r>
              <a:rPr lang="en-US" sz="2400" dirty="0">
                <a:solidFill>
                  <a:schemeClr val="accent6">
                    <a:lumMod val="60000"/>
                    <a:lumOff val="40000"/>
                  </a:schemeClr>
                </a:solidFill>
              </a:rPr>
              <a:t> versions of fake data values until the discriminator can no longer distinguish fake from original.</a:t>
            </a:r>
          </a:p>
          <a:p>
            <a:endParaRPr lang="en-US" sz="2400" dirty="0">
              <a:solidFill>
                <a:schemeClr val="accent6">
                  <a:lumMod val="60000"/>
                  <a:lumOff val="40000"/>
                </a:schemeClr>
              </a:solidFill>
            </a:endParaRPr>
          </a:p>
          <a:p>
            <a:r>
              <a:rPr lang="en-US" sz="2400" b="1" i="1" dirty="0">
                <a:solidFill>
                  <a:schemeClr val="accent6">
                    <a:lumMod val="60000"/>
                    <a:lumOff val="40000"/>
                  </a:schemeClr>
                </a:solidFill>
              </a:rPr>
              <a:t>Generator + Discriminator work against one another; hence called </a:t>
            </a:r>
            <a:r>
              <a:rPr lang="en-US" sz="2400" b="1" i="1" u="sng" dirty="0">
                <a:solidFill>
                  <a:schemeClr val="accent6">
                    <a:lumMod val="60000"/>
                    <a:lumOff val="40000"/>
                  </a:schemeClr>
                </a:solidFill>
              </a:rPr>
              <a:t>adversarial networks</a:t>
            </a:r>
            <a:r>
              <a:rPr lang="en-US" sz="2400" b="1" i="1" dirty="0">
                <a:solidFill>
                  <a:schemeClr val="accent6">
                    <a:lumMod val="60000"/>
                    <a:lumOff val="40000"/>
                  </a:schemeClr>
                </a:solidFill>
              </a:rPr>
              <a:t>.</a:t>
            </a:r>
          </a:p>
        </p:txBody>
      </p:sp>
      <p:sp>
        <p:nvSpPr>
          <p:cNvPr id="3" name="Rectangle: Rounded Corners 2">
            <a:extLst>
              <a:ext uri="{FF2B5EF4-FFF2-40B4-BE49-F238E27FC236}">
                <a16:creationId xmlns:a16="http://schemas.microsoft.com/office/drawing/2014/main" id="{4CCC62D0-D3EF-007A-F236-B39725774BC4}"/>
              </a:ext>
            </a:extLst>
          </p:cNvPr>
          <p:cNvSpPr/>
          <p:nvPr/>
        </p:nvSpPr>
        <p:spPr>
          <a:xfrm>
            <a:off x="4187952" y="5779008"/>
            <a:ext cx="2020824"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4" name="Rectangle: Rounded Corners 3">
            <a:extLst>
              <a:ext uri="{FF2B5EF4-FFF2-40B4-BE49-F238E27FC236}">
                <a16:creationId xmlns:a16="http://schemas.microsoft.com/office/drawing/2014/main" id="{25E98836-CF46-B2D3-2E67-9A16B4AA2A51}"/>
              </a:ext>
            </a:extLst>
          </p:cNvPr>
          <p:cNvSpPr/>
          <p:nvPr/>
        </p:nvSpPr>
        <p:spPr>
          <a:xfrm>
            <a:off x="7888224" y="577900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6" name="Arrow: Right 5">
            <a:extLst>
              <a:ext uri="{FF2B5EF4-FFF2-40B4-BE49-F238E27FC236}">
                <a16:creationId xmlns:a16="http://schemas.microsoft.com/office/drawing/2014/main" id="{157F0F5F-DD30-25D7-90D2-AAAC80EE9738}"/>
              </a:ext>
            </a:extLst>
          </p:cNvPr>
          <p:cNvSpPr/>
          <p:nvPr/>
        </p:nvSpPr>
        <p:spPr>
          <a:xfrm>
            <a:off x="6490715" y="5757672"/>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C7F74805-D0BE-2CDC-F514-4E255D442DEF}"/>
              </a:ext>
            </a:extLst>
          </p:cNvPr>
          <p:cNvSpPr/>
          <p:nvPr/>
        </p:nvSpPr>
        <p:spPr>
          <a:xfrm rot="10800000">
            <a:off x="6490715" y="6135624"/>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012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5B7067-EB84-AF87-54C1-60DCA5C32011}"/>
              </a:ext>
            </a:extLst>
          </p:cNvPr>
          <p:cNvPicPr>
            <a:picLocks noChangeAspect="1"/>
          </p:cNvPicPr>
          <p:nvPr/>
        </p:nvPicPr>
        <p:blipFill>
          <a:blip r:embed="rId2"/>
          <a:stretch>
            <a:fillRect/>
          </a:stretch>
        </p:blipFill>
        <p:spPr>
          <a:xfrm>
            <a:off x="4515083" y="804672"/>
            <a:ext cx="6546499" cy="5394960"/>
          </a:xfrm>
          <a:prstGeom prst="rect">
            <a:avLst/>
          </a:prstGeom>
        </p:spPr>
      </p:pic>
      <p:sp>
        <p:nvSpPr>
          <p:cNvPr id="2" name="TextBox 1">
            <a:extLst>
              <a:ext uri="{FF2B5EF4-FFF2-40B4-BE49-F238E27FC236}">
                <a16:creationId xmlns:a16="http://schemas.microsoft.com/office/drawing/2014/main" id="{D2CFAEBB-B305-79BE-49C6-845218E6D29E}"/>
              </a:ext>
            </a:extLst>
          </p:cNvPr>
          <p:cNvSpPr txBox="1"/>
          <p:nvPr/>
        </p:nvSpPr>
        <p:spPr>
          <a:xfrm>
            <a:off x="333756" y="1466601"/>
            <a:ext cx="1851660" cy="461665"/>
          </a:xfrm>
          <a:prstGeom prst="rect">
            <a:avLst/>
          </a:prstGeom>
          <a:noFill/>
        </p:spPr>
        <p:txBody>
          <a:bodyPr wrap="square">
            <a:spAutoFit/>
          </a:bodyPr>
          <a:lstStyle/>
          <a:p>
            <a:r>
              <a:rPr lang="en-US" sz="2400" dirty="0">
                <a:solidFill>
                  <a:schemeClr val="accent6">
                    <a:lumMod val="60000"/>
                    <a:lumOff val="40000"/>
                  </a:schemeClr>
                </a:solidFill>
              </a:rPr>
              <a:t>Uses of GAN</a:t>
            </a:r>
          </a:p>
        </p:txBody>
      </p:sp>
    </p:spTree>
    <p:extLst>
      <p:ext uri="{BB962C8B-B14F-4D97-AF65-F5344CB8AC3E}">
        <p14:creationId xmlns:p14="http://schemas.microsoft.com/office/powerpoint/2010/main" val="258688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71792" y="1448332"/>
            <a:ext cx="3387338" cy="461665"/>
          </a:xfrm>
          <a:prstGeom prst="rect">
            <a:avLst/>
          </a:prstGeom>
          <a:noFill/>
        </p:spPr>
        <p:txBody>
          <a:bodyPr wrap="none" rtlCol="0">
            <a:spAutoFit/>
          </a:bodyPr>
          <a:lstStyle/>
          <a:p>
            <a:r>
              <a:rPr lang="en-US" sz="2400" dirty="0">
                <a:solidFill>
                  <a:schemeClr val="accent6">
                    <a:lumMod val="60000"/>
                    <a:lumOff val="40000"/>
                  </a:schemeClr>
                </a:solidFill>
              </a:rPr>
              <a:t>These people do not exist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E54563D-34F5-8714-9E2A-BB6153F5C095}"/>
                  </a:ext>
                </a:extLst>
              </p14:cNvPr>
              <p14:cNvContentPartPr/>
              <p14:nvPr/>
            </p14:nvContentPartPr>
            <p14:xfrm>
              <a:off x="5228882" y="3771784"/>
              <a:ext cx="13680" cy="16920"/>
            </p14:xfrm>
          </p:contentPart>
        </mc:Choice>
        <mc:Fallback xmlns="">
          <p:pic>
            <p:nvPicPr>
              <p:cNvPr id="3" name="Ink 2">
                <a:extLst>
                  <a:ext uri="{FF2B5EF4-FFF2-40B4-BE49-F238E27FC236}">
                    <a16:creationId xmlns:a16="http://schemas.microsoft.com/office/drawing/2014/main" id="{5E54563D-34F5-8714-9E2A-BB6153F5C095}"/>
                  </a:ext>
                </a:extLst>
              </p:cNvPr>
              <p:cNvPicPr/>
              <p:nvPr/>
            </p:nvPicPr>
            <p:blipFill>
              <a:blip r:embed="rId7"/>
              <a:stretch>
                <a:fillRect/>
              </a:stretch>
            </p:blipFill>
            <p:spPr>
              <a:xfrm>
                <a:off x="5192882" y="3735784"/>
                <a:ext cx="85320" cy="88560"/>
              </a:xfrm>
              <a:prstGeom prst="rect">
                <a:avLst/>
              </a:prstGeom>
            </p:spPr>
          </p:pic>
        </mc:Fallback>
      </mc:AlternateContent>
      <p:sp>
        <p:nvSpPr>
          <p:cNvPr id="10" name="TextBox 9">
            <a:extLst>
              <a:ext uri="{FF2B5EF4-FFF2-40B4-BE49-F238E27FC236}">
                <a16:creationId xmlns:a16="http://schemas.microsoft.com/office/drawing/2014/main" id="{8AEAE0AF-D765-E63E-2A8A-3E82ACF4CB4D}"/>
              </a:ext>
            </a:extLst>
          </p:cNvPr>
          <p:cNvSpPr txBox="1"/>
          <p:nvPr/>
        </p:nvSpPr>
        <p:spPr>
          <a:xfrm>
            <a:off x="333756" y="122433"/>
            <a:ext cx="6190488" cy="461665"/>
          </a:xfrm>
          <a:prstGeom prst="rect">
            <a:avLst/>
          </a:prstGeom>
          <a:noFill/>
        </p:spPr>
        <p:txBody>
          <a:bodyPr wrap="square">
            <a:spAutoFit/>
          </a:bodyPr>
          <a:lstStyle/>
          <a:p>
            <a:r>
              <a:rPr lang="en-US" sz="2400" dirty="0">
                <a:solidFill>
                  <a:schemeClr val="accent6">
                    <a:lumMod val="60000"/>
                    <a:lumOff val="40000"/>
                  </a:schemeClr>
                </a:solidFill>
              </a:rPr>
              <a:t>Uses of GAN</a:t>
            </a:r>
          </a:p>
        </p:txBody>
      </p:sp>
      <p:pic>
        <p:nvPicPr>
          <p:cNvPr id="6" name="Picture 5">
            <a:extLst>
              <a:ext uri="{FF2B5EF4-FFF2-40B4-BE49-F238E27FC236}">
                <a16:creationId xmlns:a16="http://schemas.microsoft.com/office/drawing/2014/main" id="{DE3D4A59-82E3-073F-A923-092AB147A81A}"/>
              </a:ext>
            </a:extLst>
          </p:cNvPr>
          <p:cNvPicPr>
            <a:picLocks noChangeAspect="1"/>
          </p:cNvPicPr>
          <p:nvPr/>
        </p:nvPicPr>
        <p:blipFill>
          <a:blip r:embed="rId8"/>
          <a:stretch>
            <a:fillRect/>
          </a:stretch>
        </p:blipFill>
        <p:spPr>
          <a:xfrm>
            <a:off x="2106307" y="2414016"/>
            <a:ext cx="7124270" cy="1771005"/>
          </a:xfrm>
          <a:prstGeom prst="rect">
            <a:avLst/>
          </a:prstGeom>
        </p:spPr>
      </p:pic>
      <p:sp>
        <p:nvSpPr>
          <p:cNvPr id="8" name="TextBox 7">
            <a:extLst>
              <a:ext uri="{FF2B5EF4-FFF2-40B4-BE49-F238E27FC236}">
                <a16:creationId xmlns:a16="http://schemas.microsoft.com/office/drawing/2014/main" id="{9ECFC929-F6CF-7541-0F22-5A7238699ACC}"/>
              </a:ext>
            </a:extLst>
          </p:cNvPr>
          <p:cNvSpPr txBox="1"/>
          <p:nvPr/>
        </p:nvSpPr>
        <p:spPr>
          <a:xfrm>
            <a:off x="582406" y="5292425"/>
            <a:ext cx="11283220" cy="584775"/>
          </a:xfrm>
          <a:prstGeom prst="rect">
            <a:avLst/>
          </a:prstGeom>
          <a:noFill/>
        </p:spPr>
        <p:txBody>
          <a:bodyPr wrap="square">
            <a:spAutoFit/>
          </a:bodyPr>
          <a:lstStyle/>
          <a:p>
            <a:r>
              <a:rPr lang="en-IN" sz="1600" dirty="0">
                <a:solidFill>
                  <a:schemeClr val="accent6">
                    <a:lumMod val="60000"/>
                    <a:lumOff val="40000"/>
                  </a:schemeClr>
                </a:solidFill>
              </a:rPr>
              <a:t>https://www.researchgate.net/figure/These-people-do-not-exist-Synthetic-faces-generated-by-a-GAN-trained-on-human-pictures_fig1_332553686</a:t>
            </a:r>
          </a:p>
        </p:txBody>
      </p:sp>
    </p:spTree>
    <p:extLst>
      <p:ext uri="{BB962C8B-B14F-4D97-AF65-F5344CB8AC3E}">
        <p14:creationId xmlns:p14="http://schemas.microsoft.com/office/powerpoint/2010/main" val="2257274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7D03F-3340-3753-A0AD-97243806F08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B42365-3914-52F7-B719-2561C2F2A35A}"/>
              </a:ext>
            </a:extLst>
          </p:cNvPr>
          <p:cNvSpPr txBox="1"/>
          <p:nvPr/>
        </p:nvSpPr>
        <p:spPr>
          <a:xfrm>
            <a:off x="3503008" y="196702"/>
            <a:ext cx="5127403" cy="461665"/>
          </a:xfrm>
          <a:prstGeom prst="rect">
            <a:avLst/>
          </a:prstGeom>
          <a:noFill/>
        </p:spPr>
        <p:txBody>
          <a:bodyPr wrap="square">
            <a:spAutoFit/>
          </a:bodyPr>
          <a:lstStyle/>
          <a:p>
            <a:pPr algn="ctr"/>
            <a:r>
              <a:rPr lang="en-US" sz="2400" b="1" dirty="0">
                <a:solidFill>
                  <a:schemeClr val="accent6">
                    <a:lumMod val="60000"/>
                    <a:lumOff val="40000"/>
                  </a:schemeClr>
                </a:solidFill>
              </a:rPr>
              <a:t>Architecture of GAN</a:t>
            </a:r>
          </a:p>
        </p:txBody>
      </p:sp>
      <p:sp>
        <p:nvSpPr>
          <p:cNvPr id="2" name="Rectangle: Rounded Corners 1">
            <a:extLst>
              <a:ext uri="{FF2B5EF4-FFF2-40B4-BE49-F238E27FC236}">
                <a16:creationId xmlns:a16="http://schemas.microsoft.com/office/drawing/2014/main" id="{0896731B-42B0-B7A9-D992-71566E45FD5F}"/>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464616B1-4A9B-6255-AC1D-46EB2DADA523}"/>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D4E910C1-1D57-DD49-7165-54A699E348DD}"/>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endParaRPr>
          </a:p>
        </p:txBody>
      </p:sp>
      <p:sp>
        <p:nvSpPr>
          <p:cNvPr id="7" name="Arrow: Right 6">
            <a:extLst>
              <a:ext uri="{FF2B5EF4-FFF2-40B4-BE49-F238E27FC236}">
                <a16:creationId xmlns:a16="http://schemas.microsoft.com/office/drawing/2014/main" id="{10B41D14-6E21-EF9F-665E-63A806BEB913}"/>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8" name="Rectangle: Rounded Corners 7">
            <a:extLst>
              <a:ext uri="{FF2B5EF4-FFF2-40B4-BE49-F238E27FC236}">
                <a16:creationId xmlns:a16="http://schemas.microsoft.com/office/drawing/2014/main" id="{0CB04647-5157-C0E5-EF18-1568788431C3}"/>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9" name="Rectangle: Rounded Corners 8">
            <a:extLst>
              <a:ext uri="{FF2B5EF4-FFF2-40B4-BE49-F238E27FC236}">
                <a16:creationId xmlns:a16="http://schemas.microsoft.com/office/drawing/2014/main" id="{68515049-3D4A-6543-7BA7-412C8FB4B37A}"/>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0" name="Rectangle: Rounded Corners 9">
            <a:extLst>
              <a:ext uri="{FF2B5EF4-FFF2-40B4-BE49-F238E27FC236}">
                <a16:creationId xmlns:a16="http://schemas.microsoft.com/office/drawing/2014/main" id="{06E73A24-47A6-9CA0-7954-22991682DE9B}"/>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1" name="Arrow: Right 10">
            <a:extLst>
              <a:ext uri="{FF2B5EF4-FFF2-40B4-BE49-F238E27FC236}">
                <a16:creationId xmlns:a16="http://schemas.microsoft.com/office/drawing/2014/main" id="{3CD16BF8-B327-1467-76AD-FF5147498BEE}"/>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220D432C-AFC5-48C9-C4AB-EFF5576B4F09}"/>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3" name="Rectangle: Rounded Corners 12">
            <a:extLst>
              <a:ext uri="{FF2B5EF4-FFF2-40B4-BE49-F238E27FC236}">
                <a16:creationId xmlns:a16="http://schemas.microsoft.com/office/drawing/2014/main" id="{29768A04-2FD8-015B-BF6C-704F1760E600}"/>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4" name="Arrow: Right 13">
            <a:extLst>
              <a:ext uri="{FF2B5EF4-FFF2-40B4-BE49-F238E27FC236}">
                <a16:creationId xmlns:a16="http://schemas.microsoft.com/office/drawing/2014/main" id="{F8358702-0DF8-5184-B44B-748983288B36}"/>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15" name="Arrow: Right 14">
            <a:extLst>
              <a:ext uri="{FF2B5EF4-FFF2-40B4-BE49-F238E27FC236}">
                <a16:creationId xmlns:a16="http://schemas.microsoft.com/office/drawing/2014/main" id="{D2A00E9D-9245-9995-84D9-EAC9EA767619}"/>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16" name="Arrow: Right 15">
            <a:extLst>
              <a:ext uri="{FF2B5EF4-FFF2-40B4-BE49-F238E27FC236}">
                <a16:creationId xmlns:a16="http://schemas.microsoft.com/office/drawing/2014/main" id="{56356494-502F-61EA-0B50-F402285EBE31}"/>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17" name="Arrow: Right 16">
            <a:extLst>
              <a:ext uri="{FF2B5EF4-FFF2-40B4-BE49-F238E27FC236}">
                <a16:creationId xmlns:a16="http://schemas.microsoft.com/office/drawing/2014/main" id="{6F30A425-34C6-E1C8-DA0F-1A1435C54D3E}"/>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18" name="Arrow: Right 17">
            <a:extLst>
              <a:ext uri="{FF2B5EF4-FFF2-40B4-BE49-F238E27FC236}">
                <a16:creationId xmlns:a16="http://schemas.microsoft.com/office/drawing/2014/main" id="{D3D8BE4E-3B17-4D94-A8F6-F5612DBB109B}"/>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19" name="TextBox 18">
            <a:extLst>
              <a:ext uri="{FF2B5EF4-FFF2-40B4-BE49-F238E27FC236}">
                <a16:creationId xmlns:a16="http://schemas.microsoft.com/office/drawing/2014/main" id="{34ACBC5B-8853-F85C-B76F-2BDE8AF39120}"/>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20" name="Arrow: Right 19">
            <a:extLst>
              <a:ext uri="{FF2B5EF4-FFF2-40B4-BE49-F238E27FC236}">
                <a16:creationId xmlns:a16="http://schemas.microsoft.com/office/drawing/2014/main" id="{F821C85A-D2F2-078E-DB11-42B5F0CC2AA9}"/>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20000"/>
                  <a:lumOff val="80000"/>
                </a:schemeClr>
              </a:solidFill>
            </a:endParaRPr>
          </a:p>
        </p:txBody>
      </p:sp>
      <p:sp>
        <p:nvSpPr>
          <p:cNvPr id="21" name="Arrow: Right 20">
            <a:extLst>
              <a:ext uri="{FF2B5EF4-FFF2-40B4-BE49-F238E27FC236}">
                <a16:creationId xmlns:a16="http://schemas.microsoft.com/office/drawing/2014/main" id="{305F63B7-7688-DC8B-B5C3-980FD9D23E03}"/>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16F59F-94B8-826E-DF9A-1B59820939A6}"/>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23" name="TextBox 22">
            <a:extLst>
              <a:ext uri="{FF2B5EF4-FFF2-40B4-BE49-F238E27FC236}">
                <a16:creationId xmlns:a16="http://schemas.microsoft.com/office/drawing/2014/main" id="{C064B5B6-DE8E-868F-739E-2161106F26D9}"/>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27" name="TextBox 26">
            <a:extLst>
              <a:ext uri="{FF2B5EF4-FFF2-40B4-BE49-F238E27FC236}">
                <a16:creationId xmlns:a16="http://schemas.microsoft.com/office/drawing/2014/main" id="{5153AE1A-CD1F-707B-29D1-D23F27FED064}"/>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31" name="TextBox 30">
            <a:extLst>
              <a:ext uri="{FF2B5EF4-FFF2-40B4-BE49-F238E27FC236}">
                <a16:creationId xmlns:a16="http://schemas.microsoft.com/office/drawing/2014/main" id="{9603D9A2-A70A-081C-EED3-510795FF2229}"/>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33" name="TextBox 32">
            <a:extLst>
              <a:ext uri="{FF2B5EF4-FFF2-40B4-BE49-F238E27FC236}">
                <a16:creationId xmlns:a16="http://schemas.microsoft.com/office/drawing/2014/main" id="{EA549F54-C04C-28FE-646E-135B8F825E09}"/>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35" name="TextBox 34">
            <a:extLst>
              <a:ext uri="{FF2B5EF4-FFF2-40B4-BE49-F238E27FC236}">
                <a16:creationId xmlns:a16="http://schemas.microsoft.com/office/drawing/2014/main" id="{C19CB0AD-03E9-59BB-C972-E917F0A4C9A7}"/>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37" name="TextBox 36">
            <a:extLst>
              <a:ext uri="{FF2B5EF4-FFF2-40B4-BE49-F238E27FC236}">
                <a16:creationId xmlns:a16="http://schemas.microsoft.com/office/drawing/2014/main" id="{63714433-B2D9-FC66-6102-AF1163C23C8C}"/>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
        <p:nvSpPr>
          <p:cNvPr id="22" name="TextBox 21">
            <a:extLst>
              <a:ext uri="{FF2B5EF4-FFF2-40B4-BE49-F238E27FC236}">
                <a16:creationId xmlns:a16="http://schemas.microsoft.com/office/drawing/2014/main" id="{6356E911-F73A-27F8-11A2-41C79994AE04}"/>
              </a:ext>
            </a:extLst>
          </p:cNvPr>
          <p:cNvSpPr txBox="1"/>
          <p:nvPr/>
        </p:nvSpPr>
        <p:spPr>
          <a:xfrm>
            <a:off x="1833043" y="658367"/>
            <a:ext cx="9512679" cy="2308324"/>
          </a:xfrm>
          <a:prstGeom prst="rect">
            <a:avLst/>
          </a:prstGeom>
          <a:noFill/>
        </p:spPr>
        <p:txBody>
          <a:bodyPr wrap="square" rtlCol="0">
            <a:spAutoFit/>
          </a:bodyPr>
          <a:lstStyle/>
          <a:p>
            <a:r>
              <a:rPr lang="en-US" sz="2400" dirty="0">
                <a:solidFill>
                  <a:schemeClr val="accent6">
                    <a:lumMod val="60000"/>
                    <a:lumOff val="40000"/>
                  </a:schemeClr>
                </a:solidFill>
              </a:rPr>
              <a:t>Steps</a:t>
            </a:r>
          </a:p>
          <a:p>
            <a:r>
              <a:rPr lang="en-US" sz="2400" b="1" i="1" dirty="0">
                <a:solidFill>
                  <a:schemeClr val="accent6">
                    <a:lumMod val="60000"/>
                    <a:lumOff val="40000"/>
                  </a:schemeClr>
                </a:solidFill>
              </a:rPr>
              <a:t>1)</a:t>
            </a:r>
            <a:r>
              <a:rPr lang="en-US" sz="2400" dirty="0">
                <a:solidFill>
                  <a:schemeClr val="accent6">
                    <a:lumMod val="60000"/>
                    <a:lumOff val="40000"/>
                  </a:schemeClr>
                </a:solidFill>
              </a:rPr>
              <a:t> Some noisy random image is generated from  Latent space</a:t>
            </a:r>
          </a:p>
          <a:p>
            <a:r>
              <a:rPr lang="en-US" sz="2400" b="1" i="1" dirty="0">
                <a:solidFill>
                  <a:schemeClr val="accent6">
                    <a:lumMod val="60000"/>
                    <a:lumOff val="40000"/>
                  </a:schemeClr>
                </a:solidFill>
              </a:rPr>
              <a:t>2) and 3)  </a:t>
            </a:r>
            <a:r>
              <a:rPr lang="en-US" sz="2400" b="1" dirty="0">
                <a:solidFill>
                  <a:schemeClr val="accent6">
                    <a:lumMod val="60000"/>
                    <a:lumOff val="40000"/>
                  </a:schemeClr>
                </a:solidFill>
              </a:rPr>
              <a:t>Generator</a:t>
            </a:r>
            <a:r>
              <a:rPr lang="en-US" sz="2400" dirty="0">
                <a:solidFill>
                  <a:schemeClr val="accent6">
                    <a:lumMod val="60000"/>
                    <a:lumOff val="40000"/>
                  </a:schemeClr>
                </a:solidFill>
              </a:rPr>
              <a:t> model attempts to generate an image</a:t>
            </a:r>
            <a:r>
              <a:rPr lang="en-IN" sz="2400" dirty="0">
                <a:solidFill>
                  <a:schemeClr val="accent6">
                    <a:lumMod val="60000"/>
                    <a:lumOff val="40000"/>
                  </a:schemeClr>
                </a:solidFill>
              </a:rPr>
              <a:t> and this gets fed into </a:t>
            </a:r>
            <a:r>
              <a:rPr lang="en-IN" sz="2400" b="1" dirty="0">
                <a:solidFill>
                  <a:schemeClr val="accent6">
                    <a:lumMod val="60000"/>
                    <a:lumOff val="40000"/>
                  </a:schemeClr>
                </a:solidFill>
              </a:rPr>
              <a:t>Discriminator</a:t>
            </a:r>
            <a:r>
              <a:rPr lang="en-IN" sz="2400" dirty="0">
                <a:solidFill>
                  <a:schemeClr val="accent6">
                    <a:lumMod val="60000"/>
                    <a:lumOff val="40000"/>
                  </a:schemeClr>
                </a:solidFill>
              </a:rPr>
              <a:t> model</a:t>
            </a:r>
          </a:p>
          <a:p>
            <a:r>
              <a:rPr lang="en-IN" sz="2400" b="1" i="1" dirty="0">
                <a:solidFill>
                  <a:schemeClr val="accent6">
                    <a:lumMod val="60000"/>
                    <a:lumOff val="40000"/>
                  </a:schemeClr>
                </a:solidFill>
              </a:rPr>
              <a:t>4) and 5) </a:t>
            </a:r>
            <a:r>
              <a:rPr lang="en-IN" sz="2400" dirty="0">
                <a:solidFill>
                  <a:schemeClr val="accent6">
                    <a:lumMod val="60000"/>
                    <a:lumOff val="40000"/>
                  </a:schemeClr>
                </a:solidFill>
              </a:rPr>
              <a:t>The Discriminator compares the Fake generated image </a:t>
            </a:r>
            <a:r>
              <a:rPr lang="en-IN" sz="2400" dirty="0" err="1">
                <a:solidFill>
                  <a:schemeClr val="accent6">
                    <a:lumMod val="60000"/>
                    <a:lumOff val="40000"/>
                  </a:schemeClr>
                </a:solidFill>
              </a:rPr>
              <a:t>agains</a:t>
            </a:r>
            <a:r>
              <a:rPr lang="en-IN" sz="2400" dirty="0">
                <a:solidFill>
                  <a:schemeClr val="accent6">
                    <a:lumMod val="60000"/>
                    <a:lumOff val="40000"/>
                  </a:schemeClr>
                </a:solidFill>
              </a:rPr>
              <a:t> the real images and identifies the real / fake.</a:t>
            </a:r>
            <a:endParaRPr lang="en-US" sz="2400" b="1" i="1" dirty="0">
              <a:solidFill>
                <a:schemeClr val="accent6">
                  <a:lumMod val="60000"/>
                  <a:lumOff val="40000"/>
                </a:schemeClr>
              </a:solidFill>
            </a:endParaRPr>
          </a:p>
        </p:txBody>
      </p:sp>
    </p:spTree>
    <p:extLst>
      <p:ext uri="{BB962C8B-B14F-4D97-AF65-F5344CB8AC3E}">
        <p14:creationId xmlns:p14="http://schemas.microsoft.com/office/powerpoint/2010/main" val="343515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C0A9-DB18-E35B-F72C-782A78FFF48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EE2E75E-7575-9081-8BFA-B23D0D5A7E85}"/>
              </a:ext>
            </a:extLst>
          </p:cNvPr>
          <p:cNvSpPr txBox="1"/>
          <p:nvPr/>
        </p:nvSpPr>
        <p:spPr>
          <a:xfrm>
            <a:off x="3503008" y="196702"/>
            <a:ext cx="5127403" cy="461665"/>
          </a:xfrm>
          <a:prstGeom prst="rect">
            <a:avLst/>
          </a:prstGeom>
          <a:noFill/>
        </p:spPr>
        <p:txBody>
          <a:bodyPr wrap="square">
            <a:spAutoFit/>
          </a:bodyPr>
          <a:lstStyle/>
          <a:p>
            <a:pPr algn="ctr"/>
            <a:r>
              <a:rPr lang="en-US" sz="2400" b="1" dirty="0">
                <a:solidFill>
                  <a:schemeClr val="accent6">
                    <a:lumMod val="60000"/>
                    <a:lumOff val="40000"/>
                  </a:schemeClr>
                </a:solidFill>
              </a:rPr>
              <a:t>Architecture of GAN</a:t>
            </a:r>
          </a:p>
        </p:txBody>
      </p:sp>
      <p:sp>
        <p:nvSpPr>
          <p:cNvPr id="2" name="Rectangle: Rounded Corners 1">
            <a:extLst>
              <a:ext uri="{FF2B5EF4-FFF2-40B4-BE49-F238E27FC236}">
                <a16:creationId xmlns:a16="http://schemas.microsoft.com/office/drawing/2014/main" id="{A7C1815C-3D92-18EA-71B8-575FDE4550DD}"/>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1C0B1DD4-5F71-3D94-6AD1-C2DF09863715}"/>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26FCC930-C0B6-205D-DC31-198D34EFF047}"/>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1628B891-0402-8193-B72F-2228A18A9AC0}"/>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38010C4-DC6A-18E5-D8E6-CC81FB47833F}"/>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9" name="Rectangle: Rounded Corners 8">
            <a:extLst>
              <a:ext uri="{FF2B5EF4-FFF2-40B4-BE49-F238E27FC236}">
                <a16:creationId xmlns:a16="http://schemas.microsoft.com/office/drawing/2014/main" id="{D070FB49-9AD7-643A-EC7F-7611D365D565}"/>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0" name="Rectangle: Rounded Corners 9">
            <a:extLst>
              <a:ext uri="{FF2B5EF4-FFF2-40B4-BE49-F238E27FC236}">
                <a16:creationId xmlns:a16="http://schemas.microsoft.com/office/drawing/2014/main" id="{8E7AD982-F996-DB7D-FB2F-8E80291756CD}"/>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1" name="Arrow: Right 10">
            <a:extLst>
              <a:ext uri="{FF2B5EF4-FFF2-40B4-BE49-F238E27FC236}">
                <a16:creationId xmlns:a16="http://schemas.microsoft.com/office/drawing/2014/main" id="{9B610B0E-2F75-8BF3-B030-F7EB556AB31F}"/>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97404EC-A8C1-E9AB-F429-3A486E5DBF14}"/>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3" name="Rectangle: Rounded Corners 12">
            <a:extLst>
              <a:ext uri="{FF2B5EF4-FFF2-40B4-BE49-F238E27FC236}">
                <a16:creationId xmlns:a16="http://schemas.microsoft.com/office/drawing/2014/main" id="{B7079F96-A2D1-57E0-7442-CBE4DDB11C69}"/>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4" name="Arrow: Right 13">
            <a:extLst>
              <a:ext uri="{FF2B5EF4-FFF2-40B4-BE49-F238E27FC236}">
                <a16:creationId xmlns:a16="http://schemas.microsoft.com/office/drawing/2014/main" id="{B486C0B7-72FF-47C4-28E4-EDECA65E4A79}"/>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CF4DAA90-446A-2730-B7F2-D2A092819B93}"/>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186A4C8-9B01-2DCE-4514-02E2E801ACF7}"/>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DEF88214-C953-1946-6733-2F353C458B60}"/>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5DA4C952-9B19-8C1F-B754-173037F3DEE9}"/>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7CA199A-AC2C-8786-F3C3-A8C4EF3E4CF8}"/>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20" name="Arrow: Right 19">
            <a:extLst>
              <a:ext uri="{FF2B5EF4-FFF2-40B4-BE49-F238E27FC236}">
                <a16:creationId xmlns:a16="http://schemas.microsoft.com/office/drawing/2014/main" id="{9262418D-EE3A-5BB4-1F88-1AD889640705}"/>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552BDC40-E6EB-1289-5FDF-83EEC55C9B30}"/>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BB8B2F4-B474-8F7F-ADF6-77339E3D1B89}"/>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23" name="TextBox 22">
            <a:extLst>
              <a:ext uri="{FF2B5EF4-FFF2-40B4-BE49-F238E27FC236}">
                <a16:creationId xmlns:a16="http://schemas.microsoft.com/office/drawing/2014/main" id="{51B713CC-B6E3-5B09-6918-1AFFD5A8FA2D}"/>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27" name="TextBox 26">
            <a:extLst>
              <a:ext uri="{FF2B5EF4-FFF2-40B4-BE49-F238E27FC236}">
                <a16:creationId xmlns:a16="http://schemas.microsoft.com/office/drawing/2014/main" id="{8CD461FD-394A-C434-2FF7-DB4FAE7025F4}"/>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31" name="TextBox 30">
            <a:extLst>
              <a:ext uri="{FF2B5EF4-FFF2-40B4-BE49-F238E27FC236}">
                <a16:creationId xmlns:a16="http://schemas.microsoft.com/office/drawing/2014/main" id="{4D1F8184-5104-3F01-0661-9CFF751F8519}"/>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33" name="TextBox 32">
            <a:extLst>
              <a:ext uri="{FF2B5EF4-FFF2-40B4-BE49-F238E27FC236}">
                <a16:creationId xmlns:a16="http://schemas.microsoft.com/office/drawing/2014/main" id="{AB31A86F-F65E-089D-F476-8BC8EDDFA056}"/>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35" name="TextBox 34">
            <a:extLst>
              <a:ext uri="{FF2B5EF4-FFF2-40B4-BE49-F238E27FC236}">
                <a16:creationId xmlns:a16="http://schemas.microsoft.com/office/drawing/2014/main" id="{E251D2DF-B7C4-53C0-4C4A-C01C5C62DBBA}"/>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37" name="TextBox 36">
            <a:extLst>
              <a:ext uri="{FF2B5EF4-FFF2-40B4-BE49-F238E27FC236}">
                <a16:creationId xmlns:a16="http://schemas.microsoft.com/office/drawing/2014/main" id="{7686F8CA-55C3-0A89-F661-3D4196CA2A14}"/>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
        <p:nvSpPr>
          <p:cNvPr id="22" name="TextBox 21">
            <a:extLst>
              <a:ext uri="{FF2B5EF4-FFF2-40B4-BE49-F238E27FC236}">
                <a16:creationId xmlns:a16="http://schemas.microsoft.com/office/drawing/2014/main" id="{3A40BB1B-44F6-E261-C433-FB5163C9A6D5}"/>
              </a:ext>
            </a:extLst>
          </p:cNvPr>
          <p:cNvSpPr txBox="1"/>
          <p:nvPr/>
        </p:nvSpPr>
        <p:spPr>
          <a:xfrm>
            <a:off x="1833043" y="658367"/>
            <a:ext cx="9512679" cy="2677656"/>
          </a:xfrm>
          <a:prstGeom prst="rect">
            <a:avLst/>
          </a:prstGeom>
          <a:noFill/>
        </p:spPr>
        <p:txBody>
          <a:bodyPr wrap="square" rtlCol="0">
            <a:spAutoFit/>
          </a:bodyPr>
          <a:lstStyle/>
          <a:p>
            <a:r>
              <a:rPr lang="en-US" sz="2400" b="1" i="1" dirty="0">
                <a:solidFill>
                  <a:schemeClr val="accent6">
                    <a:lumMod val="60000"/>
                    <a:lumOff val="40000"/>
                  </a:schemeClr>
                </a:solidFill>
              </a:rPr>
              <a:t>6) </a:t>
            </a:r>
            <a:r>
              <a:rPr lang="en-US" sz="2400" dirty="0">
                <a:solidFill>
                  <a:schemeClr val="accent6">
                    <a:lumMod val="60000"/>
                    <a:lumOff val="40000"/>
                  </a:schemeClr>
                </a:solidFill>
              </a:rPr>
              <a:t>The Loss function compares the real and fake image and computes how much different they are: High Loss mean large difference</a:t>
            </a:r>
          </a:p>
          <a:p>
            <a:endParaRPr lang="en-US" sz="2400" b="1" i="1" dirty="0">
              <a:solidFill>
                <a:schemeClr val="accent6">
                  <a:lumMod val="60000"/>
                  <a:lumOff val="40000"/>
                </a:schemeClr>
              </a:solidFill>
            </a:endParaRPr>
          </a:p>
          <a:p>
            <a:r>
              <a:rPr lang="en-US" sz="2400" b="1" i="1" dirty="0">
                <a:solidFill>
                  <a:schemeClr val="accent6">
                    <a:lumMod val="60000"/>
                    <a:lumOff val="40000"/>
                  </a:schemeClr>
                </a:solidFill>
              </a:rPr>
              <a:t>7) </a:t>
            </a:r>
            <a:r>
              <a:rPr lang="en-US" sz="2400" dirty="0">
                <a:solidFill>
                  <a:schemeClr val="accent6">
                    <a:lumMod val="60000"/>
                    <a:lumOff val="40000"/>
                  </a:schemeClr>
                </a:solidFill>
              </a:rPr>
              <a:t>The Loss number is fed into the Generator and Discriminator.  The Generator now uses this Loss to generate next image.</a:t>
            </a:r>
          </a:p>
          <a:p>
            <a:endParaRPr lang="en-US" sz="2400" b="1" i="1" dirty="0">
              <a:solidFill>
                <a:schemeClr val="accent6">
                  <a:lumMod val="60000"/>
                  <a:lumOff val="40000"/>
                </a:schemeClr>
              </a:solidFill>
            </a:endParaRPr>
          </a:p>
          <a:p>
            <a:r>
              <a:rPr lang="en-US" sz="2400" b="1" i="1" dirty="0">
                <a:solidFill>
                  <a:schemeClr val="accent6">
                    <a:lumMod val="60000"/>
                    <a:lumOff val="40000"/>
                  </a:schemeClr>
                </a:solidFill>
              </a:rPr>
              <a:t>And this process goes in  Loop until the Loss becomes small.</a:t>
            </a:r>
          </a:p>
        </p:txBody>
      </p:sp>
    </p:spTree>
    <p:extLst>
      <p:ext uri="{BB962C8B-B14F-4D97-AF65-F5344CB8AC3E}">
        <p14:creationId xmlns:p14="http://schemas.microsoft.com/office/powerpoint/2010/main" val="3170196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72F71-0DD9-691B-5593-F68D0D34D4F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40D987-0D0E-9B4C-0990-60986B93FE86}"/>
              </a:ext>
            </a:extLst>
          </p:cNvPr>
          <p:cNvSpPr txBox="1"/>
          <p:nvPr/>
        </p:nvSpPr>
        <p:spPr>
          <a:xfrm>
            <a:off x="213650" y="80465"/>
            <a:ext cx="11695176" cy="2677656"/>
          </a:xfrm>
          <a:prstGeom prst="rect">
            <a:avLst/>
          </a:prstGeom>
          <a:noFill/>
        </p:spPr>
        <p:txBody>
          <a:bodyPr wrap="square">
            <a:spAutoFit/>
          </a:bodyPr>
          <a:lstStyle/>
          <a:p>
            <a:r>
              <a:rPr lang="en-US" sz="2400" b="1" dirty="0">
                <a:solidFill>
                  <a:schemeClr val="accent6">
                    <a:lumMod val="60000"/>
                    <a:lumOff val="40000"/>
                  </a:schemeClr>
                </a:solidFill>
              </a:rPr>
              <a:t>Generator: </a:t>
            </a:r>
          </a:p>
          <a:p>
            <a:pPr marL="342900" indent="-342900">
              <a:buFont typeface="Arial" panose="020B0604020202020204" pitchFamily="34" charset="0"/>
              <a:buChar char="•"/>
            </a:pPr>
            <a:r>
              <a:rPr lang="en-US" sz="2400" dirty="0">
                <a:solidFill>
                  <a:schemeClr val="accent6">
                    <a:lumMod val="60000"/>
                    <a:lumOff val="40000"/>
                  </a:schemeClr>
                </a:solidFill>
              </a:rPr>
              <a:t>Generator is an </a:t>
            </a:r>
            <a:r>
              <a:rPr lang="en-US" sz="2400" b="1" dirty="0">
                <a:solidFill>
                  <a:schemeClr val="accent6">
                    <a:lumMod val="60000"/>
                    <a:lumOff val="40000"/>
                  </a:schemeClr>
                </a:solidFill>
              </a:rPr>
              <a:t>unsupervised</a:t>
            </a:r>
            <a:r>
              <a:rPr lang="en-US" sz="2400" dirty="0">
                <a:solidFill>
                  <a:schemeClr val="accent6">
                    <a:lumMod val="60000"/>
                    <a:lumOff val="40000"/>
                  </a:schemeClr>
                </a:solidFill>
              </a:rPr>
              <a:t> machine learning method.</a:t>
            </a:r>
          </a:p>
          <a:p>
            <a:pPr marL="342900" indent="-342900">
              <a:buFont typeface="Arial" panose="020B0604020202020204" pitchFamily="34" charset="0"/>
              <a:buChar char="•"/>
            </a:pPr>
            <a:r>
              <a:rPr lang="en-US" sz="2400" dirty="0">
                <a:solidFill>
                  <a:schemeClr val="accent6">
                    <a:lumMod val="60000"/>
                    <a:lumOff val="40000"/>
                  </a:schemeClr>
                </a:solidFill>
              </a:rPr>
              <a:t>Used to generate fake samples based on actual training data sets. </a:t>
            </a:r>
          </a:p>
          <a:p>
            <a:pPr marL="342900" indent="-342900">
              <a:buFont typeface="Arial" panose="020B0604020202020204" pitchFamily="34" charset="0"/>
              <a:buChar char="•"/>
            </a:pPr>
            <a:r>
              <a:rPr lang="en-US" sz="2400" dirty="0">
                <a:solidFill>
                  <a:schemeClr val="accent6">
                    <a:lumMod val="60000"/>
                    <a:lumOff val="40000"/>
                  </a:schemeClr>
                </a:solidFill>
              </a:rPr>
              <a:t>It is also a neural network with hidden layers, activation, and loss function.</a:t>
            </a:r>
          </a:p>
          <a:p>
            <a:br>
              <a:rPr lang="en-US" sz="2400" dirty="0">
                <a:solidFill>
                  <a:schemeClr val="accent6">
                    <a:lumMod val="60000"/>
                    <a:lumOff val="40000"/>
                  </a:schemeClr>
                </a:solidFill>
              </a:rPr>
            </a:br>
            <a:r>
              <a:rPr lang="en-US" sz="2400" dirty="0">
                <a:solidFill>
                  <a:schemeClr val="accent6">
                    <a:lumMod val="60000"/>
                    <a:lumOff val="40000"/>
                  </a:schemeClr>
                </a:solidFill>
              </a:rPr>
              <a:t>The generator focuses on generating fake data based on feedback given by the discriminator.</a:t>
            </a:r>
          </a:p>
          <a:p>
            <a:r>
              <a:rPr lang="en-US" sz="2400" dirty="0">
                <a:solidFill>
                  <a:schemeClr val="accent6">
                    <a:lumMod val="60000"/>
                    <a:lumOff val="40000"/>
                  </a:schemeClr>
                </a:solidFill>
              </a:rPr>
              <a:t>Generator objective is to fool the discriminator so that it cannot identify the real vs fake data</a:t>
            </a:r>
          </a:p>
        </p:txBody>
      </p:sp>
      <p:sp>
        <p:nvSpPr>
          <p:cNvPr id="22" name="Rectangle: Rounded Corners 21">
            <a:extLst>
              <a:ext uri="{FF2B5EF4-FFF2-40B4-BE49-F238E27FC236}">
                <a16:creationId xmlns:a16="http://schemas.microsoft.com/office/drawing/2014/main" id="{2DFEE9BA-A548-FB65-2C25-EF7B0A0920FC}"/>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24" name="Rectangle: Rounded Corners 23">
            <a:extLst>
              <a:ext uri="{FF2B5EF4-FFF2-40B4-BE49-F238E27FC236}">
                <a16:creationId xmlns:a16="http://schemas.microsoft.com/office/drawing/2014/main" id="{4C605CCC-381D-072C-C675-5378EC9945D9}"/>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26" name="Arrow: Right 25">
            <a:extLst>
              <a:ext uri="{FF2B5EF4-FFF2-40B4-BE49-F238E27FC236}">
                <a16:creationId xmlns:a16="http://schemas.microsoft.com/office/drawing/2014/main" id="{1CEE7E98-8164-66DC-3EC9-1CF50F3DFEF3}"/>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rrow: Right 27">
            <a:extLst>
              <a:ext uri="{FF2B5EF4-FFF2-40B4-BE49-F238E27FC236}">
                <a16:creationId xmlns:a16="http://schemas.microsoft.com/office/drawing/2014/main" id="{C3DFD3C7-B474-F863-6AD1-55CB326F6FA4}"/>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B181D31B-FACD-E10A-9B48-7A9B16FD1C0F}"/>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32" name="Rectangle: Rounded Corners 31">
            <a:extLst>
              <a:ext uri="{FF2B5EF4-FFF2-40B4-BE49-F238E27FC236}">
                <a16:creationId xmlns:a16="http://schemas.microsoft.com/office/drawing/2014/main" id="{6021BEA2-F18C-E1F5-D458-B5648AAF1B6E}"/>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34" name="Rectangle: Rounded Corners 33">
            <a:extLst>
              <a:ext uri="{FF2B5EF4-FFF2-40B4-BE49-F238E27FC236}">
                <a16:creationId xmlns:a16="http://schemas.microsoft.com/office/drawing/2014/main" id="{EE6A6F9F-23B6-DAAE-7385-A3BF6FE911C6}"/>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36" name="Arrow: Right 35">
            <a:extLst>
              <a:ext uri="{FF2B5EF4-FFF2-40B4-BE49-F238E27FC236}">
                <a16:creationId xmlns:a16="http://schemas.microsoft.com/office/drawing/2014/main" id="{CBE70623-1C58-B90B-B84E-5B824FA73951}"/>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C47924F5-1865-3CE8-C2E3-0BDAC90D0EA1}"/>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40" name="Rectangle: Rounded Corners 39">
            <a:extLst>
              <a:ext uri="{FF2B5EF4-FFF2-40B4-BE49-F238E27FC236}">
                <a16:creationId xmlns:a16="http://schemas.microsoft.com/office/drawing/2014/main" id="{E5B9F5DA-8865-7E83-1FBD-BA5AFF398EFA}"/>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42" name="Arrow: Right 41">
            <a:extLst>
              <a:ext uri="{FF2B5EF4-FFF2-40B4-BE49-F238E27FC236}">
                <a16:creationId xmlns:a16="http://schemas.microsoft.com/office/drawing/2014/main" id="{72E840AD-DC67-D058-2E0E-FF4052F5B748}"/>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FC0B169C-D17E-2E49-DD50-CE20C810BE59}"/>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A49F3D90-7680-6D24-9724-BCAA23566657}"/>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85F88854-6770-EA3A-1EE2-0CE6838C25E2}"/>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A9A5D89D-B48B-44DA-61F0-611D3C529966}"/>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E60BEAC8-E50F-C97B-3303-F18FFAE4BD2E}"/>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54" name="Arrow: Right 53">
            <a:extLst>
              <a:ext uri="{FF2B5EF4-FFF2-40B4-BE49-F238E27FC236}">
                <a16:creationId xmlns:a16="http://schemas.microsoft.com/office/drawing/2014/main" id="{F1E7CD9E-403C-0796-318A-8834C98C3778}"/>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29FC9E46-81D3-3403-E835-DA16B649A769}"/>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DCF5BCD-007C-30F8-CCCB-08A4C5217637}"/>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60" name="TextBox 59">
            <a:extLst>
              <a:ext uri="{FF2B5EF4-FFF2-40B4-BE49-F238E27FC236}">
                <a16:creationId xmlns:a16="http://schemas.microsoft.com/office/drawing/2014/main" id="{C9F8F4F1-7D28-596B-7269-9B6607A72F2B}"/>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62" name="TextBox 61">
            <a:extLst>
              <a:ext uri="{FF2B5EF4-FFF2-40B4-BE49-F238E27FC236}">
                <a16:creationId xmlns:a16="http://schemas.microsoft.com/office/drawing/2014/main" id="{3965791D-743A-95BE-68E2-C2A0F31C90CB}"/>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64" name="TextBox 63">
            <a:extLst>
              <a:ext uri="{FF2B5EF4-FFF2-40B4-BE49-F238E27FC236}">
                <a16:creationId xmlns:a16="http://schemas.microsoft.com/office/drawing/2014/main" id="{CDBB7DC9-264F-C23C-9DA2-557D7F90DB0F}"/>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66" name="TextBox 65">
            <a:extLst>
              <a:ext uri="{FF2B5EF4-FFF2-40B4-BE49-F238E27FC236}">
                <a16:creationId xmlns:a16="http://schemas.microsoft.com/office/drawing/2014/main" id="{92EE171C-58D0-AE7A-209B-2FC0D723BE4C}"/>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68" name="TextBox 67">
            <a:extLst>
              <a:ext uri="{FF2B5EF4-FFF2-40B4-BE49-F238E27FC236}">
                <a16:creationId xmlns:a16="http://schemas.microsoft.com/office/drawing/2014/main" id="{8F99585F-520F-C100-9244-8E2F09ED40C5}"/>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70" name="TextBox 69">
            <a:extLst>
              <a:ext uri="{FF2B5EF4-FFF2-40B4-BE49-F238E27FC236}">
                <a16:creationId xmlns:a16="http://schemas.microsoft.com/office/drawing/2014/main" id="{5467790E-CC74-8F6C-A0BF-4BF5B0B54F34}"/>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Tree>
    <p:extLst>
      <p:ext uri="{BB962C8B-B14F-4D97-AF65-F5344CB8AC3E}">
        <p14:creationId xmlns:p14="http://schemas.microsoft.com/office/powerpoint/2010/main" val="1582422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E6F90-9E06-C559-9C41-69D33C4E61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F51F1BF-A493-4762-97D3-5B7440ADF447}"/>
              </a:ext>
            </a:extLst>
          </p:cNvPr>
          <p:cNvSpPr txBox="1"/>
          <p:nvPr/>
        </p:nvSpPr>
        <p:spPr>
          <a:xfrm>
            <a:off x="164592" y="100781"/>
            <a:ext cx="12027408" cy="3416320"/>
          </a:xfrm>
          <a:prstGeom prst="rect">
            <a:avLst/>
          </a:prstGeom>
          <a:noFill/>
        </p:spPr>
        <p:txBody>
          <a:bodyPr wrap="square">
            <a:spAutoFit/>
          </a:bodyPr>
          <a:lstStyle/>
          <a:p>
            <a:r>
              <a:rPr lang="en-US" sz="2400" b="1" dirty="0">
                <a:solidFill>
                  <a:schemeClr val="accent6">
                    <a:lumMod val="60000"/>
                    <a:lumOff val="40000"/>
                  </a:schemeClr>
                </a:solidFill>
              </a:rPr>
              <a:t>Discriminator:</a:t>
            </a:r>
            <a:r>
              <a:rPr lang="en-US" sz="2400" dirty="0">
                <a:solidFill>
                  <a:schemeClr val="accent6">
                    <a:lumMod val="60000"/>
                    <a:lumOff val="40000"/>
                  </a:schemeClr>
                </a:solidFill>
              </a:rPr>
              <a:t>  It uses a </a:t>
            </a:r>
            <a:r>
              <a:rPr lang="en-US" sz="2400" b="1" dirty="0">
                <a:solidFill>
                  <a:schemeClr val="accent6">
                    <a:lumMod val="60000"/>
                    <a:lumOff val="40000"/>
                  </a:schemeClr>
                </a:solidFill>
              </a:rPr>
              <a:t>supervised</a:t>
            </a:r>
            <a:r>
              <a:rPr lang="en-US" sz="2400" dirty="0">
                <a:solidFill>
                  <a:schemeClr val="accent6">
                    <a:lumMod val="60000"/>
                    <a:lumOff val="40000"/>
                  </a:schemeClr>
                </a:solidFill>
              </a:rPr>
              <a:t> machine learning approach in which a simple </a:t>
            </a:r>
          </a:p>
          <a:p>
            <a:r>
              <a:rPr lang="en-US" sz="2400" dirty="0">
                <a:solidFill>
                  <a:schemeClr val="accent6">
                    <a:lumMod val="60000"/>
                    <a:lumOff val="40000"/>
                  </a:schemeClr>
                </a:solidFill>
              </a:rPr>
              <a:t>classifier is appointed to discriminate between real and fake data.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discriminator's training data comes from two sources:</a:t>
            </a:r>
          </a:p>
          <a:p>
            <a:pPr marL="514350" indent="-514350">
              <a:buAutoNum type="arabicPeriod"/>
            </a:pPr>
            <a:r>
              <a:rPr lang="en-US" sz="2400" b="1" dirty="0">
                <a:solidFill>
                  <a:schemeClr val="accent6">
                    <a:lumMod val="60000"/>
                    <a:lumOff val="40000"/>
                  </a:schemeClr>
                </a:solidFill>
              </a:rPr>
              <a:t>Real data</a:t>
            </a:r>
            <a:r>
              <a:rPr lang="en-US" sz="2400" dirty="0">
                <a:solidFill>
                  <a:schemeClr val="accent6">
                    <a:lumMod val="60000"/>
                    <a:lumOff val="40000"/>
                  </a:schemeClr>
                </a:solidFill>
              </a:rPr>
              <a:t> instances, such as real pictures of people. The discriminator uses these instances as positive examples during training.</a:t>
            </a:r>
          </a:p>
          <a:p>
            <a:pPr marL="514350" indent="-514350">
              <a:buAutoNum type="arabicPeriod"/>
            </a:pPr>
            <a:r>
              <a:rPr lang="en-US" sz="2400" b="1" dirty="0">
                <a:solidFill>
                  <a:schemeClr val="accent6">
                    <a:lumMod val="60000"/>
                    <a:lumOff val="40000"/>
                  </a:schemeClr>
                </a:solidFill>
              </a:rPr>
              <a:t>Fake data</a:t>
            </a:r>
            <a:r>
              <a:rPr lang="en-US" sz="2400" dirty="0">
                <a:solidFill>
                  <a:schemeClr val="accent6">
                    <a:lumMod val="60000"/>
                    <a:lumOff val="40000"/>
                  </a:schemeClr>
                </a:solidFill>
              </a:rPr>
              <a:t> instances created by the generator. The discriminator uses these instances as negative examples during training.</a:t>
            </a:r>
          </a:p>
          <a:p>
            <a:pPr marL="0" indent="0">
              <a:buNone/>
            </a:pPr>
            <a:r>
              <a:rPr lang="en-US" sz="2400" dirty="0">
                <a:solidFill>
                  <a:schemeClr val="accent6">
                    <a:lumMod val="60000"/>
                    <a:lumOff val="40000"/>
                  </a:schemeClr>
                </a:solidFill>
              </a:rPr>
              <a:t>It gives </a:t>
            </a:r>
            <a:r>
              <a:rPr lang="en-US" sz="2400" b="1" i="1" dirty="0">
                <a:solidFill>
                  <a:schemeClr val="accent6">
                    <a:lumMod val="60000"/>
                    <a:lumOff val="40000"/>
                  </a:schemeClr>
                </a:solidFill>
              </a:rPr>
              <a:t>feedback</a:t>
            </a:r>
            <a:r>
              <a:rPr lang="en-US" sz="2400" dirty="0">
                <a:solidFill>
                  <a:schemeClr val="accent6">
                    <a:lumMod val="60000"/>
                    <a:lumOff val="40000"/>
                  </a:schemeClr>
                </a:solidFill>
              </a:rPr>
              <a:t> to the generator.</a:t>
            </a:r>
          </a:p>
        </p:txBody>
      </p:sp>
      <p:sp>
        <p:nvSpPr>
          <p:cNvPr id="3" name="Rectangle: Rounded Corners 2">
            <a:extLst>
              <a:ext uri="{FF2B5EF4-FFF2-40B4-BE49-F238E27FC236}">
                <a16:creationId xmlns:a16="http://schemas.microsoft.com/office/drawing/2014/main" id="{31C30E48-308A-44DD-E5DC-9CA1ADBC812F}"/>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5" name="Rectangle: Rounded Corners 4">
            <a:extLst>
              <a:ext uri="{FF2B5EF4-FFF2-40B4-BE49-F238E27FC236}">
                <a16:creationId xmlns:a16="http://schemas.microsoft.com/office/drawing/2014/main" id="{F9A1D313-DD4B-6075-CE68-5A069985BF1A}"/>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8" name="Arrow: Right 7">
            <a:extLst>
              <a:ext uri="{FF2B5EF4-FFF2-40B4-BE49-F238E27FC236}">
                <a16:creationId xmlns:a16="http://schemas.microsoft.com/office/drawing/2014/main" id="{BC45F436-3371-793A-C353-5960CD61A465}"/>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Right 9">
            <a:extLst>
              <a:ext uri="{FF2B5EF4-FFF2-40B4-BE49-F238E27FC236}">
                <a16:creationId xmlns:a16="http://schemas.microsoft.com/office/drawing/2014/main" id="{C282C14D-B845-2A5D-A2C5-EB469530B813}"/>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FB29FE03-822E-E1DD-A02C-7B5290305221}"/>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14" name="Rectangle: Rounded Corners 13">
            <a:extLst>
              <a:ext uri="{FF2B5EF4-FFF2-40B4-BE49-F238E27FC236}">
                <a16:creationId xmlns:a16="http://schemas.microsoft.com/office/drawing/2014/main" id="{5072AE54-9DAE-2734-9931-21842262ECD4}"/>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6" name="Rectangle: Rounded Corners 15">
            <a:extLst>
              <a:ext uri="{FF2B5EF4-FFF2-40B4-BE49-F238E27FC236}">
                <a16:creationId xmlns:a16="http://schemas.microsoft.com/office/drawing/2014/main" id="{074F4A86-55A8-A504-F3C7-7DD460C26DFD}"/>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8" name="Arrow: Right 17">
            <a:extLst>
              <a:ext uri="{FF2B5EF4-FFF2-40B4-BE49-F238E27FC236}">
                <a16:creationId xmlns:a16="http://schemas.microsoft.com/office/drawing/2014/main" id="{E9CFB02A-6098-66E0-56EE-14FF4E81D9F7}"/>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0D40EEA-64B3-7B28-7D36-6F7813EB2418}"/>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22" name="Rectangle: Rounded Corners 21">
            <a:extLst>
              <a:ext uri="{FF2B5EF4-FFF2-40B4-BE49-F238E27FC236}">
                <a16:creationId xmlns:a16="http://schemas.microsoft.com/office/drawing/2014/main" id="{B3984476-B932-7B27-95BD-35F7A29E7813}"/>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24" name="Arrow: Right 23">
            <a:extLst>
              <a:ext uri="{FF2B5EF4-FFF2-40B4-BE49-F238E27FC236}">
                <a16:creationId xmlns:a16="http://schemas.microsoft.com/office/drawing/2014/main" id="{EB8342D2-EAC1-EFC0-7B32-D2D79DB81D1D}"/>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5F2E2B26-37E0-E0A9-E72B-63FC171BE3D4}"/>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FEFCF993-34B2-B75F-2DA4-1F8FD96D0F1E}"/>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565EB9C7-2758-3212-226B-F4D30041514F}"/>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BEF4ABB5-0D3B-D1A7-EBD3-6B246D1AA30F}"/>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452CC06-B50B-14EE-F14C-8028CC9BF097}"/>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36" name="Arrow: Right 35">
            <a:extLst>
              <a:ext uri="{FF2B5EF4-FFF2-40B4-BE49-F238E27FC236}">
                <a16:creationId xmlns:a16="http://schemas.microsoft.com/office/drawing/2014/main" id="{00CE9C06-3D53-8EA7-9D35-694C77F08155}"/>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0FB33830-1345-B6D8-AF9F-94FEBD5B9C30}"/>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83BEBF0-08CC-8139-1AA8-899BBC89E320}"/>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42" name="TextBox 41">
            <a:extLst>
              <a:ext uri="{FF2B5EF4-FFF2-40B4-BE49-F238E27FC236}">
                <a16:creationId xmlns:a16="http://schemas.microsoft.com/office/drawing/2014/main" id="{02BC6596-36A8-9D66-DF5B-CC7A23CDE069}"/>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44" name="TextBox 43">
            <a:extLst>
              <a:ext uri="{FF2B5EF4-FFF2-40B4-BE49-F238E27FC236}">
                <a16:creationId xmlns:a16="http://schemas.microsoft.com/office/drawing/2014/main" id="{AD32BDAB-5EE9-9B8F-1891-B52E2E3F13C0}"/>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46" name="TextBox 45">
            <a:extLst>
              <a:ext uri="{FF2B5EF4-FFF2-40B4-BE49-F238E27FC236}">
                <a16:creationId xmlns:a16="http://schemas.microsoft.com/office/drawing/2014/main" id="{685B5F95-B363-5C8C-32C6-C4D17199CF6E}"/>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48" name="TextBox 47">
            <a:extLst>
              <a:ext uri="{FF2B5EF4-FFF2-40B4-BE49-F238E27FC236}">
                <a16:creationId xmlns:a16="http://schemas.microsoft.com/office/drawing/2014/main" id="{8893B421-D892-31A2-4CD2-3B3F00A8C7FD}"/>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50" name="TextBox 49">
            <a:extLst>
              <a:ext uri="{FF2B5EF4-FFF2-40B4-BE49-F238E27FC236}">
                <a16:creationId xmlns:a16="http://schemas.microsoft.com/office/drawing/2014/main" id="{DC93BCF1-6730-5CEA-3159-743DD6026BFF}"/>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52" name="TextBox 51">
            <a:extLst>
              <a:ext uri="{FF2B5EF4-FFF2-40B4-BE49-F238E27FC236}">
                <a16:creationId xmlns:a16="http://schemas.microsoft.com/office/drawing/2014/main" id="{00F1769E-6968-EC60-6EF5-0B1A55E35132}"/>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Tree>
    <p:extLst>
      <p:ext uri="{BB962C8B-B14F-4D97-AF65-F5344CB8AC3E}">
        <p14:creationId xmlns:p14="http://schemas.microsoft.com/office/powerpoint/2010/main" val="3630355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994CD-C31B-FD24-8E3E-AEDE5011BBB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E775213-11C3-D64F-7AC8-134C40D47BDC}"/>
                  </a:ext>
                </a:extLst>
              </p:cNvPr>
              <p:cNvSpPr txBox="1"/>
              <p:nvPr/>
            </p:nvSpPr>
            <p:spPr>
              <a:xfrm>
                <a:off x="106679" y="87563"/>
                <a:ext cx="11305033" cy="3138295"/>
              </a:xfrm>
              <a:prstGeom prst="rect">
                <a:avLst/>
              </a:prstGeom>
              <a:noFill/>
            </p:spPr>
            <p:txBody>
              <a:bodyPr wrap="square" rtlCol="0">
                <a:spAutoFit/>
              </a:bodyPr>
              <a:lstStyle/>
              <a:p>
                <a:r>
                  <a:rPr lang="en-US" sz="2400" b="1" dirty="0">
                    <a:solidFill>
                      <a:schemeClr val="accent6">
                        <a:lumMod val="60000"/>
                        <a:lumOff val="40000"/>
                      </a:schemeClr>
                    </a:solidFill>
                  </a:rPr>
                  <a:t>Mathematical Objective: (minimax game)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GAN can be conceptually thought of as a minimax game played between the generator model and the discriminator model. </a:t>
                </a:r>
              </a:p>
              <a:p>
                <a:r>
                  <a:rPr lang="en-US" sz="2400" dirty="0">
                    <a:solidFill>
                      <a:schemeClr val="accent6">
                        <a:lumMod val="60000"/>
                        <a:lumOff val="40000"/>
                      </a:schemeClr>
                    </a:solidFill>
                  </a:rPr>
                  <a:t>The loss function  is defined as </a:t>
                </a:r>
              </a:p>
              <a:p>
                <a:pPr/>
                <a14:m>
                  <m:oMathPara xmlns:m="http://schemas.openxmlformats.org/officeDocument/2006/math">
                    <m:oMath>
                      <m:sSub>
                        <m:sSubPr>
                          <m:ctrlPr>
                            <a:rPr lang="en-US" sz="2000" b="0" i="1" smtClean="0">
                              <a:solidFill>
                                <a:schemeClr val="accent6">
                                  <a:lumMod val="60000"/>
                                  <a:lumOff val="40000"/>
                                </a:schemeClr>
                              </a:solidFill>
                              <a:latin typeface="Cambria Math" panose="02040503050406030204" pitchFamily="18" charset="0"/>
                            </a:rPr>
                          </m:ctrlPr>
                        </m:sSubPr>
                        <m:e>
                          <m:r>
                            <a:rPr lang="en-US" sz="2000" b="0" i="1" smtClean="0">
                              <a:solidFill>
                                <a:schemeClr val="accent6">
                                  <a:lumMod val="60000"/>
                                  <a:lumOff val="40000"/>
                                </a:schemeClr>
                              </a:solidFill>
                              <a:latin typeface="Cambria Math" panose="02040503050406030204" pitchFamily="18" charset="0"/>
                            </a:rPr>
                            <m:t>𝑚𝑖𝑛</m:t>
                          </m:r>
                        </m:e>
                        <m:sub>
                          <m:r>
                            <a:rPr lang="ar-AE" sz="2000" i="1">
                              <a:solidFill>
                                <a:schemeClr val="accent6">
                                  <a:lumMod val="60000"/>
                                  <a:lumOff val="40000"/>
                                </a:schemeClr>
                              </a:solidFill>
                              <a:latin typeface="Cambria Math" panose="02040503050406030204" pitchFamily="18" charset="0"/>
                            </a:rPr>
                            <m:t>𝐺</m:t>
                          </m:r>
                        </m:sub>
                      </m:sSub>
                      <m:sSub>
                        <m:sSubPr>
                          <m:ctrlPr>
                            <a:rPr lang="en-US" sz="2000" b="0" i="1" smtClean="0">
                              <a:solidFill>
                                <a:schemeClr val="accent6">
                                  <a:lumMod val="60000"/>
                                  <a:lumOff val="40000"/>
                                </a:schemeClr>
                              </a:solidFill>
                              <a:latin typeface="Cambria Math" panose="02040503050406030204" pitchFamily="18" charset="0"/>
                            </a:rPr>
                          </m:ctrlPr>
                        </m:sSubPr>
                        <m:e>
                          <m:r>
                            <a:rPr lang="en-US" sz="2000" b="0" i="1" smtClean="0">
                              <a:solidFill>
                                <a:schemeClr val="accent6">
                                  <a:lumMod val="60000"/>
                                  <a:lumOff val="40000"/>
                                </a:schemeClr>
                              </a:solidFill>
                              <a:latin typeface="Cambria Math" panose="02040503050406030204" pitchFamily="18" charset="0"/>
                            </a:rPr>
                            <m:t>𝑚𝑎𝑥</m:t>
                          </m:r>
                        </m:e>
                        <m:sub>
                          <m:r>
                            <a:rPr lang="ar-AE" sz="2000" i="1">
                              <a:solidFill>
                                <a:schemeClr val="accent6">
                                  <a:lumMod val="60000"/>
                                  <a:lumOff val="40000"/>
                                </a:schemeClr>
                              </a:solidFill>
                              <a:latin typeface="Cambria Math" panose="02040503050406030204" pitchFamily="18" charset="0"/>
                            </a:rPr>
                            <m:t>𝐷</m:t>
                          </m:r>
                        </m:sub>
                      </m:sSub>
                      <m:r>
                        <a:rPr lang="ar-AE" sz="2000" i="1">
                          <a:solidFill>
                            <a:schemeClr val="accent6">
                              <a:lumMod val="60000"/>
                              <a:lumOff val="40000"/>
                            </a:schemeClr>
                          </a:solidFill>
                          <a:latin typeface="Cambria Math" panose="02040503050406030204" pitchFamily="18" charset="0"/>
                        </a:rPr>
                        <m:t>𝑉</m:t>
                      </m:r>
                      <m:r>
                        <a:rPr lang="en-US" sz="2000" b="0" i="0" smtClean="0">
                          <a:solidFill>
                            <a:schemeClr val="accent6">
                              <a:lumMod val="60000"/>
                              <a:lumOff val="40000"/>
                            </a:schemeClr>
                          </a:solidFill>
                          <a:latin typeface="Cambria Math" panose="02040503050406030204" pitchFamily="18" charset="0"/>
                        </a:rPr>
                        <m:t>(</m:t>
                      </m:r>
                      <m:r>
                        <a:rPr lang="en-US" sz="2000" b="0" i="1" smtClean="0">
                          <a:solidFill>
                            <a:schemeClr val="accent6">
                              <a:lumMod val="60000"/>
                              <a:lumOff val="40000"/>
                            </a:schemeClr>
                          </a:solidFill>
                          <a:latin typeface="Cambria Math" panose="02040503050406030204" pitchFamily="18" charset="0"/>
                        </a:rPr>
                        <m:t>𝐷</m:t>
                      </m:r>
                      <m:r>
                        <a:rPr lang="en-US" sz="2000" b="0" i="1" smtClean="0">
                          <a:solidFill>
                            <a:schemeClr val="accent6">
                              <a:lumMod val="60000"/>
                              <a:lumOff val="40000"/>
                            </a:schemeClr>
                          </a:solidFill>
                          <a:latin typeface="Cambria Math" panose="02040503050406030204" pitchFamily="18" charset="0"/>
                        </a:rPr>
                        <m:t>, </m:t>
                      </m:r>
                      <m:r>
                        <a:rPr lang="en-US" sz="2000" b="0" i="1" smtClean="0">
                          <a:solidFill>
                            <a:schemeClr val="accent6">
                              <a:lumMod val="60000"/>
                              <a:lumOff val="40000"/>
                            </a:schemeClr>
                          </a:solidFill>
                          <a:latin typeface="Cambria Math" panose="02040503050406030204" pitchFamily="18" charset="0"/>
                        </a:rPr>
                        <m:t>𝐺</m:t>
                      </m:r>
                      <m:r>
                        <a:rPr lang="en-US" sz="2000" b="0" i="0" smtClean="0">
                          <a:solidFill>
                            <a:schemeClr val="accent6">
                              <a:lumMod val="60000"/>
                              <a:lumOff val="40000"/>
                            </a:schemeClr>
                          </a:solidFill>
                          <a:latin typeface="Cambria Math" panose="02040503050406030204" pitchFamily="18" charset="0"/>
                        </a:rPr>
                        <m:t>)</m:t>
                      </m:r>
                      <m:r>
                        <a:rPr lang="ar-AE" sz="2000">
                          <a:solidFill>
                            <a:schemeClr val="accent6">
                              <a:lumMod val="60000"/>
                              <a:lumOff val="40000"/>
                            </a:schemeClr>
                          </a:solidFill>
                          <a:latin typeface="Cambria Math" panose="02040503050406030204" pitchFamily="18" charset="0"/>
                        </a:rPr>
                        <m:t>=</m:t>
                      </m:r>
                      <m:sSub>
                        <m:sSubPr>
                          <m:ctrlPr>
                            <a:rPr lang="ar-AE" sz="2000">
                              <a:solidFill>
                                <a:schemeClr val="accent6">
                                  <a:lumMod val="60000"/>
                                  <a:lumOff val="40000"/>
                                </a:schemeClr>
                              </a:solidFill>
                              <a:latin typeface="Cambria Math" panose="02040503050406030204" pitchFamily="18" charset="0"/>
                            </a:rPr>
                          </m:ctrlPr>
                        </m:sSubPr>
                        <m:e>
                          <m:r>
                            <a:rPr lang="ar-AE" sz="2000">
                              <a:solidFill>
                                <a:schemeClr val="accent6">
                                  <a:lumMod val="60000"/>
                                  <a:lumOff val="40000"/>
                                </a:schemeClr>
                              </a:solidFill>
                              <a:latin typeface="Cambria Math" panose="02040503050406030204" pitchFamily="18" charset="0"/>
                            </a:rPr>
                            <m:t>𝔼</m:t>
                          </m:r>
                        </m:e>
                        <m:sub>
                          <m:r>
                            <a:rPr lang="ar-AE" sz="2000" i="1">
                              <a:solidFill>
                                <a:schemeClr val="accent6">
                                  <a:lumMod val="60000"/>
                                  <a:lumOff val="40000"/>
                                </a:schemeClr>
                              </a:solidFill>
                              <a:latin typeface="Cambria Math" panose="02040503050406030204" pitchFamily="18" charset="0"/>
                            </a:rPr>
                            <m:t>𝑥</m:t>
                          </m:r>
                          <m:r>
                            <a:rPr lang="ar-AE" sz="2000">
                              <a:solidFill>
                                <a:schemeClr val="accent6">
                                  <a:lumMod val="60000"/>
                                  <a:lumOff val="40000"/>
                                </a:schemeClr>
                              </a:solidFill>
                              <a:latin typeface="Cambria Math" panose="02040503050406030204" pitchFamily="18" charset="0"/>
                            </a:rPr>
                            <m:t>∼</m:t>
                          </m:r>
                          <m:sSub>
                            <m:sSubPr>
                              <m:ctrlPr>
                                <a:rPr lang="ar-AE" sz="2000" i="1">
                                  <a:solidFill>
                                    <a:schemeClr val="accent6">
                                      <a:lumMod val="60000"/>
                                      <a:lumOff val="40000"/>
                                    </a:schemeClr>
                                  </a:solidFill>
                                  <a:latin typeface="Cambria Math" panose="02040503050406030204" pitchFamily="18" charset="0"/>
                                </a:rPr>
                              </m:ctrlPr>
                            </m:sSubPr>
                            <m:e>
                              <m:r>
                                <a:rPr lang="ar-AE" sz="2000" i="1">
                                  <a:solidFill>
                                    <a:schemeClr val="accent6">
                                      <a:lumMod val="60000"/>
                                      <a:lumOff val="40000"/>
                                    </a:schemeClr>
                                  </a:solidFill>
                                  <a:latin typeface="Cambria Math" panose="02040503050406030204" pitchFamily="18" charset="0"/>
                                </a:rPr>
                                <m:t>𝑝</m:t>
                              </m:r>
                            </m:e>
                            <m:sub>
                              <m:r>
                                <a:rPr lang="ar-AE" sz="2000" i="1">
                                  <a:solidFill>
                                    <a:schemeClr val="accent6">
                                      <a:lumMod val="60000"/>
                                      <a:lumOff val="40000"/>
                                    </a:schemeClr>
                                  </a:solidFill>
                                  <a:latin typeface="Cambria Math" panose="02040503050406030204" pitchFamily="18" charset="0"/>
                                </a:rPr>
                                <m:t>𝑑𝑎𝑡𝑎</m:t>
                              </m:r>
                            </m:sub>
                          </m:sSub>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𝑥</m:t>
                              </m:r>
                            </m:e>
                          </m:d>
                        </m:sub>
                      </m:sSub>
                      <m:d>
                        <m:dPr>
                          <m:begChr m:val="["/>
                          <m:endChr m:val="]"/>
                          <m:ctrlPr>
                            <a:rPr lang="en-US" sz="2000" i="1">
                              <a:solidFill>
                                <a:schemeClr val="accent6">
                                  <a:lumMod val="60000"/>
                                  <a:lumOff val="40000"/>
                                </a:schemeClr>
                              </a:solidFill>
                              <a:latin typeface="Cambria Math" panose="02040503050406030204" pitchFamily="18" charset="0"/>
                            </a:rPr>
                          </m:ctrlPr>
                        </m:dPr>
                        <m:e>
                          <m:func>
                            <m:funcPr>
                              <m:ctrlPr>
                                <a:rPr lang="en-US" sz="2000">
                                  <a:solidFill>
                                    <a:schemeClr val="accent6">
                                      <a:lumMod val="60000"/>
                                      <a:lumOff val="40000"/>
                                    </a:schemeClr>
                                  </a:solidFill>
                                  <a:latin typeface="Cambria Math" panose="02040503050406030204" pitchFamily="18" charset="0"/>
                                </a:rPr>
                              </m:ctrlPr>
                            </m:funcPr>
                            <m:fName>
                              <m:r>
                                <m:rPr>
                                  <m:sty m:val="p"/>
                                </m:rPr>
                                <a:rPr lang="en-US" sz="2000">
                                  <a:solidFill>
                                    <a:schemeClr val="accent6">
                                      <a:lumMod val="60000"/>
                                      <a:lumOff val="40000"/>
                                    </a:schemeClr>
                                  </a:solidFill>
                                  <a:latin typeface="Cambria Math" panose="02040503050406030204" pitchFamily="18" charset="0"/>
                                </a:rPr>
                                <m:t>log</m:t>
                              </m:r>
                            </m:fName>
                            <m:e>
                              <m:r>
                                <a:rPr lang="ar-AE" sz="2000" i="1">
                                  <a:solidFill>
                                    <a:schemeClr val="accent6">
                                      <a:lumMod val="60000"/>
                                      <a:lumOff val="40000"/>
                                    </a:schemeClr>
                                  </a:solidFill>
                                  <a:latin typeface="Cambria Math" panose="02040503050406030204" pitchFamily="18" charset="0"/>
                                </a:rPr>
                                <m:t>𝐷</m:t>
                              </m:r>
                            </m:e>
                          </m:func>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𝑥</m:t>
                              </m:r>
                            </m:e>
                          </m:d>
                        </m:e>
                      </m:d>
                      <m:r>
                        <a:rPr lang="ar-AE" sz="2000">
                          <a:solidFill>
                            <a:schemeClr val="accent6">
                              <a:lumMod val="60000"/>
                              <a:lumOff val="40000"/>
                            </a:schemeClr>
                          </a:solidFill>
                          <a:latin typeface="Cambria Math" panose="02040503050406030204" pitchFamily="18" charset="0"/>
                        </a:rPr>
                        <m:t>+</m:t>
                      </m:r>
                      <m:sSub>
                        <m:sSubPr>
                          <m:ctrlPr>
                            <a:rPr lang="ar-AE" sz="2000">
                              <a:solidFill>
                                <a:schemeClr val="accent6">
                                  <a:lumMod val="60000"/>
                                  <a:lumOff val="40000"/>
                                </a:schemeClr>
                              </a:solidFill>
                              <a:latin typeface="Cambria Math" panose="02040503050406030204" pitchFamily="18" charset="0"/>
                            </a:rPr>
                          </m:ctrlPr>
                        </m:sSubPr>
                        <m:e>
                          <m:r>
                            <a:rPr lang="ar-AE" sz="2000">
                              <a:solidFill>
                                <a:schemeClr val="accent6">
                                  <a:lumMod val="60000"/>
                                  <a:lumOff val="40000"/>
                                </a:schemeClr>
                              </a:solidFill>
                              <a:latin typeface="Cambria Math" panose="02040503050406030204" pitchFamily="18" charset="0"/>
                            </a:rPr>
                            <m:t>𝔼</m:t>
                          </m:r>
                        </m:e>
                        <m:sub>
                          <m:r>
                            <a:rPr lang="ar-AE" sz="2000" i="1">
                              <a:solidFill>
                                <a:schemeClr val="accent6">
                                  <a:lumMod val="60000"/>
                                  <a:lumOff val="40000"/>
                                </a:schemeClr>
                              </a:solidFill>
                              <a:latin typeface="Cambria Math" panose="02040503050406030204" pitchFamily="18" charset="0"/>
                            </a:rPr>
                            <m:t>𝑧</m:t>
                          </m:r>
                          <m:r>
                            <a:rPr lang="ar-AE" sz="2000">
                              <a:solidFill>
                                <a:schemeClr val="accent6">
                                  <a:lumMod val="60000"/>
                                  <a:lumOff val="40000"/>
                                </a:schemeClr>
                              </a:solidFill>
                              <a:latin typeface="Cambria Math" panose="02040503050406030204" pitchFamily="18" charset="0"/>
                            </a:rPr>
                            <m:t>∼</m:t>
                          </m:r>
                          <m:sSub>
                            <m:sSubPr>
                              <m:ctrlPr>
                                <a:rPr lang="ar-AE" sz="2000" i="1">
                                  <a:solidFill>
                                    <a:schemeClr val="accent6">
                                      <a:lumMod val="60000"/>
                                      <a:lumOff val="40000"/>
                                    </a:schemeClr>
                                  </a:solidFill>
                                  <a:latin typeface="Cambria Math" panose="02040503050406030204" pitchFamily="18" charset="0"/>
                                </a:rPr>
                              </m:ctrlPr>
                            </m:sSubPr>
                            <m:e>
                              <m:r>
                                <a:rPr lang="ar-AE" sz="2000" i="1">
                                  <a:solidFill>
                                    <a:schemeClr val="accent6">
                                      <a:lumMod val="60000"/>
                                      <a:lumOff val="40000"/>
                                    </a:schemeClr>
                                  </a:solidFill>
                                  <a:latin typeface="Cambria Math" panose="02040503050406030204" pitchFamily="18" charset="0"/>
                                </a:rPr>
                                <m:t>𝑝</m:t>
                              </m:r>
                            </m:e>
                            <m:sub>
                              <m:r>
                                <a:rPr lang="ar-AE" sz="2000" i="1">
                                  <a:solidFill>
                                    <a:schemeClr val="accent6">
                                      <a:lumMod val="60000"/>
                                      <a:lumOff val="40000"/>
                                    </a:schemeClr>
                                  </a:solidFill>
                                  <a:latin typeface="Cambria Math" panose="02040503050406030204" pitchFamily="18" charset="0"/>
                                </a:rPr>
                                <m:t>𝑧</m:t>
                              </m:r>
                            </m:sub>
                          </m:sSub>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𝑧</m:t>
                              </m:r>
                            </m:e>
                          </m:d>
                        </m:sub>
                      </m:sSub>
                      <m:d>
                        <m:dPr>
                          <m:begChr m:val="["/>
                          <m:endChr m:val="]"/>
                          <m:ctrlPr>
                            <a:rPr lang="en-US" sz="2000">
                              <a:solidFill>
                                <a:schemeClr val="accent6">
                                  <a:lumMod val="60000"/>
                                  <a:lumOff val="40000"/>
                                </a:schemeClr>
                              </a:solidFill>
                              <a:latin typeface="Cambria Math" panose="02040503050406030204" pitchFamily="18" charset="0"/>
                            </a:rPr>
                          </m:ctrlPr>
                        </m:dPr>
                        <m:e>
                          <m:r>
                            <m:rPr>
                              <m:sty m:val="p"/>
                            </m:rPr>
                            <a:rPr lang="en-US" sz="2000">
                              <a:solidFill>
                                <a:schemeClr val="accent6">
                                  <a:lumMod val="60000"/>
                                  <a:lumOff val="40000"/>
                                </a:schemeClr>
                              </a:solidFill>
                              <a:latin typeface="Cambria Math" panose="02040503050406030204" pitchFamily="18" charset="0"/>
                            </a:rPr>
                            <m:t>log</m:t>
                          </m:r>
                          <m:r>
                            <a:rPr lang="en-US" sz="2000">
                              <a:solidFill>
                                <a:schemeClr val="accent6">
                                  <a:lumMod val="60000"/>
                                  <a:lumOff val="40000"/>
                                </a:schemeClr>
                              </a:solidFill>
                              <a:latin typeface="Cambria Math" panose="02040503050406030204" pitchFamily="18" charset="0"/>
                            </a:rPr>
                            <m:t>⁡</m:t>
                          </m:r>
                          <m:d>
                            <m:dPr>
                              <m:ctrlPr>
                                <a:rPr lang="ar-AE" sz="2000">
                                  <a:solidFill>
                                    <a:schemeClr val="accent6">
                                      <a:lumMod val="60000"/>
                                      <a:lumOff val="40000"/>
                                    </a:schemeClr>
                                  </a:solidFill>
                                  <a:latin typeface="Cambria Math" panose="02040503050406030204" pitchFamily="18" charset="0"/>
                                </a:rPr>
                              </m:ctrlPr>
                            </m:dPr>
                            <m:e>
                              <m:r>
                                <a:rPr lang="ar-AE" sz="2000">
                                  <a:solidFill>
                                    <a:schemeClr val="accent6">
                                      <a:lumMod val="60000"/>
                                      <a:lumOff val="40000"/>
                                    </a:schemeClr>
                                  </a:solidFill>
                                  <a:latin typeface="Cambria Math" panose="02040503050406030204" pitchFamily="18" charset="0"/>
                                </a:rPr>
                                <m:t>1−</m:t>
                              </m:r>
                              <m:r>
                                <a:rPr lang="ar-AE" sz="2000" i="1">
                                  <a:solidFill>
                                    <a:schemeClr val="accent6">
                                      <a:lumMod val="60000"/>
                                      <a:lumOff val="40000"/>
                                    </a:schemeClr>
                                  </a:solidFill>
                                  <a:latin typeface="Cambria Math" panose="02040503050406030204" pitchFamily="18" charset="0"/>
                                </a:rPr>
                                <m:t>𝐷</m:t>
                              </m:r>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𝐺</m:t>
                                  </m:r>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𝑧</m:t>
                                      </m:r>
                                    </m:e>
                                  </m:d>
                                </m:e>
                              </m:d>
                            </m:e>
                          </m:d>
                        </m:e>
                      </m:d>
                    </m:oMath>
                  </m:oMathPara>
                </a14:m>
                <a:endParaRPr lang="ar-AE" sz="2000" dirty="0">
                  <a:solidFill>
                    <a:schemeClr val="accent6">
                      <a:lumMod val="60000"/>
                      <a:lumOff val="40000"/>
                    </a:schemeClr>
                  </a:solidFill>
                </a:endParaRP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Discriminator tries to </a:t>
                </a:r>
                <a:r>
                  <a:rPr lang="en-US" sz="2400" b="1" dirty="0">
                    <a:solidFill>
                      <a:schemeClr val="accent6">
                        <a:lumMod val="60000"/>
                        <a:lumOff val="40000"/>
                      </a:schemeClr>
                    </a:solidFill>
                  </a:rPr>
                  <a:t>maximize</a:t>
                </a:r>
                <a:r>
                  <a:rPr lang="en-US" sz="2400" dirty="0">
                    <a:solidFill>
                      <a:schemeClr val="accent6">
                        <a:lumMod val="60000"/>
                        <a:lumOff val="40000"/>
                      </a:schemeClr>
                    </a:solidFill>
                  </a:rPr>
                  <a:t> this loss function.  Generator tries to </a:t>
                </a:r>
                <a:r>
                  <a:rPr lang="en-US" sz="2400" b="1" dirty="0">
                    <a:solidFill>
                      <a:schemeClr val="accent6">
                        <a:lumMod val="60000"/>
                        <a:lumOff val="40000"/>
                      </a:schemeClr>
                    </a:solidFill>
                  </a:rPr>
                  <a:t>minimize</a:t>
                </a:r>
                <a:r>
                  <a:rPr lang="en-US" sz="2400" dirty="0">
                    <a:solidFill>
                      <a:schemeClr val="accent6">
                        <a:lumMod val="60000"/>
                        <a:lumOff val="40000"/>
                      </a:schemeClr>
                    </a:solidFill>
                  </a:rPr>
                  <a:t> it</a:t>
                </a:r>
              </a:p>
            </p:txBody>
          </p:sp>
        </mc:Choice>
        <mc:Fallback xmlns="">
          <p:sp>
            <p:nvSpPr>
              <p:cNvPr id="5" name="TextBox 4">
                <a:extLst>
                  <a:ext uri="{FF2B5EF4-FFF2-40B4-BE49-F238E27FC236}">
                    <a16:creationId xmlns:a16="http://schemas.microsoft.com/office/drawing/2014/main" id="{2E775213-11C3-D64F-7AC8-134C40D47BDC}"/>
                  </a:ext>
                </a:extLst>
              </p:cNvPr>
              <p:cNvSpPr txBox="1">
                <a:spLocks noRot="1" noChangeAspect="1" noMove="1" noResize="1" noEditPoints="1" noAdjustHandles="1" noChangeArrowheads="1" noChangeShapeType="1" noTextEdit="1"/>
              </p:cNvSpPr>
              <p:nvPr/>
            </p:nvSpPr>
            <p:spPr>
              <a:xfrm>
                <a:off x="106679" y="87563"/>
                <a:ext cx="11305033" cy="3138295"/>
              </a:xfrm>
              <a:prstGeom prst="rect">
                <a:avLst/>
              </a:prstGeom>
              <a:blipFill>
                <a:blip r:embed="rId2"/>
                <a:stretch>
                  <a:fillRect l="-809" t="-1553" b="-3495"/>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CD01A6DA-AC83-B27A-CFBF-846C1DDEAF36}"/>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6" name="Rectangle: Rounded Corners 5">
            <a:extLst>
              <a:ext uri="{FF2B5EF4-FFF2-40B4-BE49-F238E27FC236}">
                <a16:creationId xmlns:a16="http://schemas.microsoft.com/office/drawing/2014/main" id="{03727FDD-AAD0-2C06-8653-92AAC642B954}"/>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8" name="Arrow: Right 7">
            <a:extLst>
              <a:ext uri="{FF2B5EF4-FFF2-40B4-BE49-F238E27FC236}">
                <a16:creationId xmlns:a16="http://schemas.microsoft.com/office/drawing/2014/main" id="{B066DC5B-CD0C-1FA8-36F0-A5926DC3AE06}"/>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Right 9">
            <a:extLst>
              <a:ext uri="{FF2B5EF4-FFF2-40B4-BE49-F238E27FC236}">
                <a16:creationId xmlns:a16="http://schemas.microsoft.com/office/drawing/2014/main" id="{2CB93B11-B2A9-6F52-9D61-F31D6D503BAF}"/>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17AC5F06-8225-4409-CBD6-58183C91396C}"/>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14" name="Rectangle: Rounded Corners 13">
            <a:extLst>
              <a:ext uri="{FF2B5EF4-FFF2-40B4-BE49-F238E27FC236}">
                <a16:creationId xmlns:a16="http://schemas.microsoft.com/office/drawing/2014/main" id="{5BC34F54-5406-07A0-932B-B6027B1F751C}"/>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6" name="Rectangle: Rounded Corners 15">
            <a:extLst>
              <a:ext uri="{FF2B5EF4-FFF2-40B4-BE49-F238E27FC236}">
                <a16:creationId xmlns:a16="http://schemas.microsoft.com/office/drawing/2014/main" id="{998A25BA-1FFE-930A-8B2E-F5EB15411315}"/>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8" name="Arrow: Right 17">
            <a:extLst>
              <a:ext uri="{FF2B5EF4-FFF2-40B4-BE49-F238E27FC236}">
                <a16:creationId xmlns:a16="http://schemas.microsoft.com/office/drawing/2014/main" id="{268FC1D5-CF6E-7A04-02EE-252174650F2A}"/>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4160815-6B75-500A-8586-F2F7558EF9BC}"/>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22" name="Rectangle: Rounded Corners 21">
            <a:extLst>
              <a:ext uri="{FF2B5EF4-FFF2-40B4-BE49-F238E27FC236}">
                <a16:creationId xmlns:a16="http://schemas.microsoft.com/office/drawing/2014/main" id="{F51C776B-B041-3E9F-9D63-72A67D5BAA4E}"/>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24" name="Arrow: Right 23">
            <a:extLst>
              <a:ext uri="{FF2B5EF4-FFF2-40B4-BE49-F238E27FC236}">
                <a16:creationId xmlns:a16="http://schemas.microsoft.com/office/drawing/2014/main" id="{12C604CD-D197-9A93-0207-E3D7D545D529}"/>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C900AC24-CD92-A23B-0B54-6463C7F4EC57}"/>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D4B39FE-027D-B064-2085-DB06D95D51AC}"/>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F3C2E4B5-C9DD-773F-7D21-789016590CC6}"/>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C8EE9681-6190-1605-868C-2DB39F069BED}"/>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9ED08B7-D730-2FF6-A693-7743D67AB68E}"/>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36" name="Arrow: Right 35">
            <a:extLst>
              <a:ext uri="{FF2B5EF4-FFF2-40B4-BE49-F238E27FC236}">
                <a16:creationId xmlns:a16="http://schemas.microsoft.com/office/drawing/2014/main" id="{464DEB95-2075-2DDE-962F-165E7A04C2E1}"/>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21B3F429-9107-14B4-8ACA-02BD753C2929}"/>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FB7C499-AB35-9843-C76F-8C0AF784E930}"/>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42" name="TextBox 41">
            <a:extLst>
              <a:ext uri="{FF2B5EF4-FFF2-40B4-BE49-F238E27FC236}">
                <a16:creationId xmlns:a16="http://schemas.microsoft.com/office/drawing/2014/main" id="{F859CC3F-2E23-9005-C37D-697657411BB8}"/>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44" name="TextBox 43">
            <a:extLst>
              <a:ext uri="{FF2B5EF4-FFF2-40B4-BE49-F238E27FC236}">
                <a16:creationId xmlns:a16="http://schemas.microsoft.com/office/drawing/2014/main" id="{308BF466-F961-9A04-E1D1-AEA7B2B53CD9}"/>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46" name="TextBox 45">
            <a:extLst>
              <a:ext uri="{FF2B5EF4-FFF2-40B4-BE49-F238E27FC236}">
                <a16:creationId xmlns:a16="http://schemas.microsoft.com/office/drawing/2014/main" id="{2D5CB7CF-14C1-9C3B-5B32-69BAC8BB8048}"/>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48" name="TextBox 47">
            <a:extLst>
              <a:ext uri="{FF2B5EF4-FFF2-40B4-BE49-F238E27FC236}">
                <a16:creationId xmlns:a16="http://schemas.microsoft.com/office/drawing/2014/main" id="{8CEF47D6-BC84-F77C-6C3A-60E853377D6A}"/>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50" name="TextBox 49">
            <a:extLst>
              <a:ext uri="{FF2B5EF4-FFF2-40B4-BE49-F238E27FC236}">
                <a16:creationId xmlns:a16="http://schemas.microsoft.com/office/drawing/2014/main" id="{96913F4C-9E0C-E09A-FCE6-0BEE5F6B1ACF}"/>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52" name="TextBox 51">
            <a:extLst>
              <a:ext uri="{FF2B5EF4-FFF2-40B4-BE49-F238E27FC236}">
                <a16:creationId xmlns:a16="http://schemas.microsoft.com/office/drawing/2014/main" id="{1874A8D0-8E79-AACD-1FCD-FCEDFE3E6389}"/>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Tree>
    <p:extLst>
      <p:ext uri="{BB962C8B-B14F-4D97-AF65-F5344CB8AC3E}">
        <p14:creationId xmlns:p14="http://schemas.microsoft.com/office/powerpoint/2010/main" val="309988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DF98-6805-C798-BFCB-BF4693221E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39BC72-D3B5-115F-9A0C-34A33C8E0820}"/>
                  </a:ext>
                </a:extLst>
              </p:cNvPr>
              <p:cNvSpPr txBox="1"/>
              <p:nvPr/>
            </p:nvSpPr>
            <p:spPr>
              <a:xfrm>
                <a:off x="234695" y="239744"/>
                <a:ext cx="7199377" cy="1569660"/>
              </a:xfrm>
              <a:prstGeom prst="rect">
                <a:avLst/>
              </a:prstGeom>
              <a:noFill/>
            </p:spPr>
            <p:txBody>
              <a:bodyPr wrap="square">
                <a:spAutoFit/>
              </a:bodyPr>
              <a:lstStyle/>
              <a:p>
                <a:pPr>
                  <a:buNone/>
                </a:pPr>
                <a:r>
                  <a:rPr lang="en-US" sz="2400" b="1" dirty="0">
                    <a:solidFill>
                      <a:schemeClr val="accent6">
                        <a:lumMod val="60000"/>
                        <a:lumOff val="40000"/>
                      </a:schemeClr>
                    </a:solidFill>
                  </a:rPr>
                  <a:t>Example:</a:t>
                </a:r>
              </a:p>
              <a:p>
                <a:pPr>
                  <a:buNone/>
                </a:pPr>
                <a:r>
                  <a:rPr lang="en-US" sz="2400" dirty="0">
                    <a:solidFill>
                      <a:schemeClr val="accent6">
                        <a:lumMod val="60000"/>
                        <a:lumOff val="40000"/>
                      </a:schemeClr>
                    </a:solidFill>
                  </a:rPr>
                  <a:t>If you're training a GAN on faces:</a:t>
                </a:r>
              </a:p>
              <a:p>
                <a:pPr marL="342900" indent="-342900">
                  <a:buFont typeface="Arial" panose="020B0604020202020204" pitchFamily="34" charset="0"/>
                  <a:buChar char="•"/>
                </a:pPr>
                <a14:m>
                  <m:oMath xmlns:m="http://schemas.openxmlformats.org/officeDocument/2006/math">
                    <m:r>
                      <a:rPr lang="en-US" sz="2400" i="1">
                        <a:solidFill>
                          <a:schemeClr val="accent6">
                            <a:lumMod val="60000"/>
                            <a:lumOff val="40000"/>
                          </a:schemeClr>
                        </a:solidFill>
                        <a:latin typeface="Cambria Math" panose="02040503050406030204" pitchFamily="18" charset="0"/>
                      </a:rPr>
                      <m:t>𝑥</m:t>
                    </m:r>
                  </m:oMath>
                </a14:m>
                <a:r>
                  <a:rPr lang="en-US" sz="2400" dirty="0">
                    <a:solidFill>
                      <a:schemeClr val="accent6">
                        <a:lumMod val="60000"/>
                        <a:lumOff val="40000"/>
                      </a:schemeClr>
                    </a:solidFill>
                  </a:rPr>
                  <a:t>= a real image of a human face from your dataset </a:t>
                </a:r>
              </a:p>
              <a:p>
                <a:pPr marL="342900" indent="-342900">
                  <a:buFont typeface="Arial" panose="020B0604020202020204" pitchFamily="34" charset="0"/>
                  <a:buChar char="•"/>
                </a:pPr>
                <a:r>
                  <a:rPr lang="en-US" sz="2400" dirty="0">
                    <a:solidFill>
                      <a:schemeClr val="accent6">
                        <a:lumMod val="60000"/>
                        <a:lumOff val="40000"/>
                      </a:schemeClr>
                    </a:solidFill>
                  </a:rPr>
                  <a:t>So, </a:t>
                </a:r>
                <a14:m>
                  <m:oMath xmlns:m="http://schemas.openxmlformats.org/officeDocument/2006/math">
                    <m:r>
                      <a:rPr lang="en-US" sz="2400" b="0" i="0" smtClean="0">
                        <a:solidFill>
                          <a:schemeClr val="accent6">
                            <a:lumMod val="60000"/>
                            <a:lumOff val="40000"/>
                          </a:schemeClr>
                        </a:solidFill>
                        <a:latin typeface="Cambria Math" panose="02040503050406030204" pitchFamily="18" charset="0"/>
                      </a:rPr>
                      <m:t> </m:t>
                    </m:r>
                    <m:r>
                      <a:rPr lang="en-US" sz="2400" i="1">
                        <a:solidFill>
                          <a:schemeClr val="accent6">
                            <a:lumMod val="60000"/>
                            <a:lumOff val="40000"/>
                          </a:schemeClr>
                        </a:solidFill>
                        <a:latin typeface="Cambria Math" panose="02040503050406030204" pitchFamily="18" charset="0"/>
                      </a:rPr>
                      <m:t>𝐷</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𝑥</m:t>
                        </m:r>
                      </m:e>
                    </m:d>
                  </m:oMath>
                </a14:m>
                <a:r>
                  <a:rPr lang="ar-AE" sz="2400" dirty="0">
                    <a:solidFill>
                      <a:schemeClr val="accent6">
                        <a:lumMod val="60000"/>
                        <a:lumOff val="40000"/>
                      </a:schemeClr>
                    </a:solidFill>
                  </a:rPr>
                  <a:t>= </a:t>
                </a:r>
                <a:r>
                  <a:rPr lang="en-US" sz="2400" dirty="0">
                    <a:solidFill>
                      <a:schemeClr val="accent6">
                        <a:lumMod val="60000"/>
                        <a:lumOff val="40000"/>
                      </a:schemeClr>
                    </a:solidFill>
                  </a:rPr>
                  <a:t>probability that this </a:t>
                </a:r>
                <a:r>
                  <a:rPr lang="en-US" sz="2400" b="1" dirty="0">
                    <a:solidFill>
                      <a:schemeClr val="accent6">
                        <a:lumMod val="60000"/>
                        <a:lumOff val="40000"/>
                      </a:schemeClr>
                    </a:solidFill>
                  </a:rPr>
                  <a:t>real image is real</a:t>
                </a:r>
                <a:endParaRPr lang="en-US" sz="2400" dirty="0">
                  <a:solidFill>
                    <a:schemeClr val="accent6">
                      <a:lumMod val="60000"/>
                      <a:lumOff val="40000"/>
                    </a:schemeClr>
                  </a:solidFill>
                </a:endParaRPr>
              </a:p>
            </p:txBody>
          </p:sp>
        </mc:Choice>
        <mc:Fallback xmlns="">
          <p:sp>
            <p:nvSpPr>
              <p:cNvPr id="7" name="TextBox 6">
                <a:extLst>
                  <a:ext uri="{FF2B5EF4-FFF2-40B4-BE49-F238E27FC236}">
                    <a16:creationId xmlns:a16="http://schemas.microsoft.com/office/drawing/2014/main" id="{2339BC72-D3B5-115F-9A0C-34A33C8E0820}"/>
                  </a:ext>
                </a:extLst>
              </p:cNvPr>
              <p:cNvSpPr txBox="1">
                <a:spLocks noRot="1" noChangeAspect="1" noMove="1" noResize="1" noEditPoints="1" noAdjustHandles="1" noChangeArrowheads="1" noChangeShapeType="1" noTextEdit="1"/>
              </p:cNvSpPr>
              <p:nvPr/>
            </p:nvSpPr>
            <p:spPr>
              <a:xfrm>
                <a:off x="234695" y="239744"/>
                <a:ext cx="7199377" cy="1569660"/>
              </a:xfrm>
              <a:prstGeom prst="rect">
                <a:avLst/>
              </a:prstGeom>
              <a:blipFill>
                <a:blip r:embed="rId2"/>
                <a:stretch>
                  <a:fillRect l="-1269" t="-3101" b="-77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FD9183F-AA48-DA20-E189-F2FA624598EB}"/>
                  </a:ext>
                </a:extLst>
              </p:cNvPr>
              <p:cNvSpPr txBox="1"/>
              <p:nvPr/>
            </p:nvSpPr>
            <p:spPr>
              <a:xfrm>
                <a:off x="234695" y="2507010"/>
                <a:ext cx="8956548" cy="3416320"/>
              </a:xfrm>
              <a:prstGeom prst="rect">
                <a:avLst/>
              </a:prstGeom>
              <a:noFill/>
            </p:spPr>
            <p:txBody>
              <a:bodyPr wrap="square">
                <a:spAutoFit/>
              </a:bodyPr>
              <a:lstStyle/>
              <a:p>
                <a:pPr>
                  <a:buNone/>
                </a:pPr>
                <a:r>
                  <a:rPr lang="en-US" sz="2400" b="1" dirty="0">
                    <a:solidFill>
                      <a:schemeClr val="accent6">
                        <a:lumMod val="60000"/>
                        <a:lumOff val="40000"/>
                      </a:schemeClr>
                    </a:solidFill>
                  </a:rPr>
                  <a:t> What is z?</a:t>
                </a:r>
              </a:p>
              <a:p>
                <a:pPr marL="342900" indent="-342900">
                  <a:buFont typeface="Arial" panose="020B0604020202020204" pitchFamily="34" charset="0"/>
                  <a:buChar char="•"/>
                </a:pPr>
                <a:r>
                  <a:rPr lang="en-US" sz="2400" b="1" dirty="0">
                    <a:solidFill>
                      <a:schemeClr val="accent6">
                        <a:lumMod val="60000"/>
                        <a:lumOff val="40000"/>
                      </a:schemeClr>
                    </a:solidFill>
                  </a:rPr>
                  <a:t>z = random noise vector</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It comes from a simple distribution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𝑝</m:t>
                        </m:r>
                      </m:e>
                      <m:sub>
                        <m:r>
                          <a:rPr lang="ar-AE" sz="2400" i="1">
                            <a:solidFill>
                              <a:schemeClr val="accent6">
                                <a:lumMod val="60000"/>
                                <a:lumOff val="40000"/>
                              </a:schemeClr>
                            </a:solidFill>
                            <a:latin typeface="Cambria Math" panose="02040503050406030204" pitchFamily="18" charset="0"/>
                          </a:rPr>
                          <m:t>𝑧</m:t>
                        </m:r>
                      </m:sub>
                    </m:sSub>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oMath>
                </a14:m>
                <a:r>
                  <a:rPr lang="en-US" sz="2400" dirty="0">
                    <a:solidFill>
                      <a:schemeClr val="accent6">
                        <a:lumMod val="60000"/>
                        <a:lumOff val="40000"/>
                      </a:schemeClr>
                    </a:solidFill>
                  </a:rPr>
                  <a:t> (like normal or uniform)</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b="1" dirty="0">
                    <a:solidFill>
                      <a:schemeClr val="accent6">
                        <a:lumMod val="60000"/>
                        <a:lumOff val="40000"/>
                      </a:schemeClr>
                    </a:solidFill>
                  </a:rPr>
                  <a:t>Example:</a:t>
                </a:r>
              </a:p>
              <a:p>
                <a14:m>
                  <m:oMath xmlns:m="http://schemas.openxmlformats.org/officeDocument/2006/math">
                    <m:r>
                      <a:rPr lang="en-US" sz="2400" i="1">
                        <a:solidFill>
                          <a:schemeClr val="accent6">
                            <a:lumMod val="60000"/>
                            <a:lumOff val="40000"/>
                          </a:schemeClr>
                        </a:solidFill>
                        <a:latin typeface="Cambria Math" panose="02040503050406030204" pitchFamily="18" charset="0"/>
                      </a:rPr>
                      <m:t>𝑧</m:t>
                    </m:r>
                    <m:r>
                      <a:rPr lang="en-US" sz="240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[0.2, −1.5,  0.45, …]</m:t>
                    </m:r>
                  </m:oMath>
                </a14:m>
                <a:r>
                  <a:rPr lang="en-US" sz="2400" dirty="0">
                    <a:solidFill>
                      <a:schemeClr val="accent6">
                        <a:lumMod val="60000"/>
                        <a:lumOff val="40000"/>
                      </a:schemeClr>
                    </a:solidFill>
                  </a:rPr>
                  <a:t>  random numbers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This is the </a:t>
                </a:r>
                <a:r>
                  <a:rPr lang="en-US" sz="2400" b="1" dirty="0">
                    <a:solidFill>
                      <a:schemeClr val="accent6">
                        <a:lumMod val="60000"/>
                        <a:lumOff val="40000"/>
                      </a:schemeClr>
                    </a:solidFill>
                  </a:rPr>
                  <a:t>input to the generator</a:t>
                </a:r>
                <a:r>
                  <a:rPr lang="en-US" sz="2400" dirty="0">
                    <a:solidFill>
                      <a:schemeClr val="accent6">
                        <a:lumMod val="60000"/>
                        <a:lumOff val="40000"/>
                      </a:schemeClr>
                    </a:solidFill>
                  </a:rPr>
                  <a:t>:</a:t>
                </a:r>
              </a:p>
              <a:p>
                <a14:m>
                  <m:oMath xmlns:m="http://schemas.openxmlformats.org/officeDocument/2006/math">
                    <m:r>
                      <a:rPr lang="en-US" sz="2400" i="1">
                        <a:solidFill>
                          <a:schemeClr val="accent6">
                            <a:lumMod val="60000"/>
                            <a:lumOff val="40000"/>
                          </a:schemeClr>
                        </a:solidFill>
                        <a:latin typeface="Cambria Math" panose="02040503050406030204" pitchFamily="18" charset="0"/>
                      </a:rPr>
                      <m:t>𝐺</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oMath>
                </a14:m>
                <a:r>
                  <a:rPr lang="ar-AE" sz="2400" dirty="0">
                    <a:solidFill>
                      <a:schemeClr val="accent6">
                        <a:lumMod val="60000"/>
                        <a:lumOff val="40000"/>
                      </a:schemeClr>
                    </a:solidFill>
                  </a:rPr>
                  <a:t>= </a:t>
                </a:r>
                <a:r>
                  <a:rPr lang="en-US" sz="2400" dirty="0">
                    <a:solidFill>
                      <a:schemeClr val="accent6">
                        <a:lumMod val="60000"/>
                        <a:lumOff val="40000"/>
                      </a:schemeClr>
                    </a:solidFill>
                  </a:rPr>
                  <a:t> fake data generated from noise</a:t>
                </a:r>
              </a:p>
            </p:txBody>
          </p:sp>
        </mc:Choice>
        <mc:Fallback>
          <p:sp>
            <p:nvSpPr>
              <p:cNvPr id="9" name="TextBox 8">
                <a:extLst>
                  <a:ext uri="{FF2B5EF4-FFF2-40B4-BE49-F238E27FC236}">
                    <a16:creationId xmlns:a16="http://schemas.microsoft.com/office/drawing/2014/main" id="{4FD9183F-AA48-DA20-E189-F2FA624598EB}"/>
                  </a:ext>
                </a:extLst>
              </p:cNvPr>
              <p:cNvSpPr txBox="1">
                <a:spLocks noRot="1" noChangeAspect="1" noMove="1" noResize="1" noEditPoints="1" noAdjustHandles="1" noChangeArrowheads="1" noChangeShapeType="1" noTextEdit="1"/>
              </p:cNvSpPr>
              <p:nvPr/>
            </p:nvSpPr>
            <p:spPr>
              <a:xfrm>
                <a:off x="234695" y="2507010"/>
                <a:ext cx="8956548" cy="3416320"/>
              </a:xfrm>
              <a:prstGeom prst="rect">
                <a:avLst/>
              </a:prstGeom>
              <a:blipFill>
                <a:blip r:embed="rId3"/>
                <a:stretch>
                  <a:fillRect l="-1020" t="-1426" b="-3030"/>
                </a:stretch>
              </a:blipFill>
            </p:spPr>
            <p:txBody>
              <a:bodyPr/>
              <a:lstStyle/>
              <a:p>
                <a:r>
                  <a:rPr lang="en-IN">
                    <a:noFill/>
                  </a:rPr>
                  <a:t> </a:t>
                </a:r>
              </a:p>
            </p:txBody>
          </p:sp>
        </mc:Fallback>
      </mc:AlternateContent>
    </p:spTree>
    <p:extLst>
      <p:ext uri="{BB962C8B-B14F-4D97-AF65-F5344CB8AC3E}">
        <p14:creationId xmlns:p14="http://schemas.microsoft.com/office/powerpoint/2010/main" val="3415866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475D-8E85-9707-CE01-EEF1B671E4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F01BDE-3588-2E51-CBAE-8A73B9E3099B}"/>
              </a:ext>
            </a:extLst>
          </p:cNvPr>
          <p:cNvSpPr txBox="1"/>
          <p:nvPr/>
        </p:nvSpPr>
        <p:spPr>
          <a:xfrm>
            <a:off x="106679" y="87563"/>
            <a:ext cx="11305033" cy="830997"/>
          </a:xfrm>
          <a:prstGeom prst="rect">
            <a:avLst/>
          </a:prstGeom>
          <a:noFill/>
        </p:spPr>
        <p:txBody>
          <a:bodyPr wrap="square" rtlCol="0">
            <a:spAutoFit/>
          </a:bodyPr>
          <a:lstStyle/>
          <a:p>
            <a:r>
              <a:rPr lang="en-US" sz="2400" b="1" dirty="0">
                <a:solidFill>
                  <a:schemeClr val="accent6">
                    <a:lumMod val="60000"/>
                    <a:lumOff val="40000"/>
                  </a:schemeClr>
                </a:solidFill>
              </a:rPr>
              <a:t>Practical View (What actually happens in code)</a:t>
            </a:r>
          </a:p>
          <a:p>
            <a:r>
              <a:rPr lang="en-US" sz="2400" dirty="0">
                <a:solidFill>
                  <a:schemeClr val="accent6">
                    <a:lumMod val="60000"/>
                    <a:lumOff val="40000"/>
                  </a:schemeClr>
                </a:solidFill>
              </a:rPr>
              <a:t>In real implementations, we </a:t>
            </a:r>
            <a:r>
              <a:rPr lang="en-US" sz="2400" b="1" dirty="0">
                <a:solidFill>
                  <a:schemeClr val="accent6">
                    <a:lumMod val="60000"/>
                    <a:lumOff val="40000"/>
                  </a:schemeClr>
                </a:solidFill>
              </a:rPr>
              <a:t>don’t use this exact form directly for both models</a:t>
            </a:r>
            <a:r>
              <a:rPr lang="en-US" sz="2400" dirty="0">
                <a:solidFill>
                  <a:schemeClr val="accent6">
                    <a:lumMod val="60000"/>
                    <a:lumOff val="40000"/>
                  </a:schemeClr>
                </a:solidFill>
              </a:rPr>
              <a:t>. Instead</a:t>
            </a:r>
          </a:p>
        </p:txBody>
      </p:sp>
      <p:sp>
        <p:nvSpPr>
          <p:cNvPr id="3" name="TextBox 2">
            <a:extLst>
              <a:ext uri="{FF2B5EF4-FFF2-40B4-BE49-F238E27FC236}">
                <a16:creationId xmlns:a16="http://schemas.microsoft.com/office/drawing/2014/main" id="{D5FEB251-85FC-A81D-BD8A-670720C567FA}"/>
              </a:ext>
            </a:extLst>
          </p:cNvPr>
          <p:cNvSpPr txBox="1"/>
          <p:nvPr/>
        </p:nvSpPr>
        <p:spPr>
          <a:xfrm>
            <a:off x="5804764" y="1056467"/>
            <a:ext cx="6611112" cy="1569660"/>
          </a:xfrm>
          <a:prstGeom prst="rect">
            <a:avLst/>
          </a:prstGeom>
          <a:noFill/>
        </p:spPr>
        <p:txBody>
          <a:bodyPr wrap="square">
            <a:spAutoFit/>
          </a:bodyPr>
          <a:lstStyle/>
          <a:p>
            <a:pPr>
              <a:buNone/>
            </a:pPr>
            <a:r>
              <a:rPr lang="en-US" sz="2400" b="1" dirty="0">
                <a:solidFill>
                  <a:schemeClr val="accent6">
                    <a:lumMod val="60000"/>
                    <a:lumOff val="40000"/>
                  </a:schemeClr>
                </a:solidFill>
              </a:rPr>
              <a:t>🔹 Generator Loss (modified)</a:t>
            </a:r>
          </a:p>
          <a:p>
            <a:pPr>
              <a:buNone/>
            </a:pPr>
            <a:r>
              <a:rPr lang="en-US" sz="2400" dirty="0">
                <a:solidFill>
                  <a:schemeClr val="accent6">
                    <a:lumMod val="60000"/>
                    <a:lumOff val="40000"/>
                  </a:schemeClr>
                </a:solidFill>
              </a:rPr>
              <a:t>Instead of minimizing log(1 − D(G(z))), we use:</a:t>
            </a:r>
          </a:p>
          <a:p>
            <a:pPr marL="342900" indent="-342900">
              <a:buFont typeface="Arial" panose="020B0604020202020204" pitchFamily="34" charset="0"/>
              <a:buChar char="•"/>
            </a:pPr>
            <a:r>
              <a:rPr lang="en-US" sz="2400" b="1" dirty="0">
                <a:solidFill>
                  <a:schemeClr val="accent6">
                    <a:lumMod val="60000"/>
                    <a:lumOff val="40000"/>
                  </a:schemeClr>
                </a:solidFill>
              </a:rPr>
              <a:t>maximize  log(D(G(z)))</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or equivalently </a:t>
            </a:r>
            <a:r>
              <a:rPr lang="en-US" sz="2400" b="1" dirty="0">
                <a:solidFill>
                  <a:schemeClr val="accent6">
                    <a:lumMod val="60000"/>
                    <a:lumOff val="40000"/>
                  </a:schemeClr>
                </a:solidFill>
              </a:rPr>
              <a:t>minimize  −log(D(G(z)))</a:t>
            </a:r>
            <a:endParaRPr lang="en-US" sz="2400" dirty="0">
              <a:solidFill>
                <a:schemeClr val="accent6">
                  <a:lumMod val="60000"/>
                  <a:lumOff val="40000"/>
                </a:schemeClr>
              </a:solidFill>
            </a:endParaRPr>
          </a:p>
        </p:txBody>
      </p:sp>
      <p:sp>
        <p:nvSpPr>
          <p:cNvPr id="4" name="Rectangle: Rounded Corners 3">
            <a:extLst>
              <a:ext uri="{FF2B5EF4-FFF2-40B4-BE49-F238E27FC236}">
                <a16:creationId xmlns:a16="http://schemas.microsoft.com/office/drawing/2014/main" id="{B0792F20-83C2-FCA4-3432-EF4C314CAD07}"/>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24" name="Rectangle: Rounded Corners 23">
            <a:extLst>
              <a:ext uri="{FF2B5EF4-FFF2-40B4-BE49-F238E27FC236}">
                <a16:creationId xmlns:a16="http://schemas.microsoft.com/office/drawing/2014/main" id="{86F80464-66DC-A4A7-6C37-409AC5192137}"/>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26" name="Arrow: Right 25">
            <a:extLst>
              <a:ext uri="{FF2B5EF4-FFF2-40B4-BE49-F238E27FC236}">
                <a16:creationId xmlns:a16="http://schemas.microsoft.com/office/drawing/2014/main" id="{37260DE4-4538-1AFA-1CD1-7F2A8F0C1A3C}"/>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rrow: Right 27">
            <a:extLst>
              <a:ext uri="{FF2B5EF4-FFF2-40B4-BE49-F238E27FC236}">
                <a16:creationId xmlns:a16="http://schemas.microsoft.com/office/drawing/2014/main" id="{88705762-CC7E-C04F-2FF9-39A1A7812904}"/>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3D961D8-1493-23E7-AAF3-E9070BB68777}"/>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32" name="Rectangle: Rounded Corners 31">
            <a:extLst>
              <a:ext uri="{FF2B5EF4-FFF2-40B4-BE49-F238E27FC236}">
                <a16:creationId xmlns:a16="http://schemas.microsoft.com/office/drawing/2014/main" id="{3A4376D2-13FF-C92E-5547-BB6BE9699B00}"/>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34" name="Rectangle: Rounded Corners 33">
            <a:extLst>
              <a:ext uri="{FF2B5EF4-FFF2-40B4-BE49-F238E27FC236}">
                <a16:creationId xmlns:a16="http://schemas.microsoft.com/office/drawing/2014/main" id="{D479DB74-6ED2-F263-D394-AC78B61574D5}"/>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36" name="Arrow: Right 35">
            <a:extLst>
              <a:ext uri="{FF2B5EF4-FFF2-40B4-BE49-F238E27FC236}">
                <a16:creationId xmlns:a16="http://schemas.microsoft.com/office/drawing/2014/main" id="{0BFCFF12-76D6-D28D-3DAF-BD1A1B13F61A}"/>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0FFD691C-F648-3145-6B59-128243E990F1}"/>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40" name="Rectangle: Rounded Corners 39">
            <a:extLst>
              <a:ext uri="{FF2B5EF4-FFF2-40B4-BE49-F238E27FC236}">
                <a16:creationId xmlns:a16="http://schemas.microsoft.com/office/drawing/2014/main" id="{1A2948EC-B3D3-5DDC-C07B-F36F4D5BE901}"/>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42" name="Arrow: Right 41">
            <a:extLst>
              <a:ext uri="{FF2B5EF4-FFF2-40B4-BE49-F238E27FC236}">
                <a16:creationId xmlns:a16="http://schemas.microsoft.com/office/drawing/2014/main" id="{37E2990F-58AF-0DA6-EA31-B3A6F26B8E7B}"/>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CEA6277A-5446-CA0D-F3CB-21B4BDD0112A}"/>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C1C0DFEB-953F-358D-C619-C8061F58E8A0}"/>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BA11CB1E-52E0-73C4-51EF-71EA52EE2BF8}"/>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39EFEADC-91EA-51EB-1003-59B717005324}"/>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6DE3A6B6-2547-3509-DAFA-DA1E66FFB6FD}"/>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54" name="Arrow: Right 53">
            <a:extLst>
              <a:ext uri="{FF2B5EF4-FFF2-40B4-BE49-F238E27FC236}">
                <a16:creationId xmlns:a16="http://schemas.microsoft.com/office/drawing/2014/main" id="{E81285B7-51AF-2ECF-1858-4B84AEBCAA04}"/>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35251E7E-F82D-90CD-BEA6-78B597625538}"/>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BEEC6DF9-CFC1-74D3-98B4-D60E95C2249F}"/>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60" name="TextBox 59">
            <a:extLst>
              <a:ext uri="{FF2B5EF4-FFF2-40B4-BE49-F238E27FC236}">
                <a16:creationId xmlns:a16="http://schemas.microsoft.com/office/drawing/2014/main" id="{36A3A4BA-2DBE-154C-4406-A6CC2CE91643}"/>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62" name="TextBox 61">
            <a:extLst>
              <a:ext uri="{FF2B5EF4-FFF2-40B4-BE49-F238E27FC236}">
                <a16:creationId xmlns:a16="http://schemas.microsoft.com/office/drawing/2014/main" id="{51BCD4F4-0539-5EAE-529C-CF5D61BC9BF0}"/>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64" name="TextBox 63">
            <a:extLst>
              <a:ext uri="{FF2B5EF4-FFF2-40B4-BE49-F238E27FC236}">
                <a16:creationId xmlns:a16="http://schemas.microsoft.com/office/drawing/2014/main" id="{308DFFF5-954A-B414-D570-715F53408E6D}"/>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66" name="TextBox 65">
            <a:extLst>
              <a:ext uri="{FF2B5EF4-FFF2-40B4-BE49-F238E27FC236}">
                <a16:creationId xmlns:a16="http://schemas.microsoft.com/office/drawing/2014/main" id="{6CCAD07B-9165-DF1F-8EA9-A0D693FA0316}"/>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68" name="TextBox 67">
            <a:extLst>
              <a:ext uri="{FF2B5EF4-FFF2-40B4-BE49-F238E27FC236}">
                <a16:creationId xmlns:a16="http://schemas.microsoft.com/office/drawing/2014/main" id="{C6135CCB-FA16-3930-D694-4EC2C1790E6E}"/>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70" name="TextBox 69">
            <a:extLst>
              <a:ext uri="{FF2B5EF4-FFF2-40B4-BE49-F238E27FC236}">
                <a16:creationId xmlns:a16="http://schemas.microsoft.com/office/drawing/2014/main" id="{E7F412A5-25B6-1060-987A-7FCF48920FB3}"/>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
        <p:nvSpPr>
          <p:cNvPr id="72" name="TextBox 71">
            <a:extLst>
              <a:ext uri="{FF2B5EF4-FFF2-40B4-BE49-F238E27FC236}">
                <a16:creationId xmlns:a16="http://schemas.microsoft.com/office/drawing/2014/main" id="{337DE358-016C-6FFE-8D11-A12BD3E3D012}"/>
              </a:ext>
            </a:extLst>
          </p:cNvPr>
          <p:cNvSpPr txBox="1"/>
          <p:nvPr/>
        </p:nvSpPr>
        <p:spPr>
          <a:xfrm>
            <a:off x="260558" y="784371"/>
            <a:ext cx="6259068" cy="1938992"/>
          </a:xfrm>
          <a:prstGeom prst="rect">
            <a:avLst/>
          </a:prstGeom>
          <a:noFill/>
        </p:spPr>
        <p:txBody>
          <a:bodyPr wrap="square">
            <a:spAutoFit/>
          </a:bodyPr>
          <a:lstStyle/>
          <a:p>
            <a:endParaRPr lang="en-US" sz="2400" dirty="0">
              <a:solidFill>
                <a:schemeClr val="accent6">
                  <a:lumMod val="60000"/>
                  <a:lumOff val="40000"/>
                </a:schemeClr>
              </a:solidFill>
            </a:endParaRPr>
          </a:p>
          <a:p>
            <a:r>
              <a:rPr lang="en-US" sz="2400" b="1" dirty="0">
                <a:solidFill>
                  <a:schemeClr val="accent6">
                    <a:lumMod val="60000"/>
                    <a:lumOff val="40000"/>
                  </a:schemeClr>
                </a:solidFill>
              </a:rPr>
              <a:t>🔹 Discriminator Loss</a:t>
            </a:r>
            <a:endParaRPr lang="en-US" sz="2400" dirty="0">
              <a:solidFill>
                <a:schemeClr val="accent6">
                  <a:lumMod val="60000"/>
                  <a:lumOff val="40000"/>
                </a:schemeClr>
              </a:solidFill>
            </a:endParaRPr>
          </a:p>
          <a:p>
            <a:r>
              <a:rPr lang="en-US" sz="2400" dirty="0">
                <a:solidFill>
                  <a:schemeClr val="accent6">
                    <a:lumMod val="60000"/>
                    <a:lumOff val="40000"/>
                  </a:schemeClr>
                </a:solidFill>
              </a:rPr>
              <a:t>Maximizes: </a:t>
            </a:r>
          </a:p>
          <a:p>
            <a:pPr lvl="1"/>
            <a:r>
              <a:rPr lang="en-US" sz="2400" dirty="0">
                <a:solidFill>
                  <a:schemeClr val="accent6">
                    <a:lumMod val="60000"/>
                    <a:lumOff val="40000"/>
                  </a:schemeClr>
                </a:solidFill>
              </a:rPr>
              <a:t>log(D(real)) + log(1 − D(fake))</a:t>
            </a:r>
          </a:p>
          <a:p>
            <a:r>
              <a:rPr lang="en-US" sz="2400" dirty="0">
                <a:solidFill>
                  <a:schemeClr val="accent6">
                    <a:lumMod val="60000"/>
                    <a:lumOff val="40000"/>
                  </a:schemeClr>
                </a:solidFill>
              </a:rPr>
              <a:t>real = x, fake=z</a:t>
            </a:r>
          </a:p>
        </p:txBody>
      </p:sp>
    </p:spTree>
    <p:extLst>
      <p:ext uri="{BB962C8B-B14F-4D97-AF65-F5344CB8AC3E}">
        <p14:creationId xmlns:p14="http://schemas.microsoft.com/office/powerpoint/2010/main" val="2777669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6698F-A48F-25BA-FAAF-91561A5FDCE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1EA5C14-DF52-2ADA-9477-F08B4E9B9848}"/>
              </a:ext>
            </a:extLst>
          </p:cNvPr>
          <p:cNvSpPr txBox="1"/>
          <p:nvPr/>
        </p:nvSpPr>
        <p:spPr>
          <a:xfrm>
            <a:off x="359664" y="392067"/>
            <a:ext cx="6190488" cy="1200329"/>
          </a:xfrm>
          <a:prstGeom prst="rect">
            <a:avLst/>
          </a:prstGeom>
          <a:noFill/>
        </p:spPr>
        <p:txBody>
          <a:bodyPr wrap="square">
            <a:spAutoFit/>
          </a:bodyPr>
          <a:lstStyle/>
          <a:p>
            <a:pPr>
              <a:buNone/>
            </a:pPr>
            <a:r>
              <a:rPr lang="en-US" sz="2400" b="1" dirty="0">
                <a:solidFill>
                  <a:schemeClr val="accent6">
                    <a:lumMod val="60000"/>
                    <a:lumOff val="40000"/>
                  </a:schemeClr>
                </a:solidFill>
              </a:rPr>
              <a:t>Why?</a:t>
            </a:r>
          </a:p>
          <a:p>
            <a:pPr marL="342900" indent="-342900">
              <a:buFont typeface="Arial" panose="020B0604020202020204" pitchFamily="34" charset="0"/>
              <a:buChar char="•"/>
            </a:pPr>
            <a:r>
              <a:rPr lang="en-US" sz="2400" dirty="0">
                <a:solidFill>
                  <a:schemeClr val="accent6">
                    <a:lumMod val="60000"/>
                    <a:lumOff val="40000"/>
                  </a:schemeClr>
                </a:solidFill>
              </a:rPr>
              <a:t>The original form causes </a:t>
            </a:r>
            <a:r>
              <a:rPr lang="en-US" sz="2400" b="1" dirty="0">
                <a:solidFill>
                  <a:schemeClr val="accent6">
                    <a:lumMod val="60000"/>
                    <a:lumOff val="40000"/>
                  </a:schemeClr>
                </a:solidFill>
              </a:rPr>
              <a:t>vanishing gradients</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This trick gives </a:t>
            </a:r>
            <a:r>
              <a:rPr lang="en-US" sz="2400" b="1" dirty="0">
                <a:solidFill>
                  <a:schemeClr val="accent6">
                    <a:lumMod val="60000"/>
                    <a:lumOff val="40000"/>
                  </a:schemeClr>
                </a:solidFill>
              </a:rPr>
              <a:t>stronger learning signals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27363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0DF49-A8E5-DE18-A8D0-AEA7B62BAF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88781B-16ED-BC59-4397-AF0AB7EDD8FE}"/>
              </a:ext>
            </a:extLst>
          </p:cNvPr>
          <p:cNvSpPr txBox="1"/>
          <p:nvPr/>
        </p:nvSpPr>
        <p:spPr>
          <a:xfrm>
            <a:off x="188975" y="105851"/>
            <a:ext cx="11305033" cy="2308324"/>
          </a:xfrm>
          <a:prstGeom prst="rect">
            <a:avLst/>
          </a:prstGeom>
          <a:noFill/>
        </p:spPr>
        <p:txBody>
          <a:bodyPr wrap="square" rtlCol="0">
            <a:spAutoFit/>
          </a:bodyPr>
          <a:lstStyle/>
          <a:p>
            <a:r>
              <a:rPr lang="en-US" sz="2400" dirty="0">
                <a:solidFill>
                  <a:schemeClr val="accent6">
                    <a:lumMod val="60000"/>
                    <a:lumOff val="40000"/>
                  </a:schemeClr>
                </a:solidFill>
              </a:rPr>
              <a:t>After training:</a:t>
            </a:r>
          </a:p>
          <a:p>
            <a:r>
              <a:rPr lang="en-US" sz="2400" dirty="0">
                <a:solidFill>
                  <a:schemeClr val="accent6">
                    <a:lumMod val="60000"/>
                    <a:lumOff val="40000"/>
                  </a:schemeClr>
                </a:solidFill>
              </a:rPr>
              <a:t>Generator learns the </a:t>
            </a:r>
            <a:r>
              <a:rPr lang="en-US" sz="2400" b="1" dirty="0">
                <a:solidFill>
                  <a:schemeClr val="accent6">
                    <a:lumMod val="60000"/>
                    <a:lumOff val="40000"/>
                  </a:schemeClr>
                </a:solidFill>
              </a:rPr>
              <a:t>data distribution</a:t>
            </a:r>
            <a:r>
              <a:rPr lang="en-US" sz="2400" dirty="0">
                <a:solidFill>
                  <a:schemeClr val="accent6">
                    <a:lumMod val="60000"/>
                    <a:lumOff val="40000"/>
                  </a:schemeClr>
                </a:solidFill>
              </a:rPr>
              <a:t> </a:t>
            </a:r>
          </a:p>
          <a:p>
            <a:r>
              <a:rPr lang="en-US" sz="2400" dirty="0">
                <a:solidFill>
                  <a:schemeClr val="accent6">
                    <a:lumMod val="60000"/>
                    <a:lumOff val="40000"/>
                  </a:schemeClr>
                </a:solidFill>
              </a:rPr>
              <a:t>Can generate: </a:t>
            </a:r>
          </a:p>
          <a:p>
            <a:pPr marL="342900" indent="-342900">
              <a:buFont typeface="Arial" panose="020B0604020202020204" pitchFamily="34" charset="0"/>
              <a:buChar char="•"/>
            </a:pPr>
            <a:r>
              <a:rPr lang="en-US" sz="2400" b="1" dirty="0">
                <a:solidFill>
                  <a:schemeClr val="accent6">
                    <a:lumMod val="60000"/>
                    <a:lumOff val="40000"/>
                  </a:schemeClr>
                </a:solidFill>
              </a:rPr>
              <a:t>Realistic faces</a:t>
            </a:r>
            <a:r>
              <a:rPr lang="en-US" sz="2400" dirty="0">
                <a:solidFill>
                  <a:schemeClr val="accent6">
                    <a:lumMod val="60000"/>
                    <a:lumOff val="40000"/>
                  </a:schemeClr>
                </a:solidFill>
              </a:rPr>
              <a:t>: Image generation, Deepfakes</a:t>
            </a:r>
          </a:p>
          <a:p>
            <a:pPr marL="342900" indent="-342900">
              <a:buFont typeface="Arial" panose="020B0604020202020204" pitchFamily="34" charset="0"/>
              <a:buChar char="•"/>
            </a:pPr>
            <a:r>
              <a:rPr lang="en-US" sz="2400" b="1" dirty="0">
                <a:solidFill>
                  <a:schemeClr val="accent6">
                    <a:lumMod val="60000"/>
                    <a:lumOff val="40000"/>
                  </a:schemeClr>
                </a:solidFill>
              </a:rPr>
              <a:t>Art</a:t>
            </a:r>
            <a:r>
              <a:rPr lang="en-US" sz="2400" dirty="0">
                <a:solidFill>
                  <a:schemeClr val="accent6">
                    <a:lumMod val="60000"/>
                    <a:lumOff val="40000"/>
                  </a:schemeClr>
                </a:solidFill>
              </a:rPr>
              <a:t>: Super-resolution</a:t>
            </a:r>
          </a:p>
          <a:p>
            <a:pPr marL="342900" indent="-342900">
              <a:buFont typeface="Arial" panose="020B0604020202020204" pitchFamily="34" charset="0"/>
              <a:buChar char="•"/>
            </a:pPr>
            <a:r>
              <a:rPr lang="en-US" sz="2400" b="1" dirty="0">
                <a:solidFill>
                  <a:schemeClr val="accent6">
                    <a:lumMod val="60000"/>
                    <a:lumOff val="40000"/>
                  </a:schemeClr>
                </a:solidFill>
              </a:rPr>
              <a:t>Synthetic data </a:t>
            </a:r>
            <a:r>
              <a:rPr lang="en-US" sz="2400" dirty="0">
                <a:solidFill>
                  <a:schemeClr val="accent6">
                    <a:lumMod val="60000"/>
                    <a:lumOff val="40000"/>
                  </a:schemeClr>
                </a:solidFill>
              </a:rPr>
              <a:t>: Data augmentation </a:t>
            </a:r>
          </a:p>
        </p:txBody>
      </p:sp>
      <p:pic>
        <p:nvPicPr>
          <p:cNvPr id="21" name="Picture 20">
            <a:extLst>
              <a:ext uri="{FF2B5EF4-FFF2-40B4-BE49-F238E27FC236}">
                <a16:creationId xmlns:a16="http://schemas.microsoft.com/office/drawing/2014/main" id="{6E31B140-062F-25C1-0A8C-B5D7DFE01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104" y="1673352"/>
            <a:ext cx="6877768" cy="1896033"/>
          </a:xfrm>
          <a:prstGeom prst="rect">
            <a:avLst/>
          </a:prstGeom>
        </p:spPr>
      </p:pic>
      <p:sp>
        <p:nvSpPr>
          <p:cNvPr id="22" name="TextBox 21">
            <a:extLst>
              <a:ext uri="{FF2B5EF4-FFF2-40B4-BE49-F238E27FC236}">
                <a16:creationId xmlns:a16="http://schemas.microsoft.com/office/drawing/2014/main" id="{1F32E76D-1E5A-35EE-2DAF-4E34E9908F06}"/>
              </a:ext>
            </a:extLst>
          </p:cNvPr>
          <p:cNvSpPr txBox="1"/>
          <p:nvPr/>
        </p:nvSpPr>
        <p:spPr>
          <a:xfrm>
            <a:off x="8106670" y="3865679"/>
            <a:ext cx="3387338" cy="461665"/>
          </a:xfrm>
          <a:prstGeom prst="rect">
            <a:avLst/>
          </a:prstGeom>
          <a:noFill/>
        </p:spPr>
        <p:txBody>
          <a:bodyPr wrap="none" rtlCol="0">
            <a:spAutoFit/>
          </a:bodyPr>
          <a:lstStyle/>
          <a:p>
            <a:r>
              <a:rPr lang="en-US" sz="2400" dirty="0">
                <a:solidFill>
                  <a:schemeClr val="accent6">
                    <a:lumMod val="60000"/>
                    <a:lumOff val="40000"/>
                  </a:schemeClr>
                </a:solidFill>
              </a:rPr>
              <a:t>These people do not exist</a:t>
            </a:r>
          </a:p>
        </p:txBody>
      </p:sp>
      <p:pic>
        <p:nvPicPr>
          <p:cNvPr id="24" name="Picture 23">
            <a:extLst>
              <a:ext uri="{FF2B5EF4-FFF2-40B4-BE49-F238E27FC236}">
                <a16:creationId xmlns:a16="http://schemas.microsoft.com/office/drawing/2014/main" id="{11132C85-396A-CE54-5B51-F9A42FE0677C}"/>
              </a:ext>
            </a:extLst>
          </p:cNvPr>
          <p:cNvPicPr>
            <a:picLocks noChangeAspect="1"/>
          </p:cNvPicPr>
          <p:nvPr/>
        </p:nvPicPr>
        <p:blipFill>
          <a:blip r:embed="rId3"/>
          <a:stretch>
            <a:fillRect/>
          </a:stretch>
        </p:blipFill>
        <p:spPr>
          <a:xfrm>
            <a:off x="274319" y="3865680"/>
            <a:ext cx="7185270" cy="2839058"/>
          </a:xfrm>
          <a:prstGeom prst="rect">
            <a:avLst/>
          </a:prstGeom>
        </p:spPr>
      </p:pic>
      <p:sp>
        <p:nvSpPr>
          <p:cNvPr id="25" name="TextBox 24">
            <a:extLst>
              <a:ext uri="{FF2B5EF4-FFF2-40B4-BE49-F238E27FC236}">
                <a16:creationId xmlns:a16="http://schemas.microsoft.com/office/drawing/2014/main" id="{B56ABD60-BD3E-B66B-2AF7-91846D72A865}"/>
              </a:ext>
            </a:extLst>
          </p:cNvPr>
          <p:cNvSpPr txBox="1"/>
          <p:nvPr/>
        </p:nvSpPr>
        <p:spPr>
          <a:xfrm>
            <a:off x="7593329" y="5697198"/>
            <a:ext cx="3009902" cy="584775"/>
          </a:xfrm>
          <a:prstGeom prst="rect">
            <a:avLst/>
          </a:prstGeom>
          <a:noFill/>
        </p:spPr>
        <p:txBody>
          <a:bodyPr wrap="square" rtlCol="0">
            <a:spAutoFit/>
          </a:bodyPr>
          <a:lstStyle/>
          <a:p>
            <a:r>
              <a:rPr lang="en-US" sz="1600" dirty="0">
                <a:solidFill>
                  <a:schemeClr val="accent6">
                    <a:lumMod val="60000"/>
                    <a:lumOff val="40000"/>
                  </a:schemeClr>
                </a:solidFill>
              </a:rPr>
              <a:t>Source: Medium (Jonathan Hui)</a:t>
            </a:r>
          </a:p>
          <a:p>
            <a:r>
              <a:rPr lang="en-US" sz="1600" dirty="0">
                <a:solidFill>
                  <a:schemeClr val="accent6">
                    <a:lumMod val="60000"/>
                    <a:lumOff val="40000"/>
                  </a:schemeClr>
                </a:solidFill>
              </a:rPr>
              <a:t>High resolution</a:t>
            </a:r>
          </a:p>
        </p:txBody>
      </p:sp>
    </p:spTree>
    <p:extLst>
      <p:ext uri="{BB962C8B-B14F-4D97-AF65-F5344CB8AC3E}">
        <p14:creationId xmlns:p14="http://schemas.microsoft.com/office/powerpoint/2010/main" val="138239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934F2-445E-0EAB-9A0E-BB163BA17E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8C5E32-9FA9-9443-8A9D-779BFDF39633}"/>
              </a:ext>
            </a:extLst>
          </p:cNvPr>
          <p:cNvSpPr txBox="1"/>
          <p:nvPr/>
        </p:nvSpPr>
        <p:spPr>
          <a:xfrm>
            <a:off x="188975" y="105851"/>
            <a:ext cx="11305033" cy="2308324"/>
          </a:xfrm>
          <a:prstGeom prst="rect">
            <a:avLst/>
          </a:prstGeom>
          <a:noFill/>
        </p:spPr>
        <p:txBody>
          <a:bodyPr wrap="square" rtlCol="0">
            <a:spAutoFit/>
          </a:bodyPr>
          <a:lstStyle/>
          <a:p>
            <a:r>
              <a:rPr lang="en-US" sz="2400" dirty="0">
                <a:solidFill>
                  <a:schemeClr val="accent6">
                    <a:lumMod val="60000"/>
                    <a:lumOff val="40000"/>
                  </a:schemeClr>
                </a:solidFill>
              </a:rPr>
              <a:t>After training:</a:t>
            </a:r>
          </a:p>
          <a:p>
            <a:r>
              <a:rPr lang="en-US" sz="2400" dirty="0">
                <a:solidFill>
                  <a:schemeClr val="accent6">
                    <a:lumMod val="60000"/>
                    <a:lumOff val="40000"/>
                  </a:schemeClr>
                </a:solidFill>
              </a:rPr>
              <a:t>Generator learns the </a:t>
            </a:r>
            <a:r>
              <a:rPr lang="en-US" sz="2400" b="1" dirty="0">
                <a:solidFill>
                  <a:schemeClr val="accent6">
                    <a:lumMod val="60000"/>
                    <a:lumOff val="40000"/>
                  </a:schemeClr>
                </a:solidFill>
              </a:rPr>
              <a:t>data distribution</a:t>
            </a:r>
            <a:r>
              <a:rPr lang="en-US" sz="2400" dirty="0">
                <a:solidFill>
                  <a:schemeClr val="accent6">
                    <a:lumMod val="60000"/>
                    <a:lumOff val="40000"/>
                  </a:schemeClr>
                </a:solidFill>
              </a:rPr>
              <a:t> </a:t>
            </a:r>
          </a:p>
          <a:p>
            <a:r>
              <a:rPr lang="en-US" sz="2400" dirty="0">
                <a:solidFill>
                  <a:schemeClr val="accent6">
                    <a:lumMod val="60000"/>
                    <a:lumOff val="40000"/>
                  </a:schemeClr>
                </a:solidFill>
              </a:rPr>
              <a:t>Can generate: </a:t>
            </a:r>
          </a:p>
          <a:p>
            <a:pPr marL="342900" indent="-342900">
              <a:buFont typeface="Arial" panose="020B0604020202020204" pitchFamily="34" charset="0"/>
              <a:buChar char="•"/>
            </a:pPr>
            <a:r>
              <a:rPr lang="en-US" sz="2400" b="1" dirty="0">
                <a:solidFill>
                  <a:schemeClr val="accent6">
                    <a:lumMod val="60000"/>
                    <a:lumOff val="40000"/>
                  </a:schemeClr>
                </a:solidFill>
              </a:rPr>
              <a:t>Realistic faces</a:t>
            </a:r>
            <a:r>
              <a:rPr lang="en-US" sz="2400" dirty="0">
                <a:solidFill>
                  <a:schemeClr val="accent6">
                    <a:lumMod val="60000"/>
                    <a:lumOff val="40000"/>
                  </a:schemeClr>
                </a:solidFill>
              </a:rPr>
              <a:t>: Image generation, Deepfakes</a:t>
            </a:r>
          </a:p>
          <a:p>
            <a:pPr marL="342900" indent="-342900">
              <a:buFont typeface="Arial" panose="020B0604020202020204" pitchFamily="34" charset="0"/>
              <a:buChar char="•"/>
            </a:pPr>
            <a:r>
              <a:rPr lang="en-US" sz="2400" b="1" dirty="0">
                <a:solidFill>
                  <a:schemeClr val="accent6">
                    <a:lumMod val="60000"/>
                    <a:lumOff val="40000"/>
                  </a:schemeClr>
                </a:solidFill>
              </a:rPr>
              <a:t>Art</a:t>
            </a:r>
            <a:r>
              <a:rPr lang="en-US" sz="2400" dirty="0">
                <a:solidFill>
                  <a:schemeClr val="accent6">
                    <a:lumMod val="60000"/>
                    <a:lumOff val="40000"/>
                  </a:schemeClr>
                </a:solidFill>
              </a:rPr>
              <a:t>: Super-resolution</a:t>
            </a:r>
          </a:p>
          <a:p>
            <a:pPr marL="342900" indent="-342900">
              <a:buFont typeface="Arial" panose="020B0604020202020204" pitchFamily="34" charset="0"/>
              <a:buChar char="•"/>
            </a:pPr>
            <a:r>
              <a:rPr lang="en-US" sz="2400" b="1" dirty="0">
                <a:solidFill>
                  <a:schemeClr val="accent6">
                    <a:lumMod val="60000"/>
                    <a:lumOff val="40000"/>
                  </a:schemeClr>
                </a:solidFill>
              </a:rPr>
              <a:t>Synthetic data </a:t>
            </a:r>
            <a:r>
              <a:rPr lang="en-US" sz="2400" dirty="0">
                <a:solidFill>
                  <a:schemeClr val="accent6">
                    <a:lumMod val="60000"/>
                    <a:lumOff val="40000"/>
                  </a:schemeClr>
                </a:solidFill>
              </a:rPr>
              <a:t>: Data augmentation </a:t>
            </a:r>
          </a:p>
        </p:txBody>
      </p:sp>
      <p:pic>
        <p:nvPicPr>
          <p:cNvPr id="3" name="Picture 2">
            <a:extLst>
              <a:ext uri="{FF2B5EF4-FFF2-40B4-BE49-F238E27FC236}">
                <a16:creationId xmlns:a16="http://schemas.microsoft.com/office/drawing/2014/main" id="{0FC0DF8C-5649-616C-E93F-68EB3D60586C}"/>
              </a:ext>
            </a:extLst>
          </p:cNvPr>
          <p:cNvPicPr>
            <a:picLocks noChangeAspect="1"/>
          </p:cNvPicPr>
          <p:nvPr/>
        </p:nvPicPr>
        <p:blipFill>
          <a:blip r:embed="rId2"/>
          <a:stretch>
            <a:fillRect/>
          </a:stretch>
        </p:blipFill>
        <p:spPr>
          <a:xfrm>
            <a:off x="836413" y="2670207"/>
            <a:ext cx="8135456" cy="3939408"/>
          </a:xfrm>
          <a:prstGeom prst="rect">
            <a:avLst/>
          </a:prstGeom>
        </p:spPr>
      </p:pic>
      <p:sp>
        <p:nvSpPr>
          <p:cNvPr id="6" name="TextBox 5">
            <a:extLst>
              <a:ext uri="{FF2B5EF4-FFF2-40B4-BE49-F238E27FC236}">
                <a16:creationId xmlns:a16="http://schemas.microsoft.com/office/drawing/2014/main" id="{5CEB8BEE-E004-BB45-0F2D-060667D7A168}"/>
              </a:ext>
            </a:extLst>
          </p:cNvPr>
          <p:cNvSpPr txBox="1"/>
          <p:nvPr/>
        </p:nvSpPr>
        <p:spPr>
          <a:xfrm>
            <a:off x="9246189" y="3363206"/>
            <a:ext cx="2522139" cy="646331"/>
          </a:xfrm>
          <a:prstGeom prst="rect">
            <a:avLst/>
          </a:prstGeom>
          <a:noFill/>
        </p:spPr>
        <p:txBody>
          <a:bodyPr wrap="square">
            <a:spAutoFit/>
          </a:bodyPr>
          <a:lstStyle/>
          <a:p>
            <a:r>
              <a:rPr lang="en-US" sz="1800" dirty="0">
                <a:solidFill>
                  <a:schemeClr val="accent6">
                    <a:lumMod val="60000"/>
                    <a:lumOff val="40000"/>
                  </a:schemeClr>
                </a:solidFill>
              </a:rPr>
              <a:t>Source: Nature</a:t>
            </a:r>
          </a:p>
          <a:p>
            <a:r>
              <a:rPr lang="en-US" sz="1800" dirty="0">
                <a:solidFill>
                  <a:schemeClr val="accent6">
                    <a:lumMod val="60000"/>
                    <a:lumOff val="40000"/>
                  </a:schemeClr>
                </a:solidFill>
              </a:rPr>
              <a:t>Data augmentation </a:t>
            </a:r>
            <a:endParaRPr lang="en-US" dirty="0"/>
          </a:p>
        </p:txBody>
      </p:sp>
    </p:spTree>
    <p:extLst>
      <p:ext uri="{BB962C8B-B14F-4D97-AF65-F5344CB8AC3E}">
        <p14:creationId xmlns:p14="http://schemas.microsoft.com/office/powerpoint/2010/main" val="4266120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3788-0D3E-75BD-6186-6FF64B8FD4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9B3C60-B665-E7D3-705C-1C788CE29046}"/>
              </a:ext>
            </a:extLst>
          </p:cNvPr>
          <p:cNvSpPr txBox="1"/>
          <p:nvPr/>
        </p:nvSpPr>
        <p:spPr>
          <a:xfrm>
            <a:off x="188975" y="105851"/>
            <a:ext cx="11305033" cy="1569660"/>
          </a:xfrm>
          <a:prstGeom prst="rect">
            <a:avLst/>
          </a:prstGeom>
          <a:noFill/>
        </p:spPr>
        <p:txBody>
          <a:bodyPr wrap="square" rtlCol="0">
            <a:spAutoFit/>
          </a:bodyPr>
          <a:lstStyle/>
          <a:p>
            <a:r>
              <a:rPr lang="en-US" sz="2400" b="1" dirty="0">
                <a:solidFill>
                  <a:schemeClr val="accent6">
                    <a:lumMod val="60000"/>
                    <a:lumOff val="40000"/>
                  </a:schemeClr>
                </a:solidFill>
              </a:rPr>
              <a:t>🧩 Why GANs Are Special</a:t>
            </a:r>
          </a:p>
          <a:p>
            <a:r>
              <a:rPr lang="en-US" sz="2400" dirty="0">
                <a:solidFill>
                  <a:schemeClr val="accent6">
                    <a:lumMod val="60000"/>
                    <a:lumOff val="40000"/>
                  </a:schemeClr>
                </a:solidFill>
              </a:rPr>
              <a:t>Unlike traditional ML:</a:t>
            </a:r>
          </a:p>
          <a:p>
            <a:pPr marL="342900" indent="-342900">
              <a:buFont typeface="Arial" panose="020B0604020202020204" pitchFamily="34" charset="0"/>
              <a:buChar char="•"/>
            </a:pPr>
            <a:r>
              <a:rPr lang="en-US" sz="2400" dirty="0">
                <a:solidFill>
                  <a:schemeClr val="accent6">
                    <a:lumMod val="60000"/>
                    <a:lumOff val="40000"/>
                  </a:schemeClr>
                </a:solidFill>
              </a:rPr>
              <a:t>No explicit labels needed </a:t>
            </a:r>
          </a:p>
          <a:p>
            <a:pPr marL="342900" indent="-342900">
              <a:buFont typeface="Arial" panose="020B0604020202020204" pitchFamily="34" charset="0"/>
              <a:buChar char="•"/>
            </a:pPr>
            <a:r>
              <a:rPr lang="en-US" sz="2400" dirty="0">
                <a:solidFill>
                  <a:schemeClr val="accent6">
                    <a:lumMod val="60000"/>
                    <a:lumOff val="40000"/>
                  </a:schemeClr>
                </a:solidFill>
              </a:rPr>
              <a:t>Learns by </a:t>
            </a:r>
            <a:r>
              <a:rPr lang="en-US" sz="2400" b="1" dirty="0">
                <a:solidFill>
                  <a:schemeClr val="accent6">
                    <a:lumMod val="60000"/>
                    <a:lumOff val="40000"/>
                  </a:schemeClr>
                </a:solidFill>
              </a:rPr>
              <a:t>competition instead of supervision</a:t>
            </a:r>
            <a:r>
              <a:rPr lang="en-US" sz="2400" dirty="0">
                <a:solidFill>
                  <a:schemeClr val="accent6">
                    <a:lumMod val="60000"/>
                    <a:lumOff val="40000"/>
                  </a:schemeClr>
                </a:solidFill>
              </a:rPr>
              <a:t> </a:t>
            </a:r>
          </a:p>
        </p:txBody>
      </p:sp>
      <p:sp>
        <p:nvSpPr>
          <p:cNvPr id="22" name="Rectangle: Rounded Corners 21">
            <a:extLst>
              <a:ext uri="{FF2B5EF4-FFF2-40B4-BE49-F238E27FC236}">
                <a16:creationId xmlns:a16="http://schemas.microsoft.com/office/drawing/2014/main" id="{295FCB42-237D-247C-4134-9859080B2F56}"/>
              </a:ext>
            </a:extLst>
          </p:cNvPr>
          <p:cNvSpPr/>
          <p:nvPr/>
        </p:nvSpPr>
        <p:spPr>
          <a:xfrm>
            <a:off x="1868424" y="50322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24" name="Rectangle: Rounded Corners 23">
            <a:extLst>
              <a:ext uri="{FF2B5EF4-FFF2-40B4-BE49-F238E27FC236}">
                <a16:creationId xmlns:a16="http://schemas.microsoft.com/office/drawing/2014/main" id="{D1E80382-E57C-D5E0-2512-3F0DD9E97B1D}"/>
              </a:ext>
            </a:extLst>
          </p:cNvPr>
          <p:cNvSpPr/>
          <p:nvPr/>
        </p:nvSpPr>
        <p:spPr>
          <a:xfrm>
            <a:off x="6012180" y="33505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26" name="Arrow: Right 25">
            <a:extLst>
              <a:ext uri="{FF2B5EF4-FFF2-40B4-BE49-F238E27FC236}">
                <a16:creationId xmlns:a16="http://schemas.microsoft.com/office/drawing/2014/main" id="{9B8B67B4-487C-5C1B-CB5D-7774C317FE04}"/>
              </a:ext>
            </a:extLst>
          </p:cNvPr>
          <p:cNvSpPr/>
          <p:nvPr/>
        </p:nvSpPr>
        <p:spPr>
          <a:xfrm rot="17956064">
            <a:off x="6043184" y="44450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rrow: Right 27">
            <a:extLst>
              <a:ext uri="{FF2B5EF4-FFF2-40B4-BE49-F238E27FC236}">
                <a16:creationId xmlns:a16="http://schemas.microsoft.com/office/drawing/2014/main" id="{EB761F82-7CF9-6B7A-425A-0F774BCE520D}"/>
              </a:ext>
            </a:extLst>
          </p:cNvPr>
          <p:cNvSpPr/>
          <p:nvPr/>
        </p:nvSpPr>
        <p:spPr>
          <a:xfrm rot="5400000">
            <a:off x="10553328" y="51239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99559C5B-1B34-33CC-8A15-CB13C4225E6E}"/>
              </a:ext>
            </a:extLst>
          </p:cNvPr>
          <p:cNvSpPr/>
          <p:nvPr/>
        </p:nvSpPr>
        <p:spPr>
          <a:xfrm>
            <a:off x="164592" y="50322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32" name="Rectangle: Rounded Corners 31">
            <a:extLst>
              <a:ext uri="{FF2B5EF4-FFF2-40B4-BE49-F238E27FC236}">
                <a16:creationId xmlns:a16="http://schemas.microsoft.com/office/drawing/2014/main" id="{9D7C07D0-C387-8252-15D1-1133BD87A555}"/>
              </a:ext>
            </a:extLst>
          </p:cNvPr>
          <p:cNvSpPr/>
          <p:nvPr/>
        </p:nvSpPr>
        <p:spPr>
          <a:xfrm>
            <a:off x="4554932" y="50322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34" name="Rectangle: Rounded Corners 33">
            <a:extLst>
              <a:ext uri="{FF2B5EF4-FFF2-40B4-BE49-F238E27FC236}">
                <a16:creationId xmlns:a16="http://schemas.microsoft.com/office/drawing/2014/main" id="{A95AB536-5155-819D-1542-C09FBABCA73A}"/>
              </a:ext>
            </a:extLst>
          </p:cNvPr>
          <p:cNvSpPr/>
          <p:nvPr/>
        </p:nvSpPr>
        <p:spPr>
          <a:xfrm>
            <a:off x="2872740" y="35425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36" name="Arrow: Right 35">
            <a:extLst>
              <a:ext uri="{FF2B5EF4-FFF2-40B4-BE49-F238E27FC236}">
                <a16:creationId xmlns:a16="http://schemas.microsoft.com/office/drawing/2014/main" id="{226DD2B6-C964-69FD-4E93-9E9116642261}"/>
              </a:ext>
            </a:extLst>
          </p:cNvPr>
          <p:cNvSpPr/>
          <p:nvPr/>
        </p:nvSpPr>
        <p:spPr>
          <a:xfrm>
            <a:off x="4762348" y="35789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E9037959-8960-5A9E-2F41-7C6AC97320F0}"/>
              </a:ext>
            </a:extLst>
          </p:cNvPr>
          <p:cNvSpPr/>
          <p:nvPr/>
        </p:nvSpPr>
        <p:spPr>
          <a:xfrm>
            <a:off x="8630411" y="33505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40" name="Rectangle: Rounded Corners 39">
            <a:extLst>
              <a:ext uri="{FF2B5EF4-FFF2-40B4-BE49-F238E27FC236}">
                <a16:creationId xmlns:a16="http://schemas.microsoft.com/office/drawing/2014/main" id="{CDB1DD94-327D-A2D5-3309-EDB3B0C549A7}"/>
              </a:ext>
            </a:extLst>
          </p:cNvPr>
          <p:cNvSpPr/>
          <p:nvPr/>
        </p:nvSpPr>
        <p:spPr>
          <a:xfrm>
            <a:off x="10827546" y="34772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42" name="Arrow: Right 41">
            <a:extLst>
              <a:ext uri="{FF2B5EF4-FFF2-40B4-BE49-F238E27FC236}">
                <a16:creationId xmlns:a16="http://schemas.microsoft.com/office/drawing/2014/main" id="{8D7DF37B-3A70-7AA8-7810-4F8B3F50CFE8}"/>
              </a:ext>
            </a:extLst>
          </p:cNvPr>
          <p:cNvSpPr/>
          <p:nvPr/>
        </p:nvSpPr>
        <p:spPr>
          <a:xfrm>
            <a:off x="10180507" y="35789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05FC6085-72FE-3A69-F493-C4C8590BF29D}"/>
              </a:ext>
            </a:extLst>
          </p:cNvPr>
          <p:cNvSpPr/>
          <p:nvPr/>
        </p:nvSpPr>
        <p:spPr>
          <a:xfrm>
            <a:off x="8109203" y="35789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2EAF4DD3-9B1D-B3D3-0625-5CF84241C88D}"/>
              </a:ext>
            </a:extLst>
          </p:cNvPr>
          <p:cNvSpPr/>
          <p:nvPr/>
        </p:nvSpPr>
        <p:spPr>
          <a:xfrm rot="10800000">
            <a:off x="2827494" y="62512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2E3F49F5-3329-A516-87AC-842D58EC8A2D}"/>
              </a:ext>
            </a:extLst>
          </p:cNvPr>
          <p:cNvSpPr/>
          <p:nvPr/>
        </p:nvSpPr>
        <p:spPr>
          <a:xfrm rot="16200000">
            <a:off x="6291184" y="50750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1AF9482C-D19B-2132-70C5-B62BF28FDFBA}"/>
              </a:ext>
            </a:extLst>
          </p:cNvPr>
          <p:cNvSpPr/>
          <p:nvPr/>
        </p:nvSpPr>
        <p:spPr>
          <a:xfrm rot="16200000">
            <a:off x="2446970" y="59841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60E066C-8FC0-841A-3E12-0E9CB96F121C}"/>
              </a:ext>
            </a:extLst>
          </p:cNvPr>
          <p:cNvSpPr txBox="1"/>
          <p:nvPr/>
        </p:nvSpPr>
        <p:spPr>
          <a:xfrm>
            <a:off x="6012180" y="64370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54" name="Arrow: Right 53">
            <a:extLst>
              <a:ext uri="{FF2B5EF4-FFF2-40B4-BE49-F238E27FC236}">
                <a16:creationId xmlns:a16="http://schemas.microsoft.com/office/drawing/2014/main" id="{3647E49E-2271-D4C5-F6BE-7BC35EAA57D8}"/>
              </a:ext>
            </a:extLst>
          </p:cNvPr>
          <p:cNvSpPr/>
          <p:nvPr/>
        </p:nvSpPr>
        <p:spPr>
          <a:xfrm>
            <a:off x="3947816" y="52235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0D541ED8-6DB3-4C21-F4AB-9B2202DBF433}"/>
              </a:ext>
            </a:extLst>
          </p:cNvPr>
          <p:cNvSpPr/>
          <p:nvPr/>
        </p:nvSpPr>
        <p:spPr>
          <a:xfrm>
            <a:off x="1372736" y="52235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36B57E6-755F-174C-CA2B-320CB7EB02E5}"/>
              </a:ext>
            </a:extLst>
          </p:cNvPr>
          <p:cNvSpPr txBox="1"/>
          <p:nvPr/>
        </p:nvSpPr>
        <p:spPr>
          <a:xfrm>
            <a:off x="1401764" y="4761905"/>
            <a:ext cx="340158" cy="461665"/>
          </a:xfrm>
          <a:prstGeom prst="rect">
            <a:avLst/>
          </a:prstGeom>
          <a:noFill/>
        </p:spPr>
        <p:txBody>
          <a:bodyPr wrap="none" rtlCol="0">
            <a:spAutoFit/>
          </a:bodyPr>
          <a:lstStyle/>
          <a:p>
            <a:r>
              <a:rPr lang="en-US" sz="2400" b="1" dirty="0">
                <a:solidFill>
                  <a:srgbClr val="FFFF00"/>
                </a:solidFill>
              </a:rPr>
              <a:t>1</a:t>
            </a:r>
            <a:endParaRPr lang="en-IN" b="1" dirty="0">
              <a:solidFill>
                <a:srgbClr val="FFFF00"/>
              </a:solidFill>
            </a:endParaRPr>
          </a:p>
        </p:txBody>
      </p:sp>
      <p:sp>
        <p:nvSpPr>
          <p:cNvPr id="60" name="TextBox 59">
            <a:extLst>
              <a:ext uri="{FF2B5EF4-FFF2-40B4-BE49-F238E27FC236}">
                <a16:creationId xmlns:a16="http://schemas.microsoft.com/office/drawing/2014/main" id="{439DA19A-9A71-3CEB-FA1C-D30419F036F6}"/>
              </a:ext>
            </a:extLst>
          </p:cNvPr>
          <p:cNvSpPr txBox="1"/>
          <p:nvPr/>
        </p:nvSpPr>
        <p:spPr>
          <a:xfrm>
            <a:off x="4043179" y="4789758"/>
            <a:ext cx="340158" cy="461665"/>
          </a:xfrm>
          <a:prstGeom prst="rect">
            <a:avLst/>
          </a:prstGeom>
          <a:noFill/>
        </p:spPr>
        <p:txBody>
          <a:bodyPr wrap="none" rtlCol="0">
            <a:spAutoFit/>
          </a:bodyPr>
          <a:lstStyle/>
          <a:p>
            <a:r>
              <a:rPr lang="en-US" sz="2400" b="1" dirty="0">
                <a:solidFill>
                  <a:srgbClr val="FFFF00"/>
                </a:solidFill>
              </a:rPr>
              <a:t>2</a:t>
            </a:r>
            <a:endParaRPr lang="en-IN" b="1" dirty="0">
              <a:solidFill>
                <a:srgbClr val="FFFF00"/>
              </a:solidFill>
            </a:endParaRPr>
          </a:p>
        </p:txBody>
      </p:sp>
      <p:sp>
        <p:nvSpPr>
          <p:cNvPr id="62" name="TextBox 61">
            <a:extLst>
              <a:ext uri="{FF2B5EF4-FFF2-40B4-BE49-F238E27FC236}">
                <a16:creationId xmlns:a16="http://schemas.microsoft.com/office/drawing/2014/main" id="{71C62769-94A7-2D2A-C89A-525DD2C40A83}"/>
              </a:ext>
            </a:extLst>
          </p:cNvPr>
          <p:cNvSpPr txBox="1"/>
          <p:nvPr/>
        </p:nvSpPr>
        <p:spPr>
          <a:xfrm>
            <a:off x="5076140" y="3229210"/>
            <a:ext cx="340158" cy="461665"/>
          </a:xfrm>
          <a:prstGeom prst="rect">
            <a:avLst/>
          </a:prstGeom>
          <a:noFill/>
        </p:spPr>
        <p:txBody>
          <a:bodyPr wrap="none" rtlCol="0">
            <a:spAutoFit/>
          </a:bodyPr>
          <a:lstStyle/>
          <a:p>
            <a:r>
              <a:rPr lang="en-US" sz="2400" b="1" dirty="0">
                <a:solidFill>
                  <a:srgbClr val="FFFF00"/>
                </a:solidFill>
              </a:rPr>
              <a:t>4</a:t>
            </a:r>
            <a:endParaRPr lang="en-IN" b="1" dirty="0">
              <a:solidFill>
                <a:srgbClr val="FFFF00"/>
              </a:solidFill>
            </a:endParaRPr>
          </a:p>
        </p:txBody>
      </p:sp>
      <p:sp>
        <p:nvSpPr>
          <p:cNvPr id="64" name="TextBox 63">
            <a:extLst>
              <a:ext uri="{FF2B5EF4-FFF2-40B4-BE49-F238E27FC236}">
                <a16:creationId xmlns:a16="http://schemas.microsoft.com/office/drawing/2014/main" id="{CE57314A-131C-3763-C5D5-E1FFEE157361}"/>
              </a:ext>
            </a:extLst>
          </p:cNvPr>
          <p:cNvSpPr txBox="1"/>
          <p:nvPr/>
        </p:nvSpPr>
        <p:spPr>
          <a:xfrm>
            <a:off x="6041993" y="4277757"/>
            <a:ext cx="340158" cy="461665"/>
          </a:xfrm>
          <a:prstGeom prst="rect">
            <a:avLst/>
          </a:prstGeom>
          <a:noFill/>
        </p:spPr>
        <p:txBody>
          <a:bodyPr wrap="none" rtlCol="0">
            <a:spAutoFit/>
          </a:bodyPr>
          <a:lstStyle/>
          <a:p>
            <a:r>
              <a:rPr lang="en-US" sz="2400" b="1" dirty="0">
                <a:solidFill>
                  <a:srgbClr val="FFFF00"/>
                </a:solidFill>
              </a:rPr>
              <a:t>3</a:t>
            </a:r>
            <a:endParaRPr lang="en-IN" b="1" dirty="0">
              <a:solidFill>
                <a:srgbClr val="FFFF00"/>
              </a:solidFill>
            </a:endParaRPr>
          </a:p>
        </p:txBody>
      </p:sp>
      <p:sp>
        <p:nvSpPr>
          <p:cNvPr id="66" name="TextBox 65">
            <a:extLst>
              <a:ext uri="{FF2B5EF4-FFF2-40B4-BE49-F238E27FC236}">
                <a16:creationId xmlns:a16="http://schemas.microsoft.com/office/drawing/2014/main" id="{0972E651-2B8A-B9E5-58C6-AC1A88A9C1E3}"/>
              </a:ext>
            </a:extLst>
          </p:cNvPr>
          <p:cNvSpPr txBox="1"/>
          <p:nvPr/>
        </p:nvSpPr>
        <p:spPr>
          <a:xfrm>
            <a:off x="8124537" y="3080918"/>
            <a:ext cx="340158" cy="461665"/>
          </a:xfrm>
          <a:prstGeom prst="rect">
            <a:avLst/>
          </a:prstGeom>
          <a:noFill/>
        </p:spPr>
        <p:txBody>
          <a:bodyPr wrap="none" rtlCol="0">
            <a:spAutoFit/>
          </a:bodyPr>
          <a:lstStyle/>
          <a:p>
            <a:r>
              <a:rPr lang="en-US" sz="2400" b="1" dirty="0">
                <a:solidFill>
                  <a:srgbClr val="FFFF00"/>
                </a:solidFill>
              </a:rPr>
              <a:t>5</a:t>
            </a:r>
            <a:endParaRPr lang="en-IN" b="1" dirty="0">
              <a:solidFill>
                <a:srgbClr val="FFFF00"/>
              </a:solidFill>
            </a:endParaRPr>
          </a:p>
        </p:txBody>
      </p:sp>
      <p:sp>
        <p:nvSpPr>
          <p:cNvPr id="68" name="TextBox 67">
            <a:extLst>
              <a:ext uri="{FF2B5EF4-FFF2-40B4-BE49-F238E27FC236}">
                <a16:creationId xmlns:a16="http://schemas.microsoft.com/office/drawing/2014/main" id="{2073E32E-8630-1446-FB14-3A7A7861DECC}"/>
              </a:ext>
            </a:extLst>
          </p:cNvPr>
          <p:cNvSpPr txBox="1"/>
          <p:nvPr/>
        </p:nvSpPr>
        <p:spPr>
          <a:xfrm>
            <a:off x="10386724" y="3112411"/>
            <a:ext cx="340158" cy="461665"/>
          </a:xfrm>
          <a:prstGeom prst="rect">
            <a:avLst/>
          </a:prstGeom>
          <a:noFill/>
        </p:spPr>
        <p:txBody>
          <a:bodyPr wrap="none" rtlCol="0">
            <a:spAutoFit/>
          </a:bodyPr>
          <a:lstStyle/>
          <a:p>
            <a:r>
              <a:rPr lang="en-US" sz="2400" b="1" dirty="0">
                <a:solidFill>
                  <a:srgbClr val="FFFF00"/>
                </a:solidFill>
              </a:rPr>
              <a:t>6</a:t>
            </a:r>
            <a:endParaRPr lang="en-IN" b="1" dirty="0">
              <a:solidFill>
                <a:srgbClr val="FFFF00"/>
              </a:solidFill>
            </a:endParaRPr>
          </a:p>
        </p:txBody>
      </p:sp>
      <p:sp>
        <p:nvSpPr>
          <p:cNvPr id="70" name="TextBox 69">
            <a:extLst>
              <a:ext uri="{FF2B5EF4-FFF2-40B4-BE49-F238E27FC236}">
                <a16:creationId xmlns:a16="http://schemas.microsoft.com/office/drawing/2014/main" id="{513C7CED-993C-6D7F-FC16-BA23814B84E0}"/>
              </a:ext>
            </a:extLst>
          </p:cNvPr>
          <p:cNvSpPr txBox="1"/>
          <p:nvPr/>
        </p:nvSpPr>
        <p:spPr>
          <a:xfrm>
            <a:off x="11026691" y="4801414"/>
            <a:ext cx="340158" cy="461665"/>
          </a:xfrm>
          <a:prstGeom prst="rect">
            <a:avLst/>
          </a:prstGeom>
          <a:noFill/>
        </p:spPr>
        <p:txBody>
          <a:bodyPr wrap="none" rtlCol="0">
            <a:spAutoFit/>
          </a:bodyPr>
          <a:lstStyle/>
          <a:p>
            <a:r>
              <a:rPr lang="en-US" sz="2400" b="1" dirty="0">
                <a:solidFill>
                  <a:srgbClr val="FFFF00"/>
                </a:solidFill>
              </a:rPr>
              <a:t>7</a:t>
            </a:r>
            <a:endParaRPr lang="en-IN" b="1" dirty="0">
              <a:solidFill>
                <a:srgbClr val="FFFF00"/>
              </a:solidFill>
            </a:endParaRPr>
          </a:p>
        </p:txBody>
      </p:sp>
    </p:spTree>
    <p:extLst>
      <p:ext uri="{BB962C8B-B14F-4D97-AF65-F5344CB8AC3E}">
        <p14:creationId xmlns:p14="http://schemas.microsoft.com/office/powerpoint/2010/main" val="392469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949" y="1045524"/>
            <a:ext cx="11527971" cy="2308324"/>
          </a:xfrm>
          <a:prstGeom prst="rect">
            <a:avLst/>
          </a:prstGeom>
        </p:spPr>
        <p:txBody>
          <a:bodyPr wrap="square">
            <a:spAutoFit/>
          </a:bodyPr>
          <a:lstStyle/>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GANs can be </a:t>
            </a:r>
            <a:r>
              <a:rPr lang="en-US" sz="2400" b="1" i="0" dirty="0">
                <a:solidFill>
                  <a:schemeClr val="accent6">
                    <a:lumMod val="60000"/>
                    <a:lumOff val="40000"/>
                  </a:schemeClr>
                </a:solidFill>
                <a:effectLst/>
                <a:latin typeface="Roboto"/>
              </a:rPr>
              <a:t>computationally intensive</a:t>
            </a:r>
            <a:r>
              <a:rPr lang="en-US" sz="2400" b="0" i="0" dirty="0">
                <a:solidFill>
                  <a:schemeClr val="accent6">
                    <a:lumMod val="60000"/>
                    <a:lumOff val="40000"/>
                  </a:schemeClr>
                </a:solidFill>
                <a:effectLst/>
                <a:latin typeface="Roboto"/>
              </a:rPr>
              <a:t>, both in terms of machine learning training and inference. </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 often require </a:t>
            </a:r>
            <a:r>
              <a:rPr lang="en-US" sz="2400" b="1" i="0" dirty="0">
                <a:solidFill>
                  <a:schemeClr val="accent6">
                    <a:lumMod val="60000"/>
                    <a:lumOff val="40000"/>
                  </a:schemeClr>
                </a:solidFill>
                <a:effectLst/>
                <a:latin typeface="Roboto"/>
              </a:rPr>
              <a:t>large amounts of data</a:t>
            </a:r>
            <a:r>
              <a:rPr lang="en-US" sz="2400" b="0" i="0" dirty="0">
                <a:solidFill>
                  <a:schemeClr val="accent6">
                    <a:lumMod val="60000"/>
                    <a:lumOff val="40000"/>
                  </a:schemeClr>
                </a:solidFill>
                <a:effectLst/>
                <a:latin typeface="Roboto"/>
              </a:rPr>
              <a:t> (at the real input image side)and can take a long time to train.</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GANs can be </a:t>
            </a:r>
            <a:r>
              <a:rPr lang="en-US" sz="2400" b="1" i="0" dirty="0">
                <a:solidFill>
                  <a:schemeClr val="accent6">
                    <a:lumMod val="60000"/>
                    <a:lumOff val="40000"/>
                  </a:schemeClr>
                </a:solidFill>
                <a:effectLst/>
                <a:latin typeface="Roboto"/>
              </a:rPr>
              <a:t>difficult to deploy</a:t>
            </a:r>
            <a:r>
              <a:rPr lang="en-US" sz="2400" b="0" i="0" dirty="0">
                <a:solidFill>
                  <a:schemeClr val="accent6">
                    <a:lumMod val="60000"/>
                    <a:lumOff val="40000"/>
                  </a:schemeClr>
                </a:solidFill>
                <a:effectLst/>
                <a:latin typeface="Roboto"/>
              </a:rPr>
              <a:t> because they require a lot of computational resources.</a:t>
            </a:r>
          </a:p>
        </p:txBody>
      </p:sp>
      <p:sp>
        <p:nvSpPr>
          <p:cNvPr id="3" name="TextBox 2"/>
          <p:cNvSpPr txBox="1"/>
          <p:nvPr/>
        </p:nvSpPr>
        <p:spPr>
          <a:xfrm>
            <a:off x="297398" y="0"/>
            <a:ext cx="3112712" cy="646331"/>
          </a:xfrm>
          <a:prstGeom prst="rect">
            <a:avLst/>
          </a:prstGeom>
          <a:noFill/>
        </p:spPr>
        <p:txBody>
          <a:bodyPr wrap="none" rtlCol="0">
            <a:spAutoFit/>
          </a:bodyPr>
          <a:lstStyle/>
          <a:p>
            <a:r>
              <a:rPr lang="en-US" sz="3600" dirty="0">
                <a:solidFill>
                  <a:schemeClr val="accent6">
                    <a:lumMod val="60000"/>
                    <a:lumOff val="40000"/>
                  </a:schemeClr>
                </a:solidFill>
              </a:rPr>
              <a:t>GAN challenges</a:t>
            </a:r>
          </a:p>
        </p:txBody>
      </p:sp>
      <p:sp>
        <p:nvSpPr>
          <p:cNvPr id="5" name="TextBox 4">
            <a:extLst>
              <a:ext uri="{FF2B5EF4-FFF2-40B4-BE49-F238E27FC236}">
                <a16:creationId xmlns:a16="http://schemas.microsoft.com/office/drawing/2014/main" id="{329E5D49-AC91-E31E-CC48-7F1B93962B26}"/>
              </a:ext>
            </a:extLst>
          </p:cNvPr>
          <p:cNvSpPr txBox="1"/>
          <p:nvPr/>
        </p:nvSpPr>
        <p:spPr>
          <a:xfrm>
            <a:off x="209550" y="4350526"/>
            <a:ext cx="11772900" cy="1569660"/>
          </a:xfrm>
          <a:prstGeom prst="rect">
            <a:avLst/>
          </a:prstGeom>
          <a:noFill/>
        </p:spPr>
        <p:txBody>
          <a:bodyPr wrap="square">
            <a:spAutoFit/>
          </a:bodyPr>
          <a:lstStyle/>
          <a:p>
            <a:r>
              <a:rPr lang="en-US" sz="2400" b="1" i="0" dirty="0">
                <a:solidFill>
                  <a:schemeClr val="accent6">
                    <a:lumMod val="60000"/>
                    <a:lumOff val="40000"/>
                  </a:schemeClr>
                </a:solidFill>
                <a:effectLst/>
                <a:latin typeface="Roboto"/>
              </a:rPr>
              <a:t>Solutions</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use </a:t>
            </a:r>
            <a:r>
              <a:rPr lang="en-US" sz="2400" b="1" i="0" dirty="0">
                <a:solidFill>
                  <a:schemeClr val="accent6">
                    <a:lumMod val="60000"/>
                    <a:lumOff val="40000"/>
                  </a:schemeClr>
                </a:solidFill>
                <a:effectLst/>
                <a:latin typeface="Roboto"/>
              </a:rPr>
              <a:t>parallel training</a:t>
            </a:r>
            <a:r>
              <a:rPr lang="en-US" sz="2400" b="0" i="0" dirty="0">
                <a:solidFill>
                  <a:schemeClr val="accent6">
                    <a:lumMod val="60000"/>
                    <a:lumOff val="40000"/>
                  </a:schemeClr>
                </a:solidFill>
                <a:effectLst/>
                <a:latin typeface="Roboto"/>
              </a:rPr>
              <a:t>, which can help to speed up training. </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use </a:t>
            </a:r>
            <a:r>
              <a:rPr lang="en-US" sz="2400" b="1" i="0" dirty="0">
                <a:solidFill>
                  <a:schemeClr val="accent6">
                    <a:lumMod val="60000"/>
                    <a:lumOff val="40000"/>
                  </a:schemeClr>
                </a:solidFill>
                <a:effectLst/>
                <a:latin typeface="Roboto"/>
              </a:rPr>
              <a:t>distributed training</a:t>
            </a:r>
            <a:r>
              <a:rPr lang="en-US" sz="2400" b="0" i="0" dirty="0">
                <a:solidFill>
                  <a:schemeClr val="accent6">
                    <a:lumMod val="60000"/>
                    <a:lumOff val="40000"/>
                  </a:schemeClr>
                </a:solidFill>
                <a:effectLst/>
                <a:latin typeface="Roboto"/>
              </a:rPr>
              <a:t>, which can help to distribute the computational burden across multiple nodes or machines, for example, with</a:t>
            </a:r>
            <a:r>
              <a:rPr lang="en-US" sz="2400" dirty="0">
                <a:solidFill>
                  <a:schemeClr val="accent6">
                    <a:lumMod val="60000"/>
                    <a:lumOff val="40000"/>
                  </a:schemeClr>
                </a:solidFill>
                <a:latin typeface="Roboto"/>
              </a:rPr>
              <a:t> </a:t>
            </a:r>
            <a:r>
              <a:rPr lang="en-US" sz="2400" b="1" dirty="0">
                <a:solidFill>
                  <a:schemeClr val="accent6">
                    <a:lumMod val="60000"/>
                    <a:lumOff val="40000"/>
                  </a:schemeClr>
                </a:solidFill>
                <a:latin typeface="Roboto"/>
              </a:rPr>
              <a:t>edge computing</a:t>
            </a:r>
            <a:r>
              <a:rPr lang="en-US" sz="2400" b="0" i="0" dirty="0">
                <a:solidFill>
                  <a:schemeClr val="accent6">
                    <a:lumMod val="60000"/>
                    <a:lumOff val="40000"/>
                  </a:schemeClr>
                </a:solidFill>
                <a:effectLst/>
                <a:latin typeface="Roboto"/>
              </a:rPr>
              <a:t>.</a:t>
            </a:r>
          </a:p>
        </p:txBody>
      </p:sp>
    </p:spTree>
    <p:extLst>
      <p:ext uri="{BB962C8B-B14F-4D97-AF65-F5344CB8AC3E}">
        <p14:creationId xmlns:p14="http://schemas.microsoft.com/office/powerpoint/2010/main" val="600967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9181" y="2049616"/>
            <a:ext cx="1701428" cy="369332"/>
          </a:xfrm>
          <a:prstGeom prst="rect">
            <a:avLst/>
          </a:prstGeom>
          <a:solidFill>
            <a:schemeClr val="bg2">
              <a:lumMod val="90000"/>
            </a:schemeClr>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Real Image Data</a:t>
            </a:r>
          </a:p>
        </p:txBody>
      </p:sp>
      <p:sp>
        <p:nvSpPr>
          <p:cNvPr id="11" name="Rectangle 10"/>
          <p:cNvSpPr/>
          <p:nvPr/>
        </p:nvSpPr>
        <p:spPr>
          <a:xfrm>
            <a:off x="2380410" y="2049616"/>
            <a:ext cx="1328377" cy="369332"/>
          </a:xfrm>
          <a:prstGeom prst="rect">
            <a:avLst/>
          </a:prstGeom>
          <a:solidFill>
            <a:schemeClr val="bg2">
              <a:lumMod val="90000"/>
            </a:schemeClr>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Real Sample</a:t>
            </a:r>
          </a:p>
        </p:txBody>
      </p:sp>
      <p:sp>
        <p:nvSpPr>
          <p:cNvPr id="12" name="Rectangle 11"/>
          <p:cNvSpPr/>
          <p:nvPr/>
        </p:nvSpPr>
        <p:spPr>
          <a:xfrm>
            <a:off x="4934417" y="2130388"/>
            <a:ext cx="3322615" cy="369332"/>
          </a:xfrm>
          <a:prstGeom prst="rect">
            <a:avLst/>
          </a:prstGeom>
          <a:solidFill>
            <a:srgbClr val="FFC000"/>
          </a:solidFill>
        </p:spPr>
        <p:txBody>
          <a:bodyPr wrap="square" lIns="91440" tIns="45720" rIns="91440" bIns="45720">
            <a:spAutoFit/>
          </a:bodyPr>
          <a:lstStyle/>
          <a:p>
            <a:pPr algn="ctr"/>
            <a:r>
              <a:rPr lang="en-US" dirty="0">
                <a:ln w="0"/>
                <a:effectLst>
                  <a:outerShdw blurRad="38100" dist="19050" dir="2700000" algn="tl" rotWithShape="0">
                    <a:schemeClr val="dk1">
                      <a:alpha val="40000"/>
                    </a:schemeClr>
                  </a:outerShdw>
                </a:effectLst>
              </a:rPr>
              <a:t>Discriminator</a:t>
            </a:r>
          </a:p>
        </p:txBody>
      </p:sp>
      <p:sp>
        <p:nvSpPr>
          <p:cNvPr id="13" name="Rectangle 12"/>
          <p:cNvSpPr/>
          <p:nvPr/>
        </p:nvSpPr>
        <p:spPr>
          <a:xfrm>
            <a:off x="10229602" y="1165563"/>
            <a:ext cx="1897122" cy="369332"/>
          </a:xfrm>
          <a:prstGeom prst="rect">
            <a:avLst/>
          </a:prstGeom>
          <a:solidFill>
            <a:schemeClr val="bg2">
              <a:lumMod val="90000"/>
            </a:schemeClr>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Discriminator Loss</a:t>
            </a:r>
          </a:p>
        </p:txBody>
      </p:sp>
      <p:sp>
        <p:nvSpPr>
          <p:cNvPr id="14" name="Rectangle 13"/>
          <p:cNvSpPr/>
          <p:nvPr/>
        </p:nvSpPr>
        <p:spPr>
          <a:xfrm>
            <a:off x="10487017" y="4094745"/>
            <a:ext cx="1595821" cy="369332"/>
          </a:xfrm>
          <a:prstGeom prst="rect">
            <a:avLst/>
          </a:prstGeom>
          <a:solidFill>
            <a:schemeClr val="bg2">
              <a:lumMod val="90000"/>
            </a:schemeClr>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Generator Loss</a:t>
            </a:r>
          </a:p>
        </p:txBody>
      </p:sp>
      <p:sp>
        <p:nvSpPr>
          <p:cNvPr id="15" name="Rectangle 14"/>
          <p:cNvSpPr/>
          <p:nvPr/>
        </p:nvSpPr>
        <p:spPr>
          <a:xfrm>
            <a:off x="218924" y="3184276"/>
            <a:ext cx="1022329" cy="646331"/>
          </a:xfrm>
          <a:prstGeom prst="rect">
            <a:avLst/>
          </a:prstGeom>
          <a:solidFill>
            <a:schemeClr val="bg2">
              <a:lumMod val="90000"/>
            </a:schemeClr>
          </a:solidFill>
        </p:spPr>
        <p:txBody>
          <a:bodyPr wrap="square" lIns="91440" tIns="45720" rIns="91440" bIns="45720">
            <a:spAutoFit/>
          </a:bodyPr>
          <a:lstStyle/>
          <a:p>
            <a:pPr algn="ctr"/>
            <a:r>
              <a:rPr lang="en-US" dirty="0">
                <a:ln w="0"/>
                <a:effectLst>
                  <a:outerShdw blurRad="38100" dist="19050" dir="2700000" algn="tl" rotWithShape="0">
                    <a:schemeClr val="dk1">
                      <a:alpha val="40000"/>
                    </a:schemeClr>
                  </a:outerShdw>
                </a:effectLst>
              </a:rPr>
              <a:t>Random Input</a:t>
            </a:r>
          </a:p>
        </p:txBody>
      </p:sp>
      <p:sp>
        <p:nvSpPr>
          <p:cNvPr id="16" name="Rectangle 15"/>
          <p:cNvSpPr/>
          <p:nvPr/>
        </p:nvSpPr>
        <p:spPr>
          <a:xfrm>
            <a:off x="3356951" y="3302118"/>
            <a:ext cx="1350819" cy="369332"/>
          </a:xfrm>
          <a:prstGeom prst="rect">
            <a:avLst/>
          </a:prstGeom>
          <a:solidFill>
            <a:schemeClr val="bg2">
              <a:lumMod val="90000"/>
            </a:schemeClr>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Fake Sample</a:t>
            </a:r>
          </a:p>
        </p:txBody>
      </p:sp>
      <p:cxnSp>
        <p:nvCxnSpPr>
          <p:cNvPr id="19" name="Straight Arrow Connector 18"/>
          <p:cNvCxnSpPr>
            <a:cxnSpLocks/>
          </p:cNvCxnSpPr>
          <p:nvPr/>
        </p:nvCxnSpPr>
        <p:spPr>
          <a:xfrm>
            <a:off x="1903783" y="2234282"/>
            <a:ext cx="476627"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a:off x="3766833" y="2234282"/>
            <a:ext cx="1033766"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p:cNvCxnSpPr>
          <p:nvPr/>
        </p:nvCxnSpPr>
        <p:spPr>
          <a:xfrm flipV="1">
            <a:off x="8603387" y="1534895"/>
            <a:ext cx="1564057" cy="788717"/>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cxnSpLocks/>
          </p:cNvCxnSpPr>
          <p:nvPr/>
        </p:nvCxnSpPr>
        <p:spPr>
          <a:xfrm>
            <a:off x="8603387" y="2520880"/>
            <a:ext cx="1975486" cy="1420143"/>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cxnSpLocks/>
          </p:cNvCxnSpPr>
          <p:nvPr/>
        </p:nvCxnSpPr>
        <p:spPr>
          <a:xfrm>
            <a:off x="2943286" y="3480333"/>
            <a:ext cx="360857" cy="9971"/>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V="1">
            <a:off x="4141581" y="2607876"/>
            <a:ext cx="659018" cy="65187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3" name="Left Arrow 32"/>
          <p:cNvSpPr/>
          <p:nvPr/>
        </p:nvSpPr>
        <p:spPr>
          <a:xfrm rot="19838948">
            <a:off x="7618257" y="879732"/>
            <a:ext cx="3486415" cy="628513"/>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Back-propagation in Disc. training</a:t>
            </a:r>
          </a:p>
        </p:txBody>
      </p:sp>
      <p:sp>
        <p:nvSpPr>
          <p:cNvPr id="34" name="Rectangle 33"/>
          <p:cNvSpPr/>
          <p:nvPr/>
        </p:nvSpPr>
        <p:spPr>
          <a:xfrm>
            <a:off x="1808522" y="3302118"/>
            <a:ext cx="1143776" cy="369332"/>
          </a:xfrm>
          <a:prstGeom prst="rect">
            <a:avLst/>
          </a:prstGeom>
          <a:solidFill>
            <a:schemeClr val="accent5"/>
          </a:solid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Generator</a:t>
            </a:r>
          </a:p>
        </p:txBody>
      </p:sp>
      <p:cxnSp>
        <p:nvCxnSpPr>
          <p:cNvPr id="36" name="Straight Arrow Connector 35"/>
          <p:cNvCxnSpPr>
            <a:cxnSpLocks/>
          </p:cNvCxnSpPr>
          <p:nvPr/>
        </p:nvCxnSpPr>
        <p:spPr>
          <a:xfrm>
            <a:off x="1312370" y="3475002"/>
            <a:ext cx="388071"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2" name="Left Arrow 41"/>
          <p:cNvSpPr/>
          <p:nvPr/>
        </p:nvSpPr>
        <p:spPr>
          <a:xfrm>
            <a:off x="5044041" y="3796316"/>
            <a:ext cx="4130176" cy="527189"/>
          </a:xfrm>
          <a:prstGeom prst="leftArrow">
            <a:avLst/>
          </a:prstGeom>
          <a:solidFill>
            <a:srgbClr val="FFFF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solidFill>
                  <a:schemeClr val="tx1">
                    <a:lumMod val="95000"/>
                    <a:lumOff val="5000"/>
                  </a:schemeClr>
                </a:solidFill>
              </a:rPr>
              <a:t>Back-propagation in Gen training</a:t>
            </a:r>
          </a:p>
        </p:txBody>
      </p:sp>
      <p:grpSp>
        <p:nvGrpSpPr>
          <p:cNvPr id="29" name="Group 28">
            <a:extLst>
              <a:ext uri="{FF2B5EF4-FFF2-40B4-BE49-F238E27FC236}">
                <a16:creationId xmlns:a16="http://schemas.microsoft.com/office/drawing/2014/main" id="{1F75E535-11BA-FBA7-D488-93913450A779}"/>
              </a:ext>
            </a:extLst>
          </p:cNvPr>
          <p:cNvGrpSpPr/>
          <p:nvPr/>
        </p:nvGrpSpPr>
        <p:grpSpPr>
          <a:xfrm>
            <a:off x="2619144" y="2770128"/>
            <a:ext cx="7421040" cy="1427040"/>
            <a:chOff x="2619144" y="2770128"/>
            <a:chExt cx="7421040" cy="1427040"/>
          </a:xfrm>
        </p:grpSpPr>
        <mc:AlternateContent xmlns:mc="http://schemas.openxmlformats.org/markup-compatibility/2006">
          <mc:Choice xmlns:p14="http://schemas.microsoft.com/office/powerpoint/2010/main" Requires="p14">
            <p:contentPart p14:bwMode="auto" r:id="rId2">
              <p14:nvContentPartPr>
                <p14:cNvPr id="26" name="Ink 25">
                  <a:extLst>
                    <a:ext uri="{FF2B5EF4-FFF2-40B4-BE49-F238E27FC236}">
                      <a16:creationId xmlns:a16="http://schemas.microsoft.com/office/drawing/2014/main" id="{1E2516CE-020C-13B8-9B6F-43762B7BB5F0}"/>
                    </a:ext>
                  </a:extLst>
                </p14:cNvPr>
                <p14:cNvContentPartPr/>
                <p14:nvPr/>
              </p14:nvContentPartPr>
              <p14:xfrm>
                <a:off x="2654424" y="2770128"/>
                <a:ext cx="7385760" cy="1427040"/>
              </p14:xfrm>
            </p:contentPart>
          </mc:Choice>
          <mc:Fallback>
            <p:pic>
              <p:nvPicPr>
                <p:cNvPr id="26" name="Ink 25">
                  <a:extLst>
                    <a:ext uri="{FF2B5EF4-FFF2-40B4-BE49-F238E27FC236}">
                      <a16:creationId xmlns:a16="http://schemas.microsoft.com/office/drawing/2014/main" id="{1E2516CE-020C-13B8-9B6F-43762B7BB5F0}"/>
                    </a:ext>
                  </a:extLst>
                </p:cNvPr>
                <p:cNvPicPr/>
                <p:nvPr/>
              </p:nvPicPr>
              <p:blipFill>
                <a:blip r:embed="rId3"/>
                <a:stretch>
                  <a:fillRect/>
                </a:stretch>
              </p:blipFill>
              <p:spPr>
                <a:xfrm>
                  <a:off x="2636784" y="2752488"/>
                  <a:ext cx="7421400" cy="1462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7" name="Ink 26">
                  <a:extLst>
                    <a:ext uri="{FF2B5EF4-FFF2-40B4-BE49-F238E27FC236}">
                      <a16:creationId xmlns:a16="http://schemas.microsoft.com/office/drawing/2014/main" id="{B0C32147-30F2-5B1F-2F52-E9E0D9417AC2}"/>
                    </a:ext>
                  </a:extLst>
                </p14:cNvPr>
                <p14:cNvContentPartPr/>
                <p14:nvPr/>
              </p14:nvContentPartPr>
              <p14:xfrm>
                <a:off x="2619144" y="3684888"/>
                <a:ext cx="131040" cy="166680"/>
              </p14:xfrm>
            </p:contentPart>
          </mc:Choice>
          <mc:Fallback>
            <p:pic>
              <p:nvPicPr>
                <p:cNvPr id="27" name="Ink 26">
                  <a:extLst>
                    <a:ext uri="{FF2B5EF4-FFF2-40B4-BE49-F238E27FC236}">
                      <a16:creationId xmlns:a16="http://schemas.microsoft.com/office/drawing/2014/main" id="{B0C32147-30F2-5B1F-2F52-E9E0D9417AC2}"/>
                    </a:ext>
                  </a:extLst>
                </p:cNvPr>
                <p:cNvPicPr/>
                <p:nvPr/>
              </p:nvPicPr>
              <p:blipFill>
                <a:blip r:embed="rId5"/>
                <a:stretch>
                  <a:fillRect/>
                </a:stretch>
              </p:blipFill>
              <p:spPr>
                <a:xfrm>
                  <a:off x="2601504" y="3666888"/>
                  <a:ext cx="166680" cy="202320"/>
                </a:xfrm>
                <a:prstGeom prst="rect">
                  <a:avLst/>
                </a:prstGeom>
              </p:spPr>
            </p:pic>
          </mc:Fallback>
        </mc:AlternateContent>
      </p:grpSp>
    </p:spTree>
    <p:extLst>
      <p:ext uri="{BB962C8B-B14F-4D97-AF65-F5344CB8AC3E}">
        <p14:creationId xmlns:p14="http://schemas.microsoft.com/office/powerpoint/2010/main" val="90684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28537" y="138566"/>
            <a:ext cx="11563493" cy="3077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02124"/>
                </a:solidFill>
                <a:effectLst/>
              </a:rPr>
              <a:t>Step 1.Training the Discriminator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Roboto"/>
              </a:rPr>
              <a:t>The discriminator connects to two </a:t>
            </a:r>
            <a:r>
              <a:rPr lang="en-US" altLang="en-US" sz="2000" b="1" dirty="0">
                <a:solidFill>
                  <a:srgbClr val="202124"/>
                </a:solidFill>
                <a:latin typeface="Roboto"/>
              </a:rPr>
              <a:t>loss </a:t>
            </a:r>
            <a:r>
              <a:rPr kumimoji="0" lang="en-US" altLang="en-US" sz="2000" b="1" i="0" u="none" strike="noStrike" cap="none" normalizeH="0" baseline="0" dirty="0">
                <a:ln>
                  <a:noFill/>
                </a:ln>
                <a:solidFill>
                  <a:srgbClr val="202124"/>
                </a:solidFill>
                <a:effectLst/>
                <a:latin typeface="Roboto"/>
              </a:rPr>
              <a:t>functions.</a:t>
            </a:r>
            <a:r>
              <a:rPr kumimoji="0" lang="en-US" altLang="en-US" sz="2000" b="0" i="0" u="none" strike="noStrike" cap="none" normalizeH="0" baseline="0" dirty="0">
                <a:ln>
                  <a:noFill/>
                </a:ln>
                <a:solidFill>
                  <a:srgbClr val="202124"/>
                </a:solidFill>
                <a:effectLst/>
                <a:latin typeface="Roboto"/>
              </a:rPr>
              <a:t> During discriminator training, the discriminator ignores the generator loss and just uses the discriminator loss. (We use the generator loss during generator training.)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Roboto"/>
              </a:rPr>
              <a:t>During discriminator training: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202124"/>
                </a:solidFill>
                <a:effectLst/>
                <a:latin typeface="Roboto"/>
              </a:rPr>
              <a:t>The discriminator classifies both real data and fake data from the generator.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202124"/>
                </a:solidFill>
                <a:effectLst/>
                <a:latin typeface="Roboto"/>
              </a:rPr>
              <a:t>The discriminator loss penalizes the discriminator for misclassifying a real instance as fake or a fake instance as real.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rgbClr val="202124"/>
                </a:solidFill>
                <a:effectLst/>
                <a:latin typeface="Roboto"/>
              </a:rPr>
              <a:t>The discriminator updates its weights through </a:t>
            </a:r>
            <a:r>
              <a:rPr kumimoji="0" lang="en-US" altLang="en-US" sz="2000" b="1" i="0" u="none" strike="noStrike" cap="none" normalizeH="0" baseline="0" dirty="0">
                <a:ln>
                  <a:noFill/>
                </a:ln>
                <a:solidFill>
                  <a:srgbClr val="202124"/>
                </a:solidFill>
                <a:effectLst/>
                <a:latin typeface="Roboto"/>
              </a:rPr>
              <a:t>backpropagation</a:t>
            </a:r>
            <a:r>
              <a:rPr kumimoji="0" lang="en-US" altLang="en-US" sz="2000" b="0" i="0" u="none" strike="noStrike" cap="none" normalizeH="0" baseline="0" dirty="0">
                <a:ln>
                  <a:noFill/>
                </a:ln>
                <a:solidFill>
                  <a:srgbClr val="202124"/>
                </a:solidFill>
                <a:effectLst/>
                <a:latin typeface="Roboto"/>
              </a:rPr>
              <a:t> from the discriminator loss through the discriminator network.</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8882" y="3320721"/>
            <a:ext cx="7825742" cy="3470239"/>
          </a:xfrm>
          <a:prstGeom prst="rect">
            <a:avLst/>
          </a:prstGeom>
        </p:spPr>
      </p:pic>
    </p:spTree>
    <p:extLst>
      <p:ext uri="{BB962C8B-B14F-4D97-AF65-F5344CB8AC3E}">
        <p14:creationId xmlns:p14="http://schemas.microsoft.com/office/powerpoint/2010/main" val="875702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B695-9AA1-7E58-BF0E-D409FF1D081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272EC99-B5D0-CD0F-7990-B3C1D2360D15}"/>
              </a:ext>
            </a:extLst>
          </p:cNvPr>
          <p:cNvSpPr txBox="1"/>
          <p:nvPr/>
        </p:nvSpPr>
        <p:spPr>
          <a:xfrm>
            <a:off x="556953" y="124496"/>
            <a:ext cx="11330247" cy="6878806"/>
          </a:xfrm>
          <a:prstGeom prst="rect">
            <a:avLst/>
          </a:prstGeom>
          <a:noFill/>
        </p:spPr>
        <p:txBody>
          <a:bodyPr wrap="square" rtlCol="0">
            <a:spAutoFit/>
          </a:bodyPr>
          <a:lstStyle/>
          <a:p>
            <a:r>
              <a:rPr lang="en-US" sz="2100" b="1" dirty="0">
                <a:solidFill>
                  <a:schemeClr val="accent6">
                    <a:lumMod val="60000"/>
                    <a:lumOff val="40000"/>
                  </a:schemeClr>
                </a:solidFill>
              </a:rPr>
              <a:t>Step 2. Using the Discriminator to Train the Generator</a:t>
            </a:r>
          </a:p>
          <a:p>
            <a:r>
              <a:rPr lang="en-US" sz="2100" dirty="0">
                <a:solidFill>
                  <a:schemeClr val="accent6">
                    <a:lumMod val="60000"/>
                    <a:lumOff val="40000"/>
                  </a:schemeClr>
                </a:solidFill>
              </a:rPr>
              <a:t>To train a neural net, we alter the net's weights to reduce the error or loss of its output. In our GAN, however, the generator is not directly connected to the loss that we're trying to affect. The generator feeds into the discriminator net, and the discriminator produces the output we're trying to affect. The generator loss penalizes the generator for producing a sample that the discriminator network classifies as fake.</a:t>
            </a:r>
          </a:p>
          <a:p>
            <a:endParaRPr lang="en-US" sz="2100" dirty="0">
              <a:solidFill>
                <a:schemeClr val="accent6">
                  <a:lumMod val="60000"/>
                  <a:lumOff val="40000"/>
                </a:schemeClr>
              </a:solidFill>
            </a:endParaRPr>
          </a:p>
          <a:p>
            <a:r>
              <a:rPr lang="en-US" sz="2100" b="1" dirty="0">
                <a:solidFill>
                  <a:schemeClr val="accent6">
                    <a:lumMod val="60000"/>
                    <a:lumOff val="40000"/>
                  </a:schemeClr>
                </a:solidFill>
              </a:rPr>
              <a:t>Backpropagation adjusts each weight </a:t>
            </a:r>
            <a:r>
              <a:rPr lang="en-US" sz="2100" dirty="0">
                <a:solidFill>
                  <a:schemeClr val="accent6">
                    <a:lumMod val="60000"/>
                    <a:lumOff val="40000"/>
                  </a:schemeClr>
                </a:solidFill>
              </a:rPr>
              <a:t>in the right direction by calculating the weight's impact on the output — how the output would change if you changed the weight. But the impact of a generator weight depends on the impact of the discriminator weights it feeds into. So </a:t>
            </a:r>
            <a:r>
              <a:rPr lang="en-US" sz="2100" b="1" dirty="0">
                <a:solidFill>
                  <a:schemeClr val="accent6">
                    <a:lumMod val="60000"/>
                    <a:lumOff val="40000"/>
                  </a:schemeClr>
                </a:solidFill>
              </a:rPr>
              <a:t>backpropagation starts at the output and flows back through the discriminator into the generator</a:t>
            </a:r>
            <a:r>
              <a:rPr lang="en-US" sz="2100" dirty="0">
                <a:solidFill>
                  <a:schemeClr val="accent6">
                    <a:lumMod val="60000"/>
                    <a:lumOff val="40000"/>
                  </a:schemeClr>
                </a:solidFill>
              </a:rPr>
              <a:t>. At the same time, </a:t>
            </a:r>
            <a:r>
              <a:rPr lang="en-US" sz="2100" b="1" dirty="0">
                <a:solidFill>
                  <a:schemeClr val="accent6">
                    <a:lumMod val="60000"/>
                    <a:lumOff val="40000"/>
                  </a:schemeClr>
                </a:solidFill>
              </a:rPr>
              <a:t>we don't want the discriminator to change during generator training</a:t>
            </a:r>
            <a:r>
              <a:rPr lang="en-US" sz="2100" dirty="0">
                <a:solidFill>
                  <a:schemeClr val="accent6">
                    <a:lumMod val="60000"/>
                    <a:lumOff val="40000"/>
                  </a:schemeClr>
                </a:solidFill>
              </a:rPr>
              <a:t>. So we train the generator with the following procedure:</a:t>
            </a:r>
          </a:p>
          <a:p>
            <a:pPr marL="285750" indent="-285750">
              <a:buFont typeface="Arial" panose="020B0604020202020204" pitchFamily="34" charset="0"/>
              <a:buChar char="•"/>
            </a:pPr>
            <a:r>
              <a:rPr lang="en-US" sz="2100" dirty="0">
                <a:solidFill>
                  <a:schemeClr val="accent6">
                    <a:lumMod val="60000"/>
                    <a:lumOff val="40000"/>
                  </a:schemeClr>
                </a:solidFill>
              </a:rPr>
              <a:t>Sample random noise.</a:t>
            </a:r>
          </a:p>
          <a:p>
            <a:pPr marL="285750" indent="-285750">
              <a:buFont typeface="Arial" panose="020B0604020202020204" pitchFamily="34" charset="0"/>
              <a:buChar char="•"/>
            </a:pPr>
            <a:r>
              <a:rPr lang="en-US" sz="2100" dirty="0">
                <a:solidFill>
                  <a:schemeClr val="accent6">
                    <a:lumMod val="60000"/>
                    <a:lumOff val="40000"/>
                  </a:schemeClr>
                </a:solidFill>
              </a:rPr>
              <a:t>Produce generator output from sampled random noise.</a:t>
            </a:r>
          </a:p>
          <a:p>
            <a:pPr marL="285750" indent="-285750">
              <a:buFont typeface="Arial" panose="020B0604020202020204" pitchFamily="34" charset="0"/>
              <a:buChar char="•"/>
            </a:pPr>
            <a:r>
              <a:rPr lang="en-US" sz="2100" dirty="0">
                <a:solidFill>
                  <a:schemeClr val="accent6">
                    <a:lumMod val="60000"/>
                    <a:lumOff val="40000"/>
                  </a:schemeClr>
                </a:solidFill>
              </a:rPr>
              <a:t>Get discriminator "Real" or "Fake" classification for generator output.</a:t>
            </a:r>
          </a:p>
          <a:p>
            <a:pPr marL="285750" indent="-285750">
              <a:buFont typeface="Arial" panose="020B0604020202020204" pitchFamily="34" charset="0"/>
              <a:buChar char="•"/>
            </a:pPr>
            <a:r>
              <a:rPr lang="en-US" sz="2100" dirty="0">
                <a:solidFill>
                  <a:schemeClr val="accent6">
                    <a:lumMod val="60000"/>
                    <a:lumOff val="40000"/>
                  </a:schemeClr>
                </a:solidFill>
              </a:rPr>
              <a:t>Calculate loss from discriminator classification.</a:t>
            </a:r>
          </a:p>
          <a:p>
            <a:pPr marL="285750" indent="-285750">
              <a:buFont typeface="Arial" panose="020B0604020202020204" pitchFamily="34" charset="0"/>
              <a:buChar char="•"/>
            </a:pPr>
            <a:r>
              <a:rPr lang="en-US" sz="2100" dirty="0">
                <a:solidFill>
                  <a:schemeClr val="accent6">
                    <a:lumMod val="60000"/>
                    <a:lumOff val="40000"/>
                  </a:schemeClr>
                </a:solidFill>
              </a:rPr>
              <a:t>Back-propagate through both the discriminator and generator to obtain gradients.</a:t>
            </a:r>
          </a:p>
          <a:p>
            <a:pPr marL="285750" indent="-285750">
              <a:buFont typeface="Arial" panose="020B0604020202020204" pitchFamily="34" charset="0"/>
              <a:buChar char="•"/>
            </a:pPr>
            <a:r>
              <a:rPr lang="en-US" sz="2100" dirty="0">
                <a:solidFill>
                  <a:schemeClr val="accent6">
                    <a:lumMod val="60000"/>
                    <a:lumOff val="40000"/>
                  </a:schemeClr>
                </a:solidFill>
              </a:rPr>
              <a:t>Use gradients to change only the generator weights.</a:t>
            </a:r>
          </a:p>
          <a:p>
            <a:endParaRPr lang="en-US" sz="2100" dirty="0">
              <a:solidFill>
                <a:schemeClr val="accent6">
                  <a:lumMod val="60000"/>
                  <a:lumOff val="40000"/>
                </a:schemeClr>
              </a:solidFill>
            </a:endParaRPr>
          </a:p>
          <a:p>
            <a:r>
              <a:rPr lang="en-US" sz="2100" dirty="0">
                <a:solidFill>
                  <a:schemeClr val="accent6">
                    <a:lumMod val="60000"/>
                    <a:lumOff val="40000"/>
                  </a:schemeClr>
                </a:solidFill>
              </a:rPr>
              <a:t>This is one iteration of generator training.</a:t>
            </a:r>
          </a:p>
        </p:txBody>
      </p:sp>
    </p:spTree>
    <p:extLst>
      <p:ext uri="{BB962C8B-B14F-4D97-AF65-F5344CB8AC3E}">
        <p14:creationId xmlns:p14="http://schemas.microsoft.com/office/powerpoint/2010/main" val="856252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5691" y="3422257"/>
            <a:ext cx="7316789" cy="3244550"/>
          </a:xfrm>
          <a:prstGeom prst="rect">
            <a:avLst/>
          </a:prstGeom>
        </p:spPr>
      </p:pic>
      <p:sp>
        <p:nvSpPr>
          <p:cNvPr id="5" name="TextBox 4">
            <a:extLst>
              <a:ext uri="{FF2B5EF4-FFF2-40B4-BE49-F238E27FC236}">
                <a16:creationId xmlns:a16="http://schemas.microsoft.com/office/drawing/2014/main" id="{90B4B5B4-D9DB-AD2C-8BCD-395E14F15846}"/>
              </a:ext>
            </a:extLst>
          </p:cNvPr>
          <p:cNvSpPr txBox="1"/>
          <p:nvPr/>
        </p:nvSpPr>
        <p:spPr>
          <a:xfrm>
            <a:off x="263587" y="324487"/>
            <a:ext cx="11129837" cy="1938992"/>
          </a:xfrm>
          <a:prstGeom prst="rect">
            <a:avLst/>
          </a:prstGeom>
          <a:noFill/>
        </p:spPr>
        <p:txBody>
          <a:bodyPr wrap="square">
            <a:spAutoFit/>
          </a:bodyPr>
          <a:lstStyle/>
          <a:p>
            <a:pPr marL="0" indent="0">
              <a:buNone/>
            </a:pPr>
            <a:r>
              <a:rPr lang="en-US" sz="2400" dirty="0">
                <a:solidFill>
                  <a:schemeClr val="accent6">
                    <a:lumMod val="60000"/>
                    <a:lumOff val="40000"/>
                  </a:schemeClr>
                </a:solidFill>
              </a:rPr>
              <a:t>Some key points:</a:t>
            </a:r>
          </a:p>
          <a:p>
            <a:r>
              <a:rPr lang="en-US" sz="2400" dirty="0">
                <a:solidFill>
                  <a:schemeClr val="accent6">
                    <a:lumMod val="60000"/>
                    <a:lumOff val="40000"/>
                  </a:schemeClr>
                </a:solidFill>
              </a:rPr>
              <a:t>In its most basic form, a </a:t>
            </a:r>
            <a:r>
              <a:rPr lang="en-US" sz="2400" b="1" dirty="0">
                <a:solidFill>
                  <a:schemeClr val="accent6">
                    <a:lumMod val="60000"/>
                    <a:lumOff val="40000"/>
                  </a:schemeClr>
                </a:solidFill>
              </a:rPr>
              <a:t>GAN takes random noise as its input</a:t>
            </a:r>
            <a:r>
              <a:rPr lang="en-US" sz="2400" dirty="0">
                <a:solidFill>
                  <a:schemeClr val="accent6">
                    <a:lumMod val="60000"/>
                    <a:lumOff val="40000"/>
                  </a:schemeClr>
                </a:solidFill>
              </a:rPr>
              <a:t>. The generator then transforms this noise into a meaningful output.</a:t>
            </a:r>
          </a:p>
          <a:p>
            <a:r>
              <a:rPr lang="en-US" sz="2400" dirty="0">
                <a:solidFill>
                  <a:schemeClr val="accent6">
                    <a:lumMod val="60000"/>
                    <a:lumOff val="40000"/>
                  </a:schemeClr>
                </a:solidFill>
              </a:rPr>
              <a:t>By </a:t>
            </a:r>
            <a:r>
              <a:rPr lang="en-US" sz="2400" b="1" dirty="0">
                <a:solidFill>
                  <a:schemeClr val="accent6">
                    <a:lumMod val="60000"/>
                    <a:lumOff val="40000"/>
                  </a:schemeClr>
                </a:solidFill>
              </a:rPr>
              <a:t>introducing noise, we can get the GAN to produce a wide variety of data</a:t>
            </a:r>
            <a:r>
              <a:rPr lang="en-US" sz="2400" dirty="0">
                <a:solidFill>
                  <a:schemeClr val="accent6">
                    <a:lumMod val="60000"/>
                    <a:lumOff val="40000"/>
                  </a:schemeClr>
                </a:solidFill>
              </a:rPr>
              <a:t>, sampling from different places in the target distribution.</a:t>
            </a:r>
          </a:p>
        </p:txBody>
      </p:sp>
    </p:spTree>
    <p:extLst>
      <p:ext uri="{BB962C8B-B14F-4D97-AF65-F5344CB8AC3E}">
        <p14:creationId xmlns:p14="http://schemas.microsoft.com/office/powerpoint/2010/main" val="3097900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875" y="104939"/>
            <a:ext cx="11542423" cy="6186309"/>
          </a:xfrm>
          <a:prstGeom prst="rect">
            <a:avLst/>
          </a:prstGeom>
          <a:noFill/>
        </p:spPr>
        <p:txBody>
          <a:bodyPr wrap="square" rtlCol="0">
            <a:spAutoFit/>
          </a:bodyPr>
          <a:lstStyle/>
          <a:p>
            <a:r>
              <a:rPr lang="en-US" b="1" dirty="0">
                <a:solidFill>
                  <a:schemeClr val="accent6">
                    <a:lumMod val="60000"/>
                    <a:lumOff val="40000"/>
                  </a:schemeClr>
                </a:solidFill>
              </a:rPr>
              <a:t>Problem</a:t>
            </a:r>
            <a:r>
              <a:rPr lang="en-US" dirty="0">
                <a:solidFill>
                  <a:schemeClr val="accent6">
                    <a:lumMod val="60000"/>
                    <a:lumOff val="40000"/>
                  </a:schemeClr>
                </a:solidFill>
              </a:rPr>
              <a:t>: Because a GAN contains two separately trained networks, its training algorithm must address two complications:</a:t>
            </a:r>
          </a:p>
          <a:p>
            <a:endParaRPr lang="en-US" dirty="0">
              <a:solidFill>
                <a:schemeClr val="accent6">
                  <a:lumMod val="60000"/>
                  <a:lumOff val="40000"/>
                </a:schemeClr>
              </a:solidFill>
            </a:endParaRPr>
          </a:p>
          <a:p>
            <a:r>
              <a:rPr lang="en-US" dirty="0">
                <a:solidFill>
                  <a:schemeClr val="accent6">
                    <a:lumMod val="60000"/>
                    <a:lumOff val="40000"/>
                  </a:schemeClr>
                </a:solidFill>
              </a:rPr>
              <a:t>1. GANs must </a:t>
            </a:r>
            <a:r>
              <a:rPr lang="en-US" b="1" dirty="0">
                <a:solidFill>
                  <a:schemeClr val="accent6">
                    <a:lumMod val="60000"/>
                    <a:lumOff val="40000"/>
                  </a:schemeClr>
                </a:solidFill>
              </a:rPr>
              <a:t>juggle two different kinds of training </a:t>
            </a:r>
            <a:r>
              <a:rPr lang="en-US" dirty="0">
                <a:solidFill>
                  <a:schemeClr val="accent6">
                    <a:lumMod val="60000"/>
                    <a:lumOff val="40000"/>
                  </a:schemeClr>
                </a:solidFill>
              </a:rPr>
              <a:t>: generator and discriminator. This makes GAN convergence hard to identify.</a:t>
            </a:r>
          </a:p>
          <a:p>
            <a:r>
              <a:rPr lang="en-US" dirty="0">
                <a:solidFill>
                  <a:schemeClr val="accent6">
                    <a:lumMod val="60000"/>
                    <a:lumOff val="40000"/>
                  </a:schemeClr>
                </a:solidFill>
              </a:rPr>
              <a:t>2. The </a:t>
            </a:r>
            <a:r>
              <a:rPr lang="en-US" b="1" dirty="0">
                <a:solidFill>
                  <a:schemeClr val="accent6">
                    <a:lumMod val="60000"/>
                    <a:lumOff val="40000"/>
                  </a:schemeClr>
                </a:solidFill>
              </a:rPr>
              <a:t>generator and the discriminator have different training processes</a:t>
            </a:r>
            <a:r>
              <a:rPr lang="en-US" dirty="0">
                <a:solidFill>
                  <a:schemeClr val="accent6">
                    <a:lumMod val="60000"/>
                    <a:lumOff val="40000"/>
                  </a:schemeClr>
                </a:solidFill>
              </a:rPr>
              <a:t>. </a:t>
            </a:r>
          </a:p>
          <a:p>
            <a:endParaRPr lang="en-US" dirty="0">
              <a:solidFill>
                <a:schemeClr val="accent6">
                  <a:lumMod val="60000"/>
                  <a:lumOff val="40000"/>
                </a:schemeClr>
              </a:solidFill>
            </a:endParaRPr>
          </a:p>
          <a:p>
            <a:r>
              <a:rPr lang="en-US" b="1" dirty="0">
                <a:solidFill>
                  <a:schemeClr val="accent6">
                    <a:lumMod val="60000"/>
                    <a:lumOff val="40000"/>
                  </a:schemeClr>
                </a:solidFill>
              </a:rPr>
              <a:t>Solution</a:t>
            </a:r>
            <a:r>
              <a:rPr lang="en-US" dirty="0">
                <a:solidFill>
                  <a:schemeClr val="accent6">
                    <a:lumMod val="60000"/>
                    <a:lumOff val="40000"/>
                  </a:schemeClr>
                </a:solidFill>
              </a:rPr>
              <a:t>:</a:t>
            </a:r>
          </a:p>
          <a:p>
            <a:r>
              <a:rPr lang="en-US" dirty="0">
                <a:solidFill>
                  <a:schemeClr val="accent6">
                    <a:lumMod val="60000"/>
                    <a:lumOff val="40000"/>
                  </a:schemeClr>
                </a:solidFill>
              </a:rPr>
              <a:t>GAN training proceeds in </a:t>
            </a:r>
            <a:r>
              <a:rPr lang="en-US" b="1" dirty="0">
                <a:solidFill>
                  <a:schemeClr val="accent6">
                    <a:lumMod val="60000"/>
                    <a:lumOff val="40000"/>
                  </a:schemeClr>
                </a:solidFill>
              </a:rPr>
              <a:t>alternating periods</a:t>
            </a:r>
            <a:r>
              <a:rPr lang="en-US" dirty="0">
                <a:solidFill>
                  <a:schemeClr val="accent6">
                    <a:lumMod val="60000"/>
                    <a:lumOff val="40000"/>
                  </a:schemeClr>
                </a:solidFill>
              </a:rPr>
              <a:t>:</a:t>
            </a:r>
          </a:p>
          <a:p>
            <a:pPr marL="228600" indent="-228600">
              <a:buFont typeface="+mj-lt"/>
              <a:buAutoNum type="arabicPeriod"/>
            </a:pPr>
            <a:r>
              <a:rPr lang="en-US" dirty="0">
                <a:solidFill>
                  <a:schemeClr val="accent6">
                    <a:lumMod val="60000"/>
                    <a:lumOff val="40000"/>
                  </a:schemeClr>
                </a:solidFill>
              </a:rPr>
              <a:t>The discriminator trains for one or more epochs.</a:t>
            </a:r>
          </a:p>
          <a:p>
            <a:pPr marL="228600" indent="-228600">
              <a:buFont typeface="+mj-lt"/>
              <a:buAutoNum type="arabicPeriod"/>
            </a:pPr>
            <a:r>
              <a:rPr lang="en-US" dirty="0">
                <a:solidFill>
                  <a:schemeClr val="accent6">
                    <a:lumMod val="60000"/>
                    <a:lumOff val="40000"/>
                  </a:schemeClr>
                </a:solidFill>
              </a:rPr>
              <a:t>The generator trains for one or more epochs.</a:t>
            </a:r>
          </a:p>
          <a:p>
            <a:pPr marL="228600" indent="-228600">
              <a:buFont typeface="+mj-lt"/>
              <a:buAutoNum type="arabicPeriod"/>
            </a:pPr>
            <a:r>
              <a:rPr lang="en-US" dirty="0">
                <a:solidFill>
                  <a:schemeClr val="accent6">
                    <a:lumMod val="60000"/>
                    <a:lumOff val="40000"/>
                  </a:schemeClr>
                </a:solidFill>
              </a:rPr>
              <a:t>Repeat steps 1 and 2 to continue to train the generator and discriminator networks.</a:t>
            </a:r>
          </a:p>
          <a:p>
            <a:r>
              <a:rPr lang="en-US" dirty="0">
                <a:solidFill>
                  <a:schemeClr val="accent6">
                    <a:lumMod val="60000"/>
                    <a:lumOff val="40000"/>
                  </a:schemeClr>
                </a:solidFill>
              </a:rPr>
              <a:t>We keep the generator constant during the discriminator training phase. As discriminator training tries to figure out how to distinguish real data from fake, it has to learn how to recognize the generator's flaws. That's a different problem for a thoroughly trained generator than it is for an untrained generator that produces random output.</a:t>
            </a:r>
          </a:p>
          <a:p>
            <a:endParaRPr lang="en-US" dirty="0">
              <a:solidFill>
                <a:schemeClr val="accent6">
                  <a:lumMod val="60000"/>
                  <a:lumOff val="40000"/>
                </a:schemeClr>
              </a:solidFill>
            </a:endParaRPr>
          </a:p>
          <a:p>
            <a:r>
              <a:rPr lang="en-US" dirty="0">
                <a:solidFill>
                  <a:schemeClr val="accent6">
                    <a:lumMod val="60000"/>
                    <a:lumOff val="40000"/>
                  </a:schemeClr>
                </a:solidFill>
              </a:rPr>
              <a:t>Similarly, we keep the discriminator constant during the generator training phase. Otherwise, the generator would be trying to hit a moving target and might never converge.</a:t>
            </a:r>
          </a:p>
          <a:p>
            <a:endParaRPr lang="en-US" dirty="0">
              <a:solidFill>
                <a:schemeClr val="accent6">
                  <a:lumMod val="60000"/>
                  <a:lumOff val="40000"/>
                </a:schemeClr>
              </a:solidFill>
            </a:endParaRPr>
          </a:p>
          <a:p>
            <a:r>
              <a:rPr lang="en-US" dirty="0">
                <a:solidFill>
                  <a:schemeClr val="accent6">
                    <a:lumMod val="60000"/>
                    <a:lumOff val="40000"/>
                  </a:schemeClr>
                </a:solidFill>
              </a:rPr>
              <a:t>It's this back and forth that allows GANs to tackle otherwise intractable generative problems. We get a toehold in the difficult generative problem by starting with a much simpler classification problem. Conversely, if you can't train a classifier to tell the difference between real and generated data even for the initial random generator output, you can't get the GAN training started.</a:t>
            </a:r>
          </a:p>
        </p:txBody>
      </p:sp>
    </p:spTree>
    <p:extLst>
      <p:ext uri="{BB962C8B-B14F-4D97-AF65-F5344CB8AC3E}">
        <p14:creationId xmlns:p14="http://schemas.microsoft.com/office/powerpoint/2010/main" val="3382056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875" y="104939"/>
            <a:ext cx="11856917" cy="3785652"/>
          </a:xfrm>
          <a:prstGeom prst="rect">
            <a:avLst/>
          </a:prstGeom>
          <a:noFill/>
        </p:spPr>
        <p:txBody>
          <a:bodyPr wrap="square" rtlCol="0">
            <a:spAutoFit/>
          </a:bodyPr>
          <a:lstStyle/>
          <a:p>
            <a:r>
              <a:rPr lang="en-US" sz="2400" b="1" dirty="0">
                <a:solidFill>
                  <a:schemeClr val="accent6">
                    <a:lumMod val="60000"/>
                    <a:lumOff val="40000"/>
                  </a:schemeClr>
                </a:solidFill>
              </a:rPr>
              <a:t>Convergence Problem</a:t>
            </a:r>
          </a:p>
          <a:p>
            <a:r>
              <a:rPr lang="en-US" sz="2400" dirty="0">
                <a:solidFill>
                  <a:schemeClr val="accent6">
                    <a:lumMod val="60000"/>
                    <a:lumOff val="40000"/>
                  </a:schemeClr>
                </a:solidFill>
              </a:rPr>
              <a:t>As the generator improves with training, the discriminator performance gets worse because the discriminator can't easily tell the difference between real and fake. If the generator succeeds perfectly, then the discriminator has a 50% accuracy. In effect, the discriminator flips a coin to make its prediction.</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progression poses a problem for convergence of the GAN as a whole: the discriminator feedback gets less meaningful over time. If the GAN continues training past the point when the discriminator is giving completely random feedback, then the generator starts to train on junk feedback, and its own quality may collapse.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9" y="3890591"/>
            <a:ext cx="6428429" cy="2850616"/>
          </a:xfrm>
          <a:prstGeom prst="rect">
            <a:avLst/>
          </a:prstGeom>
        </p:spPr>
      </p:pic>
    </p:spTree>
    <p:extLst>
      <p:ext uri="{BB962C8B-B14F-4D97-AF65-F5344CB8AC3E}">
        <p14:creationId xmlns:p14="http://schemas.microsoft.com/office/powerpoint/2010/main" val="3897691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57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469"/>
            <a:ext cx="10515600" cy="414826"/>
          </a:xfrm>
        </p:spPr>
        <p:txBody>
          <a:bodyPr>
            <a:noAutofit/>
          </a:bodyPr>
          <a:lstStyle/>
          <a:p>
            <a:r>
              <a:rPr lang="en-US" sz="2400" dirty="0"/>
              <a:t>Math of GAN p2</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92546" y="4206240"/>
            <a:ext cx="3705161" cy="2313951"/>
          </a:xfrm>
          <a:prstGeom prst="rect">
            <a:avLst/>
          </a:prstGeom>
        </p:spPr>
      </p:pic>
      <p:sp>
        <p:nvSpPr>
          <p:cNvPr id="5" name="TextBox 4"/>
          <p:cNvSpPr txBox="1"/>
          <p:nvPr/>
        </p:nvSpPr>
        <p:spPr>
          <a:xfrm>
            <a:off x="838200" y="387920"/>
            <a:ext cx="11090564" cy="1569660"/>
          </a:xfrm>
          <a:prstGeom prst="rect">
            <a:avLst/>
          </a:prstGeom>
          <a:noFill/>
        </p:spPr>
        <p:txBody>
          <a:bodyPr wrap="square" rtlCol="0">
            <a:spAutoFit/>
          </a:bodyPr>
          <a:lstStyle/>
          <a:p>
            <a:r>
              <a:rPr lang="en-US" sz="2400" dirty="0">
                <a:solidFill>
                  <a:schemeClr val="accent6">
                    <a:lumMod val="60000"/>
                    <a:lumOff val="40000"/>
                  </a:schemeClr>
                </a:solidFill>
              </a:rPr>
              <a:t>Let us try to derive this equation to understand it better.</a:t>
            </a:r>
          </a:p>
          <a:p>
            <a:r>
              <a:rPr lang="en-US" sz="2400" b="1" dirty="0">
                <a:solidFill>
                  <a:schemeClr val="accent6">
                    <a:lumMod val="60000"/>
                    <a:lumOff val="40000"/>
                  </a:schemeClr>
                </a:solidFill>
              </a:rPr>
              <a:t>Binary Cross-Entropy Loss</a:t>
            </a:r>
          </a:p>
          <a:p>
            <a:r>
              <a:rPr lang="en-US" sz="2400" dirty="0">
                <a:solidFill>
                  <a:schemeClr val="accent6">
                    <a:lumMod val="60000"/>
                    <a:lumOff val="40000"/>
                  </a:schemeClr>
                </a:solidFill>
              </a:rPr>
              <a:t>Both the generator and the discriminator use the binary cross-entropy loss to train the models. In general, binary cross entropy loss can be written as:</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47606" y="1891145"/>
            <a:ext cx="3059860" cy="473413"/>
          </a:xfr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606" y="2459736"/>
            <a:ext cx="4097477" cy="4242453"/>
          </a:xfrm>
          <a:prstGeom prst="rect">
            <a:avLst/>
          </a:prstGeom>
        </p:spPr>
      </p:pic>
    </p:spTree>
    <p:extLst>
      <p:ext uri="{BB962C8B-B14F-4D97-AF65-F5344CB8AC3E}">
        <p14:creationId xmlns:p14="http://schemas.microsoft.com/office/powerpoint/2010/main" val="319607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801" y="598607"/>
            <a:ext cx="4902654" cy="2646379"/>
          </a:xfrm>
          <a:prstGeom prst="rect">
            <a:avLst/>
          </a:prstGeom>
        </p:spPr>
      </p:pic>
      <p:sp>
        <p:nvSpPr>
          <p:cNvPr id="5" name="TextBox 4"/>
          <p:cNvSpPr txBox="1"/>
          <p:nvPr/>
        </p:nvSpPr>
        <p:spPr>
          <a:xfrm>
            <a:off x="374072" y="69270"/>
            <a:ext cx="2207977" cy="461665"/>
          </a:xfrm>
          <a:prstGeom prst="rect">
            <a:avLst/>
          </a:prstGeom>
          <a:noFill/>
        </p:spPr>
        <p:txBody>
          <a:bodyPr wrap="none" rtlCol="0">
            <a:spAutoFit/>
          </a:bodyPr>
          <a:lstStyle/>
          <a:p>
            <a:r>
              <a:rPr lang="en-US" sz="2400" dirty="0">
                <a:solidFill>
                  <a:schemeClr val="accent6">
                    <a:lumMod val="60000"/>
                    <a:lumOff val="40000"/>
                  </a:schemeClr>
                </a:solidFill>
              </a:rPr>
              <a:t>Math of GAN p3</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873" y="3437450"/>
            <a:ext cx="5376130" cy="3237670"/>
          </a:xfrm>
          <a:prstGeom prst="rect">
            <a:avLst/>
          </a:prstGeom>
        </p:spPr>
      </p:pic>
    </p:spTree>
    <p:extLst>
      <p:ext uri="{BB962C8B-B14F-4D97-AF65-F5344CB8AC3E}">
        <p14:creationId xmlns:p14="http://schemas.microsoft.com/office/powerpoint/2010/main" val="3533710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909" y="166252"/>
            <a:ext cx="2207977" cy="461665"/>
          </a:xfrm>
          <a:prstGeom prst="rect">
            <a:avLst/>
          </a:prstGeom>
          <a:noFill/>
        </p:spPr>
        <p:txBody>
          <a:bodyPr wrap="none" rtlCol="0">
            <a:spAutoFit/>
          </a:bodyPr>
          <a:lstStyle/>
          <a:p>
            <a:r>
              <a:rPr lang="en-US" sz="2400" dirty="0">
                <a:solidFill>
                  <a:schemeClr val="accent6">
                    <a:lumMod val="60000"/>
                    <a:lumOff val="40000"/>
                  </a:schemeClr>
                </a:solidFill>
              </a:rPr>
              <a:t>Math of GAN p4</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528" y="870291"/>
            <a:ext cx="5182323" cy="5477639"/>
          </a:xfrm>
          <a:prstGeom prst="rect">
            <a:avLst/>
          </a:prstGeom>
        </p:spPr>
      </p:pic>
    </p:spTree>
    <p:extLst>
      <p:ext uri="{BB962C8B-B14F-4D97-AF65-F5344CB8AC3E}">
        <p14:creationId xmlns:p14="http://schemas.microsoft.com/office/powerpoint/2010/main" val="4162169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554D21-DFDC-0B4B-F9A2-FD58A3B90A10}"/>
              </a:ext>
            </a:extLst>
          </p:cNvPr>
          <p:cNvSpPr txBox="1"/>
          <p:nvPr/>
        </p:nvSpPr>
        <p:spPr>
          <a:xfrm>
            <a:off x="82296" y="453378"/>
            <a:ext cx="11106912" cy="6001643"/>
          </a:xfrm>
          <a:prstGeom prst="rect">
            <a:avLst/>
          </a:prstGeom>
          <a:noFill/>
        </p:spPr>
        <p:txBody>
          <a:bodyPr wrap="square">
            <a:spAutoFit/>
          </a:bodyPr>
          <a:lstStyle/>
          <a:p>
            <a:r>
              <a:rPr lang="en-US" sz="2400" dirty="0">
                <a:solidFill>
                  <a:schemeClr val="accent6">
                    <a:lumMod val="60000"/>
                    <a:lumOff val="40000"/>
                  </a:schemeClr>
                </a:solidFill>
              </a:rPr>
              <a:t>Limitations of GAN</a:t>
            </a:r>
            <a:endParaRPr lang="en-US" sz="2400" b="1" i="1" dirty="0">
              <a:solidFill>
                <a:schemeClr val="accent6">
                  <a:lumMod val="60000"/>
                  <a:lumOff val="40000"/>
                </a:schemeClr>
              </a:solidFill>
            </a:endParaRPr>
          </a:p>
          <a:p>
            <a:pPr marL="0" indent="0">
              <a:buNone/>
            </a:pPr>
            <a:r>
              <a:rPr lang="en-US" sz="2400" b="1" i="1" dirty="0">
                <a:solidFill>
                  <a:schemeClr val="accent6">
                    <a:lumMod val="60000"/>
                    <a:lumOff val="40000"/>
                  </a:schemeClr>
                </a:solidFill>
              </a:rPr>
              <a:t>1. Mode collapse</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This is a state where the model </a:t>
            </a:r>
            <a:r>
              <a:rPr lang="en-US" sz="2400" b="1" dirty="0">
                <a:solidFill>
                  <a:schemeClr val="accent6">
                    <a:lumMod val="60000"/>
                    <a:lumOff val="40000"/>
                  </a:schemeClr>
                </a:solidFill>
              </a:rPr>
              <a:t>Generator G</a:t>
            </a:r>
            <a:r>
              <a:rPr lang="en-US" sz="2400" dirty="0">
                <a:solidFill>
                  <a:schemeClr val="accent6">
                    <a:lumMod val="60000"/>
                    <a:lumOff val="40000"/>
                  </a:schemeClr>
                </a:solidFill>
              </a:rPr>
              <a:t> gets stuck at a point with producing limited varieties of samples or one sample repeatedly during or after training the GAN.</a:t>
            </a:r>
          </a:p>
          <a:p>
            <a:pPr marL="0" indent="0">
              <a:buNone/>
            </a:pPr>
            <a:r>
              <a:rPr lang="en-US" sz="2400" dirty="0">
                <a:solidFill>
                  <a:schemeClr val="accent6">
                    <a:lumMod val="60000"/>
                    <a:lumOff val="40000"/>
                  </a:schemeClr>
                </a:solidFill>
              </a:rPr>
              <a:t>During the GAN training when the discriminator is not really forcing more diversity in the generator G, the generator fails to learn the representation of the complex real-word data.</a:t>
            </a:r>
          </a:p>
          <a:p>
            <a:pPr marL="0" indent="0">
              <a:buNone/>
            </a:pPr>
            <a:endParaRPr lang="en-US" sz="2400" i="1" dirty="0">
              <a:solidFill>
                <a:schemeClr val="accent6">
                  <a:lumMod val="60000"/>
                  <a:lumOff val="40000"/>
                </a:schemeClr>
              </a:solidFill>
            </a:endParaRPr>
          </a:p>
          <a:p>
            <a:pPr marL="0" indent="0">
              <a:buNone/>
            </a:pPr>
            <a:r>
              <a:rPr lang="en-US" sz="2400" i="1" dirty="0">
                <a:solidFill>
                  <a:schemeClr val="accent6">
                    <a:lumMod val="60000"/>
                    <a:lumOff val="40000"/>
                  </a:schemeClr>
                </a:solidFill>
              </a:rPr>
              <a:t>Remember the generator ‘s goal is to trick the discriminator D into thinking that the outputs by G are real,</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if generator G produces one sample which is realistic to the original data, then the discriminator finds it hard to distinguish between them.</a:t>
            </a:r>
          </a:p>
          <a:p>
            <a:pPr marL="0" indent="0">
              <a:buNone/>
            </a:pPr>
            <a:r>
              <a:rPr lang="en-US" sz="2400" dirty="0">
                <a:solidFill>
                  <a:schemeClr val="accent6">
                    <a:lumMod val="60000"/>
                    <a:lumOff val="40000"/>
                  </a:schemeClr>
                </a:solidFill>
              </a:rPr>
              <a:t>At this time the generator G keeps on producing the same image over and over This leads to “</a:t>
            </a:r>
            <a:r>
              <a:rPr lang="en-US" sz="2400" b="1" dirty="0">
                <a:solidFill>
                  <a:schemeClr val="accent6">
                    <a:lumMod val="60000"/>
                    <a:lumOff val="40000"/>
                  </a:schemeClr>
                </a:solidFill>
              </a:rPr>
              <a:t>Complete mode collapse</a:t>
            </a:r>
            <a:r>
              <a:rPr lang="en-US" sz="2400" dirty="0">
                <a:solidFill>
                  <a:schemeClr val="accent6">
                    <a:lumMod val="60000"/>
                    <a:lumOff val="40000"/>
                  </a:schemeClr>
                </a:solidFill>
              </a:rPr>
              <a:t>”.</a:t>
            </a:r>
          </a:p>
          <a:p>
            <a:pPr marL="0" indent="0">
              <a:buNone/>
            </a:pPr>
            <a:r>
              <a:rPr lang="en-US" sz="2400" dirty="0">
                <a:solidFill>
                  <a:schemeClr val="accent6">
                    <a:lumMod val="60000"/>
                    <a:lumOff val="40000"/>
                  </a:schemeClr>
                </a:solidFill>
              </a:rPr>
              <a:t>if the generator G learns very few properties and produces few varieties of samples then that is “</a:t>
            </a:r>
            <a:r>
              <a:rPr lang="en-US" sz="2400" b="1" dirty="0">
                <a:solidFill>
                  <a:schemeClr val="accent6">
                    <a:lumMod val="60000"/>
                    <a:lumOff val="40000"/>
                  </a:schemeClr>
                </a:solidFill>
              </a:rPr>
              <a:t>Partial mode collapse</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55985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5D34CC-AF5E-E2BC-C868-0973D4F9ACD7}"/>
              </a:ext>
            </a:extLst>
          </p:cNvPr>
          <p:cNvSpPr txBox="1"/>
          <p:nvPr/>
        </p:nvSpPr>
        <p:spPr>
          <a:xfrm>
            <a:off x="960120" y="2551837"/>
            <a:ext cx="11045952" cy="830997"/>
          </a:xfrm>
          <a:prstGeom prst="rect">
            <a:avLst/>
          </a:prstGeom>
          <a:noFill/>
        </p:spPr>
        <p:txBody>
          <a:bodyPr wrap="square">
            <a:spAutoFit/>
          </a:bodyPr>
          <a:lstStyle/>
          <a:p>
            <a:pPr marL="0" indent="0">
              <a:buNone/>
            </a:pPr>
            <a:r>
              <a:rPr lang="en-US" sz="2400" dirty="0">
                <a:solidFill>
                  <a:schemeClr val="accent6">
                    <a:lumMod val="60000"/>
                    <a:lumOff val="40000"/>
                  </a:schemeClr>
                </a:solidFill>
              </a:rPr>
              <a:t>2. </a:t>
            </a:r>
            <a:r>
              <a:rPr lang="en-US" sz="2400" b="1" dirty="0">
                <a:solidFill>
                  <a:schemeClr val="accent6">
                    <a:lumMod val="60000"/>
                    <a:lumOff val="40000"/>
                  </a:schemeClr>
                </a:solidFill>
              </a:rPr>
              <a:t>Failure to converge</a:t>
            </a:r>
            <a:r>
              <a:rPr lang="en-US" sz="2400" dirty="0">
                <a:solidFill>
                  <a:schemeClr val="accent6">
                    <a:lumMod val="60000"/>
                    <a:lumOff val="40000"/>
                  </a:schemeClr>
                </a:solidFill>
              </a:rPr>
              <a:t> due to which the discriminator feedback can get less meaningful to the generator thus impacting its quality</a:t>
            </a:r>
          </a:p>
        </p:txBody>
      </p:sp>
    </p:spTree>
    <p:extLst>
      <p:ext uri="{BB962C8B-B14F-4D97-AF65-F5344CB8AC3E}">
        <p14:creationId xmlns:p14="http://schemas.microsoft.com/office/powerpoint/2010/main" val="77256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the implementations of GAN here</a:t>
            </a:r>
          </a:p>
        </p:txBody>
      </p:sp>
      <p:sp>
        <p:nvSpPr>
          <p:cNvPr id="3" name="Content Placeholder 2"/>
          <p:cNvSpPr>
            <a:spLocks noGrp="1"/>
          </p:cNvSpPr>
          <p:nvPr>
            <p:ph idx="1"/>
          </p:nvPr>
        </p:nvSpPr>
        <p:spPr/>
        <p:txBody>
          <a:bodyPr>
            <a:normAutofit lnSpcReduction="10000"/>
          </a:bodyPr>
          <a:lstStyle/>
          <a:p>
            <a:r>
              <a:rPr lang="en-US" dirty="0"/>
              <a:t>Use </a:t>
            </a:r>
            <a:r>
              <a:rPr lang="en-US" dirty="0">
                <a:hlinkClick r:id="rId2"/>
              </a:rPr>
              <a:t>https://www.analyticsvidhya.com/blog/2021/06/a-detailed-explanation-of-gan-with-implementation-using-tensorflow-and-keras/</a:t>
            </a:r>
            <a:endParaRPr lang="en-US" dirty="0"/>
          </a:p>
          <a:p>
            <a:r>
              <a:rPr lang="en-US" dirty="0">
                <a:hlinkClick r:id="rId3"/>
              </a:rPr>
              <a:t>https://www.datacamp.com/tutorial/generative-adversarial-networks</a:t>
            </a:r>
            <a:endParaRPr lang="en-US" dirty="0"/>
          </a:p>
          <a:p>
            <a:r>
              <a:rPr lang="en-US" dirty="0">
                <a:hlinkClick r:id="rId4"/>
              </a:rPr>
              <a:t>https://www.digitalocean.com/community/tutorials/implementing-gans-in-tensorflow</a:t>
            </a:r>
            <a:endParaRPr lang="en-US" dirty="0"/>
          </a:p>
          <a:p>
            <a:r>
              <a:rPr lang="en-US" dirty="0">
                <a:hlinkClick r:id="rId5"/>
              </a:rPr>
              <a:t>https://realpython.com/generative-adversarial-networks/</a:t>
            </a:r>
            <a:endParaRPr lang="en-US" dirty="0"/>
          </a:p>
          <a:p>
            <a:r>
              <a:rPr lang="en-US" dirty="0">
                <a:hlinkClick r:id="rId6"/>
              </a:rPr>
              <a:t>https://www.w3computing.com/articles/implementing-gans-generative-adversarial-networks-from-scratch/</a:t>
            </a:r>
            <a:endParaRPr lang="en-US" dirty="0"/>
          </a:p>
          <a:p>
            <a:r>
              <a:rPr lang="en-US" dirty="0"/>
              <a:t>https://www.digitalocean.com/community/tutorials/implementing-gans-in-tensorflow#visualizing-samples-during-training</a:t>
            </a:r>
          </a:p>
        </p:txBody>
      </p:sp>
    </p:spTree>
    <p:extLst>
      <p:ext uri="{BB962C8B-B14F-4D97-AF65-F5344CB8AC3E}">
        <p14:creationId xmlns:p14="http://schemas.microsoft.com/office/powerpoint/2010/main" val="319635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0016" y="3429000"/>
            <a:ext cx="7024136" cy="3114776"/>
          </a:xfrm>
          <a:prstGeom prst="rect">
            <a:avLst/>
          </a:prstGeom>
        </p:spPr>
      </p:pic>
    </p:spTree>
    <p:extLst>
      <p:ext uri="{BB962C8B-B14F-4D97-AF65-F5344CB8AC3E}">
        <p14:creationId xmlns:p14="http://schemas.microsoft.com/office/powerpoint/2010/main" val="4221193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1254</TotalTime>
  <Words>2155</Words>
  <Application>Microsoft Office PowerPoint</Application>
  <PresentationFormat>Widescreen</PresentationFormat>
  <Paragraphs>315</Paragraphs>
  <Slides>32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 of GAN p2</vt:lpstr>
      <vt:lpstr>PowerPoint Presentation</vt:lpstr>
      <vt:lpstr>PowerPoint Presentation</vt:lpstr>
      <vt:lpstr>PowerPoint Presentation</vt:lpstr>
      <vt:lpstr>PowerPoint Presentation</vt:lpstr>
      <vt:lpstr>Add the implementations of GAN here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208</cp:revision>
  <dcterms:created xsi:type="dcterms:W3CDTF">2025-09-22T02:44:38Z</dcterms:created>
  <dcterms:modified xsi:type="dcterms:W3CDTF">2026-09-24T18:38:58Z</dcterms:modified>
</cp:coreProperties>
</file>