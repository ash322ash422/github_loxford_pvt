
<file path=[Content_Types].xml><?xml version="1.0" encoding="utf-8"?>
<Types xmlns="http://schemas.openxmlformats.org/package/2006/content-types">
  <Default Extension="jpeg" ContentType="image/jpeg"/>
  <Default Extension="jpg" ContentType="image/jpeg"/>
  <Default Extension="mid" ContentType="audio/mid"/>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6" r:id="rId3"/>
    <p:sldId id="327" r:id="rId4"/>
    <p:sldId id="328" r:id="rId5"/>
    <p:sldId id="329" r:id="rId6"/>
    <p:sldId id="330" r:id="rId7"/>
    <p:sldId id="331" r:id="rId8"/>
    <p:sldId id="332" r:id="rId9"/>
    <p:sldId id="333" r:id="rId10"/>
    <p:sldId id="334" r:id="rId11"/>
    <p:sldId id="335" r:id="rId12"/>
    <p:sldId id="336" r:id="rId13"/>
    <p:sldId id="337" r:id="rId14"/>
    <p:sldId id="339" r:id="rId15"/>
    <p:sldId id="340" r:id="rId16"/>
    <p:sldId id="295" r:id="rId17"/>
    <p:sldId id="296" r:id="rId18"/>
    <p:sldId id="322" r:id="rId19"/>
    <p:sldId id="297" r:id="rId20"/>
    <p:sldId id="298" r:id="rId21"/>
    <p:sldId id="291" r:id="rId22"/>
    <p:sldId id="292" r:id="rId23"/>
    <p:sldId id="267" r:id="rId24"/>
    <p:sldId id="260" r:id="rId25"/>
    <p:sldId id="29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13T04:42:49.759"/>
    </inkml:context>
    <inkml:brush xml:id="br0">
      <inkml:brushProperty name="width" value="0.2" units="cm"/>
      <inkml:brushProperty name="height" value="0.2" units="cm"/>
    </inkml:brush>
  </inkml:definitions>
  <inkml:trace contextRef="#ctx0" brushRef="#br0">38 47 11361 0 0,'0'0'3122'0'0,"-34"-8"-8836"0"0,31 4 4890 0 0,3 3 706 0 0,0 1 1 0 0,0-1-1 0 0,0 0 0 0 0,-1 1 0 0 0,1-1 1 0 0,0 1-1 0 0,0-1 0 0 0,0 0 1 0 0,0 1-1 0 0,0-1 0 0 0,0 0 0 0 0,0 1 1 0 0,1-1-1 0 0,-1 0 0 0 0,0 1 0 0 0,0-1 1 0 0,0 1-1 0 0,1-1 0 0 0,-1 0 0 0 0,0 1 1 0 0,0-1-1 0 0,3-2-589 0 0,8-15-2085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08:32:44.140"/>
    </inkml:context>
    <inkml:brush xml:id="br0">
      <inkml:brushProperty name="width" value="0.2" units="cm"/>
      <inkml:brushProperty name="height" value="0.2" units="cm"/>
      <inkml:brushProperty name="color" value="#66CC00"/>
    </inkml:brush>
  </inkml:definitions>
  <inkml:trace contextRef="#ctx0" brushRef="#br0">3427 224 24575,'-1'-1'0,"0"0"0,0 0 0,0 0 0,0 0 0,0 1 0,0-1 0,0 0 0,-1 1 0,1-1 0,0 1 0,0-1 0,0 1 0,-1 0 0,1-1 0,0 1 0,0 0 0,-1 0 0,1 0 0,0 0 0,-3 0 0,-1 0 0,-858-87 0,-17-20 0,677 91 0,-250 13 0,212 6 0,221-2 0,0 1 0,0 1 0,0 1 0,1 0 0,-1 2 0,1 0 0,-35 17 0,6 2 0,-77 53 0,76-45 0,1 3 0,1 2 0,-41 44 0,72-65 0,2-1 0,0 2 0,1 0 0,1 1 0,1 0 0,0 0 0,1 2 0,2-1 0,0 1 0,1 0 0,-6 31 0,2 35 0,5 1 0,3-1 0,10 106 0,-6-181 0,1 1 0,0 0 0,0-1 0,1 1 0,1-1 0,0 0 0,1 0 0,0 0 0,1-1 0,0 0 0,0 0 0,11 12 0,-6-10 0,1 0 0,1 0 0,0-1 0,1-1 0,0 0 0,1-1 0,0-1 0,20 10 0,64 23 0,1-5 0,188 45 0,-186-56 0,174 25 0,-82-19 0,246 46 0,-281-53 0,199 23 0,266-21 0,3611-29 0,-2186 3 0,-1802-12 0,251-44 0,-496 54 0,553-88 0,-493 73 0,64-24 0,24-8 0,-25 9 0,-2-6 0,147-75 0,-76 31 0,-67 36 0,-38 18 0,-2-4 0,-1-4 0,96-64 0,-173 101 0,0-1 0,-1 0 0,0 0 0,0 0 0,-1-1 0,0-1 0,0 1 0,-1-1 0,0 0 0,-1-1 0,5-10 0,-5 6 0,-1-1 0,0 1 0,-1-1 0,0 0 0,-1 0 0,-1 0 0,-1-20 0,0 28 0,0-2 0,0 0 0,0-1 0,-1 1 0,0 0 0,-5-16 0,5 23 0,0-1 0,0 0 0,0 1 0,-1-1 0,1 1 0,-1 0 0,0-1 0,0 1 0,0 0 0,0 0 0,0 0 0,0 0 0,-1 1 0,1-1 0,-1 1 0,1-1 0,-1 1 0,1 0 0,-1 0 0,0 0 0,1 0 0,-7-1 0,-314-52 0,30 1 0,222 42 0,-86-2 0,82 9 0,-75-15 0,-194-34 0,-22-3 0,-89-14 0,133 25 0,-572-64 0,646 86 0,-169-6 0,-3229 31 0,3453 14 0,129-8 0,30-2 0,1 1 0,-1 2 0,-46 18 0,54-16 0,-1-2 0,0-1 0,0 0 0,-1-3 0,-56 6 0,24-8 0,1 3 0,-109 26 0,143-25-1365</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318F-F6FC-6CB9-CEC6-8B2C0F5EE2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8D7EB-E762-144D-1496-746833136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756C53-114C-E36A-EC7E-AEE4C2084ABF}"/>
              </a:ext>
            </a:extLst>
          </p:cNvPr>
          <p:cNvSpPr>
            <a:spLocks noGrp="1"/>
          </p:cNvSpPr>
          <p:nvPr>
            <p:ph type="dt" sz="half" idx="10"/>
          </p:nvPr>
        </p:nvSpPr>
        <p:spPr/>
        <p:txBody>
          <a:bodyPr/>
          <a:lstStyle/>
          <a:p>
            <a:fld id="{6EBA79C2-4FE3-4D0C-AFFB-D4FCE050D5EA}" type="datetimeFigureOut">
              <a:rPr lang="en-IN" smtClean="0"/>
              <a:t>25-09-2026</a:t>
            </a:fld>
            <a:endParaRPr lang="en-IN"/>
          </a:p>
        </p:txBody>
      </p:sp>
      <p:sp>
        <p:nvSpPr>
          <p:cNvPr id="5" name="Footer Placeholder 4">
            <a:extLst>
              <a:ext uri="{FF2B5EF4-FFF2-40B4-BE49-F238E27FC236}">
                <a16:creationId xmlns:a16="http://schemas.microsoft.com/office/drawing/2014/main" id="{D76CC798-66E8-807B-3021-DC717C7AB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AA2714-B223-D201-168E-C22AD16013D1}"/>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B14F047B-8F92-089C-65A3-54359B3F76C4}"/>
              </a:ext>
            </a:extLst>
          </p:cNvPr>
          <p:cNvPicPr>
            <a:picLocks noChangeAspect="1"/>
          </p:cNvPicPr>
          <p:nvPr userDrawn="1"/>
        </p:nvPicPr>
        <p:blipFill>
          <a:blip r:embed="rId2">
            <a:alphaModFix amt="68000"/>
            <a:extLst>
              <a:ext uri="{28A0092B-C50C-407E-A947-70E740481C1C}">
                <a14:useLocalDpi xmlns:a14="http://schemas.microsoft.com/office/drawing/2010/main" val="0"/>
              </a:ext>
            </a:extLst>
          </a:blip>
          <a:stretch>
            <a:fillRect/>
          </a:stretch>
        </p:blipFill>
        <p:spPr>
          <a:xfrm>
            <a:off x="10823275" y="63142"/>
            <a:ext cx="1295581" cy="924054"/>
          </a:xfrm>
          <a:prstGeom prst="rect">
            <a:avLst/>
          </a:prstGeom>
        </p:spPr>
      </p:pic>
    </p:spTree>
    <p:extLst>
      <p:ext uri="{BB962C8B-B14F-4D97-AF65-F5344CB8AC3E}">
        <p14:creationId xmlns:p14="http://schemas.microsoft.com/office/powerpoint/2010/main" val="48068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CE76-A752-DB86-6111-A724232D26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D6FD18-B58E-8C68-26E2-D91631986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7B759C-A1DF-256A-A624-6AB43BC663E0}"/>
              </a:ext>
            </a:extLst>
          </p:cNvPr>
          <p:cNvSpPr>
            <a:spLocks noGrp="1"/>
          </p:cNvSpPr>
          <p:nvPr>
            <p:ph type="dt" sz="half" idx="10"/>
          </p:nvPr>
        </p:nvSpPr>
        <p:spPr/>
        <p:txBody>
          <a:bodyPr/>
          <a:lstStyle/>
          <a:p>
            <a:fld id="{6EBA79C2-4FE3-4D0C-AFFB-D4FCE050D5EA}" type="datetimeFigureOut">
              <a:rPr lang="en-IN" smtClean="0"/>
              <a:t>25-09-2026</a:t>
            </a:fld>
            <a:endParaRPr lang="en-IN"/>
          </a:p>
        </p:txBody>
      </p:sp>
      <p:sp>
        <p:nvSpPr>
          <p:cNvPr id="5" name="Footer Placeholder 4">
            <a:extLst>
              <a:ext uri="{FF2B5EF4-FFF2-40B4-BE49-F238E27FC236}">
                <a16:creationId xmlns:a16="http://schemas.microsoft.com/office/drawing/2014/main" id="{EB71A0AA-5283-1539-E76D-C2704EDF6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12E95-A93E-CFE8-0044-F1F7486E085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690746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7E88-1D0E-B19B-1F3F-54DF859CE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CE41C0-D975-5322-05EF-B6920E580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7B167-1E87-B93B-75F5-B33217202FE7}"/>
              </a:ext>
            </a:extLst>
          </p:cNvPr>
          <p:cNvSpPr>
            <a:spLocks noGrp="1"/>
          </p:cNvSpPr>
          <p:nvPr>
            <p:ph type="dt" sz="half" idx="10"/>
          </p:nvPr>
        </p:nvSpPr>
        <p:spPr/>
        <p:txBody>
          <a:bodyPr/>
          <a:lstStyle/>
          <a:p>
            <a:fld id="{6EBA79C2-4FE3-4D0C-AFFB-D4FCE050D5EA}" type="datetimeFigureOut">
              <a:rPr lang="en-IN" smtClean="0"/>
              <a:t>25-09-2026</a:t>
            </a:fld>
            <a:endParaRPr lang="en-IN"/>
          </a:p>
        </p:txBody>
      </p:sp>
      <p:sp>
        <p:nvSpPr>
          <p:cNvPr id="5" name="Footer Placeholder 4">
            <a:extLst>
              <a:ext uri="{FF2B5EF4-FFF2-40B4-BE49-F238E27FC236}">
                <a16:creationId xmlns:a16="http://schemas.microsoft.com/office/drawing/2014/main" id="{6225C962-1ABF-F876-C7DD-10E729E42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F7B4D-DA1F-E875-52B5-31F353F49234}"/>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128179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9F20-A52E-A2BE-2A7C-6344D89003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9F42D-CDDF-9B84-6F33-25E956F2D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E0A4D-E831-6562-11B2-108204244C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F4BEA-6EB0-7F6F-4BFA-B7DACF40DEA9}"/>
              </a:ext>
            </a:extLst>
          </p:cNvPr>
          <p:cNvSpPr>
            <a:spLocks noGrp="1"/>
          </p:cNvSpPr>
          <p:nvPr>
            <p:ph type="dt" sz="half" idx="10"/>
          </p:nvPr>
        </p:nvSpPr>
        <p:spPr/>
        <p:txBody>
          <a:bodyPr/>
          <a:lstStyle/>
          <a:p>
            <a:fld id="{6EBA79C2-4FE3-4D0C-AFFB-D4FCE050D5EA}" type="datetimeFigureOut">
              <a:rPr lang="en-IN" smtClean="0"/>
              <a:t>25-09-2026</a:t>
            </a:fld>
            <a:endParaRPr lang="en-IN"/>
          </a:p>
        </p:txBody>
      </p:sp>
      <p:sp>
        <p:nvSpPr>
          <p:cNvPr id="6" name="Footer Placeholder 5">
            <a:extLst>
              <a:ext uri="{FF2B5EF4-FFF2-40B4-BE49-F238E27FC236}">
                <a16:creationId xmlns:a16="http://schemas.microsoft.com/office/drawing/2014/main" id="{9852B4B5-D542-513B-5FBA-7C8418FD6E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B6383-F1CA-D4A5-9876-F4662B6051B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276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9337-2FE3-561C-F11A-2CFAC3C888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BCE1B6-2296-C3DE-5C27-E4057DFF6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2FC1E-2D6D-269A-6807-421A1A9C42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1AD048-C515-130C-8F41-1BA8F4189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D4A7E-CE1F-A02A-B92A-059B1FBCF3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F77709-049A-79A2-F207-FBDA0CAA4E0A}"/>
              </a:ext>
            </a:extLst>
          </p:cNvPr>
          <p:cNvSpPr>
            <a:spLocks noGrp="1"/>
          </p:cNvSpPr>
          <p:nvPr>
            <p:ph type="dt" sz="half" idx="10"/>
          </p:nvPr>
        </p:nvSpPr>
        <p:spPr/>
        <p:txBody>
          <a:bodyPr/>
          <a:lstStyle/>
          <a:p>
            <a:fld id="{6EBA79C2-4FE3-4D0C-AFFB-D4FCE050D5EA}" type="datetimeFigureOut">
              <a:rPr lang="en-IN" smtClean="0"/>
              <a:t>25-09-2026</a:t>
            </a:fld>
            <a:endParaRPr lang="en-IN"/>
          </a:p>
        </p:txBody>
      </p:sp>
      <p:sp>
        <p:nvSpPr>
          <p:cNvPr id="8" name="Footer Placeholder 7">
            <a:extLst>
              <a:ext uri="{FF2B5EF4-FFF2-40B4-BE49-F238E27FC236}">
                <a16:creationId xmlns:a16="http://schemas.microsoft.com/office/drawing/2014/main" id="{59DE0EB3-83C0-67E2-5DB9-42DE8540F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C97AB3-472A-1E13-8460-CE1D861DB6C2}"/>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4386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5904-8D4D-4CA9-51B3-289632997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398302-AD6F-2CE6-7442-A4A9683D9718}"/>
              </a:ext>
            </a:extLst>
          </p:cNvPr>
          <p:cNvSpPr>
            <a:spLocks noGrp="1"/>
          </p:cNvSpPr>
          <p:nvPr>
            <p:ph type="dt" sz="half" idx="10"/>
          </p:nvPr>
        </p:nvSpPr>
        <p:spPr/>
        <p:txBody>
          <a:bodyPr/>
          <a:lstStyle/>
          <a:p>
            <a:fld id="{6EBA79C2-4FE3-4D0C-AFFB-D4FCE050D5EA}" type="datetimeFigureOut">
              <a:rPr lang="en-IN" smtClean="0"/>
              <a:t>25-09-2026</a:t>
            </a:fld>
            <a:endParaRPr lang="en-IN"/>
          </a:p>
        </p:txBody>
      </p:sp>
      <p:sp>
        <p:nvSpPr>
          <p:cNvPr id="4" name="Footer Placeholder 3">
            <a:extLst>
              <a:ext uri="{FF2B5EF4-FFF2-40B4-BE49-F238E27FC236}">
                <a16:creationId xmlns:a16="http://schemas.microsoft.com/office/drawing/2014/main" id="{15391825-01DE-3CBB-BB33-763481B92D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5401A-71EA-0313-9EA1-4DC2DB3F758C}"/>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38944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418529-294A-5688-70AC-D6FBB2669691}"/>
              </a:ext>
            </a:extLst>
          </p:cNvPr>
          <p:cNvSpPr>
            <a:spLocks noGrp="1"/>
          </p:cNvSpPr>
          <p:nvPr>
            <p:ph type="dt" sz="half" idx="10"/>
          </p:nvPr>
        </p:nvSpPr>
        <p:spPr/>
        <p:txBody>
          <a:bodyPr/>
          <a:lstStyle/>
          <a:p>
            <a:fld id="{6EBA79C2-4FE3-4D0C-AFFB-D4FCE050D5EA}" type="datetimeFigureOut">
              <a:rPr lang="en-IN" smtClean="0"/>
              <a:t>25-09-2026</a:t>
            </a:fld>
            <a:endParaRPr lang="en-IN"/>
          </a:p>
        </p:txBody>
      </p:sp>
      <p:sp>
        <p:nvSpPr>
          <p:cNvPr id="3" name="Footer Placeholder 2">
            <a:extLst>
              <a:ext uri="{FF2B5EF4-FFF2-40B4-BE49-F238E27FC236}">
                <a16:creationId xmlns:a16="http://schemas.microsoft.com/office/drawing/2014/main" id="{774AA024-38B7-5F32-1894-BCE21AADFC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6C172C-4B71-8ABE-DD86-85DD12827B5A}"/>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82616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B6CF-2A94-DBDD-0D5B-BC12FF322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B7D8E-A4B1-A435-346C-19A718C71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C91E7-453A-3F92-E638-C33792465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C4555-70D3-F8F8-D355-E9BBC9EE67F8}"/>
              </a:ext>
            </a:extLst>
          </p:cNvPr>
          <p:cNvSpPr>
            <a:spLocks noGrp="1"/>
          </p:cNvSpPr>
          <p:nvPr>
            <p:ph type="dt" sz="half" idx="10"/>
          </p:nvPr>
        </p:nvSpPr>
        <p:spPr/>
        <p:txBody>
          <a:bodyPr/>
          <a:lstStyle/>
          <a:p>
            <a:fld id="{6EBA79C2-4FE3-4D0C-AFFB-D4FCE050D5EA}" type="datetimeFigureOut">
              <a:rPr lang="en-IN" smtClean="0"/>
              <a:t>25-09-2026</a:t>
            </a:fld>
            <a:endParaRPr lang="en-IN"/>
          </a:p>
        </p:txBody>
      </p:sp>
      <p:sp>
        <p:nvSpPr>
          <p:cNvPr id="6" name="Footer Placeholder 5">
            <a:extLst>
              <a:ext uri="{FF2B5EF4-FFF2-40B4-BE49-F238E27FC236}">
                <a16:creationId xmlns:a16="http://schemas.microsoft.com/office/drawing/2014/main" id="{55FE752C-45A1-07D0-4240-44893A0DB9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DD99C-C480-C729-0ECD-BEDE124E840E}"/>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78009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D6FA-24BB-7D09-4CC6-34096CAB0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60CEAA-CE7A-1BBF-BDA9-B387E6B8B16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19DD54-A44F-A8AE-D4E9-3EB63270C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6B6FD-902D-C3AC-D0C4-9E348A977E8B}"/>
              </a:ext>
            </a:extLst>
          </p:cNvPr>
          <p:cNvSpPr>
            <a:spLocks noGrp="1"/>
          </p:cNvSpPr>
          <p:nvPr>
            <p:ph type="dt" sz="half" idx="10"/>
          </p:nvPr>
        </p:nvSpPr>
        <p:spPr/>
        <p:txBody>
          <a:bodyPr/>
          <a:lstStyle/>
          <a:p>
            <a:fld id="{6EBA79C2-4FE3-4D0C-AFFB-D4FCE050D5EA}" type="datetimeFigureOut">
              <a:rPr lang="en-IN" smtClean="0"/>
              <a:t>25-09-2026</a:t>
            </a:fld>
            <a:endParaRPr lang="en-IN"/>
          </a:p>
        </p:txBody>
      </p:sp>
      <p:sp>
        <p:nvSpPr>
          <p:cNvPr id="6" name="Footer Placeholder 5">
            <a:extLst>
              <a:ext uri="{FF2B5EF4-FFF2-40B4-BE49-F238E27FC236}">
                <a16:creationId xmlns:a16="http://schemas.microsoft.com/office/drawing/2014/main" id="{A0D6BDC1-316A-149B-EB15-04EF4D60E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C24CD2-3C56-F4F2-57FB-AA714E5021A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5027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211F-A80A-9BAC-AAEC-067CCDA5C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8AD45D-5A88-1664-D692-069F5C5D1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32EEB4-BA21-8613-2094-72EEFB7929B4}"/>
              </a:ext>
            </a:extLst>
          </p:cNvPr>
          <p:cNvSpPr>
            <a:spLocks noGrp="1"/>
          </p:cNvSpPr>
          <p:nvPr>
            <p:ph type="dt" sz="half" idx="10"/>
          </p:nvPr>
        </p:nvSpPr>
        <p:spPr/>
        <p:txBody>
          <a:bodyPr/>
          <a:lstStyle/>
          <a:p>
            <a:fld id="{6EBA79C2-4FE3-4D0C-AFFB-D4FCE050D5EA}" type="datetimeFigureOut">
              <a:rPr lang="en-IN" smtClean="0"/>
              <a:t>25-09-2026</a:t>
            </a:fld>
            <a:endParaRPr lang="en-IN"/>
          </a:p>
        </p:txBody>
      </p:sp>
      <p:sp>
        <p:nvSpPr>
          <p:cNvPr id="5" name="Footer Placeholder 4">
            <a:extLst>
              <a:ext uri="{FF2B5EF4-FFF2-40B4-BE49-F238E27FC236}">
                <a16:creationId xmlns:a16="http://schemas.microsoft.com/office/drawing/2014/main" id="{A9ECE1A2-6F93-B3CC-3837-CD60E48CF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5D015-61E2-E514-FC97-B282920D986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8298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873E00-8852-9872-6FBC-5371745539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02A146-0150-F26C-6A86-1CA1FD558A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77DF1-F7DE-4956-6F82-6161FC02210A}"/>
              </a:ext>
            </a:extLst>
          </p:cNvPr>
          <p:cNvSpPr>
            <a:spLocks noGrp="1"/>
          </p:cNvSpPr>
          <p:nvPr>
            <p:ph type="dt" sz="half" idx="10"/>
          </p:nvPr>
        </p:nvSpPr>
        <p:spPr/>
        <p:txBody>
          <a:bodyPr/>
          <a:lstStyle/>
          <a:p>
            <a:fld id="{6EBA79C2-4FE3-4D0C-AFFB-D4FCE050D5EA}" type="datetimeFigureOut">
              <a:rPr lang="en-IN" smtClean="0"/>
              <a:t>25-09-2026</a:t>
            </a:fld>
            <a:endParaRPr lang="en-IN"/>
          </a:p>
        </p:txBody>
      </p:sp>
      <p:sp>
        <p:nvSpPr>
          <p:cNvPr id="5" name="Footer Placeholder 4">
            <a:extLst>
              <a:ext uri="{FF2B5EF4-FFF2-40B4-BE49-F238E27FC236}">
                <a16:creationId xmlns:a16="http://schemas.microsoft.com/office/drawing/2014/main" id="{3637416A-6960-5BA0-E825-F9D0B514C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C46A03-0511-8AD1-FB2D-69E35F8F158D}"/>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67707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CC290-6B0D-273C-46F1-4BC12493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E82B2E-EDC9-AB14-8964-7BE30F8DB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85163-E247-487C-9AA7-8A7054D4A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A79C2-4FE3-4D0C-AFFB-D4FCE050D5EA}" type="datetimeFigureOut">
              <a:rPr lang="en-IN" smtClean="0"/>
              <a:t>25-09-2026</a:t>
            </a:fld>
            <a:endParaRPr lang="en-IN"/>
          </a:p>
        </p:txBody>
      </p:sp>
      <p:sp>
        <p:nvSpPr>
          <p:cNvPr id="5" name="Footer Placeholder 4">
            <a:extLst>
              <a:ext uri="{FF2B5EF4-FFF2-40B4-BE49-F238E27FC236}">
                <a16:creationId xmlns:a16="http://schemas.microsoft.com/office/drawing/2014/main" id="{85A01BDB-2D7B-79FC-D492-3CFF792A8A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C906FC-E273-8A6D-0868-0A5274678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A53CF-6AA3-4EF6-9F05-A0E3059C583D}" type="slidenum">
              <a:rPr lang="en-IN" smtClean="0"/>
              <a:t>‹#›</a:t>
            </a:fld>
            <a:endParaRPr lang="en-IN"/>
          </a:p>
        </p:txBody>
      </p:sp>
    </p:spTree>
    <p:extLst>
      <p:ext uri="{BB962C8B-B14F-4D97-AF65-F5344CB8AC3E}">
        <p14:creationId xmlns:p14="http://schemas.microsoft.com/office/powerpoint/2010/main" val="823822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customXml" Target="../ink/ink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id"/><Relationship Id="rId1" Type="http://schemas.microsoft.com/office/2007/relationships/media" Target="../media/media1.mid"/><Relationship Id="rId5" Type="http://schemas.openxmlformats.org/officeDocument/2006/relationships/image" Target="../media/image30.jp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hyperlink" Target="https://create.microsoft.com/en-us/features/ai-image-generator"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youtu.be/lfbImB0_rKY?si=L9MOOoNDNCUIFlzx" TargetMode="External"/><Relationship Id="rId2" Type="http://schemas.openxmlformats.org/officeDocument/2006/relationships/hyperlink" Target="https://youtu.be/w6S-lzWcQ8I?si=L899Cv66f1OjlDzu" TargetMode="External"/><Relationship Id="rId1" Type="http://schemas.openxmlformats.org/officeDocument/2006/relationships/slideLayout" Target="../slideLayouts/slideLayout2.xml"/><Relationship Id="rId6" Type="http://schemas.openxmlformats.org/officeDocument/2006/relationships/hyperlink" Target="https://youtu.be/JxkWMOEMu-Q?si=HAwdJkJKvrIjPE3T" TargetMode="External"/><Relationship Id="rId5" Type="http://schemas.openxmlformats.org/officeDocument/2006/relationships/hyperlink" Target="https://youtu.be/IQWUKWM2JrQ?si=r4X6yUSubbRjPjxP" TargetMode="External"/><Relationship Id="rId4" Type="http://schemas.openxmlformats.org/officeDocument/2006/relationships/hyperlink" Target="https://youtu.be/S9J96Pq_rvg?si=Dg2R1YHTUNq9UTdP"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midjourney.com/home" TargetMode="External"/><Relationship Id="rId2" Type="http://schemas.openxmlformats.org/officeDocument/2006/relationships/hyperlink" Target="https://www.imagine.art/" TargetMode="External"/><Relationship Id="rId1" Type="http://schemas.openxmlformats.org/officeDocument/2006/relationships/slideLayout" Target="../slideLayouts/slideLayout2.xml"/><Relationship Id="rId6" Type="http://schemas.openxmlformats.org/officeDocument/2006/relationships/hyperlink" Target="https://huggingface.co/spaces/editing-images/ledits" TargetMode="External"/><Relationship Id="rId5" Type="http://schemas.openxmlformats.org/officeDocument/2006/relationships/hyperlink" Target="https://lexica.art/" TargetMode="External"/><Relationship Id="rId4" Type="http://schemas.openxmlformats.org/officeDocument/2006/relationships/hyperlink" Target="https://www.bing.com/images/create" TargetMode="External"/></Relationships>
</file>

<file path=ppt/slides/_rels/slide23.xml.rels><?xml version="1.0" encoding="UTF-8" standalone="yes"?>
<Relationships xmlns="http://schemas.openxmlformats.org/package/2006/relationships"><Relationship Id="rId2" Type="http://schemas.openxmlformats.org/officeDocument/2006/relationships/hyperlink" Target="http://ran.de/"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688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BE9BEC6-CD07-E642-935A-717866C4AA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7550594-AF25-4BFC-027D-762F66F3CC38}"/>
              </a:ext>
            </a:extLst>
          </p:cNvPr>
          <p:cNvSpPr txBox="1"/>
          <p:nvPr/>
        </p:nvSpPr>
        <p:spPr>
          <a:xfrm>
            <a:off x="1488487" y="1135907"/>
            <a:ext cx="3019505" cy="3785652"/>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accent6">
                    <a:lumMod val="60000"/>
                    <a:lumOff val="40000"/>
                  </a:schemeClr>
                </a:solidFill>
              </a:rPr>
              <a:t>Text to image</a:t>
            </a:r>
          </a:p>
          <a:p>
            <a:pPr marL="342900" indent="-342900">
              <a:buFont typeface="Arial" panose="020B0604020202020204" pitchFamily="34" charset="0"/>
              <a:buChar char="•"/>
            </a:pPr>
            <a:r>
              <a:rPr lang="en-US" sz="2400" dirty="0">
                <a:solidFill>
                  <a:schemeClr val="accent6">
                    <a:lumMod val="60000"/>
                    <a:lumOff val="40000"/>
                  </a:schemeClr>
                </a:solidFill>
              </a:rPr>
              <a:t>Image to image</a:t>
            </a:r>
          </a:p>
          <a:p>
            <a:pPr marL="342900" indent="-342900">
              <a:buFont typeface="Arial" panose="020B0604020202020204" pitchFamily="34" charset="0"/>
              <a:buChar char="•"/>
            </a:pPr>
            <a:r>
              <a:rPr lang="en-US" sz="2400" dirty="0">
                <a:solidFill>
                  <a:schemeClr val="accent6">
                    <a:lumMod val="60000"/>
                    <a:lumOff val="40000"/>
                  </a:schemeClr>
                </a:solidFill>
              </a:rPr>
              <a:t>Image to text</a:t>
            </a:r>
          </a:p>
          <a:p>
            <a:pPr marL="342900" indent="-342900">
              <a:buFont typeface="Arial" panose="020B0604020202020204" pitchFamily="34" charset="0"/>
              <a:buChar char="•"/>
            </a:pPr>
            <a:r>
              <a:rPr lang="en-US" sz="2400" dirty="0">
                <a:solidFill>
                  <a:schemeClr val="accent6">
                    <a:lumMod val="60000"/>
                    <a:lumOff val="40000"/>
                  </a:schemeClr>
                </a:solidFill>
              </a:rPr>
              <a:t>Text to 3D</a:t>
            </a:r>
          </a:p>
          <a:p>
            <a:pPr marL="342900" indent="-342900">
              <a:buFont typeface="Arial" panose="020B0604020202020204" pitchFamily="34" charset="0"/>
              <a:buChar char="•"/>
            </a:pPr>
            <a:r>
              <a:rPr lang="en-US" sz="2400" dirty="0">
                <a:solidFill>
                  <a:schemeClr val="accent6">
                    <a:lumMod val="60000"/>
                    <a:lumOff val="40000"/>
                  </a:schemeClr>
                </a:solidFill>
              </a:rPr>
              <a:t>Text to Text</a:t>
            </a:r>
          </a:p>
          <a:p>
            <a:pPr marL="342900" indent="-342900">
              <a:buFont typeface="Arial" panose="020B0604020202020204" pitchFamily="34" charset="0"/>
              <a:buChar char="•"/>
            </a:pPr>
            <a:r>
              <a:rPr lang="en-US" sz="2400" dirty="0">
                <a:solidFill>
                  <a:schemeClr val="accent6">
                    <a:lumMod val="60000"/>
                    <a:lumOff val="40000"/>
                  </a:schemeClr>
                </a:solidFill>
              </a:rPr>
              <a:t>Text to Code</a:t>
            </a:r>
          </a:p>
          <a:p>
            <a:pPr marL="342900" indent="-342900">
              <a:buFont typeface="Arial" panose="020B0604020202020204" pitchFamily="34" charset="0"/>
              <a:buChar char="•"/>
            </a:pPr>
            <a:r>
              <a:rPr lang="en-US" sz="2400" dirty="0">
                <a:solidFill>
                  <a:schemeClr val="accent6">
                    <a:lumMod val="60000"/>
                    <a:lumOff val="40000"/>
                  </a:schemeClr>
                </a:solidFill>
              </a:rPr>
              <a:t>Code to Text</a:t>
            </a:r>
          </a:p>
          <a:p>
            <a:pPr marL="342900" indent="-342900">
              <a:buFont typeface="Arial" panose="020B0604020202020204" pitchFamily="34" charset="0"/>
              <a:buChar char="•"/>
            </a:pPr>
            <a:r>
              <a:rPr lang="en-US" sz="2400" dirty="0">
                <a:solidFill>
                  <a:schemeClr val="accent6">
                    <a:lumMod val="60000"/>
                    <a:lumOff val="40000"/>
                  </a:schemeClr>
                </a:solidFill>
              </a:rPr>
              <a:t>Text to Audio</a:t>
            </a:r>
          </a:p>
          <a:p>
            <a:pPr marL="342900" indent="-342900">
              <a:buFont typeface="Arial" panose="020B0604020202020204" pitchFamily="34" charset="0"/>
              <a:buChar char="•"/>
            </a:pPr>
            <a:r>
              <a:rPr lang="en-US" sz="2400" dirty="0">
                <a:solidFill>
                  <a:schemeClr val="accent6">
                    <a:lumMod val="60000"/>
                    <a:lumOff val="40000"/>
                  </a:schemeClr>
                </a:solidFill>
              </a:rPr>
              <a:t>Audio to Text</a:t>
            </a:r>
          </a:p>
          <a:p>
            <a:pPr marL="342900" indent="-342900">
              <a:buFont typeface="Arial" panose="020B0604020202020204" pitchFamily="34" charset="0"/>
              <a:buChar char="•"/>
            </a:pPr>
            <a:r>
              <a:rPr lang="en-US" sz="2400" dirty="0">
                <a:solidFill>
                  <a:schemeClr val="accent6">
                    <a:lumMod val="60000"/>
                    <a:lumOff val="40000"/>
                  </a:schemeClr>
                </a:solidFill>
              </a:rPr>
              <a:t>Text to Movies</a:t>
            </a:r>
          </a:p>
        </p:txBody>
      </p:sp>
    </p:spTree>
    <p:extLst>
      <p:ext uri="{BB962C8B-B14F-4D97-AF65-F5344CB8AC3E}">
        <p14:creationId xmlns:p14="http://schemas.microsoft.com/office/powerpoint/2010/main" val="1640946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FC80711-1A76-0728-1F93-D6348A25606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41AAC4D-E1CB-8A19-87DA-875B119E5200}"/>
              </a:ext>
            </a:extLst>
          </p:cNvPr>
          <p:cNvSpPr txBox="1">
            <a:spLocks/>
          </p:cNvSpPr>
          <p:nvPr/>
        </p:nvSpPr>
        <p:spPr>
          <a:xfrm>
            <a:off x="72078" y="85792"/>
            <a:ext cx="4643045" cy="28490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a:solidFill>
                  <a:schemeClr val="accent6">
                    <a:lumMod val="60000"/>
                    <a:lumOff val="40000"/>
                  </a:schemeClr>
                </a:solidFill>
              </a:rPr>
              <a:t>Example: Text to image  (Deep ai)</a:t>
            </a:r>
            <a:endParaRPr lang="en-IN" sz="2400" b="1" dirty="0">
              <a:solidFill>
                <a:schemeClr val="accent6">
                  <a:lumMod val="60000"/>
                  <a:lumOff val="40000"/>
                </a:schemeClr>
              </a:solidFill>
            </a:endParaRPr>
          </a:p>
        </p:txBody>
      </p:sp>
      <p:pic>
        <p:nvPicPr>
          <p:cNvPr id="11" name="Picture 10">
            <a:extLst>
              <a:ext uri="{FF2B5EF4-FFF2-40B4-BE49-F238E27FC236}">
                <a16:creationId xmlns:a16="http://schemas.microsoft.com/office/drawing/2014/main" id="{B036DA75-6AFB-65D8-69D6-411B4B68A1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0768" y="928892"/>
            <a:ext cx="10234315" cy="5592553"/>
          </a:xfrm>
          <a:prstGeom prst="rect">
            <a:avLst/>
          </a:prstGeom>
        </p:spPr>
      </p:pic>
    </p:spTree>
    <p:extLst>
      <p:ext uri="{BB962C8B-B14F-4D97-AF65-F5344CB8AC3E}">
        <p14:creationId xmlns:p14="http://schemas.microsoft.com/office/powerpoint/2010/main" val="2056681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2387C62-F3FE-365A-611E-703B3579E1B0}"/>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0741FB98-47F2-38DF-D558-95E72A65DFF5}"/>
              </a:ext>
            </a:extLst>
          </p:cNvPr>
          <p:cNvSpPr txBox="1">
            <a:spLocks/>
          </p:cNvSpPr>
          <p:nvPr/>
        </p:nvSpPr>
        <p:spPr>
          <a:xfrm>
            <a:off x="72078" y="85792"/>
            <a:ext cx="4643045" cy="536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a:solidFill>
                  <a:schemeClr val="accent6">
                    <a:lumMod val="60000"/>
                    <a:lumOff val="40000"/>
                  </a:schemeClr>
                </a:solidFill>
              </a:rPr>
              <a:t>Example: Text to image  (Deep ai)</a:t>
            </a:r>
            <a:endParaRPr lang="en-IN" sz="2400" b="1" dirty="0">
              <a:solidFill>
                <a:schemeClr val="accent6">
                  <a:lumMod val="60000"/>
                  <a:lumOff val="40000"/>
                </a:schemeClr>
              </a:solidFill>
            </a:endParaRPr>
          </a:p>
        </p:txBody>
      </p:sp>
      <p:pic>
        <p:nvPicPr>
          <p:cNvPr id="5" name="Picture 4">
            <a:extLst>
              <a:ext uri="{FF2B5EF4-FFF2-40B4-BE49-F238E27FC236}">
                <a16:creationId xmlns:a16="http://schemas.microsoft.com/office/drawing/2014/main" id="{938B3A3D-3188-BF8D-C85F-8B073C07E8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92532" y="353792"/>
            <a:ext cx="7154588" cy="6220869"/>
          </a:xfrm>
          <a:prstGeom prst="rect">
            <a:avLst/>
          </a:prstGeom>
        </p:spPr>
      </p:pic>
    </p:spTree>
    <p:extLst>
      <p:ext uri="{BB962C8B-B14F-4D97-AF65-F5344CB8AC3E}">
        <p14:creationId xmlns:p14="http://schemas.microsoft.com/office/powerpoint/2010/main" val="1879372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C32CFE2-8A7C-B8D1-5C0C-FC11C331917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E791727-28CD-8983-F67D-711B7E603E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3" y="1281030"/>
            <a:ext cx="4267201" cy="4267201"/>
          </a:xfrm>
          <a:prstGeom prst="rect">
            <a:avLst/>
          </a:prstGeom>
        </p:spPr>
      </p:pic>
      <p:pic>
        <p:nvPicPr>
          <p:cNvPr id="5" name="Picture 4">
            <a:extLst>
              <a:ext uri="{FF2B5EF4-FFF2-40B4-BE49-F238E27FC236}">
                <a16:creationId xmlns:a16="http://schemas.microsoft.com/office/drawing/2014/main" id="{9DE9B4F2-B3F6-595F-A4B7-4A0877B60C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5915" y="1230796"/>
            <a:ext cx="7123926" cy="5177405"/>
          </a:xfrm>
          <a:prstGeom prst="rect">
            <a:avLst/>
          </a:prstGeom>
        </p:spPr>
      </p:pic>
      <p:sp>
        <p:nvSpPr>
          <p:cNvPr id="7" name="TextBox 6">
            <a:extLst>
              <a:ext uri="{FF2B5EF4-FFF2-40B4-BE49-F238E27FC236}">
                <a16:creationId xmlns:a16="http://schemas.microsoft.com/office/drawing/2014/main" id="{9295C6A2-9C64-57E7-CF16-3449D10C055A}"/>
              </a:ext>
            </a:extLst>
          </p:cNvPr>
          <p:cNvSpPr txBox="1"/>
          <p:nvPr/>
        </p:nvSpPr>
        <p:spPr>
          <a:xfrm>
            <a:off x="457203" y="301927"/>
            <a:ext cx="9127499" cy="369332"/>
          </a:xfrm>
          <a:prstGeom prst="rect">
            <a:avLst/>
          </a:prstGeom>
          <a:noFill/>
        </p:spPr>
        <p:txBody>
          <a:bodyPr wrap="none" rtlCol="0">
            <a:spAutoFit/>
          </a:bodyPr>
          <a:lstStyle/>
          <a:p>
            <a:r>
              <a:rPr lang="en-US" dirty="0">
                <a:solidFill>
                  <a:schemeClr val="accent6">
                    <a:lumMod val="60000"/>
                    <a:lumOff val="40000"/>
                  </a:schemeClr>
                </a:solidFill>
              </a:rPr>
              <a:t>Text -&gt; Image. Here the prompt was not very descriptive -&gt; Lion has hat, Lion has human hands </a:t>
            </a:r>
          </a:p>
        </p:txBody>
      </p:sp>
    </p:spTree>
    <p:extLst>
      <p:ext uri="{BB962C8B-B14F-4D97-AF65-F5344CB8AC3E}">
        <p14:creationId xmlns:p14="http://schemas.microsoft.com/office/powerpoint/2010/main" val="1447673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1BA2792-14AE-6445-D5EF-8552B652B4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21EBCAD-C71D-90D7-DF03-AB1CFEF957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9349" y="205990"/>
            <a:ext cx="4195431" cy="6446017"/>
          </a:xfrm>
          <a:prstGeom prst="rect">
            <a:avLst/>
          </a:prstGeom>
        </p:spPr>
      </p:pic>
      <p:pic>
        <p:nvPicPr>
          <p:cNvPr id="5" name="Picture 4">
            <a:extLst>
              <a:ext uri="{FF2B5EF4-FFF2-40B4-BE49-F238E27FC236}">
                <a16:creationId xmlns:a16="http://schemas.microsoft.com/office/drawing/2014/main" id="{25CC0421-4A7B-EF5E-6664-A093940966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6919" y="158485"/>
            <a:ext cx="4252825" cy="6541029"/>
          </a:xfrm>
          <a:prstGeom prst="rect">
            <a:avLst/>
          </a:prstGeom>
        </p:spPr>
      </p:pic>
      <p:sp>
        <p:nvSpPr>
          <p:cNvPr id="7" name="TextBox 6">
            <a:extLst>
              <a:ext uri="{FF2B5EF4-FFF2-40B4-BE49-F238E27FC236}">
                <a16:creationId xmlns:a16="http://schemas.microsoft.com/office/drawing/2014/main" id="{1BA6338A-9067-C5D1-91B5-46C757B4DC1B}"/>
              </a:ext>
            </a:extLst>
          </p:cNvPr>
          <p:cNvSpPr txBox="1"/>
          <p:nvPr/>
        </p:nvSpPr>
        <p:spPr>
          <a:xfrm>
            <a:off x="327804" y="707366"/>
            <a:ext cx="1632498" cy="646331"/>
          </a:xfrm>
          <a:prstGeom prst="rect">
            <a:avLst/>
          </a:prstGeom>
          <a:noFill/>
        </p:spPr>
        <p:txBody>
          <a:bodyPr wrap="none" rtlCol="0">
            <a:spAutoFit/>
          </a:bodyPr>
          <a:lstStyle/>
          <a:p>
            <a:r>
              <a:rPr lang="en-US" dirty="0">
                <a:solidFill>
                  <a:schemeClr val="accent6">
                    <a:lumMod val="60000"/>
                    <a:lumOff val="40000"/>
                  </a:schemeClr>
                </a:solidFill>
              </a:rPr>
              <a:t>Example: </a:t>
            </a:r>
          </a:p>
          <a:p>
            <a:r>
              <a:rPr lang="en-US" dirty="0">
                <a:solidFill>
                  <a:schemeClr val="accent6">
                    <a:lumMod val="60000"/>
                    <a:lumOff val="40000"/>
                  </a:schemeClr>
                </a:solidFill>
              </a:rPr>
              <a:t>Image to image</a:t>
            </a:r>
          </a:p>
        </p:txBody>
      </p:sp>
    </p:spTree>
    <p:extLst>
      <p:ext uri="{BB962C8B-B14F-4D97-AF65-F5344CB8AC3E}">
        <p14:creationId xmlns:p14="http://schemas.microsoft.com/office/powerpoint/2010/main" val="2942536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899A423-CF80-8D25-EB0E-02248C414A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E08CCA9-2066-CAD1-DB57-78C500B2292D}"/>
              </a:ext>
            </a:extLst>
          </p:cNvPr>
          <p:cNvSpPr txBox="1"/>
          <p:nvPr/>
        </p:nvSpPr>
        <p:spPr>
          <a:xfrm>
            <a:off x="437532" y="455587"/>
            <a:ext cx="3312543" cy="830997"/>
          </a:xfrm>
          <a:prstGeom prst="rect">
            <a:avLst/>
          </a:prstGeom>
          <a:noFill/>
        </p:spPr>
        <p:txBody>
          <a:bodyPr wrap="square" rtlCol="0">
            <a:spAutoFit/>
          </a:bodyPr>
          <a:lstStyle/>
          <a:p>
            <a:r>
              <a:rPr lang="en-US" sz="2400" dirty="0">
                <a:solidFill>
                  <a:schemeClr val="accent6">
                    <a:lumMod val="60000"/>
                    <a:lumOff val="40000"/>
                  </a:schemeClr>
                </a:solidFill>
              </a:rPr>
              <a:t>Example: </a:t>
            </a:r>
          </a:p>
          <a:p>
            <a:r>
              <a:rPr lang="en-US" sz="2400" dirty="0">
                <a:solidFill>
                  <a:schemeClr val="accent6">
                    <a:lumMod val="60000"/>
                    <a:lumOff val="40000"/>
                  </a:schemeClr>
                </a:solidFill>
              </a:rPr>
              <a:t>Image to image</a:t>
            </a:r>
          </a:p>
        </p:txBody>
      </p:sp>
      <p:sp>
        <p:nvSpPr>
          <p:cNvPr id="7" name="TextBox 6">
            <a:extLst>
              <a:ext uri="{FF2B5EF4-FFF2-40B4-BE49-F238E27FC236}">
                <a16:creationId xmlns:a16="http://schemas.microsoft.com/office/drawing/2014/main" id="{A063A266-F10B-3149-5953-C54B6BA2B55A}"/>
              </a:ext>
            </a:extLst>
          </p:cNvPr>
          <p:cNvSpPr txBox="1"/>
          <p:nvPr/>
        </p:nvSpPr>
        <p:spPr>
          <a:xfrm>
            <a:off x="4406828" y="1267325"/>
            <a:ext cx="6094476" cy="1200329"/>
          </a:xfrm>
          <a:prstGeom prst="rect">
            <a:avLst/>
          </a:prstGeom>
          <a:noFill/>
        </p:spPr>
        <p:txBody>
          <a:bodyPr wrap="square">
            <a:spAutoFit/>
          </a:bodyPr>
          <a:lstStyle/>
          <a:p>
            <a:r>
              <a:rPr lang="en-US" sz="1800" dirty="0">
                <a:solidFill>
                  <a:schemeClr val="accent6">
                    <a:lumMod val="60000"/>
                    <a:lumOff val="40000"/>
                  </a:schemeClr>
                </a:solidFill>
              </a:rPr>
              <a:t>Input: 2 image</a:t>
            </a:r>
          </a:p>
          <a:p>
            <a:r>
              <a:rPr lang="en-US" sz="1800" dirty="0">
                <a:solidFill>
                  <a:schemeClr val="accent6">
                    <a:lumMod val="60000"/>
                    <a:lumOff val="40000"/>
                  </a:schemeClr>
                </a:solidFill>
              </a:rPr>
              <a:t>Prompt: Merge both the pictures and also blend the color tone</a:t>
            </a:r>
          </a:p>
          <a:p>
            <a:endParaRPr lang="en-US" sz="1800" dirty="0">
              <a:solidFill>
                <a:schemeClr val="accent6">
                  <a:lumMod val="60000"/>
                  <a:lumOff val="40000"/>
                </a:schemeClr>
              </a:solidFill>
            </a:endParaRPr>
          </a:p>
          <a:p>
            <a:r>
              <a:rPr lang="en-US" sz="1800" dirty="0">
                <a:solidFill>
                  <a:schemeClr val="accent6">
                    <a:lumMod val="60000"/>
                    <a:lumOff val="40000"/>
                  </a:schemeClr>
                </a:solidFill>
              </a:rPr>
              <a:t>Output: 1 image</a:t>
            </a:r>
            <a:endParaRPr lang="en-IN" dirty="0"/>
          </a:p>
        </p:txBody>
      </p:sp>
      <p:sp>
        <p:nvSpPr>
          <p:cNvPr id="8" name="Rectangle: Rounded Corners 7">
            <a:extLst>
              <a:ext uri="{FF2B5EF4-FFF2-40B4-BE49-F238E27FC236}">
                <a16:creationId xmlns:a16="http://schemas.microsoft.com/office/drawing/2014/main" id="{853AEB17-F3AC-056F-26E0-C9FE02A66F9E}"/>
              </a:ext>
            </a:extLst>
          </p:cNvPr>
          <p:cNvSpPr/>
          <p:nvPr/>
        </p:nvSpPr>
        <p:spPr>
          <a:xfrm>
            <a:off x="5151429" y="3127248"/>
            <a:ext cx="2615637" cy="10424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GenAI</a:t>
            </a:r>
            <a:endParaRPr lang="en-IN" dirty="0"/>
          </a:p>
        </p:txBody>
      </p:sp>
      <p:sp>
        <p:nvSpPr>
          <p:cNvPr id="9" name="Arrow: Right 8">
            <a:extLst>
              <a:ext uri="{FF2B5EF4-FFF2-40B4-BE49-F238E27FC236}">
                <a16:creationId xmlns:a16="http://schemas.microsoft.com/office/drawing/2014/main" id="{82F6C9EE-C033-8881-74E0-50EA53B96D45}"/>
              </a:ext>
            </a:extLst>
          </p:cNvPr>
          <p:cNvSpPr/>
          <p:nvPr/>
        </p:nvSpPr>
        <p:spPr>
          <a:xfrm rot="1049149">
            <a:off x="4362648" y="2944368"/>
            <a:ext cx="594360" cy="3657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3F0EFC42-0297-A2D9-B6C3-BE6D3C50E09C}"/>
              </a:ext>
            </a:extLst>
          </p:cNvPr>
          <p:cNvSpPr/>
          <p:nvPr/>
        </p:nvSpPr>
        <p:spPr>
          <a:xfrm rot="20034997">
            <a:off x="4456971" y="4034977"/>
            <a:ext cx="594360" cy="3657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7376A6D5-52FA-6E27-EDE1-E52AE9AE0E20}"/>
              </a:ext>
            </a:extLst>
          </p:cNvPr>
          <p:cNvPicPr>
            <a:picLocks noChangeAspect="1"/>
          </p:cNvPicPr>
          <p:nvPr/>
        </p:nvPicPr>
        <p:blipFill>
          <a:blip r:embed="rId2"/>
          <a:stretch>
            <a:fillRect/>
          </a:stretch>
        </p:blipFill>
        <p:spPr>
          <a:xfrm>
            <a:off x="1310720" y="1759193"/>
            <a:ext cx="2508342" cy="2163745"/>
          </a:xfrm>
          <a:prstGeom prst="rect">
            <a:avLst/>
          </a:prstGeom>
        </p:spPr>
      </p:pic>
      <p:pic>
        <p:nvPicPr>
          <p:cNvPr id="15" name="Picture 14">
            <a:extLst>
              <a:ext uri="{FF2B5EF4-FFF2-40B4-BE49-F238E27FC236}">
                <a16:creationId xmlns:a16="http://schemas.microsoft.com/office/drawing/2014/main" id="{D92345B8-9D11-CB76-567D-9DB5AF9AEDE7}"/>
              </a:ext>
            </a:extLst>
          </p:cNvPr>
          <p:cNvPicPr>
            <a:picLocks noChangeAspect="1"/>
          </p:cNvPicPr>
          <p:nvPr/>
        </p:nvPicPr>
        <p:blipFill>
          <a:blip r:embed="rId3"/>
          <a:stretch>
            <a:fillRect/>
          </a:stretch>
        </p:blipFill>
        <p:spPr>
          <a:xfrm>
            <a:off x="944359" y="4193028"/>
            <a:ext cx="3306304" cy="1886219"/>
          </a:xfrm>
          <a:prstGeom prst="rect">
            <a:avLst/>
          </a:prstGeom>
        </p:spPr>
      </p:pic>
      <p:pic>
        <p:nvPicPr>
          <p:cNvPr id="17" name="Picture 16">
            <a:extLst>
              <a:ext uri="{FF2B5EF4-FFF2-40B4-BE49-F238E27FC236}">
                <a16:creationId xmlns:a16="http://schemas.microsoft.com/office/drawing/2014/main" id="{8CCE30FD-541E-CE80-C23F-CD5A9A88622E}"/>
              </a:ext>
            </a:extLst>
          </p:cNvPr>
          <p:cNvPicPr>
            <a:picLocks noChangeAspect="1"/>
          </p:cNvPicPr>
          <p:nvPr/>
        </p:nvPicPr>
        <p:blipFill>
          <a:blip r:embed="rId4"/>
          <a:stretch>
            <a:fillRect/>
          </a:stretch>
        </p:blipFill>
        <p:spPr>
          <a:xfrm>
            <a:off x="8667832" y="2664606"/>
            <a:ext cx="3245706" cy="2199747"/>
          </a:xfrm>
          <a:prstGeom prst="rect">
            <a:avLst/>
          </a:prstGeom>
        </p:spPr>
      </p:pic>
      <p:sp>
        <p:nvSpPr>
          <p:cNvPr id="19" name="Arrow: Right 18">
            <a:extLst>
              <a:ext uri="{FF2B5EF4-FFF2-40B4-BE49-F238E27FC236}">
                <a16:creationId xmlns:a16="http://schemas.microsoft.com/office/drawing/2014/main" id="{9EC50FC6-4F43-48AC-4D83-EAAB592D19C8}"/>
              </a:ext>
            </a:extLst>
          </p:cNvPr>
          <p:cNvSpPr/>
          <p:nvPr/>
        </p:nvSpPr>
        <p:spPr>
          <a:xfrm>
            <a:off x="7920269" y="3465576"/>
            <a:ext cx="594360" cy="3657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80342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FC09D6C-76F7-E23E-12D4-093651F07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0C262-A511-116A-98F9-BB383B78AF85}"/>
              </a:ext>
            </a:extLst>
          </p:cNvPr>
          <p:cNvSpPr txBox="1">
            <a:spLocks/>
          </p:cNvSpPr>
          <p:nvPr/>
        </p:nvSpPr>
        <p:spPr>
          <a:xfrm>
            <a:off x="838200" y="102743"/>
            <a:ext cx="4322197" cy="334122"/>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a:t>Some examples: https://deepai.org/styles</a:t>
            </a:r>
            <a:endParaRPr lang="en-US" sz="2000" dirty="0"/>
          </a:p>
        </p:txBody>
      </p:sp>
      <p:pic>
        <p:nvPicPr>
          <p:cNvPr id="3" name="Picture 2">
            <a:extLst>
              <a:ext uri="{FF2B5EF4-FFF2-40B4-BE49-F238E27FC236}">
                <a16:creationId xmlns:a16="http://schemas.microsoft.com/office/drawing/2014/main" id="{5B746779-D17D-C79A-7F25-A1D3AF7E37FC}"/>
              </a:ext>
            </a:extLst>
          </p:cNvPr>
          <p:cNvPicPr>
            <a:picLocks noChangeAspect="1"/>
          </p:cNvPicPr>
          <p:nvPr/>
        </p:nvPicPr>
        <p:blipFill>
          <a:blip r:embed="rId2"/>
          <a:stretch>
            <a:fillRect/>
          </a:stretch>
        </p:blipFill>
        <p:spPr>
          <a:xfrm>
            <a:off x="0" y="539314"/>
            <a:ext cx="12192000" cy="5779372"/>
          </a:xfrm>
          <a:prstGeom prst="rect">
            <a:avLst/>
          </a:prstGeom>
        </p:spPr>
      </p:pic>
    </p:spTree>
    <p:extLst>
      <p:ext uri="{BB962C8B-B14F-4D97-AF65-F5344CB8AC3E}">
        <p14:creationId xmlns:p14="http://schemas.microsoft.com/office/powerpoint/2010/main" val="2638208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5646ADD-409F-D7EB-9ECF-12CB77302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EF6C45-236F-C16F-6B14-296BB47CF1DB}"/>
              </a:ext>
            </a:extLst>
          </p:cNvPr>
          <p:cNvSpPr txBox="1">
            <a:spLocks/>
          </p:cNvSpPr>
          <p:nvPr/>
        </p:nvSpPr>
        <p:spPr>
          <a:xfrm>
            <a:off x="838200" y="102743"/>
            <a:ext cx="4322197" cy="334122"/>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a:t>Some examples: https://deepai.org/styles</a:t>
            </a:r>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009" y="873132"/>
            <a:ext cx="5287113" cy="1457528"/>
          </a:xfrm>
          <a:prstGeom prst="rect">
            <a:avLst/>
          </a:prstGeom>
        </p:spPr>
      </p:pic>
      <p:sp>
        <p:nvSpPr>
          <p:cNvPr id="5" name="TextBox 4"/>
          <p:cNvSpPr txBox="1"/>
          <p:nvPr/>
        </p:nvSpPr>
        <p:spPr>
          <a:xfrm>
            <a:off x="837152" y="3344312"/>
            <a:ext cx="2592761" cy="369332"/>
          </a:xfrm>
          <a:prstGeom prst="rect">
            <a:avLst/>
          </a:prstGeom>
          <a:noFill/>
        </p:spPr>
        <p:txBody>
          <a:bodyPr wrap="none" rtlCol="0">
            <a:spAutoFit/>
          </a:bodyPr>
          <a:lstStyle/>
          <a:p>
            <a:r>
              <a:rPr lang="en-US" dirty="0">
                <a:solidFill>
                  <a:schemeClr val="accent6">
                    <a:lumMod val="60000"/>
                    <a:lumOff val="40000"/>
                  </a:schemeClr>
                </a:solidFill>
              </a:rPr>
              <a:t>These people do not exist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4245" y="1262700"/>
            <a:ext cx="2893521" cy="2804763"/>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64398" y="4738268"/>
            <a:ext cx="5350749" cy="1612656"/>
          </a:xfrm>
          <a:prstGeom prst="rect">
            <a:avLst/>
          </a:prstGeom>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5E54563D-34F5-8714-9E2A-BB6153F5C095}"/>
                  </a:ext>
                </a:extLst>
              </p14:cNvPr>
              <p14:cNvContentPartPr/>
              <p14:nvPr/>
            </p14:nvContentPartPr>
            <p14:xfrm>
              <a:off x="5347754" y="3863224"/>
              <a:ext cx="13680" cy="16920"/>
            </p14:xfrm>
          </p:contentPart>
        </mc:Choice>
        <mc:Fallback xmlns="">
          <p:pic>
            <p:nvPicPr>
              <p:cNvPr id="9" name="Ink 8">
                <a:extLst>
                  <a:ext uri="{FF2B5EF4-FFF2-40B4-BE49-F238E27FC236}">
                    <a16:creationId xmlns:a16="http://schemas.microsoft.com/office/drawing/2014/main" id="{5E54563D-34F5-8714-9E2A-BB6153F5C095}"/>
                  </a:ext>
                </a:extLst>
              </p:cNvPr>
              <p:cNvPicPr/>
              <p:nvPr/>
            </p:nvPicPr>
            <p:blipFill>
              <a:blip r:embed="rId6"/>
              <a:stretch>
                <a:fillRect/>
              </a:stretch>
            </p:blipFill>
            <p:spPr>
              <a:xfrm>
                <a:off x="5312677" y="3827974"/>
                <a:ext cx="83483" cy="87068"/>
              </a:xfrm>
              <a:prstGeom prst="rect">
                <a:avLst/>
              </a:prstGeom>
            </p:spPr>
          </p:pic>
        </mc:Fallback>
      </mc:AlternateContent>
    </p:spTree>
    <p:extLst>
      <p:ext uri="{BB962C8B-B14F-4D97-AF65-F5344CB8AC3E}">
        <p14:creationId xmlns:p14="http://schemas.microsoft.com/office/powerpoint/2010/main" val="2778047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ED4755E-3240-F4F4-C0A9-A016B3A6369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5445477-6F58-1FC9-279E-365A4C6E7DA3}"/>
              </a:ext>
            </a:extLst>
          </p:cNvPr>
          <p:cNvSpPr txBox="1"/>
          <p:nvPr/>
        </p:nvSpPr>
        <p:spPr>
          <a:xfrm>
            <a:off x="4766835" y="619400"/>
            <a:ext cx="2697662" cy="646331"/>
          </a:xfrm>
          <a:prstGeom prst="rect">
            <a:avLst/>
          </a:prstGeom>
          <a:noFill/>
        </p:spPr>
        <p:txBody>
          <a:bodyPr wrap="none" rtlCol="0">
            <a:spAutoFit/>
          </a:bodyPr>
          <a:lstStyle/>
          <a:p>
            <a:r>
              <a:rPr lang="en-US" sz="3600" dirty="0">
                <a:solidFill>
                  <a:schemeClr val="accent6">
                    <a:lumMod val="60000"/>
                    <a:lumOff val="40000"/>
                  </a:schemeClr>
                </a:solidFill>
              </a:rPr>
              <a:t>Image to Text</a:t>
            </a:r>
          </a:p>
        </p:txBody>
      </p:sp>
      <p:pic>
        <p:nvPicPr>
          <p:cNvPr id="9" name="Picture 8">
            <a:extLst>
              <a:ext uri="{FF2B5EF4-FFF2-40B4-BE49-F238E27FC236}">
                <a16:creationId xmlns:a16="http://schemas.microsoft.com/office/drawing/2014/main" id="{A96FE881-A446-92EF-6234-B2202FDA39F7}"/>
              </a:ext>
            </a:extLst>
          </p:cNvPr>
          <p:cNvPicPr>
            <a:picLocks noChangeAspect="1"/>
          </p:cNvPicPr>
          <p:nvPr/>
        </p:nvPicPr>
        <p:blipFill>
          <a:blip r:embed="rId2"/>
          <a:stretch>
            <a:fillRect/>
          </a:stretch>
        </p:blipFill>
        <p:spPr>
          <a:xfrm>
            <a:off x="158495" y="2176864"/>
            <a:ext cx="1514686" cy="1505160"/>
          </a:xfrm>
          <a:prstGeom prst="rect">
            <a:avLst/>
          </a:prstGeom>
        </p:spPr>
      </p:pic>
      <p:sp>
        <p:nvSpPr>
          <p:cNvPr id="11" name="Rectangle: Rounded Corners 10">
            <a:extLst>
              <a:ext uri="{FF2B5EF4-FFF2-40B4-BE49-F238E27FC236}">
                <a16:creationId xmlns:a16="http://schemas.microsoft.com/office/drawing/2014/main" id="{E01DD8E9-2FC7-461A-9CAD-12781B44145C}"/>
              </a:ext>
            </a:extLst>
          </p:cNvPr>
          <p:cNvSpPr/>
          <p:nvPr/>
        </p:nvSpPr>
        <p:spPr>
          <a:xfrm>
            <a:off x="2544760" y="2386584"/>
            <a:ext cx="2615637" cy="10424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GenAI</a:t>
            </a:r>
            <a:endParaRPr lang="en-IN" dirty="0">
              <a:solidFill>
                <a:schemeClr val="bg1"/>
              </a:solidFill>
            </a:endParaRPr>
          </a:p>
        </p:txBody>
      </p:sp>
      <p:sp>
        <p:nvSpPr>
          <p:cNvPr id="13" name="Arrow: Right 12">
            <a:extLst>
              <a:ext uri="{FF2B5EF4-FFF2-40B4-BE49-F238E27FC236}">
                <a16:creationId xmlns:a16="http://schemas.microsoft.com/office/drawing/2014/main" id="{E0CE663C-D073-48A3-44D7-FD5B9A86EB17}"/>
              </a:ext>
            </a:extLst>
          </p:cNvPr>
          <p:cNvSpPr/>
          <p:nvPr/>
        </p:nvSpPr>
        <p:spPr>
          <a:xfrm>
            <a:off x="1775529" y="2746564"/>
            <a:ext cx="594360" cy="3657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lumMod val="60000"/>
                  <a:lumOff val="40000"/>
                </a:schemeClr>
              </a:solidFill>
            </a:endParaRPr>
          </a:p>
        </p:txBody>
      </p:sp>
      <p:sp>
        <p:nvSpPr>
          <p:cNvPr id="15" name="Arrow: Right 14">
            <a:extLst>
              <a:ext uri="{FF2B5EF4-FFF2-40B4-BE49-F238E27FC236}">
                <a16:creationId xmlns:a16="http://schemas.microsoft.com/office/drawing/2014/main" id="{8A5E3930-294B-448A-908A-4B505436EF82}"/>
              </a:ext>
            </a:extLst>
          </p:cNvPr>
          <p:cNvSpPr/>
          <p:nvPr/>
        </p:nvSpPr>
        <p:spPr>
          <a:xfrm>
            <a:off x="5335268" y="2746564"/>
            <a:ext cx="594360" cy="3657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6">
                  <a:lumMod val="60000"/>
                  <a:lumOff val="40000"/>
                </a:schemeClr>
              </a:solidFill>
            </a:endParaRPr>
          </a:p>
        </p:txBody>
      </p:sp>
      <p:pic>
        <p:nvPicPr>
          <p:cNvPr id="17" name="Picture 16">
            <a:extLst>
              <a:ext uri="{FF2B5EF4-FFF2-40B4-BE49-F238E27FC236}">
                <a16:creationId xmlns:a16="http://schemas.microsoft.com/office/drawing/2014/main" id="{AF731A98-9B71-A9D9-4AC0-9E90D8EDF4F6}"/>
              </a:ext>
            </a:extLst>
          </p:cNvPr>
          <p:cNvPicPr>
            <a:picLocks noChangeAspect="1"/>
          </p:cNvPicPr>
          <p:nvPr/>
        </p:nvPicPr>
        <p:blipFill>
          <a:blip r:embed="rId3"/>
          <a:stretch>
            <a:fillRect/>
          </a:stretch>
        </p:blipFill>
        <p:spPr>
          <a:xfrm>
            <a:off x="6031976" y="2645818"/>
            <a:ext cx="6049219" cy="523948"/>
          </a:xfrm>
          <a:prstGeom prst="rect">
            <a:avLst/>
          </a:prstGeom>
        </p:spPr>
      </p:pic>
      <p:sp>
        <p:nvSpPr>
          <p:cNvPr id="19" name="TextBox 18">
            <a:extLst>
              <a:ext uri="{FF2B5EF4-FFF2-40B4-BE49-F238E27FC236}">
                <a16:creationId xmlns:a16="http://schemas.microsoft.com/office/drawing/2014/main" id="{97E858CF-5186-4A27-02E6-E9548BC8EA2F}"/>
              </a:ext>
            </a:extLst>
          </p:cNvPr>
          <p:cNvSpPr txBox="1"/>
          <p:nvPr/>
        </p:nvSpPr>
        <p:spPr>
          <a:xfrm>
            <a:off x="1154916" y="3745677"/>
            <a:ext cx="4724370" cy="830997"/>
          </a:xfrm>
          <a:prstGeom prst="rect">
            <a:avLst/>
          </a:prstGeom>
          <a:noFill/>
        </p:spPr>
        <p:txBody>
          <a:bodyPr wrap="none" rtlCol="0">
            <a:spAutoFit/>
          </a:bodyPr>
          <a:lstStyle/>
          <a:p>
            <a:r>
              <a:rPr lang="en-US" sz="2400" dirty="0">
                <a:solidFill>
                  <a:schemeClr val="accent6">
                    <a:lumMod val="60000"/>
                    <a:lumOff val="40000"/>
                  </a:schemeClr>
                </a:solidFill>
              </a:rPr>
              <a:t>Prompt:</a:t>
            </a:r>
          </a:p>
          <a:p>
            <a:r>
              <a:rPr lang="en-US" sz="2400" b="1" i="1" dirty="0">
                <a:solidFill>
                  <a:schemeClr val="accent6">
                    <a:lumMod val="60000"/>
                    <a:lumOff val="40000"/>
                  </a:schemeClr>
                </a:solidFill>
              </a:rPr>
              <a:t>Describe the image in one sentence</a:t>
            </a:r>
          </a:p>
        </p:txBody>
      </p:sp>
    </p:spTree>
    <p:extLst>
      <p:ext uri="{BB962C8B-B14F-4D97-AF65-F5344CB8AC3E}">
        <p14:creationId xmlns:p14="http://schemas.microsoft.com/office/powerpoint/2010/main" val="3888443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CFF621B-9A97-74BA-E31A-7999364968ED}"/>
            </a:ext>
          </a:extLst>
        </p:cNvPr>
        <p:cNvGrpSpPr/>
        <p:nvPr/>
      </p:nvGrpSpPr>
      <p:grpSpPr>
        <a:xfrm>
          <a:off x="0" y="0"/>
          <a:ext cx="0" cy="0"/>
          <a:chOff x="0" y="0"/>
          <a:chExt cx="0" cy="0"/>
        </a:xfrm>
      </p:grpSpPr>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051" y="1988748"/>
            <a:ext cx="4542023" cy="3449022"/>
          </a:xfrm>
          <a:prstGeom prst="rect">
            <a:avLst/>
          </a:prstGeom>
        </p:spPr>
      </p:pic>
      <p:sp>
        <p:nvSpPr>
          <p:cNvPr id="6" name="Rectangle 1"/>
          <p:cNvSpPr>
            <a:spLocks noChangeArrowheads="1"/>
          </p:cNvSpPr>
          <p:nvPr/>
        </p:nvSpPr>
        <p:spPr bwMode="auto">
          <a:xfrm>
            <a:off x="838200" y="589699"/>
            <a:ext cx="4929381"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en-US" altLang="en-US" b="1" i="0" u="none" strike="noStrike" cap="none" normalizeH="0" baseline="0" dirty="0">
                <a:ln>
                  <a:noFill/>
                </a:ln>
                <a:solidFill>
                  <a:schemeClr val="accent6">
                    <a:lumMod val="60000"/>
                    <a:lumOff val="40000"/>
                  </a:schemeClr>
                </a:solidFill>
                <a:effectLst/>
              </a:rPr>
              <a:t>Face </a:t>
            </a:r>
            <a:r>
              <a:rPr kumimoji="0" lang="en-US" altLang="en-US" b="1" i="0" u="none" strike="noStrike" cap="none" normalizeH="0" baseline="0" dirty="0" err="1">
                <a:ln>
                  <a:noFill/>
                </a:ln>
                <a:solidFill>
                  <a:schemeClr val="accent6">
                    <a:lumMod val="60000"/>
                    <a:lumOff val="40000"/>
                  </a:schemeClr>
                </a:solidFill>
                <a:effectLst/>
              </a:rPr>
              <a:t>Inpainting</a:t>
            </a:r>
            <a:r>
              <a:rPr kumimoji="0" lang="en-US" altLang="en-US" b="1" i="0" u="none" strike="noStrike" cap="none" normalizeH="0" baseline="0" dirty="0">
                <a:ln>
                  <a:noFill/>
                </a:ln>
                <a:solidFill>
                  <a:schemeClr val="accent6">
                    <a:lumMod val="60000"/>
                    <a:lumOff val="40000"/>
                  </a:schemeClr>
                </a:solidFill>
                <a:effectLst/>
              </a:rPr>
              <a:t>:</a:t>
            </a:r>
            <a:r>
              <a:rPr kumimoji="0" lang="en-US" altLang="en-US" b="1" i="0" u="none" strike="noStrike" cap="none" normalizeH="0" dirty="0">
                <a:ln>
                  <a:noFill/>
                </a:ln>
                <a:solidFill>
                  <a:schemeClr val="accent6">
                    <a:lumMod val="60000"/>
                    <a:lumOff val="40000"/>
                  </a:schemeClr>
                </a:solidFill>
                <a:effectLst/>
              </a:rPr>
              <a:t> (S</a:t>
            </a:r>
            <a:r>
              <a:rPr lang="en-US" altLang="en-US" i="1" dirty="0">
                <a:solidFill>
                  <a:schemeClr val="accent6">
                    <a:lumMod val="60000"/>
                    <a:lumOff val="40000"/>
                  </a:schemeClr>
                </a:solidFill>
                <a:latin typeface="Roboto"/>
              </a:rPr>
              <a:t>emantic Image </a:t>
            </a:r>
            <a:r>
              <a:rPr lang="en-US" altLang="en-US" i="1" dirty="0" err="1">
                <a:solidFill>
                  <a:schemeClr val="accent6">
                    <a:lumMod val="60000"/>
                    <a:lumOff val="40000"/>
                  </a:schemeClr>
                </a:solidFill>
                <a:latin typeface="Roboto"/>
              </a:rPr>
              <a:t>Inpainting</a:t>
            </a:r>
            <a:r>
              <a:rPr lang="en-US" altLang="en-US" i="1" dirty="0">
                <a:solidFill>
                  <a:schemeClr val="accent6">
                    <a:lumMod val="60000"/>
                    <a:lumOff val="40000"/>
                  </a:schemeClr>
                </a:solidFill>
                <a:latin typeface="Roboto"/>
              </a:rPr>
              <a:t>)</a:t>
            </a:r>
            <a:endParaRPr kumimoji="0" lang="en-US" altLang="en-US" b="1" i="0" u="none" strike="noStrike" cap="none" normalizeH="0" baseline="0" dirty="0">
              <a:ln>
                <a:noFill/>
              </a:ln>
              <a:solidFill>
                <a:schemeClr val="accent6">
                  <a:lumMod val="60000"/>
                  <a:lumOff val="4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accent6">
                    <a:lumMod val="60000"/>
                    <a:lumOff val="40000"/>
                  </a:schemeClr>
                </a:solidFill>
                <a:effectLst/>
                <a:latin typeface="Roboto"/>
              </a:rPr>
              <a:t>In the </a:t>
            </a:r>
            <a:r>
              <a:rPr kumimoji="0" lang="en-US" altLang="en-US" b="0" i="0" u="none" strike="noStrike" cap="none" normalizeH="0" baseline="0" dirty="0" err="1">
                <a:ln>
                  <a:noFill/>
                </a:ln>
                <a:solidFill>
                  <a:schemeClr val="accent6">
                    <a:lumMod val="60000"/>
                    <a:lumOff val="40000"/>
                  </a:schemeClr>
                </a:solidFill>
                <a:effectLst/>
                <a:latin typeface="Roboto"/>
              </a:rPr>
              <a:t>inpainting</a:t>
            </a:r>
            <a:r>
              <a:rPr kumimoji="0" lang="en-US" altLang="en-US" b="0" i="0" u="none" strike="noStrike" cap="none" normalizeH="0" baseline="0" dirty="0">
                <a:ln>
                  <a:noFill/>
                </a:ln>
                <a:solidFill>
                  <a:schemeClr val="accent6">
                    <a:lumMod val="60000"/>
                    <a:lumOff val="40000"/>
                  </a:schemeClr>
                </a:solidFill>
                <a:effectLst/>
                <a:latin typeface="Roboto"/>
              </a:rPr>
              <a:t> task, chunks of an image are blacked out, and the system tries to fill in the missing chunks.</a:t>
            </a:r>
            <a:endParaRPr kumimoji="0" lang="en-US" altLang="en-US" b="0" i="0" u="none" strike="noStrike" cap="none" normalizeH="0" baseline="0" dirty="0">
              <a:ln>
                <a:noFill/>
              </a:ln>
              <a:solidFill>
                <a:schemeClr val="accent6">
                  <a:lumMod val="60000"/>
                  <a:lumOff val="40000"/>
                </a:schemeClr>
              </a:solidFill>
              <a:effectLst/>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4909" y="187369"/>
            <a:ext cx="2755963" cy="2419221"/>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8901" y="2955599"/>
            <a:ext cx="6072048" cy="3739829"/>
          </a:xfrm>
          <a:prstGeom prst="rect">
            <a:avLst/>
          </a:prstGeom>
        </p:spPr>
      </p:pic>
    </p:spTree>
    <p:extLst>
      <p:ext uri="{BB962C8B-B14F-4D97-AF65-F5344CB8AC3E}">
        <p14:creationId xmlns:p14="http://schemas.microsoft.com/office/powerpoint/2010/main" val="2795892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DE66B57-B8A3-A620-768E-C4F66C50D6E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79E55DC-750E-B9D6-54A4-C738A5CB826D}"/>
              </a:ext>
            </a:extLst>
          </p:cNvPr>
          <p:cNvSpPr txBox="1">
            <a:spLocks/>
          </p:cNvSpPr>
          <p:nvPr/>
        </p:nvSpPr>
        <p:spPr>
          <a:xfrm>
            <a:off x="298704" y="1324483"/>
            <a:ext cx="5797296" cy="334122"/>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chemeClr val="accent6">
                    <a:lumMod val="60000"/>
                    <a:lumOff val="40000"/>
                  </a:schemeClr>
                </a:solidFill>
              </a:rPr>
              <a:t>https://huggingface.co/spaces/Roblox/cube3d-interactive</a:t>
            </a:r>
          </a:p>
        </p:txBody>
      </p:sp>
      <p:pic>
        <p:nvPicPr>
          <p:cNvPr id="4" name="Picture 3">
            <a:extLst>
              <a:ext uri="{FF2B5EF4-FFF2-40B4-BE49-F238E27FC236}">
                <a16:creationId xmlns:a16="http://schemas.microsoft.com/office/drawing/2014/main" id="{94408BC3-E437-65B4-C397-4E0FC0CF71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228" y="2052917"/>
            <a:ext cx="10911839" cy="4739426"/>
          </a:xfrm>
          <a:prstGeom prst="rect">
            <a:avLst/>
          </a:prstGeom>
        </p:spPr>
      </p:pic>
      <p:sp>
        <p:nvSpPr>
          <p:cNvPr id="5" name="TextBox 4">
            <a:extLst>
              <a:ext uri="{FF2B5EF4-FFF2-40B4-BE49-F238E27FC236}">
                <a16:creationId xmlns:a16="http://schemas.microsoft.com/office/drawing/2014/main" id="{6AAF5A46-728A-1D23-F5BA-F87F5D564FE6}"/>
              </a:ext>
            </a:extLst>
          </p:cNvPr>
          <p:cNvSpPr txBox="1"/>
          <p:nvPr/>
        </p:nvSpPr>
        <p:spPr>
          <a:xfrm>
            <a:off x="6901733" y="724319"/>
            <a:ext cx="4234970" cy="1200329"/>
          </a:xfrm>
          <a:prstGeom prst="rect">
            <a:avLst/>
          </a:prstGeom>
          <a:noFill/>
        </p:spPr>
        <p:txBody>
          <a:bodyPr wrap="square" rtlCol="0">
            <a:spAutoFit/>
          </a:bodyPr>
          <a:lstStyle/>
          <a:p>
            <a:r>
              <a:rPr lang="en-US" dirty="0">
                <a:solidFill>
                  <a:schemeClr val="accent6">
                    <a:lumMod val="60000"/>
                    <a:lumOff val="40000"/>
                  </a:schemeClr>
                </a:solidFill>
              </a:rPr>
              <a:t>It took 3 minutes to generate this 3D image. It rotates with mouse</a:t>
            </a:r>
          </a:p>
          <a:p>
            <a:r>
              <a:rPr lang="en-US" dirty="0">
                <a:solidFill>
                  <a:schemeClr val="accent6">
                    <a:lumMod val="60000"/>
                    <a:lumOff val="40000"/>
                  </a:schemeClr>
                </a:solidFill>
              </a:rPr>
              <a:t>Prompt: Broad-winged flying dragon, elongated, folded legs</a:t>
            </a:r>
            <a:endParaRPr lang="en-IN" dirty="0">
              <a:solidFill>
                <a:schemeClr val="accent6">
                  <a:lumMod val="60000"/>
                  <a:lumOff val="40000"/>
                </a:schemeClr>
              </a:solidFill>
            </a:endParaRPr>
          </a:p>
        </p:txBody>
      </p:sp>
      <p:cxnSp>
        <p:nvCxnSpPr>
          <p:cNvPr id="6" name="Straight Arrow Connector 5">
            <a:extLst>
              <a:ext uri="{FF2B5EF4-FFF2-40B4-BE49-F238E27FC236}">
                <a16:creationId xmlns:a16="http://schemas.microsoft.com/office/drawing/2014/main" id="{896D523A-9A2D-A619-AF57-129D07BA09E6}"/>
              </a:ext>
            </a:extLst>
          </p:cNvPr>
          <p:cNvCxnSpPr/>
          <p:nvPr/>
        </p:nvCxnSpPr>
        <p:spPr>
          <a:xfrm>
            <a:off x="7617350" y="1779392"/>
            <a:ext cx="787179" cy="395747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4433FD05-2008-9A1E-22DD-681FAFC7444E}"/>
                  </a:ext>
                </a:extLst>
              </p14:cNvPr>
              <p14:cNvContentPartPr/>
              <p14:nvPr/>
            </p14:nvContentPartPr>
            <p14:xfrm>
              <a:off x="560008" y="3937666"/>
              <a:ext cx="4381920" cy="643320"/>
            </p14:xfrm>
          </p:contentPart>
        </mc:Choice>
        <mc:Fallback xmlns="">
          <p:pic>
            <p:nvPicPr>
              <p:cNvPr id="7" name="Ink 6">
                <a:extLst>
                  <a:ext uri="{FF2B5EF4-FFF2-40B4-BE49-F238E27FC236}">
                    <a16:creationId xmlns:a16="http://schemas.microsoft.com/office/drawing/2014/main" id="{4433FD05-2008-9A1E-22DD-681FAFC7444E}"/>
                  </a:ext>
                </a:extLst>
              </p:cNvPr>
              <p:cNvPicPr/>
              <p:nvPr/>
            </p:nvPicPr>
            <p:blipFill>
              <a:blip r:embed="rId4"/>
              <a:stretch>
                <a:fillRect/>
              </a:stretch>
            </p:blipFill>
            <p:spPr>
              <a:xfrm>
                <a:off x="524008" y="3901666"/>
                <a:ext cx="4453560" cy="714960"/>
              </a:xfrm>
              <a:prstGeom prst="rect">
                <a:avLst/>
              </a:prstGeom>
            </p:spPr>
          </p:pic>
        </mc:Fallback>
      </mc:AlternateContent>
      <p:sp>
        <p:nvSpPr>
          <p:cNvPr id="9" name="TextBox 8">
            <a:extLst>
              <a:ext uri="{FF2B5EF4-FFF2-40B4-BE49-F238E27FC236}">
                <a16:creationId xmlns:a16="http://schemas.microsoft.com/office/drawing/2014/main" id="{7BAF13D1-241D-B775-0B78-A495BBDAC9C1}"/>
              </a:ext>
            </a:extLst>
          </p:cNvPr>
          <p:cNvSpPr txBox="1"/>
          <p:nvPr/>
        </p:nvSpPr>
        <p:spPr>
          <a:xfrm>
            <a:off x="3614166" y="0"/>
            <a:ext cx="2969514" cy="523220"/>
          </a:xfrm>
          <a:prstGeom prst="rect">
            <a:avLst/>
          </a:prstGeom>
          <a:noFill/>
        </p:spPr>
        <p:txBody>
          <a:bodyPr wrap="square">
            <a:spAutoFit/>
          </a:bodyPr>
          <a:lstStyle/>
          <a:p>
            <a:r>
              <a:rPr lang="en-US" sz="2800" b="1" dirty="0">
                <a:solidFill>
                  <a:schemeClr val="accent6">
                    <a:lumMod val="60000"/>
                    <a:lumOff val="40000"/>
                  </a:schemeClr>
                </a:solidFill>
              </a:rPr>
              <a:t>Text to 3D</a:t>
            </a:r>
            <a:r>
              <a:rPr lang="en-US" sz="2800" dirty="0">
                <a:solidFill>
                  <a:schemeClr val="accent6">
                    <a:lumMod val="60000"/>
                    <a:lumOff val="40000"/>
                  </a:schemeClr>
                </a:solidFill>
              </a:rPr>
              <a:t> images </a:t>
            </a:r>
            <a:endParaRPr lang="en-IN" sz="2400" dirty="0"/>
          </a:p>
        </p:txBody>
      </p:sp>
    </p:spTree>
    <p:extLst>
      <p:ext uri="{BB962C8B-B14F-4D97-AF65-F5344CB8AC3E}">
        <p14:creationId xmlns:p14="http://schemas.microsoft.com/office/powerpoint/2010/main" val="1255575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047EAB9-475F-F5A4-85F0-70C0C56AE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CEDC25-95AE-D22D-D006-EA2A6FACDD9A}"/>
              </a:ext>
            </a:extLst>
          </p:cNvPr>
          <p:cNvSpPr txBox="1">
            <a:spLocks/>
          </p:cNvSpPr>
          <p:nvPr/>
        </p:nvSpPr>
        <p:spPr>
          <a:xfrm>
            <a:off x="0" y="1295922"/>
            <a:ext cx="6492240" cy="334122"/>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chemeClr val="accent6">
                    <a:lumMod val="60000"/>
                    <a:lumOff val="40000"/>
                  </a:schemeClr>
                </a:solidFill>
              </a:rPr>
              <a:t>https://huggingface.co/spaces/Roblox/cube3d-interactive</a:t>
            </a:r>
          </a:p>
        </p:txBody>
      </p:sp>
      <p:sp>
        <p:nvSpPr>
          <p:cNvPr id="8" name="TextBox 7">
            <a:extLst>
              <a:ext uri="{FF2B5EF4-FFF2-40B4-BE49-F238E27FC236}">
                <a16:creationId xmlns:a16="http://schemas.microsoft.com/office/drawing/2014/main" id="{4CD96884-267C-8B64-6D31-3ED27AA03E2D}"/>
              </a:ext>
            </a:extLst>
          </p:cNvPr>
          <p:cNvSpPr txBox="1"/>
          <p:nvPr/>
        </p:nvSpPr>
        <p:spPr>
          <a:xfrm>
            <a:off x="6645700" y="750695"/>
            <a:ext cx="4985467" cy="1200329"/>
          </a:xfrm>
          <a:prstGeom prst="rect">
            <a:avLst/>
          </a:prstGeom>
          <a:noFill/>
        </p:spPr>
        <p:txBody>
          <a:bodyPr wrap="square" rtlCol="0">
            <a:spAutoFit/>
          </a:bodyPr>
          <a:lstStyle/>
          <a:p>
            <a:r>
              <a:rPr lang="en-US" dirty="0">
                <a:solidFill>
                  <a:schemeClr val="accent6">
                    <a:lumMod val="60000"/>
                    <a:lumOff val="40000"/>
                  </a:schemeClr>
                </a:solidFill>
              </a:rPr>
              <a:t>It took 3 minutes to generate this 3D image. It rotates with mouse</a:t>
            </a:r>
          </a:p>
          <a:p>
            <a:r>
              <a:rPr lang="en-US" b="1" u="sng" dirty="0">
                <a:solidFill>
                  <a:schemeClr val="accent6">
                    <a:lumMod val="60000"/>
                    <a:lumOff val="40000"/>
                  </a:schemeClr>
                </a:solidFill>
              </a:rPr>
              <a:t>Prompt: </a:t>
            </a:r>
            <a:r>
              <a:rPr lang="en-US" i="1" dirty="0">
                <a:solidFill>
                  <a:schemeClr val="accent6">
                    <a:lumMod val="60000"/>
                    <a:lumOff val="40000"/>
                  </a:schemeClr>
                </a:solidFill>
              </a:rPr>
              <a:t>Draw a Cube with length=3, width=2 and height=2. Make each side different colors</a:t>
            </a:r>
            <a:endParaRPr lang="en-IN" i="1" dirty="0">
              <a:solidFill>
                <a:schemeClr val="accent6">
                  <a:lumMod val="60000"/>
                  <a:lumOff val="40000"/>
                </a:schemeClr>
              </a:solidFill>
            </a:endParaRPr>
          </a:p>
        </p:txBody>
      </p:sp>
      <p:pic>
        <p:nvPicPr>
          <p:cNvPr id="5" name="Picture 4">
            <a:extLst>
              <a:ext uri="{FF2B5EF4-FFF2-40B4-BE49-F238E27FC236}">
                <a16:creationId xmlns:a16="http://schemas.microsoft.com/office/drawing/2014/main" id="{48A46346-3CF1-707A-42CD-BA0D65E8D311}"/>
              </a:ext>
            </a:extLst>
          </p:cNvPr>
          <p:cNvPicPr>
            <a:picLocks noChangeAspect="1"/>
          </p:cNvPicPr>
          <p:nvPr/>
        </p:nvPicPr>
        <p:blipFill>
          <a:blip r:embed="rId2"/>
          <a:stretch>
            <a:fillRect/>
          </a:stretch>
        </p:blipFill>
        <p:spPr>
          <a:xfrm>
            <a:off x="985998" y="2201647"/>
            <a:ext cx="8439509" cy="4621763"/>
          </a:xfrm>
          <a:prstGeom prst="rect">
            <a:avLst/>
          </a:prstGeom>
        </p:spPr>
      </p:pic>
      <p:cxnSp>
        <p:nvCxnSpPr>
          <p:cNvPr id="10" name="Straight Arrow Connector 9">
            <a:extLst>
              <a:ext uri="{FF2B5EF4-FFF2-40B4-BE49-F238E27FC236}">
                <a16:creationId xmlns:a16="http://schemas.microsoft.com/office/drawing/2014/main" id="{EEB5E833-5E2D-F1CF-CC65-7E5F78B4E1DF}"/>
              </a:ext>
            </a:extLst>
          </p:cNvPr>
          <p:cNvCxnSpPr>
            <a:cxnSpLocks/>
          </p:cNvCxnSpPr>
          <p:nvPr/>
        </p:nvCxnSpPr>
        <p:spPr>
          <a:xfrm>
            <a:off x="7686136" y="2201647"/>
            <a:ext cx="517585" cy="200804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 name="TextBox 5">
            <a:extLst>
              <a:ext uri="{FF2B5EF4-FFF2-40B4-BE49-F238E27FC236}">
                <a16:creationId xmlns:a16="http://schemas.microsoft.com/office/drawing/2014/main" id="{942D20AB-73F1-A870-C5A1-4D51C2EB1021}"/>
              </a:ext>
            </a:extLst>
          </p:cNvPr>
          <p:cNvSpPr txBox="1"/>
          <p:nvPr/>
        </p:nvSpPr>
        <p:spPr>
          <a:xfrm>
            <a:off x="3445002" y="38408"/>
            <a:ext cx="6094476" cy="461665"/>
          </a:xfrm>
          <a:prstGeom prst="rect">
            <a:avLst/>
          </a:prstGeom>
          <a:noFill/>
        </p:spPr>
        <p:txBody>
          <a:bodyPr wrap="square">
            <a:spAutoFit/>
          </a:bodyPr>
          <a:lstStyle/>
          <a:p>
            <a:r>
              <a:rPr lang="en-US" sz="2400" dirty="0">
                <a:solidFill>
                  <a:schemeClr val="accent6">
                    <a:lumMod val="60000"/>
                    <a:lumOff val="40000"/>
                  </a:schemeClr>
                </a:solidFill>
              </a:rPr>
              <a:t>Text to 3D images </a:t>
            </a:r>
            <a:endParaRPr lang="en-IN" sz="2000" dirty="0"/>
          </a:p>
        </p:txBody>
      </p:sp>
    </p:spTree>
    <p:extLst>
      <p:ext uri="{BB962C8B-B14F-4D97-AF65-F5344CB8AC3E}">
        <p14:creationId xmlns:p14="http://schemas.microsoft.com/office/powerpoint/2010/main" val="110883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8DD597E-D68B-AC1E-761A-3222F6C0F136}"/>
            </a:ext>
          </a:extLst>
        </p:cNvPr>
        <p:cNvGrpSpPr/>
        <p:nvPr/>
      </p:nvGrpSpPr>
      <p:grpSpPr>
        <a:xfrm>
          <a:off x="0" y="0"/>
          <a:ext cx="0" cy="0"/>
          <a:chOff x="0" y="0"/>
          <a:chExt cx="0" cy="0"/>
        </a:xfrm>
      </p:grpSpPr>
      <p:sp>
        <p:nvSpPr>
          <p:cNvPr id="2" name="Title 1"/>
          <p:cNvSpPr txBox="1">
            <a:spLocks/>
          </p:cNvSpPr>
          <p:nvPr/>
        </p:nvSpPr>
        <p:spPr>
          <a:xfrm>
            <a:off x="2477030" y="4997069"/>
            <a:ext cx="1221188" cy="3693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chemeClr val="accent6">
                    <a:lumMod val="60000"/>
                    <a:lumOff val="40000"/>
                  </a:schemeClr>
                </a:solidFill>
              </a:rPr>
              <a:t>ChatGPT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0153" y="1624720"/>
            <a:ext cx="5002329" cy="504944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795" y="2097945"/>
            <a:ext cx="6315547" cy="2803584"/>
          </a:xfrm>
          <a:prstGeom prst="rect">
            <a:avLst/>
          </a:prstGeom>
        </p:spPr>
      </p:pic>
      <p:sp>
        <p:nvSpPr>
          <p:cNvPr id="6" name="TextBox 5"/>
          <p:cNvSpPr txBox="1"/>
          <p:nvPr/>
        </p:nvSpPr>
        <p:spPr>
          <a:xfrm>
            <a:off x="1246139" y="1261168"/>
            <a:ext cx="3102131" cy="461665"/>
          </a:xfrm>
          <a:prstGeom prst="rect">
            <a:avLst/>
          </a:prstGeom>
          <a:noFill/>
        </p:spPr>
        <p:txBody>
          <a:bodyPr wrap="none" rtlCol="0">
            <a:spAutoFit/>
          </a:bodyPr>
          <a:lstStyle/>
          <a:p>
            <a:r>
              <a:rPr lang="en-US" sz="2400" dirty="0">
                <a:solidFill>
                  <a:schemeClr val="accent6">
                    <a:lumMod val="60000"/>
                    <a:lumOff val="40000"/>
                  </a:schemeClr>
                </a:solidFill>
              </a:rPr>
              <a:t>Text to Text generation</a:t>
            </a:r>
          </a:p>
        </p:txBody>
      </p:sp>
      <p:sp>
        <p:nvSpPr>
          <p:cNvPr id="7" name="TextBox 6"/>
          <p:cNvSpPr txBox="1"/>
          <p:nvPr/>
        </p:nvSpPr>
        <p:spPr>
          <a:xfrm>
            <a:off x="7600675" y="1162350"/>
            <a:ext cx="3281283" cy="461665"/>
          </a:xfrm>
          <a:prstGeom prst="rect">
            <a:avLst/>
          </a:prstGeom>
          <a:noFill/>
        </p:spPr>
        <p:txBody>
          <a:bodyPr wrap="none" rtlCol="0">
            <a:spAutoFit/>
          </a:bodyPr>
          <a:lstStyle/>
          <a:p>
            <a:r>
              <a:rPr lang="en-US" sz="2400" dirty="0">
                <a:solidFill>
                  <a:schemeClr val="accent6">
                    <a:lumMod val="60000"/>
                    <a:lumOff val="40000"/>
                  </a:schemeClr>
                </a:solidFill>
              </a:rPr>
              <a:t>Text to Image generation</a:t>
            </a:r>
          </a:p>
        </p:txBody>
      </p:sp>
    </p:spTree>
    <p:extLst>
      <p:ext uri="{BB962C8B-B14F-4D97-AF65-F5344CB8AC3E}">
        <p14:creationId xmlns:p14="http://schemas.microsoft.com/office/powerpoint/2010/main" val="3786612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4DBFAAD-438B-63B1-67EE-0D16B37AF655}"/>
            </a:ext>
          </a:extLst>
        </p:cNvPr>
        <p:cNvGrpSpPr/>
        <p:nvPr/>
      </p:nvGrpSpPr>
      <p:grpSpPr>
        <a:xfrm>
          <a:off x="0" y="0"/>
          <a:ext cx="0" cy="0"/>
          <a:chOff x="0" y="0"/>
          <a:chExt cx="0" cy="0"/>
        </a:xfrm>
      </p:grpSpPr>
    </p:spTree>
    <p:extLst>
      <p:ext uri="{BB962C8B-B14F-4D97-AF65-F5344CB8AC3E}">
        <p14:creationId xmlns:p14="http://schemas.microsoft.com/office/powerpoint/2010/main" val="3761242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939B888-0F65-DD8A-18AE-9A1716990380}"/>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68541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779" y="1328468"/>
            <a:ext cx="5968193" cy="4511615"/>
          </a:xfrm>
          <a:prstGeom prst="rect">
            <a:avLst/>
          </a:prstGeom>
        </p:spPr>
      </p:pic>
      <p:sp>
        <p:nvSpPr>
          <p:cNvPr id="8" name="TextBox 7"/>
          <p:cNvSpPr txBox="1"/>
          <p:nvPr/>
        </p:nvSpPr>
        <p:spPr>
          <a:xfrm>
            <a:off x="293615" y="46176"/>
            <a:ext cx="4369658" cy="923330"/>
          </a:xfrm>
          <a:prstGeom prst="rect">
            <a:avLst/>
          </a:prstGeom>
          <a:noFill/>
        </p:spPr>
        <p:txBody>
          <a:bodyPr wrap="none" rtlCol="0">
            <a:spAutoFit/>
          </a:bodyPr>
          <a:lstStyle/>
          <a:p>
            <a:r>
              <a:rPr lang="en-US" dirty="0"/>
              <a:t>Text to Code generation: ChatGPT</a:t>
            </a:r>
            <a:br>
              <a:rPr lang="en-US" dirty="0"/>
            </a:br>
            <a:br>
              <a:rPr lang="en-US" dirty="0"/>
            </a:br>
            <a:r>
              <a:rPr lang="en-US" dirty="0"/>
              <a:t>At the end, it recommends you the next step</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5090" y="603052"/>
            <a:ext cx="5080121" cy="6028971"/>
          </a:xfrm>
          <a:prstGeom prst="rect">
            <a:avLst/>
          </a:prstGeom>
        </p:spPr>
      </p:pic>
    </p:spTree>
    <p:extLst>
      <p:ext uri="{BB962C8B-B14F-4D97-AF65-F5344CB8AC3E}">
        <p14:creationId xmlns:p14="http://schemas.microsoft.com/office/powerpoint/2010/main" val="3538243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74E72-5242-4DF5-9FE1-AD16EE55A82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F944AE2-7596-ADB5-3BB6-EE60BA595D2E}"/>
              </a:ext>
            </a:extLst>
          </p:cNvPr>
          <p:cNvSpPr txBox="1"/>
          <p:nvPr/>
        </p:nvSpPr>
        <p:spPr>
          <a:xfrm>
            <a:off x="293615" y="46176"/>
            <a:ext cx="9505993" cy="923330"/>
          </a:xfrm>
          <a:prstGeom prst="rect">
            <a:avLst/>
          </a:prstGeom>
          <a:noFill/>
        </p:spPr>
        <p:txBody>
          <a:bodyPr wrap="square" rtlCol="0">
            <a:spAutoFit/>
          </a:bodyPr>
          <a:lstStyle/>
          <a:p>
            <a:r>
              <a:rPr lang="en-US" dirty="0"/>
              <a:t>Text to Code generation: Perplexity AI</a:t>
            </a:r>
          </a:p>
          <a:p>
            <a:r>
              <a:rPr lang="en-US" dirty="0"/>
              <a:t>Prompt: I have to read a csv file using pandas. The file is 5 GB in size. I want to read this file in chunks. . Give me code for this</a:t>
            </a:r>
          </a:p>
        </p:txBody>
      </p:sp>
      <p:pic>
        <p:nvPicPr>
          <p:cNvPr id="4" name="Picture 3">
            <a:extLst>
              <a:ext uri="{FF2B5EF4-FFF2-40B4-BE49-F238E27FC236}">
                <a16:creationId xmlns:a16="http://schemas.microsoft.com/office/drawing/2014/main" id="{F2C1F9CA-B7EF-50A0-6B3B-21A0746957B6}"/>
              </a:ext>
            </a:extLst>
          </p:cNvPr>
          <p:cNvPicPr>
            <a:picLocks noChangeAspect="1"/>
          </p:cNvPicPr>
          <p:nvPr/>
        </p:nvPicPr>
        <p:blipFill>
          <a:blip r:embed="rId2"/>
          <a:stretch>
            <a:fillRect/>
          </a:stretch>
        </p:blipFill>
        <p:spPr>
          <a:xfrm>
            <a:off x="1216324" y="1315787"/>
            <a:ext cx="9075306" cy="5496037"/>
          </a:xfrm>
          <a:prstGeom prst="rect">
            <a:avLst/>
          </a:prstGeom>
        </p:spPr>
      </p:pic>
    </p:spTree>
    <p:extLst>
      <p:ext uri="{BB962C8B-B14F-4D97-AF65-F5344CB8AC3E}">
        <p14:creationId xmlns:p14="http://schemas.microsoft.com/office/powerpoint/2010/main" val="3761668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93614" y="38224"/>
            <a:ext cx="7642688" cy="646331"/>
          </a:xfrm>
          <a:prstGeom prst="rect">
            <a:avLst/>
          </a:prstGeom>
          <a:noFill/>
        </p:spPr>
        <p:txBody>
          <a:bodyPr wrap="square" rtlCol="0">
            <a:spAutoFit/>
          </a:bodyPr>
          <a:lstStyle/>
          <a:p>
            <a:r>
              <a:rPr lang="en-US" dirty="0"/>
              <a:t>Example: Text to Music generation</a:t>
            </a:r>
          </a:p>
          <a:p>
            <a:r>
              <a:rPr lang="en-US" dirty="0"/>
              <a:t>ChatGPT wrote a code that generated the music</a:t>
            </a:r>
          </a:p>
        </p:txBody>
      </p:sp>
      <p:pic>
        <p:nvPicPr>
          <p:cNvPr id="10" name="farmers_song">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977311" y="934671"/>
            <a:ext cx="609600" cy="609600"/>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75634" y="673279"/>
            <a:ext cx="5539761" cy="6146497"/>
          </a:xfrm>
          <a:prstGeom prst="rect">
            <a:avLst/>
          </a:prstGeom>
        </p:spPr>
      </p:pic>
    </p:spTree>
    <p:extLst>
      <p:ext uri="{BB962C8B-B14F-4D97-AF65-F5344CB8AC3E}">
        <p14:creationId xmlns:p14="http://schemas.microsoft.com/office/powerpoint/2010/main" val="408646081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7000" fill="hold"/>
                                        <p:tgtEl>
                                          <p:spTgt spid="10"/>
                                        </p:tgtEl>
                                      </p:cBhvr>
                                    </p:cmd>
                                  </p:childTnLst>
                                </p:cTn>
                              </p:par>
                            </p:childTnLst>
                          </p:cTn>
                        </p:par>
                      </p:childTnLst>
                    </p:cTn>
                  </p:par>
                </p:childTnLst>
              </p:cTn>
              <p:nextCondLst>
                <p:cond evt="onClick" delay="0">
                  <p:tgtEl>
                    <p:spTgt spid="10"/>
                  </p:tgtEl>
                </p:cond>
              </p:nextCondLst>
            </p:seq>
            <p:audio>
              <p:cMediaNode vol="80000">
                <p:cTn id="7" fill="hold" display="0">
                  <p:stCondLst>
                    <p:cond delay="indefinite"/>
                  </p:stCondLst>
                  <p:endCondLst>
                    <p:cond evt="onStopAudio" delay="0">
                      <p:tgtEl>
                        <p:sldTgt/>
                      </p:tgtEl>
                    </p:cond>
                  </p:endCondLst>
                </p:cTn>
                <p:tgtEl>
                  <p:spTgt spid="10"/>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47"/>
            <a:ext cx="10515600" cy="651825"/>
          </a:xfrm>
        </p:spPr>
        <p:txBody>
          <a:bodyPr>
            <a:normAutofit fontScale="90000"/>
          </a:bodyPr>
          <a:lstStyle/>
          <a:p>
            <a:r>
              <a:rPr lang="en-US" dirty="0"/>
              <a:t>Microsoft image generator</a:t>
            </a:r>
          </a:p>
        </p:txBody>
      </p:sp>
      <p:sp>
        <p:nvSpPr>
          <p:cNvPr id="4" name="TextBox 3"/>
          <p:cNvSpPr txBox="1"/>
          <p:nvPr/>
        </p:nvSpPr>
        <p:spPr>
          <a:xfrm>
            <a:off x="260059" y="646420"/>
            <a:ext cx="7127913" cy="646331"/>
          </a:xfrm>
          <a:prstGeom prst="rect">
            <a:avLst/>
          </a:prstGeom>
          <a:noFill/>
        </p:spPr>
        <p:txBody>
          <a:bodyPr wrap="none" rtlCol="0">
            <a:spAutoFit/>
          </a:bodyPr>
          <a:lstStyle/>
          <a:p>
            <a:r>
              <a:rPr lang="en-US" dirty="0"/>
              <a:t>Website: </a:t>
            </a:r>
            <a:r>
              <a:rPr lang="en-US" dirty="0">
                <a:hlinkClick r:id="rId2"/>
              </a:rPr>
              <a:t>https://create.microsoft.com/en-us/features/ai-image-generator</a:t>
            </a:r>
            <a:endParaRPr lang="en-US" dirty="0"/>
          </a:p>
          <a:p>
            <a:r>
              <a:rPr lang="en-US" dirty="0"/>
              <a:t>Here you have to sign in.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224" y="1685821"/>
            <a:ext cx="8766495" cy="4223763"/>
          </a:xfrm>
          <a:prstGeom prst="rect">
            <a:avLst/>
          </a:prstGeom>
        </p:spPr>
      </p:pic>
      <p:sp>
        <p:nvSpPr>
          <p:cNvPr id="7" name="TextBox 6"/>
          <p:cNvSpPr txBox="1"/>
          <p:nvPr/>
        </p:nvSpPr>
        <p:spPr>
          <a:xfrm>
            <a:off x="10314304" y="4001548"/>
            <a:ext cx="1607080" cy="923330"/>
          </a:xfrm>
          <a:prstGeom prst="rect">
            <a:avLst/>
          </a:prstGeom>
          <a:noFill/>
        </p:spPr>
        <p:txBody>
          <a:bodyPr wrap="square" rtlCol="0">
            <a:spAutoFit/>
          </a:bodyPr>
          <a:lstStyle/>
          <a:p>
            <a:r>
              <a:rPr lang="en-US" dirty="0"/>
              <a:t>Click on any of the following image</a:t>
            </a:r>
          </a:p>
        </p:txBody>
      </p:sp>
      <p:sp>
        <p:nvSpPr>
          <p:cNvPr id="8" name="Down Arrow 7"/>
          <p:cNvSpPr/>
          <p:nvPr/>
        </p:nvSpPr>
        <p:spPr>
          <a:xfrm>
            <a:off x="3093578" y="1162228"/>
            <a:ext cx="324740" cy="4187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9357645" y="4195985"/>
            <a:ext cx="666572" cy="4871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2941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69C17-B80E-1045-8BBA-A92AEA0E4985}"/>
              </a:ext>
            </a:extLst>
          </p:cNvPr>
          <p:cNvSpPr>
            <a:spLocks noGrp="1"/>
          </p:cNvSpPr>
          <p:nvPr>
            <p:ph type="title"/>
          </p:nvPr>
        </p:nvSpPr>
        <p:spPr>
          <a:xfrm>
            <a:off x="838200" y="187837"/>
            <a:ext cx="10515600" cy="810532"/>
          </a:xfrm>
        </p:spPr>
        <p:txBody>
          <a:bodyPr/>
          <a:lstStyle/>
          <a:p>
            <a:r>
              <a:rPr lang="en-US" dirty="0"/>
              <a:t>Simple example</a:t>
            </a:r>
            <a:endParaRPr lang="en-IN" dirty="0"/>
          </a:p>
        </p:txBody>
      </p:sp>
      <p:sp>
        <p:nvSpPr>
          <p:cNvPr id="3" name="Content Placeholder 2">
            <a:extLst>
              <a:ext uri="{FF2B5EF4-FFF2-40B4-BE49-F238E27FC236}">
                <a16:creationId xmlns:a16="http://schemas.microsoft.com/office/drawing/2014/main" id="{9C321225-C3CC-E489-4469-BC3CF88D9764}"/>
              </a:ext>
            </a:extLst>
          </p:cNvPr>
          <p:cNvSpPr>
            <a:spLocks noGrp="1"/>
          </p:cNvSpPr>
          <p:nvPr>
            <p:ph idx="1"/>
          </p:nvPr>
        </p:nvSpPr>
        <p:spPr>
          <a:xfrm>
            <a:off x="139959" y="1315616"/>
            <a:ext cx="11812555" cy="5309119"/>
          </a:xfrm>
        </p:spPr>
        <p:txBody>
          <a:bodyPr>
            <a:noAutofit/>
          </a:bodyPr>
          <a:lstStyle/>
          <a:p>
            <a:r>
              <a:rPr lang="en-IN" sz="1400" dirty="0"/>
              <a:t>Video created by faculty: </a:t>
            </a:r>
            <a:r>
              <a:rPr lang="en-IN" sz="1400" dirty="0">
                <a:hlinkClick r:id="rId2"/>
              </a:rPr>
              <a:t>https://youtu.be/w6S-lzWcQ8I?si=L899Cv66f1OjlDzu</a:t>
            </a:r>
            <a:endParaRPr lang="en-IN" sz="1400" dirty="0"/>
          </a:p>
          <a:p>
            <a:r>
              <a:rPr lang="en-IN" sz="1400" dirty="0" err="1"/>
              <a:t>Openai</a:t>
            </a:r>
            <a:r>
              <a:rPr lang="en-IN" sz="1400" dirty="0"/>
              <a:t> </a:t>
            </a:r>
            <a:r>
              <a:rPr lang="en-IN" sz="1400" dirty="0" err="1"/>
              <a:t>Sora</a:t>
            </a:r>
            <a:r>
              <a:rPr lang="en-IN" sz="1400" dirty="0"/>
              <a:t> Chair: </a:t>
            </a:r>
            <a:r>
              <a:rPr lang="en-IN" sz="1400" dirty="0">
                <a:hlinkClick r:id="rId3"/>
              </a:rPr>
              <a:t>https://youtu.be/lfbImB0_rKY?si=L9MOOoNDNCUIFlzx</a:t>
            </a:r>
            <a:endParaRPr lang="en-IN" sz="1400" dirty="0"/>
          </a:p>
          <a:p>
            <a:pPr marL="0" indent="0">
              <a:buNone/>
            </a:pPr>
            <a:endParaRPr lang="en-US" sz="1400" dirty="0"/>
          </a:p>
          <a:p>
            <a:pPr marL="0" indent="0">
              <a:buNone/>
            </a:pPr>
            <a:r>
              <a:rPr lang="en-US" sz="1400" dirty="0"/>
              <a:t>GenAI in Arts</a:t>
            </a:r>
          </a:p>
          <a:p>
            <a:r>
              <a:rPr lang="en-US" sz="1400" dirty="0"/>
              <a:t>Artist Refik </a:t>
            </a:r>
            <a:r>
              <a:rPr lang="en-US" sz="1400" dirty="0" err="1"/>
              <a:t>Anadol</a:t>
            </a:r>
            <a:r>
              <a:rPr lang="en-US" sz="1400" dirty="0"/>
              <a:t> uses data-driven AI algorithms to 'paint' machine hallucinations: </a:t>
            </a:r>
            <a:r>
              <a:rPr lang="en-IN" sz="1400" dirty="0">
                <a:hlinkClick r:id="rId4"/>
              </a:rPr>
              <a:t>https://youtu.be/S9J96Pq_rvg?si=Dg2R1YHTUNq9UTdP</a:t>
            </a:r>
            <a:endParaRPr lang="en-IN" sz="1400" dirty="0"/>
          </a:p>
          <a:p>
            <a:endParaRPr lang="en-IN" sz="1400" dirty="0"/>
          </a:p>
          <a:p>
            <a:pPr marL="0" indent="0">
              <a:buNone/>
            </a:pPr>
            <a:r>
              <a:rPr lang="en-IN" sz="1400" dirty="0"/>
              <a:t>Commercialization of Gen AI</a:t>
            </a:r>
          </a:p>
          <a:p>
            <a:r>
              <a:rPr lang="en-IN" sz="1400" dirty="0" err="1"/>
              <a:t>Coca-cola</a:t>
            </a:r>
            <a:r>
              <a:rPr lang="en-IN" sz="1400" dirty="0"/>
              <a:t> ad-Masterpiece: https://youtu.be/VGa1imApfdg?si=3CC3ZllRR7KoYwnO</a:t>
            </a:r>
          </a:p>
          <a:p>
            <a:r>
              <a:rPr lang="en-IN" sz="1400" dirty="0" err="1"/>
              <a:t>Coca-cola</a:t>
            </a:r>
            <a:r>
              <a:rPr lang="en-IN" sz="1400" dirty="0"/>
              <a:t> ad Christmas: </a:t>
            </a:r>
            <a:r>
              <a:rPr lang="en-IN" sz="1400" dirty="0">
                <a:hlinkClick r:id="rId5"/>
              </a:rPr>
              <a:t>https://youtu.be/IQWUKWM2JrQ?si=r4X6yUSubbRjPjxP</a:t>
            </a:r>
            <a:endParaRPr lang="en-IN" sz="1400" dirty="0"/>
          </a:p>
          <a:p>
            <a:endParaRPr lang="en-IN" sz="1400" dirty="0"/>
          </a:p>
          <a:p>
            <a:pPr marL="0" indent="0">
              <a:buNone/>
            </a:pPr>
            <a:r>
              <a:rPr lang="en-IN" sz="1400" dirty="0"/>
              <a:t>Deep fake example:</a:t>
            </a:r>
          </a:p>
          <a:p>
            <a:r>
              <a:rPr lang="en-IN" sz="1400" dirty="0"/>
              <a:t>Celebrity Deepfake video (Tom Cruise): https://youtu.be/iyiOVUbsPcM?si=33IivcwtXBedT7rp</a:t>
            </a:r>
          </a:p>
          <a:p>
            <a:endParaRPr lang="en-IN" sz="1400" dirty="0"/>
          </a:p>
          <a:p>
            <a:r>
              <a:rPr lang="en-IN" sz="1400" dirty="0"/>
              <a:t>Construction workers: </a:t>
            </a:r>
            <a:r>
              <a:rPr lang="en-IN" sz="1400" dirty="0">
                <a:hlinkClick r:id="rId6"/>
              </a:rPr>
              <a:t>https://youtu.be/JxkWMOEMu-Q?si=HAwdJkJKvrIjPE3T</a:t>
            </a:r>
            <a:endParaRPr lang="en-IN" sz="1400" dirty="0"/>
          </a:p>
          <a:p>
            <a:r>
              <a:rPr lang="en-IN" sz="1400" dirty="0"/>
              <a:t>Runaway: https://youtu.be/nByslCkykj8?si=ErJahz3rUfj4YEzQ</a:t>
            </a:r>
          </a:p>
          <a:p>
            <a:r>
              <a:rPr lang="en-IN" sz="1400" dirty="0"/>
              <a:t>Video reels: https://youtu.be/6R7v8JVrkr0?si=jgFNufJmPVdrLqIg</a:t>
            </a:r>
          </a:p>
        </p:txBody>
      </p:sp>
    </p:spTree>
    <p:extLst>
      <p:ext uri="{BB962C8B-B14F-4D97-AF65-F5344CB8AC3E}">
        <p14:creationId xmlns:p14="http://schemas.microsoft.com/office/powerpoint/2010/main" val="1843992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26FAF-B93B-9C47-D71D-3DDF94926F88}"/>
              </a:ext>
            </a:extLst>
          </p:cNvPr>
          <p:cNvSpPr>
            <a:spLocks noGrp="1"/>
          </p:cNvSpPr>
          <p:nvPr>
            <p:ph type="title"/>
          </p:nvPr>
        </p:nvSpPr>
        <p:spPr/>
        <p:txBody>
          <a:bodyPr/>
          <a:lstStyle/>
          <a:p>
            <a:r>
              <a:rPr lang="en-US" dirty="0"/>
              <a:t>Sites that create </a:t>
            </a:r>
            <a:r>
              <a:rPr lang="en-US" dirty="0" err="1"/>
              <a:t>GenAI</a:t>
            </a:r>
            <a:r>
              <a:rPr lang="en-US" dirty="0"/>
              <a:t> content:</a:t>
            </a:r>
            <a:endParaRPr lang="en-IN" dirty="0"/>
          </a:p>
        </p:txBody>
      </p:sp>
      <p:sp>
        <p:nvSpPr>
          <p:cNvPr id="3" name="Content Placeholder 2">
            <a:extLst>
              <a:ext uri="{FF2B5EF4-FFF2-40B4-BE49-F238E27FC236}">
                <a16:creationId xmlns:a16="http://schemas.microsoft.com/office/drawing/2014/main" id="{B27BF908-D5AD-1A9F-5E13-067BB5D2E86C}"/>
              </a:ext>
            </a:extLst>
          </p:cNvPr>
          <p:cNvSpPr>
            <a:spLocks noGrp="1"/>
          </p:cNvSpPr>
          <p:nvPr>
            <p:ph idx="1"/>
          </p:nvPr>
        </p:nvSpPr>
        <p:spPr/>
        <p:txBody>
          <a:bodyPr/>
          <a:lstStyle/>
          <a:p>
            <a:r>
              <a:rPr lang="en-IN" dirty="0">
                <a:hlinkClick r:id="rId2"/>
              </a:rPr>
              <a:t>https://www.imagine.art</a:t>
            </a:r>
            <a:endParaRPr lang="en-IN" dirty="0"/>
          </a:p>
          <a:p>
            <a:r>
              <a:rPr lang="en-IN" dirty="0">
                <a:hlinkClick r:id="rId3"/>
              </a:rPr>
              <a:t>https://www.midjourney.com/home</a:t>
            </a:r>
            <a:endParaRPr lang="en-IN" dirty="0"/>
          </a:p>
          <a:p>
            <a:r>
              <a:rPr lang="en-IN" dirty="0">
                <a:hlinkClick r:id="rId4"/>
              </a:rPr>
              <a:t>https://www.bing.com/images/create</a:t>
            </a:r>
            <a:endParaRPr lang="en-IN" dirty="0"/>
          </a:p>
          <a:p>
            <a:r>
              <a:rPr lang="en-IN" dirty="0">
                <a:hlinkClick r:id="rId5"/>
              </a:rPr>
              <a:t>https://lexica.art/</a:t>
            </a:r>
            <a:endParaRPr lang="en-IN" dirty="0"/>
          </a:p>
          <a:p>
            <a:r>
              <a:rPr lang="en-IN" dirty="0" err="1"/>
              <a:t>chatGPT</a:t>
            </a:r>
            <a:r>
              <a:rPr lang="en-IN" dirty="0"/>
              <a:t> -&gt; image generator</a:t>
            </a:r>
          </a:p>
          <a:p>
            <a:r>
              <a:rPr lang="en-IN" dirty="0"/>
              <a:t>(No Longer Active) </a:t>
            </a:r>
            <a:r>
              <a:rPr lang="en-IN" dirty="0">
                <a:hlinkClick r:id="rId6"/>
              </a:rPr>
              <a:t>https://huggingface.co/spaces/editing-images/ledits</a:t>
            </a:r>
            <a:r>
              <a:rPr lang="en-IN" dirty="0"/>
              <a:t> -&gt; upload your photo image and put sunglasses on your photo</a:t>
            </a:r>
          </a:p>
          <a:p>
            <a:r>
              <a:rPr lang="en-IN" dirty="0"/>
              <a:t>https://invideo.io/</a:t>
            </a:r>
          </a:p>
          <a:p>
            <a:endParaRPr lang="en-IN" dirty="0"/>
          </a:p>
        </p:txBody>
      </p:sp>
    </p:spTree>
    <p:extLst>
      <p:ext uri="{BB962C8B-B14F-4D97-AF65-F5344CB8AC3E}">
        <p14:creationId xmlns:p14="http://schemas.microsoft.com/office/powerpoint/2010/main" val="3810980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examples:</a:t>
            </a:r>
          </a:p>
        </p:txBody>
      </p:sp>
      <p:sp>
        <p:nvSpPr>
          <p:cNvPr id="3" name="Content Placeholder 2"/>
          <p:cNvSpPr>
            <a:spLocks noGrp="1"/>
          </p:cNvSpPr>
          <p:nvPr>
            <p:ph idx="1"/>
          </p:nvPr>
        </p:nvSpPr>
        <p:spPr/>
        <p:txBody>
          <a:bodyPr/>
          <a:lstStyle/>
          <a:p>
            <a:r>
              <a:rPr lang="en-US" dirty="0"/>
              <a:t>Top German sports channel </a:t>
            </a:r>
            <a:r>
              <a:rPr lang="en-US" dirty="0">
                <a:hlinkClick r:id="rId2"/>
              </a:rPr>
              <a:t>Ran.de</a:t>
            </a:r>
            <a:r>
              <a:rPr lang="en-US" dirty="0"/>
              <a:t>, part of ProSieben, Germany’s second largest broadcaster, is already producing these sports news updates with the Hour One’s editing platform. After selecting a 3D “Studio” from the template library, the channel’s staff upload the latest game stats and opinions into the editor, — and minutes later, their custom human anchor presents the latest scores and updates with viewers in their native language</a:t>
            </a:r>
          </a:p>
        </p:txBody>
      </p:sp>
    </p:spTree>
    <p:extLst>
      <p:ext uri="{BB962C8B-B14F-4D97-AF65-F5344CB8AC3E}">
        <p14:creationId xmlns:p14="http://schemas.microsoft.com/office/powerpoint/2010/main" val="727469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Applications (p1)</a:t>
            </a:r>
          </a:p>
        </p:txBody>
      </p:sp>
      <p:sp>
        <p:nvSpPr>
          <p:cNvPr id="3" name="Content Placeholder 2"/>
          <p:cNvSpPr>
            <a:spLocks noGrp="1"/>
          </p:cNvSpPr>
          <p:nvPr>
            <p:ph idx="1"/>
          </p:nvPr>
        </p:nvSpPr>
        <p:spPr>
          <a:xfrm>
            <a:off x="230588" y="1343770"/>
            <a:ext cx="11775882" cy="5149105"/>
          </a:xfrm>
        </p:spPr>
        <p:txBody>
          <a:bodyPr>
            <a:normAutofit fontScale="77500" lnSpcReduction="20000"/>
          </a:bodyPr>
          <a:lstStyle/>
          <a:p>
            <a:pPr marL="0" indent="0">
              <a:buNone/>
            </a:pPr>
            <a:r>
              <a:rPr lang="en-US" b="1" dirty="0"/>
              <a:t>1. Content creation: </a:t>
            </a:r>
            <a:r>
              <a:rPr lang="en-US" dirty="0" err="1"/>
              <a:t>GenAI</a:t>
            </a:r>
            <a:r>
              <a:rPr lang="en-US" dirty="0"/>
              <a:t> can assist in generating customized content for marketing, advertising, and social media campaigns. It can create engaging visuals, write persuasive content, and even compose music or design graphics.</a:t>
            </a:r>
          </a:p>
          <a:p>
            <a:pPr marL="0" indent="0" algn="l">
              <a:spcBef>
                <a:spcPts val="750"/>
              </a:spcBef>
              <a:spcAft>
                <a:spcPts val="600"/>
              </a:spcAft>
              <a:buNone/>
            </a:pPr>
            <a:r>
              <a:rPr lang="en-US" b="1" i="0" dirty="0">
                <a:solidFill>
                  <a:srgbClr val="001D35"/>
                </a:solidFill>
                <a:effectLst/>
                <a:latin typeface="Google Sans"/>
              </a:rPr>
              <a:t>Drafting content: </a:t>
            </a:r>
            <a:r>
              <a:rPr lang="en-US" b="0" i="0" dirty="0">
                <a:solidFill>
                  <a:srgbClr val="001D35"/>
                </a:solidFill>
                <a:effectLst/>
                <a:latin typeface="Google Sans"/>
              </a:rPr>
              <a:t>Generate complete text sections based on given parameters like </a:t>
            </a:r>
            <a:r>
              <a:rPr lang="en-US" b="1" i="0" dirty="0">
                <a:solidFill>
                  <a:srgbClr val="001D35"/>
                </a:solidFill>
                <a:effectLst/>
                <a:latin typeface="Google Sans"/>
              </a:rPr>
              <a:t>topic, tone, and style</a:t>
            </a:r>
            <a:r>
              <a:rPr lang="en-US" b="0" i="0" dirty="0">
                <a:solidFill>
                  <a:srgbClr val="001D35"/>
                </a:solidFill>
                <a:effectLst/>
                <a:latin typeface="Google Sans"/>
              </a:rPr>
              <a:t>, which can then be edited and refined by the content creator. </a:t>
            </a:r>
          </a:p>
          <a:p>
            <a:pPr marL="0" indent="0" algn="l">
              <a:buNone/>
            </a:pPr>
            <a:r>
              <a:rPr lang="en-US" b="1" i="0" dirty="0">
                <a:solidFill>
                  <a:srgbClr val="001D35"/>
                </a:solidFill>
                <a:effectLst/>
                <a:latin typeface="Google Sans"/>
              </a:rPr>
              <a:t>Content personalization: </a:t>
            </a:r>
            <a:r>
              <a:rPr lang="en-US" b="0" i="0" dirty="0">
                <a:effectLst/>
                <a:latin typeface="Google Sans"/>
              </a:rPr>
              <a:t>Analyze user data to create customized content that aligns with individual preferences and interests</a:t>
            </a:r>
          </a:p>
          <a:p>
            <a:pPr marL="0" indent="0">
              <a:spcBef>
                <a:spcPts val="750"/>
              </a:spcBef>
              <a:spcAft>
                <a:spcPts val="600"/>
              </a:spcAft>
              <a:buNone/>
            </a:pPr>
            <a:r>
              <a:rPr lang="en-US" b="1" i="0" dirty="0">
                <a:solidFill>
                  <a:srgbClr val="001D35"/>
                </a:solidFill>
                <a:effectLst/>
                <a:latin typeface="Google Sans"/>
              </a:rPr>
              <a:t>Summarization:</a:t>
            </a:r>
            <a:r>
              <a:rPr lang="en-US" dirty="0">
                <a:solidFill>
                  <a:srgbClr val="001D35"/>
                </a:solidFill>
                <a:latin typeface="Google Sans"/>
              </a:rPr>
              <a:t> </a:t>
            </a:r>
            <a:r>
              <a:rPr lang="en-US" b="0" i="0" dirty="0">
                <a:solidFill>
                  <a:srgbClr val="001D35"/>
                </a:solidFill>
                <a:effectLst/>
                <a:latin typeface="Google Sans"/>
              </a:rPr>
              <a:t>Extract key points from existing content to create summaries or generate new pieces with a concise perspective. </a:t>
            </a:r>
            <a:r>
              <a:rPr lang="en-US" dirty="0">
                <a:solidFill>
                  <a:srgbClr val="001D35"/>
                </a:solidFill>
                <a:latin typeface="Google Sans"/>
              </a:rPr>
              <a:t>Example</a:t>
            </a:r>
            <a:r>
              <a:rPr lang="en-US" dirty="0">
                <a:solidFill>
                  <a:srgbClr val="001D35"/>
                </a:solidFill>
                <a:latin typeface="Google Sans"/>
                <a:sym typeface="Wingdings" panose="05000000000000000000" pitchFamily="2" charset="2"/>
              </a:rPr>
              <a:t></a:t>
            </a:r>
            <a:r>
              <a:rPr lang="en-US" dirty="0">
                <a:solidFill>
                  <a:srgbClr val="001D35"/>
                </a:solidFill>
                <a:latin typeface="Google Sans"/>
              </a:rPr>
              <a:t> https://notebooklm.google.com/</a:t>
            </a:r>
            <a:endParaRPr lang="en-US" b="0" i="0" dirty="0">
              <a:solidFill>
                <a:srgbClr val="001D35"/>
              </a:solidFill>
              <a:effectLst/>
              <a:latin typeface="Google Sans"/>
            </a:endParaRPr>
          </a:p>
          <a:p>
            <a:pPr marL="0" indent="0" algn="l">
              <a:spcBef>
                <a:spcPts val="750"/>
              </a:spcBef>
              <a:spcAft>
                <a:spcPts val="600"/>
              </a:spcAft>
              <a:buNone/>
            </a:pPr>
            <a:r>
              <a:rPr lang="en-US" b="1" i="0" dirty="0">
                <a:solidFill>
                  <a:srgbClr val="001D35"/>
                </a:solidFill>
                <a:effectLst/>
                <a:latin typeface="Google Sans"/>
              </a:rPr>
              <a:t>Visual content generation: </a:t>
            </a:r>
            <a:r>
              <a:rPr lang="en-US" b="0" i="0" dirty="0">
                <a:solidFill>
                  <a:srgbClr val="001D35"/>
                </a:solidFill>
                <a:effectLst/>
                <a:latin typeface="Google Sans"/>
              </a:rPr>
              <a:t>Create images, illustrations, or design elements based on textual descriptions, allowing for rapid prototyping and visual ideation. </a:t>
            </a:r>
          </a:p>
          <a:p>
            <a:pPr marL="0" indent="0">
              <a:spcBef>
                <a:spcPts val="750"/>
              </a:spcBef>
              <a:spcAft>
                <a:spcPts val="600"/>
              </a:spcAft>
              <a:buNone/>
            </a:pPr>
            <a:r>
              <a:rPr lang="en-US" b="1" i="0" dirty="0">
                <a:solidFill>
                  <a:srgbClr val="001D35"/>
                </a:solidFill>
                <a:effectLst/>
                <a:latin typeface="Google Sans"/>
              </a:rPr>
              <a:t>Translation and adaptation: </a:t>
            </a:r>
            <a:r>
              <a:rPr lang="en-US" b="0" i="0" dirty="0">
                <a:solidFill>
                  <a:srgbClr val="001D35"/>
                </a:solidFill>
                <a:effectLst/>
                <a:latin typeface="Google Sans"/>
              </a:rPr>
              <a:t>Translate content between languages and adapt it to different cultural contexts. </a:t>
            </a:r>
            <a:r>
              <a:rPr lang="en-US" dirty="0"/>
              <a:t> Enables businesses to communicate effectively across different languages and cultures. They can provide real-time translation services, improving global collaboration and customer support.</a:t>
            </a:r>
            <a:endParaRPr lang="en-US" b="0" i="0" dirty="0">
              <a:solidFill>
                <a:srgbClr val="001D35"/>
              </a:solidFill>
              <a:effectLst/>
              <a:latin typeface="Google Sans"/>
            </a:endParaRPr>
          </a:p>
          <a:p>
            <a:pPr marL="0" indent="0" algn="l">
              <a:spcBef>
                <a:spcPts val="750"/>
              </a:spcBef>
              <a:spcAft>
                <a:spcPts val="1500"/>
              </a:spcAft>
              <a:buNone/>
            </a:pPr>
            <a:r>
              <a:rPr lang="en-US" b="1" i="0" dirty="0">
                <a:solidFill>
                  <a:srgbClr val="001D35"/>
                </a:solidFill>
                <a:effectLst/>
                <a:latin typeface="Google Sans"/>
              </a:rPr>
              <a:t>Social media post generation:</a:t>
            </a:r>
            <a:r>
              <a:rPr lang="en-US" dirty="0">
                <a:solidFill>
                  <a:srgbClr val="001D35"/>
                </a:solidFill>
                <a:latin typeface="Google Sans"/>
              </a:rPr>
              <a:t> </a:t>
            </a:r>
            <a:r>
              <a:rPr lang="en-US" b="0" i="0" dirty="0">
                <a:solidFill>
                  <a:srgbClr val="001D35"/>
                </a:solidFill>
                <a:effectLst/>
                <a:latin typeface="Google Sans"/>
              </a:rPr>
              <a:t>Generate engaging captions, hashtags, and post formats for social media platforms. </a:t>
            </a:r>
            <a:r>
              <a:rPr lang="en-US" dirty="0">
                <a:solidFill>
                  <a:srgbClr val="001D35"/>
                </a:solidFill>
                <a:latin typeface="Google Sans"/>
              </a:rPr>
              <a:t>Example </a:t>
            </a:r>
            <a:r>
              <a:rPr lang="en-US" dirty="0">
                <a:solidFill>
                  <a:srgbClr val="001D35"/>
                </a:solidFill>
                <a:latin typeface="Google Sans"/>
                <a:sym typeface="Wingdings" panose="05000000000000000000" pitchFamily="2" charset="2"/>
              </a:rPr>
              <a:t> Use </a:t>
            </a:r>
            <a:r>
              <a:rPr lang="en-US" dirty="0" err="1">
                <a:solidFill>
                  <a:srgbClr val="001D35"/>
                </a:solidFill>
                <a:latin typeface="Google Sans"/>
                <a:sym typeface="Wingdings" panose="05000000000000000000" pitchFamily="2" charset="2"/>
              </a:rPr>
              <a:t>NotebookLLM</a:t>
            </a:r>
            <a:r>
              <a:rPr lang="en-US" dirty="0">
                <a:solidFill>
                  <a:srgbClr val="001D35"/>
                </a:solidFill>
                <a:latin typeface="Google Sans"/>
                <a:sym typeface="Wingdings" panose="05000000000000000000" pitchFamily="2" charset="2"/>
              </a:rPr>
              <a:t> to generate description for videos</a:t>
            </a:r>
            <a:endParaRPr lang="en-US" b="0" i="0" dirty="0">
              <a:solidFill>
                <a:srgbClr val="001D35"/>
              </a:solidFill>
              <a:effectLst/>
              <a:latin typeface="Google Sans"/>
            </a:endParaRPr>
          </a:p>
          <a:p>
            <a:pPr marL="0" indent="0" algn="l">
              <a:spcBef>
                <a:spcPts val="750"/>
              </a:spcBef>
              <a:spcAft>
                <a:spcPts val="600"/>
              </a:spcAft>
              <a:buNone/>
            </a:pPr>
            <a:endParaRPr lang="en-US" b="0" i="0" dirty="0">
              <a:solidFill>
                <a:srgbClr val="001D35"/>
              </a:solidFill>
              <a:effectLst/>
              <a:latin typeface="Google Sans"/>
            </a:endParaRPr>
          </a:p>
          <a:p>
            <a:pPr marL="0" indent="0" algn="l">
              <a:spcBef>
                <a:spcPts val="750"/>
              </a:spcBef>
              <a:spcAft>
                <a:spcPts val="600"/>
              </a:spcAft>
              <a:buNone/>
            </a:pPr>
            <a:endParaRPr lang="en-US" b="0" i="0" dirty="0">
              <a:solidFill>
                <a:srgbClr val="001D35"/>
              </a:solidFill>
              <a:effectLst/>
              <a:latin typeface="Google Sans"/>
            </a:endParaRPr>
          </a:p>
          <a:p>
            <a:pPr marL="0" indent="0" algn="l">
              <a:spcBef>
                <a:spcPts val="750"/>
              </a:spcBef>
              <a:spcAft>
                <a:spcPts val="600"/>
              </a:spcAft>
              <a:buNone/>
            </a:pPr>
            <a:endParaRPr lang="en-US" b="0" i="0" dirty="0">
              <a:solidFill>
                <a:srgbClr val="001D35"/>
              </a:solidFill>
              <a:effectLst/>
              <a:latin typeface="Google Sans"/>
            </a:endParaRPr>
          </a:p>
        </p:txBody>
      </p:sp>
    </p:spTree>
    <p:extLst>
      <p:ext uri="{BB962C8B-B14F-4D97-AF65-F5344CB8AC3E}">
        <p14:creationId xmlns:p14="http://schemas.microsoft.com/office/powerpoint/2010/main" val="1025504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D3454-87ED-6E8C-8A71-A3BDE6634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F9738-246F-1274-2458-67D5E0A6BE1A}"/>
              </a:ext>
            </a:extLst>
          </p:cNvPr>
          <p:cNvSpPr>
            <a:spLocks noGrp="1"/>
          </p:cNvSpPr>
          <p:nvPr>
            <p:ph type="title"/>
          </p:nvPr>
        </p:nvSpPr>
        <p:spPr/>
        <p:txBody>
          <a:bodyPr/>
          <a:lstStyle/>
          <a:p>
            <a:pPr algn="ctr"/>
            <a:r>
              <a:rPr lang="en-US" dirty="0"/>
              <a:t>Applications (p2)</a:t>
            </a:r>
          </a:p>
        </p:txBody>
      </p:sp>
      <p:sp>
        <p:nvSpPr>
          <p:cNvPr id="3" name="Content Placeholder 2">
            <a:extLst>
              <a:ext uri="{FF2B5EF4-FFF2-40B4-BE49-F238E27FC236}">
                <a16:creationId xmlns:a16="http://schemas.microsoft.com/office/drawing/2014/main" id="{C24DEA85-64A3-5BAA-A309-B43494A789A0}"/>
              </a:ext>
            </a:extLst>
          </p:cNvPr>
          <p:cNvSpPr>
            <a:spLocks noGrp="1"/>
          </p:cNvSpPr>
          <p:nvPr>
            <p:ph idx="1"/>
          </p:nvPr>
        </p:nvSpPr>
        <p:spPr/>
        <p:txBody>
          <a:bodyPr>
            <a:normAutofit fontScale="92500" lnSpcReduction="20000"/>
          </a:bodyPr>
          <a:lstStyle/>
          <a:p>
            <a:pPr marL="0" indent="0">
              <a:buNone/>
            </a:pPr>
            <a:r>
              <a:rPr lang="en-US" b="1" dirty="0"/>
              <a:t>2. Virtual assistants: </a:t>
            </a:r>
            <a:r>
              <a:rPr lang="en-US" dirty="0" err="1"/>
              <a:t>GenAI</a:t>
            </a:r>
            <a:r>
              <a:rPr lang="en-US" dirty="0"/>
              <a:t>-powered virtual assistants can provide personalized and interactive support to employees. They can answer queries, schedule appointments, automate tasks, and engage in natural language conversations.</a:t>
            </a:r>
          </a:p>
          <a:p>
            <a:pPr marL="0" indent="0">
              <a:buNone/>
            </a:pPr>
            <a:r>
              <a:rPr lang="en-US" b="1" dirty="0"/>
              <a:t>3. Creative design: </a:t>
            </a:r>
            <a:r>
              <a:rPr lang="en-US" dirty="0" err="1"/>
              <a:t>GenAI</a:t>
            </a:r>
            <a:r>
              <a:rPr lang="en-US" dirty="0"/>
              <a:t> can aid designers in creating unique and innovative designs. They can generate variations of design elements, layouts, or color schemes, providing inspiration and saving time in the creative process. The model that does this is text-</a:t>
            </a:r>
            <a:r>
              <a:rPr lang="en-US" dirty="0" err="1"/>
              <a:t>toz</a:t>
            </a:r>
            <a:r>
              <a:rPr lang="en-US" dirty="0"/>
              <a:t>-image, image-to-image, audio-to-image.</a:t>
            </a:r>
          </a:p>
          <a:p>
            <a:pPr marL="0" indent="0">
              <a:buNone/>
            </a:pPr>
            <a:r>
              <a:rPr lang="en-US" b="1" dirty="0"/>
              <a:t>4. Science and medicine:</a:t>
            </a:r>
            <a:r>
              <a:rPr lang="en-US" dirty="0"/>
              <a:t> In life sciences, generative AI is being used to </a:t>
            </a:r>
            <a:r>
              <a:rPr lang="en-US" b="1" dirty="0"/>
              <a:t>design novel drug candidates</a:t>
            </a:r>
            <a:r>
              <a:rPr lang="en-US" dirty="0"/>
              <a:t>, cutting the discovery phases to a matter of days instead of years. For medical imaging, GANs are now being used to </a:t>
            </a:r>
            <a:r>
              <a:rPr lang="en-US" b="1" dirty="0"/>
              <a:t>generate synthetic brain MRI images for training AI</a:t>
            </a:r>
            <a:r>
              <a:rPr lang="en-US" dirty="0"/>
              <a:t>. This is particularly useful in scenarios where data is scarce due to privacy concerns.</a:t>
            </a:r>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2968568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1066</Words>
  <Application>Microsoft Office PowerPoint</Application>
  <PresentationFormat>Widescreen</PresentationFormat>
  <Paragraphs>91</Paragraphs>
  <Slides>25</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Google Sans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Microsoft image generator</vt:lpstr>
      <vt:lpstr>Simple example</vt:lpstr>
      <vt:lpstr>Sites that create GenAI content:</vt:lpstr>
      <vt:lpstr>Video examples:</vt:lpstr>
      <vt:lpstr>Applications (p1)</vt:lpstr>
      <vt:lpstr>Applications (p2)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17</cp:revision>
  <dcterms:created xsi:type="dcterms:W3CDTF">2026-09-25T02:37:34Z</dcterms:created>
  <dcterms:modified xsi:type="dcterms:W3CDTF">2026-09-25T08:46:05Z</dcterms:modified>
</cp:coreProperties>
</file>