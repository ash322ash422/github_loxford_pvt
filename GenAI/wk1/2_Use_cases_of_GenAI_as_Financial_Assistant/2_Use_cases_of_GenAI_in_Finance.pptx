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26" r:id="rId2"/>
    <p:sldId id="327" r:id="rId3"/>
    <p:sldId id="330" r:id="rId4"/>
    <p:sldId id="331" r:id="rId5"/>
    <p:sldId id="329" r:id="rId6"/>
    <p:sldId id="32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9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10D3CF-0C14-4B9D-BBBE-D214AD193F54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80D3FD-5A89-4436-89C3-3BA26E524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638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0D3FD-5A89-4436-89C3-3BA26E524E0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703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275" y="6314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746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9BEC6-CD07-E642-935A-717866C4A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550594-AF25-4BFC-027D-762F66F3CC38}"/>
              </a:ext>
            </a:extLst>
          </p:cNvPr>
          <p:cNvSpPr txBox="1"/>
          <p:nvPr/>
        </p:nvSpPr>
        <p:spPr>
          <a:xfrm>
            <a:off x="519223" y="1309643"/>
            <a:ext cx="107919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 Assistant</a:t>
            </a:r>
            <a:endParaRPr lang="en-IN" sz="60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946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688177-7454-B6E2-B7E4-5572537AC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81F4EC-3065-4FA0-334D-FAFC8E187F24}"/>
              </a:ext>
            </a:extLst>
          </p:cNvPr>
          <p:cNvSpPr txBox="1"/>
          <p:nvPr/>
        </p:nvSpPr>
        <p:spPr>
          <a:xfrm>
            <a:off x="528367" y="486683"/>
            <a:ext cx="1079190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Generative AI Assistant?</a:t>
            </a:r>
          </a:p>
          <a:p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 Generative AI (GenAI) Assistant is an AI-powered application that understands a user's request in </a:t>
            </a: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natural language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and generates useful responses, such as explanations, summaries, recommendations, reports, or answers based on data.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3D66B8A-2B23-B7A1-94C0-9848C6EFF2A6}"/>
              </a:ext>
            </a:extLst>
          </p:cNvPr>
          <p:cNvSpPr/>
          <p:nvPr/>
        </p:nvSpPr>
        <p:spPr>
          <a:xfrm>
            <a:off x="4098036" y="3987182"/>
            <a:ext cx="3995928" cy="7589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>
                <a:solidFill>
                  <a:schemeClr val="bg1"/>
                </a:solidFill>
              </a:rPr>
              <a:t>Generative AI Assistant</a:t>
            </a: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448A20-2352-1B10-5E48-842D1D250B68}"/>
              </a:ext>
            </a:extLst>
          </p:cNvPr>
          <p:cNvSpPr txBox="1"/>
          <p:nvPr/>
        </p:nvSpPr>
        <p:spPr>
          <a:xfrm>
            <a:off x="952119" y="4109626"/>
            <a:ext cx="25667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User Question.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BD1661-1174-B1DD-F0B8-91A7E4C92917}"/>
              </a:ext>
            </a:extLst>
          </p:cNvPr>
          <p:cNvSpPr txBox="1"/>
          <p:nvPr/>
        </p:nvSpPr>
        <p:spPr>
          <a:xfrm>
            <a:off x="9128760" y="3848635"/>
            <a:ext cx="2895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Explanation,</a:t>
            </a:r>
          </a:p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summaries, recommendations, charts, </a:t>
            </a:r>
          </a:p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reports, etc. </a:t>
            </a:r>
            <a:endParaRPr lang="en-IN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63C1E03-4EB0-A09B-9261-87707913A9DE}"/>
              </a:ext>
            </a:extLst>
          </p:cNvPr>
          <p:cNvSpPr/>
          <p:nvPr/>
        </p:nvSpPr>
        <p:spPr>
          <a:xfrm>
            <a:off x="3606546" y="4187952"/>
            <a:ext cx="403860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F0F1537-0CF2-73CD-7436-4752F06FD8BC}"/>
              </a:ext>
            </a:extLst>
          </p:cNvPr>
          <p:cNvSpPr/>
          <p:nvPr/>
        </p:nvSpPr>
        <p:spPr>
          <a:xfrm>
            <a:off x="8452866" y="4139291"/>
            <a:ext cx="403860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390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5FA0C-7429-C95E-6101-7B95B15B0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880B45-3D63-C758-8C38-D2B312FC9148}"/>
              </a:ext>
            </a:extLst>
          </p:cNvPr>
          <p:cNvSpPr txBox="1"/>
          <p:nvPr/>
        </p:nvSpPr>
        <p:spPr>
          <a:xfrm>
            <a:off x="171751" y="302017"/>
            <a:ext cx="107919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1:  You ask “I earn ₹80,000 per month. Analyze my expenses and suggest how I can save ₹10,000 more every month.”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4CA755-9352-082A-3F2E-A9E9E8A0FE8D}"/>
              </a:ext>
            </a:extLst>
          </p:cNvPr>
          <p:cNvSpPr/>
          <p:nvPr/>
        </p:nvSpPr>
        <p:spPr>
          <a:xfrm>
            <a:off x="4098036" y="3987182"/>
            <a:ext cx="4168140" cy="14992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>
                <a:solidFill>
                  <a:schemeClr val="bg1"/>
                </a:solidFill>
              </a:rPr>
              <a:t>Generative AI Assistant</a:t>
            </a:r>
          </a:p>
          <a:p>
            <a:pPr algn="ctr"/>
            <a:r>
              <a:rPr lang="en-IN" sz="2000"/>
              <a:t>(Personal Finance Assistant)</a:t>
            </a:r>
            <a:endParaRPr lang="en-IN" sz="200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27C4D8-A91B-612D-BBFB-35EE542409B8}"/>
              </a:ext>
            </a:extLst>
          </p:cNvPr>
          <p:cNvSpPr txBox="1"/>
          <p:nvPr/>
        </p:nvSpPr>
        <p:spPr>
          <a:xfrm>
            <a:off x="0" y="3767295"/>
            <a:ext cx="360654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“I earn ₹80,000 per month. Analyze my expenses and suggest how I can save ₹10,000 more every month.”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D74842-6297-0086-E7B2-F57AEB8DABA0}"/>
              </a:ext>
            </a:extLst>
          </p:cNvPr>
          <p:cNvSpPr txBox="1"/>
          <p:nvPr/>
        </p:nvSpPr>
        <p:spPr>
          <a:xfrm>
            <a:off x="9043416" y="3990123"/>
            <a:ext cx="29809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Generates a personalized budget and recommendations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12553C1-25BC-DC81-FA76-B4CDDAF6FD59}"/>
              </a:ext>
            </a:extLst>
          </p:cNvPr>
          <p:cNvSpPr/>
          <p:nvPr/>
        </p:nvSpPr>
        <p:spPr>
          <a:xfrm>
            <a:off x="3606546" y="4187952"/>
            <a:ext cx="403860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7956210-4115-2AC4-08D4-EE1E8F5F3D9D}"/>
              </a:ext>
            </a:extLst>
          </p:cNvPr>
          <p:cNvSpPr/>
          <p:nvPr/>
        </p:nvSpPr>
        <p:spPr>
          <a:xfrm>
            <a:off x="8452866" y="4139291"/>
            <a:ext cx="403860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ADCCE3-12D1-0503-DA49-8A9E4F86B954}"/>
              </a:ext>
            </a:extLst>
          </p:cNvPr>
          <p:cNvSpPr txBox="1"/>
          <p:nvPr/>
        </p:nvSpPr>
        <p:spPr>
          <a:xfrm>
            <a:off x="53340" y="5909652"/>
            <a:ext cx="37871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E</a:t>
            </a: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xcel sheet containing monthly expenses</a:t>
            </a:r>
            <a:endParaRPr lang="en-IN" sz="18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819BB4D-A817-184A-A825-98FC6178CB23}"/>
              </a:ext>
            </a:extLst>
          </p:cNvPr>
          <p:cNvSpPr/>
          <p:nvPr/>
        </p:nvSpPr>
        <p:spPr>
          <a:xfrm rot="19637979">
            <a:off x="2451179" y="5311590"/>
            <a:ext cx="1697158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54809B-71ED-86D2-484B-CBED188F1390}"/>
              </a:ext>
            </a:extLst>
          </p:cNvPr>
          <p:cNvSpPr txBox="1"/>
          <p:nvPr/>
        </p:nvSpPr>
        <p:spPr>
          <a:xfrm>
            <a:off x="1442466" y="1315993"/>
            <a:ext cx="970407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What Gen AI Assistant does: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Retrieves categorized transaction data, if authorized.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Groups spending into categories such as rent, food, travel, and shopping.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Calculates spending patterns and identifies possible savings.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Generates a personalized budget and recommendations.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0BC7F-85C9-516A-D477-22A46B64773B}"/>
              </a:ext>
            </a:extLst>
          </p:cNvPr>
          <p:cNvSpPr txBox="1"/>
          <p:nvPr/>
        </p:nvSpPr>
        <p:spPr>
          <a:xfrm>
            <a:off x="6476238" y="6001984"/>
            <a:ext cx="44874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>
                <a:solidFill>
                  <a:srgbClr val="00B0F0"/>
                </a:solidFill>
              </a:rPr>
              <a:t>Demo of above: U</a:t>
            </a:r>
            <a:r>
              <a:rPr lang="en-IN" b="1" u="sng">
                <a:solidFill>
                  <a:srgbClr val="00B0F0"/>
                </a:solidFill>
              </a:rPr>
              <a:t>pload the expense file in Google Gemini  and ask the above question </a:t>
            </a:r>
          </a:p>
        </p:txBody>
      </p:sp>
    </p:spTree>
    <p:extLst>
      <p:ext uri="{BB962C8B-B14F-4D97-AF65-F5344CB8AC3E}">
        <p14:creationId xmlns:p14="http://schemas.microsoft.com/office/powerpoint/2010/main" val="2361207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014F3-39C8-0991-F541-8F68DC3F5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EED6BD7-5592-C397-BBD0-10F723675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814" y="0"/>
            <a:ext cx="7569411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CE68484-5C42-864A-C4F5-9D389E24E315}"/>
              </a:ext>
            </a:extLst>
          </p:cNvPr>
          <p:cNvSpPr txBox="1"/>
          <p:nvPr/>
        </p:nvSpPr>
        <p:spPr>
          <a:xfrm>
            <a:off x="171751" y="302017"/>
            <a:ext cx="23428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670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C36CF-F715-1B81-F573-A97B08A9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BBADA6-1E21-4090-61AC-42F84B34601D}"/>
              </a:ext>
            </a:extLst>
          </p:cNvPr>
          <p:cNvSpPr txBox="1"/>
          <p:nvPr/>
        </p:nvSpPr>
        <p:spPr>
          <a:xfrm>
            <a:off x="171751" y="302017"/>
            <a:ext cx="107919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2:  You ask “Analyze Apple's quarterly results and summarize its revenue growth, profitability, and major risks.”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54271C1-30B0-ABEB-C707-AC6A1A9A5072}"/>
              </a:ext>
            </a:extLst>
          </p:cNvPr>
          <p:cNvSpPr/>
          <p:nvPr/>
        </p:nvSpPr>
        <p:spPr>
          <a:xfrm>
            <a:off x="4098036" y="3987182"/>
            <a:ext cx="4168140" cy="14992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>
                <a:solidFill>
                  <a:schemeClr val="bg1"/>
                </a:solidFill>
              </a:rPr>
              <a:t>Generative AI Assistant</a:t>
            </a:r>
          </a:p>
          <a:p>
            <a:pPr algn="ctr"/>
            <a:r>
              <a:rPr lang="en-IN" sz="2000"/>
              <a:t>(Financial Report Analysis Assistant)</a:t>
            </a:r>
            <a:endParaRPr lang="en-IN" sz="200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CB9942-BF52-9D53-6D34-7CBE04CF43EA}"/>
              </a:ext>
            </a:extLst>
          </p:cNvPr>
          <p:cNvSpPr txBox="1"/>
          <p:nvPr/>
        </p:nvSpPr>
        <p:spPr>
          <a:xfrm>
            <a:off x="53340" y="3802517"/>
            <a:ext cx="34655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“Analyze Apple's quarterly results and summarize its revenue growth, profitability, and major risks.”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AF02EF-FD3F-5B69-0457-07957960E766}"/>
              </a:ext>
            </a:extLst>
          </p:cNvPr>
          <p:cNvSpPr txBox="1"/>
          <p:nvPr/>
        </p:nvSpPr>
        <p:spPr>
          <a:xfrm>
            <a:off x="9128760" y="3848635"/>
            <a:ext cx="289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Generates a financial analysis in natural language.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359BAC5-C676-262D-21DC-8BD979116FAF}"/>
              </a:ext>
            </a:extLst>
          </p:cNvPr>
          <p:cNvSpPr/>
          <p:nvPr/>
        </p:nvSpPr>
        <p:spPr>
          <a:xfrm>
            <a:off x="3606546" y="4187952"/>
            <a:ext cx="403860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7F1B986-351B-ADE5-A7C3-B3FBDF6C3CC4}"/>
              </a:ext>
            </a:extLst>
          </p:cNvPr>
          <p:cNvSpPr/>
          <p:nvPr/>
        </p:nvSpPr>
        <p:spPr>
          <a:xfrm>
            <a:off x="8452866" y="4139291"/>
            <a:ext cx="403860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05B2A1-A328-455D-3525-29759288F346}"/>
              </a:ext>
            </a:extLst>
          </p:cNvPr>
          <p:cNvSpPr txBox="1"/>
          <p:nvPr/>
        </p:nvSpPr>
        <p:spPr>
          <a:xfrm>
            <a:off x="53340" y="5909652"/>
            <a:ext cx="37871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Website of Apple data</a:t>
            </a:r>
            <a:endParaRPr lang="en-IN" sz="18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A3CAC7F-9AE5-EBD8-AA60-6427862A63AA}"/>
              </a:ext>
            </a:extLst>
          </p:cNvPr>
          <p:cNvSpPr/>
          <p:nvPr/>
        </p:nvSpPr>
        <p:spPr>
          <a:xfrm rot="19637979">
            <a:off x="2451179" y="5311590"/>
            <a:ext cx="1697158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39E1A7-8EF9-EE03-3E1F-33B9309D501F}"/>
              </a:ext>
            </a:extLst>
          </p:cNvPr>
          <p:cNvSpPr txBox="1"/>
          <p:nvPr/>
        </p:nvSpPr>
        <p:spPr>
          <a:xfrm>
            <a:off x="1561338" y="1239409"/>
            <a:ext cx="103075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What Gen AI Assistant does: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Retrieves financial reports and relevant financial data.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Extracts important metrics such as revenue, profit, and operating expenses.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Compares current results with previous quarters.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Generates a concise financial analysis in natural language.</a:t>
            </a:r>
          </a:p>
        </p:txBody>
      </p:sp>
    </p:spTree>
    <p:extLst>
      <p:ext uri="{BB962C8B-B14F-4D97-AF65-F5344CB8AC3E}">
        <p14:creationId xmlns:p14="http://schemas.microsoft.com/office/powerpoint/2010/main" val="2026089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3E5A1-99A9-E1E1-C42C-467248A47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E49F4D-FCD2-AC09-D7BE-E868AEA4AA6D}"/>
              </a:ext>
            </a:extLst>
          </p:cNvPr>
          <p:cNvSpPr txBox="1"/>
          <p:nvPr/>
        </p:nvSpPr>
        <p:spPr>
          <a:xfrm>
            <a:off x="171751" y="302017"/>
            <a:ext cx="107919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3:  You ask “Analyze my company's expenses this quarter and identify where we can save money.”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31FA01-C264-A4F7-E331-E5B59184BB3C}"/>
              </a:ext>
            </a:extLst>
          </p:cNvPr>
          <p:cNvSpPr txBox="1"/>
          <p:nvPr/>
        </p:nvSpPr>
        <p:spPr>
          <a:xfrm>
            <a:off x="53340" y="3802517"/>
            <a:ext cx="34655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“Analyze my company's expenses this quarter and identify where we can save money.”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682813-EEE7-CF51-13DC-872B11A4E3A0}"/>
              </a:ext>
            </a:extLst>
          </p:cNvPr>
          <p:cNvSpPr txBox="1"/>
          <p:nvPr/>
        </p:nvSpPr>
        <p:spPr>
          <a:xfrm>
            <a:off x="9128760" y="3848635"/>
            <a:ext cx="2895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Summaries,</a:t>
            </a:r>
          </a:p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recommendations,</a:t>
            </a:r>
          </a:p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charts, </a:t>
            </a:r>
          </a:p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reports, etc. </a:t>
            </a:r>
            <a:endParaRPr lang="en-IN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FE53E5E-2461-8EAA-0F13-40AEA0E9C92D}"/>
              </a:ext>
            </a:extLst>
          </p:cNvPr>
          <p:cNvSpPr/>
          <p:nvPr/>
        </p:nvSpPr>
        <p:spPr>
          <a:xfrm>
            <a:off x="3606546" y="4187952"/>
            <a:ext cx="403860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7FECD85-9075-AF9C-AD18-3187FD44036E}"/>
              </a:ext>
            </a:extLst>
          </p:cNvPr>
          <p:cNvSpPr/>
          <p:nvPr/>
        </p:nvSpPr>
        <p:spPr>
          <a:xfrm>
            <a:off x="8452866" y="4139291"/>
            <a:ext cx="403860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37200E-AFD9-B2F3-1B63-68362C990C9D}"/>
              </a:ext>
            </a:extLst>
          </p:cNvPr>
          <p:cNvSpPr txBox="1"/>
          <p:nvPr/>
        </p:nvSpPr>
        <p:spPr>
          <a:xfrm>
            <a:off x="53340" y="5909652"/>
            <a:ext cx="25831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</a:rPr>
              <a:t>Excel file with data</a:t>
            </a:r>
            <a:endParaRPr lang="en-IN" sz="180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BFA4D93-CE33-3B58-A324-DF94A917792B}"/>
              </a:ext>
            </a:extLst>
          </p:cNvPr>
          <p:cNvSpPr/>
          <p:nvPr/>
        </p:nvSpPr>
        <p:spPr>
          <a:xfrm rot="19637979">
            <a:off x="2320671" y="5285231"/>
            <a:ext cx="1829562" cy="4023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404EAC-AFD0-5AEB-9D17-EEDF103E7463}"/>
              </a:ext>
            </a:extLst>
          </p:cNvPr>
          <p:cNvSpPr/>
          <p:nvPr/>
        </p:nvSpPr>
        <p:spPr>
          <a:xfrm>
            <a:off x="4098036" y="3987182"/>
            <a:ext cx="4168140" cy="14992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>
                <a:solidFill>
                  <a:schemeClr val="bg1"/>
                </a:solidFill>
              </a:rPr>
              <a:t>Generative AI Assistant</a:t>
            </a:r>
          </a:p>
          <a:p>
            <a:pPr algn="ctr"/>
            <a:r>
              <a:rPr lang="en-IN" sz="2000"/>
              <a:t>(Expenses Analysis Assistant)</a:t>
            </a:r>
            <a:endParaRPr lang="en-IN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060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362</Words>
  <Application>Microsoft Office PowerPoint</Application>
  <PresentationFormat>Widescreen</PresentationFormat>
  <Paragraphs>43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33</cp:revision>
  <dcterms:created xsi:type="dcterms:W3CDTF">2026-09-25T02:37:34Z</dcterms:created>
  <dcterms:modified xsi:type="dcterms:W3CDTF">2026-10-14T01:37:28Z</dcterms:modified>
</cp:coreProperties>
</file>