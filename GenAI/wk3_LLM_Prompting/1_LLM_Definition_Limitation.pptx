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90" r:id="rId3"/>
    <p:sldId id="291" r:id="rId4"/>
    <p:sldId id="299" r:id="rId5"/>
    <p:sldId id="292" r:id="rId6"/>
    <p:sldId id="300" r:id="rId7"/>
    <p:sldId id="293" r:id="rId8"/>
    <p:sldId id="294" r:id="rId9"/>
    <p:sldId id="295" r:id="rId10"/>
    <p:sldId id="296" r:id="rId11"/>
    <p:sldId id="297" r:id="rId12"/>
    <p:sldId id="29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8A318F-F6FC-6CB9-CEC6-8B2C0F5EE2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F8D7EB-E762-144D-1496-7468331365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756C53-114C-E36A-EC7E-AEE4C2084A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6CC798-66E8-807B-3021-DC717C7ABB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AA2714-B223-D201-168E-C22AD16013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14F047B-8F92-089C-65A3-54359B3F76C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6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3275" y="63142"/>
            <a:ext cx="1295581" cy="924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6810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ECE76-A752-DB86-6111-A724232D26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D6FD18-B58E-8C68-26E2-D916319862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7B759C-A1DF-256A-A624-6AB43BC663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71A0AA-5283-1539-E76D-C2704EDF62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212E95-A93E-CFE8-0044-F1F7486E0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07466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A27E88-1D0E-B19B-1F3F-54DF859CE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CE41C0-D975-5322-05EF-B6920E580E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D7B167-1E87-B93B-75F5-B33217202F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25C962-1ABF-F876-C7DD-10E729E42A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8F7B4D-DA1F-E875-52B5-31F353F492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17961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29F20-A52E-A2BE-2A7C-6344D89003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E9F42D-CDDF-9B84-6F33-25E956F2DD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1E0A4D-E831-6562-11B2-108204244C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5F4BEA-6EB0-7F6F-4BFA-B7DACF40DE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52B4B5-D542-513B-5FBA-7C8418FD6E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5B6383-F1CA-D4A5-9876-F4662B605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76271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CE9337-2FE3-561C-F11A-2CFAC3C888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BCE1B6-2296-C3DE-5C27-E4057DFF68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B2FC1E-2D6D-269A-6807-421A1A9C42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81AD048-C515-130C-8F41-1BA8F41892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C6D4A7E-CE1F-A02A-B92A-059B1FBCF35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6F77709-049A-79A2-F207-FBDA0CAA4E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9DE0EB3-83C0-67E2-5DB9-42DE8540F8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C97AB3-472A-1E13-8460-CE1D861DB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38641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1C5904-8D4D-4CA9-51B3-289632997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E398302-AD6F-2CE6-7442-A4A9683D97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391825-01DE-3CBB-BB33-763481B92D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D5401A-71EA-0313-9EA1-4DC2DB3F75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94445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2418529-294A-5688-70AC-D6FBB26696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74AA024-38B7-5F32-1894-BCE21AADFC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6C172C-4B71-8ABE-DD86-85DD12827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61623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BEB6CF-2A94-DBDD-0D5B-BC12FF3220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4B7D8E-A4B1-A435-346C-19A718C71F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7C91E7-453A-3F92-E638-C337924651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7C4555-70D3-F8F8-D355-E9BBC9EE67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FE752C-45A1-07D0-4240-44893A0DB9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DDD99C-C480-C729-0ECD-BEDE124E84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00938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D2D6FA-24BB-7D09-4CC6-34096CAB0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C60CEAA-CE7A-1BBF-BDA9-B387E6B8B163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19DD54-A44F-A8AE-D4E9-3EB63270CC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06B6FD-902D-C3AC-D0C4-9E348A977E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D6BDC1-316A-149B-EB15-04EF4D60E7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C24CD2-3C56-F4F2-57FB-AA714E502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2738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53211F-A80A-9BAC-AAEC-067CCDA5C0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8AD45D-5A88-1664-D692-069F5C5D1A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32EEB4-BA21-8613-2094-72EEFB7929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ECE1A2-6F93-B3CC-3837-CD60E48CF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E5D015-61E2-E514-FC97-B282920D98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29896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B873E00-8852-9872-6FBC-53717455393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02A146-0150-F26C-6A86-1CA1FD558A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077DF1-F7DE-4956-6F82-6161FC0221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7416A-6960-5BA0-E825-F9D0B514C1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C46A03-0511-8AD1-FB2D-69E35F8F15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77077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C5CC290-6B0D-273C-46F1-4BC1249347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E82B2E-EDC9-AB14-8964-7BE30F8DB1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485163-E247-487C-9AA7-8A7054D4A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BA79C2-4FE3-4D0C-AFFB-D4FCE050D5EA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A01BDB-2D7B-79FC-D492-3CFF792A8A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C906FC-E273-8A6D-0868-0A52746784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38220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12B7DB7-35E5-BB17-EE68-A16E943D3391}"/>
              </a:ext>
            </a:extLst>
          </p:cNvPr>
          <p:cNvSpPr txBox="1"/>
          <p:nvPr/>
        </p:nvSpPr>
        <p:spPr>
          <a:xfrm>
            <a:off x="3048762" y="2228904"/>
            <a:ext cx="6094476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40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Large Language Model</a:t>
            </a:r>
          </a:p>
          <a:p>
            <a:pPr algn="ctr"/>
            <a:r>
              <a:rPr lang="en-IN" sz="40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( LLM </a:t>
            </a:r>
            <a:r>
              <a:rPr lang="en-IN" sz="4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)</a:t>
            </a:r>
            <a:endParaRPr lang="en-IN" sz="4000" b="1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68832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5F0DE03-7596-719C-4AC1-D37DB3578B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0A0408C-F803-BB79-79C5-B5E8E0859B69}"/>
              </a:ext>
            </a:extLst>
          </p:cNvPr>
          <p:cNvSpPr txBox="1"/>
          <p:nvPr/>
        </p:nvSpPr>
        <p:spPr>
          <a:xfrm>
            <a:off x="438912" y="1407498"/>
            <a:ext cx="1084478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LLM = Large Language Model.</a:t>
            </a:r>
            <a:endParaRPr lang="en-IN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An </a:t>
            </a: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AI </a:t>
            </a: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model that can </a:t>
            </a:r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understand and generate human-like language</a:t>
            </a: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  <a:p>
            <a:endParaRPr lang="en-IN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Examples: Models </a:t>
            </a: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from OpenAI, Google, Anthropic, Meta, and others.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FD41854-8920-0D03-A3D9-90545370A5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" y="3894484"/>
            <a:ext cx="2562583" cy="79068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FDDC36A-200A-9684-87DA-9C51BEDAC3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6971" y="4289826"/>
            <a:ext cx="3242759" cy="70494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038F0B7-CC0D-4DD9-9432-CDCA417111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03577" y="3751590"/>
            <a:ext cx="3452284" cy="790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63224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D74D32F-2AF0-D729-AF3F-1949ACAF9B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CB0F3ED-623D-9855-6108-897858F416AA}"/>
              </a:ext>
            </a:extLst>
          </p:cNvPr>
          <p:cNvSpPr txBox="1"/>
          <p:nvPr/>
        </p:nvSpPr>
        <p:spPr>
          <a:xfrm>
            <a:off x="3776471" y="156924"/>
            <a:ext cx="50657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</a:t>
            </a:r>
            <a:r>
              <a:rPr lang="en-IN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orest</a:t>
            </a: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-View Of LLM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758B4D01-69F8-091D-A8BC-A2CF26003084}"/>
              </a:ext>
            </a:extLst>
          </p:cNvPr>
          <p:cNvSpPr/>
          <p:nvPr/>
        </p:nvSpPr>
        <p:spPr>
          <a:xfrm>
            <a:off x="530352" y="896112"/>
            <a:ext cx="2395728" cy="59157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bg1"/>
                </a:solidFill>
              </a:rPr>
              <a:t>Large Amount </a:t>
            </a:r>
            <a:r>
              <a:rPr lang="en-IN">
                <a:solidFill>
                  <a:schemeClr val="bg1"/>
                </a:solidFill>
              </a:rPr>
              <a:t>of Data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10BFC7B-9DAC-A728-9CCB-D7537D76F68F}"/>
              </a:ext>
            </a:extLst>
          </p:cNvPr>
          <p:cNvSpPr/>
          <p:nvPr/>
        </p:nvSpPr>
        <p:spPr>
          <a:xfrm>
            <a:off x="501397" y="2411706"/>
            <a:ext cx="2395728" cy="50013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bg1"/>
                </a:solidFill>
              </a:rPr>
              <a:t>Learned Model</a:t>
            </a:r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2B7B7BB-0EBC-78F8-03F9-5F5AAAE5EBF0}"/>
              </a:ext>
            </a:extLst>
          </p:cNvPr>
          <p:cNvSpPr txBox="1"/>
          <p:nvPr/>
        </p:nvSpPr>
        <p:spPr>
          <a:xfrm>
            <a:off x="2116074" y="1780770"/>
            <a:ext cx="16200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dirty="0">
                <a:solidFill>
                  <a:schemeClr val="bg1"/>
                </a:solidFill>
              </a:rPr>
              <a:t>LLM Training </a:t>
            </a:r>
            <a:endParaRPr lang="en-IN" dirty="0"/>
          </a:p>
        </p:txBody>
      </p:sp>
      <p:sp>
        <p:nvSpPr>
          <p:cNvPr id="10" name="Arrow: Down 9">
            <a:extLst>
              <a:ext uri="{FF2B5EF4-FFF2-40B4-BE49-F238E27FC236}">
                <a16:creationId xmlns:a16="http://schemas.microsoft.com/office/drawing/2014/main" id="{C93D9FFF-38A9-DB5D-E1AB-EF11CCCA7D7F}"/>
              </a:ext>
            </a:extLst>
          </p:cNvPr>
          <p:cNvSpPr/>
          <p:nvPr/>
        </p:nvSpPr>
        <p:spPr>
          <a:xfrm>
            <a:off x="1336928" y="1583858"/>
            <a:ext cx="539496" cy="50013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ectangle: Top Corners One Rounded and One Snipped 14">
            <a:extLst>
              <a:ext uri="{FF2B5EF4-FFF2-40B4-BE49-F238E27FC236}">
                <a16:creationId xmlns:a16="http://schemas.microsoft.com/office/drawing/2014/main" id="{9F0CF547-15DB-985F-9DFB-72AC5DFFC965}"/>
              </a:ext>
            </a:extLst>
          </p:cNvPr>
          <p:cNvSpPr/>
          <p:nvPr/>
        </p:nvSpPr>
        <p:spPr>
          <a:xfrm>
            <a:off x="128016" y="3679410"/>
            <a:ext cx="3776472" cy="2343062"/>
          </a:xfrm>
          <a:prstGeom prst="snip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Generate Text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Summarization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Translation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Q&amp;A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Coding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Classification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Information Extraction</a:t>
            </a:r>
          </a:p>
        </p:txBody>
      </p:sp>
      <p:sp>
        <p:nvSpPr>
          <p:cNvPr id="19" name="Arrow: Down 18">
            <a:extLst>
              <a:ext uri="{FF2B5EF4-FFF2-40B4-BE49-F238E27FC236}">
                <a16:creationId xmlns:a16="http://schemas.microsoft.com/office/drawing/2014/main" id="{F43777D6-459D-2887-5042-75E226F70E7B}"/>
              </a:ext>
            </a:extLst>
          </p:cNvPr>
          <p:cNvSpPr/>
          <p:nvPr/>
        </p:nvSpPr>
        <p:spPr>
          <a:xfrm>
            <a:off x="1336928" y="3016994"/>
            <a:ext cx="539496" cy="50013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AF979DB-643E-0A98-A36D-6BD15568D679}"/>
              </a:ext>
            </a:extLst>
          </p:cNvPr>
          <p:cNvSpPr txBox="1"/>
          <p:nvPr/>
        </p:nvSpPr>
        <p:spPr>
          <a:xfrm>
            <a:off x="4754881" y="1833925"/>
            <a:ext cx="619048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During training, LLM learns statistical patterns and relationships in its training data.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D6BE85CF-CCBD-A600-6B63-759675193D0C}"/>
              </a:ext>
            </a:extLst>
          </p:cNvPr>
          <p:cNvCxnSpPr/>
          <p:nvPr/>
        </p:nvCxnSpPr>
        <p:spPr>
          <a:xfrm flipH="1">
            <a:off x="3315462" y="2312384"/>
            <a:ext cx="1380744" cy="26160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56429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08652E2-EB06-0499-E834-710EF4AD39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23DC5EE-FE6B-EED5-5504-59B26D7EB4FA}"/>
              </a:ext>
            </a:extLst>
          </p:cNvPr>
          <p:cNvSpPr txBox="1"/>
          <p:nvPr/>
        </p:nvSpPr>
        <p:spPr>
          <a:xfrm>
            <a:off x="4919471" y="112494"/>
            <a:ext cx="50657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accent6">
                    <a:lumMod val="60000"/>
                    <a:lumOff val="40000"/>
                  </a:schemeClr>
                </a:solidFill>
              </a:rPr>
              <a:t>Cost of training </a:t>
            </a:r>
            <a:r>
              <a:rPr lang="en-IN">
                <a:solidFill>
                  <a:schemeClr val="accent6">
                    <a:lumMod val="60000"/>
                    <a:lumOff val="40000"/>
                  </a:schemeClr>
                </a:solidFill>
              </a:rPr>
              <a:t>LLM - 2026 (Source Google)</a:t>
            </a:r>
            <a:endParaRPr lang="en-IN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0B1D26C-7BAC-76E0-AFD3-C9296D25EF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2011" y="1067042"/>
            <a:ext cx="7611973" cy="316994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05FB30A-382D-2E49-145B-5EBBC374A8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2246" y="4626864"/>
            <a:ext cx="7231510" cy="2036346"/>
          </a:xfrm>
          <a:prstGeom prst="rect">
            <a:avLst/>
          </a:prstGeom>
        </p:spPr>
      </p:pic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D698684F-B859-B165-F734-C594932C122B}"/>
              </a:ext>
            </a:extLst>
          </p:cNvPr>
          <p:cNvSpPr/>
          <p:nvPr/>
        </p:nvSpPr>
        <p:spPr>
          <a:xfrm>
            <a:off x="530352" y="896112"/>
            <a:ext cx="2395728" cy="59157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bg1"/>
                </a:solidFill>
              </a:rPr>
              <a:t>Large Amount </a:t>
            </a:r>
            <a:r>
              <a:rPr lang="en-IN">
                <a:solidFill>
                  <a:schemeClr val="bg1"/>
                </a:solidFill>
              </a:rPr>
              <a:t>of Data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3AA7BE67-C47F-59B5-FD63-5FE956FBE44D}"/>
              </a:ext>
            </a:extLst>
          </p:cNvPr>
          <p:cNvSpPr/>
          <p:nvPr/>
        </p:nvSpPr>
        <p:spPr>
          <a:xfrm>
            <a:off x="501397" y="2411706"/>
            <a:ext cx="2395728" cy="50013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bg1"/>
                </a:solidFill>
              </a:rPr>
              <a:t>Learned Model</a:t>
            </a:r>
            <a:endParaRPr lang="en-I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32C86FB-A73D-9E46-6018-87691C2A5CBA}"/>
              </a:ext>
            </a:extLst>
          </p:cNvPr>
          <p:cNvSpPr txBox="1"/>
          <p:nvPr/>
        </p:nvSpPr>
        <p:spPr>
          <a:xfrm>
            <a:off x="2116074" y="1780770"/>
            <a:ext cx="16200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dirty="0">
                <a:solidFill>
                  <a:schemeClr val="bg1"/>
                </a:solidFill>
              </a:rPr>
              <a:t>LLM Training </a:t>
            </a:r>
            <a:endParaRPr lang="en-IN" dirty="0"/>
          </a:p>
        </p:txBody>
      </p:sp>
      <p:sp>
        <p:nvSpPr>
          <p:cNvPr id="14" name="Arrow: Down 13">
            <a:extLst>
              <a:ext uri="{FF2B5EF4-FFF2-40B4-BE49-F238E27FC236}">
                <a16:creationId xmlns:a16="http://schemas.microsoft.com/office/drawing/2014/main" id="{FD86214C-1751-B7D0-A397-AA0468CC9201}"/>
              </a:ext>
            </a:extLst>
          </p:cNvPr>
          <p:cNvSpPr/>
          <p:nvPr/>
        </p:nvSpPr>
        <p:spPr>
          <a:xfrm>
            <a:off x="1336928" y="1583858"/>
            <a:ext cx="539496" cy="50013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Rectangle: Top Corners One Rounded and One Snipped 15">
            <a:extLst>
              <a:ext uri="{FF2B5EF4-FFF2-40B4-BE49-F238E27FC236}">
                <a16:creationId xmlns:a16="http://schemas.microsoft.com/office/drawing/2014/main" id="{FBD17AD9-DFF5-9931-4DC3-ADAC5CF393F7}"/>
              </a:ext>
            </a:extLst>
          </p:cNvPr>
          <p:cNvSpPr/>
          <p:nvPr/>
        </p:nvSpPr>
        <p:spPr>
          <a:xfrm>
            <a:off x="128016" y="3679410"/>
            <a:ext cx="3776472" cy="2343062"/>
          </a:xfrm>
          <a:prstGeom prst="snip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Generate Text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Summarization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Translation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Q&amp;A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Coding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Classification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Information Extraction</a:t>
            </a:r>
          </a:p>
        </p:txBody>
      </p:sp>
      <p:sp>
        <p:nvSpPr>
          <p:cNvPr id="17" name="Arrow: Down 16">
            <a:extLst>
              <a:ext uri="{FF2B5EF4-FFF2-40B4-BE49-F238E27FC236}">
                <a16:creationId xmlns:a16="http://schemas.microsoft.com/office/drawing/2014/main" id="{AC5CEC62-4C64-DAA1-C3DA-106B26D53960}"/>
              </a:ext>
            </a:extLst>
          </p:cNvPr>
          <p:cNvSpPr/>
          <p:nvPr/>
        </p:nvSpPr>
        <p:spPr>
          <a:xfrm>
            <a:off x="1336928" y="3016994"/>
            <a:ext cx="539496" cy="50013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2671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C12C669-7C1D-B720-4155-E9FB3CB19C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15853E8-108A-F5A5-2DA4-3647616F6342}"/>
              </a:ext>
            </a:extLst>
          </p:cNvPr>
          <p:cNvSpPr txBox="1"/>
          <p:nvPr/>
        </p:nvSpPr>
        <p:spPr>
          <a:xfrm>
            <a:off x="2820924" y="2603808"/>
            <a:ext cx="619048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IN" sz="40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Major Limitations </a:t>
            </a:r>
            <a:r>
              <a:rPr lang="en-IN" sz="4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of LLMs</a:t>
            </a:r>
          </a:p>
        </p:txBody>
      </p:sp>
    </p:spTree>
    <p:extLst>
      <p:ext uri="{BB962C8B-B14F-4D97-AF65-F5344CB8AC3E}">
        <p14:creationId xmlns:p14="http://schemas.microsoft.com/office/powerpoint/2010/main" val="23166985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B0532FE-CD39-A2C3-B0BD-8C5DFB58A1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C76CA84-831C-002D-60F5-E7FDDB09A58E}"/>
              </a:ext>
            </a:extLst>
          </p:cNvPr>
          <p:cNvSpPr txBox="1"/>
          <p:nvPr/>
        </p:nvSpPr>
        <p:spPr>
          <a:xfrm>
            <a:off x="210312" y="442020"/>
            <a:ext cx="11771376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AutoNum type="arabicPeriod"/>
            </a:pPr>
            <a:r>
              <a:rPr lang="en-IN" sz="24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Hallucination</a:t>
            </a:r>
          </a:p>
          <a:p>
            <a:pPr marL="457200" indent="-457200">
              <a:buAutoNum type="arabicPeriod"/>
            </a:pPr>
            <a:endParaRPr lang="en-IN" sz="2400" b="1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An </a:t>
            </a: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LLM can generate information that sounds convincing but is incorrect.</a:t>
            </a:r>
          </a:p>
          <a:p>
            <a:pPr>
              <a:buNone/>
            </a:pPr>
            <a:endParaRPr lang="en-IN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For example: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You  upload a pdf research paper and ask "Who wrote this research paper?”</a:t>
            </a:r>
          </a:p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model might confidently provide a </a:t>
            </a:r>
            <a:r>
              <a:rPr lang="en-IN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wrong</a:t>
            </a: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author.</a:t>
            </a:r>
          </a:p>
          <a:p>
            <a:pPr>
              <a:buNone/>
            </a:pPr>
            <a:endParaRPr lang="en-IN" sz="2400" i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endParaRPr lang="en-IN" sz="2400" i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"Write a detailed summary of </a:t>
            </a:r>
            <a:r>
              <a:rPr lang="en-IN" sz="2400" i="1">
                <a:solidFill>
                  <a:schemeClr val="accent6">
                    <a:lumMod val="60000"/>
                    <a:lumOff val="40000"/>
                  </a:schemeClr>
                </a:solidFill>
              </a:rPr>
              <a:t>the Monkey-Cat </a:t>
            </a:r>
            <a:r>
              <a:rPr lang="en-IN" sz="24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Treaty Signed between Australia and the Africa coalition, including the names of the lead negotiators .“</a:t>
            </a:r>
          </a:p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model might confidently make-up some </a:t>
            </a:r>
            <a:r>
              <a:rPr lang="en-IN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gibberish  facts</a:t>
            </a: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  <a:p>
            <a:pPr>
              <a:buNone/>
            </a:pPr>
            <a:endParaRPr lang="en-IN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36815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A8DADC7-BDE7-F2D2-902E-D266A9B10B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52A2FA6-BBA8-957E-7C51-C6B1F2013A85}"/>
              </a:ext>
            </a:extLst>
          </p:cNvPr>
          <p:cNvSpPr txBox="1"/>
          <p:nvPr/>
        </p:nvSpPr>
        <p:spPr>
          <a:xfrm>
            <a:off x="183011" y="291405"/>
            <a:ext cx="10899648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Knowledge limitations</a:t>
            </a:r>
          </a:p>
          <a:p>
            <a:endParaRPr lang="en-IN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 model's knowledge can be limited by: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its training data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its training-date cutoff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whether it has access to external information (Like DB tool, Web-search tool, etc.)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LLM should NOT be treated as a live information source.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1019431-EB8E-09F6-620C-ECCF2BA69810}"/>
              </a:ext>
            </a:extLst>
          </p:cNvPr>
          <p:cNvSpPr/>
          <p:nvPr/>
        </p:nvSpPr>
        <p:spPr>
          <a:xfrm>
            <a:off x="183011" y="4649655"/>
            <a:ext cx="2636769" cy="104519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>
                <a:solidFill>
                  <a:schemeClr val="bg1"/>
                </a:solidFill>
              </a:rPr>
              <a:t>Large Amount of </a:t>
            </a:r>
            <a:r>
              <a:rPr lang="en-IN" sz="2000" b="1" i="1" u="sng" dirty="0">
                <a:solidFill>
                  <a:schemeClr val="bg1"/>
                </a:solidFill>
              </a:rPr>
              <a:t>Legal</a:t>
            </a:r>
            <a:r>
              <a:rPr lang="en-IN" sz="2000" dirty="0">
                <a:solidFill>
                  <a:schemeClr val="bg1"/>
                </a:solidFill>
              </a:rPr>
              <a:t> Data </a:t>
            </a:r>
            <a:r>
              <a:rPr lang="en-IN" sz="2000" b="1" i="1" u="sng" dirty="0" err="1">
                <a:solidFill>
                  <a:schemeClr val="bg1"/>
                </a:solidFill>
              </a:rPr>
              <a:t>upto</a:t>
            </a:r>
            <a:r>
              <a:rPr lang="en-IN" sz="2000" b="1" i="1" u="sng" dirty="0">
                <a:solidFill>
                  <a:schemeClr val="bg1"/>
                </a:solidFill>
              </a:rPr>
              <a:t> 2023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304071A-DE8A-983B-E148-DD9C2BB945BA}"/>
              </a:ext>
            </a:extLst>
          </p:cNvPr>
          <p:cNvSpPr/>
          <p:nvPr/>
        </p:nvSpPr>
        <p:spPr>
          <a:xfrm>
            <a:off x="3567182" y="4631258"/>
            <a:ext cx="2395728" cy="1045196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dirty="0">
                <a:solidFill>
                  <a:schemeClr val="bg1"/>
                </a:solidFill>
              </a:rPr>
              <a:t>Learned Model</a:t>
            </a:r>
            <a:endParaRPr lang="en-IN" sz="3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E1B19F6-2529-0C81-A661-D44644FC64EC}"/>
              </a:ext>
            </a:extLst>
          </p:cNvPr>
          <p:cNvSpPr txBox="1"/>
          <p:nvPr/>
        </p:nvSpPr>
        <p:spPr>
          <a:xfrm>
            <a:off x="2462024" y="4276267"/>
            <a:ext cx="16200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dirty="0">
                <a:solidFill>
                  <a:schemeClr val="bg1"/>
                </a:solidFill>
              </a:rPr>
              <a:t>LLM Training </a:t>
            </a:r>
            <a:endParaRPr lang="en-IN" dirty="0"/>
          </a:p>
        </p:txBody>
      </p:sp>
      <p:sp>
        <p:nvSpPr>
          <p:cNvPr id="11" name="Arrow: Down 10">
            <a:extLst>
              <a:ext uri="{FF2B5EF4-FFF2-40B4-BE49-F238E27FC236}">
                <a16:creationId xmlns:a16="http://schemas.microsoft.com/office/drawing/2014/main" id="{EF38F6D8-0114-E4FB-625B-621CAC6AC546}"/>
              </a:ext>
            </a:extLst>
          </p:cNvPr>
          <p:cNvSpPr/>
          <p:nvPr/>
        </p:nvSpPr>
        <p:spPr>
          <a:xfrm rot="16200000">
            <a:off x="3002281" y="4922187"/>
            <a:ext cx="539496" cy="50013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C0914FDF-16B2-DC4C-88C8-DFD8A348C398}"/>
              </a:ext>
            </a:extLst>
          </p:cNvPr>
          <p:cNvSpPr/>
          <p:nvPr/>
        </p:nvSpPr>
        <p:spPr>
          <a:xfrm>
            <a:off x="6728718" y="3963747"/>
            <a:ext cx="4942582" cy="896112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Q&amp;A only about Legal Documents </a:t>
            </a:r>
            <a:r>
              <a:rPr lang="en-US" dirty="0" err="1"/>
              <a:t>upto</a:t>
            </a:r>
            <a:r>
              <a:rPr lang="en-US" dirty="0"/>
              <a:t> 2023</a:t>
            </a:r>
            <a:endParaRPr lang="en-IN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63816390-D2C4-2795-DDE0-330D3F91CE7A}"/>
              </a:ext>
            </a:extLst>
          </p:cNvPr>
          <p:cNvCxnSpPr/>
          <p:nvPr/>
        </p:nvCxnSpPr>
        <p:spPr>
          <a:xfrm flipV="1">
            <a:off x="5987543" y="4376597"/>
            <a:ext cx="502920" cy="53169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474828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3AC8A84-2A7B-BAE2-15AC-483E2E06E7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820BE88-5ECE-EE47-C9E5-9AB86A0D4E36}"/>
              </a:ext>
            </a:extLst>
          </p:cNvPr>
          <p:cNvSpPr txBox="1"/>
          <p:nvPr/>
        </p:nvSpPr>
        <p:spPr>
          <a:xfrm>
            <a:off x="379476" y="322005"/>
            <a:ext cx="6830568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3. </a:t>
            </a:r>
            <a:r>
              <a:rPr lang="en-IN" sz="24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Context limitations</a:t>
            </a:r>
          </a:p>
          <a:p>
            <a:endParaRPr lang="en-IN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LLMs process information within a </a:t>
            </a:r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context window</a:t>
            </a: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  <a:p>
            <a:endParaRPr lang="en-IN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For example a context may contain  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9EE7E4E-1ADB-479F-CA79-BCA578B06068}"/>
              </a:ext>
            </a:extLst>
          </p:cNvPr>
          <p:cNvSpPr/>
          <p:nvPr/>
        </p:nvSpPr>
        <p:spPr>
          <a:xfrm>
            <a:off x="379476" y="2908792"/>
            <a:ext cx="3758184" cy="150876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System instructions +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Previous Conversation History +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Documents + 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User question +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Other information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C865C97-DDF9-AF38-9DE2-CD1758C6B2F3}"/>
              </a:ext>
            </a:extLst>
          </p:cNvPr>
          <p:cNvSpPr txBox="1"/>
          <p:nvPr/>
        </p:nvSpPr>
        <p:spPr>
          <a:xfrm>
            <a:off x="432054" y="5021450"/>
            <a:ext cx="9797796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If context gets overloaded, LLM may </a:t>
            </a: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become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Expensive  ( because more tokens -&gt; more cost)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Slow   ( because more input -&gt; more processing)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Cut </a:t>
            </a: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out some </a:t>
            </a: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info. (because of context window size)</a:t>
            </a:r>
            <a:endParaRPr lang="en-IN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89A7C070-9A7B-7071-F610-E0159E885099}"/>
              </a:ext>
            </a:extLst>
          </p:cNvPr>
          <p:cNvSpPr/>
          <p:nvPr/>
        </p:nvSpPr>
        <p:spPr>
          <a:xfrm>
            <a:off x="4306824" y="3365867"/>
            <a:ext cx="1024128" cy="566928"/>
          </a:xfrm>
          <a:prstGeom prst="rightArrow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A2FCF15C-CA13-808D-14B7-7AB943DC4D7A}"/>
              </a:ext>
            </a:extLst>
          </p:cNvPr>
          <p:cNvSpPr/>
          <p:nvPr/>
        </p:nvSpPr>
        <p:spPr>
          <a:xfrm>
            <a:off x="5398008" y="2721019"/>
            <a:ext cx="3825240" cy="1840409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dirty="0"/>
              <a:t>LLM</a:t>
            </a:r>
            <a:endParaRPr lang="en-IN" sz="6000" dirty="0"/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852E207C-83E3-E228-F3C7-37A82941A803}"/>
              </a:ext>
            </a:extLst>
          </p:cNvPr>
          <p:cNvSpPr/>
          <p:nvPr/>
        </p:nvSpPr>
        <p:spPr>
          <a:xfrm>
            <a:off x="9459468" y="3365867"/>
            <a:ext cx="1024128" cy="566928"/>
          </a:xfrm>
          <a:prstGeom prst="rightArrow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40267D4-C0BC-AC46-5FDA-3DA2D49E29A4}"/>
              </a:ext>
            </a:extLst>
          </p:cNvPr>
          <p:cNvSpPr txBox="1"/>
          <p:nvPr/>
        </p:nvSpPr>
        <p:spPr>
          <a:xfrm>
            <a:off x="4373880" y="3181201"/>
            <a:ext cx="6799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input</a:t>
            </a:r>
            <a:endParaRPr lang="en-IN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4175DF3-F52A-6A33-0273-537C100709DD}"/>
              </a:ext>
            </a:extLst>
          </p:cNvPr>
          <p:cNvSpPr txBox="1"/>
          <p:nvPr/>
        </p:nvSpPr>
        <p:spPr>
          <a:xfrm>
            <a:off x="9567382" y="3106263"/>
            <a:ext cx="8258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output</a:t>
            </a:r>
            <a:endParaRPr lang="en-IN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00786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05DEAAE-9688-A70B-B0CC-C100367C27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61869B7-1DBA-B16A-427B-253DF9E5A708}"/>
              </a:ext>
            </a:extLst>
          </p:cNvPr>
          <p:cNvSpPr txBox="1"/>
          <p:nvPr/>
        </p:nvSpPr>
        <p:spPr>
          <a:xfrm>
            <a:off x="310896" y="382012"/>
            <a:ext cx="8887968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4. Reasoning limitations</a:t>
            </a:r>
          </a:p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When perform reasoning tasks, LLM can still make mistakes with: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complicated mathematics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long chains of logic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ambiguous instructions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multi-step planning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factual verification </a:t>
            </a:r>
          </a:p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Therefore -&gt;  LLM reasoning      ≠   Formal proof system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092C11F-3E50-5E7E-FB38-A5E4F7E2AD60}"/>
              </a:ext>
            </a:extLst>
          </p:cNvPr>
          <p:cNvSpPr txBox="1"/>
          <p:nvPr/>
        </p:nvSpPr>
        <p:spPr>
          <a:xfrm>
            <a:off x="178308" y="4482096"/>
            <a:ext cx="915314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For high-precision tasks, external tools can help.</a:t>
            </a:r>
          </a:p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For example:  LLM </a:t>
            </a:r>
            <a:r>
              <a:rPr lang="en-IN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(Ask to perform calculation or write code)</a:t>
            </a:r>
          </a:p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                   ↓</a:t>
            </a:r>
          </a:p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             Calculator-Tool / Python-Tool </a:t>
            </a:r>
            <a:r>
              <a:rPr lang="en-IN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(Use these tools)</a:t>
            </a:r>
          </a:p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                   ↓</a:t>
            </a:r>
          </a:p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             Exact result</a:t>
            </a:r>
          </a:p>
        </p:txBody>
      </p:sp>
    </p:spTree>
    <p:extLst>
      <p:ext uri="{BB962C8B-B14F-4D97-AF65-F5344CB8AC3E}">
        <p14:creationId xmlns:p14="http://schemas.microsoft.com/office/powerpoint/2010/main" val="6338827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7F8543B-53C1-D04A-F719-36591EAE13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FF6E67C-46BB-6D14-24D9-90F707C94595}"/>
              </a:ext>
            </a:extLst>
          </p:cNvPr>
          <p:cNvSpPr txBox="1"/>
          <p:nvPr/>
        </p:nvSpPr>
        <p:spPr>
          <a:xfrm>
            <a:off x="301752" y="204276"/>
            <a:ext cx="1104595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5. Bias</a:t>
            </a:r>
          </a:p>
          <a:p>
            <a:endParaRPr lang="en-IN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LLMs learn patterns from their training data.</a:t>
            </a:r>
          </a:p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If training data contains biases, those patterns can potentially appear in model outputs.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6AD247E-DD4E-C8C8-52AF-6BF450105AC7}"/>
              </a:ext>
            </a:extLst>
          </p:cNvPr>
          <p:cNvSpPr txBox="1"/>
          <p:nvPr/>
        </p:nvSpPr>
        <p:spPr>
          <a:xfrm>
            <a:off x="164592" y="2587580"/>
            <a:ext cx="647395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i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“Write a story about a successful CEO and their spouse. Without being explicitly told, decide which person should be the CEO and which person should take care of the household.”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1EB1DF4-D394-9730-FEA1-5A40C87C473C}"/>
              </a:ext>
            </a:extLst>
          </p:cNvPr>
          <p:cNvSpPr txBox="1"/>
          <p:nvPr/>
        </p:nvSpPr>
        <p:spPr>
          <a:xfrm>
            <a:off x="7498080" y="2614840"/>
            <a:ext cx="452932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LLM may choose male as CEO and female as housewife when writing a story – </a:t>
            </a:r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GENDER Bias</a:t>
            </a:r>
            <a:endParaRPr lang="en-IN" sz="24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0E4DC39-65E0-441F-9A56-8C99B19A6E91}"/>
              </a:ext>
            </a:extLst>
          </p:cNvPr>
          <p:cNvSpPr txBox="1"/>
          <p:nvPr/>
        </p:nvSpPr>
        <p:spPr>
          <a:xfrm>
            <a:off x="164592" y="4549247"/>
            <a:ext cx="6373368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i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“Rahul Mehta, an Indian, and Michael Connor, an American, are applying for the Product Manager position in IBM. Both have identical qualifications. </a:t>
            </a:r>
          </a:p>
          <a:p>
            <a:r>
              <a:rPr lang="en-IN" sz="2400" i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Who would you expect to communicate better in an international company?”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F60765A-67E6-4BB9-6B3C-13DC44D54F35}"/>
              </a:ext>
            </a:extLst>
          </p:cNvPr>
          <p:cNvSpPr txBox="1"/>
          <p:nvPr/>
        </p:nvSpPr>
        <p:spPr>
          <a:xfrm>
            <a:off x="7498080" y="4637561"/>
            <a:ext cx="437083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LLM may choose Michael as the candidate – </a:t>
            </a:r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COUNTRY Bias</a:t>
            </a:r>
            <a:endParaRPr lang="en-IN" sz="24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C285CFE-BC7F-7A95-7035-39DF915AEF98}"/>
              </a:ext>
            </a:extLst>
          </p:cNvPr>
          <p:cNvSpPr txBox="1"/>
          <p:nvPr/>
        </p:nvSpPr>
        <p:spPr>
          <a:xfrm>
            <a:off x="164592" y="2125915"/>
            <a:ext cx="134416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</a:t>
            </a:r>
          </a:p>
        </p:txBody>
      </p:sp>
      <p:sp>
        <p:nvSpPr>
          <p:cNvPr id="2" name="Arrow: Right 1">
            <a:extLst>
              <a:ext uri="{FF2B5EF4-FFF2-40B4-BE49-F238E27FC236}">
                <a16:creationId xmlns:a16="http://schemas.microsoft.com/office/drawing/2014/main" id="{41092E6C-A29E-3D14-E46B-CD75CB3AA956}"/>
              </a:ext>
            </a:extLst>
          </p:cNvPr>
          <p:cNvSpPr/>
          <p:nvPr/>
        </p:nvSpPr>
        <p:spPr>
          <a:xfrm>
            <a:off x="6775704" y="2962656"/>
            <a:ext cx="566928" cy="46634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29EF0437-76EC-E036-FEB3-8DD518F44AD7}"/>
              </a:ext>
            </a:extLst>
          </p:cNvPr>
          <p:cNvSpPr/>
          <p:nvPr/>
        </p:nvSpPr>
        <p:spPr>
          <a:xfrm>
            <a:off x="6775704" y="4819887"/>
            <a:ext cx="566928" cy="46634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51270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A7109BC-844D-8FBC-7030-6D67D3A099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AC3F8A4-AA0C-0060-311F-1EF76BB70C3B}"/>
              </a:ext>
            </a:extLst>
          </p:cNvPr>
          <p:cNvSpPr txBox="1"/>
          <p:nvPr/>
        </p:nvSpPr>
        <p:spPr>
          <a:xfrm>
            <a:off x="205740" y="397400"/>
            <a:ext cx="7973568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6. Cost and latency</a:t>
            </a:r>
          </a:p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Large models can require significant computational resources.</a:t>
            </a:r>
          </a:p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For an application serving thousands or millions of users:</a:t>
            </a:r>
          </a:p>
          <a:p>
            <a:endParaRPr lang="en-IN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More requests</a:t>
            </a:r>
          </a:p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↓</a:t>
            </a:r>
          </a:p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More inference</a:t>
            </a:r>
          </a:p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↓</a:t>
            </a:r>
          </a:p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More GPU/compute</a:t>
            </a:r>
          </a:p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↓</a:t>
            </a:r>
          </a:p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Higher cost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051D21D-11C4-AE11-78ED-ADED916C3B2C}"/>
              </a:ext>
            </a:extLst>
          </p:cNvPr>
          <p:cNvSpPr txBox="1"/>
          <p:nvPr/>
        </p:nvSpPr>
        <p:spPr>
          <a:xfrm>
            <a:off x="8417052" y="3566160"/>
            <a:ext cx="3479292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SOLUTION – Companies use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smaller models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model routing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caching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batching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quantization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prompt optimization</a:t>
            </a:r>
          </a:p>
        </p:txBody>
      </p:sp>
    </p:spTree>
    <p:extLst>
      <p:ext uri="{BB962C8B-B14F-4D97-AF65-F5344CB8AC3E}">
        <p14:creationId xmlns:p14="http://schemas.microsoft.com/office/powerpoint/2010/main" val="2638552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1722548-DFB9-F9D9-56E9-B7ACBBCF49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250265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578</Words>
  <Application>Microsoft Office PowerPoint</Application>
  <PresentationFormat>Widescreen</PresentationFormat>
  <Paragraphs>112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21</cp:revision>
  <dcterms:created xsi:type="dcterms:W3CDTF">2026-09-25T02:37:34Z</dcterms:created>
  <dcterms:modified xsi:type="dcterms:W3CDTF">2026-10-13T12:13:31Z</dcterms:modified>
</cp:coreProperties>
</file>