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76" r:id="rId2"/>
    <p:sldId id="277" r:id="rId3"/>
    <p:sldId id="278" r:id="rId4"/>
    <p:sldId id="279" r:id="rId5"/>
    <p:sldId id="286" r:id="rId6"/>
    <p:sldId id="287" r:id="rId7"/>
    <p:sldId id="288" r:id="rId8"/>
    <p:sldId id="280" r:id="rId9"/>
    <p:sldId id="285" r:id="rId10"/>
    <p:sldId id="281" r:id="rId11"/>
    <p:sldId id="289" r:id="rId12"/>
    <p:sldId id="282" r:id="rId13"/>
    <p:sldId id="283" r:id="rId14"/>
    <p:sldId id="275" r:id="rId15"/>
    <p:sldId id="284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5ACB2831-3F9C-6EBC-2C93-6F66B5EB3785}"/>
              </a:ext>
            </a:extLst>
          </p:cNvPr>
          <p:cNvSpPr txBox="1"/>
          <p:nvPr/>
        </p:nvSpPr>
        <p:spPr>
          <a:xfrm>
            <a:off x="2118360" y="762293"/>
            <a:ext cx="71780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Evaluating your LLM Apps</a:t>
            </a:r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F65894-1626-170C-27C7-C108DD491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8D95BD58-80E0-F450-02E7-1866125260EE}"/>
              </a:ext>
            </a:extLst>
          </p:cNvPr>
          <p:cNvSpPr txBox="1"/>
          <p:nvPr/>
        </p:nvSpPr>
        <p:spPr>
          <a:xfrm>
            <a:off x="585216" y="762293"/>
            <a:ext cx="8711184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AutoNum type="arabicPeriod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🤔 Why LLM Evaluation is Different</a:t>
            </a:r>
          </a:p>
          <a:p>
            <a:pPr marL="457200" indent="-457200">
              <a:buAutoNum type="arabicPeriod"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Traditional ML: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Clear labels → accuracy, precision, recall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LLMs: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Open-ended outputs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Multiple correct answers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Subjective quality (tone, helpfulness, safety)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👉 Example:</a:t>
            </a:r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Question: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"Explain AI to a 10-year-old"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There is no </a:t>
            </a: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single correct answer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→ evaluation becomes nuanced.</a:t>
            </a:r>
          </a:p>
        </p:txBody>
      </p:sp>
    </p:spTree>
    <p:extLst>
      <p:ext uri="{BB962C8B-B14F-4D97-AF65-F5344CB8AC3E}">
        <p14:creationId xmlns:p14="http://schemas.microsoft.com/office/powerpoint/2010/main" val="13956301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D705BC-383A-AE57-36E6-85B7D3D70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AB636E9F-C801-CF39-2FF0-761EC8ABDFD3}"/>
              </a:ext>
            </a:extLst>
          </p:cNvPr>
          <p:cNvSpPr txBox="1"/>
          <p:nvPr/>
        </p:nvSpPr>
        <p:spPr>
          <a:xfrm>
            <a:off x="256032" y="762293"/>
            <a:ext cx="6172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AutoNum type="arabicPeriod" startAt="2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Types of LLM Evaluation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1C3312-F7A7-F7DD-80B7-FB3A8958C6FE}"/>
              </a:ext>
            </a:extLst>
          </p:cNvPr>
          <p:cNvSpPr txBox="1"/>
          <p:nvPr/>
        </p:nvSpPr>
        <p:spPr>
          <a:xfrm>
            <a:off x="306324" y="1693640"/>
            <a:ext cx="528066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AutoNum type="alphaUcPeriod"/>
            </a:pP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Automatic Evaluation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indent="-457200">
              <a:buAutoNum type="arabicPeriod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String-based metrics</a:t>
            </a:r>
          </a:p>
          <a:p>
            <a:pPr marL="457200" indent="-457200">
              <a:buAutoNum type="arabicPeriod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Semantic similarity</a:t>
            </a:r>
          </a:p>
          <a:p>
            <a:pPr marL="457200" indent="-457200">
              <a:buAutoNum type="arabicPeriod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LLM-as-a-Judge ( Important 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9A853A-AC16-9371-5AA0-14BCB41B534A}"/>
              </a:ext>
            </a:extLst>
          </p:cNvPr>
          <p:cNvSpPr txBox="1"/>
          <p:nvPr/>
        </p:nvSpPr>
        <p:spPr>
          <a:xfrm>
            <a:off x="5426964" y="1717286"/>
            <a:ext cx="22265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B. Human Evaluation (Gold Standard)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031E9D-BF38-D0E2-7A85-206A146424F6}"/>
              </a:ext>
            </a:extLst>
          </p:cNvPr>
          <p:cNvSpPr txBox="1"/>
          <p:nvPr/>
        </p:nvSpPr>
        <p:spPr>
          <a:xfrm>
            <a:off x="8869680" y="1662422"/>
            <a:ext cx="28163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C. Task-Based Evaluation (Best for Applications)</a:t>
            </a:r>
          </a:p>
        </p:txBody>
      </p:sp>
    </p:spTree>
    <p:extLst>
      <p:ext uri="{BB962C8B-B14F-4D97-AF65-F5344CB8AC3E}">
        <p14:creationId xmlns:p14="http://schemas.microsoft.com/office/powerpoint/2010/main" val="32133008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CB35EE-D878-543C-969D-3B62804A1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593FF16B-3889-ABEF-1307-22D9918FE825}"/>
              </a:ext>
            </a:extLst>
          </p:cNvPr>
          <p:cNvSpPr txBox="1"/>
          <p:nvPr/>
        </p:nvSpPr>
        <p:spPr>
          <a:xfrm>
            <a:off x="338328" y="359957"/>
            <a:ext cx="8711184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AutoNum type="arabicPeriod" startAt="2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Types of LLM Evaluation</a:t>
            </a:r>
          </a:p>
          <a:p>
            <a:pPr marL="457200" indent="-457200">
              <a:buAutoNum type="arabicPeriod" startAt="2"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A. Automatic Evaluation (Fast but Limited)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1. String-based metrics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BLEU – 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Bi-Lingual Evaluation Understudy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ROUGE - 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Recall-Oriented Understudy for </a:t>
            </a:r>
            <a:r>
              <a:rPr lang="en-IN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Gisting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Evaluation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Used in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Machine translation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Summarization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⚠️ Problem: They measure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text overlap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not meaning.</a:t>
            </a:r>
          </a:p>
        </p:txBody>
      </p:sp>
    </p:spTree>
    <p:extLst>
      <p:ext uri="{BB962C8B-B14F-4D97-AF65-F5344CB8AC3E}">
        <p14:creationId xmlns:p14="http://schemas.microsoft.com/office/powerpoint/2010/main" val="2830180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C9CD54-3B1E-A3E0-98B4-C8F15E3575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A3295F1B-DF26-2E2E-2D99-A92D907D726A}"/>
              </a:ext>
            </a:extLst>
          </p:cNvPr>
          <p:cNvSpPr txBox="1"/>
          <p:nvPr/>
        </p:nvSpPr>
        <p:spPr>
          <a:xfrm>
            <a:off x="0" y="460541"/>
            <a:ext cx="883310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i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BLEU</a:t>
            </a:r>
          </a:p>
          <a:p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BLEU measures how much the generated text overlaps with the reference text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mainly using </a:t>
            </a: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n-grams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was originally developed for </a:t>
            </a: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machine translation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Image-To-Text Model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62CAEB-B604-C1BE-E3DC-C9DDA8054651}"/>
              </a:ext>
            </a:extLst>
          </p:cNvPr>
          <p:cNvSpPr txBox="1"/>
          <p:nvPr/>
        </p:nvSpPr>
        <p:spPr>
          <a:xfrm>
            <a:off x="8479917" y="786773"/>
            <a:ext cx="396392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does BLEU look at?</a:t>
            </a:r>
          </a:p>
          <a:p>
            <a:pPr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can consider: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1-gram:</a:t>
            </a: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individual words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2-gram:</a:t>
            </a: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pairs of words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3-gram:</a:t>
            </a: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triples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4-gram:</a:t>
            </a: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four-word sequences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549CD6-91E4-08EC-B6C4-4801746FF6C6}"/>
              </a:ext>
            </a:extLst>
          </p:cNvPr>
          <p:cNvSpPr txBox="1"/>
          <p:nvPr/>
        </p:nvSpPr>
        <p:spPr>
          <a:xfrm>
            <a:off x="5085207" y="5566462"/>
            <a:ext cx="735863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If the LLM output is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- A cat sits on a rug.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There is less exact word/phrase overlap → </a:t>
            </a: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lower BLEU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32E635B-730D-8741-8328-7EE91B2A8660}"/>
              </a:ext>
            </a:extLst>
          </p:cNvPr>
          <p:cNvSpPr/>
          <p:nvPr/>
        </p:nvSpPr>
        <p:spPr>
          <a:xfrm>
            <a:off x="3267945" y="3013501"/>
            <a:ext cx="2093976" cy="96926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Image to Text Model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41B033F-8F42-A20D-9E1D-06AF83B3CD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25" y="2944368"/>
            <a:ext cx="2635907" cy="141438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6DB4640-8215-BC2C-B887-89A7405EEA14}"/>
              </a:ext>
            </a:extLst>
          </p:cNvPr>
          <p:cNvSpPr txBox="1"/>
          <p:nvPr/>
        </p:nvSpPr>
        <p:spPr>
          <a:xfrm>
            <a:off x="5722074" y="2944368"/>
            <a:ext cx="63322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Reference    - </a:t>
            </a:r>
            <a:r>
              <a:rPr lang="en-IN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The cat is sitting on the mat.</a:t>
            </a:r>
          </a:p>
          <a:p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LLM output - 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cat is sitting on the mat.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3ED0B70-D524-8DC4-D332-90C3E5D92DC4}"/>
              </a:ext>
            </a:extLst>
          </p:cNvPr>
          <p:cNvSpPr txBox="1"/>
          <p:nvPr/>
        </p:nvSpPr>
        <p:spPr>
          <a:xfrm>
            <a:off x="5769045" y="3911540"/>
            <a:ext cx="623827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output has almost complete n-gram overlap 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→ </a:t>
            </a: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BLEU ≈ 1 / 100%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213F67E8-C9CA-6155-BA7F-41DB0F0374D0}"/>
              </a:ext>
            </a:extLst>
          </p:cNvPr>
          <p:cNvSpPr/>
          <p:nvPr/>
        </p:nvSpPr>
        <p:spPr>
          <a:xfrm>
            <a:off x="2832462" y="3328416"/>
            <a:ext cx="360153" cy="40233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EAA26964-8F67-A318-0A62-7CF8884B2C56}"/>
              </a:ext>
            </a:extLst>
          </p:cNvPr>
          <p:cNvSpPr/>
          <p:nvPr/>
        </p:nvSpPr>
        <p:spPr>
          <a:xfrm>
            <a:off x="5361921" y="3285802"/>
            <a:ext cx="360153" cy="40233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70657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98A32F-CF48-D7D4-09C2-2D23596686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A7FF5F7D-EEE9-FE8F-876E-0BDA672F6BB2}"/>
              </a:ext>
            </a:extLst>
          </p:cNvPr>
          <p:cNvSpPr txBox="1"/>
          <p:nvPr/>
        </p:nvSpPr>
        <p:spPr>
          <a:xfrm>
            <a:off x="83820" y="12680"/>
            <a:ext cx="1202436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i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ROUGE </a:t>
            </a:r>
          </a:p>
          <a:p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ROUGE measures how much of the reference text is captured by the generated text.</a:t>
            </a:r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is particularly common in </a:t>
            </a: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text summarization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AA6CFFD-F6BC-94E5-E58D-09D8122BBB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5798284"/>
              </p:ext>
            </p:extLst>
          </p:nvPr>
        </p:nvGraphicFramePr>
        <p:xfrm>
          <a:off x="958596" y="5039237"/>
          <a:ext cx="5132832" cy="1463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40992">
                  <a:extLst>
                    <a:ext uri="{9D8B030D-6E8A-4147-A177-3AD203B41FA5}">
                      <a16:colId xmlns:a16="http://schemas.microsoft.com/office/drawing/2014/main" val="2090518954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126870940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u="sng" dirty="0"/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u="sng" dirty="0"/>
                        <a:t>What it measures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99793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ROUGE-1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1-word overlap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246060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ROUGE-2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2-word sequence overlap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640132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ROUGE-L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Longest Common Subsequence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90604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689221B-5A4B-F424-DF96-25C68B684E58}"/>
              </a:ext>
            </a:extLst>
          </p:cNvPr>
          <p:cNvSpPr txBox="1"/>
          <p:nvPr/>
        </p:nvSpPr>
        <p:spPr>
          <a:xfrm>
            <a:off x="205740" y="4369046"/>
            <a:ext cx="61904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Common variants of ROUGE: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5B889D2-0BDA-6514-AC06-C8B15B1E4383}"/>
              </a:ext>
            </a:extLst>
          </p:cNvPr>
          <p:cNvSpPr/>
          <p:nvPr/>
        </p:nvSpPr>
        <p:spPr>
          <a:xfrm>
            <a:off x="2999232" y="1785676"/>
            <a:ext cx="1429386" cy="107899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/>
              <a:t>LLM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77267F-5938-D0E0-99C4-04B6DC1F7CF0}"/>
              </a:ext>
            </a:extLst>
          </p:cNvPr>
          <p:cNvSpPr txBox="1"/>
          <p:nvPr/>
        </p:nvSpPr>
        <p:spPr>
          <a:xfrm>
            <a:off x="5257800" y="1452199"/>
            <a:ext cx="6927208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Reference : </a:t>
            </a:r>
            <a:r>
              <a:rPr lang="en-IN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Python is a popular programming language used for AI and data science.</a:t>
            </a:r>
          </a:p>
          <a:p>
            <a:endParaRPr lang="en-IN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LLM Answer: 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Python is widely used for AI and data science.</a:t>
            </a:r>
          </a:p>
          <a:p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There is large overlap in important words, so ROUGE would be relatively high.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7FE1F5-BA74-3A7D-E2BB-DA8209B6B158}"/>
              </a:ext>
            </a:extLst>
          </p:cNvPr>
          <p:cNvSpPr txBox="1"/>
          <p:nvPr/>
        </p:nvSpPr>
        <p:spPr>
          <a:xfrm>
            <a:off x="83820" y="1960900"/>
            <a:ext cx="299770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is Python Language?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C4070AFC-C407-1381-05E1-A06AE9A2D50F}"/>
              </a:ext>
            </a:extLst>
          </p:cNvPr>
          <p:cNvSpPr/>
          <p:nvPr/>
        </p:nvSpPr>
        <p:spPr>
          <a:xfrm>
            <a:off x="2414401" y="2052492"/>
            <a:ext cx="338328" cy="32390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71C9C48B-9735-8C44-48FC-584D58FE9760}"/>
              </a:ext>
            </a:extLst>
          </p:cNvPr>
          <p:cNvSpPr/>
          <p:nvPr/>
        </p:nvSpPr>
        <p:spPr>
          <a:xfrm>
            <a:off x="4744982" y="2052492"/>
            <a:ext cx="338328" cy="32390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01808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9169CD-4CEA-CAF9-1482-58B4EE6E2B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D3A7766B-EB08-6D38-FEE2-4D4AF1BE0B71}"/>
              </a:ext>
            </a:extLst>
          </p:cNvPr>
          <p:cNvSpPr txBox="1"/>
          <p:nvPr/>
        </p:nvSpPr>
        <p:spPr>
          <a:xfrm>
            <a:off x="0" y="378440"/>
            <a:ext cx="1202436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Limitations of BLEU and ROUGE</a:t>
            </a:r>
          </a:p>
          <a:p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BLEU and ROUGE are </a:t>
            </a: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lexical-overlap metrics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They primarily care about whether the same words or sequences appear.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That creates a limitation –</a:t>
            </a:r>
          </a:p>
          <a:p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Reference: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The automobile is very fast.</a:t>
            </a:r>
          </a:p>
          <a:p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LLM: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    The car is extremely quick.</a:t>
            </a:r>
          </a:p>
          <a:p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BLEU/ROUGE would give a relatively low score 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(because the exact words differ)</a:t>
            </a: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but a human will consider these semantically similar.</a:t>
            </a:r>
          </a:p>
        </p:txBody>
      </p:sp>
    </p:spTree>
    <p:extLst>
      <p:ext uri="{BB962C8B-B14F-4D97-AF65-F5344CB8AC3E}">
        <p14:creationId xmlns:p14="http://schemas.microsoft.com/office/powerpoint/2010/main" val="11536314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1A98F0-CD90-F8B7-290B-2A4D52DC3F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19469F0-4C23-1A7A-57F4-8510203B423C}"/>
              </a:ext>
            </a:extLst>
          </p:cNvPr>
          <p:cNvSpPr txBox="1"/>
          <p:nvPr/>
        </p:nvSpPr>
        <p:spPr>
          <a:xfrm>
            <a:off x="338328" y="350813"/>
            <a:ext cx="779983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Semantic similarity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Cosine similarity using embeddings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👉 Example: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"AI is machine intelligence"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"Artificial intelligence is intelligence shown by machines“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Different words → same meaning → good score</a:t>
            </a:r>
          </a:p>
        </p:txBody>
      </p:sp>
    </p:spTree>
    <p:extLst>
      <p:ext uri="{BB962C8B-B14F-4D97-AF65-F5344CB8AC3E}">
        <p14:creationId xmlns:p14="http://schemas.microsoft.com/office/powerpoint/2010/main" val="37855354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D2FE88-51DF-F103-BB1F-5358440D60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F65131A-BD0B-CC01-48B8-B391DA982820}"/>
              </a:ext>
            </a:extLst>
          </p:cNvPr>
          <p:cNvSpPr txBox="1"/>
          <p:nvPr/>
        </p:nvSpPr>
        <p:spPr>
          <a:xfrm>
            <a:off x="246888" y="241085"/>
            <a:ext cx="779983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Semantic similarity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of Cosine similarity using embeddings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8B13598-8115-1970-D75C-A15F404EF5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1072082"/>
            <a:ext cx="8062375" cy="519402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2B89AA2-0D19-AAE7-A090-4ACD652E2979}"/>
              </a:ext>
            </a:extLst>
          </p:cNvPr>
          <p:cNvSpPr txBox="1"/>
          <p:nvPr/>
        </p:nvSpPr>
        <p:spPr>
          <a:xfrm>
            <a:off x="9253728" y="3066296"/>
            <a:ext cx="26090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Generated by LLM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Arrow: Down 4">
            <a:extLst>
              <a:ext uri="{FF2B5EF4-FFF2-40B4-BE49-F238E27FC236}">
                <a16:creationId xmlns:a16="http://schemas.microsoft.com/office/drawing/2014/main" id="{3E9E37AF-78BE-9028-E972-7088FA98AE39}"/>
              </a:ext>
            </a:extLst>
          </p:cNvPr>
          <p:cNvSpPr/>
          <p:nvPr/>
        </p:nvSpPr>
        <p:spPr>
          <a:xfrm rot="16200000">
            <a:off x="8627674" y="3068528"/>
            <a:ext cx="457200" cy="46166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0952FD-8AD7-DA9C-228A-93C8EDBBAE72}"/>
              </a:ext>
            </a:extLst>
          </p:cNvPr>
          <p:cNvSpPr txBox="1"/>
          <p:nvPr/>
        </p:nvSpPr>
        <p:spPr>
          <a:xfrm>
            <a:off x="9320991" y="5725482"/>
            <a:ext cx="260908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Output (maybe):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0.84</a:t>
            </a:r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1A4737BA-0633-AB57-33D6-4CEBA7EBD48C}"/>
              </a:ext>
            </a:extLst>
          </p:cNvPr>
          <p:cNvSpPr/>
          <p:nvPr/>
        </p:nvSpPr>
        <p:spPr>
          <a:xfrm rot="16200000">
            <a:off x="8627674" y="5758203"/>
            <a:ext cx="457200" cy="46166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96689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29F351-97E6-99BC-3574-5624CF0BD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37BC9DE6-44C1-D42B-A1AB-DB42B34ECF59}"/>
              </a:ext>
            </a:extLst>
          </p:cNvPr>
          <p:cNvSpPr txBox="1"/>
          <p:nvPr/>
        </p:nvSpPr>
        <p:spPr>
          <a:xfrm>
            <a:off x="307848" y="128454"/>
            <a:ext cx="683361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LLM-as-a-Judge (Very Important Concept)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 one LLM to evaluate another LLM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85F93E8-74B9-9EE2-E77B-A8A8675C7CB6}"/>
              </a:ext>
            </a:extLst>
          </p:cNvPr>
          <p:cNvSpPr/>
          <p:nvPr/>
        </p:nvSpPr>
        <p:spPr>
          <a:xfrm>
            <a:off x="3300984" y="2578608"/>
            <a:ext cx="2377440" cy="99669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LLM</a:t>
            </a:r>
          </a:p>
          <a:p>
            <a:pPr algn="ctr"/>
            <a:r>
              <a:rPr lang="en-US" sz="2000" dirty="0"/>
              <a:t>(To Be Evaluated)</a:t>
            </a:r>
            <a:endParaRPr lang="en-IN" sz="2000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3E7F1E3-4C81-0994-8F2F-06F71082CD39}"/>
              </a:ext>
            </a:extLst>
          </p:cNvPr>
          <p:cNvSpPr/>
          <p:nvPr/>
        </p:nvSpPr>
        <p:spPr>
          <a:xfrm>
            <a:off x="6934581" y="2565779"/>
            <a:ext cx="2065401" cy="99669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LLM-as-a-Judge</a:t>
            </a:r>
            <a:endParaRPr lang="en-IN" sz="2000" dirty="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2582BA10-9CB2-A3DE-6976-115D11031CB2}"/>
              </a:ext>
            </a:extLst>
          </p:cNvPr>
          <p:cNvSpPr/>
          <p:nvPr/>
        </p:nvSpPr>
        <p:spPr>
          <a:xfrm>
            <a:off x="2679192" y="2779776"/>
            <a:ext cx="374904" cy="46634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F5089A18-008C-082F-4683-B6307D4F21E8}"/>
              </a:ext>
            </a:extLst>
          </p:cNvPr>
          <p:cNvSpPr/>
          <p:nvPr/>
        </p:nvSpPr>
        <p:spPr>
          <a:xfrm>
            <a:off x="6237351" y="2775097"/>
            <a:ext cx="374904" cy="46634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E2F59CB-CFB9-2AE1-C400-7122BF28A536}"/>
              </a:ext>
            </a:extLst>
          </p:cNvPr>
          <p:cNvSpPr txBox="1"/>
          <p:nvPr/>
        </p:nvSpPr>
        <p:spPr>
          <a:xfrm>
            <a:off x="32383" y="1948779"/>
            <a:ext cx="270967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User Input:</a:t>
            </a:r>
          </a:p>
          <a:p>
            <a:r>
              <a:rPr lang="en-US" sz="2400" b="1" i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Explain the difference between a list and a tuple in Python.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0BF5C9D-10D7-BFB1-D663-C8700BD845DE}"/>
              </a:ext>
            </a:extLst>
          </p:cNvPr>
          <p:cNvSpPr txBox="1"/>
          <p:nvPr/>
        </p:nvSpPr>
        <p:spPr>
          <a:xfrm>
            <a:off x="5603368" y="2347775"/>
            <a:ext cx="18204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LLM Output</a:t>
            </a:r>
            <a:endParaRPr lang="en-US" sz="24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8494C9E0-5FB2-7037-6E74-0D0A8661FE28}"/>
              </a:ext>
            </a:extLst>
          </p:cNvPr>
          <p:cNvSpPr/>
          <p:nvPr/>
        </p:nvSpPr>
        <p:spPr>
          <a:xfrm>
            <a:off x="9184005" y="2761381"/>
            <a:ext cx="374904" cy="46634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E8DE3F3-915C-B59E-EC1C-3BAC2DE42F3A}"/>
              </a:ext>
            </a:extLst>
          </p:cNvPr>
          <p:cNvSpPr txBox="1"/>
          <p:nvPr/>
        </p:nvSpPr>
        <p:spPr>
          <a:xfrm>
            <a:off x="9558909" y="2502777"/>
            <a:ext cx="248831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(Scale of 1-10)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Correctness = 7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Clarity = 4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Completeness = 9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6980757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392388-0D55-54D6-A0D3-22818DA3D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800A210-848D-9217-EF11-21725D8F156E}"/>
              </a:ext>
            </a:extLst>
          </p:cNvPr>
          <p:cNvSpPr txBox="1"/>
          <p:nvPr/>
        </p:nvSpPr>
        <p:spPr>
          <a:xfrm>
            <a:off x="265176" y="493776"/>
            <a:ext cx="9546336" cy="594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prompt: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are an expert AI evaluator. 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Grade the model's response below.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[User Request]: 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</a:t>
            </a:r>
          </a:p>
          <a:p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“</a:t>
            </a:r>
            <a:r>
              <a:rPr lang="en-US" sz="2000" b="1" i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Explain the difference between a list and a tuple in Python.”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[LLM Response]: </a:t>
            </a:r>
          </a:p>
          <a:p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"Lists and tuples are both used to store collections of data in Python. The main difference is that lists use square brackets [] and are mutable, meaning you can change them. Tuples use parentheses () and are faster.”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[Evaluation Criteria]: 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Score the answer from 1–10 based on:</a:t>
            </a:r>
          </a:p>
          <a:p>
            <a:pPr marL="342900" indent="-342900">
              <a:buFontTx/>
              <a:buChar char="-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Correctness</a:t>
            </a:r>
          </a:p>
          <a:p>
            <a:pPr marL="342900" indent="-342900">
              <a:buFontTx/>
              <a:buChar char="-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Clarity</a:t>
            </a:r>
          </a:p>
          <a:p>
            <a:pPr marL="342900" indent="-342900">
              <a:buFontTx/>
              <a:buChar char="-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Completeness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Provide a score for each criterion, a brief justification, and an overall final score out of 10.</a:t>
            </a:r>
          </a:p>
        </p:txBody>
      </p:sp>
    </p:spTree>
    <p:extLst>
      <p:ext uri="{BB962C8B-B14F-4D97-AF65-F5344CB8AC3E}">
        <p14:creationId xmlns:p14="http://schemas.microsoft.com/office/powerpoint/2010/main" val="13186245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424533-D77A-1785-35A3-0E55C66CC4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15E8481D-47C6-F2CE-702D-0ADA63226212}"/>
              </a:ext>
            </a:extLst>
          </p:cNvPr>
          <p:cNvSpPr txBox="1"/>
          <p:nvPr/>
        </p:nvSpPr>
        <p:spPr>
          <a:xfrm>
            <a:off x="338328" y="359957"/>
            <a:ext cx="8711184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B. Human Evaluation (Gold Standard)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Humans rate outputs on: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Correctness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Helpfulness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Tone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Safety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👉 Scale example: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 = Bad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5 = Excellent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⚠️ Downsides: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Expensive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Slow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Subjective – Person A and Person B may have different evaluation</a:t>
            </a:r>
          </a:p>
        </p:txBody>
      </p:sp>
    </p:spTree>
    <p:extLst>
      <p:ext uri="{BB962C8B-B14F-4D97-AF65-F5344CB8AC3E}">
        <p14:creationId xmlns:p14="http://schemas.microsoft.com/office/powerpoint/2010/main" val="26940159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0FE0C2-515A-1FB9-6E87-2332007B95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E2A2EF94-E9B7-B103-0BFE-8AE5618DE19D}"/>
              </a:ext>
            </a:extLst>
          </p:cNvPr>
          <p:cNvSpPr txBox="1"/>
          <p:nvPr/>
        </p:nvSpPr>
        <p:spPr>
          <a:xfrm>
            <a:off x="338328" y="359957"/>
            <a:ext cx="871118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C. Task-Based Evaluation (Best for Applications)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Evaluate based on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real task success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👉 Example: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CD03DD2-7896-A4EF-DC8D-985763A885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8490255"/>
              </p:ext>
            </p:extLst>
          </p:nvPr>
        </p:nvGraphicFramePr>
        <p:xfrm>
          <a:off x="600456" y="2514600"/>
          <a:ext cx="6979920" cy="1828800"/>
        </p:xfrm>
        <a:graphic>
          <a:graphicData uri="http://schemas.openxmlformats.org/drawingml/2006/table">
            <a:tbl>
              <a:tblPr/>
              <a:tblGrid>
                <a:gridCol w="3121152">
                  <a:extLst>
                    <a:ext uri="{9D8B030D-6E8A-4147-A177-3AD203B41FA5}">
                      <a16:colId xmlns:a16="http://schemas.microsoft.com/office/drawing/2014/main" val="2187318101"/>
                    </a:ext>
                  </a:extLst>
                </a:gridCol>
                <a:gridCol w="3858768">
                  <a:extLst>
                    <a:ext uri="{9D8B030D-6E8A-4147-A177-3AD203B41FA5}">
                      <a16:colId xmlns:a16="http://schemas.microsoft.com/office/drawing/2014/main" val="36754896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Application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Metric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9485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Chatbot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% of correct answers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2688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RAG system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Retrieval relevance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18829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Code generator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Code runs successfully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13748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22340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C77CCC6-4718-03B0-0334-A9697605A77F}"/>
              </a:ext>
            </a:extLst>
          </p:cNvPr>
          <p:cNvSpPr txBox="1"/>
          <p:nvPr/>
        </p:nvSpPr>
        <p:spPr>
          <a:xfrm>
            <a:off x="1760220" y="318254"/>
            <a:ext cx="61904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Modern LLM evaluation often also uses: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D0B54BC-5816-EFC1-88D1-B05CE8041E17}"/>
              </a:ext>
            </a:extLst>
          </p:cNvPr>
          <p:cNvSpPr txBox="1"/>
          <p:nvPr/>
        </p:nvSpPr>
        <p:spPr>
          <a:xfrm>
            <a:off x="3022092" y="4480559"/>
            <a:ext cx="712774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LLM-as-a-Judge</a:t>
            </a:r>
          </a:p>
          <a:p>
            <a:r>
              <a:rPr lang="en-IN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↓</a:t>
            </a:r>
          </a:p>
          <a:p>
            <a:r>
              <a:rPr lang="en-IN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Quality, correctness, relevance, reasoning, etc.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649E6D0-BA62-4710-109B-B0246E43ECD5}"/>
              </a:ext>
            </a:extLst>
          </p:cNvPr>
          <p:cNvSpPr txBox="1"/>
          <p:nvPr/>
        </p:nvSpPr>
        <p:spPr>
          <a:xfrm>
            <a:off x="306324" y="1410623"/>
            <a:ext cx="283921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BLEU / ROUGE</a:t>
            </a:r>
          </a:p>
          <a:p>
            <a:r>
              <a:rPr lang="en-IN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↓</a:t>
            </a:r>
          </a:p>
          <a:p>
            <a:r>
              <a:rPr lang="en-IN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Lexical similarity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395AC64-661C-1B9F-9E29-631ECF8718AE}"/>
              </a:ext>
            </a:extLst>
          </p:cNvPr>
          <p:cNvSpPr txBox="1"/>
          <p:nvPr/>
        </p:nvSpPr>
        <p:spPr>
          <a:xfrm>
            <a:off x="5847588" y="1410623"/>
            <a:ext cx="619048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Embedding / semantic similarity</a:t>
            </a:r>
          </a:p>
          <a:p>
            <a:r>
              <a:rPr lang="en-IN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↓</a:t>
            </a:r>
          </a:p>
          <a:p>
            <a:r>
              <a:rPr lang="en-IN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Meaning similarity</a:t>
            </a:r>
          </a:p>
        </p:txBody>
      </p:sp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5D6BD6-2C39-49FE-9C58-E3E039118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11A4A1F4-41F3-B2C1-09EE-7E0C49E2D52F}"/>
              </a:ext>
            </a:extLst>
          </p:cNvPr>
          <p:cNvSpPr txBox="1"/>
          <p:nvPr/>
        </p:nvSpPr>
        <p:spPr>
          <a:xfrm>
            <a:off x="338328" y="359957"/>
            <a:ext cx="583387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📊 Key Metrics in Evaluation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1. Accuracy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Correct vs incorrect answers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Hallucination Rate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% of answers that are factually wrong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Relevance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Does the answer match the question?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91C09E-C0CF-D3E7-F215-1E848C302F01}"/>
              </a:ext>
            </a:extLst>
          </p:cNvPr>
          <p:cNvSpPr txBox="1"/>
          <p:nvPr/>
        </p:nvSpPr>
        <p:spPr>
          <a:xfrm>
            <a:off x="6067044" y="764739"/>
            <a:ext cx="6003036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Faithfulness (Important for RAG)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Does the answer stick to provided context?</a:t>
            </a:r>
          </a:p>
          <a:p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5. Latency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 fast is the response?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6. Cost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API usage cost per request</a:t>
            </a:r>
          </a:p>
        </p:txBody>
      </p:sp>
    </p:spTree>
    <p:extLst>
      <p:ext uri="{BB962C8B-B14F-4D97-AF65-F5344CB8AC3E}">
        <p14:creationId xmlns:p14="http://schemas.microsoft.com/office/powerpoint/2010/main" val="15099859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1588</TotalTime>
  <Words>824</Words>
  <Application>Microsoft Office PowerPoint</Application>
  <PresentationFormat>Widescreen</PresentationFormat>
  <Paragraphs>179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307</cp:revision>
  <dcterms:created xsi:type="dcterms:W3CDTF">2025-09-22T02:44:38Z</dcterms:created>
  <dcterms:modified xsi:type="dcterms:W3CDTF">2026-09-21T12:24:42Z</dcterms:modified>
</cp:coreProperties>
</file>