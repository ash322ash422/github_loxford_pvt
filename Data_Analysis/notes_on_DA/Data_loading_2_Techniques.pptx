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F57B53-6BDD-4534-AC41-360905161CB8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57E622-CD1D-4B8A-807B-6587D866D6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80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57E622-CD1D-4B8A-807B-6587D866D6E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900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6CBFAF-C1DF-ECA1-1863-AD86FBEE5E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541" y="1725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46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t>26-09-2026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158C81-D447-AB44-19A9-437CDB854E77}"/>
              </a:ext>
            </a:extLst>
          </p:cNvPr>
          <p:cNvSpPr txBox="1"/>
          <p:nvPr/>
        </p:nvSpPr>
        <p:spPr>
          <a:xfrm>
            <a:off x="3797046" y="3299198"/>
            <a:ext cx="6094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>
                <a:solidFill>
                  <a:schemeClr val="accent6">
                    <a:lumMod val="60000"/>
                    <a:lumOff val="40000"/>
                  </a:schemeClr>
                </a:solidFill>
              </a:rPr>
              <a:t>Data Loading Strategies</a:t>
            </a:r>
          </a:p>
        </p:txBody>
      </p:sp>
    </p:spTree>
    <p:extLst>
      <p:ext uri="{BB962C8B-B14F-4D97-AF65-F5344CB8AC3E}">
        <p14:creationId xmlns:p14="http://schemas.microsoft.com/office/powerpoint/2010/main" val="3686883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FE2309-5349-5B84-EF7A-D33395B1E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A0105D-A23B-BE62-7A2E-FAB0521E87B6}"/>
              </a:ext>
            </a:extLst>
          </p:cNvPr>
          <p:cNvSpPr txBox="1"/>
          <p:nvPr/>
        </p:nvSpPr>
        <p:spPr>
          <a:xfrm>
            <a:off x="396240" y="201365"/>
            <a:ext cx="609447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A. Full Load</a:t>
            </a: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Load everything every time.</a:t>
            </a:r>
          </a:p>
          <a:p>
            <a:pPr rtl="0"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Source</a:t>
            </a:r>
          </a:p>
          <a:p>
            <a:pPr rtl="0"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 │</a:t>
            </a:r>
          </a:p>
          <a:p>
            <a:pPr rtl="0"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 ▼</a:t>
            </a:r>
          </a:p>
          <a:p>
            <a:pPr rtl="0"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Extract ALL data</a:t>
            </a:r>
          </a:p>
          <a:p>
            <a:pPr rtl="0"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 │</a:t>
            </a:r>
          </a:p>
          <a:p>
            <a:pPr rtl="0"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  ▼</a:t>
            </a:r>
          </a:p>
          <a:p>
            <a:pPr rtl="0"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Target</a:t>
            </a:r>
          </a:p>
          <a:p>
            <a:pPr>
              <a:buNone/>
            </a:pP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Suppose:</a:t>
            </a:r>
          </a:p>
          <a:p>
            <a:pPr rtl="0"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Source = 10 million records</a:t>
            </a: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Every pipeline run processes all 10 million.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4A48A8-475A-EA71-AAB9-F8B57C360307}"/>
              </a:ext>
            </a:extLst>
          </p:cNvPr>
          <p:cNvSpPr txBox="1"/>
          <p:nvPr/>
        </p:nvSpPr>
        <p:spPr>
          <a:xfrm>
            <a:off x="7187184" y="731502"/>
            <a:ext cx="5266944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Advantages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Simple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Easy to understand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Easy to implement </a:t>
            </a:r>
          </a:p>
          <a:p>
            <a:pPr>
              <a:buNone/>
            </a:pPr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Disadvantages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Expensive for large datasets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Slow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Unnecessary processing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Good for: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Small datasets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Initial data loading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Tables where incremental processing isn't practical</a:t>
            </a:r>
          </a:p>
          <a:p>
            <a:pPr lvl="0"/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2933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B6E90F-3F80-15E4-68F8-213429FB7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F6114C-BD01-D940-B158-0CA6DEF39121}"/>
              </a:ext>
            </a:extLst>
          </p:cNvPr>
          <p:cNvSpPr txBox="1"/>
          <p:nvPr/>
        </p:nvSpPr>
        <p:spPr>
          <a:xfrm>
            <a:off x="166878" y="140268"/>
            <a:ext cx="826389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B. Incremental Load</a:t>
            </a: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 loading everything, load only </a:t>
            </a: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new or changed records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>
              <a:buNone/>
            </a:pP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yesterday:  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1,000,000 records</a:t>
            </a: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Today                       :  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20,000        new/changed records</a:t>
            </a: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 processing 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1,020,000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, you process only 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20,000</a:t>
            </a: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6375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2DB9C0-A2D5-73B4-EC70-C6AF9AC82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EEACBD6-EDC4-29E6-82E1-600729785A3F}"/>
              </a:ext>
            </a:extLst>
          </p:cNvPr>
          <p:cNvSpPr txBox="1"/>
          <p:nvPr/>
        </p:nvSpPr>
        <p:spPr>
          <a:xfrm>
            <a:off x="210312" y="98334"/>
            <a:ext cx="603504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C. Timestamp-Based Incremental Loading</a:t>
            </a: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One common approach is to use a timestamp.</a:t>
            </a:r>
          </a:p>
          <a:p>
            <a:pPr>
              <a:buNone/>
            </a:pP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the source contains:</a:t>
            </a: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  <a:p>
            <a:pPr rtl="0">
              <a:buNone/>
            </a:pPr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id    amount    updated_at</a:t>
            </a:r>
          </a:p>
          <a:p>
            <a:pPr rtl="0">
              <a:buNone/>
            </a:pPr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101   500       2026-09-25 10:00</a:t>
            </a:r>
          </a:p>
          <a:p>
            <a:pPr rtl="0">
              <a:buNone/>
            </a:pPr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102   700       2026-09-25 11:00</a:t>
            </a:r>
          </a:p>
          <a:p>
            <a:pPr rtl="0">
              <a:buNone/>
            </a:pPr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103   900       2026-09-26 09:00</a:t>
            </a:r>
          </a:p>
          <a:p>
            <a:pPr>
              <a:buNone/>
            </a:pP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The pipeline remembers:</a:t>
            </a: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last_processed_time = </a:t>
            </a:r>
            <a:r>
              <a:rPr lang="en-IN" sz="2400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2026-09-25 12:00</a:t>
            </a:r>
          </a:p>
          <a:p>
            <a:pPr>
              <a:buNone/>
            </a:pP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Next run:</a:t>
            </a:r>
          </a:p>
          <a:p>
            <a:pPr rtl="0">
              <a:buNone/>
            </a:pPr>
            <a:r>
              <a:rPr lang="en-IN" sz="2400" b="1" i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SELECT *</a:t>
            </a:r>
          </a:p>
          <a:p>
            <a:pPr rtl="0">
              <a:buNone/>
            </a:pPr>
            <a:r>
              <a:rPr lang="en-IN" sz="2400" b="1" i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FROM sales</a:t>
            </a:r>
          </a:p>
          <a:p>
            <a:pPr rtl="0">
              <a:buNone/>
            </a:pPr>
            <a:r>
              <a:rPr lang="en-IN" sz="2400" b="1" i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WHERE updated_at &gt; </a:t>
            </a:r>
            <a:r>
              <a:rPr lang="en-IN" sz="2400" b="1" i="1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'2026-09-25 12:00</a:t>
            </a:r>
            <a:r>
              <a:rPr lang="en-IN" sz="2400" b="1" i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';</a:t>
            </a: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Only newer records are extracted.</a:t>
            </a:r>
          </a:p>
        </p:txBody>
      </p:sp>
    </p:spTree>
    <p:extLst>
      <p:ext uri="{BB962C8B-B14F-4D97-AF65-F5344CB8AC3E}">
        <p14:creationId xmlns:p14="http://schemas.microsoft.com/office/powerpoint/2010/main" val="2937905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EB90D2-223E-8972-F554-A9D0D5196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CF27D1-1CCD-7B1C-2BE8-D17A4E164880}"/>
              </a:ext>
            </a:extLst>
          </p:cNvPr>
          <p:cNvSpPr txBox="1"/>
          <p:nvPr/>
        </p:nvSpPr>
        <p:spPr>
          <a:xfrm>
            <a:off x="157734" y="86743"/>
            <a:ext cx="723061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D. CDC — Change Data Capture</a:t>
            </a:r>
          </a:p>
          <a:p>
            <a:pPr>
              <a:buNone/>
            </a:pPr>
            <a:endParaRPr lang="en-IN" sz="24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CDC = Change Data Capture</a:t>
            </a: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 periodically asking: "What changed?"</a:t>
            </a: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the system captures database changes as they happen.</a:t>
            </a:r>
          </a:p>
          <a:p>
            <a:pPr>
              <a:buNone/>
            </a:pP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example:</a:t>
            </a:r>
          </a:p>
          <a:p>
            <a:pPr rtl="0"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INSERT</a:t>
            </a:r>
          </a:p>
          <a:p>
            <a:pPr rtl="0"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UPDATE</a:t>
            </a:r>
          </a:p>
          <a:p>
            <a:pPr rtl="0"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DELETE</a:t>
            </a: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can be captured from the </a:t>
            </a:r>
            <a:r>
              <a:rPr lang="en-IN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source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 database's change logs.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46B5143-2FBB-E5DB-CAA2-570808AA6288}"/>
              </a:ext>
            </a:extLst>
          </p:cNvPr>
          <p:cNvSpPr/>
          <p:nvPr/>
        </p:nvSpPr>
        <p:spPr>
          <a:xfrm>
            <a:off x="8266176" y="1024128"/>
            <a:ext cx="2221992" cy="7680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Database</a:t>
            </a:r>
            <a:endParaRPr lang="en-IN" sz="28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A36C2D0-1F0F-5BD2-2BB3-7FFB2093CF13}"/>
              </a:ext>
            </a:extLst>
          </p:cNvPr>
          <p:cNvSpPr/>
          <p:nvPr/>
        </p:nvSpPr>
        <p:spPr>
          <a:xfrm>
            <a:off x="8266176" y="2944368"/>
            <a:ext cx="2221992" cy="8637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Data </a:t>
            </a:r>
          </a:p>
          <a:p>
            <a:pPr algn="ctr"/>
            <a:r>
              <a:rPr lang="en-US" sz="2800"/>
              <a:t>Pipeline</a:t>
            </a:r>
            <a:endParaRPr lang="en-IN" sz="2800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D3C8835E-8DB2-CD00-F6F0-58BE3491AA90}"/>
              </a:ext>
            </a:extLst>
          </p:cNvPr>
          <p:cNvSpPr/>
          <p:nvPr/>
        </p:nvSpPr>
        <p:spPr>
          <a:xfrm>
            <a:off x="9180576" y="1874520"/>
            <a:ext cx="374904" cy="96012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7E698F-4E9A-BD26-2C0D-B27714C075ED}"/>
              </a:ext>
            </a:extLst>
          </p:cNvPr>
          <p:cNvSpPr txBox="1"/>
          <p:nvPr/>
        </p:nvSpPr>
        <p:spPr>
          <a:xfrm>
            <a:off x="9520047" y="2091296"/>
            <a:ext cx="21294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Change Log / CDC</a:t>
            </a:r>
            <a:endParaRPr lang="en-IN" sz="320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70E3BA9-AC44-A0DF-5652-0D3B4AD78C5E}"/>
              </a:ext>
            </a:extLst>
          </p:cNvPr>
          <p:cNvSpPr/>
          <p:nvPr/>
        </p:nvSpPr>
        <p:spPr>
          <a:xfrm>
            <a:off x="8266176" y="4863940"/>
            <a:ext cx="2221992" cy="7680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Data Warehouse</a:t>
            </a:r>
            <a:endParaRPr lang="en-IN" sz="2800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5D05F836-5074-DDC5-DDA3-929026239169}"/>
              </a:ext>
            </a:extLst>
          </p:cNvPr>
          <p:cNvSpPr/>
          <p:nvPr/>
        </p:nvSpPr>
        <p:spPr>
          <a:xfrm>
            <a:off x="9145142" y="3855647"/>
            <a:ext cx="374904" cy="96012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6A925E-44A5-BD30-9668-9BFC7C86EB84}"/>
              </a:ext>
            </a:extLst>
          </p:cNvPr>
          <p:cNvSpPr txBox="1"/>
          <p:nvPr/>
        </p:nvSpPr>
        <p:spPr>
          <a:xfrm>
            <a:off x="157734" y="5049042"/>
            <a:ext cx="833589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CDC is useful when you need: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near-real-time data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efficient incremental processing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synchronization between systems - Database and Data WH</a:t>
            </a:r>
          </a:p>
        </p:txBody>
      </p:sp>
    </p:spTree>
    <p:extLst>
      <p:ext uri="{BB962C8B-B14F-4D97-AF65-F5344CB8AC3E}">
        <p14:creationId xmlns:p14="http://schemas.microsoft.com/office/powerpoint/2010/main" val="3257368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9CC86E-EDD7-919D-C346-0B0EF1143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D5DF68-2B41-DE31-034B-7469353D280B}"/>
              </a:ext>
            </a:extLst>
          </p:cNvPr>
          <p:cNvSpPr txBox="1"/>
          <p:nvPr/>
        </p:nvSpPr>
        <p:spPr>
          <a:xfrm>
            <a:off x="313182" y="192685"/>
            <a:ext cx="609447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E. Batch Loading</a:t>
            </a:r>
          </a:p>
          <a:p>
            <a:pPr>
              <a:buNone/>
            </a:pPr>
            <a:endParaRPr lang="en-IN" sz="24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Data is collected and processed periodically.</a:t>
            </a: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example: 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Every day at 2 AM  (or Every hour)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7E88CD-68C3-49DB-C16D-2F0B0382C97E}"/>
              </a:ext>
            </a:extLst>
          </p:cNvPr>
          <p:cNvSpPr txBox="1"/>
          <p:nvPr/>
        </p:nvSpPr>
        <p:spPr>
          <a:xfrm>
            <a:off x="395478" y="2725573"/>
            <a:ext cx="609447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 rtl="0">
              <a:buNone/>
            </a:pP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  <a:p>
            <a:pPr rtl="0"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Daily Sales Pipeline</a:t>
            </a:r>
          </a:p>
          <a:p>
            <a:pPr rtl="0"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02:00 AM → Extract</a:t>
            </a:r>
          </a:p>
          <a:p>
            <a:pPr rtl="0"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02:10 AM → Transform</a:t>
            </a:r>
          </a:p>
          <a:p>
            <a:pPr rtl="0"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02:30 AM → Load</a:t>
            </a:r>
          </a:p>
          <a:p>
            <a:pPr rtl="0"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03:00 AM → Dashboard refresh</a:t>
            </a: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8396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9EDCC7-DA7D-EB35-02B4-45668552B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9FB0C4-252C-388F-FCB1-73E587F4E797}"/>
              </a:ext>
            </a:extLst>
          </p:cNvPr>
          <p:cNvSpPr txBox="1"/>
          <p:nvPr/>
        </p:nvSpPr>
        <p:spPr>
          <a:xfrm>
            <a:off x="411480" y="168807"/>
            <a:ext cx="6236208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F. Streaming / Real-Time Loading</a:t>
            </a: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 waiting for a batch, you do following:</a:t>
            </a:r>
          </a:p>
          <a:p>
            <a:pPr rtl="0"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Event → Process → Load</a:t>
            </a:r>
          </a:p>
          <a:p>
            <a:pPr>
              <a:buNone/>
            </a:pP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 rtl="0">
              <a:buNone/>
            </a:pPr>
            <a:r>
              <a:rPr lang="en-IN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Customer clicks website</a:t>
            </a:r>
          </a:p>
          <a:p>
            <a:pPr rtl="0">
              <a:buNone/>
            </a:pPr>
            <a:r>
              <a:rPr lang="en-IN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         │</a:t>
            </a:r>
          </a:p>
          <a:p>
            <a:pPr rtl="0">
              <a:buNone/>
            </a:pPr>
            <a:r>
              <a:rPr lang="en-IN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        ▼</a:t>
            </a:r>
          </a:p>
          <a:p>
            <a:pPr rtl="0">
              <a:buNone/>
            </a:pPr>
            <a:r>
              <a:rPr lang="en-IN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      Event</a:t>
            </a:r>
          </a:p>
          <a:p>
            <a:pPr rtl="0">
              <a:buNone/>
            </a:pPr>
            <a:r>
              <a:rPr lang="en-IN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         │</a:t>
            </a:r>
          </a:p>
          <a:p>
            <a:pPr rtl="0">
              <a:buNone/>
            </a:pPr>
            <a:r>
              <a:rPr lang="en-IN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        ▼</a:t>
            </a:r>
          </a:p>
          <a:p>
            <a:pPr rtl="0">
              <a:buNone/>
            </a:pPr>
            <a:r>
              <a:rPr lang="en-IN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    Streaming</a:t>
            </a:r>
          </a:p>
          <a:p>
            <a:pPr rtl="0">
              <a:buNone/>
            </a:pPr>
            <a:r>
              <a:rPr lang="en-IN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         │</a:t>
            </a:r>
          </a:p>
          <a:p>
            <a:pPr rtl="0">
              <a:buNone/>
            </a:pPr>
            <a:r>
              <a:rPr lang="en-IN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        ▼</a:t>
            </a:r>
          </a:p>
          <a:p>
            <a:pPr rtl="0">
              <a:buNone/>
            </a:pPr>
            <a:r>
              <a:rPr lang="en-IN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 Processing</a:t>
            </a:r>
          </a:p>
          <a:p>
            <a:pPr rtl="0">
              <a:buNone/>
            </a:pPr>
            <a:r>
              <a:rPr lang="en-IN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         │</a:t>
            </a:r>
          </a:p>
          <a:p>
            <a:pPr rtl="0">
              <a:buNone/>
            </a:pPr>
            <a:r>
              <a:rPr lang="en-IN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        ▼</a:t>
            </a:r>
          </a:p>
          <a:p>
            <a:pPr rtl="0">
              <a:buNone/>
            </a:pPr>
            <a:r>
              <a:rPr lang="en-IN">
                <a:solidFill>
                  <a:schemeClr val="accent4">
                    <a:lumMod val="60000"/>
                    <a:lumOff val="40000"/>
                  </a:schemeClr>
                </a:solidFill>
                <a:latin typeface="+mn-lt"/>
              </a:rPr>
              <a:t>  Analytics</a:t>
            </a:r>
            <a:endParaRPr lang="en-IN">
              <a:solidFill>
                <a:schemeClr val="accent4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7D1A7-54D1-E0B3-FEF9-8B2800B14B87}"/>
              </a:ext>
            </a:extLst>
          </p:cNvPr>
          <p:cNvSpPr txBox="1"/>
          <p:nvPr/>
        </p:nvSpPr>
        <p:spPr>
          <a:xfrm>
            <a:off x="6003798" y="2417588"/>
            <a:ext cx="577672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Technologies used in streaming architectures: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Apache Kafka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Amazon Kinesis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 Pub/Sub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Apache Flink </a:t>
            </a:r>
          </a:p>
          <a:p>
            <a:pPr>
              <a:buNone/>
            </a:pP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Streaming is useful when the business needs fresh data.</a:t>
            </a:r>
          </a:p>
        </p:txBody>
      </p:sp>
    </p:spTree>
    <p:extLst>
      <p:ext uri="{BB962C8B-B14F-4D97-AF65-F5344CB8AC3E}">
        <p14:creationId xmlns:p14="http://schemas.microsoft.com/office/powerpoint/2010/main" val="915707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FE2003-72B5-EECE-49A5-64AA68733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8DA774-7A71-4332-3AF3-B054745934C8}"/>
              </a:ext>
            </a:extLst>
          </p:cNvPr>
          <p:cNvSpPr txBox="1"/>
          <p:nvPr/>
        </p:nvSpPr>
        <p:spPr>
          <a:xfrm>
            <a:off x="450342" y="289483"/>
            <a:ext cx="60944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G. Upsert</a:t>
            </a:r>
          </a:p>
          <a:p>
            <a:pPr>
              <a:buNone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Upsert = 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Update + Insert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D635D5-13D9-0C63-908E-D461C882CB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98535"/>
              </p:ext>
            </p:extLst>
          </p:nvPr>
        </p:nvGraphicFramePr>
        <p:xfrm>
          <a:off x="6544818" y="1496906"/>
          <a:ext cx="291490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>
                  <a:extLst>
                    <a:ext uri="{9D8B030D-6E8A-4147-A177-3AD203B41FA5}">
                      <a16:colId xmlns:a16="http://schemas.microsoft.com/office/drawing/2014/main" val="44160627"/>
                    </a:ext>
                  </a:extLst>
                </a:gridCol>
                <a:gridCol w="1014984">
                  <a:extLst>
                    <a:ext uri="{9D8B030D-6E8A-4147-A177-3AD203B41FA5}">
                      <a16:colId xmlns:a16="http://schemas.microsoft.com/office/drawing/2014/main" val="5851685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9883847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Id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Name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Salary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598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101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Rahul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50000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8281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102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Priya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60000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6246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….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94050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38BCB05-1C12-BC18-D8AB-104A779AEF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762202"/>
              </p:ext>
            </p:extLst>
          </p:nvPr>
        </p:nvGraphicFramePr>
        <p:xfrm>
          <a:off x="582676" y="1496906"/>
          <a:ext cx="291490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>
                  <a:extLst>
                    <a:ext uri="{9D8B030D-6E8A-4147-A177-3AD203B41FA5}">
                      <a16:colId xmlns:a16="http://schemas.microsoft.com/office/drawing/2014/main" val="44160627"/>
                    </a:ext>
                  </a:extLst>
                </a:gridCol>
                <a:gridCol w="1014984">
                  <a:extLst>
                    <a:ext uri="{9D8B030D-6E8A-4147-A177-3AD203B41FA5}">
                      <a16:colId xmlns:a16="http://schemas.microsoft.com/office/drawing/2014/main" val="5851685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9883847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Id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Name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Salary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598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101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Rahul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50000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8281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102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Priya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60000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6246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….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94050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AA5D541-2E61-9FFC-6F08-C499DA9252C0}"/>
              </a:ext>
            </a:extLst>
          </p:cNvPr>
          <p:cNvSpPr txBox="1"/>
          <p:nvPr/>
        </p:nvSpPr>
        <p:spPr>
          <a:xfrm>
            <a:off x="1216056" y="3070598"/>
            <a:ext cx="1312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Source Data</a:t>
            </a:r>
            <a:endParaRPr lang="en-IN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B8E940-0952-1780-377B-F9188B8389F3}"/>
              </a:ext>
            </a:extLst>
          </p:cNvPr>
          <p:cNvSpPr txBox="1"/>
          <p:nvPr/>
        </p:nvSpPr>
        <p:spPr>
          <a:xfrm>
            <a:off x="7691993" y="3059668"/>
            <a:ext cx="1253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Target Data</a:t>
            </a:r>
            <a:endParaRPr lang="en-IN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Arrow: Left-Right 11">
            <a:extLst>
              <a:ext uri="{FF2B5EF4-FFF2-40B4-BE49-F238E27FC236}">
                <a16:creationId xmlns:a16="http://schemas.microsoft.com/office/drawing/2014/main" id="{C8E004E9-76F0-AF71-41A1-DF703C6FBED0}"/>
              </a:ext>
            </a:extLst>
          </p:cNvPr>
          <p:cNvSpPr/>
          <p:nvPr/>
        </p:nvSpPr>
        <p:spPr>
          <a:xfrm>
            <a:off x="4297680" y="2011680"/>
            <a:ext cx="1591056" cy="34747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CA3EAD-95D4-C55B-B3B6-9C647D8CCCB3}"/>
              </a:ext>
            </a:extLst>
          </p:cNvPr>
          <p:cNvSpPr txBox="1"/>
          <p:nvPr/>
        </p:nvSpPr>
        <p:spPr>
          <a:xfrm>
            <a:off x="4782931" y="1642348"/>
            <a:ext cx="826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In sync</a:t>
            </a:r>
            <a:endParaRPr lang="en-IN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B59B8BC-C9D2-74F9-C188-78D46918F5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0452035"/>
              </p:ext>
            </p:extLst>
          </p:nvPr>
        </p:nvGraphicFramePr>
        <p:xfrm>
          <a:off x="450342" y="4493090"/>
          <a:ext cx="291490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>
                  <a:extLst>
                    <a:ext uri="{9D8B030D-6E8A-4147-A177-3AD203B41FA5}">
                      <a16:colId xmlns:a16="http://schemas.microsoft.com/office/drawing/2014/main" val="44160627"/>
                    </a:ext>
                  </a:extLst>
                </a:gridCol>
                <a:gridCol w="1014984">
                  <a:extLst>
                    <a:ext uri="{9D8B030D-6E8A-4147-A177-3AD203B41FA5}">
                      <a16:colId xmlns:a16="http://schemas.microsoft.com/office/drawing/2014/main" val="5851685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9883847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Id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Name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Salary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598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101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Rahul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55000</a:t>
                      </a:r>
                      <a:endParaRPr lang="en-IN" b="1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8281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102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Priya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60000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6246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109</a:t>
                      </a:r>
                      <a:endParaRPr lang="en-IN" b="1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Bob</a:t>
                      </a:r>
                      <a:endParaRPr lang="en-IN" b="1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93000</a:t>
                      </a:r>
                      <a:endParaRPr lang="en-IN" b="1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8696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….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94050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C9436A66-D2D3-E1A5-7F0D-5E45B738A1ED}"/>
              </a:ext>
            </a:extLst>
          </p:cNvPr>
          <p:cNvSpPr txBox="1"/>
          <p:nvPr/>
        </p:nvSpPr>
        <p:spPr>
          <a:xfrm>
            <a:off x="941832" y="3781844"/>
            <a:ext cx="38242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Source data changed:</a:t>
            </a:r>
          </a:p>
          <a:p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Rahul salary inceased + New Employee</a:t>
            </a:r>
            <a:endParaRPr lang="en-IN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0BB2B75-633A-1E88-B5B8-C034BD250299}"/>
              </a:ext>
            </a:extLst>
          </p:cNvPr>
          <p:cNvCxnSpPr/>
          <p:nvPr/>
        </p:nvCxnSpPr>
        <p:spPr>
          <a:xfrm>
            <a:off x="941832" y="3255264"/>
            <a:ext cx="0" cy="8321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575F30A-2840-69F8-0DB7-C9EA7FE5D997}"/>
              </a:ext>
            </a:extLst>
          </p:cNvPr>
          <p:cNvSpPr txBox="1"/>
          <p:nvPr/>
        </p:nvSpPr>
        <p:spPr>
          <a:xfrm>
            <a:off x="3864483" y="4545212"/>
            <a:ext cx="24574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An upsert means:</a:t>
            </a:r>
          </a:p>
          <a:p>
            <a:pPr rtl="0">
              <a:buNone/>
            </a:pP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101 → UPDATE</a:t>
            </a:r>
          </a:p>
          <a:p>
            <a:pPr rtl="0">
              <a:buNone/>
            </a:pP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109 → INSERT</a:t>
            </a:r>
            <a:endParaRPr lang="en-IN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99AF24B0-42D8-9C7C-CA36-CB760996E2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1318895"/>
              </p:ext>
            </p:extLst>
          </p:nvPr>
        </p:nvGraphicFramePr>
        <p:xfrm>
          <a:off x="6544818" y="4545212"/>
          <a:ext cx="291490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>
                  <a:extLst>
                    <a:ext uri="{9D8B030D-6E8A-4147-A177-3AD203B41FA5}">
                      <a16:colId xmlns:a16="http://schemas.microsoft.com/office/drawing/2014/main" val="44160627"/>
                    </a:ext>
                  </a:extLst>
                </a:gridCol>
                <a:gridCol w="1014984">
                  <a:extLst>
                    <a:ext uri="{9D8B030D-6E8A-4147-A177-3AD203B41FA5}">
                      <a16:colId xmlns:a16="http://schemas.microsoft.com/office/drawing/2014/main" val="5851685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9883847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Id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Name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Salary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598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101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Rahul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55000</a:t>
                      </a:r>
                      <a:endParaRPr lang="en-IN" b="1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8281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102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Priya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60000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6246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109</a:t>
                      </a:r>
                      <a:endParaRPr lang="en-IN" b="1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Bob</a:t>
                      </a:r>
                      <a:endParaRPr lang="en-IN" b="1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93000</a:t>
                      </a:r>
                      <a:endParaRPr lang="en-IN" b="1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940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…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07367"/>
                  </a:ext>
                </a:extLst>
              </a:tr>
            </a:tbl>
          </a:graphicData>
        </a:graphic>
      </p:graphicFrame>
      <p:sp>
        <p:nvSpPr>
          <p:cNvPr id="26" name="Arrow: Left-Right 25">
            <a:extLst>
              <a:ext uri="{FF2B5EF4-FFF2-40B4-BE49-F238E27FC236}">
                <a16:creationId xmlns:a16="http://schemas.microsoft.com/office/drawing/2014/main" id="{215BE8ED-FFA0-A6DD-D63D-E2CBADA311C7}"/>
              </a:ext>
            </a:extLst>
          </p:cNvPr>
          <p:cNvSpPr/>
          <p:nvPr/>
        </p:nvSpPr>
        <p:spPr>
          <a:xfrm>
            <a:off x="3987403" y="5555858"/>
            <a:ext cx="1591056" cy="34747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0348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DCF86D-E1CC-BA82-6821-EBCD911D4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1913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456</Words>
  <Application>Microsoft Office PowerPoint</Application>
  <PresentationFormat>Widescreen</PresentationFormat>
  <Paragraphs>163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25</cp:revision>
  <dcterms:created xsi:type="dcterms:W3CDTF">2026-09-25T02:37:34Z</dcterms:created>
  <dcterms:modified xsi:type="dcterms:W3CDTF">2026-09-26T04:53:08Z</dcterms:modified>
</cp:coreProperties>
</file>