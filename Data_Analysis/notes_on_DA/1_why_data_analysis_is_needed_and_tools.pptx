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305" r:id="rId3"/>
    <p:sldId id="300" r:id="rId4"/>
    <p:sldId id="304" r:id="rId5"/>
    <p:sldId id="303" r:id="rId6"/>
    <p:sldId id="306" r:id="rId7"/>
    <p:sldId id="302" r:id="rId8"/>
    <p:sldId id="299" r:id="rId9"/>
    <p:sldId id="3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FE5E50-FD6F-9CAF-E721-1E880D3DF43A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75776-911A-B1A4-8079-EE71B2A2EDF6}"/>
              </a:ext>
            </a:extLst>
          </p:cNvPr>
          <p:cNvSpPr txBox="1"/>
          <p:nvPr/>
        </p:nvSpPr>
        <p:spPr>
          <a:xfrm>
            <a:off x="155448" y="1171093"/>
            <a:ext cx="82478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before modeling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building any model or running any analysis, you need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skewness,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correlations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these are often invisible in raw tables but immediately obvious in a well-chosen chart.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who skip this step build models on assumptions they never verified.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9FF7-D065-D484-A2F4-8E270409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7E49D6-F116-620E-65EE-D2AFD7BE8183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1102A-B1E0-3D09-EEBA-510E58F7B372}"/>
              </a:ext>
            </a:extLst>
          </p:cNvPr>
          <p:cNvSpPr txBox="1"/>
          <p:nvPr/>
        </p:nvSpPr>
        <p:spPr>
          <a:xfrm>
            <a:off x="155448" y="1171093"/>
            <a:ext cx="76626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before modeling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City1 data = [11, 12, 20, …]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City2 data = [21, 30, 20, …]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City3 data = [5, 10, 15, …]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like above cannot be visualized.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boxplot,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see that city 2 temperature is in higher range and city 3 temperature is lowest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 1 has 1 outlier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 2 has 2 outliers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55843-37C4-0AE1-8F0A-8CB0A2A8C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328924"/>
            <a:ext cx="4483608" cy="359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2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1022-8F2C-9878-9FD0-D7411AD7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703236-B555-22CE-14B4-99315D141218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85454-EBCA-6A35-969B-457D92C4AA07}"/>
              </a:ext>
            </a:extLst>
          </p:cNvPr>
          <p:cNvSpPr txBox="1"/>
          <p:nvPr/>
        </p:nvSpPr>
        <p:spPr>
          <a:xfrm>
            <a:off x="155448" y="597039"/>
            <a:ext cx="10927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Anscombe's Quartet effect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datasets with nearly identical summary statistics (mean, variance, correlation) but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completely different when plotted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classic example alone justifies teaching visualization as a discipline in itself.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57480-BED1-DD25-D608-B1BCE4B27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2156109"/>
            <a:ext cx="3666744" cy="4444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CBDD5-6F9F-D220-11E3-757276EE1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271" y="2829532"/>
            <a:ext cx="6777867" cy="316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1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631F-B8F2-3B85-C142-266C605D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4B412C-3426-7E07-5388-61152D841E49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D5FF2-7499-C94D-F49D-6BA0DACF6E9A}"/>
              </a:ext>
            </a:extLst>
          </p:cNvPr>
          <p:cNvSpPr txBox="1"/>
          <p:nvPr/>
        </p:nvSpPr>
        <p:spPr>
          <a:xfrm>
            <a:off x="155448" y="597039"/>
            <a:ext cx="7717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Anscombe's Quartet effect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2B804-61DB-011D-72B7-7908734C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406493"/>
            <a:ext cx="6996146" cy="4854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5EB442-156F-A5F2-1831-631F09CF3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2156109"/>
            <a:ext cx="3666744" cy="444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4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90D2-B97B-70C6-BFA3-6398A6CE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EBA1C0-0550-2151-0406-4EB2517AB67A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63F19-3970-6BD3-3D0E-41DC4A83F846}"/>
              </a:ext>
            </a:extLst>
          </p:cNvPr>
          <p:cNvSpPr txBox="1"/>
          <p:nvPr/>
        </p:nvSpPr>
        <p:spPr>
          <a:xfrm>
            <a:off x="155448" y="668173"/>
            <a:ext cx="11082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Communicate Data to Non-Technical Audience: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Insights that can't be communicated clearly have no impact. A data scientist who can produce a compelling visualization can influence decisions; one who can't is limited to talking to other data scientists. This is especially true when presenting to business stakeholders or policymakers.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56866A-468C-A99F-4262-4C48383B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2678299"/>
            <a:ext cx="8435097" cy="292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E4ED-A3D8-EE95-DBAF-3E7EDC05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92F897-2B9A-5ABC-5C42-AAC9D040056C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4798A-8A49-4538-18D2-7BB419234941}"/>
              </a:ext>
            </a:extLst>
          </p:cNvPr>
          <p:cNvSpPr txBox="1"/>
          <p:nvPr/>
        </p:nvSpPr>
        <p:spPr>
          <a:xfrm>
            <a:off x="155448" y="668173"/>
            <a:ext cx="11082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Communicate Data to Non-Technical Audience: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can visually see that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US has 8 cylinders.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Japan has 3 cylinders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5A5D8-BC0C-69B3-C674-724030516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71" y="2939044"/>
            <a:ext cx="6718273" cy="373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8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5B9F-351A-07BD-A6A2-4D03827B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FC6AE-C978-137A-8F96-DC0C2184CE3E}"/>
              </a:ext>
            </a:extLst>
          </p:cNvPr>
          <p:cNvSpPr txBox="1"/>
          <p:nvPr/>
        </p:nvSpPr>
        <p:spPr>
          <a:xfrm>
            <a:off x="155448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 Visualization Matters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E72B6-0312-18D6-D15F-1E9CC36EB7EA}"/>
              </a:ext>
            </a:extLst>
          </p:cNvPr>
          <p:cNvSpPr txBox="1"/>
          <p:nvPr/>
        </p:nvSpPr>
        <p:spPr>
          <a:xfrm>
            <a:off x="155448" y="779634"/>
            <a:ext cx="110825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 for generative AI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GenAI era, students need to visualize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spaces (t-SNE, UMAP),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weights,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loss curves,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evaluation metric distributions.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visualization literacy, AI practitioners are flying blind through high-dimensional spaces.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F92E4-6A8C-C921-EC42-645E85BE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2" y="3593592"/>
            <a:ext cx="8748944" cy="31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1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EC3C-C0E0-0EF2-A115-6278FED3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3D4C6B-36E7-F8E9-D2F4-3BE5E27B6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688116"/>
              </p:ext>
            </p:extLst>
          </p:nvPr>
        </p:nvGraphicFramePr>
        <p:xfrm>
          <a:off x="292608" y="603504"/>
          <a:ext cx="11228832" cy="5672755"/>
        </p:xfrm>
        <a:graphic>
          <a:graphicData uri="http://schemas.openxmlformats.org/drawingml/2006/table">
            <a:tbl>
              <a:tblPr/>
              <a:tblGrid>
                <a:gridCol w="3364992">
                  <a:extLst>
                    <a:ext uri="{9D8B030D-6E8A-4147-A177-3AD203B41FA5}">
                      <a16:colId xmlns:a16="http://schemas.microsoft.com/office/drawing/2014/main" val="2242486452"/>
                    </a:ext>
                  </a:extLst>
                </a:gridCol>
                <a:gridCol w="5321808">
                  <a:extLst>
                    <a:ext uri="{9D8B030D-6E8A-4147-A177-3AD203B41FA5}">
                      <a16:colId xmlns:a16="http://schemas.microsoft.com/office/drawing/2014/main" val="123637654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378542276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Language/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Platform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1130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Matplotlib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Fine-grained control, publication plots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20798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Seaborn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Statistical plots with less code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7973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Plotly / Plotly Express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Interactive charts, dashboards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 / JS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934390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Tableau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Business BI, drag-and-drop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GUI (no-code)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86443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Power BI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Enterprise reporting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GUI / DAX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43386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D3.js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Custom, web-based interactive viz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JavaScript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73719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ggplot2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Grammar of graphics, elegant defaults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12719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Bokeh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Interactive plots in Python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14336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Streamlit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Rapid data apps with embedded charts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192923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Vega-Lite / Altair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Declarative, grammar-based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Python / JSON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43874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D7DB18F-0F88-9623-8C9F-D14A1AB27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Widely Used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38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869C1-3F1B-94DF-89F7-82176BF9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70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1335</TotalTime>
  <Words>416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2026-05-31T12:39:15Z</dcterms:modified>
</cp:coreProperties>
</file>