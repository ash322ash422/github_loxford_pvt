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4" r:id="rId3"/>
    <p:sldId id="257" r:id="rId4"/>
    <p:sldId id="258" r:id="rId5"/>
    <p:sldId id="259" r:id="rId6"/>
    <p:sldId id="262" r:id="rId7"/>
    <p:sldId id="263" r:id="rId8"/>
    <p:sldId id="260" r:id="rId9"/>
    <p:sldId id="265" r:id="rId10"/>
    <p:sldId id="261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8A318F-F6FC-6CB9-CEC6-8B2C0F5EE22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7F8D7EB-E762-144D-1496-74683313656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756C53-114C-E36A-EC7E-AEE4C2084A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A79C2-4FE3-4D0C-AFFB-D4FCE050D5EA}" type="datetimeFigureOut">
              <a:rPr lang="en-IN" smtClean="0"/>
              <a:t>26-09-2026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6CC798-66E8-807B-3021-DC717C7ABB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AA2714-B223-D201-168E-C22AD16013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A53CF-6AA3-4EF6-9F05-A0E3059C583D}" type="slidenum">
              <a:rPr lang="en-IN" smtClean="0"/>
              <a:t>‹#›</a:t>
            </a:fld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14F047B-8F92-089C-65A3-54359B3F76C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68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23275" y="63142"/>
            <a:ext cx="1295581" cy="9240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06810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2ECE76-A752-DB86-6111-A724232D26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D6FD18-B58E-8C68-26E2-D916319862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7B759C-A1DF-256A-A624-6AB43BC663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A79C2-4FE3-4D0C-AFFB-D4FCE050D5EA}" type="datetimeFigureOut">
              <a:rPr lang="en-IN" smtClean="0"/>
              <a:t>26-09-2026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71A0AA-5283-1539-E76D-C2704EDF62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212E95-A93E-CFE8-0044-F1F7486E08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A53CF-6AA3-4EF6-9F05-A0E3059C58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907466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A27E88-1D0E-B19B-1F3F-54DF859CE7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CE41C0-D975-5322-05EF-B6920E580E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D7B167-1E87-B93B-75F5-B33217202F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A79C2-4FE3-4D0C-AFFB-D4FCE050D5EA}" type="datetimeFigureOut">
              <a:rPr lang="en-IN" smtClean="0"/>
              <a:t>26-09-2026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25C962-1ABF-F876-C7DD-10E729E42A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8F7B4D-DA1F-E875-52B5-31F353F492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A53CF-6AA3-4EF6-9F05-A0E3059C58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817961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429F20-A52E-A2BE-2A7C-6344D89003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E9F42D-CDDF-9B84-6F33-25E956F2DDE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61E0A4D-E831-6562-11B2-108204244C5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5F4BEA-6EB0-7F6F-4BFA-B7DACF40DE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A79C2-4FE3-4D0C-AFFB-D4FCE050D5EA}" type="datetimeFigureOut">
              <a:rPr lang="en-IN" smtClean="0"/>
              <a:t>26-09-2026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852B4B5-D542-513B-5FBA-7C8418FD6E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A5B6383-F1CA-D4A5-9876-F4662B6051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A53CF-6AA3-4EF6-9F05-A0E3059C58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276271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CE9337-2FE3-561C-F11A-2CFAC3C888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BCE1B6-2296-C3DE-5C27-E4057DFF68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EB2FC1E-2D6D-269A-6807-421A1A9C42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81AD048-C515-130C-8F41-1BA8F418929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C6D4A7E-CE1F-A02A-B92A-059B1FBCF35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6F77709-049A-79A2-F207-FBDA0CAA4E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A79C2-4FE3-4D0C-AFFB-D4FCE050D5EA}" type="datetimeFigureOut">
              <a:rPr lang="en-IN" smtClean="0"/>
              <a:t>26-09-2026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9DE0EB3-83C0-67E2-5DB9-42DE8540F8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0C97AB3-472A-1E13-8460-CE1D861DB6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A53CF-6AA3-4EF6-9F05-A0E3059C58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438641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1C5904-8D4D-4CA9-51B3-289632997B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E398302-AD6F-2CE6-7442-A4A9683D97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A79C2-4FE3-4D0C-AFFB-D4FCE050D5EA}" type="datetimeFigureOut">
              <a:rPr lang="en-IN" smtClean="0"/>
              <a:t>26-09-2026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5391825-01DE-3CBB-BB33-763481B92D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7D5401A-71EA-0313-9EA1-4DC2DB3F75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A53CF-6AA3-4EF6-9F05-A0E3059C58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894445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2418529-294A-5688-70AC-D6FBB26696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A79C2-4FE3-4D0C-AFFB-D4FCE050D5EA}" type="datetimeFigureOut">
              <a:rPr lang="en-IN" smtClean="0"/>
              <a:t>26-09-2026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74AA024-38B7-5F32-1894-BCE21AADFC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36C172C-4B71-8ABE-DD86-85DD12827B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A53CF-6AA3-4EF6-9F05-A0E3059C58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261623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BEB6CF-2A94-DBDD-0D5B-BC12FF3220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4B7D8E-A4B1-A435-346C-19A718C71F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57C91E7-453A-3F92-E638-C337924651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C7C4555-70D3-F8F8-D355-E9BBC9EE67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A79C2-4FE3-4D0C-AFFB-D4FCE050D5EA}" type="datetimeFigureOut">
              <a:rPr lang="en-IN" smtClean="0"/>
              <a:t>26-09-2026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5FE752C-45A1-07D0-4240-44893A0DB9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9DDD99C-C480-C729-0ECD-BEDE124E84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A53CF-6AA3-4EF6-9F05-A0E3059C58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800938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D2D6FA-24BB-7D09-4CC6-34096CAB0E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C60CEAA-CE7A-1BBF-BDA9-B387E6B8B163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019DD54-A44F-A8AE-D4E9-3EB63270CC1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206B6FD-902D-C3AC-D0C4-9E348A977E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A79C2-4FE3-4D0C-AFFB-D4FCE050D5EA}" type="datetimeFigureOut">
              <a:rPr lang="en-IN" smtClean="0"/>
              <a:t>26-09-2026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0D6BDC1-316A-149B-EB15-04EF4D60E7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7C24CD2-3C56-F4F2-57FB-AA714E5021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A53CF-6AA3-4EF6-9F05-A0E3059C58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02738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53211F-A80A-9BAC-AAEC-067CCDA5C0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38AD45D-5A88-1664-D692-069F5C5D1AC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32EEB4-BA21-8613-2094-72EEFB7929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A79C2-4FE3-4D0C-AFFB-D4FCE050D5EA}" type="datetimeFigureOut">
              <a:rPr lang="en-IN" smtClean="0"/>
              <a:t>26-09-2026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ECE1A2-6F93-B3CC-3837-CD60E48CFF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E5D015-61E2-E514-FC97-B282920D98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A53CF-6AA3-4EF6-9F05-A0E3059C58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829896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B873E00-8852-9872-6FBC-53717455393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A02A146-0150-F26C-6A86-1CA1FD558AA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077DF1-F7DE-4956-6F82-6161FC0221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A79C2-4FE3-4D0C-AFFB-D4FCE050D5EA}" type="datetimeFigureOut">
              <a:rPr lang="en-IN" smtClean="0"/>
              <a:t>26-09-2026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37416A-6960-5BA0-E825-F9D0B514C1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C46A03-0511-8AD1-FB2D-69E35F8F15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A53CF-6AA3-4EF6-9F05-A0E3059C58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677077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C5CC290-6B0D-273C-46F1-4BC1249347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4E82B2E-EDC9-AB14-8964-7BE30F8DB1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485163-E247-487C-9AA7-8A7054D4A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EBA79C2-4FE3-4D0C-AFFB-D4FCE050D5EA}" type="datetimeFigureOut">
              <a:rPr lang="en-IN" smtClean="0"/>
              <a:t>26-09-2026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A01BDB-2D7B-79FC-D492-3CFF792A8A3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C906FC-E273-8A6D-0868-0A52746784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23A53CF-6AA3-4EF6-9F05-A0E3059C58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238220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3A68CFB-65A9-766F-9D11-AE043B5C3877}"/>
              </a:ext>
            </a:extLst>
          </p:cNvPr>
          <p:cNvSpPr txBox="1"/>
          <p:nvPr/>
        </p:nvSpPr>
        <p:spPr>
          <a:xfrm>
            <a:off x="3048762" y="2328595"/>
            <a:ext cx="6094476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4400" b="1">
                <a:solidFill>
                  <a:schemeClr val="accent6">
                    <a:lumMod val="60000"/>
                    <a:lumOff val="40000"/>
                  </a:schemeClr>
                </a:solidFill>
              </a:rPr>
              <a:t>Data Transformation</a:t>
            </a:r>
            <a:endParaRPr lang="en-IN" sz="440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868832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7CF5D3B-66F2-81BE-00B3-A3FD6A9D5E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255EB70-FA6F-FF6A-4820-7C005C7CD3AE}"/>
              </a:ext>
            </a:extLst>
          </p:cNvPr>
          <p:cNvSpPr txBox="1"/>
          <p:nvPr/>
        </p:nvSpPr>
        <p:spPr>
          <a:xfrm>
            <a:off x="2544318" y="636955"/>
            <a:ext cx="609447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>
                <a:solidFill>
                  <a:schemeClr val="accent6">
                    <a:lumMod val="60000"/>
                    <a:lumOff val="40000"/>
                  </a:schemeClr>
                </a:solidFill>
              </a:rPr>
              <a:t>Data transformation</a:t>
            </a:r>
            <a:r>
              <a:rPr lang="en-IN">
                <a:solidFill>
                  <a:schemeClr val="accent6">
                    <a:lumMod val="60000"/>
                    <a:lumOff val="40000"/>
                  </a:schemeClr>
                </a:solidFill>
              </a:rPr>
              <a:t> means converting raw data into a form that is </a:t>
            </a:r>
            <a:r>
              <a:rPr lang="en-IN" b="1">
                <a:solidFill>
                  <a:schemeClr val="accent6">
                    <a:lumMod val="60000"/>
                    <a:lumOff val="40000"/>
                  </a:schemeClr>
                </a:solidFill>
              </a:rPr>
              <a:t>clean, consistent, valid, and useful for analysis</a:t>
            </a:r>
            <a:r>
              <a:rPr lang="en-IN">
                <a:solidFill>
                  <a:schemeClr val="accent6">
                    <a:lumMod val="60000"/>
                    <a:lumOff val="40000"/>
                  </a:schemeClr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6013746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6B085C7-F28D-D554-D987-8AC86FC30E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35D9445-0249-C1A4-DC1B-D5532560F006}"/>
              </a:ext>
            </a:extLst>
          </p:cNvPr>
          <p:cNvSpPr txBox="1"/>
          <p:nvPr/>
        </p:nvSpPr>
        <p:spPr>
          <a:xfrm>
            <a:off x="368046" y="159626"/>
            <a:ext cx="6094476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u="sng">
                <a:solidFill>
                  <a:schemeClr val="accent6">
                    <a:lumMod val="60000"/>
                    <a:lumOff val="40000"/>
                  </a:schemeClr>
                </a:solidFill>
              </a:rPr>
              <a:t>A. Data Cleaning</a:t>
            </a:r>
          </a:p>
          <a:p>
            <a:r>
              <a:rPr lang="en-IN" sz="2400">
                <a:solidFill>
                  <a:schemeClr val="accent6">
                    <a:lumMod val="60000"/>
                    <a:lumOff val="40000"/>
                  </a:schemeClr>
                </a:solidFill>
              </a:rPr>
              <a:t>Raw data often contains:</a:t>
            </a:r>
          </a:p>
          <a:p>
            <a:r>
              <a:rPr lang="en-IN" sz="2400" b="1">
                <a:solidFill>
                  <a:schemeClr val="accent4">
                    <a:lumMod val="60000"/>
                    <a:lumOff val="40000"/>
                  </a:schemeClr>
                </a:solidFill>
              </a:rPr>
              <a:t>Name       Age    Salary</a:t>
            </a:r>
          </a:p>
          <a:p>
            <a:r>
              <a:rPr lang="en-IN" sz="2400">
                <a:solidFill>
                  <a:schemeClr val="accent4">
                    <a:lumMod val="60000"/>
                    <a:lumOff val="40000"/>
                  </a:schemeClr>
                </a:solidFill>
              </a:rPr>
              <a:t>Rahul      25     50000</a:t>
            </a:r>
          </a:p>
          <a:p>
            <a:r>
              <a:rPr lang="en-IN" sz="2400">
                <a:solidFill>
                  <a:schemeClr val="accent4">
                    <a:lumMod val="60000"/>
                    <a:lumOff val="40000"/>
                  </a:schemeClr>
                </a:solidFill>
              </a:rPr>
              <a:t>Priya      </a:t>
            </a:r>
            <a:r>
              <a:rPr lang="en-IN" sz="2400" err="1">
                <a:solidFill>
                  <a:schemeClr val="accent4">
                    <a:lumMod val="60000"/>
                    <a:lumOff val="40000"/>
                  </a:schemeClr>
                </a:solidFill>
              </a:rPr>
              <a:t>NaN</a:t>
            </a:r>
            <a:r>
              <a:rPr lang="en-IN" sz="2400">
                <a:solidFill>
                  <a:schemeClr val="accent4">
                    <a:lumMod val="60000"/>
                    <a:lumOff val="40000"/>
                  </a:schemeClr>
                </a:solidFill>
              </a:rPr>
              <a:t>    60000</a:t>
            </a:r>
          </a:p>
          <a:p>
            <a:r>
              <a:rPr lang="en-IN" sz="2400">
                <a:solidFill>
                  <a:schemeClr val="accent4">
                    <a:lumMod val="60000"/>
                    <a:lumOff val="40000"/>
                  </a:schemeClr>
                </a:solidFill>
              </a:rPr>
              <a:t>Rahul      25     50000</a:t>
            </a:r>
          </a:p>
          <a:p>
            <a:r>
              <a:rPr lang="en-IN" sz="2400">
                <a:solidFill>
                  <a:schemeClr val="accent4">
                    <a:lumMod val="60000"/>
                    <a:lumOff val="40000"/>
                  </a:schemeClr>
                </a:solidFill>
              </a:rPr>
              <a:t>Amit       200    45000</a:t>
            </a:r>
          </a:p>
          <a:p>
            <a:endParaRPr lang="en-IN" sz="240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IN" sz="2400">
                <a:solidFill>
                  <a:schemeClr val="accent6">
                    <a:lumMod val="60000"/>
                    <a:lumOff val="40000"/>
                  </a:schemeClr>
                </a:solidFill>
              </a:rPr>
              <a:t>Typical cleaning operations include: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>
                <a:solidFill>
                  <a:schemeClr val="accent6">
                    <a:lumMod val="60000"/>
                    <a:lumOff val="40000"/>
                  </a:schemeClr>
                </a:solidFill>
              </a:rPr>
              <a:t>Missing-value treatment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>
                <a:solidFill>
                  <a:schemeClr val="accent6">
                    <a:lumMod val="60000"/>
                    <a:lumOff val="40000"/>
                  </a:schemeClr>
                </a:solidFill>
              </a:rPr>
              <a:t>Duplicate removal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>
                <a:solidFill>
                  <a:schemeClr val="accent6">
                    <a:lumMod val="60000"/>
                    <a:lumOff val="40000"/>
                  </a:schemeClr>
                </a:solidFill>
              </a:rPr>
              <a:t>Invalid-value detection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>
                <a:solidFill>
                  <a:schemeClr val="accent6">
                    <a:lumMod val="60000"/>
                    <a:lumOff val="40000"/>
                  </a:schemeClr>
                </a:solidFill>
              </a:rPr>
              <a:t>Outlier treatment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>
                <a:solidFill>
                  <a:schemeClr val="accent6">
                    <a:lumMod val="60000"/>
                    <a:lumOff val="40000"/>
                  </a:schemeClr>
                </a:solidFill>
              </a:rPr>
              <a:t>Standardizing formats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>
                <a:solidFill>
                  <a:schemeClr val="accent6">
                    <a:lumMod val="60000"/>
                    <a:lumOff val="40000"/>
                  </a:schemeClr>
                </a:solidFill>
              </a:rPr>
              <a:t>Removing unwanted records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FD44E59-DA5D-C91B-6583-DD3C5C99395E}"/>
              </a:ext>
            </a:extLst>
          </p:cNvPr>
          <p:cNvSpPr txBox="1"/>
          <p:nvPr/>
        </p:nvSpPr>
        <p:spPr>
          <a:xfrm>
            <a:off x="6206490" y="3882218"/>
            <a:ext cx="6094476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df</a:t>
            </a:r>
            <a:r>
              <a:rPr lang="en-IN" sz="2400">
                <a:solidFill>
                  <a:schemeClr val="accent6">
                    <a:lumMod val="60000"/>
                    <a:lumOff val="40000"/>
                  </a:schemeClr>
                </a:solidFill>
              </a:rPr>
              <a:t> = </a:t>
            </a:r>
            <a:r>
              <a:rPr lang="en-IN" sz="240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df.drop_duplicates</a:t>
            </a:r>
            <a:r>
              <a:rPr lang="en-IN" sz="2400">
                <a:solidFill>
                  <a:schemeClr val="accent6">
                    <a:lumMod val="60000"/>
                    <a:lumOff val="40000"/>
                  </a:schemeClr>
                </a:solidFill>
              </a:rPr>
              <a:t>() </a:t>
            </a:r>
          </a:p>
          <a:p>
            <a:endParaRPr lang="en-IN" sz="240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IN" sz="240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df</a:t>
            </a:r>
            <a:r>
              <a:rPr lang="en-IN" sz="2400">
                <a:solidFill>
                  <a:schemeClr val="accent6">
                    <a:lumMod val="60000"/>
                    <a:lumOff val="40000"/>
                  </a:schemeClr>
                </a:solidFill>
              </a:rPr>
              <a:t>["age"] = </a:t>
            </a:r>
            <a:r>
              <a:rPr lang="en-IN" sz="240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df</a:t>
            </a:r>
            <a:r>
              <a:rPr lang="en-IN" sz="2400">
                <a:solidFill>
                  <a:schemeClr val="accent6">
                    <a:lumMod val="60000"/>
                    <a:lumOff val="40000"/>
                  </a:schemeClr>
                </a:solidFill>
              </a:rPr>
              <a:t>["age"].</a:t>
            </a:r>
            <a:r>
              <a:rPr lang="en-IN" sz="240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fillna</a:t>
            </a:r>
            <a:r>
              <a:rPr lang="en-IN" sz="2400">
                <a:solidFill>
                  <a:schemeClr val="accent6">
                    <a:lumMod val="60000"/>
                    <a:lumOff val="40000"/>
                  </a:schemeClr>
                </a:solidFill>
              </a:rPr>
              <a:t>(</a:t>
            </a:r>
            <a:r>
              <a:rPr lang="en-IN" sz="240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df</a:t>
            </a:r>
            <a:r>
              <a:rPr lang="en-IN" sz="2400">
                <a:solidFill>
                  <a:schemeClr val="accent6">
                    <a:lumMod val="60000"/>
                    <a:lumOff val="40000"/>
                  </a:schemeClr>
                </a:solidFill>
              </a:rPr>
              <a:t>["age"].median())</a:t>
            </a:r>
          </a:p>
          <a:p>
            <a:r>
              <a:rPr lang="en-IN" sz="2400">
                <a:solidFill>
                  <a:schemeClr val="accent6">
                    <a:lumMod val="60000"/>
                    <a:lumOff val="40000"/>
                  </a:schemeClr>
                </a:solidFill>
              </a:rPr>
              <a:t> </a:t>
            </a:r>
          </a:p>
          <a:p>
            <a:r>
              <a:rPr lang="en-IN" sz="240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df</a:t>
            </a:r>
            <a:r>
              <a:rPr lang="en-IN" sz="2400">
                <a:solidFill>
                  <a:schemeClr val="accent6">
                    <a:lumMod val="60000"/>
                    <a:lumOff val="40000"/>
                  </a:schemeClr>
                </a:solidFill>
              </a:rPr>
              <a:t> = </a:t>
            </a:r>
            <a:r>
              <a:rPr lang="en-IN" sz="240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df</a:t>
            </a:r>
            <a:r>
              <a:rPr lang="en-IN" sz="2400">
                <a:solidFill>
                  <a:schemeClr val="accent6">
                    <a:lumMod val="60000"/>
                    <a:lumOff val="40000"/>
                  </a:schemeClr>
                </a:solidFill>
              </a:rPr>
              <a:t>[</a:t>
            </a:r>
            <a:r>
              <a:rPr lang="en-IN" sz="240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df</a:t>
            </a:r>
            <a:r>
              <a:rPr lang="en-IN" sz="2400">
                <a:solidFill>
                  <a:schemeClr val="accent6">
                    <a:lumMod val="60000"/>
                    <a:lumOff val="40000"/>
                  </a:schemeClr>
                </a:solidFill>
              </a:rPr>
              <a:t>["age"] &lt;= 100]</a:t>
            </a:r>
          </a:p>
        </p:txBody>
      </p:sp>
    </p:spTree>
    <p:extLst>
      <p:ext uri="{BB962C8B-B14F-4D97-AF65-F5344CB8AC3E}">
        <p14:creationId xmlns:p14="http://schemas.microsoft.com/office/powerpoint/2010/main" val="6627710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37A48B6-E0DF-5804-F732-29CF0ECE9B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BE85F979-6BDF-EBF9-0C00-20EE5651FB6C}"/>
              </a:ext>
            </a:extLst>
          </p:cNvPr>
          <p:cNvSpPr txBox="1"/>
          <p:nvPr/>
        </p:nvSpPr>
        <p:spPr>
          <a:xfrm>
            <a:off x="131606" y="156762"/>
            <a:ext cx="7605522" cy="4893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400" b="1" u="sng">
                <a:solidFill>
                  <a:schemeClr val="accent6">
                    <a:lumMod val="60000"/>
                    <a:lumOff val="40000"/>
                  </a:schemeClr>
                </a:solidFill>
              </a:rPr>
              <a:t>B. Data Type Conversion</a:t>
            </a:r>
          </a:p>
          <a:p>
            <a:pPr>
              <a:buNone/>
            </a:pPr>
            <a:r>
              <a:rPr lang="en-IN" sz="2400">
                <a:solidFill>
                  <a:schemeClr val="accent6">
                    <a:lumMod val="60000"/>
                    <a:lumOff val="40000"/>
                  </a:schemeClr>
                </a:solidFill>
              </a:rPr>
              <a:t>Different systems may represent the same data differently.</a:t>
            </a:r>
          </a:p>
          <a:p>
            <a:pPr>
              <a:buNone/>
            </a:pPr>
            <a:r>
              <a:rPr lang="en-IN" sz="2400">
                <a:solidFill>
                  <a:schemeClr val="accent6">
                    <a:lumMod val="60000"/>
                    <a:lumOff val="40000"/>
                  </a:schemeClr>
                </a:solidFill>
              </a:rPr>
              <a:t>For example:</a:t>
            </a:r>
          </a:p>
          <a:p>
            <a:pPr rtl="0">
              <a:buNone/>
            </a:pPr>
            <a:r>
              <a:rPr lang="en-IN" sz="2400">
                <a:solidFill>
                  <a:schemeClr val="accent6">
                    <a:lumMod val="60000"/>
                    <a:lumOff val="40000"/>
                  </a:schemeClr>
                </a:solidFill>
                <a:latin typeface="+mn-lt"/>
              </a:rPr>
              <a:t>"100"       → string</a:t>
            </a:r>
          </a:p>
          <a:p>
            <a:pPr rtl="0">
              <a:buNone/>
            </a:pPr>
            <a:r>
              <a:rPr lang="en-IN" sz="2400">
                <a:solidFill>
                  <a:schemeClr val="accent6">
                    <a:lumMod val="60000"/>
                    <a:lumOff val="40000"/>
                  </a:schemeClr>
                </a:solidFill>
                <a:latin typeface="+mn-lt"/>
              </a:rPr>
              <a:t>100         → integer</a:t>
            </a:r>
          </a:p>
          <a:p>
            <a:pPr rtl="0">
              <a:buNone/>
            </a:pPr>
            <a:r>
              <a:rPr lang="en-IN" sz="2400">
                <a:solidFill>
                  <a:schemeClr val="accent6">
                    <a:lumMod val="60000"/>
                    <a:lumOff val="40000"/>
                  </a:schemeClr>
                </a:solidFill>
                <a:latin typeface="+mn-lt"/>
              </a:rPr>
              <a:t>"2026-09-25" → string</a:t>
            </a:r>
          </a:p>
          <a:p>
            <a:pPr>
              <a:buNone/>
            </a:pPr>
            <a:r>
              <a:rPr lang="en-IN" sz="2400">
                <a:solidFill>
                  <a:schemeClr val="accent6">
                    <a:lumMod val="60000"/>
                    <a:lumOff val="40000"/>
                  </a:schemeClr>
                </a:solidFill>
              </a:rPr>
              <a:t>Transformation converts them into appropriate types.</a:t>
            </a:r>
          </a:p>
          <a:p>
            <a:pPr rtl="0">
              <a:buNone/>
            </a:pPr>
            <a:endParaRPr lang="en-IN" sz="2400">
              <a:solidFill>
                <a:schemeClr val="accent6">
                  <a:lumMod val="60000"/>
                  <a:lumOff val="40000"/>
                </a:schemeClr>
              </a:solidFill>
              <a:latin typeface="+mn-lt"/>
            </a:endParaRPr>
          </a:p>
          <a:p>
            <a:pPr rtl="0">
              <a:buNone/>
            </a:pPr>
            <a:r>
              <a:rPr lang="en-IN" sz="2400" err="1">
                <a:solidFill>
                  <a:schemeClr val="accent6">
                    <a:lumMod val="60000"/>
                    <a:lumOff val="40000"/>
                  </a:schemeClr>
                </a:solidFill>
                <a:latin typeface="+mn-lt"/>
              </a:rPr>
              <a:t>df</a:t>
            </a:r>
            <a:r>
              <a:rPr lang="en-IN" sz="2400">
                <a:solidFill>
                  <a:schemeClr val="accent6">
                    <a:lumMod val="60000"/>
                    <a:lumOff val="40000"/>
                  </a:schemeClr>
                </a:solidFill>
                <a:latin typeface="+mn-lt"/>
              </a:rPr>
              <a:t>["age"] = </a:t>
            </a:r>
            <a:r>
              <a:rPr lang="en-IN" sz="2400" err="1">
                <a:solidFill>
                  <a:schemeClr val="accent6">
                    <a:lumMod val="60000"/>
                    <a:lumOff val="40000"/>
                  </a:schemeClr>
                </a:solidFill>
                <a:latin typeface="+mn-lt"/>
              </a:rPr>
              <a:t>df</a:t>
            </a:r>
            <a:r>
              <a:rPr lang="en-IN" sz="2400">
                <a:solidFill>
                  <a:schemeClr val="accent6">
                    <a:lumMod val="60000"/>
                    <a:lumOff val="40000"/>
                  </a:schemeClr>
                </a:solidFill>
                <a:latin typeface="+mn-lt"/>
              </a:rPr>
              <a:t>["age"].</a:t>
            </a:r>
            <a:r>
              <a:rPr lang="en-IN" sz="2400" err="1">
                <a:solidFill>
                  <a:schemeClr val="accent6">
                    <a:lumMod val="60000"/>
                    <a:lumOff val="40000"/>
                  </a:schemeClr>
                </a:solidFill>
                <a:latin typeface="+mn-lt"/>
              </a:rPr>
              <a:t>astype</a:t>
            </a:r>
            <a:r>
              <a:rPr lang="en-IN" sz="2400">
                <a:solidFill>
                  <a:schemeClr val="accent6">
                    <a:lumMod val="60000"/>
                    <a:lumOff val="40000"/>
                  </a:schemeClr>
                </a:solidFill>
                <a:latin typeface="+mn-lt"/>
              </a:rPr>
              <a:t>(int)</a:t>
            </a:r>
          </a:p>
          <a:p>
            <a:pPr rtl="0">
              <a:buNone/>
            </a:pPr>
            <a:r>
              <a:rPr lang="en-IN" sz="2400" err="1">
                <a:solidFill>
                  <a:schemeClr val="accent6">
                    <a:lumMod val="60000"/>
                    <a:lumOff val="40000"/>
                  </a:schemeClr>
                </a:solidFill>
                <a:latin typeface="+mn-lt"/>
              </a:rPr>
              <a:t>df</a:t>
            </a:r>
            <a:r>
              <a:rPr lang="en-IN" sz="2400">
                <a:solidFill>
                  <a:schemeClr val="accent6">
                    <a:lumMod val="60000"/>
                    <a:lumOff val="40000"/>
                  </a:schemeClr>
                </a:solidFill>
                <a:latin typeface="+mn-lt"/>
              </a:rPr>
              <a:t>["date"] = </a:t>
            </a:r>
            <a:r>
              <a:rPr lang="en-IN" sz="2400" err="1">
                <a:solidFill>
                  <a:schemeClr val="accent6">
                    <a:lumMod val="60000"/>
                    <a:lumOff val="40000"/>
                  </a:schemeClr>
                </a:solidFill>
                <a:latin typeface="+mn-lt"/>
              </a:rPr>
              <a:t>pd.to_datetime</a:t>
            </a:r>
            <a:r>
              <a:rPr lang="en-IN" sz="2400">
                <a:solidFill>
                  <a:schemeClr val="accent6">
                    <a:lumMod val="60000"/>
                    <a:lumOff val="40000"/>
                  </a:schemeClr>
                </a:solidFill>
                <a:latin typeface="+mn-lt"/>
              </a:rPr>
              <a:t>(</a:t>
            </a:r>
            <a:r>
              <a:rPr lang="en-IN" sz="2400" err="1">
                <a:solidFill>
                  <a:schemeClr val="accent6">
                    <a:lumMod val="60000"/>
                    <a:lumOff val="40000"/>
                  </a:schemeClr>
                </a:solidFill>
                <a:latin typeface="+mn-lt"/>
              </a:rPr>
              <a:t>df</a:t>
            </a:r>
            <a:r>
              <a:rPr lang="en-IN" sz="2400">
                <a:solidFill>
                  <a:schemeClr val="accent6">
                    <a:lumMod val="60000"/>
                    <a:lumOff val="40000"/>
                  </a:schemeClr>
                </a:solidFill>
                <a:latin typeface="+mn-lt"/>
              </a:rPr>
              <a:t>["date"])</a:t>
            </a:r>
          </a:p>
          <a:p>
            <a:pPr rtl="0">
              <a:buNone/>
            </a:pPr>
            <a:endParaRPr lang="en-IN" sz="2400">
              <a:solidFill>
                <a:schemeClr val="accent6">
                  <a:lumMod val="60000"/>
                  <a:lumOff val="40000"/>
                </a:schemeClr>
              </a:solidFill>
              <a:latin typeface="+mn-lt"/>
            </a:endParaRPr>
          </a:p>
          <a:p>
            <a:pPr>
              <a:buNone/>
            </a:pPr>
            <a:r>
              <a:rPr lang="en-IN" sz="2400">
                <a:solidFill>
                  <a:schemeClr val="accent6">
                    <a:lumMod val="60000"/>
                    <a:lumOff val="40000"/>
                  </a:schemeClr>
                </a:solidFill>
              </a:rPr>
              <a:t>This is particularly important when combining data from </a:t>
            </a:r>
            <a:r>
              <a:rPr lang="en-IN" sz="2400" b="1" i="1">
                <a:solidFill>
                  <a:schemeClr val="accent6">
                    <a:lumMod val="60000"/>
                    <a:lumOff val="40000"/>
                  </a:schemeClr>
                </a:solidFill>
              </a:rPr>
              <a:t>multiple sources.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5BB1C8B7-7255-1ACA-CCC1-A411D86048FC}"/>
              </a:ext>
            </a:extLst>
          </p:cNvPr>
          <p:cNvSpPr/>
          <p:nvPr/>
        </p:nvSpPr>
        <p:spPr>
          <a:xfrm>
            <a:off x="7808976" y="914400"/>
            <a:ext cx="1746504" cy="150876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Source1</a:t>
            </a:r>
          </a:p>
          <a:p>
            <a:pPr algn="ctr"/>
            <a:r>
              <a:rPr lang="en-US" err="1"/>
              <a:t>age,salary</a:t>
            </a:r>
            <a:endParaRPr lang="en-US"/>
          </a:p>
          <a:p>
            <a:pPr algn="ctr"/>
            <a:r>
              <a:rPr lang="en-US"/>
              <a:t>23,100</a:t>
            </a:r>
          </a:p>
          <a:p>
            <a:pPr algn="ctr"/>
            <a:r>
              <a:rPr lang="en-US"/>
              <a:t>34,92</a:t>
            </a:r>
          </a:p>
          <a:p>
            <a:pPr algn="ctr"/>
            <a:r>
              <a:rPr lang="en-US"/>
              <a:t>47,75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2B459406-9D8A-314F-9CB6-0F142195711F}"/>
              </a:ext>
            </a:extLst>
          </p:cNvPr>
          <p:cNvSpPr/>
          <p:nvPr/>
        </p:nvSpPr>
        <p:spPr>
          <a:xfrm>
            <a:off x="9817608" y="914400"/>
            <a:ext cx="1746504" cy="150876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Source2</a:t>
            </a:r>
          </a:p>
          <a:p>
            <a:pPr algn="ctr"/>
            <a:r>
              <a:rPr lang="en-US" err="1"/>
              <a:t>age,salary</a:t>
            </a:r>
            <a:endParaRPr lang="en-US"/>
          </a:p>
          <a:p>
            <a:pPr algn="ctr"/>
            <a:r>
              <a:rPr lang="en-US"/>
              <a:t>55,87</a:t>
            </a:r>
          </a:p>
          <a:p>
            <a:pPr algn="ctr"/>
            <a:r>
              <a:rPr lang="en-US"/>
              <a:t>39,23</a:t>
            </a:r>
          </a:p>
          <a:p>
            <a:pPr algn="ctr"/>
            <a:r>
              <a:rPr lang="en-US"/>
              <a:t>28,73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97D383DD-3995-2DAB-299C-11C552B93822}"/>
              </a:ext>
            </a:extLst>
          </p:cNvPr>
          <p:cNvSpPr/>
          <p:nvPr/>
        </p:nvSpPr>
        <p:spPr>
          <a:xfrm>
            <a:off x="8400526" y="3471618"/>
            <a:ext cx="2878836" cy="58302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df1 from source1</a:t>
            </a:r>
          </a:p>
          <a:p>
            <a:pPr algn="ctr"/>
            <a:r>
              <a:rPr lang="en-US"/>
              <a:t>df2 from source2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B9CFB76-756E-ECF6-718B-1C57A091A4D4}"/>
              </a:ext>
            </a:extLst>
          </p:cNvPr>
          <p:cNvSpPr txBox="1"/>
          <p:nvPr/>
        </p:nvSpPr>
        <p:spPr>
          <a:xfrm>
            <a:off x="7496419" y="2694256"/>
            <a:ext cx="14405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>
                <a:solidFill>
                  <a:schemeClr val="accent6">
                    <a:lumMod val="60000"/>
                    <a:lumOff val="40000"/>
                  </a:schemeClr>
                </a:solidFill>
              </a:rPr>
              <a:t>df1: age is int</a:t>
            </a:r>
            <a:endParaRPr lang="en-IN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F4FBCCC-9422-296D-807C-BE0AFE69680F}"/>
              </a:ext>
            </a:extLst>
          </p:cNvPr>
          <p:cNvSpPr txBox="1"/>
          <p:nvPr/>
        </p:nvSpPr>
        <p:spPr>
          <a:xfrm>
            <a:off x="10436466" y="2762685"/>
            <a:ext cx="17719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>
                <a:solidFill>
                  <a:schemeClr val="accent6">
                    <a:lumMod val="60000"/>
                    <a:lumOff val="40000"/>
                  </a:schemeClr>
                </a:solidFill>
              </a:rPr>
              <a:t>df2: age is string</a:t>
            </a:r>
            <a:endParaRPr lang="en-IN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3" name="Arrow: Down 12">
            <a:extLst>
              <a:ext uri="{FF2B5EF4-FFF2-40B4-BE49-F238E27FC236}">
                <a16:creationId xmlns:a16="http://schemas.microsoft.com/office/drawing/2014/main" id="{035AE3E1-FC36-D5D6-5DB3-04E0CC01EBCF}"/>
              </a:ext>
            </a:extLst>
          </p:cNvPr>
          <p:cNvSpPr/>
          <p:nvPr/>
        </p:nvSpPr>
        <p:spPr>
          <a:xfrm rot="20152469">
            <a:off x="8867500" y="2435286"/>
            <a:ext cx="265176" cy="963224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" name="Arrow: Down 14">
            <a:extLst>
              <a:ext uri="{FF2B5EF4-FFF2-40B4-BE49-F238E27FC236}">
                <a16:creationId xmlns:a16="http://schemas.microsoft.com/office/drawing/2014/main" id="{8B94CA33-D271-D63C-ADED-5163D6BE8565}"/>
              </a:ext>
            </a:extLst>
          </p:cNvPr>
          <p:cNvSpPr/>
          <p:nvPr/>
        </p:nvSpPr>
        <p:spPr>
          <a:xfrm rot="1206536">
            <a:off x="10274126" y="2483057"/>
            <a:ext cx="265176" cy="928664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9FE3FF5-5603-5829-F27F-F0C2F4CFCBAB}"/>
              </a:ext>
            </a:extLst>
          </p:cNvPr>
          <p:cNvSpPr txBox="1"/>
          <p:nvPr/>
        </p:nvSpPr>
        <p:spPr>
          <a:xfrm>
            <a:off x="8236788" y="4865743"/>
            <a:ext cx="341266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buNone/>
            </a:pPr>
            <a:r>
              <a:rPr lang="en-IN">
                <a:solidFill>
                  <a:schemeClr val="accent6">
                    <a:lumMod val="60000"/>
                    <a:lumOff val="40000"/>
                  </a:schemeClr>
                </a:solidFill>
                <a:latin typeface="+mn-lt"/>
              </a:rPr>
              <a:t>df2["age"] = df2["age"].</a:t>
            </a:r>
            <a:r>
              <a:rPr lang="en-IN" err="1">
                <a:solidFill>
                  <a:schemeClr val="accent6">
                    <a:lumMod val="60000"/>
                    <a:lumOff val="40000"/>
                  </a:schemeClr>
                </a:solidFill>
                <a:latin typeface="+mn-lt"/>
              </a:rPr>
              <a:t>astype</a:t>
            </a:r>
            <a:r>
              <a:rPr lang="en-IN">
                <a:solidFill>
                  <a:schemeClr val="accent6">
                    <a:lumMod val="60000"/>
                    <a:lumOff val="40000"/>
                  </a:schemeClr>
                </a:solidFill>
                <a:latin typeface="+mn-lt"/>
              </a:rPr>
              <a:t>(int)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FAC0F1FE-655D-F3F6-2BC6-23A71CB52360}"/>
              </a:ext>
            </a:extLst>
          </p:cNvPr>
          <p:cNvSpPr/>
          <p:nvPr/>
        </p:nvSpPr>
        <p:spPr>
          <a:xfrm>
            <a:off x="8504722" y="5681803"/>
            <a:ext cx="2302173" cy="58302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Combine df1 and df2</a:t>
            </a:r>
          </a:p>
        </p:txBody>
      </p:sp>
      <p:sp>
        <p:nvSpPr>
          <p:cNvPr id="21" name="Arrow: Down 20">
            <a:extLst>
              <a:ext uri="{FF2B5EF4-FFF2-40B4-BE49-F238E27FC236}">
                <a16:creationId xmlns:a16="http://schemas.microsoft.com/office/drawing/2014/main" id="{30A417DF-18CD-FEA6-1C1A-C918380BF4EC}"/>
              </a:ext>
            </a:extLst>
          </p:cNvPr>
          <p:cNvSpPr/>
          <p:nvPr/>
        </p:nvSpPr>
        <p:spPr>
          <a:xfrm>
            <a:off x="9563053" y="5248187"/>
            <a:ext cx="242767" cy="385263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3" name="Arrow: Down 22">
            <a:extLst>
              <a:ext uri="{FF2B5EF4-FFF2-40B4-BE49-F238E27FC236}">
                <a16:creationId xmlns:a16="http://schemas.microsoft.com/office/drawing/2014/main" id="{FA24F1A7-ECDE-15B3-00E3-FDB2C2D9A30A}"/>
              </a:ext>
            </a:extLst>
          </p:cNvPr>
          <p:cNvSpPr/>
          <p:nvPr/>
        </p:nvSpPr>
        <p:spPr>
          <a:xfrm>
            <a:off x="9563053" y="4174522"/>
            <a:ext cx="242767" cy="571338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86598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BBEEA6A-0987-31CB-C781-9C3DBF8281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63787C9-3767-2AD3-BE2A-714DC0491986}"/>
              </a:ext>
            </a:extLst>
          </p:cNvPr>
          <p:cNvSpPr txBox="1"/>
          <p:nvPr/>
        </p:nvSpPr>
        <p:spPr>
          <a:xfrm>
            <a:off x="240030" y="183309"/>
            <a:ext cx="7642098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400" b="1" u="sng">
                <a:solidFill>
                  <a:schemeClr val="accent6">
                    <a:lumMod val="60000"/>
                    <a:lumOff val="40000"/>
                  </a:schemeClr>
                </a:solidFill>
              </a:rPr>
              <a:t>C. Standardization</a:t>
            </a:r>
          </a:p>
          <a:p>
            <a:pPr>
              <a:buNone/>
            </a:pPr>
            <a:r>
              <a:rPr lang="en-IN" sz="2400">
                <a:solidFill>
                  <a:schemeClr val="accent6">
                    <a:lumMod val="60000"/>
                    <a:lumOff val="40000"/>
                  </a:schemeClr>
                </a:solidFill>
              </a:rPr>
              <a:t>Different sources may represent the same value differently.</a:t>
            </a:r>
          </a:p>
          <a:p>
            <a:pPr>
              <a:buNone/>
            </a:pPr>
            <a:endParaRPr lang="en-IN" sz="240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r>
              <a:rPr lang="en-IN" sz="2400">
                <a:solidFill>
                  <a:schemeClr val="accent6">
                    <a:lumMod val="60000"/>
                    <a:lumOff val="40000"/>
                  </a:schemeClr>
                </a:solidFill>
              </a:rPr>
              <a:t>For example:</a:t>
            </a:r>
          </a:p>
          <a:p>
            <a:pPr rtl="0">
              <a:buNone/>
            </a:pPr>
            <a:endParaRPr lang="en-IN" sz="2400">
              <a:solidFill>
                <a:schemeClr val="accent6">
                  <a:lumMod val="60000"/>
                  <a:lumOff val="40000"/>
                </a:schemeClr>
              </a:solidFill>
              <a:latin typeface="+mn-lt"/>
            </a:endParaRP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5AC4D35C-1D3D-EA52-8D87-D571E72EBFA1}"/>
              </a:ext>
            </a:extLst>
          </p:cNvPr>
          <p:cNvSpPr/>
          <p:nvPr/>
        </p:nvSpPr>
        <p:spPr>
          <a:xfrm>
            <a:off x="2192392" y="1395984"/>
            <a:ext cx="1746504" cy="107899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>
                <a:solidFill>
                  <a:schemeClr val="bg1"/>
                </a:solidFill>
              </a:rPr>
              <a:t>Source A</a:t>
            </a:r>
          </a:p>
          <a:p>
            <a:r>
              <a:rPr lang="en-IN">
                <a:solidFill>
                  <a:schemeClr val="bg1"/>
                </a:solidFill>
              </a:rPr>
              <a:t>India</a:t>
            </a:r>
          </a:p>
          <a:p>
            <a:r>
              <a:rPr lang="en-IN">
                <a:solidFill>
                  <a:schemeClr val="bg1"/>
                </a:solidFill>
              </a:rPr>
              <a:t>United States</a:t>
            </a:r>
          </a:p>
          <a:p>
            <a:r>
              <a:rPr lang="en-IN">
                <a:solidFill>
                  <a:schemeClr val="bg1"/>
                </a:solidFill>
              </a:rPr>
              <a:t>UK</a:t>
            </a:r>
            <a:endParaRPr lang="en-US">
              <a:solidFill>
                <a:schemeClr val="bg1"/>
              </a:solidFill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42463924-B193-C23F-0BEA-C49CD3AA50F5}"/>
              </a:ext>
            </a:extLst>
          </p:cNvPr>
          <p:cNvSpPr/>
          <p:nvPr/>
        </p:nvSpPr>
        <p:spPr>
          <a:xfrm>
            <a:off x="4313800" y="1395984"/>
            <a:ext cx="1746504" cy="107899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>
                <a:solidFill>
                  <a:schemeClr val="bg1"/>
                </a:solidFill>
              </a:rPr>
              <a:t>Source B</a:t>
            </a:r>
          </a:p>
          <a:p>
            <a:r>
              <a:rPr lang="en-IN">
                <a:solidFill>
                  <a:schemeClr val="bg1"/>
                </a:solidFill>
              </a:rPr>
              <a:t>INDIA</a:t>
            </a:r>
          </a:p>
          <a:p>
            <a:r>
              <a:rPr lang="en-IN">
                <a:solidFill>
                  <a:schemeClr val="bg1"/>
                </a:solidFill>
              </a:rPr>
              <a:t>USA</a:t>
            </a:r>
          </a:p>
          <a:p>
            <a:r>
              <a:rPr lang="en-IN">
                <a:solidFill>
                  <a:schemeClr val="bg1"/>
                </a:solidFill>
              </a:rPr>
              <a:t>U.K.</a:t>
            </a:r>
            <a:endParaRPr lang="en-US">
              <a:solidFill>
                <a:schemeClr val="bg1"/>
              </a:solidFill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57264D71-3A6D-AE69-BC3F-30A0283C027A}"/>
              </a:ext>
            </a:extLst>
          </p:cNvPr>
          <p:cNvSpPr/>
          <p:nvPr/>
        </p:nvSpPr>
        <p:spPr>
          <a:xfrm>
            <a:off x="6307192" y="1395984"/>
            <a:ext cx="1746504" cy="107899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>
                <a:solidFill>
                  <a:schemeClr val="bg1"/>
                </a:solidFill>
              </a:rPr>
              <a:t>Source C</a:t>
            </a:r>
          </a:p>
          <a:p>
            <a:r>
              <a:rPr lang="en-IN">
                <a:solidFill>
                  <a:schemeClr val="bg1"/>
                </a:solidFill>
              </a:rPr>
              <a:t>IN</a:t>
            </a:r>
          </a:p>
          <a:p>
            <a:r>
              <a:rPr lang="en-IN">
                <a:solidFill>
                  <a:schemeClr val="bg1"/>
                </a:solidFill>
              </a:rPr>
              <a:t>US</a:t>
            </a:r>
          </a:p>
          <a:p>
            <a:r>
              <a:rPr lang="en-IN">
                <a:solidFill>
                  <a:schemeClr val="bg1"/>
                </a:solidFill>
              </a:rPr>
              <a:t>U.K.</a:t>
            </a:r>
            <a:endParaRPr lang="en-US">
              <a:solidFill>
                <a:schemeClr val="bg1"/>
              </a:solidFill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DA7F9828-11A0-5BC7-CA75-35D8703DE3AC}"/>
              </a:ext>
            </a:extLst>
          </p:cNvPr>
          <p:cNvSpPr/>
          <p:nvPr/>
        </p:nvSpPr>
        <p:spPr>
          <a:xfrm>
            <a:off x="3483081" y="3353355"/>
            <a:ext cx="2878836" cy="89239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err="1"/>
              <a:t>df_a</a:t>
            </a:r>
            <a:r>
              <a:rPr lang="en-US"/>
              <a:t> from source a</a:t>
            </a:r>
          </a:p>
          <a:p>
            <a:pPr algn="ctr"/>
            <a:r>
              <a:rPr lang="en-US" err="1"/>
              <a:t>df_b</a:t>
            </a:r>
            <a:r>
              <a:rPr lang="en-US"/>
              <a:t> from source b</a:t>
            </a:r>
          </a:p>
          <a:p>
            <a:pPr algn="ctr"/>
            <a:r>
              <a:rPr lang="en-US" err="1"/>
              <a:t>df_c</a:t>
            </a:r>
            <a:r>
              <a:rPr lang="en-US"/>
              <a:t> from source c</a:t>
            </a:r>
          </a:p>
        </p:txBody>
      </p:sp>
      <p:sp>
        <p:nvSpPr>
          <p:cNvPr id="14" name="Arrow: Down 13">
            <a:extLst>
              <a:ext uri="{FF2B5EF4-FFF2-40B4-BE49-F238E27FC236}">
                <a16:creationId xmlns:a16="http://schemas.microsoft.com/office/drawing/2014/main" id="{BE02135B-5DCF-36DC-AE09-6176AADFDB22}"/>
              </a:ext>
            </a:extLst>
          </p:cNvPr>
          <p:cNvSpPr/>
          <p:nvPr/>
        </p:nvSpPr>
        <p:spPr>
          <a:xfrm rot="20152469">
            <a:off x="3603411" y="2573551"/>
            <a:ext cx="265176" cy="645459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" name="Arrow: Down 15">
            <a:extLst>
              <a:ext uri="{FF2B5EF4-FFF2-40B4-BE49-F238E27FC236}">
                <a16:creationId xmlns:a16="http://schemas.microsoft.com/office/drawing/2014/main" id="{5B8586EE-C4AD-9031-ABF3-ABAA4EAD1991}"/>
              </a:ext>
            </a:extLst>
          </p:cNvPr>
          <p:cNvSpPr/>
          <p:nvPr/>
        </p:nvSpPr>
        <p:spPr>
          <a:xfrm>
            <a:off x="4880728" y="2567463"/>
            <a:ext cx="265176" cy="657636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" name="Arrow: Down 17">
            <a:extLst>
              <a:ext uri="{FF2B5EF4-FFF2-40B4-BE49-F238E27FC236}">
                <a16:creationId xmlns:a16="http://schemas.microsoft.com/office/drawing/2014/main" id="{F60516C3-BE99-A3CD-BBBF-AC6C561A8BEC}"/>
              </a:ext>
            </a:extLst>
          </p:cNvPr>
          <p:cNvSpPr/>
          <p:nvPr/>
        </p:nvSpPr>
        <p:spPr>
          <a:xfrm rot="1451721">
            <a:off x="6221515" y="2594957"/>
            <a:ext cx="265176" cy="669327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C60ECD2-2770-ABC6-F0F3-8874D45EE586}"/>
              </a:ext>
            </a:extLst>
          </p:cNvPr>
          <p:cNvSpPr txBox="1"/>
          <p:nvPr/>
        </p:nvSpPr>
        <p:spPr>
          <a:xfrm>
            <a:off x="212716" y="4456152"/>
            <a:ext cx="6094476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400">
                <a:solidFill>
                  <a:schemeClr val="accent6">
                    <a:lumMod val="60000"/>
                    <a:lumOff val="40000"/>
                  </a:schemeClr>
                </a:solidFill>
              </a:rPr>
              <a:t>You might standardize them:</a:t>
            </a:r>
          </a:p>
          <a:p>
            <a:pPr marL="342900" indent="-342900" rtl="0">
              <a:buFont typeface="Arial" panose="020B0604020202020204" pitchFamily="34" charset="0"/>
              <a:buChar char="•"/>
            </a:pPr>
            <a:r>
              <a:rPr lang="en-IN" sz="2400">
                <a:solidFill>
                  <a:schemeClr val="accent6">
                    <a:lumMod val="60000"/>
                    <a:lumOff val="40000"/>
                  </a:schemeClr>
                </a:solidFill>
                <a:latin typeface="+mn-lt"/>
              </a:rPr>
              <a:t>India</a:t>
            </a:r>
          </a:p>
          <a:p>
            <a:pPr marL="342900" indent="-342900" rtl="0">
              <a:buFont typeface="Arial" panose="020B0604020202020204" pitchFamily="34" charset="0"/>
              <a:buChar char="•"/>
            </a:pPr>
            <a:r>
              <a:rPr lang="en-IN" sz="2400">
                <a:solidFill>
                  <a:schemeClr val="accent6">
                    <a:lumMod val="60000"/>
                    <a:lumOff val="40000"/>
                  </a:schemeClr>
                </a:solidFill>
                <a:latin typeface="+mn-lt"/>
              </a:rPr>
              <a:t>United States</a:t>
            </a:r>
          </a:p>
          <a:p>
            <a:pPr marL="342900" indent="-342900" rtl="0">
              <a:buFont typeface="Arial" panose="020B0604020202020204" pitchFamily="34" charset="0"/>
              <a:buChar char="•"/>
            </a:pPr>
            <a:r>
              <a:rPr lang="en-IN" sz="2400">
                <a:solidFill>
                  <a:schemeClr val="accent6">
                    <a:lumMod val="60000"/>
                    <a:lumOff val="40000"/>
                  </a:schemeClr>
                </a:solidFill>
                <a:latin typeface="+mn-lt"/>
              </a:rPr>
              <a:t>United Kingdom</a:t>
            </a:r>
          </a:p>
          <a:p>
            <a:pPr marL="342900" indent="-342900" rtl="0">
              <a:buFont typeface="Arial" panose="020B0604020202020204" pitchFamily="34" charset="0"/>
              <a:buChar char="•"/>
            </a:pPr>
            <a:endParaRPr lang="en-IN" sz="2400">
              <a:solidFill>
                <a:schemeClr val="accent6">
                  <a:lumMod val="60000"/>
                  <a:lumOff val="40000"/>
                </a:schemeClr>
              </a:solidFill>
              <a:latin typeface="+mn-lt"/>
            </a:endParaRPr>
          </a:p>
          <a:p>
            <a:pPr>
              <a:buNone/>
            </a:pPr>
            <a:r>
              <a:rPr lang="en-IN" sz="2400">
                <a:solidFill>
                  <a:schemeClr val="accent6">
                    <a:lumMod val="60000"/>
                    <a:lumOff val="40000"/>
                  </a:schemeClr>
                </a:solidFill>
              </a:rPr>
              <a:t>This is called </a:t>
            </a:r>
            <a:r>
              <a:rPr lang="en-IN" sz="2400" b="1">
                <a:solidFill>
                  <a:schemeClr val="accent6">
                    <a:lumMod val="60000"/>
                    <a:lumOff val="40000"/>
                  </a:schemeClr>
                </a:solidFill>
              </a:rPr>
              <a:t>data standardization</a:t>
            </a:r>
            <a:r>
              <a:rPr lang="en-IN" sz="2400">
                <a:solidFill>
                  <a:schemeClr val="accent6">
                    <a:lumMod val="60000"/>
                    <a:lumOff val="40000"/>
                  </a:schemeClr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7534710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8AA5D2D-F99C-1E88-6411-E5A264AFE4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8B521AD-9DCE-7E20-ECF0-251573B95903}"/>
              </a:ext>
            </a:extLst>
          </p:cNvPr>
          <p:cNvSpPr txBox="1"/>
          <p:nvPr/>
        </p:nvSpPr>
        <p:spPr>
          <a:xfrm>
            <a:off x="185166" y="176844"/>
            <a:ext cx="9169146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400" b="1" u="sng">
                <a:solidFill>
                  <a:schemeClr val="accent6">
                    <a:lumMod val="60000"/>
                    <a:lumOff val="40000"/>
                  </a:schemeClr>
                </a:solidFill>
              </a:rPr>
              <a:t>D. Data Validation</a:t>
            </a:r>
          </a:p>
          <a:p>
            <a:pPr>
              <a:buNone/>
            </a:pPr>
            <a:r>
              <a:rPr lang="en-IN" sz="2400">
                <a:solidFill>
                  <a:schemeClr val="accent6">
                    <a:lumMod val="60000"/>
                    <a:lumOff val="40000"/>
                  </a:schemeClr>
                </a:solidFill>
              </a:rPr>
              <a:t>Before loading or using data, check whether it satisfies expected rules.</a:t>
            </a:r>
          </a:p>
          <a:p>
            <a:pPr>
              <a:buNone/>
            </a:pPr>
            <a:endParaRPr lang="en-IN" sz="240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r>
              <a:rPr lang="en-IN" sz="2400">
                <a:solidFill>
                  <a:schemeClr val="accent6">
                    <a:lumMod val="60000"/>
                    <a:lumOff val="40000"/>
                  </a:schemeClr>
                </a:solidFill>
              </a:rPr>
              <a:t>For example:</a:t>
            </a:r>
          </a:p>
          <a:p>
            <a:pPr marL="342900" indent="-342900" rtl="0">
              <a:buFont typeface="Arial" panose="020B0604020202020204" pitchFamily="34" charset="0"/>
              <a:buChar char="•"/>
            </a:pPr>
            <a:r>
              <a:rPr lang="en-IN" sz="2400">
                <a:solidFill>
                  <a:schemeClr val="accent6">
                    <a:lumMod val="60000"/>
                    <a:lumOff val="40000"/>
                  </a:schemeClr>
                </a:solidFill>
                <a:latin typeface="+mn-lt"/>
              </a:rPr>
              <a:t>Age must be between 0 and 120</a:t>
            </a:r>
          </a:p>
          <a:p>
            <a:pPr marL="342900" indent="-342900" rtl="0">
              <a:buFont typeface="Arial" panose="020B0604020202020204" pitchFamily="34" charset="0"/>
              <a:buChar char="•"/>
            </a:pPr>
            <a:r>
              <a:rPr lang="en-IN" sz="2400">
                <a:solidFill>
                  <a:schemeClr val="accent6">
                    <a:lumMod val="60000"/>
                    <a:lumOff val="40000"/>
                  </a:schemeClr>
                </a:solidFill>
                <a:latin typeface="+mn-lt"/>
              </a:rPr>
              <a:t>Salary must be &gt;= 0</a:t>
            </a:r>
          </a:p>
          <a:p>
            <a:pPr marL="342900" indent="-342900" rtl="0">
              <a:buFont typeface="Arial" panose="020B0604020202020204" pitchFamily="34" charset="0"/>
              <a:buChar char="•"/>
            </a:pPr>
            <a:r>
              <a:rPr lang="en-IN" sz="2400">
                <a:solidFill>
                  <a:schemeClr val="accent6">
                    <a:lumMod val="60000"/>
                    <a:lumOff val="40000"/>
                  </a:schemeClr>
                </a:solidFill>
                <a:latin typeface="+mn-lt"/>
              </a:rPr>
              <a:t>Customer ID cannot be NULL</a:t>
            </a:r>
          </a:p>
          <a:p>
            <a:pPr marL="342900" indent="-342900" rtl="0">
              <a:buFont typeface="Arial" panose="020B0604020202020204" pitchFamily="34" charset="0"/>
              <a:buChar char="•"/>
            </a:pPr>
            <a:r>
              <a:rPr lang="en-IN" sz="2400">
                <a:solidFill>
                  <a:schemeClr val="accent6">
                    <a:lumMod val="60000"/>
                    <a:lumOff val="40000"/>
                  </a:schemeClr>
                </a:solidFill>
                <a:latin typeface="+mn-lt"/>
              </a:rPr>
              <a:t>Email must have valid format</a:t>
            </a:r>
            <a:endParaRPr lang="en-IN" sz="2400">
              <a:solidFill>
                <a:schemeClr val="accent6">
                  <a:lumMod val="60000"/>
                  <a:lumOff val="40000"/>
                </a:schemeClr>
              </a:solidFill>
              <a:latin typeface="Courier New" panose="02070309020205020404" pitchFamily="49" charset="0"/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C98D8916-191F-43A5-09ED-2793B9CF0030}"/>
              </a:ext>
            </a:extLst>
          </p:cNvPr>
          <p:cNvSpPr/>
          <p:nvPr/>
        </p:nvSpPr>
        <p:spPr>
          <a:xfrm>
            <a:off x="6810112" y="1508760"/>
            <a:ext cx="4473584" cy="192024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>
                <a:solidFill>
                  <a:schemeClr val="bg1"/>
                </a:solidFill>
              </a:rPr>
              <a:t>Source </a:t>
            </a:r>
          </a:p>
          <a:p>
            <a:r>
              <a:rPr lang="en-IN" err="1">
                <a:solidFill>
                  <a:schemeClr val="bg1"/>
                </a:solidFill>
              </a:rPr>
              <a:t>age,salary,cust_id,email</a:t>
            </a:r>
            <a:endParaRPr lang="en-IN">
              <a:solidFill>
                <a:schemeClr val="bg1"/>
              </a:solidFill>
            </a:endParaRPr>
          </a:p>
          <a:p>
            <a:r>
              <a:rPr lang="en-IN">
                <a:solidFill>
                  <a:schemeClr val="bg1"/>
                </a:solidFill>
              </a:rPr>
              <a:t>23,34000,1,ash@lox.com</a:t>
            </a:r>
          </a:p>
          <a:p>
            <a:r>
              <a:rPr lang="en-IN" b="1">
                <a:solidFill>
                  <a:srgbClr val="FFC000"/>
                </a:solidFill>
              </a:rPr>
              <a:t>132</a:t>
            </a:r>
            <a:r>
              <a:rPr lang="en-IN">
                <a:solidFill>
                  <a:schemeClr val="bg1"/>
                </a:solidFill>
              </a:rPr>
              <a:t>,86000,,john@lox.com</a:t>
            </a:r>
          </a:p>
          <a:p>
            <a:r>
              <a:rPr lang="en-IN">
                <a:solidFill>
                  <a:schemeClr val="bg1"/>
                </a:solidFill>
              </a:rPr>
              <a:t>63,</a:t>
            </a:r>
            <a:r>
              <a:rPr lang="en-IN">
                <a:solidFill>
                  <a:srgbClr val="FFC000"/>
                </a:solidFill>
              </a:rPr>
              <a:t>-29000</a:t>
            </a:r>
            <a:r>
              <a:rPr lang="en-IN">
                <a:solidFill>
                  <a:schemeClr val="bg1"/>
                </a:solidFill>
              </a:rPr>
              <a:t>,3,</a:t>
            </a:r>
            <a:r>
              <a:rPr lang="en-IN">
                <a:solidFill>
                  <a:srgbClr val="FFC000"/>
                </a:solidFill>
              </a:rPr>
              <a:t>www.loxfordacademy.com</a:t>
            </a:r>
          </a:p>
          <a:p>
            <a:r>
              <a:rPr lang="en-US">
                <a:solidFill>
                  <a:schemeClr val="bg1"/>
                </a:solidFill>
              </a:rPr>
              <a:t>…..</a:t>
            </a:r>
            <a:endParaRPr lang="en-IN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929317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367EF51-2688-D5FE-D8EB-D371B9D549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3E41A65-3520-6467-E796-75AC1C04C4DB}"/>
              </a:ext>
            </a:extLst>
          </p:cNvPr>
          <p:cNvSpPr txBox="1"/>
          <p:nvPr/>
        </p:nvSpPr>
        <p:spPr>
          <a:xfrm>
            <a:off x="173736" y="95887"/>
            <a:ext cx="8951976" cy="4893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400" b="1" u="sng">
                <a:solidFill>
                  <a:schemeClr val="accent6">
                    <a:lumMod val="60000"/>
                    <a:lumOff val="40000"/>
                  </a:schemeClr>
                </a:solidFill>
              </a:rPr>
              <a:t>E. Filtering</a:t>
            </a:r>
          </a:p>
          <a:p>
            <a:pPr>
              <a:buNone/>
            </a:pPr>
            <a:r>
              <a:rPr lang="en-IN" sz="2400">
                <a:solidFill>
                  <a:schemeClr val="accent6">
                    <a:lumMod val="60000"/>
                    <a:lumOff val="40000"/>
                  </a:schemeClr>
                </a:solidFill>
              </a:rPr>
              <a:t>You don't always need every record.</a:t>
            </a:r>
          </a:p>
          <a:p>
            <a:pPr>
              <a:buNone/>
            </a:pPr>
            <a:endParaRPr lang="en-IN" sz="240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r>
              <a:rPr lang="en-IN" sz="2400">
                <a:solidFill>
                  <a:schemeClr val="accent6">
                    <a:lumMod val="60000"/>
                    <a:lumOff val="40000"/>
                  </a:schemeClr>
                </a:solidFill>
              </a:rPr>
              <a:t>For example:</a:t>
            </a:r>
          </a:p>
          <a:p>
            <a:pPr rtl="0">
              <a:buNone/>
            </a:pPr>
            <a:r>
              <a:rPr lang="en-IN" sz="2400" err="1">
                <a:solidFill>
                  <a:schemeClr val="accent6">
                    <a:lumMod val="60000"/>
                    <a:lumOff val="40000"/>
                  </a:schemeClr>
                </a:solidFill>
                <a:latin typeface="+mn-lt"/>
              </a:rPr>
              <a:t>df</a:t>
            </a:r>
            <a:r>
              <a:rPr lang="en-IN" sz="2400">
                <a:solidFill>
                  <a:schemeClr val="accent6">
                    <a:lumMod val="60000"/>
                    <a:lumOff val="40000"/>
                  </a:schemeClr>
                </a:solidFill>
                <a:latin typeface="+mn-lt"/>
              </a:rPr>
              <a:t> = </a:t>
            </a:r>
            <a:r>
              <a:rPr lang="en-IN" sz="2400" err="1">
                <a:solidFill>
                  <a:schemeClr val="accent6">
                    <a:lumMod val="60000"/>
                    <a:lumOff val="40000"/>
                  </a:schemeClr>
                </a:solidFill>
                <a:latin typeface="+mn-lt"/>
              </a:rPr>
              <a:t>df</a:t>
            </a:r>
            <a:r>
              <a:rPr lang="en-IN" sz="2400">
                <a:solidFill>
                  <a:schemeClr val="accent6">
                    <a:lumMod val="60000"/>
                    <a:lumOff val="40000"/>
                  </a:schemeClr>
                </a:solidFill>
                <a:latin typeface="+mn-lt"/>
              </a:rPr>
              <a:t>[</a:t>
            </a:r>
            <a:r>
              <a:rPr lang="en-IN" sz="2400" err="1">
                <a:solidFill>
                  <a:schemeClr val="accent6">
                    <a:lumMod val="60000"/>
                    <a:lumOff val="40000"/>
                  </a:schemeClr>
                </a:solidFill>
                <a:latin typeface="+mn-lt"/>
              </a:rPr>
              <a:t>df</a:t>
            </a:r>
            <a:r>
              <a:rPr lang="en-IN" sz="2400">
                <a:solidFill>
                  <a:schemeClr val="accent6">
                    <a:lumMod val="60000"/>
                    <a:lumOff val="40000"/>
                  </a:schemeClr>
                </a:solidFill>
                <a:latin typeface="+mn-lt"/>
              </a:rPr>
              <a:t>["status"] == "ACTIVE"]</a:t>
            </a:r>
          </a:p>
          <a:p>
            <a:pPr>
              <a:buNone/>
            </a:pPr>
            <a:endParaRPr lang="en-IN" sz="240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r>
              <a:rPr lang="en-IN" sz="2400">
                <a:solidFill>
                  <a:schemeClr val="accent6">
                    <a:lumMod val="60000"/>
                    <a:lumOff val="40000"/>
                  </a:schemeClr>
                </a:solidFill>
              </a:rPr>
              <a:t>Or:</a:t>
            </a:r>
          </a:p>
          <a:p>
            <a:pPr rtl="0">
              <a:buNone/>
            </a:pPr>
            <a:endParaRPr lang="en-IN" sz="2400">
              <a:solidFill>
                <a:schemeClr val="accent6">
                  <a:lumMod val="60000"/>
                  <a:lumOff val="40000"/>
                </a:schemeClr>
              </a:solidFill>
              <a:latin typeface="+mn-lt"/>
            </a:endParaRPr>
          </a:p>
          <a:p>
            <a:pPr rtl="0">
              <a:buNone/>
            </a:pPr>
            <a:r>
              <a:rPr lang="en-IN" sz="2400">
                <a:solidFill>
                  <a:schemeClr val="accent6">
                    <a:lumMod val="60000"/>
                    <a:lumOff val="40000"/>
                  </a:schemeClr>
                </a:solidFill>
                <a:latin typeface="+mn-lt"/>
              </a:rPr>
              <a:t>SELECT *</a:t>
            </a:r>
          </a:p>
          <a:p>
            <a:pPr rtl="0">
              <a:buNone/>
            </a:pPr>
            <a:r>
              <a:rPr lang="en-IN" sz="2400">
                <a:solidFill>
                  <a:schemeClr val="accent6">
                    <a:lumMod val="60000"/>
                    <a:lumOff val="40000"/>
                  </a:schemeClr>
                </a:solidFill>
                <a:latin typeface="+mn-lt"/>
              </a:rPr>
              <a:t>FROM sales</a:t>
            </a:r>
          </a:p>
          <a:p>
            <a:pPr rtl="0">
              <a:buNone/>
            </a:pPr>
            <a:r>
              <a:rPr lang="en-IN" sz="2400">
                <a:solidFill>
                  <a:schemeClr val="accent6">
                    <a:lumMod val="60000"/>
                    <a:lumOff val="40000"/>
                  </a:schemeClr>
                </a:solidFill>
                <a:latin typeface="+mn-lt"/>
              </a:rPr>
              <a:t>WHERE </a:t>
            </a:r>
            <a:r>
              <a:rPr lang="en-IN" sz="2400" err="1">
                <a:solidFill>
                  <a:schemeClr val="accent6">
                    <a:lumMod val="60000"/>
                    <a:lumOff val="40000"/>
                  </a:schemeClr>
                </a:solidFill>
                <a:latin typeface="+mn-lt"/>
              </a:rPr>
              <a:t>sale_date</a:t>
            </a:r>
            <a:r>
              <a:rPr lang="en-IN" sz="2400">
                <a:solidFill>
                  <a:schemeClr val="accent6">
                    <a:lumMod val="60000"/>
                    <a:lumOff val="40000"/>
                  </a:schemeClr>
                </a:solidFill>
                <a:latin typeface="+mn-lt"/>
              </a:rPr>
              <a:t> &gt;= '2026-01-01’;</a:t>
            </a:r>
          </a:p>
          <a:p>
            <a:pPr>
              <a:buNone/>
            </a:pPr>
            <a:endParaRPr lang="en-IN" sz="240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r>
              <a:rPr lang="en-IN" sz="2400">
                <a:solidFill>
                  <a:schemeClr val="accent6">
                    <a:lumMod val="60000"/>
                    <a:lumOff val="40000"/>
                  </a:schemeClr>
                </a:solidFill>
              </a:rPr>
              <a:t>Filtering also reduce the amount of data that needs to be processed.</a:t>
            </a:r>
          </a:p>
        </p:txBody>
      </p:sp>
    </p:spTree>
    <p:extLst>
      <p:ext uri="{BB962C8B-B14F-4D97-AF65-F5344CB8AC3E}">
        <p14:creationId xmlns:p14="http://schemas.microsoft.com/office/powerpoint/2010/main" val="123735988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59771FC-0E29-76F4-5952-2E2739C0AD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2F191EB-7651-24DF-9E79-7717B2EA4CFF}"/>
              </a:ext>
            </a:extLst>
          </p:cNvPr>
          <p:cNvSpPr txBox="1"/>
          <p:nvPr/>
        </p:nvSpPr>
        <p:spPr>
          <a:xfrm>
            <a:off x="221742" y="216331"/>
            <a:ext cx="6094476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400" b="1" u="sng">
                <a:solidFill>
                  <a:schemeClr val="accent6">
                    <a:lumMod val="60000"/>
                    <a:lumOff val="40000"/>
                  </a:schemeClr>
                </a:solidFill>
              </a:rPr>
              <a:t>F. Joining / Merging Data</a:t>
            </a:r>
          </a:p>
          <a:p>
            <a:pPr>
              <a:buNone/>
            </a:pPr>
            <a:r>
              <a:rPr lang="en-IN" sz="2400">
                <a:solidFill>
                  <a:schemeClr val="accent6">
                    <a:lumMod val="60000"/>
                    <a:lumOff val="40000"/>
                  </a:schemeClr>
                </a:solidFill>
              </a:rPr>
              <a:t>Suppose you have: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9C2AF474-9942-3E48-E6EE-CF1246D8346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80481874"/>
              </p:ext>
            </p:extLst>
          </p:nvPr>
        </p:nvGraphicFramePr>
        <p:xfrm>
          <a:off x="221742" y="1307145"/>
          <a:ext cx="2759202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51026">
                  <a:extLst>
                    <a:ext uri="{9D8B030D-6E8A-4147-A177-3AD203B41FA5}">
                      <a16:colId xmlns:a16="http://schemas.microsoft.com/office/drawing/2014/main" val="3856017071"/>
                    </a:ext>
                  </a:extLst>
                </a:gridCol>
                <a:gridCol w="1408176">
                  <a:extLst>
                    <a:ext uri="{9D8B030D-6E8A-4147-A177-3AD203B41FA5}">
                      <a16:colId xmlns:a16="http://schemas.microsoft.com/office/drawing/2014/main" val="58199849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err="1"/>
                        <a:t>Cust_id</a:t>
                      </a:r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Name</a:t>
                      </a:r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6044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101</a:t>
                      </a:r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Rahul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1949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102</a:t>
                      </a:r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Priya</a:t>
                      </a:r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146413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103</a:t>
                      </a:r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John</a:t>
                      </a:r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56531201"/>
                  </a:ext>
                </a:extLst>
              </a:tr>
            </a:tbl>
          </a:graphicData>
        </a:graphic>
      </p:graphicFrame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BE6E202E-EAF1-9374-4810-8CB50165C2A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42759906"/>
              </p:ext>
            </p:extLst>
          </p:nvPr>
        </p:nvGraphicFramePr>
        <p:xfrm>
          <a:off x="3437382" y="1307145"/>
          <a:ext cx="3237738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79754">
                  <a:extLst>
                    <a:ext uri="{9D8B030D-6E8A-4147-A177-3AD203B41FA5}">
                      <a16:colId xmlns:a16="http://schemas.microsoft.com/office/drawing/2014/main" val="1140602018"/>
                    </a:ext>
                  </a:extLst>
                </a:gridCol>
                <a:gridCol w="932688">
                  <a:extLst>
                    <a:ext uri="{9D8B030D-6E8A-4147-A177-3AD203B41FA5}">
                      <a16:colId xmlns:a16="http://schemas.microsoft.com/office/drawing/2014/main" val="3856017071"/>
                    </a:ext>
                  </a:extLst>
                </a:gridCol>
                <a:gridCol w="1225296">
                  <a:extLst>
                    <a:ext uri="{9D8B030D-6E8A-4147-A177-3AD203B41FA5}">
                      <a16:colId xmlns:a16="http://schemas.microsoft.com/office/drawing/2014/main" val="58199849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err="1"/>
                        <a:t>Order_id</a:t>
                      </a:r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err="1"/>
                        <a:t>Cust_id</a:t>
                      </a:r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Amount</a:t>
                      </a:r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6044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1</a:t>
                      </a:r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101</a:t>
                      </a:r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233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1949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2</a:t>
                      </a:r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102</a:t>
                      </a:r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125</a:t>
                      </a:r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146413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3</a:t>
                      </a:r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103</a:t>
                      </a:r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89</a:t>
                      </a:r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56531201"/>
                  </a:ext>
                </a:extLst>
              </a:tr>
            </a:tbl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2D5E7CBB-A528-1B06-84F8-7924FCB08015}"/>
              </a:ext>
            </a:extLst>
          </p:cNvPr>
          <p:cNvSpPr txBox="1"/>
          <p:nvPr/>
        </p:nvSpPr>
        <p:spPr>
          <a:xfrm>
            <a:off x="790956" y="3225349"/>
            <a:ext cx="6094476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400">
                <a:solidFill>
                  <a:schemeClr val="accent6">
                    <a:lumMod val="60000"/>
                    <a:lumOff val="40000"/>
                  </a:schemeClr>
                </a:solidFill>
              </a:rPr>
              <a:t>You can join them:</a:t>
            </a:r>
          </a:p>
          <a:p>
            <a:pPr rtl="0">
              <a:buNone/>
            </a:pPr>
            <a:r>
              <a:rPr lang="en-IN" sz="2400">
                <a:solidFill>
                  <a:schemeClr val="accent4">
                    <a:lumMod val="60000"/>
                    <a:lumOff val="40000"/>
                  </a:schemeClr>
                </a:solidFill>
                <a:latin typeface="+mn-lt"/>
              </a:rPr>
              <a:t>SELECT</a:t>
            </a:r>
          </a:p>
          <a:p>
            <a:pPr rtl="0">
              <a:buNone/>
            </a:pPr>
            <a:r>
              <a:rPr lang="en-IN" sz="2400">
                <a:solidFill>
                  <a:schemeClr val="accent4">
                    <a:lumMod val="60000"/>
                    <a:lumOff val="40000"/>
                  </a:schemeClr>
                </a:solidFill>
                <a:latin typeface="+mn-lt"/>
              </a:rPr>
              <a:t>    </a:t>
            </a:r>
            <a:r>
              <a:rPr lang="en-IN" sz="2400" err="1">
                <a:solidFill>
                  <a:schemeClr val="accent4">
                    <a:lumMod val="60000"/>
                    <a:lumOff val="40000"/>
                  </a:schemeClr>
                </a:solidFill>
                <a:latin typeface="+mn-lt"/>
              </a:rPr>
              <a:t>c.customer_id</a:t>
            </a:r>
            <a:r>
              <a:rPr lang="en-IN" sz="2400">
                <a:solidFill>
                  <a:schemeClr val="accent4">
                    <a:lumMod val="60000"/>
                    <a:lumOff val="40000"/>
                  </a:schemeClr>
                </a:solidFill>
                <a:latin typeface="+mn-lt"/>
              </a:rPr>
              <a:t>,</a:t>
            </a:r>
          </a:p>
          <a:p>
            <a:pPr rtl="0">
              <a:buNone/>
            </a:pPr>
            <a:r>
              <a:rPr lang="en-IN" sz="2400">
                <a:solidFill>
                  <a:schemeClr val="accent4">
                    <a:lumMod val="60000"/>
                    <a:lumOff val="40000"/>
                  </a:schemeClr>
                </a:solidFill>
                <a:latin typeface="+mn-lt"/>
              </a:rPr>
              <a:t>    c.name,</a:t>
            </a:r>
          </a:p>
          <a:p>
            <a:pPr rtl="0">
              <a:buNone/>
            </a:pPr>
            <a:r>
              <a:rPr lang="en-IN" sz="2400">
                <a:solidFill>
                  <a:schemeClr val="accent4">
                    <a:lumMod val="60000"/>
                    <a:lumOff val="40000"/>
                  </a:schemeClr>
                </a:solidFill>
                <a:latin typeface="+mn-lt"/>
              </a:rPr>
              <a:t>    </a:t>
            </a:r>
            <a:r>
              <a:rPr lang="en-IN" sz="2400" err="1">
                <a:solidFill>
                  <a:schemeClr val="accent4">
                    <a:lumMod val="60000"/>
                    <a:lumOff val="40000"/>
                  </a:schemeClr>
                </a:solidFill>
                <a:latin typeface="+mn-lt"/>
              </a:rPr>
              <a:t>o.order_id</a:t>
            </a:r>
            <a:r>
              <a:rPr lang="en-IN" sz="2400">
                <a:solidFill>
                  <a:schemeClr val="accent4">
                    <a:lumMod val="60000"/>
                    <a:lumOff val="40000"/>
                  </a:schemeClr>
                </a:solidFill>
                <a:latin typeface="+mn-lt"/>
              </a:rPr>
              <a:t>,</a:t>
            </a:r>
          </a:p>
          <a:p>
            <a:pPr rtl="0">
              <a:buNone/>
            </a:pPr>
            <a:r>
              <a:rPr lang="en-IN" sz="2400">
                <a:solidFill>
                  <a:schemeClr val="accent4">
                    <a:lumMod val="60000"/>
                    <a:lumOff val="40000"/>
                  </a:schemeClr>
                </a:solidFill>
                <a:latin typeface="+mn-lt"/>
              </a:rPr>
              <a:t>    </a:t>
            </a:r>
            <a:r>
              <a:rPr lang="en-IN" sz="2400" err="1">
                <a:solidFill>
                  <a:schemeClr val="accent4">
                    <a:lumMod val="60000"/>
                    <a:lumOff val="40000"/>
                  </a:schemeClr>
                </a:solidFill>
                <a:latin typeface="+mn-lt"/>
              </a:rPr>
              <a:t>o.amount</a:t>
            </a:r>
            <a:endParaRPr lang="en-IN" sz="2400">
              <a:solidFill>
                <a:schemeClr val="accent4">
                  <a:lumMod val="60000"/>
                  <a:lumOff val="40000"/>
                </a:schemeClr>
              </a:solidFill>
              <a:latin typeface="+mn-lt"/>
            </a:endParaRPr>
          </a:p>
          <a:p>
            <a:pPr rtl="0">
              <a:buNone/>
            </a:pPr>
            <a:r>
              <a:rPr lang="en-IN" sz="2400">
                <a:solidFill>
                  <a:schemeClr val="accent4">
                    <a:lumMod val="60000"/>
                    <a:lumOff val="40000"/>
                  </a:schemeClr>
                </a:solidFill>
                <a:latin typeface="+mn-lt"/>
              </a:rPr>
              <a:t>FROM customers c</a:t>
            </a:r>
          </a:p>
          <a:p>
            <a:pPr rtl="0">
              <a:buNone/>
            </a:pPr>
            <a:r>
              <a:rPr lang="en-IN" sz="2400">
                <a:solidFill>
                  <a:schemeClr val="accent4">
                    <a:lumMod val="60000"/>
                    <a:lumOff val="40000"/>
                  </a:schemeClr>
                </a:solidFill>
                <a:latin typeface="+mn-lt"/>
              </a:rPr>
              <a:t>JOIN orders o</a:t>
            </a:r>
          </a:p>
          <a:p>
            <a:pPr rtl="0">
              <a:buNone/>
            </a:pPr>
            <a:r>
              <a:rPr lang="en-IN" sz="2400">
                <a:solidFill>
                  <a:schemeClr val="accent4">
                    <a:lumMod val="60000"/>
                    <a:lumOff val="40000"/>
                  </a:schemeClr>
                </a:solidFill>
                <a:latin typeface="+mn-lt"/>
              </a:rPr>
              <a:t>    ON </a:t>
            </a:r>
            <a:r>
              <a:rPr lang="en-IN" sz="2400" err="1">
                <a:solidFill>
                  <a:schemeClr val="accent4">
                    <a:lumMod val="60000"/>
                    <a:lumOff val="40000"/>
                  </a:schemeClr>
                </a:solidFill>
                <a:latin typeface="+mn-lt"/>
              </a:rPr>
              <a:t>c.customer_id</a:t>
            </a:r>
            <a:r>
              <a:rPr lang="en-IN" sz="2400">
                <a:solidFill>
                  <a:schemeClr val="accent4">
                    <a:lumMod val="60000"/>
                    <a:lumOff val="40000"/>
                  </a:schemeClr>
                </a:solidFill>
                <a:latin typeface="+mn-lt"/>
              </a:rPr>
              <a:t> = </a:t>
            </a:r>
            <a:r>
              <a:rPr lang="en-IN" sz="2400" err="1">
                <a:solidFill>
                  <a:schemeClr val="accent4">
                    <a:lumMod val="60000"/>
                    <a:lumOff val="40000"/>
                  </a:schemeClr>
                </a:solidFill>
                <a:latin typeface="+mn-lt"/>
              </a:rPr>
              <a:t>o.customer_id</a:t>
            </a:r>
            <a:r>
              <a:rPr lang="en-IN" sz="2400">
                <a:solidFill>
                  <a:schemeClr val="accent4">
                    <a:lumMod val="60000"/>
                    <a:lumOff val="40000"/>
                  </a:schemeClr>
                </a:solidFill>
                <a:latin typeface="+mn-lt"/>
              </a:rPr>
              <a:t>;</a:t>
            </a:r>
            <a:endParaRPr lang="en-IN" sz="2400">
              <a:solidFill>
                <a:schemeClr val="accent4">
                  <a:lumMod val="60000"/>
                  <a:lumOff val="40000"/>
                </a:schemeClr>
              </a:solidFill>
              <a:latin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6512611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82A80AA-A890-C321-DC1C-479C2D3ED2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C181530-7966-3330-3C4D-95175A654832}"/>
              </a:ext>
            </a:extLst>
          </p:cNvPr>
          <p:cNvSpPr txBox="1"/>
          <p:nvPr/>
        </p:nvSpPr>
        <p:spPr>
          <a:xfrm>
            <a:off x="969264" y="3252371"/>
            <a:ext cx="10094975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400">
                <a:solidFill>
                  <a:schemeClr val="accent6">
                    <a:lumMod val="60000"/>
                    <a:lumOff val="40000"/>
                  </a:schemeClr>
                </a:solidFill>
              </a:rPr>
              <a:t>SQL:</a:t>
            </a:r>
          </a:p>
          <a:p>
            <a:pPr rtl="0">
              <a:buNone/>
            </a:pPr>
            <a:r>
              <a:rPr lang="en-IN" sz="2400">
                <a:solidFill>
                  <a:schemeClr val="accent4">
                    <a:lumMod val="60000"/>
                    <a:lumOff val="40000"/>
                  </a:schemeClr>
                </a:solidFill>
                <a:latin typeface="+mn-lt"/>
              </a:rPr>
              <a:t>SELECT</a:t>
            </a:r>
          </a:p>
          <a:p>
            <a:pPr rtl="0">
              <a:buNone/>
            </a:pPr>
            <a:r>
              <a:rPr lang="en-IN" sz="2400">
                <a:solidFill>
                  <a:schemeClr val="accent4">
                    <a:lumMod val="60000"/>
                    <a:lumOff val="40000"/>
                  </a:schemeClr>
                </a:solidFill>
                <a:latin typeface="+mn-lt"/>
              </a:rPr>
              <a:t>    customer,</a:t>
            </a:r>
          </a:p>
          <a:p>
            <a:pPr rtl="0">
              <a:buNone/>
            </a:pPr>
            <a:r>
              <a:rPr lang="en-IN" sz="2400">
                <a:solidFill>
                  <a:schemeClr val="accent4">
                    <a:lumMod val="60000"/>
                    <a:lumOff val="40000"/>
                  </a:schemeClr>
                </a:solidFill>
                <a:latin typeface="+mn-lt"/>
              </a:rPr>
              <a:t>    SUM(amount) AS total_amount</a:t>
            </a:r>
          </a:p>
          <a:p>
            <a:pPr rtl="0">
              <a:buNone/>
            </a:pPr>
            <a:r>
              <a:rPr lang="en-IN" sz="2400">
                <a:solidFill>
                  <a:schemeClr val="accent4">
                    <a:lumMod val="60000"/>
                    <a:lumOff val="40000"/>
                  </a:schemeClr>
                </a:solidFill>
                <a:latin typeface="+mn-lt"/>
              </a:rPr>
              <a:t>FROM sales</a:t>
            </a:r>
          </a:p>
          <a:p>
            <a:pPr rtl="0">
              <a:buNone/>
            </a:pPr>
            <a:r>
              <a:rPr lang="en-IN" sz="2400">
                <a:solidFill>
                  <a:schemeClr val="accent4">
                    <a:lumMod val="60000"/>
                    <a:lumOff val="40000"/>
                  </a:schemeClr>
                </a:solidFill>
                <a:latin typeface="+mn-lt"/>
              </a:rPr>
              <a:t>GROUP BY customer;</a:t>
            </a:r>
          </a:p>
          <a:p>
            <a:pPr rtl="0">
              <a:buNone/>
            </a:pPr>
            <a:endParaRPr lang="en-IN" sz="240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IN" sz="2400">
                <a:solidFill>
                  <a:schemeClr val="accent6">
                    <a:lumMod val="60000"/>
                    <a:lumOff val="40000"/>
                  </a:schemeClr>
                </a:solidFill>
              </a:rPr>
              <a:t>This is particularly common when creating </a:t>
            </a:r>
            <a:r>
              <a:rPr lang="en-IN" sz="2400" b="1">
                <a:solidFill>
                  <a:schemeClr val="accent6">
                    <a:lumMod val="60000"/>
                    <a:lumOff val="40000"/>
                  </a:schemeClr>
                </a:solidFill>
              </a:rPr>
              <a:t>analytics-ready datasets</a:t>
            </a:r>
            <a:r>
              <a:rPr lang="en-IN" sz="2400">
                <a:solidFill>
                  <a:schemeClr val="accent6">
                    <a:lumMod val="60000"/>
                    <a:lumOff val="40000"/>
                  </a:schemeClr>
                </a:solidFill>
              </a:rPr>
              <a:t>.</a:t>
            </a:r>
            <a:endParaRPr lang="en-IN" sz="2400">
              <a:solidFill>
                <a:schemeClr val="accent6">
                  <a:lumMod val="60000"/>
                  <a:lumOff val="40000"/>
                </a:schemeClr>
              </a:solidFill>
              <a:latin typeface="Courier New" panose="02070309020205020404" pitchFamily="49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3087D5C-FF93-0203-35C8-21FDE85E7D12}"/>
              </a:ext>
            </a:extLst>
          </p:cNvPr>
          <p:cNvSpPr txBox="1"/>
          <p:nvPr/>
        </p:nvSpPr>
        <p:spPr>
          <a:xfrm>
            <a:off x="176022" y="134035"/>
            <a:ext cx="6094476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400" b="1">
                <a:solidFill>
                  <a:schemeClr val="accent6">
                    <a:lumMod val="60000"/>
                    <a:lumOff val="40000"/>
                  </a:schemeClr>
                </a:solidFill>
              </a:rPr>
              <a:t>G. Aggregation </a:t>
            </a:r>
          </a:p>
          <a:p>
            <a:pPr>
              <a:buNone/>
            </a:pPr>
            <a:r>
              <a:rPr lang="en-IN" sz="2400">
                <a:solidFill>
                  <a:schemeClr val="accent6">
                    <a:lumMod val="60000"/>
                    <a:lumOff val="40000"/>
                  </a:schemeClr>
                </a:solidFill>
              </a:rPr>
              <a:t>Raw transactional data: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81B9C0B1-0823-39BE-751F-2836AC6DAF2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57608249"/>
              </p:ext>
            </p:extLst>
          </p:nvPr>
        </p:nvGraphicFramePr>
        <p:xfrm>
          <a:off x="221742" y="1307145"/>
          <a:ext cx="2759202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51026">
                  <a:extLst>
                    <a:ext uri="{9D8B030D-6E8A-4147-A177-3AD203B41FA5}">
                      <a16:colId xmlns:a16="http://schemas.microsoft.com/office/drawing/2014/main" val="3856017071"/>
                    </a:ext>
                  </a:extLst>
                </a:gridCol>
                <a:gridCol w="1408176">
                  <a:extLst>
                    <a:ext uri="{9D8B030D-6E8A-4147-A177-3AD203B41FA5}">
                      <a16:colId xmlns:a16="http://schemas.microsoft.com/office/drawing/2014/main" val="58199849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Customer</a:t>
                      </a:r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Amount</a:t>
                      </a:r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6044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A</a:t>
                      </a:r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100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1949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A</a:t>
                      </a:r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200</a:t>
                      </a:r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146413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B</a:t>
                      </a:r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500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565312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A</a:t>
                      </a:r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300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8635792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56FEF029-6029-FA82-10EE-D9709EC5D807}"/>
              </a:ext>
            </a:extLst>
          </p:cNvPr>
          <p:cNvSpPr txBox="1"/>
          <p:nvPr/>
        </p:nvSpPr>
        <p:spPr>
          <a:xfrm>
            <a:off x="3465576" y="1585853"/>
            <a:ext cx="202768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1800">
                <a:solidFill>
                  <a:schemeClr val="accent6">
                    <a:lumMod val="60000"/>
                    <a:lumOff val="40000"/>
                  </a:schemeClr>
                </a:solidFill>
              </a:rPr>
              <a:t>Transform into:</a:t>
            </a:r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F7101608-F247-D5AF-D080-95B4B6F9DB2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83565263"/>
              </p:ext>
            </p:extLst>
          </p:nvPr>
        </p:nvGraphicFramePr>
        <p:xfrm>
          <a:off x="5951982" y="1770519"/>
          <a:ext cx="3246882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51026">
                  <a:extLst>
                    <a:ext uri="{9D8B030D-6E8A-4147-A177-3AD203B41FA5}">
                      <a16:colId xmlns:a16="http://schemas.microsoft.com/office/drawing/2014/main" val="3856017071"/>
                    </a:ext>
                  </a:extLst>
                </a:gridCol>
                <a:gridCol w="1895856">
                  <a:extLst>
                    <a:ext uri="{9D8B030D-6E8A-4147-A177-3AD203B41FA5}">
                      <a16:colId xmlns:a16="http://schemas.microsoft.com/office/drawing/2014/main" val="58199849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Customer</a:t>
                      </a:r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Total_Amount</a:t>
                      </a:r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6044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A</a:t>
                      </a:r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600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1949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B</a:t>
                      </a:r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500</a:t>
                      </a:r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14641314"/>
                  </a:ext>
                </a:extLst>
              </a:tr>
            </a:tbl>
          </a:graphicData>
        </a:graphic>
      </p:graphicFrame>
      <p:sp>
        <p:nvSpPr>
          <p:cNvPr id="12" name="Arrow: Right 11">
            <a:extLst>
              <a:ext uri="{FF2B5EF4-FFF2-40B4-BE49-F238E27FC236}">
                <a16:creationId xmlns:a16="http://schemas.microsoft.com/office/drawing/2014/main" id="{C6646D06-3D78-495F-0F99-C4FC404C88B7}"/>
              </a:ext>
            </a:extLst>
          </p:cNvPr>
          <p:cNvSpPr/>
          <p:nvPr/>
        </p:nvSpPr>
        <p:spPr>
          <a:xfrm>
            <a:off x="3465576" y="1955185"/>
            <a:ext cx="1938528" cy="43712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5894101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78504C3-A0B1-14DF-DC74-358B4947E7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ECE567E-1593-4377-8C6D-6E6A3A4FFBEF}"/>
              </a:ext>
            </a:extLst>
          </p:cNvPr>
          <p:cNvSpPr txBox="1"/>
          <p:nvPr/>
        </p:nvSpPr>
        <p:spPr>
          <a:xfrm>
            <a:off x="2452497" y="3588874"/>
            <a:ext cx="6094476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400">
                <a:solidFill>
                  <a:schemeClr val="accent6">
                    <a:lumMod val="60000"/>
                    <a:lumOff val="40000"/>
                  </a:schemeClr>
                </a:solidFill>
              </a:rPr>
              <a:t>SQL:</a:t>
            </a:r>
          </a:p>
          <a:p>
            <a:pPr rtl="0">
              <a:buNone/>
            </a:pPr>
            <a:r>
              <a:rPr lang="en-IN" sz="2400">
                <a:solidFill>
                  <a:schemeClr val="accent4">
                    <a:lumMod val="60000"/>
                    <a:lumOff val="40000"/>
                  </a:schemeClr>
                </a:solidFill>
                <a:latin typeface="+mn-lt"/>
              </a:rPr>
              <a:t>SELECT</a:t>
            </a:r>
          </a:p>
          <a:p>
            <a:pPr rtl="0">
              <a:buNone/>
            </a:pPr>
            <a:r>
              <a:rPr lang="en-IN" sz="2400">
                <a:solidFill>
                  <a:schemeClr val="accent4">
                    <a:lumMod val="60000"/>
                    <a:lumOff val="40000"/>
                  </a:schemeClr>
                </a:solidFill>
                <a:latin typeface="+mn-lt"/>
              </a:rPr>
              <a:t>    quantity,</a:t>
            </a:r>
          </a:p>
          <a:p>
            <a:pPr rtl="0">
              <a:buNone/>
            </a:pPr>
            <a:r>
              <a:rPr lang="en-IN" sz="2400">
                <a:solidFill>
                  <a:schemeClr val="accent4">
                    <a:lumMod val="60000"/>
                    <a:lumOff val="40000"/>
                  </a:schemeClr>
                </a:solidFill>
                <a:latin typeface="+mn-lt"/>
              </a:rPr>
              <a:t>    price,</a:t>
            </a:r>
          </a:p>
          <a:p>
            <a:pPr rtl="0">
              <a:buNone/>
            </a:pPr>
            <a:r>
              <a:rPr lang="en-IN" sz="2400">
                <a:solidFill>
                  <a:schemeClr val="accent4">
                    <a:lumMod val="60000"/>
                    <a:lumOff val="40000"/>
                  </a:schemeClr>
                </a:solidFill>
                <a:latin typeface="+mn-lt"/>
              </a:rPr>
              <a:t>    discount,</a:t>
            </a:r>
          </a:p>
          <a:p>
            <a:pPr rtl="0">
              <a:buNone/>
            </a:pPr>
            <a:r>
              <a:rPr lang="en-IN" sz="2400">
                <a:solidFill>
                  <a:schemeClr val="accent4">
                    <a:lumMod val="60000"/>
                    <a:lumOff val="40000"/>
                  </a:schemeClr>
                </a:solidFill>
                <a:latin typeface="+mn-lt"/>
              </a:rPr>
              <a:t>    quantity * price - discount AS revenue</a:t>
            </a:r>
          </a:p>
          <a:p>
            <a:pPr rtl="0">
              <a:buNone/>
            </a:pPr>
            <a:r>
              <a:rPr lang="en-IN" sz="2400">
                <a:solidFill>
                  <a:schemeClr val="accent4">
                    <a:lumMod val="60000"/>
                    <a:lumOff val="40000"/>
                  </a:schemeClr>
                </a:solidFill>
                <a:latin typeface="+mn-lt"/>
              </a:rPr>
              <a:t>FROM sales;</a:t>
            </a:r>
            <a:endParaRPr lang="en-IN" sz="2400">
              <a:solidFill>
                <a:schemeClr val="accent4">
                  <a:lumMod val="60000"/>
                  <a:lumOff val="40000"/>
                </a:schemeClr>
              </a:solidFill>
              <a:latin typeface="Courier New" panose="02070309020205020404" pitchFamily="49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4A0C49E-28E3-A4BE-5949-18DA2A387F00}"/>
              </a:ext>
            </a:extLst>
          </p:cNvPr>
          <p:cNvSpPr txBox="1"/>
          <p:nvPr/>
        </p:nvSpPr>
        <p:spPr>
          <a:xfrm>
            <a:off x="221742" y="161467"/>
            <a:ext cx="7331202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400" b="1">
                <a:solidFill>
                  <a:schemeClr val="accent6">
                    <a:lumMod val="60000"/>
                    <a:lumOff val="40000"/>
                  </a:schemeClr>
                </a:solidFill>
              </a:rPr>
              <a:t>H. </a:t>
            </a:r>
            <a:r>
              <a:rPr lang="en-IN" sz="2400" b="1" u="sng">
                <a:solidFill>
                  <a:schemeClr val="accent6">
                    <a:lumMod val="60000"/>
                    <a:lumOff val="40000"/>
                  </a:schemeClr>
                </a:solidFill>
              </a:rPr>
              <a:t>Derived / Calculated Columns</a:t>
            </a:r>
          </a:p>
          <a:p>
            <a:pPr>
              <a:buNone/>
            </a:pPr>
            <a:r>
              <a:rPr lang="en-IN" sz="2400">
                <a:solidFill>
                  <a:schemeClr val="accent6">
                    <a:lumMod val="60000"/>
                    <a:lumOff val="40000"/>
                  </a:schemeClr>
                </a:solidFill>
              </a:rPr>
              <a:t>You can create new attributes from existing data.</a:t>
            </a:r>
          </a:p>
          <a:p>
            <a:pPr>
              <a:buNone/>
            </a:pPr>
            <a:endParaRPr lang="en-IN" sz="240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r>
              <a:rPr lang="en-IN" sz="2400">
                <a:solidFill>
                  <a:schemeClr val="accent6">
                    <a:lumMod val="60000"/>
                    <a:lumOff val="40000"/>
                  </a:schemeClr>
                </a:solidFill>
              </a:rPr>
              <a:t>Example: </a:t>
            </a:r>
            <a:r>
              <a:rPr lang="en-IN" sz="2400" b="1">
                <a:solidFill>
                  <a:schemeClr val="accent6">
                    <a:lumMod val="60000"/>
                    <a:lumOff val="40000"/>
                  </a:schemeClr>
                </a:solidFill>
              </a:rPr>
              <a:t>revenue = quantity × price - discount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849FC7C7-B63C-5F74-AB2B-96D157C5D32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779964"/>
              </p:ext>
            </p:extLst>
          </p:nvPr>
        </p:nvGraphicFramePr>
        <p:xfrm>
          <a:off x="557022" y="1945422"/>
          <a:ext cx="3475482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79754">
                  <a:extLst>
                    <a:ext uri="{9D8B030D-6E8A-4147-A177-3AD203B41FA5}">
                      <a16:colId xmlns:a16="http://schemas.microsoft.com/office/drawing/2014/main" val="1140602018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3856017071"/>
                    </a:ext>
                  </a:extLst>
                </a:gridCol>
                <a:gridCol w="1252728">
                  <a:extLst>
                    <a:ext uri="{9D8B030D-6E8A-4147-A177-3AD203B41FA5}">
                      <a16:colId xmlns:a16="http://schemas.microsoft.com/office/drawing/2014/main" val="58199849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quantity</a:t>
                      </a:r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price</a:t>
                      </a:r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discount</a:t>
                      </a:r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6044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3</a:t>
                      </a:r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10</a:t>
                      </a:r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1949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2</a:t>
                      </a:r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12</a:t>
                      </a:r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4</a:t>
                      </a:r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146413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5</a:t>
                      </a:r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7</a:t>
                      </a:r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1</a:t>
                      </a:r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56531201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F6D7767D-20FF-812B-2FFC-60C92EAA04B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203426"/>
              </p:ext>
            </p:extLst>
          </p:nvPr>
        </p:nvGraphicFramePr>
        <p:xfrm>
          <a:off x="5815203" y="1945422"/>
          <a:ext cx="4106037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88517">
                  <a:extLst>
                    <a:ext uri="{9D8B030D-6E8A-4147-A177-3AD203B41FA5}">
                      <a16:colId xmlns:a16="http://schemas.microsoft.com/office/drawing/2014/main" val="1140602018"/>
                    </a:ext>
                  </a:extLst>
                </a:gridCol>
                <a:gridCol w="740664">
                  <a:extLst>
                    <a:ext uri="{9D8B030D-6E8A-4147-A177-3AD203B41FA5}">
                      <a16:colId xmlns:a16="http://schemas.microsoft.com/office/drawing/2014/main" val="3856017071"/>
                    </a:ext>
                  </a:extLst>
                </a:gridCol>
                <a:gridCol w="1014984">
                  <a:extLst>
                    <a:ext uri="{9D8B030D-6E8A-4147-A177-3AD203B41FA5}">
                      <a16:colId xmlns:a16="http://schemas.microsoft.com/office/drawing/2014/main" val="581998496"/>
                    </a:ext>
                  </a:extLst>
                </a:gridCol>
                <a:gridCol w="1261872">
                  <a:extLst>
                    <a:ext uri="{9D8B030D-6E8A-4147-A177-3AD203B41FA5}">
                      <a16:colId xmlns:a16="http://schemas.microsoft.com/office/drawing/2014/main" val="332572826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quantity</a:t>
                      </a:r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price</a:t>
                      </a:r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discount</a:t>
                      </a:r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revenue</a:t>
                      </a:r>
                      <a:endParaRPr lang="en-IN"/>
                    </a:p>
                  </a:txBody>
                  <a:tcPr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6044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3</a:t>
                      </a:r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10</a:t>
                      </a:r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29</a:t>
                      </a:r>
                    </a:p>
                  </a:txBody>
                  <a:tcPr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81949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2</a:t>
                      </a:r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12</a:t>
                      </a:r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4</a:t>
                      </a:r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20</a:t>
                      </a:r>
                      <a:endParaRPr lang="en-IN"/>
                    </a:p>
                  </a:txBody>
                  <a:tcPr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146413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5</a:t>
                      </a:r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7</a:t>
                      </a:r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1</a:t>
                      </a:r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34</a:t>
                      </a:r>
                      <a:endParaRPr lang="en-IN"/>
                    </a:p>
                  </a:txBody>
                  <a:tcPr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6531201"/>
                  </a:ext>
                </a:extLst>
              </a:tr>
            </a:tbl>
          </a:graphicData>
        </a:graphic>
      </p:graphicFrame>
      <p:sp>
        <p:nvSpPr>
          <p:cNvPr id="10" name="Arrow: Right 9">
            <a:extLst>
              <a:ext uri="{FF2B5EF4-FFF2-40B4-BE49-F238E27FC236}">
                <a16:creationId xmlns:a16="http://schemas.microsoft.com/office/drawing/2014/main" id="{783E1309-8D79-385F-9FC2-EF2271273645}"/>
              </a:ext>
            </a:extLst>
          </p:cNvPr>
          <p:cNvSpPr/>
          <p:nvPr/>
        </p:nvSpPr>
        <p:spPr>
          <a:xfrm>
            <a:off x="4206240" y="2560320"/>
            <a:ext cx="1408176" cy="36576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8090834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BB22E22-B060-E903-4633-A19907B367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7151942-A9C6-8AE4-1C8B-043E65769AE6}"/>
              </a:ext>
            </a:extLst>
          </p:cNvPr>
          <p:cNvSpPr txBox="1"/>
          <p:nvPr/>
        </p:nvSpPr>
        <p:spPr>
          <a:xfrm>
            <a:off x="2199132" y="3611863"/>
            <a:ext cx="6094476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400">
                <a:solidFill>
                  <a:schemeClr val="accent6">
                    <a:lumMod val="60000"/>
                    <a:lumOff val="40000"/>
                  </a:schemeClr>
                </a:solidFill>
              </a:rPr>
              <a:t>Common operations include: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>
                <a:solidFill>
                  <a:schemeClr val="accent6">
                    <a:lumMod val="60000"/>
                    <a:lumOff val="40000"/>
                  </a:schemeClr>
                </a:solidFill>
              </a:rPr>
              <a:t>Pivot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>
                <a:solidFill>
                  <a:schemeClr val="accent6">
                    <a:lumMod val="60000"/>
                    <a:lumOff val="40000"/>
                  </a:schemeClr>
                </a:solidFill>
              </a:rPr>
              <a:t>Unpivot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>
                <a:solidFill>
                  <a:schemeClr val="accent6">
                    <a:lumMod val="60000"/>
                    <a:lumOff val="40000"/>
                  </a:schemeClr>
                </a:solidFill>
              </a:rPr>
              <a:t>Melt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>
                <a:solidFill>
                  <a:schemeClr val="accent6">
                    <a:lumMod val="60000"/>
                    <a:lumOff val="40000"/>
                  </a:schemeClr>
                </a:solidFill>
              </a:rPr>
              <a:t>Transpose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36F5D3C-206A-2904-B4CB-066A16EEAED4}"/>
              </a:ext>
            </a:extLst>
          </p:cNvPr>
          <p:cNvSpPr txBox="1"/>
          <p:nvPr/>
        </p:nvSpPr>
        <p:spPr>
          <a:xfrm>
            <a:off x="148590" y="86975"/>
            <a:ext cx="9205722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400" b="1" u="sng">
                <a:solidFill>
                  <a:schemeClr val="accent6">
                    <a:lumMod val="60000"/>
                    <a:lumOff val="40000"/>
                  </a:schemeClr>
                </a:solidFill>
              </a:rPr>
              <a:t>I. Reshaping</a:t>
            </a:r>
          </a:p>
          <a:p>
            <a:pPr>
              <a:buNone/>
            </a:pPr>
            <a:r>
              <a:rPr lang="en-IN" sz="2400">
                <a:solidFill>
                  <a:schemeClr val="accent6">
                    <a:lumMod val="60000"/>
                    <a:lumOff val="40000"/>
                  </a:schemeClr>
                </a:solidFill>
              </a:rPr>
              <a:t>Data sometimes needs to change from one structure to another.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8D8676B2-81DF-763B-19E8-A420EB13A71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1172699"/>
              </p:ext>
            </p:extLst>
          </p:nvPr>
        </p:nvGraphicFramePr>
        <p:xfrm>
          <a:off x="221742" y="1307145"/>
          <a:ext cx="2759202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51026">
                  <a:extLst>
                    <a:ext uri="{9D8B030D-6E8A-4147-A177-3AD203B41FA5}">
                      <a16:colId xmlns:a16="http://schemas.microsoft.com/office/drawing/2014/main" val="3856017071"/>
                    </a:ext>
                  </a:extLst>
                </a:gridCol>
                <a:gridCol w="1408176">
                  <a:extLst>
                    <a:ext uri="{9D8B030D-6E8A-4147-A177-3AD203B41FA5}">
                      <a16:colId xmlns:a16="http://schemas.microsoft.com/office/drawing/2014/main" val="58199849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Month</a:t>
                      </a:r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Sales</a:t>
                      </a:r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6044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Jan</a:t>
                      </a:r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100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1949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Feb</a:t>
                      </a:r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150</a:t>
                      </a:r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146413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Mar</a:t>
                      </a:r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200</a:t>
                      </a:r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56531201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044C76A1-28FB-CC86-2DAC-2D1A92E3167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83683049"/>
              </p:ext>
            </p:extLst>
          </p:nvPr>
        </p:nvGraphicFramePr>
        <p:xfrm>
          <a:off x="5138166" y="1773489"/>
          <a:ext cx="3475482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79754">
                  <a:extLst>
                    <a:ext uri="{9D8B030D-6E8A-4147-A177-3AD203B41FA5}">
                      <a16:colId xmlns:a16="http://schemas.microsoft.com/office/drawing/2014/main" val="1140602018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3856017071"/>
                    </a:ext>
                  </a:extLst>
                </a:gridCol>
                <a:gridCol w="1252728">
                  <a:extLst>
                    <a:ext uri="{9D8B030D-6E8A-4147-A177-3AD203B41FA5}">
                      <a16:colId xmlns:a16="http://schemas.microsoft.com/office/drawing/2014/main" val="58199849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Jan</a:t>
                      </a:r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Feb</a:t>
                      </a:r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Mar</a:t>
                      </a:r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6044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100</a:t>
                      </a:r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150</a:t>
                      </a:r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200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194937"/>
                  </a:ext>
                </a:extLst>
              </a:tr>
            </a:tbl>
          </a:graphicData>
        </a:graphic>
      </p:graphicFrame>
      <p:sp>
        <p:nvSpPr>
          <p:cNvPr id="10" name="Arrow: Right 9">
            <a:extLst>
              <a:ext uri="{FF2B5EF4-FFF2-40B4-BE49-F238E27FC236}">
                <a16:creationId xmlns:a16="http://schemas.microsoft.com/office/drawing/2014/main" id="{066AA9C3-B766-1C9C-99C8-A35B4E1B45A5}"/>
              </a:ext>
            </a:extLst>
          </p:cNvPr>
          <p:cNvSpPr/>
          <p:nvPr/>
        </p:nvSpPr>
        <p:spPr>
          <a:xfrm>
            <a:off x="3419856" y="1901952"/>
            <a:ext cx="1115568" cy="35661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6068040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0E69709-1C44-90F8-C346-E7B811DAEB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E4FE8A4-F341-C1DC-BAF5-B9367392BFDA}"/>
              </a:ext>
            </a:extLst>
          </p:cNvPr>
          <p:cNvSpPr txBox="1"/>
          <p:nvPr/>
        </p:nvSpPr>
        <p:spPr>
          <a:xfrm>
            <a:off x="536067" y="3582888"/>
            <a:ext cx="7845552" cy="31700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000">
                <a:solidFill>
                  <a:schemeClr val="accent6">
                    <a:lumMod val="60000"/>
                    <a:lumOff val="40000"/>
                  </a:schemeClr>
                </a:solidFill>
              </a:rPr>
              <a:t>Suppose the business defines:</a:t>
            </a:r>
          </a:p>
          <a:p>
            <a:r>
              <a:rPr lang="en-IN" sz="2000">
                <a:solidFill>
                  <a:schemeClr val="accent6">
                    <a:lumMod val="60000"/>
                    <a:lumOff val="40000"/>
                  </a:schemeClr>
                </a:solidFill>
              </a:rPr>
              <a:t>Customer with purchases &gt; ₹50,000  = “Gold Customer”</a:t>
            </a:r>
            <a:endParaRPr lang="en-IN" sz="2000">
              <a:solidFill>
                <a:schemeClr val="accent6">
                  <a:lumMod val="60000"/>
                  <a:lumOff val="40000"/>
                </a:schemeClr>
              </a:solidFill>
              <a:latin typeface="+mn-lt"/>
            </a:endParaRPr>
          </a:p>
          <a:p>
            <a:pPr rtl="0">
              <a:buNone/>
            </a:pPr>
            <a:r>
              <a:rPr lang="en-IN" sz="2000">
                <a:solidFill>
                  <a:schemeClr val="accent6">
                    <a:lumMod val="60000"/>
                    <a:lumOff val="40000"/>
                  </a:schemeClr>
                </a:solidFill>
                <a:latin typeface="+mn-lt"/>
              </a:rPr>
              <a:t>Customer with purchases &gt; ₹100,000  = “Premium Customer”</a:t>
            </a:r>
          </a:p>
          <a:p>
            <a:pPr rtl="0">
              <a:buNone/>
            </a:pPr>
            <a:endParaRPr lang="en-IN" sz="2000">
              <a:solidFill>
                <a:schemeClr val="accent6">
                  <a:lumMod val="60000"/>
                  <a:lumOff val="40000"/>
                </a:schemeClr>
              </a:solidFill>
              <a:latin typeface="+mn-lt"/>
            </a:endParaRPr>
          </a:p>
          <a:p>
            <a:pPr>
              <a:buNone/>
            </a:pPr>
            <a:r>
              <a:rPr lang="en-IN" sz="2000">
                <a:solidFill>
                  <a:schemeClr val="accent6">
                    <a:lumMod val="60000"/>
                    <a:lumOff val="40000"/>
                  </a:schemeClr>
                </a:solidFill>
              </a:rPr>
              <a:t>You might create:</a:t>
            </a:r>
          </a:p>
          <a:p>
            <a:pPr rtl="0">
              <a:buNone/>
            </a:pPr>
            <a:r>
              <a:rPr lang="en-IN" sz="2000">
                <a:solidFill>
                  <a:schemeClr val="accent4">
                    <a:lumMod val="60000"/>
                    <a:lumOff val="40000"/>
                  </a:schemeClr>
                </a:solidFill>
                <a:latin typeface="+mn-lt"/>
              </a:rPr>
              <a:t>CASE</a:t>
            </a:r>
          </a:p>
          <a:p>
            <a:r>
              <a:rPr lang="en-IN" sz="2000">
                <a:solidFill>
                  <a:schemeClr val="accent4">
                    <a:lumMod val="60000"/>
                    <a:lumOff val="40000"/>
                  </a:schemeClr>
                </a:solidFill>
              </a:rPr>
              <a:t>    WHEN total_purchase &gt; 50000 THEN 'Gold'</a:t>
            </a:r>
            <a:endParaRPr lang="en-IN" sz="2000">
              <a:solidFill>
                <a:schemeClr val="accent4">
                  <a:lumMod val="60000"/>
                  <a:lumOff val="40000"/>
                </a:schemeClr>
              </a:solidFill>
              <a:latin typeface="+mn-lt"/>
            </a:endParaRPr>
          </a:p>
          <a:p>
            <a:pPr rtl="0">
              <a:buNone/>
            </a:pPr>
            <a:r>
              <a:rPr lang="en-IN" sz="2000">
                <a:solidFill>
                  <a:schemeClr val="accent4">
                    <a:lumMod val="60000"/>
                    <a:lumOff val="40000"/>
                  </a:schemeClr>
                </a:solidFill>
                <a:latin typeface="+mn-lt"/>
              </a:rPr>
              <a:t>    WHEN total_purchase &gt; 100000 THEN 'Premium'</a:t>
            </a:r>
          </a:p>
          <a:p>
            <a:pPr rtl="0">
              <a:buNone/>
            </a:pPr>
            <a:r>
              <a:rPr lang="en-IN" sz="2000">
                <a:solidFill>
                  <a:schemeClr val="accent4">
                    <a:lumMod val="60000"/>
                    <a:lumOff val="40000"/>
                  </a:schemeClr>
                </a:solidFill>
                <a:latin typeface="+mn-lt"/>
              </a:rPr>
              <a:t>ELSE 'Standard'</a:t>
            </a:r>
          </a:p>
          <a:p>
            <a:pPr rtl="0">
              <a:buNone/>
            </a:pPr>
            <a:r>
              <a:rPr lang="en-IN" sz="2000">
                <a:solidFill>
                  <a:schemeClr val="accent4">
                    <a:lumMod val="60000"/>
                    <a:lumOff val="40000"/>
                  </a:schemeClr>
                </a:solidFill>
                <a:latin typeface="+mn-lt"/>
              </a:rPr>
              <a:t>END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84397F5-F1C0-F784-AAA7-054141A83A4C}"/>
              </a:ext>
            </a:extLst>
          </p:cNvPr>
          <p:cNvSpPr txBox="1"/>
          <p:nvPr/>
        </p:nvSpPr>
        <p:spPr>
          <a:xfrm>
            <a:off x="459486" y="105013"/>
            <a:ext cx="9562338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400" b="1">
                <a:solidFill>
                  <a:schemeClr val="accent6">
                    <a:lumMod val="60000"/>
                    <a:lumOff val="40000"/>
                  </a:schemeClr>
                </a:solidFill>
              </a:rPr>
              <a:t>J. Business Rule Transformation</a:t>
            </a:r>
          </a:p>
          <a:p>
            <a:pPr>
              <a:buNone/>
            </a:pPr>
            <a:r>
              <a:rPr lang="en-IN" sz="2400">
                <a:solidFill>
                  <a:schemeClr val="accent6">
                    <a:lumMod val="60000"/>
                    <a:lumOff val="40000"/>
                  </a:schemeClr>
                </a:solidFill>
              </a:rPr>
              <a:t>This is where transformation becomes particularly important in Business</a:t>
            </a:r>
            <a:endParaRPr lang="en-IN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AB7D189D-B90B-542C-86BC-05C85F7E8EE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36380978"/>
              </p:ext>
            </p:extLst>
          </p:nvPr>
        </p:nvGraphicFramePr>
        <p:xfrm>
          <a:off x="459486" y="1442720"/>
          <a:ext cx="3728466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51026">
                  <a:extLst>
                    <a:ext uri="{9D8B030D-6E8A-4147-A177-3AD203B41FA5}">
                      <a16:colId xmlns:a16="http://schemas.microsoft.com/office/drawing/2014/main" val="3856017071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58199849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Customer</a:t>
                      </a:r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Total_purchase(In K)</a:t>
                      </a:r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6044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A</a:t>
                      </a:r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90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1949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B</a:t>
                      </a:r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200</a:t>
                      </a:r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146413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C</a:t>
                      </a:r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70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565312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D</a:t>
                      </a:r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300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8635792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8268E6F6-1A86-50B8-3689-AAF89E8137A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99108963"/>
              </p:ext>
            </p:extLst>
          </p:nvPr>
        </p:nvGraphicFramePr>
        <p:xfrm>
          <a:off x="5549646" y="1442502"/>
          <a:ext cx="4746498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35202">
                  <a:extLst>
                    <a:ext uri="{9D8B030D-6E8A-4147-A177-3AD203B41FA5}">
                      <a16:colId xmlns:a16="http://schemas.microsoft.com/office/drawing/2014/main" val="3856017071"/>
                    </a:ext>
                  </a:extLst>
                </a:gridCol>
                <a:gridCol w="2221992">
                  <a:extLst>
                    <a:ext uri="{9D8B030D-6E8A-4147-A177-3AD203B41FA5}">
                      <a16:colId xmlns:a16="http://schemas.microsoft.com/office/drawing/2014/main" val="581998496"/>
                    </a:ext>
                  </a:extLst>
                </a:gridCol>
                <a:gridCol w="1289304">
                  <a:extLst>
                    <a:ext uri="{9D8B030D-6E8A-4147-A177-3AD203B41FA5}">
                      <a16:colId xmlns:a16="http://schemas.microsoft.com/office/drawing/2014/main" val="103733257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Customer</a:t>
                      </a:r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Total_purchase(In K)</a:t>
                      </a:r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Cust_Type</a:t>
                      </a:r>
                      <a:endParaRPr lang="en-IN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6044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A</a:t>
                      </a:r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Standard</a:t>
                      </a: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81949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B</a:t>
                      </a:r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200</a:t>
                      </a:r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Premium</a:t>
                      </a:r>
                      <a:endParaRPr lang="en-IN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146413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C</a:t>
                      </a:r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Gold</a:t>
                      </a: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65312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D</a:t>
                      </a:r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300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Premium</a:t>
                      </a: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8635792"/>
                  </a:ext>
                </a:extLst>
              </a:tr>
            </a:tbl>
          </a:graphicData>
        </a:graphic>
      </p:graphicFrame>
      <p:sp>
        <p:nvSpPr>
          <p:cNvPr id="10" name="Arrow: Right 9">
            <a:extLst>
              <a:ext uri="{FF2B5EF4-FFF2-40B4-BE49-F238E27FC236}">
                <a16:creationId xmlns:a16="http://schemas.microsoft.com/office/drawing/2014/main" id="{5A477A96-7440-6579-B6E6-8F3F4E316870}"/>
              </a:ext>
            </a:extLst>
          </p:cNvPr>
          <p:cNvSpPr/>
          <p:nvPr/>
        </p:nvSpPr>
        <p:spPr>
          <a:xfrm>
            <a:off x="4458843" y="1984248"/>
            <a:ext cx="597789" cy="44805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F9553C9-34F5-3CFF-6402-62BB801F7920}"/>
              </a:ext>
            </a:extLst>
          </p:cNvPr>
          <p:cNvSpPr txBox="1"/>
          <p:nvPr/>
        </p:nvSpPr>
        <p:spPr>
          <a:xfrm>
            <a:off x="1030986" y="1061991"/>
            <a:ext cx="276377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>
                <a:solidFill>
                  <a:schemeClr val="accent6">
                    <a:lumMod val="60000"/>
                    <a:lumOff val="40000"/>
                  </a:schemeClr>
                </a:solidFill>
              </a:rPr>
              <a:t>Raw technical data </a:t>
            </a:r>
            <a:endParaRPr lang="en-IN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2E8FBFA-7612-6D89-B038-39BA9F19B581}"/>
              </a:ext>
            </a:extLst>
          </p:cNvPr>
          <p:cNvSpPr txBox="1"/>
          <p:nvPr/>
        </p:nvSpPr>
        <p:spPr>
          <a:xfrm>
            <a:off x="6425946" y="1061455"/>
            <a:ext cx="258089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>
                <a:solidFill>
                  <a:schemeClr val="accent6">
                    <a:lumMod val="60000"/>
                    <a:lumOff val="40000"/>
                  </a:schemeClr>
                </a:solidFill>
              </a:rPr>
              <a:t>Business meaning</a:t>
            </a:r>
            <a:r>
              <a:rPr lang="en-IN" sz="2400">
                <a:solidFill>
                  <a:schemeClr val="accent6">
                    <a:lumMod val="60000"/>
                    <a:lumOff val="40000"/>
                  </a:schemeClr>
                </a:solidFill>
              </a:rPr>
              <a:t>.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2802820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93A3002-BEA4-AC1E-9DCA-FB96E42ECB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4106010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93</TotalTime>
  <Words>793</Words>
  <Application>Microsoft Office PowerPoint</Application>
  <PresentationFormat>Widescreen</PresentationFormat>
  <Paragraphs>259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</vt:lpstr>
      <vt:lpstr>Calibri</vt:lpstr>
      <vt:lpstr>Calibri Light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Ashwani Kumar</dc:creator>
  <cp:lastModifiedBy>Ashwani Kumar</cp:lastModifiedBy>
  <cp:revision>22</cp:revision>
  <dcterms:created xsi:type="dcterms:W3CDTF">2026-09-25T02:37:34Z</dcterms:created>
  <dcterms:modified xsi:type="dcterms:W3CDTF">2026-09-26T02:12:50Z</dcterms:modified>
</cp:coreProperties>
</file>