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6" r:id="rId9"/>
    <p:sldId id="267" r:id="rId10"/>
    <p:sldId id="263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16A669-4626-B633-DB87-B14ED0606DBF}"/>
              </a:ext>
            </a:extLst>
          </p:cNvPr>
          <p:cNvSpPr txBox="1"/>
          <p:nvPr/>
        </p:nvSpPr>
        <p:spPr>
          <a:xfrm>
            <a:off x="1054227" y="1778615"/>
            <a:ext cx="100835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ETL vs ELT – Definition</a:t>
            </a:r>
          </a:p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did ELT become popular?</a:t>
            </a:r>
          </a:p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Situations where ETL is appropriate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D0C6B-D285-19E2-C59B-B5F77D52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F2B453-DFF7-19DE-EC42-C60C7835F550}"/>
              </a:ext>
            </a:extLst>
          </p:cNvPr>
          <p:cNvSpPr txBox="1"/>
          <p:nvPr/>
        </p:nvSpPr>
        <p:spPr>
          <a:xfrm>
            <a:off x="688086" y="800207"/>
            <a:ext cx="100835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data analysis and data engineering, </a:t>
            </a: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ETL and ELT are two ways of moving data from source systems into a data platform and preparing it for analysis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E783B-0DF4-B2A1-F7CD-C44A7AC06420}"/>
              </a:ext>
            </a:extLst>
          </p:cNvPr>
          <p:cNvSpPr txBox="1"/>
          <p:nvPr/>
        </p:nvSpPr>
        <p:spPr>
          <a:xfrm>
            <a:off x="420624" y="2740075"/>
            <a:ext cx="4718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ETL = Extract → Transform → Load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C4F7E-3D4F-99EC-9ABE-F22DFB732A6F}"/>
              </a:ext>
            </a:extLst>
          </p:cNvPr>
          <p:cNvSpPr txBox="1"/>
          <p:nvPr/>
        </p:nvSpPr>
        <p:spPr>
          <a:xfrm>
            <a:off x="6745224" y="2740074"/>
            <a:ext cx="4718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ELT = Extract → Load → Transform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(This is more common)</a:t>
            </a:r>
          </a:p>
        </p:txBody>
      </p:sp>
    </p:spTree>
    <p:extLst>
      <p:ext uri="{BB962C8B-B14F-4D97-AF65-F5344CB8AC3E}">
        <p14:creationId xmlns:p14="http://schemas.microsoft.com/office/powerpoint/2010/main" val="100484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E43E4-D61E-DE82-9296-484A50C3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2D0C61-CD4F-6B27-B5AE-75FA0D638E31}"/>
              </a:ext>
            </a:extLst>
          </p:cNvPr>
          <p:cNvSpPr txBox="1"/>
          <p:nvPr/>
        </p:nvSpPr>
        <p:spPr>
          <a:xfrm>
            <a:off x="2286000" y="2721114"/>
            <a:ext cx="8467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ETL = Extract → Transform → Load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101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55169-EDDC-FEF7-7146-0B3CAE51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CEE35B-CDE6-0605-59CE-38FE07B89B44}"/>
              </a:ext>
            </a:extLst>
          </p:cNvPr>
          <p:cNvSpPr txBox="1"/>
          <p:nvPr/>
        </p:nvSpPr>
        <p:spPr>
          <a:xfrm>
            <a:off x="329184" y="169271"/>
            <a:ext cx="11064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first extract the data, transform/clean it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outside the target data warehouse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then load the processed data into the warehouse.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C3E3C9-CAE3-9247-36CB-CC56BEE746B1}"/>
              </a:ext>
            </a:extLst>
          </p:cNvPr>
          <p:cNvSpPr/>
          <p:nvPr/>
        </p:nvSpPr>
        <p:spPr>
          <a:xfrm>
            <a:off x="1005840" y="1184648"/>
            <a:ext cx="2523744" cy="56692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Source Systems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5C1F66-0B69-31E7-AE52-047DBBEA85EB}"/>
              </a:ext>
            </a:extLst>
          </p:cNvPr>
          <p:cNvSpPr/>
          <p:nvPr/>
        </p:nvSpPr>
        <p:spPr>
          <a:xfrm>
            <a:off x="1005840" y="2215896"/>
            <a:ext cx="2523744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EXTRACT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2809FC-FAEB-3EE8-93CB-4EE24429BBD1}"/>
              </a:ext>
            </a:extLst>
          </p:cNvPr>
          <p:cNvSpPr/>
          <p:nvPr/>
        </p:nvSpPr>
        <p:spPr>
          <a:xfrm>
            <a:off x="252984" y="3292352"/>
            <a:ext cx="4581144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TRANSFORM 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(clean, join, filter, aggregate, validate)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91F42C-32AE-68F3-74F4-7EE7E8360026}"/>
              </a:ext>
            </a:extLst>
          </p:cNvPr>
          <p:cNvSpPr/>
          <p:nvPr/>
        </p:nvSpPr>
        <p:spPr>
          <a:xfrm>
            <a:off x="1005840" y="4368808"/>
            <a:ext cx="2523744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LOAD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7CFBB8-83D2-9450-4FDE-7EBEED60D7AA}"/>
              </a:ext>
            </a:extLst>
          </p:cNvPr>
          <p:cNvSpPr/>
          <p:nvPr/>
        </p:nvSpPr>
        <p:spPr>
          <a:xfrm>
            <a:off x="1042416" y="5581912"/>
            <a:ext cx="2523744" cy="56692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Data Warehouse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36B61D-CF0A-4C72-7B27-EDFD83344E09}"/>
              </a:ext>
            </a:extLst>
          </p:cNvPr>
          <p:cNvSpPr/>
          <p:nvPr/>
        </p:nvSpPr>
        <p:spPr>
          <a:xfrm>
            <a:off x="4834128" y="5604272"/>
            <a:ext cx="2523744" cy="56692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Analytics / BI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22635BE-B0C6-CA3B-9BCE-8E90D9CCB6CE}"/>
              </a:ext>
            </a:extLst>
          </p:cNvPr>
          <p:cNvSpPr/>
          <p:nvPr/>
        </p:nvSpPr>
        <p:spPr>
          <a:xfrm>
            <a:off x="2093976" y="1856232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D7B089B-7715-C10C-EDD8-C2E64604F5AF}"/>
              </a:ext>
            </a:extLst>
          </p:cNvPr>
          <p:cNvSpPr/>
          <p:nvPr/>
        </p:nvSpPr>
        <p:spPr>
          <a:xfrm>
            <a:off x="2090928" y="2863358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9E2917FF-97EE-BAA6-FF92-6D439C5CD094}"/>
              </a:ext>
            </a:extLst>
          </p:cNvPr>
          <p:cNvSpPr/>
          <p:nvPr/>
        </p:nvSpPr>
        <p:spPr>
          <a:xfrm>
            <a:off x="2069592" y="3954280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4678485E-89C4-E3C7-6946-88A2BD4ABF51}"/>
              </a:ext>
            </a:extLst>
          </p:cNvPr>
          <p:cNvSpPr/>
          <p:nvPr/>
        </p:nvSpPr>
        <p:spPr>
          <a:xfrm>
            <a:off x="2039112" y="5057656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D3E0D34D-19EA-5EB5-9678-02841F58AE1C}"/>
              </a:ext>
            </a:extLst>
          </p:cNvPr>
          <p:cNvSpPr/>
          <p:nvPr/>
        </p:nvSpPr>
        <p:spPr>
          <a:xfrm rot="16200000">
            <a:off x="3881519" y="5741432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DAAC89-FB77-BB0C-13F9-AA8B729CC9CE}"/>
              </a:ext>
            </a:extLst>
          </p:cNvPr>
          <p:cNvSpPr txBox="1"/>
          <p:nvPr/>
        </p:nvSpPr>
        <p:spPr>
          <a:xfrm>
            <a:off x="4834128" y="1048131"/>
            <a:ext cx="3386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data → MySQL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ProSales data → Excel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data → CSV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6B9AD4-7856-AF6D-07BB-5FCF1B2A94DB}"/>
              </a:ext>
            </a:extLst>
          </p:cNvPr>
          <p:cNvCxnSpPr>
            <a:cxnSpLocks/>
          </p:cNvCxnSpPr>
          <p:nvPr/>
        </p:nvCxnSpPr>
        <p:spPr>
          <a:xfrm flipH="1">
            <a:off x="3890663" y="1468112"/>
            <a:ext cx="713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BD399337-96AC-7D2E-95C7-6DF555A41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923190"/>
            <a:ext cx="6397147" cy="1737496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8E2F9A-EE85-3F21-A242-BAB8449A8DC6}"/>
              </a:ext>
            </a:extLst>
          </p:cNvPr>
          <p:cNvCxnSpPr>
            <a:cxnSpLocks/>
          </p:cNvCxnSpPr>
          <p:nvPr/>
        </p:nvCxnSpPr>
        <p:spPr>
          <a:xfrm flipH="1">
            <a:off x="4965192" y="3575816"/>
            <a:ext cx="582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73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8C9F7-3653-A445-10CA-D89A090B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945811-C6CD-E8E8-CEF0-F13870A4965A}"/>
              </a:ext>
            </a:extLst>
          </p:cNvPr>
          <p:cNvSpPr txBox="1"/>
          <p:nvPr/>
        </p:nvSpPr>
        <p:spPr>
          <a:xfrm>
            <a:off x="2286000" y="2721114"/>
            <a:ext cx="8467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ELT = Extract → Load → Transform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3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04699-A6EA-C277-0C4C-C8B719EC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8D6645-9479-27DF-EA9D-CF87AAD15F73}"/>
              </a:ext>
            </a:extLst>
          </p:cNvPr>
          <p:cNvSpPr txBox="1"/>
          <p:nvPr/>
        </p:nvSpPr>
        <p:spPr>
          <a:xfrm>
            <a:off x="578358" y="142564"/>
            <a:ext cx="10476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you extract the raw data and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 it into the data warehouse first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Transformation happens afterward, usually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inside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warehouse.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5949B9-4D50-4A6E-6065-525F375263AB}"/>
              </a:ext>
            </a:extLst>
          </p:cNvPr>
          <p:cNvSpPr/>
          <p:nvPr/>
        </p:nvSpPr>
        <p:spPr>
          <a:xfrm>
            <a:off x="1005840" y="1184648"/>
            <a:ext cx="2523744" cy="56692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Source Systems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E40F71-39F5-AA25-5340-7EA1756116AF}"/>
              </a:ext>
            </a:extLst>
          </p:cNvPr>
          <p:cNvSpPr/>
          <p:nvPr/>
        </p:nvSpPr>
        <p:spPr>
          <a:xfrm>
            <a:off x="1005840" y="2215896"/>
            <a:ext cx="2523744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EXTRACT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B91421-07E6-CF37-85B7-D7DAD28600C0}"/>
              </a:ext>
            </a:extLst>
          </p:cNvPr>
          <p:cNvSpPr/>
          <p:nvPr/>
        </p:nvSpPr>
        <p:spPr>
          <a:xfrm>
            <a:off x="111252" y="5602767"/>
            <a:ext cx="4581144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TRANSFORM 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(clean, join, filter, aggregate, validate)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B686B1-CE80-7925-F8F0-7434EE4097CA}"/>
              </a:ext>
            </a:extLst>
          </p:cNvPr>
          <p:cNvSpPr/>
          <p:nvPr/>
        </p:nvSpPr>
        <p:spPr>
          <a:xfrm>
            <a:off x="1049927" y="3329184"/>
            <a:ext cx="2523744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LOAD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05B7A0-65B2-191C-45A2-2C64F25BCCC1}"/>
              </a:ext>
            </a:extLst>
          </p:cNvPr>
          <p:cNvSpPr/>
          <p:nvPr/>
        </p:nvSpPr>
        <p:spPr>
          <a:xfrm>
            <a:off x="1103376" y="4401855"/>
            <a:ext cx="2523744" cy="56692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Data Warehouse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203573-C32A-71ED-2B0E-B659F8D78933}"/>
              </a:ext>
            </a:extLst>
          </p:cNvPr>
          <p:cNvSpPr/>
          <p:nvPr/>
        </p:nvSpPr>
        <p:spPr>
          <a:xfrm>
            <a:off x="5669280" y="5629675"/>
            <a:ext cx="2523744" cy="56692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Analytics / BI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F27A58B-3A55-1F37-9BEE-BAA9BC68581A}"/>
              </a:ext>
            </a:extLst>
          </p:cNvPr>
          <p:cNvSpPr/>
          <p:nvPr/>
        </p:nvSpPr>
        <p:spPr>
          <a:xfrm>
            <a:off x="2093976" y="1856232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3A92E72-2683-189B-782B-AEF5AF585E55}"/>
              </a:ext>
            </a:extLst>
          </p:cNvPr>
          <p:cNvSpPr/>
          <p:nvPr/>
        </p:nvSpPr>
        <p:spPr>
          <a:xfrm>
            <a:off x="2090928" y="2863358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15B4BE7-F9E4-762B-CE33-F5D45187AADB}"/>
              </a:ext>
            </a:extLst>
          </p:cNvPr>
          <p:cNvSpPr/>
          <p:nvPr/>
        </p:nvSpPr>
        <p:spPr>
          <a:xfrm>
            <a:off x="2112264" y="4002676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7752B96-1811-0ADF-80B1-BBE15B986400}"/>
              </a:ext>
            </a:extLst>
          </p:cNvPr>
          <p:cNvSpPr/>
          <p:nvPr/>
        </p:nvSpPr>
        <p:spPr>
          <a:xfrm>
            <a:off x="2078736" y="5139613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E14AA90A-CB6B-2233-B3E9-CE2700F0D366}"/>
              </a:ext>
            </a:extLst>
          </p:cNvPr>
          <p:cNvSpPr/>
          <p:nvPr/>
        </p:nvSpPr>
        <p:spPr>
          <a:xfrm rot="16200000">
            <a:off x="5145024" y="5728412"/>
            <a:ext cx="310896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58B122-5BF1-B7E6-B6E0-EAC58C70628B}"/>
              </a:ext>
            </a:extLst>
          </p:cNvPr>
          <p:cNvCxnSpPr>
            <a:cxnSpLocks/>
          </p:cNvCxnSpPr>
          <p:nvPr/>
        </p:nvCxnSpPr>
        <p:spPr>
          <a:xfrm flipH="1">
            <a:off x="3890663" y="1468112"/>
            <a:ext cx="713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FDAFB1E-CB6D-FBF5-65E3-4A78E7747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923190"/>
            <a:ext cx="6397147" cy="173749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8E81DD-5033-E5D8-994F-956C1FDD30AF}"/>
              </a:ext>
            </a:extLst>
          </p:cNvPr>
          <p:cNvCxnSpPr>
            <a:cxnSpLocks/>
          </p:cNvCxnSpPr>
          <p:nvPr/>
        </p:nvCxnSpPr>
        <p:spPr>
          <a:xfrm flipH="1">
            <a:off x="4014216" y="3575816"/>
            <a:ext cx="1533144" cy="17101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D70F1EC-B3C1-F55C-0558-E42839EA9FB2}"/>
              </a:ext>
            </a:extLst>
          </p:cNvPr>
          <p:cNvSpPr txBox="1"/>
          <p:nvPr/>
        </p:nvSpPr>
        <p:spPr>
          <a:xfrm>
            <a:off x="5154168" y="1228325"/>
            <a:ext cx="3386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data → MySQL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ProSales data → Excel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data → CSV</a:t>
            </a:r>
          </a:p>
        </p:txBody>
      </p:sp>
    </p:spTree>
    <p:extLst>
      <p:ext uri="{BB962C8B-B14F-4D97-AF65-F5344CB8AC3E}">
        <p14:creationId xmlns:p14="http://schemas.microsoft.com/office/powerpoint/2010/main" val="238390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AE395-E959-5778-4741-EF939EF8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C43E58-B3D9-9137-64CE-2169161CCF58}"/>
              </a:ext>
            </a:extLst>
          </p:cNvPr>
          <p:cNvSpPr txBox="1"/>
          <p:nvPr/>
        </p:nvSpPr>
        <p:spPr>
          <a:xfrm>
            <a:off x="219456" y="428178"/>
            <a:ext cx="637891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did ELT become popular?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 1: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Traditional data warehouses were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expensive and limited in compute capacity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organizations often did: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Source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ETL Server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Clean/Transform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Warehouse</a:t>
            </a:r>
          </a:p>
          <a:p>
            <a:pPr rtl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philosophy was: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Don't put unnecessary processing inside the expensive warehouse.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8230D-7162-A50A-095E-9B912951A7E2}"/>
              </a:ext>
            </a:extLst>
          </p:cNvPr>
          <p:cNvSpPr txBox="1"/>
          <p:nvPr/>
        </p:nvSpPr>
        <p:spPr>
          <a:xfrm>
            <a:off x="6727802" y="2327751"/>
            <a:ext cx="524474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modern cloud platforms changed this.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Platforms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Snowflake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</a:t>
            </a: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BigQuery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Databricks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Redshift 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scalable compute.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Transformation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can be done inside Data WH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made ELT popular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B1FC865-50F1-15E8-16FC-C82A8233B055}"/>
              </a:ext>
            </a:extLst>
          </p:cNvPr>
          <p:cNvSpPr/>
          <p:nvPr/>
        </p:nvSpPr>
        <p:spPr>
          <a:xfrm rot="13232227">
            <a:off x="5860853" y="4204648"/>
            <a:ext cx="341394" cy="1345036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675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5AA36-51CC-F095-A8B1-566EE510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24785C-186E-40A6-0625-7D9759C59749}"/>
              </a:ext>
            </a:extLst>
          </p:cNvPr>
          <p:cNvSpPr txBox="1"/>
          <p:nvPr/>
        </p:nvSpPr>
        <p:spPr>
          <a:xfrm>
            <a:off x="64009" y="419034"/>
            <a:ext cx="53309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did ELT become popular?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 2: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A. You preserve the raw data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 major advantage.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your transformation logic is: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invalid records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Aggregate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D5894-23B3-A2C6-4D7F-96284C8867F3}"/>
              </a:ext>
            </a:extLst>
          </p:cNvPr>
          <p:cNvSpPr txBox="1"/>
          <p:nvPr/>
        </p:nvSpPr>
        <p:spPr>
          <a:xfrm>
            <a:off x="6181344" y="982176"/>
            <a:ext cx="61081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Six months later you realize: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"We shouldn't have removed those records."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retained the raw data: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DATA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│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├── Transformation v1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│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├── Transformation v2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│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└── Transformation v3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reverse the above process and recover the raw data.</a:t>
            </a:r>
          </a:p>
        </p:txBody>
      </p:sp>
    </p:spTree>
    <p:extLst>
      <p:ext uri="{BB962C8B-B14F-4D97-AF65-F5344CB8AC3E}">
        <p14:creationId xmlns:p14="http://schemas.microsoft.com/office/powerpoint/2010/main" val="1551076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8BBFF-7DEC-BF24-C9B2-B7E8DE07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A33D3-4C23-2987-D381-ABA874109E55}"/>
              </a:ext>
            </a:extLst>
          </p:cNvPr>
          <p:cNvSpPr txBox="1"/>
          <p:nvPr/>
        </p:nvSpPr>
        <p:spPr>
          <a:xfrm>
            <a:off x="64009" y="419034"/>
            <a:ext cx="5330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extremely useful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debugging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business rules</a:t>
            </a:r>
          </a:p>
        </p:txBody>
      </p:sp>
    </p:spTree>
    <p:extLst>
      <p:ext uri="{BB962C8B-B14F-4D97-AF65-F5344CB8AC3E}">
        <p14:creationId xmlns:p14="http://schemas.microsoft.com/office/powerpoint/2010/main" val="3759948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5A4DF-3F8E-C40E-2119-660D33ED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864D92-0C32-09FD-2244-18CB1EE26BF6}"/>
              </a:ext>
            </a:extLst>
          </p:cNvPr>
          <p:cNvSpPr txBox="1"/>
          <p:nvPr/>
        </p:nvSpPr>
        <p:spPr>
          <a:xfrm>
            <a:off x="102870" y="439109"/>
            <a:ext cx="62407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Situations where ETL is appropriate: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Case 1: Sensitive data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 source contains PII: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customer_id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name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phone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credit_card_number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502DC-64CF-06D6-5F46-1C6764B18C2C}"/>
              </a:ext>
            </a:extLst>
          </p:cNvPr>
          <p:cNvSpPr txBox="1"/>
          <p:nvPr/>
        </p:nvSpPr>
        <p:spPr>
          <a:xfrm>
            <a:off x="236982" y="4284518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may not want to load the raw credit-card information into your Data warehouse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64D28-A805-DE51-E957-9DE7625647DF}"/>
              </a:ext>
            </a:extLst>
          </p:cNvPr>
          <p:cNvSpPr txBox="1"/>
          <p:nvPr/>
        </p:nvSpPr>
        <p:spPr>
          <a:xfrm>
            <a:off x="7527036" y="814012"/>
            <a:ext cx="48988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Instead: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SOURCE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│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▼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EXTRACT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│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▼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TRANSFORM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(remove/mask sensitive information)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│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▼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LOAD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│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▼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WAREHOUSE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E6450E9-D9FB-6A77-EC85-50A93C345B07}"/>
              </a:ext>
            </a:extLst>
          </p:cNvPr>
          <p:cNvSpPr/>
          <p:nvPr/>
        </p:nvSpPr>
        <p:spPr>
          <a:xfrm rot="19499870">
            <a:off x="5811012" y="3710969"/>
            <a:ext cx="1040892" cy="301752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704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84C66-1AFD-81B9-000A-F5ED3CBE9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F41D92-6A4A-B00E-FD37-FAF605BB33F4}"/>
              </a:ext>
            </a:extLst>
          </p:cNvPr>
          <p:cNvSpPr txBox="1"/>
          <p:nvPr/>
        </p:nvSpPr>
        <p:spPr>
          <a:xfrm>
            <a:off x="130302" y="393389"/>
            <a:ext cx="54383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Situations where ETL is appropriate: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Case 2: Limited target storage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10 TB source data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only need 500 GB analytical data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B7BD27-C48A-7563-C6B3-94ED75D348D1}"/>
              </a:ext>
            </a:extLst>
          </p:cNvPr>
          <p:cNvSpPr txBox="1"/>
          <p:nvPr/>
        </p:nvSpPr>
        <p:spPr>
          <a:xfrm>
            <a:off x="5680710" y="797510"/>
            <a:ext cx="60944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might filter and aggregate before loading:</a:t>
            </a:r>
          </a:p>
          <a:p>
            <a:pPr rtl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Source data = 10 TB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Filter -&gt; Clean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Aggregate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Transformed data =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500 GB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 Warehouse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ETL can reduce the amount of data that needs to be loaded.</a:t>
            </a:r>
          </a:p>
        </p:txBody>
      </p:sp>
    </p:spTree>
    <p:extLst>
      <p:ext uri="{BB962C8B-B14F-4D97-AF65-F5344CB8AC3E}">
        <p14:creationId xmlns:p14="http://schemas.microsoft.com/office/powerpoint/2010/main" val="4154709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D4D7C-1DBD-F3FF-8284-F5D0B8D3C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73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526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27</cp:revision>
  <dcterms:created xsi:type="dcterms:W3CDTF">2026-09-25T02:37:34Z</dcterms:created>
  <dcterms:modified xsi:type="dcterms:W3CDTF">2026-09-25T18:49:13Z</dcterms:modified>
</cp:coreProperties>
</file>