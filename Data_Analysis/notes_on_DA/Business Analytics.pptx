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76" r:id="rId2"/>
    <p:sldId id="257" r:id="rId3"/>
    <p:sldId id="275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C76C25-F13D-2029-B0A4-3E508D173A05}"/>
              </a:ext>
            </a:extLst>
          </p:cNvPr>
          <p:cNvSpPr txBox="1"/>
          <p:nvPr/>
        </p:nvSpPr>
        <p:spPr>
          <a:xfrm>
            <a:off x="2464308" y="1023450"/>
            <a:ext cx="787755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Business Analytics 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Role of a Business Analyst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AI and GenAI are changing business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requirements are gathered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KPIs are and why they matter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insights are communicated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AI solutions are designed and validated</a:t>
            </a: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68B471-9271-C11D-AB36-1C8C28D3CCEF}"/>
              </a:ext>
            </a:extLst>
          </p:cNvPr>
          <p:cNvSpPr txBox="1"/>
          <p:nvPr/>
        </p:nvSpPr>
        <p:spPr>
          <a:xfrm>
            <a:off x="1042416" y="346561"/>
            <a:ext cx="804214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What is Business Analytics?</a:t>
            </a: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Definition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Business Analytics is the process of: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Collecting data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Analyzing data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Finding insights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Supporting business decisions 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retail company notices declining sales.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Questions: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products are declining?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stores are affected?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customer groups are leaving?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Analytics helps answer these questions.</a:t>
            </a:r>
          </a:p>
        </p:txBody>
      </p:sp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61127D-8920-A74D-27E8-428C0CA47C00}"/>
              </a:ext>
            </a:extLst>
          </p:cNvPr>
          <p:cNvSpPr txBox="1"/>
          <p:nvPr/>
        </p:nvSpPr>
        <p:spPr>
          <a:xfrm>
            <a:off x="978408" y="1443841"/>
            <a:ext cx="822502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Types of Analytics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Descriptive Analytics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Diagnostic Analytics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Predictive Analytics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Prescriptive Analytics</a:t>
            </a: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FF36F-3D40-591B-1CC8-4544FC067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19DCE5-F975-C13F-142F-C6E8FB250560}"/>
              </a:ext>
            </a:extLst>
          </p:cNvPr>
          <p:cNvSpPr txBox="1"/>
          <p:nvPr/>
        </p:nvSpPr>
        <p:spPr>
          <a:xfrm>
            <a:off x="493776" y="255121"/>
            <a:ext cx="594360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Business Analysis in a Data + AI World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Traditional Business Analyst: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Gather requirements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reports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Document processes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Modern Business Analyst: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Understand data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Understand AI capabilities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Work with Data Scientists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Work with AI Engineers 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New Responsibilities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Identify AI opportunities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Validate AI outputs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Define business value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C12E8C-770C-6D89-0F22-AB64B3733C23}"/>
              </a:ext>
            </a:extLst>
          </p:cNvPr>
          <p:cNvSpPr txBox="1"/>
          <p:nvPr/>
        </p:nvSpPr>
        <p:spPr>
          <a:xfrm>
            <a:off x="6560820" y="2204365"/>
            <a:ext cx="523951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Traditional: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"Create a customer support dashboard."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Modern: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"Can we build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GenAI chatbot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answer customer queries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automatically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?"</a:t>
            </a:r>
          </a:p>
        </p:txBody>
      </p:sp>
    </p:spTree>
    <p:extLst>
      <p:ext uri="{BB962C8B-B14F-4D97-AF65-F5344CB8AC3E}">
        <p14:creationId xmlns:p14="http://schemas.microsoft.com/office/powerpoint/2010/main" val="3896583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E7889-6D09-33A3-0247-4262B1E54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853059-0FE7-7524-8BFC-27022B9FA5E2}"/>
              </a:ext>
            </a:extLst>
          </p:cNvPr>
          <p:cNvSpPr txBox="1"/>
          <p:nvPr/>
        </p:nvSpPr>
        <p:spPr>
          <a:xfrm>
            <a:off x="292608" y="163681"/>
            <a:ext cx="587959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Requirement Gathering for Analytics &amp; AI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Requirement Gathering?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Understanding: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Business problem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needs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Success criteria </a:t>
            </a: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Stakeholders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CEO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Managers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Employees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Customers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DE2B70-EFC6-8C9B-21BA-CC44296DA1B7}"/>
              </a:ext>
            </a:extLst>
          </p:cNvPr>
          <p:cNvSpPr txBox="1"/>
          <p:nvPr/>
        </p:nvSpPr>
        <p:spPr>
          <a:xfrm>
            <a:off x="7086600" y="1321183"/>
            <a:ext cx="503834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Questions to Ask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Business Questions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problem are we solving?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is it important?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Questions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data exists?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 the data reliable?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Questions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Can AI solve this?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accuracy is acceptable?</a:t>
            </a:r>
          </a:p>
        </p:txBody>
      </p:sp>
    </p:spTree>
    <p:extLst>
      <p:ext uri="{BB962C8B-B14F-4D97-AF65-F5344CB8AC3E}">
        <p14:creationId xmlns:p14="http://schemas.microsoft.com/office/powerpoint/2010/main" val="2538490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62097-1199-70CC-17F7-3E2636AB3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5B6F98-830F-D607-FC26-8D60B0E5306C}"/>
              </a:ext>
            </a:extLst>
          </p:cNvPr>
          <p:cNvSpPr txBox="1"/>
          <p:nvPr/>
        </p:nvSpPr>
        <p:spPr>
          <a:xfrm>
            <a:off x="292608" y="163681"/>
            <a:ext cx="587959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Customer support team overloaded.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Requirements: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Reduce response time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 FAQs automatically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Escalate complex cases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Possible Solution: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GenAI chatbot</a:t>
            </a:r>
          </a:p>
        </p:txBody>
      </p:sp>
    </p:spTree>
    <p:extLst>
      <p:ext uri="{BB962C8B-B14F-4D97-AF65-F5344CB8AC3E}">
        <p14:creationId xmlns:p14="http://schemas.microsoft.com/office/powerpoint/2010/main" val="4074479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85BB4-1490-2199-A3C2-7D08D5891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6DF75B-03B1-279F-0808-11E709B9CC06}"/>
              </a:ext>
            </a:extLst>
          </p:cNvPr>
          <p:cNvSpPr txBox="1"/>
          <p:nvPr/>
        </p:nvSpPr>
        <p:spPr>
          <a:xfrm>
            <a:off x="292608" y="163681"/>
            <a:ext cx="58795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Tools for Business Analytics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C8CB67-C188-FC40-08F2-7B23CE5A151B}"/>
              </a:ext>
            </a:extLst>
          </p:cNvPr>
          <p:cNvSpPr txBox="1"/>
          <p:nvPr/>
        </p:nvSpPr>
        <p:spPr>
          <a:xfrm>
            <a:off x="361188" y="4543890"/>
            <a:ext cx="23545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Microsoft Excel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Used for: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Analysis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Dashboards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Pivot tables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4513B0-CD32-A118-C672-DB354481EF78}"/>
              </a:ext>
            </a:extLst>
          </p:cNvPr>
          <p:cNvSpPr txBox="1"/>
          <p:nvPr/>
        </p:nvSpPr>
        <p:spPr>
          <a:xfrm>
            <a:off x="292608" y="758274"/>
            <a:ext cx="460400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SQL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Used for: Querying databases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 *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FROM customers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WHERE city='Delhi';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B4D8E3-43AC-F3B6-774C-51DC11890BC3}"/>
              </a:ext>
            </a:extLst>
          </p:cNvPr>
          <p:cNvSpPr txBox="1"/>
          <p:nvPr/>
        </p:nvSpPr>
        <p:spPr>
          <a:xfrm>
            <a:off x="7738872" y="890719"/>
            <a:ext cx="376428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Power BI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Dashboard creation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Tableau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Visualization tool</a:t>
            </a:r>
          </a:p>
          <a:p>
            <a:pPr>
              <a:buNone/>
            </a:pP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Advanced analytics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Libraries: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Pandas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NumPy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Scikit-Learn </a:t>
            </a:r>
          </a:p>
        </p:txBody>
      </p:sp>
    </p:spTree>
    <p:extLst>
      <p:ext uri="{BB962C8B-B14F-4D97-AF65-F5344CB8AC3E}">
        <p14:creationId xmlns:p14="http://schemas.microsoft.com/office/powerpoint/2010/main" val="2466397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45374-6F7C-E9E1-AE9C-7492B93A6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5D9CAB-A4DC-4D0C-47C2-1070ADE17AD2}"/>
              </a:ext>
            </a:extLst>
          </p:cNvPr>
          <p:cNvSpPr txBox="1"/>
          <p:nvPr/>
        </p:nvSpPr>
        <p:spPr>
          <a:xfrm>
            <a:off x="292608" y="163681"/>
            <a:ext cx="58795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Tools for Business Analytics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356010-BF93-B2A8-9C02-B650BBCD9AE7}"/>
              </a:ext>
            </a:extLst>
          </p:cNvPr>
          <p:cNvSpPr txBox="1"/>
          <p:nvPr/>
        </p:nvSpPr>
        <p:spPr>
          <a:xfrm>
            <a:off x="292608" y="758274"/>
            <a:ext cx="460400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Tools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ChatGPT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Copilot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Claude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Gemini</a:t>
            </a:r>
          </a:p>
        </p:txBody>
      </p:sp>
    </p:spTree>
    <p:extLst>
      <p:ext uri="{BB962C8B-B14F-4D97-AF65-F5344CB8AC3E}">
        <p14:creationId xmlns:p14="http://schemas.microsoft.com/office/powerpoint/2010/main" val="652542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07FD4-3E82-F89F-DB59-4AF22F4E9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EDAAADD-9858-1FEC-4FB3-2E2FC0AFD9D5}"/>
              </a:ext>
            </a:extLst>
          </p:cNvPr>
          <p:cNvSpPr txBox="1"/>
          <p:nvPr/>
        </p:nvSpPr>
        <p:spPr>
          <a:xfrm>
            <a:off x="393192" y="328506"/>
            <a:ext cx="498348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Process Analysis &amp; KPI Design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Process Analysis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Understanding how work flows.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 Order Process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Customer Order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Payment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Packaging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Shipping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Delivery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316019-BA87-0108-C174-56212D1D46D8}"/>
              </a:ext>
            </a:extLst>
          </p:cNvPr>
          <p:cNvSpPr txBox="1"/>
          <p:nvPr/>
        </p:nvSpPr>
        <p:spPr>
          <a:xfrm>
            <a:off x="6350508" y="4533870"/>
            <a:ext cx="527151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Bottleneck Example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Packaging takes 3 days.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Improvement opportunity identified.</a:t>
            </a:r>
          </a:p>
        </p:txBody>
      </p:sp>
    </p:spTree>
    <p:extLst>
      <p:ext uri="{BB962C8B-B14F-4D97-AF65-F5344CB8AC3E}">
        <p14:creationId xmlns:p14="http://schemas.microsoft.com/office/powerpoint/2010/main" val="3558560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2DA2C-077E-3E5C-6454-5C96E3BE6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3864D77-DFE1-2568-B2EA-A95E036AB8F1}"/>
              </a:ext>
            </a:extLst>
          </p:cNvPr>
          <p:cNvSpPr txBox="1"/>
          <p:nvPr/>
        </p:nvSpPr>
        <p:spPr>
          <a:xfrm>
            <a:off x="393192" y="328506"/>
            <a:ext cx="808329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KPI?   - 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Performance Indicator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measurable business metric.</a:t>
            </a: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Sales  -&gt; Revenue , Profit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Customer Service -&gt; Resolution Time , Customer Satisfaction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Marketing -&gt; Conversion Rate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HR -&gt; Employee Retention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309EB0-B6C8-1079-BCB0-6B9F39A8C438}"/>
              </a:ext>
            </a:extLst>
          </p:cNvPr>
          <p:cNvSpPr txBox="1"/>
          <p:nvPr/>
        </p:nvSpPr>
        <p:spPr>
          <a:xfrm>
            <a:off x="4521708" y="3929884"/>
            <a:ext cx="619048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KPI Design Principles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Good KPI should be SMART: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Specific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Measurable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Achievable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Relevant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Time-bound</a:t>
            </a:r>
          </a:p>
        </p:txBody>
      </p:sp>
    </p:spTree>
    <p:extLst>
      <p:ext uri="{BB962C8B-B14F-4D97-AF65-F5344CB8AC3E}">
        <p14:creationId xmlns:p14="http://schemas.microsoft.com/office/powerpoint/2010/main" val="434759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B980A-954D-A9F1-00AB-8D95007F3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42EA567-DBB2-960D-2C9C-9C547BF7BAF5}"/>
              </a:ext>
            </a:extLst>
          </p:cNvPr>
          <p:cNvSpPr txBox="1"/>
          <p:nvPr/>
        </p:nvSpPr>
        <p:spPr>
          <a:xfrm>
            <a:off x="393192" y="328506"/>
            <a:ext cx="80832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 startAt="6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Interpretation &amp; Insight Storytelling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Many analysts stop at charts.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Great analysts tell stories.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72EEDC5-7EC1-DEB3-40AA-A16080C1EB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908137"/>
              </p:ext>
            </p:extLst>
          </p:nvPr>
        </p:nvGraphicFramePr>
        <p:xfrm>
          <a:off x="5166360" y="1844040"/>
          <a:ext cx="2011680" cy="158496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15652008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2372283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Month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5424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Jan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100K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1207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Feb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95K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1423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80K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035841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8B2447A-56D9-A968-61D0-0BCF3AF5E04B}"/>
              </a:ext>
            </a:extLst>
          </p:cNvPr>
          <p:cNvSpPr txBox="1"/>
          <p:nvPr/>
        </p:nvSpPr>
        <p:spPr>
          <a:xfrm>
            <a:off x="256032" y="3604736"/>
            <a:ext cx="117683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Bad Insight: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Sales declined.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Good Insight: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Sales declined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20% in three months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primarily in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North region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due to increased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competitor activity.</a:t>
            </a:r>
          </a:p>
        </p:txBody>
      </p:sp>
    </p:spTree>
    <p:extLst>
      <p:ext uri="{BB962C8B-B14F-4D97-AF65-F5344CB8AC3E}">
        <p14:creationId xmlns:p14="http://schemas.microsoft.com/office/powerpoint/2010/main" val="1352202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3C434-3559-7561-2344-AF690AAC8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3AA76E9-EEE4-8A61-17BE-9C4A1736591C}"/>
              </a:ext>
            </a:extLst>
          </p:cNvPr>
          <p:cNvSpPr txBox="1"/>
          <p:nvPr/>
        </p:nvSpPr>
        <p:spPr>
          <a:xfrm>
            <a:off x="393192" y="328506"/>
            <a:ext cx="808329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8. Designing GenAI Solutions (7 Minutes)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GenAI?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Generative AI creates - Text , Images , Code, Summaries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 - ChatGPT , Gemini , Claude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DAD6E1-7721-4C9D-1DF5-0BB26568A39A}"/>
              </a:ext>
            </a:extLst>
          </p:cNvPr>
          <p:cNvSpPr txBox="1"/>
          <p:nvPr/>
        </p:nvSpPr>
        <p:spPr>
          <a:xfrm>
            <a:off x="233172" y="2459504"/>
            <a:ext cx="502462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GenAI Use Cases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Customer Support - Chatbots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HR -  Resume screening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Healthcare - Medical summarization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Finance - Report generation</a:t>
            </a:r>
          </a:p>
        </p:txBody>
      </p:sp>
    </p:spTree>
    <p:extLst>
      <p:ext uri="{BB962C8B-B14F-4D97-AF65-F5344CB8AC3E}">
        <p14:creationId xmlns:p14="http://schemas.microsoft.com/office/powerpoint/2010/main" val="2177878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5F2AC-7F62-FD4E-E26D-8888CF8E8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02593D2-F20E-2AE7-5FAF-1C85BD1E9E38}"/>
              </a:ext>
            </a:extLst>
          </p:cNvPr>
          <p:cNvSpPr txBox="1"/>
          <p:nvPr/>
        </p:nvSpPr>
        <p:spPr>
          <a:xfrm>
            <a:off x="393192" y="328506"/>
            <a:ext cx="808329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GenAI Solution Design Framework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 -&gt;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Support team overloaded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Users -&gt;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Customers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 -&gt;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Customer question    e.g. How do I cancel order #234 ?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Processing -&gt;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-&gt;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Response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Validation -&gt;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Human review if confidence low</a:t>
            </a:r>
          </a:p>
        </p:txBody>
      </p:sp>
    </p:spTree>
    <p:extLst>
      <p:ext uri="{BB962C8B-B14F-4D97-AF65-F5344CB8AC3E}">
        <p14:creationId xmlns:p14="http://schemas.microsoft.com/office/powerpoint/2010/main" val="2198472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E1FD6-2921-C77C-4474-18370464D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66D1C35-F297-4BAF-A38F-FA211A692259}"/>
              </a:ext>
            </a:extLst>
          </p:cNvPr>
          <p:cNvSpPr txBox="1"/>
          <p:nvPr/>
        </p:nvSpPr>
        <p:spPr>
          <a:xfrm>
            <a:off x="393192" y="328506"/>
            <a:ext cx="808329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9. Agile Business Analysis Essentials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Agile delivers in small increments.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 of: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12 months development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2-week sprints</a:t>
            </a:r>
          </a:p>
        </p:txBody>
      </p:sp>
    </p:spTree>
    <p:extLst>
      <p:ext uri="{BB962C8B-B14F-4D97-AF65-F5344CB8AC3E}">
        <p14:creationId xmlns:p14="http://schemas.microsoft.com/office/powerpoint/2010/main" val="11726380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642B8-1662-D748-861F-3F25ECA50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1CC4552-2238-6575-19D7-E70E8B410699}"/>
              </a:ext>
            </a:extLst>
          </p:cNvPr>
          <p:cNvSpPr txBox="1"/>
          <p:nvPr/>
        </p:nvSpPr>
        <p:spPr>
          <a:xfrm>
            <a:off x="393192" y="328506"/>
            <a:ext cx="808329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10. Testing &amp; Validation (UAT) (3 Minutes)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UAT = User Acceptance Testing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Business users verify: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Requirements met?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Results accurate?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Ready for production? </a:t>
            </a: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Chatbot must answer: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"Where is my order?"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Expected: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Correct order status displayed.</a:t>
            </a:r>
          </a:p>
        </p:txBody>
      </p:sp>
    </p:spTree>
    <p:extLst>
      <p:ext uri="{BB962C8B-B14F-4D97-AF65-F5344CB8AC3E}">
        <p14:creationId xmlns:p14="http://schemas.microsoft.com/office/powerpoint/2010/main" val="12721314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F7589-488D-12E2-C3EE-00253DAF8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0837DEA-C96C-02B6-E5E5-69BB2D12267E}"/>
              </a:ext>
            </a:extLst>
          </p:cNvPr>
          <p:cNvSpPr txBox="1"/>
          <p:nvPr/>
        </p:nvSpPr>
        <p:spPr>
          <a:xfrm>
            <a:off x="393192" y="328506"/>
            <a:ext cx="4434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11. Real-World Case Studies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B0B2AA-F400-1C4E-8880-460FAC5F2231}"/>
              </a:ext>
            </a:extLst>
          </p:cNvPr>
          <p:cNvSpPr txBox="1"/>
          <p:nvPr/>
        </p:nvSpPr>
        <p:spPr>
          <a:xfrm>
            <a:off x="2382012" y="945619"/>
            <a:ext cx="691743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Banking: 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Fraud Detection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  -&gt; Fraud transactions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Solution  -&gt; ML model identifies suspicious activity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KPI -&gt; Fraud loss reduction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E449F5-A433-C52E-F076-F8A2AEED7B0D}"/>
              </a:ext>
            </a:extLst>
          </p:cNvPr>
          <p:cNvSpPr txBox="1"/>
          <p:nvPr/>
        </p:nvSpPr>
        <p:spPr>
          <a:xfrm>
            <a:off x="203454" y="4455378"/>
            <a:ext cx="619048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Healthcare: 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Patient Readmission Prediction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 -&gt;Patients returning to hospital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Solution -&gt; Predict high-risk patients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KPI -&gt; Reduced readmission rate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1AAA78-58E0-5B12-5E51-3AACD4C36912}"/>
              </a:ext>
            </a:extLst>
          </p:cNvPr>
          <p:cNvSpPr txBox="1"/>
          <p:nvPr/>
        </p:nvSpPr>
        <p:spPr>
          <a:xfrm>
            <a:off x="6565392" y="3116550"/>
            <a:ext cx="530428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Manufacturing: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Predictive Maintenance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 -&gt;  Machine breakdowns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Solution -&gt; Predict failures before they occur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KPI -&gt; Reduced downtime</a:t>
            </a:r>
          </a:p>
        </p:txBody>
      </p:sp>
    </p:spTree>
    <p:extLst>
      <p:ext uri="{BB962C8B-B14F-4D97-AF65-F5344CB8AC3E}">
        <p14:creationId xmlns:p14="http://schemas.microsoft.com/office/powerpoint/2010/main" val="4159699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1181</TotalTime>
  <Words>702</Words>
  <Application>Microsoft Office PowerPoint</Application>
  <PresentationFormat>Widescreen</PresentationFormat>
  <Paragraphs>226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195</cp:revision>
  <dcterms:created xsi:type="dcterms:W3CDTF">2025-09-22T02:44:38Z</dcterms:created>
  <dcterms:modified xsi:type="dcterms:W3CDTF">2026-06-06T11:39:23Z</dcterms:modified>
</cp:coreProperties>
</file>