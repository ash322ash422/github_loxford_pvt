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76" r:id="rId2"/>
    <p:sldId id="277" r:id="rId3"/>
    <p:sldId id="257" r:id="rId4"/>
    <p:sldId id="278" r:id="rId5"/>
    <p:sldId id="281" r:id="rId6"/>
    <p:sldId id="360" r:id="rId7"/>
    <p:sldId id="282" r:id="rId8"/>
    <p:sldId id="361" r:id="rId9"/>
    <p:sldId id="280" r:id="rId10"/>
    <p:sldId id="283" r:id="rId11"/>
    <p:sldId id="260" r:id="rId12"/>
    <p:sldId id="356" r:id="rId13"/>
    <p:sldId id="353" r:id="rId14"/>
    <p:sldId id="348" r:id="rId15"/>
    <p:sldId id="269" r:id="rId16"/>
    <p:sldId id="357" r:id="rId17"/>
    <p:sldId id="354" r:id="rId18"/>
    <p:sldId id="358" r:id="rId19"/>
    <p:sldId id="268" r:id="rId20"/>
    <p:sldId id="270" r:id="rId21"/>
    <p:sldId id="359" r:id="rId22"/>
    <p:sldId id="271" r:id="rId23"/>
    <p:sldId id="355" r:id="rId24"/>
    <p:sldId id="262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dnuggets.com/2020/03/20-machine-learning-datasets-project-ideas.html" TargetMode="External"/><Relationship Id="rId3" Type="http://schemas.openxmlformats.org/officeDocument/2006/relationships/hyperlink" Target="https://datasetsearch.research.google.com/" TargetMode="External"/><Relationship Id="rId7" Type="http://schemas.openxmlformats.org/officeDocument/2006/relationships/hyperlink" Target="https://catalog.data.gov/dataset/" TargetMode="External"/><Relationship Id="rId2" Type="http://schemas.openxmlformats.org/officeDocument/2006/relationships/hyperlink" Target="https://www.kaggle.com/datase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l-cheatsheet.readthedocs.io/en/latest/datasets.html" TargetMode="External"/><Relationship Id="rId11" Type="http://schemas.openxmlformats.org/officeDocument/2006/relationships/hyperlink" Target="https://datarade.ai/data-categories/ai-ml-training-data" TargetMode="External"/><Relationship Id="rId5" Type="http://schemas.openxmlformats.org/officeDocument/2006/relationships/hyperlink" Target="https://www.kaggle.com/competitions" TargetMode="External"/><Relationship Id="rId10" Type="http://schemas.openxmlformats.org/officeDocument/2006/relationships/hyperlink" Target="https://data.fivethirtyeight.com/" TargetMode="External"/><Relationship Id="rId4" Type="http://schemas.openxmlformats.org/officeDocument/2006/relationships/hyperlink" Target="https://cloud.google.com/solutions/datasets" TargetMode="External"/><Relationship Id="rId9" Type="http://schemas.openxmlformats.org/officeDocument/2006/relationships/hyperlink" Target="https://data.worldbank.org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38FFB4-50BA-33E3-B931-72502A8E67DA}"/>
              </a:ext>
            </a:extLst>
          </p:cNvPr>
          <p:cNvSpPr txBox="1"/>
          <p:nvPr/>
        </p:nvSpPr>
        <p:spPr>
          <a:xfrm>
            <a:off x="1874520" y="219456"/>
            <a:ext cx="2508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 of 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F494F-6B76-F07F-1200-9C0E3DFBCB5E}"/>
              </a:ext>
            </a:extLst>
          </p:cNvPr>
          <p:cNvSpPr txBox="1"/>
          <p:nvPr/>
        </p:nvSpPr>
        <p:spPr>
          <a:xfrm>
            <a:off x="128016" y="4330220"/>
            <a:ext cx="66156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Analysis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Making sense out of data…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Visually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(histogram, scatterplot, line plot, radar plot, tree plot, etc.)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Numerically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(mean, mode, median, variance, standard deviation, hypothesis testing, A/B Testing, etc. )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4CBAB-3CD1-78D7-D998-797593CE5C87}"/>
              </a:ext>
            </a:extLst>
          </p:cNvPr>
          <p:cNvSpPr txBox="1"/>
          <p:nvPr/>
        </p:nvSpPr>
        <p:spPr>
          <a:xfrm>
            <a:off x="324612" y="1250710"/>
            <a:ext cx="66156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represented in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numbers, text, images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Generally, in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 of tables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also be in form of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semi-structure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(XML, JSON, etc.) or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unstructured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(audio, video, blog, etc. 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FACB9F-FAC1-8DAF-C174-8A18FB33E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938" y="4215383"/>
            <a:ext cx="1499546" cy="1162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0B3700-3E15-C152-9837-F1AF61069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891" y="4405561"/>
            <a:ext cx="1335195" cy="116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1F0ED-433A-841F-09E1-7AC1D5BA8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5FB4C9-4D0E-B53C-877E-7ACDCB265BB0}"/>
              </a:ext>
            </a:extLst>
          </p:cNvPr>
          <p:cNvSpPr txBox="1"/>
          <p:nvPr/>
        </p:nvSpPr>
        <p:spPr>
          <a:xfrm>
            <a:off x="1874520" y="219456"/>
            <a:ext cx="2508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Definition of 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4B4EB-35EE-FD99-D1E7-0C2097BC018D}"/>
              </a:ext>
            </a:extLst>
          </p:cNvPr>
          <p:cNvSpPr txBox="1"/>
          <p:nvPr/>
        </p:nvSpPr>
        <p:spPr>
          <a:xfrm>
            <a:off x="265176" y="1492669"/>
            <a:ext cx="64099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 is more focused aspect of the broader data science field, which involves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examining,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cleaning,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transforming,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modeling data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uncover useful information, draw conclusions, and support decision-making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 is subset of Data Science</a:t>
            </a:r>
          </a:p>
        </p:txBody>
      </p:sp>
    </p:spTree>
    <p:extLst>
      <p:ext uri="{BB962C8B-B14F-4D97-AF65-F5344CB8AC3E}">
        <p14:creationId xmlns:p14="http://schemas.microsoft.com/office/powerpoint/2010/main" val="328217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A087331-BE1C-2D91-94A1-B1581B03C55C}"/>
              </a:ext>
            </a:extLst>
          </p:cNvPr>
          <p:cNvSpPr txBox="1"/>
          <p:nvPr/>
        </p:nvSpPr>
        <p:spPr>
          <a:xfrm>
            <a:off x="1099946" y="3501670"/>
            <a:ext cx="97082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type of </a:t>
            </a: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general</a:t>
            </a: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question does DA answer ?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2C984-D6C5-AA72-1254-866AF8167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51874-B5F6-3A74-B664-14E2A0B25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7" y="214203"/>
            <a:ext cx="10596241" cy="362843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Case study: For an e-commerce dataset, what type of question can DA answer 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2A224A-F2D1-A607-D645-80F4F1BF8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001904"/>
              </p:ext>
            </p:extLst>
          </p:nvPr>
        </p:nvGraphicFramePr>
        <p:xfrm>
          <a:off x="0" y="1290814"/>
          <a:ext cx="11887202" cy="1005840"/>
        </p:xfrm>
        <a:graphic>
          <a:graphicData uri="http://schemas.openxmlformats.org/drawingml/2006/table">
            <a:tbl>
              <a:tblPr/>
              <a:tblGrid>
                <a:gridCol w="726372">
                  <a:extLst>
                    <a:ext uri="{9D8B030D-6E8A-4147-A177-3AD203B41FA5}">
                      <a16:colId xmlns:a16="http://schemas.microsoft.com/office/drawing/2014/main" val="433709037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88935081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99474886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966894637"/>
                    </a:ext>
                  </a:extLst>
                </a:gridCol>
                <a:gridCol w="862910">
                  <a:extLst>
                    <a:ext uri="{9D8B030D-6E8A-4147-A177-3AD203B41FA5}">
                      <a16:colId xmlns:a16="http://schemas.microsoft.com/office/drawing/2014/main" val="2305819594"/>
                    </a:ext>
                  </a:extLst>
                </a:gridCol>
                <a:gridCol w="536122">
                  <a:extLst>
                    <a:ext uri="{9D8B030D-6E8A-4147-A177-3AD203B41FA5}">
                      <a16:colId xmlns:a16="http://schemas.microsoft.com/office/drawing/2014/main" val="1675043934"/>
                    </a:ext>
                  </a:extLst>
                </a:gridCol>
                <a:gridCol w="901639">
                  <a:extLst>
                    <a:ext uri="{9D8B030D-6E8A-4147-A177-3AD203B41FA5}">
                      <a16:colId xmlns:a16="http://schemas.microsoft.com/office/drawing/2014/main" val="1318224080"/>
                    </a:ext>
                  </a:extLst>
                </a:gridCol>
                <a:gridCol w="779907">
                  <a:extLst>
                    <a:ext uri="{9D8B030D-6E8A-4147-A177-3AD203B41FA5}">
                      <a16:colId xmlns:a16="http://schemas.microsoft.com/office/drawing/2014/main" val="4055381425"/>
                    </a:ext>
                  </a:extLst>
                </a:gridCol>
                <a:gridCol w="769046">
                  <a:extLst>
                    <a:ext uri="{9D8B030D-6E8A-4147-A177-3AD203B41FA5}">
                      <a16:colId xmlns:a16="http://schemas.microsoft.com/office/drawing/2014/main" val="300606467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1149016251"/>
                    </a:ext>
                  </a:extLst>
                </a:gridCol>
                <a:gridCol w="680342">
                  <a:extLst>
                    <a:ext uri="{9D8B030D-6E8A-4147-A177-3AD203B41FA5}">
                      <a16:colId xmlns:a16="http://schemas.microsoft.com/office/drawing/2014/main" val="2336990302"/>
                    </a:ext>
                  </a:extLst>
                </a:gridCol>
                <a:gridCol w="627250">
                  <a:extLst>
                    <a:ext uri="{9D8B030D-6E8A-4147-A177-3AD203B41FA5}">
                      <a16:colId xmlns:a16="http://schemas.microsoft.com/office/drawing/2014/main" val="3880231070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3409411297"/>
                    </a:ext>
                  </a:extLst>
                </a:gridCol>
                <a:gridCol w="1039178">
                  <a:extLst>
                    <a:ext uri="{9D8B030D-6E8A-4147-A177-3AD203B41FA5}">
                      <a16:colId xmlns:a16="http://schemas.microsoft.com/office/drawing/2014/main" val="229187565"/>
                    </a:ext>
                  </a:extLst>
                </a:gridCol>
                <a:gridCol w="968508">
                  <a:extLst>
                    <a:ext uri="{9D8B030D-6E8A-4147-A177-3AD203B41FA5}">
                      <a16:colId xmlns:a16="http://schemas.microsoft.com/office/drawing/2014/main" val="1744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OrderID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Cust_ID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OrderDate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Prod_ID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Qty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Discount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DeviceType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Returned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766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2024-04-10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Electronics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399.99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359.99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SpringSale</a:t>
                      </a:r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894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C105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2024-04-10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Kitchen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Spoon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WinterSale</a:t>
                      </a:r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21789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A8A4E7D-B5F8-1DCF-1867-E46D8D403AB3}"/>
              </a:ext>
            </a:extLst>
          </p:cNvPr>
          <p:cNvSpPr/>
          <p:nvPr/>
        </p:nvSpPr>
        <p:spPr>
          <a:xfrm>
            <a:off x="5294376" y="3074430"/>
            <a:ext cx="71414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there distinct customer segments by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 and purchase behavior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some product categories see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higher returns or lower ratings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Explore relationships between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region, campaign, and revenue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C060D-D044-1E6F-48D8-E49EEDBFD836}"/>
              </a:ext>
            </a:extLst>
          </p:cNvPr>
          <p:cNvSpPr txBox="1"/>
          <p:nvPr/>
        </p:nvSpPr>
        <p:spPr>
          <a:xfrm>
            <a:off x="112014" y="3131340"/>
            <a:ext cx="430453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Exploratory Questions 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(What patterns exist?)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early stages of analysis: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there any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segments (groups)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behavior?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trends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can we see in user activity over time?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there any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data?</a:t>
            </a:r>
          </a:p>
        </p:txBody>
      </p:sp>
    </p:spTree>
    <p:extLst>
      <p:ext uri="{BB962C8B-B14F-4D97-AF65-F5344CB8AC3E}">
        <p14:creationId xmlns:p14="http://schemas.microsoft.com/office/powerpoint/2010/main" val="36413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35552-3326-512F-08FE-2E413F468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3AE8-114E-7097-A0D7-E4BFA596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7" y="214203"/>
            <a:ext cx="10596241" cy="362843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Case study: For an e-commerce dataset, what type of question can DA answer 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3A647F-3A42-BF29-DEF2-5FCCBC9C2D82}"/>
              </a:ext>
            </a:extLst>
          </p:cNvPr>
          <p:cNvGraphicFramePr>
            <a:graphicFrameLocks noGrp="1"/>
          </p:cNvGraphicFramePr>
          <p:nvPr/>
        </p:nvGraphicFramePr>
        <p:xfrm>
          <a:off x="0" y="1290814"/>
          <a:ext cx="11887202" cy="1005840"/>
        </p:xfrm>
        <a:graphic>
          <a:graphicData uri="http://schemas.openxmlformats.org/drawingml/2006/table">
            <a:tbl>
              <a:tblPr/>
              <a:tblGrid>
                <a:gridCol w="726372">
                  <a:extLst>
                    <a:ext uri="{9D8B030D-6E8A-4147-A177-3AD203B41FA5}">
                      <a16:colId xmlns:a16="http://schemas.microsoft.com/office/drawing/2014/main" val="433709037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88935081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99474886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966894637"/>
                    </a:ext>
                  </a:extLst>
                </a:gridCol>
                <a:gridCol w="862910">
                  <a:extLst>
                    <a:ext uri="{9D8B030D-6E8A-4147-A177-3AD203B41FA5}">
                      <a16:colId xmlns:a16="http://schemas.microsoft.com/office/drawing/2014/main" val="2305819594"/>
                    </a:ext>
                  </a:extLst>
                </a:gridCol>
                <a:gridCol w="536122">
                  <a:extLst>
                    <a:ext uri="{9D8B030D-6E8A-4147-A177-3AD203B41FA5}">
                      <a16:colId xmlns:a16="http://schemas.microsoft.com/office/drawing/2014/main" val="1675043934"/>
                    </a:ext>
                  </a:extLst>
                </a:gridCol>
                <a:gridCol w="901639">
                  <a:extLst>
                    <a:ext uri="{9D8B030D-6E8A-4147-A177-3AD203B41FA5}">
                      <a16:colId xmlns:a16="http://schemas.microsoft.com/office/drawing/2014/main" val="1318224080"/>
                    </a:ext>
                  </a:extLst>
                </a:gridCol>
                <a:gridCol w="779907">
                  <a:extLst>
                    <a:ext uri="{9D8B030D-6E8A-4147-A177-3AD203B41FA5}">
                      <a16:colId xmlns:a16="http://schemas.microsoft.com/office/drawing/2014/main" val="4055381425"/>
                    </a:ext>
                  </a:extLst>
                </a:gridCol>
                <a:gridCol w="769046">
                  <a:extLst>
                    <a:ext uri="{9D8B030D-6E8A-4147-A177-3AD203B41FA5}">
                      <a16:colId xmlns:a16="http://schemas.microsoft.com/office/drawing/2014/main" val="300606467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1149016251"/>
                    </a:ext>
                  </a:extLst>
                </a:gridCol>
                <a:gridCol w="680342">
                  <a:extLst>
                    <a:ext uri="{9D8B030D-6E8A-4147-A177-3AD203B41FA5}">
                      <a16:colId xmlns:a16="http://schemas.microsoft.com/office/drawing/2014/main" val="2336990302"/>
                    </a:ext>
                  </a:extLst>
                </a:gridCol>
                <a:gridCol w="627250">
                  <a:extLst>
                    <a:ext uri="{9D8B030D-6E8A-4147-A177-3AD203B41FA5}">
                      <a16:colId xmlns:a16="http://schemas.microsoft.com/office/drawing/2014/main" val="3880231070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3409411297"/>
                    </a:ext>
                  </a:extLst>
                </a:gridCol>
                <a:gridCol w="1039178">
                  <a:extLst>
                    <a:ext uri="{9D8B030D-6E8A-4147-A177-3AD203B41FA5}">
                      <a16:colId xmlns:a16="http://schemas.microsoft.com/office/drawing/2014/main" val="229187565"/>
                    </a:ext>
                  </a:extLst>
                </a:gridCol>
                <a:gridCol w="968508">
                  <a:extLst>
                    <a:ext uri="{9D8B030D-6E8A-4147-A177-3AD203B41FA5}">
                      <a16:colId xmlns:a16="http://schemas.microsoft.com/office/drawing/2014/main" val="1744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OrderID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Cust_ID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OrderDate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Prod_ID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Qty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Discount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DeviceType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Returned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766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2024-04-10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Electronics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399.99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359.99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SpringSale</a:t>
                      </a:r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894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C105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2024-04-10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Kitchen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Spoon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WinterSale</a:t>
                      </a:r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21789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8AD0A78-E42F-D2F6-F349-248BA50EE748}"/>
              </a:ext>
            </a:extLst>
          </p:cNvPr>
          <p:cNvSpPr/>
          <p:nvPr/>
        </p:nvSpPr>
        <p:spPr>
          <a:xfrm>
            <a:off x="7009155" y="3092323"/>
            <a:ext cx="500606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were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monthly revenues in Q2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 (Determined rom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OrderDate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average customer rating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certain product?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products were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returned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last year?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856E7B-E494-AD07-2496-71DD5DAA44AB}"/>
              </a:ext>
            </a:extLst>
          </p:cNvPr>
          <p:cNvSpPr txBox="1"/>
          <p:nvPr/>
        </p:nvSpPr>
        <p:spPr>
          <a:xfrm>
            <a:off x="270027" y="3092323"/>
            <a:ext cx="54998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Descriptive Questions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(What happened?)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questions aim to summarize past data: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were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sales last quarter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users signed up last month? 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average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customer age?</a:t>
            </a:r>
          </a:p>
        </p:txBody>
      </p:sp>
    </p:spTree>
    <p:extLst>
      <p:ext uri="{BB962C8B-B14F-4D97-AF65-F5344CB8AC3E}">
        <p14:creationId xmlns:p14="http://schemas.microsoft.com/office/powerpoint/2010/main" val="3175311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3CCD4-2E42-0A79-7E51-AD7B3CAA7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5899D-E4EE-F476-71A7-44EFBF691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7" y="214203"/>
            <a:ext cx="10596241" cy="362843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Case study: For an e-commerce dataset, what type of question can DA answer 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F4423D-0BCF-2034-F377-DC03A705A273}"/>
              </a:ext>
            </a:extLst>
          </p:cNvPr>
          <p:cNvGraphicFramePr>
            <a:graphicFrameLocks noGrp="1"/>
          </p:cNvGraphicFramePr>
          <p:nvPr/>
        </p:nvGraphicFramePr>
        <p:xfrm>
          <a:off x="0" y="1290814"/>
          <a:ext cx="11887202" cy="1005840"/>
        </p:xfrm>
        <a:graphic>
          <a:graphicData uri="http://schemas.openxmlformats.org/drawingml/2006/table">
            <a:tbl>
              <a:tblPr/>
              <a:tblGrid>
                <a:gridCol w="726372">
                  <a:extLst>
                    <a:ext uri="{9D8B030D-6E8A-4147-A177-3AD203B41FA5}">
                      <a16:colId xmlns:a16="http://schemas.microsoft.com/office/drawing/2014/main" val="433709037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88935081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99474886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966894637"/>
                    </a:ext>
                  </a:extLst>
                </a:gridCol>
                <a:gridCol w="862910">
                  <a:extLst>
                    <a:ext uri="{9D8B030D-6E8A-4147-A177-3AD203B41FA5}">
                      <a16:colId xmlns:a16="http://schemas.microsoft.com/office/drawing/2014/main" val="2305819594"/>
                    </a:ext>
                  </a:extLst>
                </a:gridCol>
                <a:gridCol w="536122">
                  <a:extLst>
                    <a:ext uri="{9D8B030D-6E8A-4147-A177-3AD203B41FA5}">
                      <a16:colId xmlns:a16="http://schemas.microsoft.com/office/drawing/2014/main" val="1675043934"/>
                    </a:ext>
                  </a:extLst>
                </a:gridCol>
                <a:gridCol w="901639">
                  <a:extLst>
                    <a:ext uri="{9D8B030D-6E8A-4147-A177-3AD203B41FA5}">
                      <a16:colId xmlns:a16="http://schemas.microsoft.com/office/drawing/2014/main" val="1318224080"/>
                    </a:ext>
                  </a:extLst>
                </a:gridCol>
                <a:gridCol w="779907">
                  <a:extLst>
                    <a:ext uri="{9D8B030D-6E8A-4147-A177-3AD203B41FA5}">
                      <a16:colId xmlns:a16="http://schemas.microsoft.com/office/drawing/2014/main" val="4055381425"/>
                    </a:ext>
                  </a:extLst>
                </a:gridCol>
                <a:gridCol w="769046">
                  <a:extLst>
                    <a:ext uri="{9D8B030D-6E8A-4147-A177-3AD203B41FA5}">
                      <a16:colId xmlns:a16="http://schemas.microsoft.com/office/drawing/2014/main" val="300606467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1149016251"/>
                    </a:ext>
                  </a:extLst>
                </a:gridCol>
                <a:gridCol w="680342">
                  <a:extLst>
                    <a:ext uri="{9D8B030D-6E8A-4147-A177-3AD203B41FA5}">
                      <a16:colId xmlns:a16="http://schemas.microsoft.com/office/drawing/2014/main" val="2336990302"/>
                    </a:ext>
                  </a:extLst>
                </a:gridCol>
                <a:gridCol w="627250">
                  <a:extLst>
                    <a:ext uri="{9D8B030D-6E8A-4147-A177-3AD203B41FA5}">
                      <a16:colId xmlns:a16="http://schemas.microsoft.com/office/drawing/2014/main" val="3880231070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3409411297"/>
                    </a:ext>
                  </a:extLst>
                </a:gridCol>
                <a:gridCol w="1039178">
                  <a:extLst>
                    <a:ext uri="{9D8B030D-6E8A-4147-A177-3AD203B41FA5}">
                      <a16:colId xmlns:a16="http://schemas.microsoft.com/office/drawing/2014/main" val="229187565"/>
                    </a:ext>
                  </a:extLst>
                </a:gridCol>
                <a:gridCol w="968508">
                  <a:extLst>
                    <a:ext uri="{9D8B030D-6E8A-4147-A177-3AD203B41FA5}">
                      <a16:colId xmlns:a16="http://schemas.microsoft.com/office/drawing/2014/main" val="1744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OrderID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Cust_ID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OrderDate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Prod_ID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Qty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Discount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DeviceType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Returned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766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2024-04-10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Electronics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399.99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359.99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SpringSale</a:t>
                      </a:r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894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C105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2024-04-10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Kitchen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Spoon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WinterSale</a:t>
                      </a:r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21789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C7F83B3-7D77-3EBA-6348-D4C079D2BE43}"/>
              </a:ext>
            </a:extLst>
          </p:cNvPr>
          <p:cNvSpPr/>
          <p:nvPr/>
        </p:nvSpPr>
        <p:spPr>
          <a:xfrm>
            <a:off x="6181344" y="3156331"/>
            <a:ext cx="58613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were sales/orders low in March? Here Qty will give you the sales order amount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there a pattern between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discounts and returns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younger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customers give lower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ratings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 Here we can find Younger status from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column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2C2D1-67E8-C91C-988A-232ACF8FF61F}"/>
              </a:ext>
            </a:extLst>
          </p:cNvPr>
          <p:cNvSpPr txBox="1"/>
          <p:nvPr/>
        </p:nvSpPr>
        <p:spPr>
          <a:xfrm>
            <a:off x="149350" y="3156331"/>
            <a:ext cx="545411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Diagnostic Questions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(Why did it happen?)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look deeper to find causes or correlations: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did sales drop in March?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marketing campaign performed best?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factors are linked to high customer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churn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3326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B0EF4-A47D-62CB-23CB-7EF1723C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4AE55-50A9-C6FE-4426-9F458B565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7" y="214203"/>
            <a:ext cx="10596241" cy="362843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Case study: For an e-commerce dataset, what type of question can DA answer 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C8CF55-B410-F833-C71D-15AA53F8CDFB}"/>
              </a:ext>
            </a:extLst>
          </p:cNvPr>
          <p:cNvGraphicFramePr>
            <a:graphicFrameLocks noGrp="1"/>
          </p:cNvGraphicFramePr>
          <p:nvPr/>
        </p:nvGraphicFramePr>
        <p:xfrm>
          <a:off x="0" y="1290814"/>
          <a:ext cx="11887202" cy="1005840"/>
        </p:xfrm>
        <a:graphic>
          <a:graphicData uri="http://schemas.openxmlformats.org/drawingml/2006/table">
            <a:tbl>
              <a:tblPr/>
              <a:tblGrid>
                <a:gridCol w="726372">
                  <a:extLst>
                    <a:ext uri="{9D8B030D-6E8A-4147-A177-3AD203B41FA5}">
                      <a16:colId xmlns:a16="http://schemas.microsoft.com/office/drawing/2014/main" val="433709037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88935081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99474886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966894637"/>
                    </a:ext>
                  </a:extLst>
                </a:gridCol>
                <a:gridCol w="862910">
                  <a:extLst>
                    <a:ext uri="{9D8B030D-6E8A-4147-A177-3AD203B41FA5}">
                      <a16:colId xmlns:a16="http://schemas.microsoft.com/office/drawing/2014/main" val="2305819594"/>
                    </a:ext>
                  </a:extLst>
                </a:gridCol>
                <a:gridCol w="536122">
                  <a:extLst>
                    <a:ext uri="{9D8B030D-6E8A-4147-A177-3AD203B41FA5}">
                      <a16:colId xmlns:a16="http://schemas.microsoft.com/office/drawing/2014/main" val="1675043934"/>
                    </a:ext>
                  </a:extLst>
                </a:gridCol>
                <a:gridCol w="901639">
                  <a:extLst>
                    <a:ext uri="{9D8B030D-6E8A-4147-A177-3AD203B41FA5}">
                      <a16:colId xmlns:a16="http://schemas.microsoft.com/office/drawing/2014/main" val="1318224080"/>
                    </a:ext>
                  </a:extLst>
                </a:gridCol>
                <a:gridCol w="779907">
                  <a:extLst>
                    <a:ext uri="{9D8B030D-6E8A-4147-A177-3AD203B41FA5}">
                      <a16:colId xmlns:a16="http://schemas.microsoft.com/office/drawing/2014/main" val="4055381425"/>
                    </a:ext>
                  </a:extLst>
                </a:gridCol>
                <a:gridCol w="769046">
                  <a:extLst>
                    <a:ext uri="{9D8B030D-6E8A-4147-A177-3AD203B41FA5}">
                      <a16:colId xmlns:a16="http://schemas.microsoft.com/office/drawing/2014/main" val="300606467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1149016251"/>
                    </a:ext>
                  </a:extLst>
                </a:gridCol>
                <a:gridCol w="680342">
                  <a:extLst>
                    <a:ext uri="{9D8B030D-6E8A-4147-A177-3AD203B41FA5}">
                      <a16:colId xmlns:a16="http://schemas.microsoft.com/office/drawing/2014/main" val="2336990302"/>
                    </a:ext>
                  </a:extLst>
                </a:gridCol>
                <a:gridCol w="627250">
                  <a:extLst>
                    <a:ext uri="{9D8B030D-6E8A-4147-A177-3AD203B41FA5}">
                      <a16:colId xmlns:a16="http://schemas.microsoft.com/office/drawing/2014/main" val="3880231070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3409411297"/>
                    </a:ext>
                  </a:extLst>
                </a:gridCol>
                <a:gridCol w="1039178">
                  <a:extLst>
                    <a:ext uri="{9D8B030D-6E8A-4147-A177-3AD203B41FA5}">
                      <a16:colId xmlns:a16="http://schemas.microsoft.com/office/drawing/2014/main" val="229187565"/>
                    </a:ext>
                  </a:extLst>
                </a:gridCol>
                <a:gridCol w="968508">
                  <a:extLst>
                    <a:ext uri="{9D8B030D-6E8A-4147-A177-3AD203B41FA5}">
                      <a16:colId xmlns:a16="http://schemas.microsoft.com/office/drawing/2014/main" val="1744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OrderID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Cust_ID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OrderDate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Prod_ID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Qty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Discount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DeviceType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Returned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766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2024-04-10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Electronics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399.99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359.99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SpringSale</a:t>
                      </a:r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894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C105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2024-04-10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Kitchen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Spoon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WinterSale</a:t>
                      </a:r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21789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81945F7-7BAA-00BF-9768-8219E0F183EB}"/>
              </a:ext>
            </a:extLst>
          </p:cNvPr>
          <p:cNvSpPr/>
          <p:nvPr/>
        </p:nvSpPr>
        <p:spPr>
          <a:xfrm>
            <a:off x="5760721" y="3125456"/>
            <a:ext cx="631365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customers buying more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kitchen items in summer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customers are likely to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product?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Forecast demand for each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next quarter.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37037F-A564-9BD3-C863-349A0DF3A732}"/>
              </a:ext>
            </a:extLst>
          </p:cNvPr>
          <p:cNvSpPr txBox="1"/>
          <p:nvPr/>
        </p:nvSpPr>
        <p:spPr>
          <a:xfrm>
            <a:off x="117626" y="3125456"/>
            <a:ext cx="473174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Predictive Questions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(What is likely to happen ?)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statistics to make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forecasts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will our revenue look like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next month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customers are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likely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churn?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support tickets can we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 next week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08203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094A2-4946-4F5E-B5ED-E1E761996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1889-29D5-9EAE-F7C2-171889C71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27" y="214203"/>
            <a:ext cx="10596241" cy="362843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Case study: For an e-commerce dataset, what type of question can DA answer 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85C0E4-6390-2B94-DCE6-EABD63F301FB}"/>
              </a:ext>
            </a:extLst>
          </p:cNvPr>
          <p:cNvGraphicFramePr>
            <a:graphicFrameLocks noGrp="1"/>
          </p:cNvGraphicFramePr>
          <p:nvPr/>
        </p:nvGraphicFramePr>
        <p:xfrm>
          <a:off x="0" y="1290814"/>
          <a:ext cx="11887202" cy="1005840"/>
        </p:xfrm>
        <a:graphic>
          <a:graphicData uri="http://schemas.openxmlformats.org/drawingml/2006/table">
            <a:tbl>
              <a:tblPr/>
              <a:tblGrid>
                <a:gridCol w="726372">
                  <a:extLst>
                    <a:ext uri="{9D8B030D-6E8A-4147-A177-3AD203B41FA5}">
                      <a16:colId xmlns:a16="http://schemas.microsoft.com/office/drawing/2014/main" val="433709037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889350813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994748861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1966894637"/>
                    </a:ext>
                  </a:extLst>
                </a:gridCol>
                <a:gridCol w="862910">
                  <a:extLst>
                    <a:ext uri="{9D8B030D-6E8A-4147-A177-3AD203B41FA5}">
                      <a16:colId xmlns:a16="http://schemas.microsoft.com/office/drawing/2014/main" val="2305819594"/>
                    </a:ext>
                  </a:extLst>
                </a:gridCol>
                <a:gridCol w="536122">
                  <a:extLst>
                    <a:ext uri="{9D8B030D-6E8A-4147-A177-3AD203B41FA5}">
                      <a16:colId xmlns:a16="http://schemas.microsoft.com/office/drawing/2014/main" val="1675043934"/>
                    </a:ext>
                  </a:extLst>
                </a:gridCol>
                <a:gridCol w="901639">
                  <a:extLst>
                    <a:ext uri="{9D8B030D-6E8A-4147-A177-3AD203B41FA5}">
                      <a16:colId xmlns:a16="http://schemas.microsoft.com/office/drawing/2014/main" val="1318224080"/>
                    </a:ext>
                  </a:extLst>
                </a:gridCol>
                <a:gridCol w="779907">
                  <a:extLst>
                    <a:ext uri="{9D8B030D-6E8A-4147-A177-3AD203B41FA5}">
                      <a16:colId xmlns:a16="http://schemas.microsoft.com/office/drawing/2014/main" val="4055381425"/>
                    </a:ext>
                  </a:extLst>
                </a:gridCol>
                <a:gridCol w="769046">
                  <a:extLst>
                    <a:ext uri="{9D8B030D-6E8A-4147-A177-3AD203B41FA5}">
                      <a16:colId xmlns:a16="http://schemas.microsoft.com/office/drawing/2014/main" val="300606467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1149016251"/>
                    </a:ext>
                  </a:extLst>
                </a:gridCol>
                <a:gridCol w="680342">
                  <a:extLst>
                    <a:ext uri="{9D8B030D-6E8A-4147-A177-3AD203B41FA5}">
                      <a16:colId xmlns:a16="http://schemas.microsoft.com/office/drawing/2014/main" val="2336990302"/>
                    </a:ext>
                  </a:extLst>
                </a:gridCol>
                <a:gridCol w="627250">
                  <a:extLst>
                    <a:ext uri="{9D8B030D-6E8A-4147-A177-3AD203B41FA5}">
                      <a16:colId xmlns:a16="http://schemas.microsoft.com/office/drawing/2014/main" val="3880231070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3409411297"/>
                    </a:ext>
                  </a:extLst>
                </a:gridCol>
                <a:gridCol w="1039178">
                  <a:extLst>
                    <a:ext uri="{9D8B030D-6E8A-4147-A177-3AD203B41FA5}">
                      <a16:colId xmlns:a16="http://schemas.microsoft.com/office/drawing/2014/main" val="229187565"/>
                    </a:ext>
                  </a:extLst>
                </a:gridCol>
                <a:gridCol w="968508">
                  <a:extLst>
                    <a:ext uri="{9D8B030D-6E8A-4147-A177-3AD203B41FA5}">
                      <a16:colId xmlns:a16="http://schemas.microsoft.com/office/drawing/2014/main" val="1744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OrderID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Cust_ID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OrderDate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Prod_ID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Qty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Discount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DeviceType</a:t>
                      </a:r>
                      <a:endParaRPr lang="en-US" sz="12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Returned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766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2024-04-10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Electronics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399.99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359.99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SpringSale</a:t>
                      </a:r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894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C105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2024-04-10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Kitchen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Spoon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WinterSale</a:t>
                      </a:r>
                      <a:endParaRPr lang="en-US" sz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21789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3CFED62-BBF0-E982-809E-C0760FE7D90E}"/>
              </a:ext>
            </a:extLst>
          </p:cNvPr>
          <p:cNvSpPr/>
          <p:nvPr/>
        </p:nvSpPr>
        <p:spPr>
          <a:xfrm>
            <a:off x="5846343" y="3429000"/>
            <a:ext cx="617649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discount strategy leads to more conversions in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ReturnStatus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device type should we target for ads in the West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 the optimal time to launch a marketing campaign.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06BD65-A83C-8B36-0F81-D35FBD1F69E7}"/>
              </a:ext>
            </a:extLst>
          </p:cNvPr>
          <p:cNvSpPr txBox="1"/>
          <p:nvPr/>
        </p:nvSpPr>
        <p:spPr>
          <a:xfrm>
            <a:off x="169164" y="3010422"/>
            <a:ext cx="48691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Prescriptive Questions 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(What should we do?)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suggest actions based on data: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product should we promote more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increase sales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can we reduce operational costs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minimize loss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pricing strategy will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maximize profit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88053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C7D9F-0559-EC60-3B09-C2831462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C218-6C94-45F9-59A5-CE1137BE9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233"/>
            <a:ext cx="9912371" cy="415051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Power of Visual Tools in DA(p1): </a:t>
            </a:r>
            <a:r>
              <a:rPr lang="en-US" sz="2400" b="1" dirty="0"/>
              <a:t>There is a story inside this table. Find that story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9C3DB2-C082-13AD-F6A5-FF6717735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20" y="850879"/>
            <a:ext cx="11354120" cy="600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2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7FEF6-4CD4-4C86-F868-00719515B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1652-5234-9DC2-E537-EC558CD66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526" y="113456"/>
            <a:ext cx="11770625" cy="524108"/>
          </a:xfrm>
        </p:spPr>
        <p:txBody>
          <a:bodyPr>
            <a:noAutofit/>
          </a:bodyPr>
          <a:lstStyle/>
          <a:p>
            <a:r>
              <a:rPr lang="en-US" sz="2000" b="1" dirty="0"/>
              <a:t>Power of Visual Tools in DA(p2): Below is a story/dashboard for HR department.</a:t>
            </a:r>
            <a:br>
              <a:rPr lang="en-US" sz="2000" b="1" dirty="0"/>
            </a:br>
            <a:r>
              <a:rPr lang="en-US" sz="2000" b="1" dirty="0"/>
              <a:t> Dashboard would be different for other department like Accounting, IT,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310BE5-0C1F-E06C-7A4D-6E9CE4876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78" y="741872"/>
            <a:ext cx="8417198" cy="603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35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1595" y="1326614"/>
            <a:ext cx="6914528" cy="75148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400" b="1" dirty="0"/>
              <a:t>5 Steps in DA</a:t>
            </a:r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0A91B-6752-0AF0-640D-19B02E77CA49}"/>
              </a:ext>
            </a:extLst>
          </p:cNvPr>
          <p:cNvSpPr txBox="1"/>
          <p:nvPr/>
        </p:nvSpPr>
        <p:spPr>
          <a:xfrm>
            <a:off x="982980" y="2376089"/>
            <a:ext cx="923086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Collection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Cleaning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Exploratory Data Analysis (EDA)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Statistical Analysis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Interpretation + Reporting</a:t>
            </a:r>
          </a:p>
        </p:txBody>
      </p:sp>
    </p:spTree>
    <p:extLst>
      <p:ext uri="{BB962C8B-B14F-4D97-AF65-F5344CB8AC3E}">
        <p14:creationId xmlns:p14="http://schemas.microsoft.com/office/powerpoint/2010/main" val="542668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7A07-718F-4408-58A8-767E8571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10FB76-3C10-CBA9-A55A-458639112BB1}"/>
              </a:ext>
            </a:extLst>
          </p:cNvPr>
          <p:cNvSpPr txBox="1"/>
          <p:nvPr/>
        </p:nvSpPr>
        <p:spPr>
          <a:xfrm>
            <a:off x="420624" y="1302223"/>
            <a:ext cx="68031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Collection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Gathering the data relevant to the analysis task (similar to data science).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 Can be Internal or External: Internal data is your company data. External data is from outside of your company: can be free or paid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data is tabular, then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columns are called features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rows are called instances, records, etc.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labels/response variable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Tabular data would be in CSV(Comma Separated Value) file can use comma, semi-colon, colon, etc.</a:t>
            </a:r>
          </a:p>
        </p:txBody>
      </p:sp>
    </p:spTree>
    <p:extLst>
      <p:ext uri="{BB962C8B-B14F-4D97-AF65-F5344CB8AC3E}">
        <p14:creationId xmlns:p14="http://schemas.microsoft.com/office/powerpoint/2010/main" val="3589467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E9D4C-BFCA-B52C-A8E3-5FEC1D63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FC926-BA98-AF09-3003-98AE9FE86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291" y="335439"/>
            <a:ext cx="9438723" cy="63826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Example of </a:t>
            </a:r>
            <a:r>
              <a:rPr lang="en-US" sz="1800" b="1" dirty="0"/>
              <a:t>CSV</a:t>
            </a:r>
            <a:r>
              <a:rPr lang="en-US" sz="1800" dirty="0"/>
              <a:t> </a:t>
            </a:r>
            <a:r>
              <a:rPr lang="en-US" sz="1800" b="1" dirty="0"/>
              <a:t>Comma separated value </a:t>
            </a:r>
            <a:r>
              <a:rPr lang="en-US" sz="1800" dirty="0"/>
              <a:t>file: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 err="1"/>
              <a:t>age,name,income,experience</a:t>
            </a:r>
            <a:endParaRPr lang="en-US" sz="18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23,Ash,34000,12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45,Jim,54000,3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45,Nancy,54000,3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/>
              <a:t>45,Carls,59000,7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Example of </a:t>
            </a:r>
            <a:r>
              <a:rPr lang="en-US" sz="1800" b="1" dirty="0"/>
              <a:t>Tab </a:t>
            </a:r>
            <a:r>
              <a:rPr lang="en-US" sz="1800" dirty="0"/>
              <a:t>separated vales in case values contain comma , (for example 34,000):</a:t>
            </a:r>
          </a:p>
          <a:p>
            <a:pPr marL="0" indent="0">
              <a:buNone/>
            </a:pPr>
            <a:r>
              <a:rPr lang="en-US" sz="1800" b="1" dirty="0"/>
              <a:t>age	name	income	experience</a:t>
            </a:r>
          </a:p>
          <a:p>
            <a:pPr marL="0" indent="0">
              <a:buNone/>
            </a:pPr>
            <a:r>
              <a:rPr lang="en-US" sz="1800" b="1" dirty="0"/>
              <a:t>23	Ash	34,000	12</a:t>
            </a:r>
          </a:p>
          <a:p>
            <a:pPr marL="0" indent="0">
              <a:buNone/>
            </a:pPr>
            <a:r>
              <a:rPr lang="en-US" sz="1800" b="1" dirty="0"/>
              <a:t>45	Jim, Gary	54,000	3</a:t>
            </a:r>
          </a:p>
          <a:p>
            <a:pPr marL="0" indent="0">
              <a:buNone/>
            </a:pPr>
            <a:r>
              <a:rPr lang="en-US" sz="1800" b="1" dirty="0"/>
              <a:t>45	Nancy	54,000	3</a:t>
            </a:r>
          </a:p>
          <a:p>
            <a:pPr marL="0" indent="0">
              <a:buNone/>
            </a:pPr>
            <a:r>
              <a:rPr lang="en-US" sz="1800" b="1" dirty="0"/>
              <a:t>45	Carl	59,000	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FC5022-6B0A-DBAB-550C-C00B920151DC}"/>
              </a:ext>
            </a:extLst>
          </p:cNvPr>
          <p:cNvSpPr txBox="1"/>
          <p:nvPr/>
        </p:nvSpPr>
        <p:spPr>
          <a:xfrm>
            <a:off x="9929000" y="4572000"/>
            <a:ext cx="2102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Separator=delimiter</a:t>
            </a:r>
          </a:p>
        </p:txBody>
      </p:sp>
    </p:spTree>
    <p:extLst>
      <p:ext uri="{BB962C8B-B14F-4D97-AF65-F5344CB8AC3E}">
        <p14:creationId xmlns:p14="http://schemas.microsoft.com/office/powerpoint/2010/main" val="1620505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07E838-034C-1983-87BE-9A55253EE942}"/>
              </a:ext>
            </a:extLst>
          </p:cNvPr>
          <p:cNvSpPr txBox="1"/>
          <p:nvPr/>
        </p:nvSpPr>
        <p:spPr>
          <a:xfrm>
            <a:off x="267418" y="474345"/>
            <a:ext cx="1058461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Certain external website for data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https://datasetsearch.research.google.com/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https://archive.ics.uci.edu/datasets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https://cloud.google.com/solutions/datasets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(PAID)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https://www.kaggle.com/competitions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(for competitions)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Ninja Dataset (vision data)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https://ml-cheatsheet.readthedocs.io/en/latest/datasets.html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https://catalog.data.gov/dataset/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https://www.kdnuggets.com/2020/03/20-machine-learning-datasets-project-ideas.html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https://data.worldbank.org/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https://data.fivethirtyeight.com/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(Topics: Politics, Sports,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Science+health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Economics, Culture)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https://www.earthdata.nasa.gov/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Databricks : paid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https://datarade.ai/data-categories/ai-ml-training-data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(paid)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Biggest Data generator are Walmart, Amazon in Retail sector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534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7957D1-20DD-1AB4-FDF2-30C0A72F74A8}"/>
              </a:ext>
            </a:extLst>
          </p:cNvPr>
          <p:cNvGraphicFramePr>
            <a:graphicFrameLocks noGrp="1"/>
          </p:cNvGraphicFramePr>
          <p:nvPr/>
        </p:nvGraphicFramePr>
        <p:xfrm>
          <a:off x="60385" y="4675517"/>
          <a:ext cx="12007969" cy="2132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5503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889358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62548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889358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045730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850266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1211873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  <a:gridCol w="654802">
                  <a:extLst>
                    <a:ext uri="{9D8B030D-6E8A-4147-A177-3AD203B41FA5}">
                      <a16:colId xmlns:a16="http://schemas.microsoft.com/office/drawing/2014/main" val="2431208349"/>
                    </a:ext>
                  </a:extLst>
                </a:gridCol>
                <a:gridCol w="886101">
                  <a:extLst>
                    <a:ext uri="{9D8B030D-6E8A-4147-A177-3AD203B41FA5}">
                      <a16:colId xmlns:a16="http://schemas.microsoft.com/office/drawing/2014/main" val="3845841688"/>
                    </a:ext>
                  </a:extLst>
                </a:gridCol>
                <a:gridCol w="811174">
                  <a:extLst>
                    <a:ext uri="{9D8B030D-6E8A-4147-A177-3AD203B41FA5}">
                      <a16:colId xmlns:a16="http://schemas.microsoft.com/office/drawing/2014/main" val="787790812"/>
                    </a:ext>
                  </a:extLst>
                </a:gridCol>
                <a:gridCol w="820946">
                  <a:extLst>
                    <a:ext uri="{9D8B030D-6E8A-4147-A177-3AD203B41FA5}">
                      <a16:colId xmlns:a16="http://schemas.microsoft.com/office/drawing/2014/main" val="832971964"/>
                    </a:ext>
                  </a:extLst>
                </a:gridCol>
                <a:gridCol w="881225">
                  <a:extLst>
                    <a:ext uri="{9D8B030D-6E8A-4147-A177-3AD203B41FA5}">
                      <a16:colId xmlns:a16="http://schemas.microsoft.com/office/drawing/2014/main" val="3430821773"/>
                    </a:ext>
                  </a:extLst>
                </a:gridCol>
                <a:gridCol w="760667">
                  <a:extLst>
                    <a:ext uri="{9D8B030D-6E8A-4147-A177-3AD203B41FA5}">
                      <a16:colId xmlns:a16="http://schemas.microsoft.com/office/drawing/2014/main" val="2480462831"/>
                    </a:ext>
                  </a:extLst>
                </a:gridCol>
                <a:gridCol w="625483">
                  <a:extLst>
                    <a:ext uri="{9D8B030D-6E8A-4147-A177-3AD203B41FA5}">
                      <a16:colId xmlns:a16="http://schemas.microsoft.com/office/drawing/2014/main" val="1430369010"/>
                    </a:ext>
                  </a:extLst>
                </a:gridCol>
              </a:tblGrid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CustomerID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Name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DateOfBirth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Country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Gender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ProductCategory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Quantity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UnitPrice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TotalPrice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OrderDate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DeliveryDate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Comments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John Doe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5/15/1994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12/1/2024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12/5/2024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Delivered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John Doe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5/15/1994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Electonics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12/1/2024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5/12/2024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Delivered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Jane Smith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7/20/1999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United States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-5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-250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2/28/2024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2/27/2024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Retunred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Bob Johnson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99999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3/10/1925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Electronics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1,000.00 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31/12/2024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31-Dec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Delivered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Alice   Lee 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11/2/1988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Female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Electronics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75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2024-02-30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3/1/2024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Returned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Tom Brown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11/15/2024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11/20/2024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Mary Davis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1/5/1989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Female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$250.00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11/10/2024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11/15/2024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Delivered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EFC441B-9FA1-A8CF-3DF8-2BEC38FA9305}"/>
              </a:ext>
            </a:extLst>
          </p:cNvPr>
          <p:cNvSpPr txBox="1"/>
          <p:nvPr/>
        </p:nvSpPr>
        <p:spPr>
          <a:xfrm>
            <a:off x="265176" y="760167"/>
            <a:ext cx="110642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Data Cleaning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Ensuring the data is clean and free from errors such 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Duplicates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Redundant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columns: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Redundant columns like both [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TotalPrice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Qty *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UnitPrice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[Age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DateOfBirth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customer_id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], etc.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Inconsistencies: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Data doesn't follow expected formats, rules, or logic. For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example,customerID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=3 is not following expected format</a:t>
            </a:r>
          </a:p>
        </p:txBody>
      </p:sp>
    </p:spTree>
    <p:extLst>
      <p:ext uri="{BB962C8B-B14F-4D97-AF65-F5344CB8AC3E}">
        <p14:creationId xmlns:p14="http://schemas.microsoft.com/office/powerpoint/2010/main" val="3680491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2AD85-D2B1-2A0B-A08D-FA4BC97B4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D32883-DD4D-DE1D-1B2C-0F4CD21F7891}"/>
              </a:ext>
            </a:extLst>
          </p:cNvPr>
          <p:cNvGraphicFramePr>
            <a:graphicFrameLocks noGrp="1"/>
          </p:cNvGraphicFramePr>
          <p:nvPr/>
        </p:nvGraphicFramePr>
        <p:xfrm>
          <a:off x="60385" y="4675517"/>
          <a:ext cx="12007969" cy="2132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5503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889358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62548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889358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045730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850266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1211873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  <a:gridCol w="654802">
                  <a:extLst>
                    <a:ext uri="{9D8B030D-6E8A-4147-A177-3AD203B41FA5}">
                      <a16:colId xmlns:a16="http://schemas.microsoft.com/office/drawing/2014/main" val="2431208349"/>
                    </a:ext>
                  </a:extLst>
                </a:gridCol>
                <a:gridCol w="886101">
                  <a:extLst>
                    <a:ext uri="{9D8B030D-6E8A-4147-A177-3AD203B41FA5}">
                      <a16:colId xmlns:a16="http://schemas.microsoft.com/office/drawing/2014/main" val="3845841688"/>
                    </a:ext>
                  </a:extLst>
                </a:gridCol>
                <a:gridCol w="811174">
                  <a:extLst>
                    <a:ext uri="{9D8B030D-6E8A-4147-A177-3AD203B41FA5}">
                      <a16:colId xmlns:a16="http://schemas.microsoft.com/office/drawing/2014/main" val="787790812"/>
                    </a:ext>
                  </a:extLst>
                </a:gridCol>
                <a:gridCol w="820946">
                  <a:extLst>
                    <a:ext uri="{9D8B030D-6E8A-4147-A177-3AD203B41FA5}">
                      <a16:colId xmlns:a16="http://schemas.microsoft.com/office/drawing/2014/main" val="832971964"/>
                    </a:ext>
                  </a:extLst>
                </a:gridCol>
                <a:gridCol w="881225">
                  <a:extLst>
                    <a:ext uri="{9D8B030D-6E8A-4147-A177-3AD203B41FA5}">
                      <a16:colId xmlns:a16="http://schemas.microsoft.com/office/drawing/2014/main" val="3430821773"/>
                    </a:ext>
                  </a:extLst>
                </a:gridCol>
                <a:gridCol w="760667">
                  <a:extLst>
                    <a:ext uri="{9D8B030D-6E8A-4147-A177-3AD203B41FA5}">
                      <a16:colId xmlns:a16="http://schemas.microsoft.com/office/drawing/2014/main" val="2480462831"/>
                    </a:ext>
                  </a:extLst>
                </a:gridCol>
                <a:gridCol w="625483">
                  <a:extLst>
                    <a:ext uri="{9D8B030D-6E8A-4147-A177-3AD203B41FA5}">
                      <a16:colId xmlns:a16="http://schemas.microsoft.com/office/drawing/2014/main" val="1430369010"/>
                    </a:ext>
                  </a:extLst>
                </a:gridCol>
              </a:tblGrid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CustomerID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Name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DateOfBirth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Country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Gender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ProductCategory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Quantity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UnitPrice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TotalPrice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OrderDate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DeliveryDate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Comments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John Doe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5/15/1994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12/1/2024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12/5/2024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Delivered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John Doe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5/15/1994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Electonics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12/1/2024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5/12/2024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Delivered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Jane Smith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7/20/1999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United States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-5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-250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2/28/2024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2/27/2024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Retunred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Bob Johnson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99999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3/10/1925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Electronics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1,000.00 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31/12/2024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31-Dec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Delivered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Alice   Lee 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11/2/1988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Female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Electronics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75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2024-02-30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3/1/2024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Returned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Tom Brown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11/15/2024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11/20/2024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Mary Davis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1/5/1989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Female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$250.00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11/10/2024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11/15/2024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Delivered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B9C1F59-6ED5-E60F-3745-BCAD7CEA8AB3}"/>
              </a:ext>
            </a:extLst>
          </p:cNvPr>
          <p:cNvSpPr txBox="1"/>
          <p:nvPr/>
        </p:nvSpPr>
        <p:spPr>
          <a:xfrm>
            <a:off x="270028" y="1028321"/>
            <a:ext cx="104561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inconsistencies: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2.1. Text Inconsistencies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spellings or capitalization for the same value: "USA",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usa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", "Usa", "United States"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 whitespace or invisible characters: " Alice   Lee " instead of "Alice Lee"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Typos:"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Electonics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instead of "Electronics"</a:t>
            </a:r>
          </a:p>
        </p:txBody>
      </p:sp>
    </p:spTree>
    <p:extLst>
      <p:ext uri="{BB962C8B-B14F-4D97-AF65-F5344CB8AC3E}">
        <p14:creationId xmlns:p14="http://schemas.microsoft.com/office/powerpoint/2010/main" val="1582111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4D3B-01D4-7617-24E2-03D098CF1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B99B41-55A4-CB89-4805-A345AEC23F84}"/>
              </a:ext>
            </a:extLst>
          </p:cNvPr>
          <p:cNvSpPr/>
          <p:nvPr/>
        </p:nvSpPr>
        <p:spPr>
          <a:xfrm>
            <a:off x="269836" y="1101178"/>
            <a:ext cx="1125186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2.2)  Numeric Inconsistencies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 values where they don’t make sense: -5 in a Quantity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Extremely large or small values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outliers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entry errors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): 99999 in an Age column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Commas or symbols in numbers:"1,000" or "$250.00" as strings instead of numeric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CEB09ED-7A4B-D8FF-A1F2-1D13254FC439}"/>
              </a:ext>
            </a:extLst>
          </p:cNvPr>
          <p:cNvGraphicFramePr>
            <a:graphicFrameLocks noGrp="1"/>
          </p:cNvGraphicFramePr>
          <p:nvPr/>
        </p:nvGraphicFramePr>
        <p:xfrm>
          <a:off x="60385" y="4675517"/>
          <a:ext cx="12007969" cy="2132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5503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889358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62548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889358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045730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850266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1211873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  <a:gridCol w="654802">
                  <a:extLst>
                    <a:ext uri="{9D8B030D-6E8A-4147-A177-3AD203B41FA5}">
                      <a16:colId xmlns:a16="http://schemas.microsoft.com/office/drawing/2014/main" val="2431208349"/>
                    </a:ext>
                  </a:extLst>
                </a:gridCol>
                <a:gridCol w="886101">
                  <a:extLst>
                    <a:ext uri="{9D8B030D-6E8A-4147-A177-3AD203B41FA5}">
                      <a16:colId xmlns:a16="http://schemas.microsoft.com/office/drawing/2014/main" val="3845841688"/>
                    </a:ext>
                  </a:extLst>
                </a:gridCol>
                <a:gridCol w="811174">
                  <a:extLst>
                    <a:ext uri="{9D8B030D-6E8A-4147-A177-3AD203B41FA5}">
                      <a16:colId xmlns:a16="http://schemas.microsoft.com/office/drawing/2014/main" val="787790812"/>
                    </a:ext>
                  </a:extLst>
                </a:gridCol>
                <a:gridCol w="820946">
                  <a:extLst>
                    <a:ext uri="{9D8B030D-6E8A-4147-A177-3AD203B41FA5}">
                      <a16:colId xmlns:a16="http://schemas.microsoft.com/office/drawing/2014/main" val="832971964"/>
                    </a:ext>
                  </a:extLst>
                </a:gridCol>
                <a:gridCol w="881225">
                  <a:extLst>
                    <a:ext uri="{9D8B030D-6E8A-4147-A177-3AD203B41FA5}">
                      <a16:colId xmlns:a16="http://schemas.microsoft.com/office/drawing/2014/main" val="3430821773"/>
                    </a:ext>
                  </a:extLst>
                </a:gridCol>
                <a:gridCol w="760667">
                  <a:extLst>
                    <a:ext uri="{9D8B030D-6E8A-4147-A177-3AD203B41FA5}">
                      <a16:colId xmlns:a16="http://schemas.microsoft.com/office/drawing/2014/main" val="2480462831"/>
                    </a:ext>
                  </a:extLst>
                </a:gridCol>
                <a:gridCol w="625483">
                  <a:extLst>
                    <a:ext uri="{9D8B030D-6E8A-4147-A177-3AD203B41FA5}">
                      <a16:colId xmlns:a16="http://schemas.microsoft.com/office/drawing/2014/main" val="1430369010"/>
                    </a:ext>
                  </a:extLst>
                </a:gridCol>
              </a:tblGrid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CustomerID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Name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DateOfBirth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Country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Gender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ProductCategory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Quantity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UnitPrice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TotalPrice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OrderDate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DeliveryDate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Comments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John Doe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5/15/1994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12/1/2024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12/5/2024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Delivered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John Doe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5/15/1994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Electonics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12/1/2024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5/12/2024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Delivered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Jane Smith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7/20/1999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United States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-5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-250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2/28/2024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2/27/2024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Retunred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Bob Johnson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99999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3/10/1925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Electronics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1,000.00 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31/12/2024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31-Dec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Delivered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Alice   Lee 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11/2/1988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Female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Electronics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75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2024-02-30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3/1/2024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Returned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Tom Brown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11/15/2024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11/20/2024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Mary Davis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1/5/1989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Female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$250.00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11/10/2024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11/15/2024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Delivered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918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15E39-FFF8-F646-6800-FD01179A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6C00CC-3D8B-DC25-FF02-40AFADC247D4}"/>
              </a:ext>
            </a:extLst>
          </p:cNvPr>
          <p:cNvSpPr/>
          <p:nvPr/>
        </p:nvSpPr>
        <p:spPr>
          <a:xfrm>
            <a:off x="251548" y="406234"/>
            <a:ext cx="1148934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2.3. Date/Time Inconsistencies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Mixed date formats: "2024-12-31" vs. "31/12/2024" vs. "Dec 31, 2024"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Impossible or inconsistent dates: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2024-18-30 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OrderDate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later than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DeliveryDate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2.4. Categorical Inconsistencies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representations of the same category: "M", "Male", "male", "m" for gender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Misspelled or invalid category names:"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Retunred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instead of "Returned"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Nulls or "junk" values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required categorical fields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"N/A", "?", "Unknown"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149737-DE00-6E2F-2F62-61C8F5CE59C0}"/>
              </a:ext>
            </a:extLst>
          </p:cNvPr>
          <p:cNvGraphicFramePr>
            <a:graphicFrameLocks noGrp="1"/>
          </p:cNvGraphicFramePr>
          <p:nvPr/>
        </p:nvGraphicFramePr>
        <p:xfrm>
          <a:off x="60385" y="4675517"/>
          <a:ext cx="12007969" cy="2132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5503">
                  <a:extLst>
                    <a:ext uri="{9D8B030D-6E8A-4147-A177-3AD203B41FA5}">
                      <a16:colId xmlns:a16="http://schemas.microsoft.com/office/drawing/2014/main" val="4080107855"/>
                    </a:ext>
                  </a:extLst>
                </a:gridCol>
                <a:gridCol w="889358">
                  <a:extLst>
                    <a:ext uri="{9D8B030D-6E8A-4147-A177-3AD203B41FA5}">
                      <a16:colId xmlns:a16="http://schemas.microsoft.com/office/drawing/2014/main" val="3273747508"/>
                    </a:ext>
                  </a:extLst>
                </a:gridCol>
                <a:gridCol w="625483">
                  <a:extLst>
                    <a:ext uri="{9D8B030D-6E8A-4147-A177-3AD203B41FA5}">
                      <a16:colId xmlns:a16="http://schemas.microsoft.com/office/drawing/2014/main" val="854950501"/>
                    </a:ext>
                  </a:extLst>
                </a:gridCol>
                <a:gridCol w="889358">
                  <a:extLst>
                    <a:ext uri="{9D8B030D-6E8A-4147-A177-3AD203B41FA5}">
                      <a16:colId xmlns:a16="http://schemas.microsoft.com/office/drawing/2014/main" val="1345377566"/>
                    </a:ext>
                  </a:extLst>
                </a:gridCol>
                <a:gridCol w="1045730">
                  <a:extLst>
                    <a:ext uri="{9D8B030D-6E8A-4147-A177-3AD203B41FA5}">
                      <a16:colId xmlns:a16="http://schemas.microsoft.com/office/drawing/2014/main" val="2735235814"/>
                    </a:ext>
                  </a:extLst>
                </a:gridCol>
                <a:gridCol w="850266">
                  <a:extLst>
                    <a:ext uri="{9D8B030D-6E8A-4147-A177-3AD203B41FA5}">
                      <a16:colId xmlns:a16="http://schemas.microsoft.com/office/drawing/2014/main" val="1227048518"/>
                    </a:ext>
                  </a:extLst>
                </a:gridCol>
                <a:gridCol w="1211873">
                  <a:extLst>
                    <a:ext uri="{9D8B030D-6E8A-4147-A177-3AD203B41FA5}">
                      <a16:colId xmlns:a16="http://schemas.microsoft.com/office/drawing/2014/main" val="1940378781"/>
                    </a:ext>
                  </a:extLst>
                </a:gridCol>
                <a:gridCol w="654802">
                  <a:extLst>
                    <a:ext uri="{9D8B030D-6E8A-4147-A177-3AD203B41FA5}">
                      <a16:colId xmlns:a16="http://schemas.microsoft.com/office/drawing/2014/main" val="2431208349"/>
                    </a:ext>
                  </a:extLst>
                </a:gridCol>
                <a:gridCol w="886101">
                  <a:extLst>
                    <a:ext uri="{9D8B030D-6E8A-4147-A177-3AD203B41FA5}">
                      <a16:colId xmlns:a16="http://schemas.microsoft.com/office/drawing/2014/main" val="3845841688"/>
                    </a:ext>
                  </a:extLst>
                </a:gridCol>
                <a:gridCol w="811174">
                  <a:extLst>
                    <a:ext uri="{9D8B030D-6E8A-4147-A177-3AD203B41FA5}">
                      <a16:colId xmlns:a16="http://schemas.microsoft.com/office/drawing/2014/main" val="787790812"/>
                    </a:ext>
                  </a:extLst>
                </a:gridCol>
                <a:gridCol w="820946">
                  <a:extLst>
                    <a:ext uri="{9D8B030D-6E8A-4147-A177-3AD203B41FA5}">
                      <a16:colId xmlns:a16="http://schemas.microsoft.com/office/drawing/2014/main" val="832971964"/>
                    </a:ext>
                  </a:extLst>
                </a:gridCol>
                <a:gridCol w="881225">
                  <a:extLst>
                    <a:ext uri="{9D8B030D-6E8A-4147-A177-3AD203B41FA5}">
                      <a16:colId xmlns:a16="http://schemas.microsoft.com/office/drawing/2014/main" val="3430821773"/>
                    </a:ext>
                  </a:extLst>
                </a:gridCol>
                <a:gridCol w="760667">
                  <a:extLst>
                    <a:ext uri="{9D8B030D-6E8A-4147-A177-3AD203B41FA5}">
                      <a16:colId xmlns:a16="http://schemas.microsoft.com/office/drawing/2014/main" val="2480462831"/>
                    </a:ext>
                  </a:extLst>
                </a:gridCol>
                <a:gridCol w="625483">
                  <a:extLst>
                    <a:ext uri="{9D8B030D-6E8A-4147-A177-3AD203B41FA5}">
                      <a16:colId xmlns:a16="http://schemas.microsoft.com/office/drawing/2014/main" val="1430369010"/>
                    </a:ext>
                  </a:extLst>
                </a:gridCol>
              </a:tblGrid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CustomerID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Name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DateOfBirth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Country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Gender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ProductCategory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Quantity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UnitPrice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TotalPrice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OrderDate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DeliveryDate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Comments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072520505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John Doe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5/15/1994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12/1/2024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12/5/2024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Delivered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65241426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John Doe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5/15/1994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Electonics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12/1/2024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5/12/2024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Delivered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113894799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Jane Smith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7/20/1999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United States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-5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-250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2/28/2024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2/27/2024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Retunred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40664657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Bob Johnson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99999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3/10/1925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Electronics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1,000.00 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31/12/2024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31-Dec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Delivered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2177579978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Alice   Lee 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11/2/1988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Female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Electronics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75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225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2024-02-30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3/1/2024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Returned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3983257601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Tom Brown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11/15/2024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11/20/2024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1638316854"/>
                  </a:ext>
                </a:extLst>
              </a:tr>
              <a:tr h="2665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006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Mary Davis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1/5/1989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USA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Female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Electronics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$250.00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11/10/2024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11/15/2024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 Delivered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573" marR="8573" marT="8573" marB="0" anchor="b"/>
                </a:tc>
                <a:extLst>
                  <a:ext uri="{0D108BD9-81ED-4DB2-BD59-A6C34878D82A}">
                    <a16:rowId xmlns:a16="http://schemas.microsoft.com/office/drawing/2014/main" val="8284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150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C43535-2164-9F6A-9371-4D8547B3D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988" y="178261"/>
            <a:ext cx="6149877" cy="64883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D663B9-8C2A-16CD-A8B3-5062630AC5CF}"/>
              </a:ext>
            </a:extLst>
          </p:cNvPr>
          <p:cNvSpPr txBox="1"/>
          <p:nvPr/>
        </p:nvSpPr>
        <p:spPr>
          <a:xfrm>
            <a:off x="285135" y="1119671"/>
            <a:ext cx="468005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Exploratory Data Analysis (EDA)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statistical and graphical techniques to explore the data and understand its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structure, trends, relationships, and distributions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Tell the story through numbers and graphs.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analysis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when we extract data summary or statistics: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Mean, median, mode, variance, standard deviation, missing values, percentiles, anomalies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visualization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when it’s represented in graphs: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Histograms, boxplots, scatter plots, heatmaps, radar map,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treemap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2353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0753" y="1102090"/>
            <a:ext cx="1151609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Statistical Analysis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Applying statistical methods 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 hypotheses,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correlations,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assess relationships within the data.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Activities: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Hypothesis testing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(e.g., z-value test, t-value tests, chi-square tests)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hypothesis: “Salary is directly related to experience”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data, test if above hypothesis is confirmed or refuted.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Regression modeling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(e.g., linear regression, logistic regression): predicting numerical values, etc..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intervals and p-values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 distributions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(e.g., normal, binomial, etc. 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 in Python: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scipy.stats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statsmodels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72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6EF2-2D7B-B929-58CF-00F114762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5A13BD-EB08-111C-2F9A-30A66987CB90}"/>
              </a:ext>
            </a:extLst>
          </p:cNvPr>
          <p:cNvSpPr/>
          <p:nvPr/>
        </p:nvSpPr>
        <p:spPr>
          <a:xfrm>
            <a:off x="145305" y="1415248"/>
            <a:ext cx="1115923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Case study: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say a company wants to use linear regression to model employee salary based on education level, experience, and department.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logistic regression to model probability of resignation (yes/no) based on same factors.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Statistical analysis involves: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Building the model using training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Testing hypotheses (e.g., is experience a significant predictor of salary?)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Interpreting and communicating results to stakeholders</a:t>
            </a:r>
          </a:p>
        </p:txBody>
      </p:sp>
    </p:spTree>
    <p:extLst>
      <p:ext uri="{BB962C8B-B14F-4D97-AF65-F5344CB8AC3E}">
        <p14:creationId xmlns:p14="http://schemas.microsoft.com/office/powerpoint/2010/main" val="4063254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AFCBC8-BC80-8E65-B1C6-5D415BF97C03}"/>
              </a:ext>
            </a:extLst>
          </p:cNvPr>
          <p:cNvSpPr txBox="1"/>
          <p:nvPr/>
        </p:nvSpPr>
        <p:spPr>
          <a:xfrm>
            <a:off x="174599" y="1643671"/>
            <a:ext cx="61164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 Sales Trend Interpretation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Observation: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Monthly sales increased steadily from January to August,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followed by a decline in September and October.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5F0A1-C331-6777-E367-B4D8A61837C1}"/>
              </a:ext>
            </a:extLst>
          </p:cNvPr>
          <p:cNvSpPr txBox="1"/>
          <p:nvPr/>
        </p:nvSpPr>
        <p:spPr>
          <a:xfrm>
            <a:off x="1652088" y="177504"/>
            <a:ext cx="84902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Interpretation &amp; Reporting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Summarizing the findings and making conclusions based on the analysis, often through visualizations and reports.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940240-C1DB-2FB3-ADD8-089ECE2C3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713" y="1481328"/>
            <a:ext cx="5788287" cy="33542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776D0C-82B1-C177-8008-6CE20B47B00B}"/>
              </a:ext>
            </a:extLst>
          </p:cNvPr>
          <p:cNvSpPr txBox="1"/>
          <p:nvPr/>
        </p:nvSpPr>
        <p:spPr>
          <a:xfrm>
            <a:off x="0" y="4800606"/>
            <a:ext cx="1219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Interpretation: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upward trend indicates strong customer demand and effective marketing campaigns during the first half of the year. The decline in later months suggests possible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seasonality effects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reduced promotions, or increased competition.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Meaning: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Sales performance is influenced by time-based factors.</a:t>
            </a:r>
          </a:p>
        </p:txBody>
      </p:sp>
    </p:spTree>
    <p:extLst>
      <p:ext uri="{BB962C8B-B14F-4D97-AF65-F5344CB8AC3E}">
        <p14:creationId xmlns:p14="http://schemas.microsoft.com/office/powerpoint/2010/main" val="3178704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47FA2-3FBB-911C-6224-56F098543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CB8BDB-2DF4-6071-6B95-58F7EA9BD22C}"/>
              </a:ext>
            </a:extLst>
          </p:cNvPr>
          <p:cNvSpPr txBox="1"/>
          <p:nvPr/>
        </p:nvSpPr>
        <p:spPr>
          <a:xfrm>
            <a:off x="64871" y="1456180"/>
            <a:ext cx="732348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 Customer Behavior Interpretation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Observation: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Returning customers contribute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68% of total revenue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while new customers contribute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32%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Interpretation: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business heavily depends on existing customers rather than new customer acquisition.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Meaning: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retention strategies are effective, but growth may be limited without increasing new customer acquisition.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AACD83-C825-25DE-D783-20A936181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49" y="1207008"/>
            <a:ext cx="3896132" cy="340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44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649" y="365125"/>
            <a:ext cx="11835442" cy="1325563"/>
          </a:xfrm>
        </p:spPr>
        <p:txBody>
          <a:bodyPr/>
          <a:lstStyle/>
          <a:p>
            <a:r>
              <a:rPr lang="en-US" dirty="0"/>
              <a:t>Difference between Data Science and Data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161" y="1863216"/>
            <a:ext cx="8136855" cy="396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07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1200</TotalTime>
  <Words>2472</Words>
  <Application>Microsoft Office PowerPoint</Application>
  <PresentationFormat>Widescreen</PresentationFormat>
  <Paragraphs>829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Case study: For an e-commerce dataset, what type of question can DA answer ?</vt:lpstr>
      <vt:lpstr>Case study: For an e-commerce dataset, what type of question can DA answer ?</vt:lpstr>
      <vt:lpstr>Case study: For an e-commerce dataset, what type of question can DA answer ?</vt:lpstr>
      <vt:lpstr>Case study: For an e-commerce dataset, what type of question can DA answer ?</vt:lpstr>
      <vt:lpstr>Case study: For an e-commerce dataset, what type of question can DA answer ?</vt:lpstr>
      <vt:lpstr>Power of Visual Tools in DA(p1): There is a story inside this table. Find that story </vt:lpstr>
      <vt:lpstr>Power of Visual Tools in DA(p2): Below is a story/dashboard for HR department.  Dashboard would be different for other department like Accounting, IT, etc.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Difference between Data Science and Data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199</cp:revision>
  <dcterms:created xsi:type="dcterms:W3CDTF">2025-09-22T02:44:38Z</dcterms:created>
  <dcterms:modified xsi:type="dcterms:W3CDTF">2026-09-23T05:29:39Z</dcterms:modified>
</cp:coreProperties>
</file>