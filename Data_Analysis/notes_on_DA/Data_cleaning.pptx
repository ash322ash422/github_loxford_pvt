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76" r:id="rId2"/>
    <p:sldId id="260" r:id="rId3"/>
    <p:sldId id="378" r:id="rId4"/>
    <p:sldId id="383" r:id="rId5"/>
    <p:sldId id="368" r:id="rId6"/>
    <p:sldId id="379" r:id="rId7"/>
    <p:sldId id="359" r:id="rId8"/>
    <p:sldId id="380" r:id="rId9"/>
    <p:sldId id="381" r:id="rId10"/>
    <p:sldId id="382" r:id="rId11"/>
    <p:sldId id="377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A0014C9-0F3E-1AD8-D7FF-BDB101C1C65C}"/>
              </a:ext>
            </a:extLst>
          </p:cNvPr>
          <p:cNvSpPr txBox="1">
            <a:spLocks/>
          </p:cNvSpPr>
          <p:nvPr/>
        </p:nvSpPr>
        <p:spPr>
          <a:xfrm>
            <a:off x="2250333" y="1380744"/>
            <a:ext cx="5985363" cy="1819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Fixing Data types </a:t>
            </a:r>
          </a:p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Cleaning</a:t>
            </a:r>
          </a:p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Labelling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57211FF-B7F3-E222-14A5-5100BC14C902}"/>
              </a:ext>
            </a:extLst>
          </p:cNvPr>
          <p:cNvSpPr txBox="1"/>
          <p:nvPr/>
        </p:nvSpPr>
        <p:spPr>
          <a:xfrm>
            <a:off x="177358" y="238447"/>
            <a:ext cx="999801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is data cleaning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needed?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Raw data is often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noisy, incomplete, and inconsistent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which can negatively impact the accuracy and reliability of the insights derived from it.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E.g.: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tomatoo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-&gt; tomato, etc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C5DC04-A4F9-36E0-ED25-24388CD31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686429"/>
              </p:ext>
            </p:extLst>
          </p:nvPr>
        </p:nvGraphicFramePr>
        <p:xfrm>
          <a:off x="367284" y="1928551"/>
          <a:ext cx="10140696" cy="2811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8408">
                  <a:extLst>
                    <a:ext uri="{9D8B030D-6E8A-4147-A177-3AD203B41FA5}">
                      <a16:colId xmlns:a16="http://schemas.microsoft.com/office/drawing/2014/main" val="4080107855"/>
                    </a:ext>
                  </a:extLst>
                </a:gridCol>
                <a:gridCol w="2108416">
                  <a:extLst>
                    <a:ext uri="{9D8B030D-6E8A-4147-A177-3AD203B41FA5}">
                      <a16:colId xmlns:a16="http://schemas.microsoft.com/office/drawing/2014/main" val="3273747508"/>
                    </a:ext>
                  </a:extLst>
                </a:gridCol>
                <a:gridCol w="525893">
                  <a:extLst>
                    <a:ext uri="{9D8B030D-6E8A-4147-A177-3AD203B41FA5}">
                      <a16:colId xmlns:a16="http://schemas.microsoft.com/office/drawing/2014/main" val="854950501"/>
                    </a:ext>
                  </a:extLst>
                </a:gridCol>
                <a:gridCol w="1325043">
                  <a:extLst>
                    <a:ext uri="{9D8B030D-6E8A-4147-A177-3AD203B41FA5}">
                      <a16:colId xmlns:a16="http://schemas.microsoft.com/office/drawing/2014/main" val="134537756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73523581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1227048518"/>
                    </a:ext>
                  </a:extLst>
                </a:gridCol>
                <a:gridCol w="2459736">
                  <a:extLst>
                    <a:ext uri="{9D8B030D-6E8A-4147-A177-3AD203B41FA5}">
                      <a16:colId xmlns:a16="http://schemas.microsoft.com/office/drawing/2014/main" val="1940378781"/>
                    </a:ext>
                  </a:extLst>
                </a:gridCol>
              </a:tblGrid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 err="1">
                          <a:effectLst/>
                        </a:rPr>
                        <a:t>CustID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Name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Age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Date </a:t>
                      </a:r>
                    </a:p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Of Birth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Country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>
                          <a:effectLst/>
                        </a:rPr>
                        <a:t>Gender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Product Category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072520505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>
                          <a:effectLst/>
                        </a:rPr>
                        <a:t>John Doe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effectLst/>
                        </a:rPr>
                        <a:t>30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>
                          <a:effectLst/>
                        </a:rPr>
                        <a:t>5/15/1994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20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>
                          <a:effectLst/>
                        </a:rPr>
                        <a:t>Male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>
                          <a:effectLst/>
                        </a:rPr>
                        <a:t>Electronics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65241426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>
                          <a:effectLst/>
                        </a:rPr>
                        <a:t>John Doe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>
                          <a:effectLst/>
                        </a:rPr>
                        <a:t>30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effectLst/>
                        </a:rPr>
                        <a:t>5/15/1994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20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effectLst/>
                        </a:rPr>
                        <a:t>Male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Electonics</a:t>
                      </a:r>
                      <a:endParaRPr lang="en-US" sz="20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113894799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effectLst/>
                        </a:rPr>
                        <a:t>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effectLst/>
                        </a:rPr>
                        <a:t>Jane Smith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effectLst/>
                        </a:rPr>
                        <a:t>25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effectLst/>
                        </a:rPr>
                        <a:t>7/20/1999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United States</a:t>
                      </a:r>
                      <a:endParaRPr lang="en-US" sz="20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F</a:t>
                      </a:r>
                      <a:endParaRPr lang="en-US" sz="20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effectLst/>
                        </a:rPr>
                        <a:t>Electronics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40664657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>
                          <a:effectLst/>
                        </a:rPr>
                        <a:t>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effectLst/>
                        </a:rPr>
                        <a:t>Bob Johnson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999</a:t>
                      </a:r>
                      <a:endParaRPr lang="en-US" sz="20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3/10/1925</a:t>
                      </a:r>
                      <a:endParaRPr lang="en-US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r>
                        <a:rPr lang="en-US" sz="20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</a:t>
                      </a:r>
                      <a:endParaRPr lang="en-US" sz="20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</a:t>
                      </a:r>
                      <a:endParaRPr lang="en-US" sz="20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>
                          <a:effectLst/>
                        </a:rPr>
                        <a:t>Electronics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177579978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>
                          <a:effectLst/>
                        </a:rPr>
                        <a:t>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>
                          <a:effectLst/>
                        </a:rPr>
                        <a:t>Alice Lee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>
                          <a:effectLst/>
                        </a:rPr>
                        <a:t>11/2/1988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20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>
                          <a:effectLst/>
                        </a:rPr>
                        <a:t>Female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>
                          <a:effectLst/>
                        </a:rPr>
                        <a:t>Electronics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983257601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>
                          <a:effectLst/>
                        </a:rPr>
                        <a:t>Tom Brown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>
                          <a:effectLst/>
                        </a:rPr>
                        <a:t>40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20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</a:t>
                      </a:r>
                      <a:endParaRPr lang="en-US" sz="20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>
                          <a:effectLst/>
                        </a:rPr>
                        <a:t>Electronics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638316854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effectLst/>
                        </a:rPr>
                        <a:t>Mary Davis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>
                          <a:effectLst/>
                        </a:rPr>
                        <a:t>35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>
                          <a:effectLst/>
                        </a:rPr>
                        <a:t>1/5/1989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20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>
                          <a:effectLst/>
                        </a:rPr>
                        <a:t>Female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dirty="0">
                          <a:effectLst/>
                        </a:rPr>
                        <a:t>Electronics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284670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75BB793-4A26-3101-80E8-8A2F17232172}"/>
              </a:ext>
            </a:extLst>
          </p:cNvPr>
          <p:cNvSpPr txBox="1"/>
          <p:nvPr/>
        </p:nvSpPr>
        <p:spPr>
          <a:xfrm>
            <a:off x="1202436" y="4959388"/>
            <a:ext cx="6190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ML models are as good as the data itself: </a:t>
            </a:r>
          </a:p>
          <a:p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Good Data + Good Model -&gt; Good Accuracy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408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7A7A2-EDF9-F77E-C8A3-48D857EF2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3810043-9045-D8DA-4A2A-F15B386FD7B0}"/>
              </a:ext>
            </a:extLst>
          </p:cNvPr>
          <p:cNvSpPr txBox="1"/>
          <p:nvPr/>
        </p:nvSpPr>
        <p:spPr>
          <a:xfrm>
            <a:off x="177359" y="503623"/>
            <a:ext cx="773220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Steps in Data Cleaning</a:t>
            </a:r>
          </a:p>
          <a:p>
            <a:endParaRPr lang="en-US" sz="2400" b="1" i="1" u="sng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Are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any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duplicate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records in your dataset?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any, remove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Remove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irrelevant columns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 ID is generally irrelevant.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Remove columns that have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same constant values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Example: If a column,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Over18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has all True then remove this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column.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14D3746-FF08-96A0-F0B8-B7565A9CF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323551"/>
              </p:ext>
            </p:extLst>
          </p:nvPr>
        </p:nvGraphicFramePr>
        <p:xfrm>
          <a:off x="8156448" y="1387178"/>
          <a:ext cx="361188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200">
                  <a:extLst>
                    <a:ext uri="{9D8B030D-6E8A-4147-A177-3AD203B41FA5}">
                      <a16:colId xmlns:a16="http://schemas.microsoft.com/office/drawing/2014/main" val="3070031039"/>
                    </a:ext>
                  </a:extLst>
                </a:gridCol>
                <a:gridCol w="903029">
                  <a:extLst>
                    <a:ext uri="{9D8B030D-6E8A-4147-A177-3AD203B41FA5}">
                      <a16:colId xmlns:a16="http://schemas.microsoft.com/office/drawing/2014/main" val="3130475795"/>
                    </a:ext>
                  </a:extLst>
                </a:gridCol>
                <a:gridCol w="1523651">
                  <a:extLst>
                    <a:ext uri="{9D8B030D-6E8A-4147-A177-3AD203B41FA5}">
                      <a16:colId xmlns:a16="http://schemas.microsoft.com/office/drawing/2014/main" val="25850333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44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808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533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657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567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109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2BD62-4162-1FF9-2689-B6370C4E9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1F4A7CB-0945-D26A-ABD5-30C28F6D7A79}"/>
              </a:ext>
            </a:extLst>
          </p:cNvPr>
          <p:cNvSpPr txBox="1"/>
          <p:nvPr/>
        </p:nvSpPr>
        <p:spPr>
          <a:xfrm>
            <a:off x="177359" y="503623"/>
            <a:ext cx="77322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 type conversion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1) convert order_date column from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Text -&gt; Date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data type</a:t>
            </a:r>
          </a:p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2) Suppose age is using int64 datatype, then convert this to int8 because age has small range of numbers 0 - 150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B1D850-B0BE-E1AB-0CEF-BF16AFB55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095624"/>
              </p:ext>
            </p:extLst>
          </p:nvPr>
        </p:nvGraphicFramePr>
        <p:xfrm>
          <a:off x="7205472" y="2886794"/>
          <a:ext cx="44439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3070031039"/>
                    </a:ext>
                  </a:extLst>
                </a:gridCol>
                <a:gridCol w="1457293">
                  <a:extLst>
                    <a:ext uri="{9D8B030D-6E8A-4147-A177-3AD203B41FA5}">
                      <a16:colId xmlns:a16="http://schemas.microsoft.com/office/drawing/2014/main" val="3130475795"/>
                    </a:ext>
                  </a:extLst>
                </a:gridCol>
                <a:gridCol w="1523651">
                  <a:extLst>
                    <a:ext uri="{9D8B030D-6E8A-4147-A177-3AD203B41FA5}">
                      <a16:colId xmlns:a16="http://schemas.microsoft.com/office/drawing/2014/main" val="25850333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Order_date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44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02/15/2021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808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04/15/2023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533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11/19/2009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657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05/28/2021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567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768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BCC74-651C-9BD6-A7CD-DDFE47655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99FAA9-7FEE-6090-F673-120243188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803502"/>
              </p:ext>
            </p:extLst>
          </p:nvPr>
        </p:nvGraphicFramePr>
        <p:xfrm>
          <a:off x="502919" y="1474614"/>
          <a:ext cx="11237632" cy="411480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4032505">
                  <a:extLst>
                    <a:ext uri="{9D8B030D-6E8A-4147-A177-3AD203B41FA5}">
                      <a16:colId xmlns:a16="http://schemas.microsoft.com/office/drawing/2014/main" val="465765348"/>
                    </a:ext>
                  </a:extLst>
                </a:gridCol>
                <a:gridCol w="7205127">
                  <a:extLst>
                    <a:ext uri="{9D8B030D-6E8A-4147-A177-3AD203B41FA5}">
                      <a16:colId xmlns:a16="http://schemas.microsoft.com/office/drawing/2014/main" val="2085875628"/>
                    </a:ext>
                  </a:extLst>
                </a:gridCol>
              </a:tblGrid>
              <a:tr h="2806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Why It Matters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8523433"/>
                  </a:ext>
                </a:extLst>
              </a:tr>
              <a:tr h="6736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Numerical</a:t>
                      </a:r>
                    </a:p>
                    <a:p>
                      <a:pPr algn="l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(int / float)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Models perform mathematical operations → Scaling, distance calculation, gradient updates require numeric values.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887612"/>
                  </a:ext>
                </a:extLst>
              </a:tr>
              <a:tr h="477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Categorical</a:t>
                      </a:r>
                    </a:p>
                    <a:p>
                      <a:pPr algn="l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( object / string)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Must be encoded → ML algorithms don't understand text labels, only numbers.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0317886"/>
                  </a:ext>
                </a:extLst>
              </a:tr>
              <a:tr h="477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Datetime</a:t>
                      </a:r>
                      <a:endParaRPr lang="en-US" sz="24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Needs conversion to extract meaningful features like year, month, day, time difference.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327802"/>
                  </a:ext>
                </a:extLst>
              </a:tr>
              <a:tr h="477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Boolean</a:t>
                      </a:r>
                    </a:p>
                    <a:p>
                      <a:pPr algn="l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(True/False → 0/1)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Helps in simpler representation and </a:t>
                      </a: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faster computation</a:t>
                      </a: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52624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4FFAB12-B671-5B0B-4EE5-0275AA141F3C}"/>
              </a:ext>
            </a:extLst>
          </p:cNvPr>
          <p:cNvSpPr txBox="1"/>
          <p:nvPr/>
        </p:nvSpPr>
        <p:spPr>
          <a:xfrm>
            <a:off x="337723" y="231939"/>
            <a:ext cx="115680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Changing data types is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necessary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in Machine Learning preprocessing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ML models require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data in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correct format. </a:t>
            </a:r>
          </a:p>
        </p:txBody>
      </p:sp>
    </p:spTree>
    <p:extLst>
      <p:ext uri="{BB962C8B-B14F-4D97-AF65-F5344CB8AC3E}">
        <p14:creationId xmlns:p14="http://schemas.microsoft.com/office/powerpoint/2010/main" val="683852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0C40-778E-8395-E79C-E5D9F5BED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BC82E40-4FB9-BE83-4780-3B51EF0F870E}"/>
              </a:ext>
            </a:extLst>
          </p:cNvPr>
          <p:cNvSpPr txBox="1"/>
          <p:nvPr/>
        </p:nvSpPr>
        <p:spPr>
          <a:xfrm>
            <a:off x="312195" y="206276"/>
            <a:ext cx="1062246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happens if data types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are wrong ?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Meaningless results: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If "45" is stored as a string instead of numeric → It cannot be used for mean, standard deviation, feature scaling, distance, etc.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Slower training and high memory usage: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“45.0”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float takes more memory than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45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integer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488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0F18353-132A-FACE-042F-FD558DB22C25}"/>
              </a:ext>
            </a:extLst>
          </p:cNvPr>
          <p:cNvSpPr txBox="1"/>
          <p:nvPr/>
        </p:nvSpPr>
        <p:spPr>
          <a:xfrm>
            <a:off x="181355" y="108762"/>
            <a:ext cx="1182929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Tx/>
              <a:buChar char="-"/>
            </a:pP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 Remove Redundant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columns: Redundant columns like both </a:t>
            </a:r>
          </a:p>
          <a:p>
            <a:pPr marL="0" indent="0"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TotalPrice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Qty,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UnitPrice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 Here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TotalPrice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= Qty x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UnitPrice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, is redundant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 and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DateOfBirth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 Keep Age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 Handle Missing Values –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Fill with mean / median / mode , etc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Tx/>
              <a:buChar char="-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Tx/>
              <a:buChar char="-"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Handle Inconsistencies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Data doesn't follow expected formats, rules, or logic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883DE68-7DB6-3659-9862-021390E70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429823"/>
              </p:ext>
            </p:extLst>
          </p:nvPr>
        </p:nvGraphicFramePr>
        <p:xfrm>
          <a:off x="88390" y="4724090"/>
          <a:ext cx="12015220" cy="2002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6010">
                  <a:extLst>
                    <a:ext uri="{9D8B030D-6E8A-4147-A177-3AD203B41FA5}">
                      <a16:colId xmlns:a16="http://schemas.microsoft.com/office/drawing/2014/main" val="4080107855"/>
                    </a:ext>
                  </a:extLst>
                </a:gridCol>
                <a:gridCol w="1120027">
                  <a:extLst>
                    <a:ext uri="{9D8B030D-6E8A-4147-A177-3AD203B41FA5}">
                      <a16:colId xmlns:a16="http://schemas.microsoft.com/office/drawing/2014/main" val="3273747508"/>
                    </a:ext>
                  </a:extLst>
                </a:gridCol>
                <a:gridCol w="525893">
                  <a:extLst>
                    <a:ext uri="{9D8B030D-6E8A-4147-A177-3AD203B41FA5}">
                      <a16:colId xmlns:a16="http://schemas.microsoft.com/office/drawing/2014/main" val="854950501"/>
                    </a:ext>
                  </a:extLst>
                </a:gridCol>
                <a:gridCol w="989863">
                  <a:extLst>
                    <a:ext uri="{9D8B030D-6E8A-4147-A177-3AD203B41FA5}">
                      <a16:colId xmlns:a16="http://schemas.microsoft.com/office/drawing/2014/main" val="1345377566"/>
                    </a:ext>
                  </a:extLst>
                </a:gridCol>
                <a:gridCol w="1003529">
                  <a:extLst>
                    <a:ext uri="{9D8B030D-6E8A-4147-A177-3AD203B41FA5}">
                      <a16:colId xmlns:a16="http://schemas.microsoft.com/office/drawing/2014/main" val="2735235814"/>
                    </a:ext>
                  </a:extLst>
                </a:gridCol>
                <a:gridCol w="893612">
                  <a:extLst>
                    <a:ext uri="{9D8B030D-6E8A-4147-A177-3AD203B41FA5}">
                      <a16:colId xmlns:a16="http://schemas.microsoft.com/office/drawing/2014/main" val="1227048518"/>
                    </a:ext>
                  </a:extLst>
                </a:gridCol>
                <a:gridCol w="1212605">
                  <a:extLst>
                    <a:ext uri="{9D8B030D-6E8A-4147-A177-3AD203B41FA5}">
                      <a16:colId xmlns:a16="http://schemas.microsoft.com/office/drawing/2014/main" val="1940378781"/>
                    </a:ext>
                  </a:extLst>
                </a:gridCol>
                <a:gridCol w="655197">
                  <a:extLst>
                    <a:ext uri="{9D8B030D-6E8A-4147-A177-3AD203B41FA5}">
                      <a16:colId xmlns:a16="http://schemas.microsoft.com/office/drawing/2014/main" val="2431208349"/>
                    </a:ext>
                  </a:extLst>
                </a:gridCol>
                <a:gridCol w="886636">
                  <a:extLst>
                    <a:ext uri="{9D8B030D-6E8A-4147-A177-3AD203B41FA5}">
                      <a16:colId xmlns:a16="http://schemas.microsoft.com/office/drawing/2014/main" val="3845841688"/>
                    </a:ext>
                  </a:extLst>
                </a:gridCol>
                <a:gridCol w="811663">
                  <a:extLst>
                    <a:ext uri="{9D8B030D-6E8A-4147-A177-3AD203B41FA5}">
                      <a16:colId xmlns:a16="http://schemas.microsoft.com/office/drawing/2014/main" val="787790812"/>
                    </a:ext>
                  </a:extLst>
                </a:gridCol>
                <a:gridCol w="935247">
                  <a:extLst>
                    <a:ext uri="{9D8B030D-6E8A-4147-A177-3AD203B41FA5}">
                      <a16:colId xmlns:a16="http://schemas.microsoft.com/office/drawing/2014/main" val="832971964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343082177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480462831"/>
                    </a:ext>
                  </a:extLst>
                </a:gridCol>
                <a:gridCol w="280418">
                  <a:extLst>
                    <a:ext uri="{9D8B030D-6E8A-4147-A177-3AD203B41FA5}">
                      <a16:colId xmlns:a16="http://schemas.microsoft.com/office/drawing/2014/main" val="1430369010"/>
                    </a:ext>
                  </a:extLst>
                </a:gridCol>
              </a:tblGrid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err="1">
                          <a:effectLst/>
                        </a:rPr>
                        <a:t>CustID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Name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Age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Date 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Of Birth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Country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Gender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Product Category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Qty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Unit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Price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Total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Price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Order 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Date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Delivery Date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072520505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John Doe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5/15/1994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12/1/2024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12/5/2024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Delivered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65241426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John Doe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5/15/1994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Male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Electonics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12/1/2024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5/12/2024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Delivered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113894799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Jane Smith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7/20/1999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United States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F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Electronics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-5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-250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2/28/2024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2/27/2024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Retunred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40664657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Bob Johnson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99999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3/10/1925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$1,000.00 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31/12/2024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31-Dec-202</a:t>
                      </a:r>
                      <a:r>
                        <a:rPr lang="en-US" sz="1400" b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Delivered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177579978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Alice Lee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11/2/1988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Female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75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2024-02-30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3/1/2024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Returned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983257601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Tom Brown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40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11/15/2024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11/20/2024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?</a:t>
                      </a:r>
                      <a:endParaRPr lang="en-US" sz="1400" b="0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638316854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Mary Davis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1/5/1989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Female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Electronics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11/10/2024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11/15/2024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 Delivered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28467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1485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46CF1-2EA2-A4F5-6265-92B1CAD49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C71BB53-C2F0-DF45-9524-B2B71E829DB2}"/>
              </a:ext>
            </a:extLst>
          </p:cNvPr>
          <p:cNvSpPr txBox="1"/>
          <p:nvPr/>
        </p:nvSpPr>
        <p:spPr>
          <a:xfrm>
            <a:off x="301752" y="383370"/>
            <a:ext cx="1180185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Types of inconsistencies: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2.1. Text Inconsistencies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Different spellings or capitalization for the same value: "USA", 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usa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", "Usa", "United States"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 whitespace or invisible characters: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   New      York   " -&gt; "New York"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Typos: 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Electonics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 instead of "Electronics"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6A21521-4524-F61D-B86A-B81065B7A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429823"/>
              </p:ext>
            </p:extLst>
          </p:nvPr>
        </p:nvGraphicFramePr>
        <p:xfrm>
          <a:off x="88390" y="4724090"/>
          <a:ext cx="12015220" cy="2002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6010">
                  <a:extLst>
                    <a:ext uri="{9D8B030D-6E8A-4147-A177-3AD203B41FA5}">
                      <a16:colId xmlns:a16="http://schemas.microsoft.com/office/drawing/2014/main" val="4080107855"/>
                    </a:ext>
                  </a:extLst>
                </a:gridCol>
                <a:gridCol w="1120027">
                  <a:extLst>
                    <a:ext uri="{9D8B030D-6E8A-4147-A177-3AD203B41FA5}">
                      <a16:colId xmlns:a16="http://schemas.microsoft.com/office/drawing/2014/main" val="3273747508"/>
                    </a:ext>
                  </a:extLst>
                </a:gridCol>
                <a:gridCol w="525893">
                  <a:extLst>
                    <a:ext uri="{9D8B030D-6E8A-4147-A177-3AD203B41FA5}">
                      <a16:colId xmlns:a16="http://schemas.microsoft.com/office/drawing/2014/main" val="854950501"/>
                    </a:ext>
                  </a:extLst>
                </a:gridCol>
                <a:gridCol w="989863">
                  <a:extLst>
                    <a:ext uri="{9D8B030D-6E8A-4147-A177-3AD203B41FA5}">
                      <a16:colId xmlns:a16="http://schemas.microsoft.com/office/drawing/2014/main" val="1345377566"/>
                    </a:ext>
                  </a:extLst>
                </a:gridCol>
                <a:gridCol w="1003529">
                  <a:extLst>
                    <a:ext uri="{9D8B030D-6E8A-4147-A177-3AD203B41FA5}">
                      <a16:colId xmlns:a16="http://schemas.microsoft.com/office/drawing/2014/main" val="2735235814"/>
                    </a:ext>
                  </a:extLst>
                </a:gridCol>
                <a:gridCol w="893612">
                  <a:extLst>
                    <a:ext uri="{9D8B030D-6E8A-4147-A177-3AD203B41FA5}">
                      <a16:colId xmlns:a16="http://schemas.microsoft.com/office/drawing/2014/main" val="1227048518"/>
                    </a:ext>
                  </a:extLst>
                </a:gridCol>
                <a:gridCol w="1212605">
                  <a:extLst>
                    <a:ext uri="{9D8B030D-6E8A-4147-A177-3AD203B41FA5}">
                      <a16:colId xmlns:a16="http://schemas.microsoft.com/office/drawing/2014/main" val="1940378781"/>
                    </a:ext>
                  </a:extLst>
                </a:gridCol>
                <a:gridCol w="655197">
                  <a:extLst>
                    <a:ext uri="{9D8B030D-6E8A-4147-A177-3AD203B41FA5}">
                      <a16:colId xmlns:a16="http://schemas.microsoft.com/office/drawing/2014/main" val="2431208349"/>
                    </a:ext>
                  </a:extLst>
                </a:gridCol>
                <a:gridCol w="886636">
                  <a:extLst>
                    <a:ext uri="{9D8B030D-6E8A-4147-A177-3AD203B41FA5}">
                      <a16:colId xmlns:a16="http://schemas.microsoft.com/office/drawing/2014/main" val="3845841688"/>
                    </a:ext>
                  </a:extLst>
                </a:gridCol>
                <a:gridCol w="811663">
                  <a:extLst>
                    <a:ext uri="{9D8B030D-6E8A-4147-A177-3AD203B41FA5}">
                      <a16:colId xmlns:a16="http://schemas.microsoft.com/office/drawing/2014/main" val="787790812"/>
                    </a:ext>
                  </a:extLst>
                </a:gridCol>
                <a:gridCol w="935247">
                  <a:extLst>
                    <a:ext uri="{9D8B030D-6E8A-4147-A177-3AD203B41FA5}">
                      <a16:colId xmlns:a16="http://schemas.microsoft.com/office/drawing/2014/main" val="832971964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343082177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480462831"/>
                    </a:ext>
                  </a:extLst>
                </a:gridCol>
                <a:gridCol w="280418">
                  <a:extLst>
                    <a:ext uri="{9D8B030D-6E8A-4147-A177-3AD203B41FA5}">
                      <a16:colId xmlns:a16="http://schemas.microsoft.com/office/drawing/2014/main" val="1430369010"/>
                    </a:ext>
                  </a:extLst>
                </a:gridCol>
              </a:tblGrid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err="1">
                          <a:effectLst/>
                        </a:rPr>
                        <a:t>CustID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Name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Age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Date 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Of Birth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Country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Gender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Product Category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Qty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Unit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Price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Total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Price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Order 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Date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Delivery Date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072520505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John Doe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5/15/1994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12/1/2024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12/5/2024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Delivered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65241426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John Doe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5/15/1994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Male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Electonics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12/1/2024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5/12/2024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Delivered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113894799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Jane Smith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7/20/1999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United States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F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Electronics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-5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-250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2/28/2024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2/27/2024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Retunred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40664657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Bob Johnson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99999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3/10/1925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$1,000.00 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31/12/2024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31-Dec-202</a:t>
                      </a:r>
                      <a:r>
                        <a:rPr lang="en-US" sz="1400" b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Delivered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177579978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Alice Lee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11/2/1988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Female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75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2024-02-30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3/1/2024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Returned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983257601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Tom Brown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40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11/15/2024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11/20/2024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?</a:t>
                      </a:r>
                      <a:endParaRPr lang="en-US" sz="1400" b="0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638316854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Mary Davis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1/5/1989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Female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Electronics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11/10/2024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11/15/2024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 Delivered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28467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0026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D65C6-2F5B-9F38-77D7-E84EE30FB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7E3E68-7433-EEDA-FA5C-32D6A9F4C6A3}"/>
              </a:ext>
            </a:extLst>
          </p:cNvPr>
          <p:cNvSpPr/>
          <p:nvPr/>
        </p:nvSpPr>
        <p:spPr>
          <a:xfrm>
            <a:off x="475489" y="141361"/>
            <a:ext cx="1150891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2.2 Numeric Inconsistencies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Negative values where they don’t make sense: -5 in a Quantity column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Extremely large or small values (outliers or data entry errors): 99999 in an Age column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Commas or symbols in numbers:"1,000" or "$250.00" as strings instead of numeric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2.3. Date/Time Inconsistencies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Mixed date formats: "2024-12-31" vs. "31/12/2024" vs. "Dec 31, 2024"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Impossible or inconsistent dates: "2024-02-30" or 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OrderDate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 later than 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DeliveryDate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0E0BD4-3FC3-F478-CEAE-62CA1F770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836283"/>
              </p:ext>
            </p:extLst>
          </p:nvPr>
        </p:nvGraphicFramePr>
        <p:xfrm>
          <a:off x="88390" y="4724090"/>
          <a:ext cx="12015220" cy="2002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6010">
                  <a:extLst>
                    <a:ext uri="{9D8B030D-6E8A-4147-A177-3AD203B41FA5}">
                      <a16:colId xmlns:a16="http://schemas.microsoft.com/office/drawing/2014/main" val="4080107855"/>
                    </a:ext>
                  </a:extLst>
                </a:gridCol>
                <a:gridCol w="1120027">
                  <a:extLst>
                    <a:ext uri="{9D8B030D-6E8A-4147-A177-3AD203B41FA5}">
                      <a16:colId xmlns:a16="http://schemas.microsoft.com/office/drawing/2014/main" val="3273747508"/>
                    </a:ext>
                  </a:extLst>
                </a:gridCol>
                <a:gridCol w="525893">
                  <a:extLst>
                    <a:ext uri="{9D8B030D-6E8A-4147-A177-3AD203B41FA5}">
                      <a16:colId xmlns:a16="http://schemas.microsoft.com/office/drawing/2014/main" val="854950501"/>
                    </a:ext>
                  </a:extLst>
                </a:gridCol>
                <a:gridCol w="989863">
                  <a:extLst>
                    <a:ext uri="{9D8B030D-6E8A-4147-A177-3AD203B41FA5}">
                      <a16:colId xmlns:a16="http://schemas.microsoft.com/office/drawing/2014/main" val="1345377566"/>
                    </a:ext>
                  </a:extLst>
                </a:gridCol>
                <a:gridCol w="1003529">
                  <a:extLst>
                    <a:ext uri="{9D8B030D-6E8A-4147-A177-3AD203B41FA5}">
                      <a16:colId xmlns:a16="http://schemas.microsoft.com/office/drawing/2014/main" val="2735235814"/>
                    </a:ext>
                  </a:extLst>
                </a:gridCol>
                <a:gridCol w="893612">
                  <a:extLst>
                    <a:ext uri="{9D8B030D-6E8A-4147-A177-3AD203B41FA5}">
                      <a16:colId xmlns:a16="http://schemas.microsoft.com/office/drawing/2014/main" val="1227048518"/>
                    </a:ext>
                  </a:extLst>
                </a:gridCol>
                <a:gridCol w="1212605">
                  <a:extLst>
                    <a:ext uri="{9D8B030D-6E8A-4147-A177-3AD203B41FA5}">
                      <a16:colId xmlns:a16="http://schemas.microsoft.com/office/drawing/2014/main" val="1940378781"/>
                    </a:ext>
                  </a:extLst>
                </a:gridCol>
                <a:gridCol w="655197">
                  <a:extLst>
                    <a:ext uri="{9D8B030D-6E8A-4147-A177-3AD203B41FA5}">
                      <a16:colId xmlns:a16="http://schemas.microsoft.com/office/drawing/2014/main" val="2431208349"/>
                    </a:ext>
                  </a:extLst>
                </a:gridCol>
                <a:gridCol w="886636">
                  <a:extLst>
                    <a:ext uri="{9D8B030D-6E8A-4147-A177-3AD203B41FA5}">
                      <a16:colId xmlns:a16="http://schemas.microsoft.com/office/drawing/2014/main" val="3845841688"/>
                    </a:ext>
                  </a:extLst>
                </a:gridCol>
                <a:gridCol w="811663">
                  <a:extLst>
                    <a:ext uri="{9D8B030D-6E8A-4147-A177-3AD203B41FA5}">
                      <a16:colId xmlns:a16="http://schemas.microsoft.com/office/drawing/2014/main" val="787790812"/>
                    </a:ext>
                  </a:extLst>
                </a:gridCol>
                <a:gridCol w="935247">
                  <a:extLst>
                    <a:ext uri="{9D8B030D-6E8A-4147-A177-3AD203B41FA5}">
                      <a16:colId xmlns:a16="http://schemas.microsoft.com/office/drawing/2014/main" val="832971964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343082177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480462831"/>
                    </a:ext>
                  </a:extLst>
                </a:gridCol>
                <a:gridCol w="280418">
                  <a:extLst>
                    <a:ext uri="{9D8B030D-6E8A-4147-A177-3AD203B41FA5}">
                      <a16:colId xmlns:a16="http://schemas.microsoft.com/office/drawing/2014/main" val="1430369010"/>
                    </a:ext>
                  </a:extLst>
                </a:gridCol>
              </a:tblGrid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err="1">
                          <a:effectLst/>
                        </a:rPr>
                        <a:t>CustID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Name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Age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Date 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Of Birth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Country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Gender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Product Category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Qty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Unit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Price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Total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Price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Order 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Date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Delivery Date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072520505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John Doe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5/15/1994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12/1/2024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12/5/2024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Delivered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65241426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John Doe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5/15/1994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Male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Electonics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12/1/2024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5/12/2024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Delivered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113894799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Jane Smith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7/20/1999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United States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F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Electronics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-5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-250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2/28/2024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2/27/2024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Retunred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40664657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Bob Johnson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99999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3/10/1925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$1,000.00 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31/12/2024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31-Dec-202</a:t>
                      </a:r>
                      <a:r>
                        <a:rPr lang="en-US" sz="1400" b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Delivered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177579978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Alice Lee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11/2/1988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Female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75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2024-02-30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3/1/2024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Returned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983257601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Tom Brown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40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11/15/2024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11/20/2024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?</a:t>
                      </a:r>
                      <a:endParaRPr lang="en-US" sz="1400" b="0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638316854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Mary Davis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1/5/1989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Female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Electronics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11/10/2024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11/15/2024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 Delivered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28467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5807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A50C9-ADEA-D76F-6BA9-1973A3A28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019ABE-6347-6031-FDB3-85497C4D4E92}"/>
              </a:ext>
            </a:extLst>
          </p:cNvPr>
          <p:cNvSpPr/>
          <p:nvPr/>
        </p:nvSpPr>
        <p:spPr>
          <a:xfrm>
            <a:off x="237744" y="534553"/>
            <a:ext cx="1171651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2.4. Categorical Inconsistencies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 representations of the same category: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"M", "Male", "male", "m" for male gender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Misspelled or invalid category names: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Retunred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 instead of "Returned“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Nulls or "junk" values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required categorical fields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"N/A", "?", "Unknown"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248BFB-D87D-7A3B-D6AF-922D3E0E5C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429823"/>
              </p:ext>
            </p:extLst>
          </p:nvPr>
        </p:nvGraphicFramePr>
        <p:xfrm>
          <a:off x="88390" y="4724090"/>
          <a:ext cx="12015220" cy="2002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6010">
                  <a:extLst>
                    <a:ext uri="{9D8B030D-6E8A-4147-A177-3AD203B41FA5}">
                      <a16:colId xmlns:a16="http://schemas.microsoft.com/office/drawing/2014/main" val="4080107855"/>
                    </a:ext>
                  </a:extLst>
                </a:gridCol>
                <a:gridCol w="1120027">
                  <a:extLst>
                    <a:ext uri="{9D8B030D-6E8A-4147-A177-3AD203B41FA5}">
                      <a16:colId xmlns:a16="http://schemas.microsoft.com/office/drawing/2014/main" val="3273747508"/>
                    </a:ext>
                  </a:extLst>
                </a:gridCol>
                <a:gridCol w="525893">
                  <a:extLst>
                    <a:ext uri="{9D8B030D-6E8A-4147-A177-3AD203B41FA5}">
                      <a16:colId xmlns:a16="http://schemas.microsoft.com/office/drawing/2014/main" val="854950501"/>
                    </a:ext>
                  </a:extLst>
                </a:gridCol>
                <a:gridCol w="989863">
                  <a:extLst>
                    <a:ext uri="{9D8B030D-6E8A-4147-A177-3AD203B41FA5}">
                      <a16:colId xmlns:a16="http://schemas.microsoft.com/office/drawing/2014/main" val="1345377566"/>
                    </a:ext>
                  </a:extLst>
                </a:gridCol>
                <a:gridCol w="1003529">
                  <a:extLst>
                    <a:ext uri="{9D8B030D-6E8A-4147-A177-3AD203B41FA5}">
                      <a16:colId xmlns:a16="http://schemas.microsoft.com/office/drawing/2014/main" val="2735235814"/>
                    </a:ext>
                  </a:extLst>
                </a:gridCol>
                <a:gridCol w="893612">
                  <a:extLst>
                    <a:ext uri="{9D8B030D-6E8A-4147-A177-3AD203B41FA5}">
                      <a16:colId xmlns:a16="http://schemas.microsoft.com/office/drawing/2014/main" val="1227048518"/>
                    </a:ext>
                  </a:extLst>
                </a:gridCol>
                <a:gridCol w="1212605">
                  <a:extLst>
                    <a:ext uri="{9D8B030D-6E8A-4147-A177-3AD203B41FA5}">
                      <a16:colId xmlns:a16="http://schemas.microsoft.com/office/drawing/2014/main" val="1940378781"/>
                    </a:ext>
                  </a:extLst>
                </a:gridCol>
                <a:gridCol w="655197">
                  <a:extLst>
                    <a:ext uri="{9D8B030D-6E8A-4147-A177-3AD203B41FA5}">
                      <a16:colId xmlns:a16="http://schemas.microsoft.com/office/drawing/2014/main" val="2431208349"/>
                    </a:ext>
                  </a:extLst>
                </a:gridCol>
                <a:gridCol w="886636">
                  <a:extLst>
                    <a:ext uri="{9D8B030D-6E8A-4147-A177-3AD203B41FA5}">
                      <a16:colId xmlns:a16="http://schemas.microsoft.com/office/drawing/2014/main" val="3845841688"/>
                    </a:ext>
                  </a:extLst>
                </a:gridCol>
                <a:gridCol w="811663">
                  <a:extLst>
                    <a:ext uri="{9D8B030D-6E8A-4147-A177-3AD203B41FA5}">
                      <a16:colId xmlns:a16="http://schemas.microsoft.com/office/drawing/2014/main" val="787790812"/>
                    </a:ext>
                  </a:extLst>
                </a:gridCol>
                <a:gridCol w="935247">
                  <a:extLst>
                    <a:ext uri="{9D8B030D-6E8A-4147-A177-3AD203B41FA5}">
                      <a16:colId xmlns:a16="http://schemas.microsoft.com/office/drawing/2014/main" val="832971964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343082177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480462831"/>
                    </a:ext>
                  </a:extLst>
                </a:gridCol>
                <a:gridCol w="280418">
                  <a:extLst>
                    <a:ext uri="{9D8B030D-6E8A-4147-A177-3AD203B41FA5}">
                      <a16:colId xmlns:a16="http://schemas.microsoft.com/office/drawing/2014/main" val="1430369010"/>
                    </a:ext>
                  </a:extLst>
                </a:gridCol>
              </a:tblGrid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err="1">
                          <a:effectLst/>
                        </a:rPr>
                        <a:t>CustID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Name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Age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Date 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Of Birth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Country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Gender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Product Category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Qty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Unit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Price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Total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Price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Order </a:t>
                      </a:r>
                    </a:p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Date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Delivery Date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072520505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John Doe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5/15/1994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12/1/2024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12/5/2024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Delivered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65241426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John Doe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5/15/1994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Male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Electonics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12/1/2024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5/12/2024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Delivered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113894799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Jane Smith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7/20/1999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United States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F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Electronics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-5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50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-250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2/28/2024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2/27/2024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Retunred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40664657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Bob Johnson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99999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3/10/1925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$1,000.00 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31/12/2024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31-Dec-202</a:t>
                      </a:r>
                      <a:r>
                        <a:rPr lang="en-US" sz="1400" b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Delivered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177579978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Alice Lee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11/2/1988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Female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75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2024-02-30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3/1/2024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Returned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983257601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Tom Brown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40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Electronics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11/15/2024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11/20/2024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</a:rPr>
                        <a:t>?</a:t>
                      </a:r>
                      <a:endParaRPr lang="en-US" sz="1400" b="0" i="0" u="none" strike="noStrike" dirty="0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638316854"/>
                  </a:ext>
                </a:extLst>
              </a:tr>
              <a:tr h="2238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Mary Davis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35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1/5/1989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USA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Female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 dirty="0">
                          <a:effectLst/>
                        </a:rPr>
                        <a:t>Electronics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250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11/10/2024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11/15/2024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u="none" strike="noStrike">
                          <a:effectLst/>
                        </a:rPr>
                        <a:t> Delivered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28467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8783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03D11-4395-637B-CA64-2A85B79DE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F600C07-7508-464A-1C95-6EC2287E82D4}"/>
              </a:ext>
            </a:extLst>
          </p:cNvPr>
          <p:cNvSpPr txBox="1"/>
          <p:nvPr/>
        </p:nvSpPr>
        <p:spPr>
          <a:xfrm>
            <a:off x="396814" y="723079"/>
            <a:ext cx="999801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base"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Disadvantages of Data Cleaning in Machine Learning</a:t>
            </a:r>
          </a:p>
          <a:p>
            <a:pPr marL="0" indent="0" fontAlgn="base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Time-consuming: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Time-Consuming task, especially for large and complex datasets.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Error-prone: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cleaning can be error-prone, as it involves transforming and cleaning the data, which can result in the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loss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information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introduction of new errors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Cost and resource-intensive: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Resource-intensive process that requires significant time, effort, and expertise. It can also require the use of specialized software tools, which can add to the cost and complexity of data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cleaning.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827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1167</TotalTime>
  <Words>1279</Words>
  <Application>Microsoft Office PowerPoint</Application>
  <PresentationFormat>Widescreen</PresentationFormat>
  <Paragraphs>600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211</cp:revision>
  <dcterms:created xsi:type="dcterms:W3CDTF">2025-09-22T02:44:38Z</dcterms:created>
  <dcterms:modified xsi:type="dcterms:W3CDTF">2026-09-26T05:16:01Z</dcterms:modified>
</cp:coreProperties>
</file>