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60" r:id="rId4"/>
    <p:sldId id="261" r:id="rId5"/>
    <p:sldId id="262" r:id="rId6"/>
    <p:sldId id="258" r:id="rId7"/>
    <p:sldId id="259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5B9DE0-307C-44AA-9A14-2F76096277F0}" type="datetimeFigureOut">
              <a:rPr lang="en-IN" smtClean="0"/>
              <a:t>21-10-2026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143FF3-6C40-4107-91BB-30F1D3636F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595344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A318F-F6FC-6CB9-CEC6-8B2C0F5EE2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F8D7EB-E762-144D-1496-7468331365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756C53-114C-E36A-EC7E-AEE4C2084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A79C2-4FE3-4D0C-AFFB-D4FCE050D5EA}" type="datetimeFigureOut">
              <a:rPr lang="en-IN" smtClean="0"/>
              <a:t>21-10-2026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6CC798-66E8-807B-3021-DC717C7AB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AA2714-B223-D201-168E-C22AD1601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A53CF-6AA3-4EF6-9F05-A0E3059C583D}" type="slidenum">
              <a:rPr lang="en-IN" smtClean="0"/>
              <a:t>‹#›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14F047B-8F92-089C-65A3-54359B3F76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7778" y="0"/>
            <a:ext cx="1295581" cy="924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681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ECE76-A752-DB86-6111-A724232D2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6FD18-B58E-8C68-26E2-D916319862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7B759C-A1DF-256A-A624-6AB43BC66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A79C2-4FE3-4D0C-AFFB-D4FCE050D5EA}" type="datetimeFigureOut">
              <a:rPr lang="en-IN" smtClean="0"/>
              <a:t>21-10-2026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71A0AA-5283-1539-E76D-C2704EDF62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12E95-A93E-CFE8-0044-F1F7486E0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A53CF-6AA3-4EF6-9F05-A0E3059C583D}" type="slidenum">
              <a:rPr lang="en-IN" smtClean="0"/>
              <a:t>‹#›</a:t>
            </a:fld>
            <a:endParaRPr lang="en-IN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66CBFAF-C1DF-ECA1-1863-AD86FBEE5E5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70541" y="17252"/>
            <a:ext cx="1295581" cy="924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7466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A27E88-1D0E-B19B-1F3F-54DF859CE7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CE41C0-D975-5322-05EF-B6920E580E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D7B167-1E87-B93B-75F5-B33217202F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A79C2-4FE3-4D0C-AFFB-D4FCE050D5EA}" type="datetimeFigureOut">
              <a:rPr lang="en-IN" smtClean="0"/>
              <a:t>21-10-2026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25C962-1ABF-F876-C7DD-10E729E42A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8F7B4D-DA1F-E875-52B5-31F353F49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A53CF-6AA3-4EF6-9F05-A0E3059C58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817961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29F20-A52E-A2BE-2A7C-6344D8900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9F42D-CDDF-9B84-6F33-25E956F2DD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1E0A4D-E831-6562-11B2-108204244C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5F4BEA-6EB0-7F6F-4BFA-B7DACF40D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A79C2-4FE3-4D0C-AFFB-D4FCE050D5EA}" type="datetimeFigureOut">
              <a:rPr lang="en-IN" smtClean="0"/>
              <a:t>21-10-2026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52B4B5-D542-513B-5FBA-7C8418FD6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5B6383-F1CA-D4A5-9876-F4662B605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A53CF-6AA3-4EF6-9F05-A0E3059C58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27627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CE9337-2FE3-561C-F11A-2CFAC3C888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BCE1B6-2296-C3DE-5C27-E4057DFF68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B2FC1E-2D6D-269A-6807-421A1A9C42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1AD048-C515-130C-8F41-1BA8F41892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6D4A7E-CE1F-A02A-B92A-059B1FBCF3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6F77709-049A-79A2-F207-FBDA0CAA4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A79C2-4FE3-4D0C-AFFB-D4FCE050D5EA}" type="datetimeFigureOut">
              <a:rPr lang="en-IN" smtClean="0"/>
              <a:t>21-10-2026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DE0EB3-83C0-67E2-5DB9-42DE8540F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C97AB3-472A-1E13-8460-CE1D861DB6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A53CF-6AA3-4EF6-9F05-A0E3059C58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38641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1C5904-8D4D-4CA9-51B3-289632997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398302-AD6F-2CE6-7442-A4A9683D9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A79C2-4FE3-4D0C-AFFB-D4FCE050D5EA}" type="datetimeFigureOut">
              <a:rPr lang="en-IN" smtClean="0"/>
              <a:t>21-10-2026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391825-01DE-3CBB-BB33-763481B92D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D5401A-71EA-0313-9EA1-4DC2DB3F7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A53CF-6AA3-4EF6-9F05-A0E3059C58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89444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418529-294A-5688-70AC-D6FBB2669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A79C2-4FE3-4D0C-AFFB-D4FCE050D5EA}" type="datetimeFigureOut">
              <a:rPr lang="en-IN" smtClean="0"/>
              <a:t>21-10-2026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4AA024-38B7-5F32-1894-BCE21AADF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6C172C-4B71-8ABE-DD86-85DD12827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A53CF-6AA3-4EF6-9F05-A0E3059C58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61623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EB6CF-2A94-DBDD-0D5B-BC12FF3220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4B7D8E-A4B1-A435-346C-19A718C71F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7C91E7-453A-3F92-E638-C337924651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7C4555-70D3-F8F8-D355-E9BBC9EE67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A79C2-4FE3-4D0C-AFFB-D4FCE050D5EA}" type="datetimeFigureOut">
              <a:rPr lang="en-IN" smtClean="0"/>
              <a:t>21-10-2026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FE752C-45A1-07D0-4240-44893A0DB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DDD99C-C480-C729-0ECD-BEDE124E8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A53CF-6AA3-4EF6-9F05-A0E3059C58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800938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2D6FA-24BB-7D09-4CC6-34096CAB0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C60CEAA-CE7A-1BBF-BDA9-B387E6B8B163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19DD54-A44F-A8AE-D4E9-3EB63270C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06B6FD-902D-C3AC-D0C4-9E348A977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A79C2-4FE3-4D0C-AFFB-D4FCE050D5EA}" type="datetimeFigureOut">
              <a:rPr lang="en-IN" smtClean="0"/>
              <a:t>21-10-2026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D6BDC1-316A-149B-EB15-04EF4D60E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C24CD2-3C56-F4F2-57FB-AA714E502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A53CF-6AA3-4EF6-9F05-A0E3059C58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02738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3211F-A80A-9BAC-AAEC-067CCDA5C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AD45D-5A88-1664-D692-069F5C5D1A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32EEB4-BA21-8613-2094-72EEFB792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A79C2-4FE3-4D0C-AFFB-D4FCE050D5EA}" type="datetimeFigureOut">
              <a:rPr lang="en-IN" smtClean="0"/>
              <a:t>21-10-2026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ECE1A2-6F93-B3CC-3837-CD60E48CF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E5D015-61E2-E514-FC97-B282920D9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A53CF-6AA3-4EF6-9F05-A0E3059C58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829896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873E00-8852-9872-6FBC-53717455393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02A146-0150-F26C-6A86-1CA1FD558A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077DF1-F7DE-4956-6F82-6161FC022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A79C2-4FE3-4D0C-AFFB-D4FCE050D5EA}" type="datetimeFigureOut">
              <a:rPr lang="en-IN" smtClean="0"/>
              <a:t>21-10-2026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37416A-6960-5BA0-E825-F9D0B514C1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C46A03-0511-8AD1-FB2D-69E35F8F1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A53CF-6AA3-4EF6-9F05-A0E3059C58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677077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C5CC290-6B0D-273C-46F1-4BC1249347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E82B2E-EDC9-AB14-8964-7BE30F8DB1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485163-E247-487C-9AA7-8A7054D4AC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6">
                    <a:lumMod val="60000"/>
                    <a:lumOff val="40000"/>
                  </a:schemeClr>
                </a:solidFill>
              </a:defRPr>
            </a:lvl1pPr>
          </a:lstStyle>
          <a:p>
            <a:fld id="{6EBA79C2-4FE3-4D0C-AFFB-D4FCE050D5EA}" type="datetimeFigureOut">
              <a:rPr lang="en-IN" smtClean="0"/>
              <a:pPr/>
              <a:t>21-10-2026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A01BDB-2D7B-79FC-D492-3CFF792A8A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6">
                    <a:lumMod val="60000"/>
                    <a:lumOff val="4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C906FC-E273-8A6D-0868-0A52746784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6">
                    <a:lumMod val="60000"/>
                    <a:lumOff val="40000"/>
                  </a:schemeClr>
                </a:solidFill>
              </a:defRPr>
            </a:lvl1pPr>
          </a:lstStyle>
          <a:p>
            <a:fld id="{023A53CF-6AA3-4EF6-9F05-A0E3059C583D}" type="slidenum">
              <a:rPr lang="en-IN" smtClean="0"/>
              <a:pPr/>
              <a:t>‹#›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ED41020-D2C1-2A7A-0E52-12FBDC02B9EA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6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7778" y="0"/>
            <a:ext cx="1295581" cy="924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3822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2856D2E-28AB-C28A-429F-BE6A1B2F7297}"/>
              </a:ext>
            </a:extLst>
          </p:cNvPr>
          <p:cNvSpPr txBox="1"/>
          <p:nvPr/>
        </p:nvSpPr>
        <p:spPr>
          <a:xfrm>
            <a:off x="438912" y="2690336"/>
            <a:ext cx="1064361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sz="4000" b="1">
                <a:solidFill>
                  <a:schemeClr val="accent6">
                    <a:lumMod val="60000"/>
                    <a:lumOff val="40000"/>
                  </a:schemeClr>
                </a:solidFill>
              </a:rPr>
              <a:t>Machine Learning Operations</a:t>
            </a:r>
          </a:p>
          <a:p>
            <a:pPr algn="ctr">
              <a:buNone/>
            </a:pPr>
            <a:r>
              <a:rPr lang="en-IN" sz="4000" b="1">
                <a:solidFill>
                  <a:schemeClr val="accent6">
                    <a:lumMod val="60000"/>
                    <a:lumOff val="40000"/>
                  </a:schemeClr>
                </a:solidFill>
              </a:rPr>
              <a:t>MLOps</a:t>
            </a:r>
            <a:endParaRPr lang="en-IN" sz="400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68832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DF0F9D-9903-25F0-8A74-AC133B728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DB19A1F-E8D1-61E1-4D25-BCE1C60D168E}"/>
              </a:ext>
            </a:extLst>
          </p:cNvPr>
          <p:cNvSpPr txBox="1"/>
          <p:nvPr/>
        </p:nvSpPr>
        <p:spPr>
          <a:xfrm>
            <a:off x="118872" y="112448"/>
            <a:ext cx="1064361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400" b="1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MLOps? </a:t>
            </a:r>
          </a:p>
          <a:p>
            <a:pPr>
              <a:buNone/>
            </a:pPr>
            <a:endParaRPr lang="en-IN" sz="2400" b="1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IN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MLOps is a processes used to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Develop,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Deploy,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Monitor (and maintain)</a:t>
            </a:r>
          </a:p>
          <a:p>
            <a:pPr>
              <a:buNone/>
            </a:pPr>
            <a:r>
              <a:rPr lang="en-IN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machine learning models in real-world applications.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76BF32FD-FDAD-ACA8-8595-D9B4BDE6C99D}"/>
              </a:ext>
            </a:extLst>
          </p:cNvPr>
          <p:cNvSpPr/>
          <p:nvPr/>
        </p:nvSpPr>
        <p:spPr>
          <a:xfrm>
            <a:off x="256032" y="3310128"/>
            <a:ext cx="1737360" cy="15179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/>
              <a:t>Develop</a:t>
            </a:r>
            <a:endParaRPr lang="en-IN" sz="240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6FC4383-7F1E-4E7E-9E89-36370BE0C59D}"/>
              </a:ext>
            </a:extLst>
          </p:cNvPr>
          <p:cNvSpPr/>
          <p:nvPr/>
        </p:nvSpPr>
        <p:spPr>
          <a:xfrm>
            <a:off x="3948684" y="3310128"/>
            <a:ext cx="1737360" cy="15179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/>
              <a:t>Deploy</a:t>
            </a:r>
            <a:endParaRPr lang="en-IN" sz="240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CF946AD-4D03-3398-171F-7DA3B8AF0529}"/>
              </a:ext>
            </a:extLst>
          </p:cNvPr>
          <p:cNvSpPr/>
          <p:nvPr/>
        </p:nvSpPr>
        <p:spPr>
          <a:xfrm>
            <a:off x="2138172" y="5321808"/>
            <a:ext cx="1737360" cy="15179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/>
              <a:t>Monitor</a:t>
            </a:r>
            <a:endParaRPr lang="en-IN" sz="2400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54423705-D30D-83DB-1AD0-75C0A3F6067E}"/>
              </a:ext>
            </a:extLst>
          </p:cNvPr>
          <p:cNvSpPr/>
          <p:nvPr/>
        </p:nvSpPr>
        <p:spPr>
          <a:xfrm>
            <a:off x="2578608" y="3602736"/>
            <a:ext cx="557784" cy="52120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DF126E34-6A4C-DD3D-4EB6-04AAC898B4B7}"/>
              </a:ext>
            </a:extLst>
          </p:cNvPr>
          <p:cNvSpPr/>
          <p:nvPr/>
        </p:nvSpPr>
        <p:spPr>
          <a:xfrm rot="7512883">
            <a:off x="3875532" y="4828032"/>
            <a:ext cx="557784" cy="52120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1E0E1AB4-BF4D-5E29-F3E2-5FAD25AE5534}"/>
              </a:ext>
            </a:extLst>
          </p:cNvPr>
          <p:cNvSpPr/>
          <p:nvPr/>
        </p:nvSpPr>
        <p:spPr>
          <a:xfrm rot="13580051">
            <a:off x="1625974" y="4805171"/>
            <a:ext cx="557784" cy="52120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53128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92120F-C0A4-512E-83D7-D1CB19EF0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A71138C-18D1-1325-03A2-DFF98EBC6FC6}"/>
              </a:ext>
            </a:extLst>
          </p:cNvPr>
          <p:cNvSpPr txBox="1"/>
          <p:nvPr/>
        </p:nvSpPr>
        <p:spPr>
          <a:xfrm>
            <a:off x="287682" y="36928"/>
            <a:ext cx="1182811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400" b="1">
                <a:solidFill>
                  <a:schemeClr val="accent6">
                    <a:lumMod val="60000"/>
                    <a:lumOff val="40000"/>
                  </a:schemeClr>
                </a:solidFill>
              </a:rPr>
              <a:t>Development</a:t>
            </a:r>
          </a:p>
          <a:p>
            <a:endParaRPr lang="en-IN" sz="2400" b="1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1. </a:t>
            </a:r>
            <a:r>
              <a:rPr lang="en-IN" sz="2400" b="1">
                <a:solidFill>
                  <a:schemeClr val="accent6">
                    <a:lumMod val="60000"/>
                    <a:lumOff val="40000"/>
                  </a:schemeClr>
                </a:solidFill>
              </a:rPr>
              <a:t>Data Collection and Validation</a:t>
            </a:r>
            <a:r>
              <a:rPr lang="en-IN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:  Collect, validate, clean, and version the data.</a:t>
            </a:r>
          </a:p>
          <a:p>
            <a:r>
              <a:rPr lang="en-IN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2. </a:t>
            </a:r>
            <a:r>
              <a:rPr lang="en-IN" sz="2400" b="1">
                <a:solidFill>
                  <a:schemeClr val="accent6">
                    <a:lumMod val="60000"/>
                    <a:lumOff val="40000"/>
                  </a:schemeClr>
                </a:solidFill>
              </a:rPr>
              <a:t>Model Training and Experimentation</a:t>
            </a:r>
            <a:r>
              <a:rPr lang="en-IN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: Train models, tune hyperparameters, record metrics.</a:t>
            </a:r>
          </a:p>
          <a:p>
            <a:r>
              <a:rPr lang="en-IN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3. </a:t>
            </a:r>
            <a:r>
              <a:rPr lang="en-IN" sz="2400" b="1">
                <a:solidFill>
                  <a:schemeClr val="accent6">
                    <a:lumMod val="60000"/>
                    <a:lumOff val="40000"/>
                  </a:schemeClr>
                </a:solidFill>
              </a:rPr>
              <a:t>Model Evaluation and Approval</a:t>
            </a:r>
            <a:r>
              <a:rPr lang="en-IN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: Test accuracy, robustness, fairness, and biz requirements.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E257BE4-6F24-87B3-10BB-4D37698B3BE3}"/>
              </a:ext>
            </a:extLst>
          </p:cNvPr>
          <p:cNvSpPr/>
          <p:nvPr/>
        </p:nvSpPr>
        <p:spPr>
          <a:xfrm>
            <a:off x="256032" y="3310128"/>
            <a:ext cx="1737360" cy="15179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/>
              <a:t>Develop</a:t>
            </a:r>
            <a:endParaRPr lang="en-IN" sz="240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886FD61-5EB4-D803-38C4-933705B952D9}"/>
              </a:ext>
            </a:extLst>
          </p:cNvPr>
          <p:cNvSpPr/>
          <p:nvPr/>
        </p:nvSpPr>
        <p:spPr>
          <a:xfrm>
            <a:off x="3948684" y="3310128"/>
            <a:ext cx="1737360" cy="15179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/>
              <a:t>Deploy</a:t>
            </a:r>
            <a:endParaRPr lang="en-IN" sz="240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2FA068F8-62B7-FBCC-BFB2-D95DB71B15FA}"/>
              </a:ext>
            </a:extLst>
          </p:cNvPr>
          <p:cNvSpPr/>
          <p:nvPr/>
        </p:nvSpPr>
        <p:spPr>
          <a:xfrm>
            <a:off x="2138172" y="5321808"/>
            <a:ext cx="1737360" cy="15179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/>
              <a:t>Monitor</a:t>
            </a:r>
            <a:endParaRPr lang="en-IN" sz="2400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B3314D71-526D-EABD-55E8-6E48D1AD36F4}"/>
              </a:ext>
            </a:extLst>
          </p:cNvPr>
          <p:cNvSpPr/>
          <p:nvPr/>
        </p:nvSpPr>
        <p:spPr>
          <a:xfrm>
            <a:off x="2578608" y="3602736"/>
            <a:ext cx="557784" cy="52120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E59D4832-2646-DF37-9735-24027088BDE6}"/>
              </a:ext>
            </a:extLst>
          </p:cNvPr>
          <p:cNvSpPr/>
          <p:nvPr/>
        </p:nvSpPr>
        <p:spPr>
          <a:xfrm rot="7512883">
            <a:off x="3875532" y="4828032"/>
            <a:ext cx="557784" cy="52120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D05933D7-3AF3-EF84-4390-BC2CF27ECBAD}"/>
              </a:ext>
            </a:extLst>
          </p:cNvPr>
          <p:cNvSpPr/>
          <p:nvPr/>
        </p:nvSpPr>
        <p:spPr>
          <a:xfrm rot="13580051">
            <a:off x="1625974" y="4805171"/>
            <a:ext cx="557784" cy="52120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BD86805-629C-B9A0-4135-3A83F7CACD87}"/>
              </a:ext>
            </a:extLst>
          </p:cNvPr>
          <p:cNvSpPr txBox="1"/>
          <p:nvPr/>
        </p:nvSpPr>
        <p:spPr>
          <a:xfrm>
            <a:off x="6201741" y="4029146"/>
            <a:ext cx="609447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>
                <a:solidFill>
                  <a:schemeClr val="accent6">
                    <a:lumMod val="60000"/>
                    <a:lumOff val="40000"/>
                  </a:schemeClr>
                </a:solidFill>
              </a:rPr>
              <a:t>A real-world example: House price prediction</a:t>
            </a:r>
          </a:p>
          <a:p>
            <a:r>
              <a:rPr lang="en-IN">
                <a:solidFill>
                  <a:schemeClr val="accent6">
                    <a:lumMod val="60000"/>
                    <a:lumOff val="40000"/>
                  </a:schemeClr>
                </a:solidFill>
              </a:rPr>
              <a:t>Imagine a company builds a house price prediction application.</a:t>
            </a:r>
          </a:p>
          <a:p>
            <a:endParaRPr lang="en-IN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>
                <a:solidFill>
                  <a:schemeClr val="accent6">
                    <a:lumMod val="60000"/>
                    <a:lumOff val="40000"/>
                  </a:schemeClr>
                </a:solidFill>
              </a:rPr>
              <a:t>1) Collect historical house prices, locations, property sizes, and numbers of bedrooms.</a:t>
            </a:r>
          </a:p>
          <a:p>
            <a:endParaRPr lang="en-IN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>
                <a:solidFill>
                  <a:schemeClr val="accent6">
                    <a:lumMod val="60000"/>
                    <a:lumOff val="40000"/>
                  </a:schemeClr>
                </a:solidFill>
              </a:rPr>
              <a:t>2 ) Train a regression model </a:t>
            </a:r>
          </a:p>
          <a:p>
            <a:endParaRPr lang="en-IN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>
                <a:solidFill>
                  <a:schemeClr val="accent6">
                    <a:lumMod val="60000"/>
                    <a:lumOff val="40000"/>
                  </a:schemeClr>
                </a:solidFill>
              </a:rPr>
              <a:t>3) Evaluate it using metrics such as MAE and RMSE.</a:t>
            </a:r>
          </a:p>
        </p:txBody>
      </p:sp>
      <p:pic>
        <p:nvPicPr>
          <p:cNvPr id="41" name="Picture 40" descr="Projeto de Casa Popular - Funcional, Moderna e Acessível! - Serviços - João de Deus, Petrolina 1477269806 | OLX">
            <a:extLst>
              <a:ext uri="{FF2B5EF4-FFF2-40B4-BE49-F238E27FC236}">
                <a16:creationId xmlns:a16="http://schemas.microsoft.com/office/drawing/2014/main" id="{1BD80153-A45C-213D-91C8-2C2F7C4B59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07285" y="2035753"/>
            <a:ext cx="1737360" cy="173736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111460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0CA770-003F-AF1E-E751-D14EBB899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C63EF94-0236-B1F8-1EB6-80D0F1E2A7AE}"/>
              </a:ext>
            </a:extLst>
          </p:cNvPr>
          <p:cNvSpPr txBox="1"/>
          <p:nvPr/>
        </p:nvSpPr>
        <p:spPr>
          <a:xfrm>
            <a:off x="287682" y="36928"/>
            <a:ext cx="1182811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u="sng">
                <a:solidFill>
                  <a:schemeClr val="accent6">
                    <a:lumMod val="60000"/>
                    <a:lumOff val="40000"/>
                  </a:schemeClr>
                </a:solidFill>
              </a:rPr>
              <a:t>Deployment</a:t>
            </a:r>
          </a:p>
          <a:p>
            <a:endParaRPr lang="en-IN" sz="240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Expose the approved model through an API, application, or batch job.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E5E1DA2-F94C-F312-E42E-B71B9115FD0D}"/>
              </a:ext>
            </a:extLst>
          </p:cNvPr>
          <p:cNvSpPr/>
          <p:nvPr/>
        </p:nvSpPr>
        <p:spPr>
          <a:xfrm>
            <a:off x="256032" y="3310128"/>
            <a:ext cx="1737360" cy="15179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/>
              <a:t>Develop</a:t>
            </a:r>
            <a:endParaRPr lang="en-IN" sz="240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35FF29C-30C1-E2CF-B18F-2B5F3EE873A1}"/>
              </a:ext>
            </a:extLst>
          </p:cNvPr>
          <p:cNvSpPr/>
          <p:nvPr/>
        </p:nvSpPr>
        <p:spPr>
          <a:xfrm>
            <a:off x="3948684" y="3310128"/>
            <a:ext cx="1737360" cy="15179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/>
              <a:t>Deploy</a:t>
            </a:r>
            <a:endParaRPr lang="en-IN" sz="240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A338EBF-9423-F8E7-A2FA-36CF634C94D2}"/>
              </a:ext>
            </a:extLst>
          </p:cNvPr>
          <p:cNvSpPr/>
          <p:nvPr/>
        </p:nvSpPr>
        <p:spPr>
          <a:xfrm>
            <a:off x="2138172" y="5321808"/>
            <a:ext cx="1737360" cy="15179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/>
              <a:t>Monitor</a:t>
            </a:r>
            <a:endParaRPr lang="en-IN" sz="2400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8E37CB7F-3461-44F8-D8B1-0DEC73D07198}"/>
              </a:ext>
            </a:extLst>
          </p:cNvPr>
          <p:cNvSpPr/>
          <p:nvPr/>
        </p:nvSpPr>
        <p:spPr>
          <a:xfrm>
            <a:off x="2578608" y="3602736"/>
            <a:ext cx="557784" cy="52120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9DA63D79-8998-60AC-D6C5-8E65E0D69465}"/>
              </a:ext>
            </a:extLst>
          </p:cNvPr>
          <p:cNvSpPr/>
          <p:nvPr/>
        </p:nvSpPr>
        <p:spPr>
          <a:xfrm rot="7512883">
            <a:off x="3875532" y="4828032"/>
            <a:ext cx="557784" cy="52120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02E90B5B-CFCF-CF81-1D8A-0849A5D2C210}"/>
              </a:ext>
            </a:extLst>
          </p:cNvPr>
          <p:cNvSpPr/>
          <p:nvPr/>
        </p:nvSpPr>
        <p:spPr>
          <a:xfrm rot="13580051">
            <a:off x="1625974" y="4805171"/>
            <a:ext cx="557784" cy="52120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29E6BC2-D2C7-4D61-8DEE-0066FBA41428}"/>
              </a:ext>
            </a:extLst>
          </p:cNvPr>
          <p:cNvSpPr txBox="1"/>
          <p:nvPr/>
        </p:nvSpPr>
        <p:spPr>
          <a:xfrm>
            <a:off x="5686044" y="3863340"/>
            <a:ext cx="609447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</a:t>
            </a:r>
          </a:p>
          <a:p>
            <a:pPr>
              <a:buNone/>
            </a:pPr>
            <a:r>
              <a:rPr lang="en-IN">
                <a:solidFill>
                  <a:schemeClr val="accent6">
                    <a:lumMod val="60000"/>
                    <a:lumOff val="40000"/>
                  </a:schemeClr>
                </a:solidFill>
              </a:rPr>
              <a:t>Package the model in a container and expose a prediction endpoint using FastAPI.</a:t>
            </a:r>
          </a:p>
        </p:txBody>
      </p:sp>
      <p:pic>
        <p:nvPicPr>
          <p:cNvPr id="26" name="Picture 25" descr="Projeto de Casa Popular - Funcional, Moderna e Acessível! - Serviços - João de Deus, Petrolina 1477269806 | OLX">
            <a:extLst>
              <a:ext uri="{FF2B5EF4-FFF2-40B4-BE49-F238E27FC236}">
                <a16:creationId xmlns:a16="http://schemas.microsoft.com/office/drawing/2014/main" id="{ACF2A893-BD0B-C1E4-0A9F-1D0F4BC8AA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07285" y="2035753"/>
            <a:ext cx="1737360" cy="173736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641952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1AFD39-5E07-C924-9C0F-F35A95596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2DFA902-35E4-3EF6-07C6-71D0ED3AF2B5}"/>
              </a:ext>
            </a:extLst>
          </p:cNvPr>
          <p:cNvSpPr txBox="1"/>
          <p:nvPr/>
        </p:nvSpPr>
        <p:spPr>
          <a:xfrm>
            <a:off x="287682" y="36928"/>
            <a:ext cx="3132174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u="sng">
                <a:solidFill>
                  <a:schemeClr val="accent6">
                    <a:lumMod val="60000"/>
                    <a:lumOff val="40000"/>
                  </a:schemeClr>
                </a:solidFill>
              </a:rPr>
              <a:t>Monitoring</a:t>
            </a:r>
          </a:p>
          <a:p>
            <a:endParaRPr lang="en-IN" sz="240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Track model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quality,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data drift,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latency,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errors, and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resource usage.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8539DAB-CEEF-FAD6-CEB3-7063C4B28827}"/>
              </a:ext>
            </a:extLst>
          </p:cNvPr>
          <p:cNvSpPr/>
          <p:nvPr/>
        </p:nvSpPr>
        <p:spPr>
          <a:xfrm>
            <a:off x="256032" y="3310128"/>
            <a:ext cx="1737360" cy="15179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/>
              <a:t>Develop</a:t>
            </a:r>
            <a:endParaRPr lang="en-IN" sz="240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1ABF904-D0A6-F76D-5D00-71DF4766BF03}"/>
              </a:ext>
            </a:extLst>
          </p:cNvPr>
          <p:cNvSpPr/>
          <p:nvPr/>
        </p:nvSpPr>
        <p:spPr>
          <a:xfrm>
            <a:off x="3948684" y="3310128"/>
            <a:ext cx="1737360" cy="15179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/>
              <a:t>Deploy</a:t>
            </a:r>
            <a:endParaRPr lang="en-IN" sz="240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D235E68-2E3B-199F-24A6-1508DD802DDA}"/>
              </a:ext>
            </a:extLst>
          </p:cNvPr>
          <p:cNvSpPr/>
          <p:nvPr/>
        </p:nvSpPr>
        <p:spPr>
          <a:xfrm>
            <a:off x="2138172" y="5321808"/>
            <a:ext cx="1737360" cy="15179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/>
              <a:t>Monitor</a:t>
            </a:r>
            <a:endParaRPr lang="en-IN" sz="2400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BD66C6E5-3224-EA69-B287-265A0130430B}"/>
              </a:ext>
            </a:extLst>
          </p:cNvPr>
          <p:cNvSpPr/>
          <p:nvPr/>
        </p:nvSpPr>
        <p:spPr>
          <a:xfrm>
            <a:off x="2578608" y="3602736"/>
            <a:ext cx="557784" cy="52120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532C1E59-A0D4-618C-2D7B-FECCAAA0F224}"/>
              </a:ext>
            </a:extLst>
          </p:cNvPr>
          <p:cNvSpPr/>
          <p:nvPr/>
        </p:nvSpPr>
        <p:spPr>
          <a:xfrm rot="7512883">
            <a:off x="3875532" y="4828032"/>
            <a:ext cx="557784" cy="52120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E7F3C3CD-7558-493A-CA4E-7230855B52A3}"/>
              </a:ext>
            </a:extLst>
          </p:cNvPr>
          <p:cNvSpPr/>
          <p:nvPr/>
        </p:nvSpPr>
        <p:spPr>
          <a:xfrm rot="13580051">
            <a:off x="1625974" y="4805171"/>
            <a:ext cx="557784" cy="52120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BCFCDB8-96C9-9B56-BAFB-BD7746DC4C25}"/>
              </a:ext>
            </a:extLst>
          </p:cNvPr>
          <p:cNvSpPr txBox="1"/>
          <p:nvPr/>
        </p:nvSpPr>
        <p:spPr>
          <a:xfrm>
            <a:off x="4154424" y="5666815"/>
            <a:ext cx="609447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</a:t>
            </a:r>
          </a:p>
          <a:p>
            <a:pPr>
              <a:buNone/>
            </a:pPr>
            <a:r>
              <a:rPr lang="en-IN">
                <a:solidFill>
                  <a:schemeClr val="accent6">
                    <a:lumMod val="60000"/>
                    <a:lumOff val="40000"/>
                  </a:schemeClr>
                </a:solidFill>
              </a:rPr>
              <a:t>Monitor prediction latency and errors. If actual sale prices show that predictions have deteriorated, investigate and retrain when justified.</a:t>
            </a:r>
          </a:p>
        </p:txBody>
      </p:sp>
      <p:pic>
        <p:nvPicPr>
          <p:cNvPr id="26" name="Picture 25" descr="Projeto de Casa Popular - Funcional, Moderna e Acessível! - Serviços - João de Deus, Petrolina 1477269806 | OLX">
            <a:extLst>
              <a:ext uri="{FF2B5EF4-FFF2-40B4-BE49-F238E27FC236}">
                <a16:creationId xmlns:a16="http://schemas.microsoft.com/office/drawing/2014/main" id="{1599FB0E-D79C-EE6A-A09C-B37D5DA539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07285" y="2035753"/>
            <a:ext cx="1737360" cy="173736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097454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3ECD5D-704C-5E47-8E9F-837EAD4BF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0ED9B0D-3D27-3E39-0B4D-BADDCF3BB5F3}"/>
              </a:ext>
            </a:extLst>
          </p:cNvPr>
          <p:cNvSpPr txBox="1"/>
          <p:nvPr/>
        </p:nvSpPr>
        <p:spPr>
          <a:xfrm>
            <a:off x="530352" y="221456"/>
            <a:ext cx="106436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IN" sz="2400" b="1">
                <a:solidFill>
                  <a:schemeClr val="accent6">
                    <a:lumMod val="60000"/>
                    <a:lumOff val="40000"/>
                  </a:schemeClr>
                </a:solidFill>
              </a:rPr>
              <a:t>How is it different from Machine Learning 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A9583D-9F94-9E9F-9B29-0083D25675D9}"/>
              </a:ext>
            </a:extLst>
          </p:cNvPr>
          <p:cNvSpPr txBox="1"/>
          <p:nvPr/>
        </p:nvSpPr>
        <p:spPr>
          <a:xfrm>
            <a:off x="203454" y="1612682"/>
            <a:ext cx="521893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IN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Machine Learning (ML) focuses on </a:t>
            </a:r>
            <a:r>
              <a:rPr lang="en-IN" sz="2400" b="1" i="1">
                <a:solidFill>
                  <a:schemeClr val="accent6">
                    <a:lumMod val="60000"/>
                    <a:lumOff val="40000"/>
                  </a:schemeClr>
                </a:solidFill>
              </a:rPr>
              <a:t>building a model </a:t>
            </a:r>
            <a:r>
              <a:rPr lang="en-IN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that learns from data.</a:t>
            </a:r>
          </a:p>
          <a:p>
            <a:pPr lvl="0"/>
            <a:endParaRPr lang="en-IN" sz="240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For example, you build a ML model that predicts house prices with 92% accuracy.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4E80B9-1601-2D61-50AB-0D3A386A3AE2}"/>
              </a:ext>
            </a:extLst>
          </p:cNvPr>
          <p:cNvSpPr txBox="1"/>
          <p:nvPr/>
        </p:nvSpPr>
        <p:spPr>
          <a:xfrm>
            <a:off x="5852160" y="1612682"/>
            <a:ext cx="609447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IN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MLOps focuses on making that model available to users, keeping it reliable, monitoring its performance, and updating it when necessary.</a:t>
            </a:r>
          </a:p>
          <a:p>
            <a:endParaRPr lang="en-IN" sz="240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MLOps helps you </a:t>
            </a:r>
            <a:r>
              <a:rPr lang="en-IN" sz="2400" b="1" i="1">
                <a:solidFill>
                  <a:schemeClr val="accent6">
                    <a:lumMod val="60000"/>
                    <a:lumOff val="40000"/>
                  </a:schemeClr>
                </a:solidFill>
              </a:rPr>
              <a:t>deploy that model into a website, serve predictions to users, track errors, monitor changing data, and retrain </a:t>
            </a:r>
            <a:r>
              <a:rPr lang="en-IN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the model when needed.</a:t>
            </a:r>
          </a:p>
          <a:p>
            <a:pPr lvl="0"/>
            <a:endParaRPr lang="en-IN" sz="240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460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EFA0BE-EA72-8E77-57A9-BC7D9365B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428C246-90D3-2BB6-0BC9-02BA715370EE}"/>
              </a:ext>
            </a:extLst>
          </p:cNvPr>
          <p:cNvSpPr txBox="1"/>
          <p:nvPr/>
        </p:nvSpPr>
        <p:spPr>
          <a:xfrm>
            <a:off x="530352" y="221456"/>
            <a:ext cx="10643616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>
                <a:solidFill>
                  <a:schemeClr val="accent6">
                    <a:lumMod val="60000"/>
                    <a:lumOff val="40000"/>
                  </a:schemeClr>
                </a:solidFill>
              </a:rPr>
              <a:t>Why do we need MLOps?</a:t>
            </a:r>
          </a:p>
          <a:p>
            <a:endParaRPr lang="en-IN" sz="2400" b="1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Suppose you train a model. It works well during testing, but your organization wants thousands of customers to use it every day.</a:t>
            </a:r>
          </a:p>
          <a:p>
            <a:r>
              <a:rPr lang="en-IN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Several problems can arise: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How do you deploy the model to a server?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What happens when new data changes the model's accuracy?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How do you retrain the model automatically?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How do you track which model version is currently deployed?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How do you roll back if a new model performs poorly?</a:t>
            </a:r>
          </a:p>
          <a:p>
            <a:r>
              <a:rPr lang="en-IN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MLOps addresses these challenges.</a:t>
            </a:r>
          </a:p>
        </p:txBody>
      </p:sp>
    </p:spTree>
    <p:extLst>
      <p:ext uri="{BB962C8B-B14F-4D97-AF65-F5344CB8AC3E}">
        <p14:creationId xmlns:p14="http://schemas.microsoft.com/office/powerpoint/2010/main" val="25814212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5B74C4-1F89-F839-4768-4EA91744B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602890E-4390-C44E-B027-784399236DE0}"/>
              </a:ext>
            </a:extLst>
          </p:cNvPr>
          <p:cNvSpPr txBox="1"/>
          <p:nvPr/>
        </p:nvSpPr>
        <p:spPr>
          <a:xfrm>
            <a:off x="530352" y="221456"/>
            <a:ext cx="106436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Important MLOps concepts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8258388-0636-34A8-0D42-AAB85DCC44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4716228"/>
              </p:ext>
            </p:extLst>
          </p:nvPr>
        </p:nvGraphicFramePr>
        <p:xfrm>
          <a:off x="152013" y="1117422"/>
          <a:ext cx="9138291" cy="4623155"/>
        </p:xfrm>
        <a:graphic>
          <a:graphicData uri="http://schemas.openxmlformats.org/drawingml/2006/table">
            <a:tbl>
              <a:tblPr>
                <a:tableStyleId>{D7AC3CCA-C797-4891-BE02-D94E43425B78}</a:tableStyleId>
              </a:tblPr>
              <a:tblGrid>
                <a:gridCol w="2518035">
                  <a:extLst>
                    <a:ext uri="{9D8B030D-6E8A-4147-A177-3AD203B41FA5}">
                      <a16:colId xmlns:a16="http://schemas.microsoft.com/office/drawing/2014/main" val="2835171415"/>
                    </a:ext>
                  </a:extLst>
                </a:gridCol>
                <a:gridCol w="4773168">
                  <a:extLst>
                    <a:ext uri="{9D8B030D-6E8A-4147-A177-3AD203B41FA5}">
                      <a16:colId xmlns:a16="http://schemas.microsoft.com/office/drawing/2014/main" val="1128721257"/>
                    </a:ext>
                  </a:extLst>
                </a:gridCol>
                <a:gridCol w="1847088">
                  <a:extLst>
                    <a:ext uri="{9D8B030D-6E8A-4147-A177-3AD203B41FA5}">
                      <a16:colId xmlns:a16="http://schemas.microsoft.com/office/drawing/2014/main" val="1205172411"/>
                    </a:ext>
                  </a:extLst>
                </a:gridCol>
              </a:tblGrid>
              <a:tr h="3053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u="sng"/>
                        <a:t>Concept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u="sng"/>
                        <a:t>What it means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u="sng"/>
                        <a:t>Example tool</a:t>
                      </a:r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780111803"/>
                  </a:ext>
                </a:extLst>
              </a:tr>
              <a:tr h="5343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/>
                        <a:t>Version control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Track changes in code and configurations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Git</a:t>
                      </a:r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308017171"/>
                  </a:ext>
                </a:extLst>
              </a:tr>
              <a:tr h="5343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/>
                        <a:t>Data and model versioning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Track datasets, model files, and their lineage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DVC</a:t>
                      </a:r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2946002173"/>
                  </a:ext>
                </a:extLst>
              </a:tr>
              <a:tr h="5343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/>
                        <a:t>Experiment tracking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Record parameters, metrics, and model runs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MLflow</a:t>
                      </a:r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58469734"/>
                  </a:ext>
                </a:extLst>
              </a:tr>
              <a:tr h="5343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/>
                        <a:t>CI/CD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Automate testing and deployment workflows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GitHub Actions</a:t>
                      </a:r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3783526788"/>
                  </a:ext>
                </a:extLst>
              </a:tr>
              <a:tr h="5343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/>
                        <a:t>Containerization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Package the application and its dependencies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Docker</a:t>
                      </a:r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1824672281"/>
                  </a:ext>
                </a:extLst>
              </a:tr>
              <a:tr h="3053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/>
                        <a:t>Model serving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Provide predictions to applications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FastAPI</a:t>
                      </a:r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319864080"/>
                  </a:ext>
                </a:extLst>
              </a:tr>
              <a:tr h="5343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/>
                        <a:t>Orchestration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Schedule and coordinate pipeline steps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Apache Airflow</a:t>
                      </a:r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2299684900"/>
                  </a:ext>
                </a:extLst>
              </a:tr>
              <a:tr h="5343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/>
                        <a:t>Monitoring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Track reliability, data quality, and model performance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Evidently AI</a:t>
                      </a:r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36643206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508729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</TotalTime>
  <Words>491</Words>
  <Application>Microsoft Office PowerPoint</Application>
  <PresentationFormat>Widescreen</PresentationFormat>
  <Paragraphs>94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24</cp:revision>
  <dcterms:created xsi:type="dcterms:W3CDTF">2026-09-25T02:37:34Z</dcterms:created>
  <dcterms:modified xsi:type="dcterms:W3CDTF">2026-10-21T17:28:14Z</dcterms:modified>
</cp:coreProperties>
</file>