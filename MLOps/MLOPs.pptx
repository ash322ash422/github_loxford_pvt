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1" r:id="rId5"/>
    <p:sldId id="262" r:id="rId6"/>
    <p:sldId id="258" r:id="rId7"/>
    <p:sldId id="259" r:id="rId8"/>
    <p:sldId id="265" r:id="rId9"/>
    <p:sldId id="266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856D2E-28AB-C28A-429F-BE6A1B2F7297}"/>
              </a:ext>
            </a:extLst>
          </p:cNvPr>
          <p:cNvSpPr txBox="1"/>
          <p:nvPr/>
        </p:nvSpPr>
        <p:spPr>
          <a:xfrm>
            <a:off x="438912" y="2690336"/>
            <a:ext cx="106436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Learning Operations</a:t>
            </a:r>
          </a:p>
          <a:p>
            <a:pPr algn="ctr">
              <a:buNone/>
            </a:pPr>
            <a:r>
              <a:rPr lang="en-IN" sz="4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MLOps</a:t>
            </a:r>
            <a:endParaRPr lang="en-IN" sz="40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DF0F9D-9903-25F0-8A74-AC133B72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B19A1F-E8D1-61E1-4D25-BCE1C60D168E}"/>
              </a:ext>
            </a:extLst>
          </p:cNvPr>
          <p:cNvSpPr txBox="1"/>
          <p:nvPr/>
        </p:nvSpPr>
        <p:spPr>
          <a:xfrm>
            <a:off x="118872" y="112448"/>
            <a:ext cx="106436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MLOps? </a:t>
            </a:r>
          </a:p>
          <a:p>
            <a:pPr>
              <a:buNone/>
            </a:pP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MLOps is a processes used 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Develop,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Monitor (and maintain)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learning models in real-world applications.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6BF32FD-FDAD-ACA8-8595-D9B4BDE6C99D}"/>
              </a:ext>
            </a:extLst>
          </p:cNvPr>
          <p:cNvSpPr/>
          <p:nvPr/>
        </p:nvSpPr>
        <p:spPr>
          <a:xfrm>
            <a:off x="256032" y="3310128"/>
            <a:ext cx="1737360" cy="15179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Develop</a:t>
            </a:r>
            <a:endParaRPr lang="en-IN" sz="24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6FC4383-7F1E-4E7E-9E89-36370BE0C59D}"/>
              </a:ext>
            </a:extLst>
          </p:cNvPr>
          <p:cNvSpPr/>
          <p:nvPr/>
        </p:nvSpPr>
        <p:spPr>
          <a:xfrm>
            <a:off x="3948684" y="3310128"/>
            <a:ext cx="1737360" cy="15179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Deploy</a:t>
            </a:r>
            <a:endParaRPr lang="en-IN" sz="24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F946AD-4D03-3398-171F-7DA3B8AF0529}"/>
              </a:ext>
            </a:extLst>
          </p:cNvPr>
          <p:cNvSpPr/>
          <p:nvPr/>
        </p:nvSpPr>
        <p:spPr>
          <a:xfrm>
            <a:off x="2138172" y="5321808"/>
            <a:ext cx="1737360" cy="15179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Monitor</a:t>
            </a:r>
            <a:endParaRPr lang="en-IN" sz="24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4423705-D30D-83DB-1AD0-75C0A3F6067E}"/>
              </a:ext>
            </a:extLst>
          </p:cNvPr>
          <p:cNvSpPr/>
          <p:nvPr/>
        </p:nvSpPr>
        <p:spPr>
          <a:xfrm>
            <a:off x="2578608" y="3602736"/>
            <a:ext cx="557784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F126E34-6A4C-DD3D-4EB6-04AAC898B4B7}"/>
              </a:ext>
            </a:extLst>
          </p:cNvPr>
          <p:cNvSpPr/>
          <p:nvPr/>
        </p:nvSpPr>
        <p:spPr>
          <a:xfrm rot="7512883">
            <a:off x="3875532" y="4828032"/>
            <a:ext cx="557784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E0E1AB4-BF4D-5E29-F3E2-5FAD25AE5534}"/>
              </a:ext>
            </a:extLst>
          </p:cNvPr>
          <p:cNvSpPr/>
          <p:nvPr/>
        </p:nvSpPr>
        <p:spPr>
          <a:xfrm rot="13580051">
            <a:off x="1625974" y="4805171"/>
            <a:ext cx="557784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312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92120F-C0A4-512E-83D7-D1CB19EF0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71138C-18D1-1325-03A2-DFF98EBC6FC6}"/>
              </a:ext>
            </a:extLst>
          </p:cNvPr>
          <p:cNvSpPr txBox="1"/>
          <p:nvPr/>
        </p:nvSpPr>
        <p:spPr>
          <a:xfrm>
            <a:off x="287682" y="36928"/>
            <a:ext cx="1182811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Development</a:t>
            </a:r>
          </a:p>
          <a:p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1.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 Collection and Validation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:  Collect, validate, clean, and version the data.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2.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Model Training and Experimentation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: Train models, tune hyperparameters, record metrics.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3.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Model Evaluation and Approval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: Test accuracy, robustness, fairness, and biz requirements.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257BE4-6F24-87B3-10BB-4D37698B3BE3}"/>
              </a:ext>
            </a:extLst>
          </p:cNvPr>
          <p:cNvSpPr/>
          <p:nvPr/>
        </p:nvSpPr>
        <p:spPr>
          <a:xfrm>
            <a:off x="256032" y="3310128"/>
            <a:ext cx="1737360" cy="15179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Develop</a:t>
            </a:r>
            <a:endParaRPr lang="en-IN" sz="24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86FD61-5EB4-D803-38C4-933705B952D9}"/>
              </a:ext>
            </a:extLst>
          </p:cNvPr>
          <p:cNvSpPr/>
          <p:nvPr/>
        </p:nvSpPr>
        <p:spPr>
          <a:xfrm>
            <a:off x="3948684" y="3310128"/>
            <a:ext cx="1737360" cy="15179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Deploy</a:t>
            </a:r>
            <a:endParaRPr lang="en-IN" sz="24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FA068F8-62B7-FBCC-BFB2-D95DB71B15FA}"/>
              </a:ext>
            </a:extLst>
          </p:cNvPr>
          <p:cNvSpPr/>
          <p:nvPr/>
        </p:nvSpPr>
        <p:spPr>
          <a:xfrm>
            <a:off x="2138172" y="5321808"/>
            <a:ext cx="1737360" cy="15179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Monitor</a:t>
            </a:r>
            <a:endParaRPr lang="en-IN" sz="240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3314D71-526D-EABD-55E8-6E48D1AD36F4}"/>
              </a:ext>
            </a:extLst>
          </p:cNvPr>
          <p:cNvSpPr/>
          <p:nvPr/>
        </p:nvSpPr>
        <p:spPr>
          <a:xfrm>
            <a:off x="2578608" y="3602736"/>
            <a:ext cx="557784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59D4832-2646-DF37-9735-24027088BDE6}"/>
              </a:ext>
            </a:extLst>
          </p:cNvPr>
          <p:cNvSpPr/>
          <p:nvPr/>
        </p:nvSpPr>
        <p:spPr>
          <a:xfrm rot="7512883">
            <a:off x="3875532" y="4828032"/>
            <a:ext cx="557784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05933D7-3AF3-EF84-4390-BC2CF27ECBAD}"/>
              </a:ext>
            </a:extLst>
          </p:cNvPr>
          <p:cNvSpPr/>
          <p:nvPr/>
        </p:nvSpPr>
        <p:spPr>
          <a:xfrm rot="13580051">
            <a:off x="1625974" y="4805171"/>
            <a:ext cx="557784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D86805-629C-B9A0-4135-3A83F7CACD87}"/>
              </a:ext>
            </a:extLst>
          </p:cNvPr>
          <p:cNvSpPr txBox="1"/>
          <p:nvPr/>
        </p:nvSpPr>
        <p:spPr>
          <a:xfrm>
            <a:off x="6201741" y="4029146"/>
            <a:ext cx="60944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A real-world example: House price prediction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a company builds a house price prediction application.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1) Collect historical house prices, locations, property sizes, and numbers of bedrooms.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2 ) Train a regression model 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3) Evaluate it using metrics such as MAE and RMSE.</a:t>
            </a:r>
          </a:p>
        </p:txBody>
      </p:sp>
      <p:pic>
        <p:nvPicPr>
          <p:cNvPr id="41" name="Picture 40" descr="Projeto de Casa Popular - Funcional, Moderna e Acessível! - Serviços - João de Deus, Petrolina 1477269806 | OLX">
            <a:extLst>
              <a:ext uri="{FF2B5EF4-FFF2-40B4-BE49-F238E27FC236}">
                <a16:creationId xmlns:a16="http://schemas.microsoft.com/office/drawing/2014/main" id="{1BD80153-A45C-213D-91C8-2C2F7C4B5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7285" y="2035753"/>
            <a:ext cx="1737360" cy="1737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1146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CA770-003F-AF1E-E751-D14EBB89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63EF94-0236-B1F8-1EB6-80D0F1E2A7AE}"/>
              </a:ext>
            </a:extLst>
          </p:cNvPr>
          <p:cNvSpPr txBox="1"/>
          <p:nvPr/>
        </p:nvSpPr>
        <p:spPr>
          <a:xfrm>
            <a:off x="287682" y="36928"/>
            <a:ext cx="118281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Deployment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Expose the approved model through an API, application, or batch job.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E5E1DA2-F94C-F312-E42E-B71B9115FD0D}"/>
              </a:ext>
            </a:extLst>
          </p:cNvPr>
          <p:cNvSpPr/>
          <p:nvPr/>
        </p:nvSpPr>
        <p:spPr>
          <a:xfrm>
            <a:off x="256032" y="3310128"/>
            <a:ext cx="1737360" cy="15179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Develop</a:t>
            </a:r>
            <a:endParaRPr lang="en-IN" sz="24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35FF29C-30C1-E2CF-B18F-2B5F3EE873A1}"/>
              </a:ext>
            </a:extLst>
          </p:cNvPr>
          <p:cNvSpPr/>
          <p:nvPr/>
        </p:nvSpPr>
        <p:spPr>
          <a:xfrm>
            <a:off x="3948684" y="3310128"/>
            <a:ext cx="1737360" cy="15179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Deploy</a:t>
            </a:r>
            <a:endParaRPr lang="en-IN" sz="24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A338EBF-9423-F8E7-A2FA-36CF634C94D2}"/>
              </a:ext>
            </a:extLst>
          </p:cNvPr>
          <p:cNvSpPr/>
          <p:nvPr/>
        </p:nvSpPr>
        <p:spPr>
          <a:xfrm>
            <a:off x="2138172" y="5321808"/>
            <a:ext cx="1737360" cy="15179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Monitor</a:t>
            </a:r>
            <a:endParaRPr lang="en-IN" sz="240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E37CB7F-3461-44F8-D8B1-0DEC73D07198}"/>
              </a:ext>
            </a:extLst>
          </p:cNvPr>
          <p:cNvSpPr/>
          <p:nvPr/>
        </p:nvSpPr>
        <p:spPr>
          <a:xfrm>
            <a:off x="2578608" y="3602736"/>
            <a:ext cx="557784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DA63D79-8998-60AC-D6C5-8E65E0D69465}"/>
              </a:ext>
            </a:extLst>
          </p:cNvPr>
          <p:cNvSpPr/>
          <p:nvPr/>
        </p:nvSpPr>
        <p:spPr>
          <a:xfrm rot="7512883">
            <a:off x="3875532" y="4828032"/>
            <a:ext cx="557784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02E90B5B-CFCF-CF81-1D8A-0849A5D2C210}"/>
              </a:ext>
            </a:extLst>
          </p:cNvPr>
          <p:cNvSpPr/>
          <p:nvPr/>
        </p:nvSpPr>
        <p:spPr>
          <a:xfrm rot="13580051">
            <a:off x="1625974" y="4805171"/>
            <a:ext cx="557784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9E6BC2-D2C7-4D61-8DEE-0066FBA41428}"/>
              </a:ext>
            </a:extLst>
          </p:cNvPr>
          <p:cNvSpPr txBox="1"/>
          <p:nvPr/>
        </p:nvSpPr>
        <p:spPr>
          <a:xfrm>
            <a:off x="5686044" y="3863340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Package the model in a container and expose a prediction endpoint using FastAPI.</a:t>
            </a:r>
          </a:p>
        </p:txBody>
      </p:sp>
      <p:pic>
        <p:nvPicPr>
          <p:cNvPr id="26" name="Picture 25" descr="Projeto de Casa Popular - Funcional, Moderna e Acessível! - Serviços - João de Deus, Petrolina 1477269806 | OLX">
            <a:extLst>
              <a:ext uri="{FF2B5EF4-FFF2-40B4-BE49-F238E27FC236}">
                <a16:creationId xmlns:a16="http://schemas.microsoft.com/office/drawing/2014/main" id="{ACF2A893-BD0B-C1E4-0A9F-1D0F4BC8A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7285" y="2035753"/>
            <a:ext cx="1737360" cy="1737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4195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AFD39-5E07-C924-9C0F-F35A95596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DFA902-35E4-3EF6-07C6-71D0ED3AF2B5}"/>
              </a:ext>
            </a:extLst>
          </p:cNvPr>
          <p:cNvSpPr txBox="1"/>
          <p:nvPr/>
        </p:nvSpPr>
        <p:spPr>
          <a:xfrm>
            <a:off x="287682" y="36928"/>
            <a:ext cx="31321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Monitoring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Track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quality,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data drift,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latency,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errors,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resource usage.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8539DAB-CEEF-FAD6-CEB3-7063C4B28827}"/>
              </a:ext>
            </a:extLst>
          </p:cNvPr>
          <p:cNvSpPr/>
          <p:nvPr/>
        </p:nvSpPr>
        <p:spPr>
          <a:xfrm>
            <a:off x="256032" y="3310128"/>
            <a:ext cx="1737360" cy="15179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Develop</a:t>
            </a:r>
            <a:endParaRPr lang="en-IN" sz="24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ABF904-D0A6-F76D-5D00-71DF4766BF03}"/>
              </a:ext>
            </a:extLst>
          </p:cNvPr>
          <p:cNvSpPr/>
          <p:nvPr/>
        </p:nvSpPr>
        <p:spPr>
          <a:xfrm>
            <a:off x="3948684" y="3310128"/>
            <a:ext cx="1737360" cy="15179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Deploy</a:t>
            </a:r>
            <a:endParaRPr lang="en-IN" sz="24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D235E68-2E3B-199F-24A6-1508DD802DDA}"/>
              </a:ext>
            </a:extLst>
          </p:cNvPr>
          <p:cNvSpPr/>
          <p:nvPr/>
        </p:nvSpPr>
        <p:spPr>
          <a:xfrm>
            <a:off x="2138172" y="5321808"/>
            <a:ext cx="1737360" cy="15179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Monitor</a:t>
            </a:r>
            <a:endParaRPr lang="en-IN" sz="240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D66C6E5-3224-EA69-B287-265A0130430B}"/>
              </a:ext>
            </a:extLst>
          </p:cNvPr>
          <p:cNvSpPr/>
          <p:nvPr/>
        </p:nvSpPr>
        <p:spPr>
          <a:xfrm>
            <a:off x="2578608" y="3602736"/>
            <a:ext cx="557784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32C1E59-A0D4-618C-2D7B-FECCAAA0F224}"/>
              </a:ext>
            </a:extLst>
          </p:cNvPr>
          <p:cNvSpPr/>
          <p:nvPr/>
        </p:nvSpPr>
        <p:spPr>
          <a:xfrm rot="7512883">
            <a:off x="3875532" y="4828032"/>
            <a:ext cx="557784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7F3C3CD-7558-493A-CA4E-7230855B52A3}"/>
              </a:ext>
            </a:extLst>
          </p:cNvPr>
          <p:cNvSpPr/>
          <p:nvPr/>
        </p:nvSpPr>
        <p:spPr>
          <a:xfrm rot="13580051">
            <a:off x="1625974" y="4805171"/>
            <a:ext cx="557784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CFCDB8-96C9-9B56-BAFB-BD7746DC4C25}"/>
              </a:ext>
            </a:extLst>
          </p:cNvPr>
          <p:cNvSpPr txBox="1"/>
          <p:nvPr/>
        </p:nvSpPr>
        <p:spPr>
          <a:xfrm>
            <a:off x="4154424" y="5666815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Monitor prediction latency and errors. If actual sale prices show that predictions have deteriorated, investigate and retrain when justified.</a:t>
            </a:r>
          </a:p>
        </p:txBody>
      </p:sp>
      <p:pic>
        <p:nvPicPr>
          <p:cNvPr id="26" name="Picture 25" descr="Projeto de Casa Popular - Funcional, Moderna e Acessível! - Serviços - João de Deus, Petrolina 1477269806 | OLX">
            <a:extLst>
              <a:ext uri="{FF2B5EF4-FFF2-40B4-BE49-F238E27FC236}">
                <a16:creationId xmlns:a16="http://schemas.microsoft.com/office/drawing/2014/main" id="{1599FB0E-D79C-EE6A-A09C-B37D5DA53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7285" y="2035753"/>
            <a:ext cx="1737360" cy="1737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9745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ECD5D-704C-5E47-8E9F-837EAD4BF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ED9B0D-3D27-3E39-0B4D-BADDCF3BB5F3}"/>
              </a:ext>
            </a:extLst>
          </p:cNvPr>
          <p:cNvSpPr txBox="1"/>
          <p:nvPr/>
        </p:nvSpPr>
        <p:spPr>
          <a:xfrm>
            <a:off x="530352" y="221456"/>
            <a:ext cx="1064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How is it different from Machine Learning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A9583D-9F94-9E9F-9B29-0083D25675D9}"/>
              </a:ext>
            </a:extLst>
          </p:cNvPr>
          <p:cNvSpPr txBox="1"/>
          <p:nvPr/>
        </p:nvSpPr>
        <p:spPr>
          <a:xfrm>
            <a:off x="203454" y="1612682"/>
            <a:ext cx="52189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Learning (ML) focuses on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building a model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that learns from data.</a:t>
            </a:r>
          </a:p>
          <a:p>
            <a:pPr lvl="0"/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you build a ML model that predicts house prices with 92% accuracy.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4E80B9-1601-2D61-50AB-0D3A386A3AE2}"/>
              </a:ext>
            </a:extLst>
          </p:cNvPr>
          <p:cNvSpPr txBox="1"/>
          <p:nvPr/>
        </p:nvSpPr>
        <p:spPr>
          <a:xfrm>
            <a:off x="5852160" y="1612682"/>
            <a:ext cx="60944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MLOps focuses on making that model available to users, keeping it reliable, monitoring its performance, and updating it when necessary.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MLOps helps you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deploy that model into a website, serve predictions to users, track errors, monitor changing data, and retrain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when needed.</a:t>
            </a:r>
          </a:p>
          <a:p>
            <a:pPr lvl="0"/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6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FA0BE-EA72-8E77-57A9-BC7D9365B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28C246-90D3-2BB6-0BC9-02BA715370EE}"/>
              </a:ext>
            </a:extLst>
          </p:cNvPr>
          <p:cNvSpPr txBox="1"/>
          <p:nvPr/>
        </p:nvSpPr>
        <p:spPr>
          <a:xfrm>
            <a:off x="530352" y="221456"/>
            <a:ext cx="1064361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MLOps?</a:t>
            </a:r>
          </a:p>
          <a:p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train a model. It works well during testing, but your organization wants thousands of customers to use it every day.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Several problems can arise: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you deploy the model to a server?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What happens when new data changes the model's accuracy?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you retrain the model automatically?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you track which model version is currently deployed?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you roll back if a new model performs poorly?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MLOps addresses these challenges.</a:t>
            </a:r>
          </a:p>
        </p:txBody>
      </p:sp>
    </p:spTree>
    <p:extLst>
      <p:ext uri="{BB962C8B-B14F-4D97-AF65-F5344CB8AC3E}">
        <p14:creationId xmlns:p14="http://schemas.microsoft.com/office/powerpoint/2010/main" val="258142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DA5F1B-CE86-B927-1B4C-578633421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99871A-E391-0694-6429-D07A2301BE80}"/>
              </a:ext>
            </a:extLst>
          </p:cNvPr>
          <p:cNvSpPr txBox="1"/>
          <p:nvPr/>
        </p:nvSpPr>
        <p:spPr>
          <a:xfrm>
            <a:off x="530352" y="221456"/>
            <a:ext cx="1064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MLOps Lifecycle in Detail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CE5EA3-8C0F-47B3-BB0E-CB4E3D67C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952" y="0"/>
            <a:ext cx="3556048" cy="63185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2C5BBD-6AE2-3CDA-0A0F-2D248A76D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" y="709697"/>
            <a:ext cx="7845175" cy="18543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54C3A0-1DC7-1897-237D-DF5A68DC1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64" y="2697480"/>
            <a:ext cx="7811422" cy="1942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AFAA92-FF1B-DAFA-7C83-FD3BE6873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4261" y="4745654"/>
            <a:ext cx="8092915" cy="194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377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1441CD-1E04-1914-89AA-10031E42B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D9F335-E539-CB58-108A-4EE7D381A818}"/>
              </a:ext>
            </a:extLst>
          </p:cNvPr>
          <p:cNvSpPr txBox="1"/>
          <p:nvPr/>
        </p:nvSpPr>
        <p:spPr>
          <a:xfrm>
            <a:off x="530352" y="221456"/>
            <a:ext cx="1064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MLOps Lifecycle in Detail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E4EF50-89B0-C377-7895-8E92BD97D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952" y="0"/>
            <a:ext cx="3556048" cy="63185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F2FAB1-5C87-F0E9-5DDB-DF8326833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83121"/>
            <a:ext cx="7915743" cy="1976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8E45B0-1274-5EE4-75F4-A1D9B4A7B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08608"/>
            <a:ext cx="8051688" cy="19096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A0E44B-38DF-9B70-F34D-5844A6845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81249"/>
            <a:ext cx="8174736" cy="179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77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B74C4-1F89-F839-4768-4EA91744B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02890E-4390-C44E-B027-784399236DE0}"/>
              </a:ext>
            </a:extLst>
          </p:cNvPr>
          <p:cNvSpPr txBox="1"/>
          <p:nvPr/>
        </p:nvSpPr>
        <p:spPr>
          <a:xfrm>
            <a:off x="530352" y="221456"/>
            <a:ext cx="1064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Important MLOps concepts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258388-0636-34A8-0D42-AAB85DCC4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716228"/>
              </p:ext>
            </p:extLst>
          </p:nvPr>
        </p:nvGraphicFramePr>
        <p:xfrm>
          <a:off x="152013" y="1117422"/>
          <a:ext cx="9138291" cy="462315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518035">
                  <a:extLst>
                    <a:ext uri="{9D8B030D-6E8A-4147-A177-3AD203B41FA5}">
                      <a16:colId xmlns:a16="http://schemas.microsoft.com/office/drawing/2014/main" val="2835171415"/>
                    </a:ext>
                  </a:extLst>
                </a:gridCol>
                <a:gridCol w="4773168">
                  <a:extLst>
                    <a:ext uri="{9D8B030D-6E8A-4147-A177-3AD203B41FA5}">
                      <a16:colId xmlns:a16="http://schemas.microsoft.com/office/drawing/2014/main" val="1128721257"/>
                    </a:ext>
                  </a:extLst>
                </a:gridCol>
                <a:gridCol w="1847088">
                  <a:extLst>
                    <a:ext uri="{9D8B030D-6E8A-4147-A177-3AD203B41FA5}">
                      <a16:colId xmlns:a16="http://schemas.microsoft.com/office/drawing/2014/main" val="1205172411"/>
                    </a:ext>
                  </a:extLst>
                </a:gridCol>
              </a:tblGrid>
              <a:tr h="305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/>
                        <a:t>Concept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/>
                        <a:t>What it means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/>
                        <a:t>Example tool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780111803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Version control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Track changes in code and configurations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Git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08017171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Data and model versioning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Track datasets, model files, and their lineage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DVC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946002173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Experiment tracking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Record parameters, metrics, and model runs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MLflow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58469734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CI/CD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Automate testing and deployment workflows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GitHub Actions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783526788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Containerization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Package the application and its dependencies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Docker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824672281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Model serving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Provide predictions to applications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FastAPI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19864080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Orchestration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Schedule and coordinate pipeline steps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Apache Airflow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299684900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Monitoring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Track reliability, data quality, and model performance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Evidently AI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664320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872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A6621-DFC0-E9C0-8D8F-A61C8366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997210-7AB7-1E35-B5C0-F20EDC63AB4C}"/>
              </a:ext>
            </a:extLst>
          </p:cNvPr>
          <p:cNvSpPr txBox="1"/>
          <p:nvPr/>
        </p:nvSpPr>
        <p:spPr>
          <a:xfrm>
            <a:off x="530352" y="221456"/>
            <a:ext cx="1064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MLOps 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91B58-9155-7FB8-3F03-CEFA90105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161" y="2575597"/>
            <a:ext cx="1705213" cy="2200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37C318-CA48-9A2A-2E6A-B69FC37F0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73" y="1241911"/>
            <a:ext cx="7220958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54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504</Words>
  <Application>Microsoft Office PowerPoint</Application>
  <PresentationFormat>Widescreen</PresentationFormat>
  <Paragraphs>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31</cp:revision>
  <dcterms:created xsi:type="dcterms:W3CDTF">2026-09-25T02:37:34Z</dcterms:created>
  <dcterms:modified xsi:type="dcterms:W3CDTF">2026-10-23T14:44:55Z</dcterms:modified>
</cp:coreProperties>
</file>