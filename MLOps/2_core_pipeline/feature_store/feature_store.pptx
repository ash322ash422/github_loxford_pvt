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1A8600-E415-AD46-9220-9BED51850815}"/>
              </a:ext>
            </a:extLst>
          </p:cNvPr>
          <p:cNvSpPr txBox="1"/>
          <p:nvPr/>
        </p:nvSpPr>
        <p:spPr>
          <a:xfrm>
            <a:off x="3193542" y="2525512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2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Feature Store in MLOps</a:t>
            </a: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5232BD-0064-0D3E-7311-69F600121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71EEE7-177A-702D-6FC1-55113074B685}"/>
              </a:ext>
            </a:extLst>
          </p:cNvPr>
          <p:cNvSpPr txBox="1"/>
          <p:nvPr/>
        </p:nvSpPr>
        <p:spPr>
          <a:xfrm>
            <a:off x="450342" y="477256"/>
            <a:ext cx="98823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A Feature Store is a centralized system for managing, storing, sharing, and serving machine learning features used in model training and prediction.</a:t>
            </a:r>
          </a:p>
          <a:p>
            <a:pPr>
              <a:buNone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It is a reusable library of prepared ML features, where different models can access consistent, ready-to-use data rather than repeatedly performing the same feature engineering.</a:t>
            </a:r>
          </a:p>
          <a:p>
            <a:pPr>
              <a:buNone/>
            </a:pPr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A feature store is particularly useful when an ML model moves from experimentation in Jupyter Notebook into a production environment such as FastAPI, Docker, or AWS.</a:t>
            </a:r>
          </a:p>
        </p:txBody>
      </p:sp>
    </p:spTree>
    <p:extLst>
      <p:ext uri="{BB962C8B-B14F-4D97-AF65-F5344CB8AC3E}">
        <p14:creationId xmlns:p14="http://schemas.microsoft.com/office/powerpoint/2010/main" val="2422392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C30004-8D0F-CAE9-11DF-DD209F53B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D7D7E2-7835-5A1D-82C4-67504BA8C44B}"/>
              </a:ext>
            </a:extLst>
          </p:cNvPr>
          <p:cNvSpPr txBox="1"/>
          <p:nvPr/>
        </p:nvSpPr>
        <p:spPr>
          <a:xfrm>
            <a:off x="134112" y="100266"/>
            <a:ext cx="98823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1. First, what is a feature?</a:t>
            </a: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In machine learning, features are the input variables used by a model to make predictions.</a:t>
            </a: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Consider a house-price prediction model: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59FCEE-61ED-F6DC-429B-3C38F3F1B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653696"/>
              </p:ext>
            </p:extLst>
          </p:nvPr>
        </p:nvGraphicFramePr>
        <p:xfrm>
          <a:off x="134112" y="1504982"/>
          <a:ext cx="656844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85160">
                  <a:extLst>
                    <a:ext uri="{9D8B030D-6E8A-4147-A177-3AD203B41FA5}">
                      <a16:colId xmlns:a16="http://schemas.microsoft.com/office/drawing/2014/main" val="131303964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10973632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/>
                        <a:t>Raw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/>
                        <a:t>Engineered feature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347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Construction year: 2016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House age(as of 2026): 10 years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5515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Area: 1500 sq. ft.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Area in square metres: 139.35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2271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Bedrooms: 3, Bathrooms: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rooms: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752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Sale transactions in locality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Average locality price per sq. ft.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583262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BE8FBFE-76ED-3DE6-DF35-3AC97455BACF}"/>
              </a:ext>
            </a:extLst>
          </p:cNvPr>
          <p:cNvSpPr txBox="1"/>
          <p:nvPr/>
        </p:nvSpPr>
        <p:spPr>
          <a:xfrm>
            <a:off x="161544" y="4069114"/>
            <a:ext cx="55991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might use the engineered features rather than the original raw data.</a:t>
            </a:r>
          </a:p>
          <a:p>
            <a:pPr>
              <a:buNone/>
            </a:pP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Traditionally, we create these features using </a:t>
            </a: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Python, Pandas, SQL, or Spark.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48D4C0-F9D3-9CE9-581D-131BAE787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730" y="2825495"/>
            <a:ext cx="4677726" cy="3932239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C9CEBA4C-9BEC-5842-F820-9778B51C525C}"/>
              </a:ext>
            </a:extLst>
          </p:cNvPr>
          <p:cNvSpPr/>
          <p:nvPr/>
        </p:nvSpPr>
        <p:spPr>
          <a:xfrm>
            <a:off x="5898834" y="4951476"/>
            <a:ext cx="1024128" cy="4114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497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F569D-50EC-0896-C725-FE62D11B0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7D6B773-DF49-C4A3-BEDE-377632E49A79}"/>
              </a:ext>
            </a:extLst>
          </p:cNvPr>
          <p:cNvSpPr txBox="1"/>
          <p:nvPr/>
        </p:nvSpPr>
        <p:spPr>
          <a:xfrm>
            <a:off x="338328" y="200490"/>
            <a:ext cx="888568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The question is: </a:t>
            </a: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What happens to these engineered features after creating them?</a:t>
            </a: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a feature store, they may remain in a Jupyter Notebook, CSV file, database, or some custom preprocessing code.</a:t>
            </a:r>
          </a:p>
          <a:p>
            <a:pPr>
              <a:buNone/>
            </a:pP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A feature store gives the organization a systematic way to manage and reuse them.</a:t>
            </a:r>
          </a:p>
        </p:txBody>
      </p:sp>
    </p:spTree>
    <p:extLst>
      <p:ext uri="{BB962C8B-B14F-4D97-AF65-F5344CB8AC3E}">
        <p14:creationId xmlns:p14="http://schemas.microsoft.com/office/powerpoint/2010/main" val="1636813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0FE73B-D3A9-9FA6-1F21-817C8727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511515D-B4E3-8F2B-EE8D-7402D8F57C87}"/>
              </a:ext>
            </a:extLst>
          </p:cNvPr>
          <p:cNvSpPr txBox="1"/>
          <p:nvPr/>
        </p:nvSpPr>
        <p:spPr>
          <a:xfrm>
            <a:off x="338328" y="200490"/>
            <a:ext cx="888568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we need a Feature Store?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Consider a company developing three ML models: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A: House price prediction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B: Rental price prediction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C: Property investment recommendation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All three models need features such as </a:t>
            </a:r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house_age</a:t>
            </a: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area_sqm</a:t>
            </a: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, and </a:t>
            </a:r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locality_avg_price</a:t>
            </a: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FE29D2-589A-FCDF-1EC9-DF26F4147D96}"/>
              </a:ext>
            </a:extLst>
          </p:cNvPr>
          <p:cNvSpPr txBox="1"/>
          <p:nvPr/>
        </p:nvSpPr>
        <p:spPr>
          <a:xfrm>
            <a:off x="166878" y="2339078"/>
            <a:ext cx="2777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a Feature Store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0DE19D-BE2A-04F0-D7E5-2584202E3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" y="2894729"/>
            <a:ext cx="4854487" cy="25097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34C1E1-9634-C48F-DD01-16D98F7A90EF}"/>
              </a:ext>
            </a:extLst>
          </p:cNvPr>
          <p:cNvSpPr txBox="1"/>
          <p:nvPr/>
        </p:nvSpPr>
        <p:spPr>
          <a:xfrm>
            <a:off x="8018526" y="2375654"/>
            <a:ext cx="2777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With a Feature Store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EF0246-EAD2-7ED9-29F1-C7769915D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219" y="2894729"/>
            <a:ext cx="4377426" cy="250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405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B6CF2E-91E0-4245-73B7-EA2AA05F0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B1D906-7CFC-76B3-9109-7AD27791CE46}"/>
              </a:ext>
            </a:extLst>
          </p:cNvPr>
          <p:cNvSpPr txBox="1"/>
          <p:nvPr/>
        </p:nvSpPr>
        <p:spPr>
          <a:xfrm>
            <a:off x="432054" y="297287"/>
            <a:ext cx="88308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Architecture of a Feature Store</a:t>
            </a:r>
          </a:p>
          <a:p>
            <a:pPr>
              <a:buNone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Most production feature-store architectures distinguish two types of feature storage.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699A59-20B8-D68C-6C25-30202248B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649" y="1216151"/>
            <a:ext cx="6153280" cy="499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445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4BAB52-D47B-E41C-33F9-820E5997F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ED0642-EFED-CD85-8C70-E5E8B1FC24A8}"/>
              </a:ext>
            </a:extLst>
          </p:cNvPr>
          <p:cNvSpPr txBox="1"/>
          <p:nvPr/>
        </p:nvSpPr>
        <p:spPr>
          <a:xfrm>
            <a:off x="450342" y="224135"/>
            <a:ext cx="883081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Is feature store mandatory ?</a:t>
            </a:r>
          </a:p>
          <a:p>
            <a:pPr>
              <a:buNone/>
            </a:pP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A feature store is not compulsory for every machine learning project. </a:t>
            </a: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A small model with a few request-time input variables can work perfectly well with a shared preprocessing pipeline and FastAPI. </a:t>
            </a:r>
          </a:p>
          <a:p>
            <a:pPr>
              <a:buNone/>
            </a:pP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Feature stores become much more valuable when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feature computations are expensive,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historical correctness matters,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several models share features, 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online prediction needs up-to-date precomputed information.</a:t>
            </a:r>
          </a:p>
        </p:txBody>
      </p:sp>
    </p:spTree>
    <p:extLst>
      <p:ext uri="{BB962C8B-B14F-4D97-AF65-F5344CB8AC3E}">
        <p14:creationId xmlns:p14="http://schemas.microsoft.com/office/powerpoint/2010/main" val="1105448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6643ED-BD00-AAD9-0F2E-E805D4B4B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6A01A6-9A00-BB0A-A370-6B2F7A897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437774"/>
              </p:ext>
            </p:extLst>
          </p:nvPr>
        </p:nvGraphicFramePr>
        <p:xfrm>
          <a:off x="600456" y="1486694"/>
          <a:ext cx="949452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01696">
                  <a:extLst>
                    <a:ext uri="{9D8B030D-6E8A-4147-A177-3AD203B41FA5}">
                      <a16:colId xmlns:a16="http://schemas.microsoft.com/office/drawing/2014/main" val="1329225986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8824259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34778474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/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/>
                        <a:t>Offering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u="sng"/>
                        <a:t>Typical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36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Open source, self-managed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Learning and custom MLOps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4311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Hopsworks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Open source + managed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Full feature lifecycle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7702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SageMaker Feature Store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AWS managed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AWS production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3118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Vertex AI Feature Store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Google Cloud managed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BigQuery-based ML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0472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 ML Feature Store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 managed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Azure ML pipelines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3586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Databricks Feature Store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Integrated 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Spark, Delta and governed ML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3221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Tecton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Commercial managed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and streaming ML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3190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12482EA-AE22-5343-6B40-B13AB5666323}"/>
              </a:ext>
            </a:extLst>
          </p:cNvPr>
          <p:cNvSpPr txBox="1"/>
          <p:nvPr/>
        </p:nvSpPr>
        <p:spPr>
          <a:xfrm>
            <a:off x="514350" y="382262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Comparing the feature-store tools</a:t>
            </a:r>
          </a:p>
        </p:txBody>
      </p:sp>
    </p:spTree>
    <p:extLst>
      <p:ext uri="{BB962C8B-B14F-4D97-AF65-F5344CB8AC3E}">
        <p14:creationId xmlns:p14="http://schemas.microsoft.com/office/powerpoint/2010/main" val="4056462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471</Words>
  <Application>Microsoft Office PowerPoint</Application>
  <PresentationFormat>Widescreen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16</cp:revision>
  <dcterms:created xsi:type="dcterms:W3CDTF">2026-09-25T02:37:34Z</dcterms:created>
  <dcterms:modified xsi:type="dcterms:W3CDTF">2026-10-23T06:50:52Z</dcterms:modified>
</cp:coreProperties>
</file>