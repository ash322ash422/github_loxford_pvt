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0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8" r:id="rId21"/>
    <p:sldId id="280" r:id="rId22"/>
    <p:sldId id="282" r:id="rId23"/>
    <p:sldId id="281" r:id="rId24"/>
    <p:sldId id="283" r:id="rId25"/>
    <p:sldId id="284" r:id="rId26"/>
    <p:sldId id="285" r:id="rId27"/>
    <p:sldId id="287" r:id="rId28"/>
    <p:sldId id="288" r:id="rId29"/>
    <p:sldId id="286" r:id="rId30"/>
    <p:sldId id="275" r:id="rId31"/>
    <p:sldId id="276" r:id="rId32"/>
    <p:sldId id="291" r:id="rId33"/>
    <p:sldId id="289" r:id="rId34"/>
    <p:sldId id="290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279" r:id="rId44"/>
    <p:sldId id="27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08.8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09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1 478 24575,'1'1'0,"0"-1"0,0 0 0,0 1 0,0 0 0,1-1 0,-1 1 0,0 0 0,0-1 0,0 1 0,-1 0 0,1 0 0,0 0 0,0 0 0,0 0 0,-1 0 0,1 0 0,0 0 0,-1 0 0,1 0 0,0 2 0,13 31 0,-9-21 0,2 3 0,-3-4 0,1-1 0,1 0 0,0 0 0,0-1 0,15 19 0,-19-26 0,1-1 0,-1 0 0,0 0 0,1-1 0,-1 1 0,1 0 0,-1-1 0,1 0 0,0 1 0,0-1 0,0 0 0,0 0 0,0-1 0,0 1 0,0-1 0,0 1 0,0-1 0,0 0 0,0 0 0,0 0 0,0-1 0,0 1 0,0-1 0,0 1 0,0-1 0,0 0 0,0 0 0,-1-1 0,5-1 0,31-19 0,-1-1 0,-1-1 0,46-41 0,-17 13 0,469-360-1365,-460 354-5461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08.8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08.8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54:05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54:05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54:05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54:05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0:07:1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0:07:27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0:09:18.3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0:09:23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0:09:27.9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0:09:33.0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2:26:44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2:26:44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2:26:44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2:26:44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2:26:44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28:06.5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29:17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0 485 24575,'1'14'0,"0"1"0,1 0 0,0-1 0,1 1 0,1-1 0,1 0 0,0 0 0,0 0 0,1-1 0,1 0 0,1 0 0,0 0 0,18 21 0,-25-33 0,0 1 0,0-1 0,0 0 0,0 0 0,1 0 0,-1 0 0,0 0 0,1 0 0,-1 0 0,1-1 0,-1 1 0,1 0 0,-1-1 0,1 1 0,0-1 0,-1 0 0,1 1 0,-1-1 0,1 0 0,0 0 0,-1 0 0,1 0 0,0 0 0,-1-1 0,1 1 0,-1 0 0,1-1 0,0 1 0,-1-1 0,1 0 0,-1 1 0,0-1 0,1 0 0,2-2 0,3-3 0,0 0 0,-1 0 0,0-1 0,0 0 0,6-9 0,-5 6 0,161-200 0,91-127 0,-194 254-1365,-52 65-5461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28:06.5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31:34.9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31:38.1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31:43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34:12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34:17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 24575,'5'9'0,"0"11"0,5 11 0,5 9 0,3 2 0,4-2 0,2-16 0,11-26 0,11-29 0,20-31 0,7-18 0,9-17 0,-1-1 0,-6 8 0,-11 6 0,-8 14 0,-14 17-8191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4:16.4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0 427 24575,'2'7'0,"-1"0"0,1 0 0,1-1 0,-1 1 0,1 0 0,0-1 0,1 0 0,4 7 0,4 9 0,-2 3 0,-8-18 0,1 0 0,-1 0 0,1 0 0,1 0 0,0-1 0,4 7 0,-7-12 0,0 0 0,0 0 0,0 0 0,0 0 0,0-1 0,0 1 0,1 0 0,-1 0 0,0-1 0,1 1 0,-1-1 0,0 1 0,1-1 0,-1 1 0,0-1 0,1 0 0,-1 0 0,1 0 0,-1 0 0,1 0 0,-1 0 0,1 0 0,-1 0 0,0 0 0,1-1 0,-1 1 0,1-1 0,-1 1 0,0-1 0,1 1 0,-1-1 0,0 0 0,0 0 0,0 1 0,1-1 0,0-1 0,22-19 0,-1 0 0,-1-2 0,-1 0 0,-1-2 0,-1 0 0,17-30 0,0 3 0,206-262-1365,-208 278-5461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4:17.6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0 210 24575,'3'1'0,"-1"1"0,1-1 0,0 0 0,-1 1 0,0-1 0,1 1 0,-1 0 0,0 0 0,0 0 0,0 0 0,0 0 0,0 0 0,2 5 0,2 0 0,33 45 0,48 81 0,10 14 0,-93-141 0,0 0 0,1 0 0,0-1 0,0 0 0,1 0 0,-1 0 0,12 7 0,-13-10 0,0 0 0,0 0 0,1-1 0,-1 0 0,0 0 0,1 0 0,-1 0 0,1-1 0,-1 1 0,1-1 0,-1 0 0,1-1 0,-1 1 0,9-3 0,15-4 0,1-2 0,-2 0 0,1-3 0,-1 0 0,42-27 0,126-95 0,-158 107 0,53-41-455,-3-3 0,134-143 0,-191 181-6371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4:18.8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0 499 24575,'0'4'0,"4"11"0,6 10 0,2 6 0,6 2 0,10-13 0,12-28 0,13-37 0,15-39 0,25-16 0,19-5 0,-5 11 0,-8 22 0,-12 18 0,-17 15 0,-20 13-8191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4:20.0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1 456 24575,'4'4'0,"2"6"0,4 6 0,0 4 0,-2 3 0,3-2 0,8-10 0,26-23 0,36-31 0,22-22 0,5-21 0,-1-9 0,-7 8 0,-20 13 0,-20 16 0,-19 18-8191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4:21.5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0 152 24575,'0'4'0,"0"19"0,5 10 0,0 3 0,1 1 0,3-3 0,4-10 0,22-24 0,22-14 0,22-24 0,21-17 0,9-9 0,0-1 0,-10 5 0,-22 14-8191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4:25.2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0 469 24575,'4'4'0,"2"6"0,8 6 0,6 8 0,5 5 0,-3 2 0,-1-5 0,1-7 0,1-10 0,13-33 0,10-30 0,10-23 0,12-15 0,4-6 0,-2 6 0,0 10 0,-12 14 0,-16 19-8191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5:16.8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0 456 24575,'1'4'0,"0"0"0,0-1 0,0 1 0,1-1 0,-1 1 0,1-1 0,0 0 0,0 0 0,0 0 0,4 5 0,5 7 0,213 295 0,-220-305 0,2 4 0,1-1 0,0 1 0,0-2 0,1 1 0,17 12 0,-21-18 0,-1 0 0,1-1 0,-1 1 0,1-1 0,0 0 0,-1 0 0,1-1 0,0 1 0,0-1 0,0 1 0,0-1 0,-1 0 0,1-1 0,0 1 0,0-1 0,0 1 0,0-1 0,-1 0 0,1-1 0,6-2 0,24-13 0,-1-2 0,-1-2 0,0 0 0,-1-2 0,33-34 0,-13 14 0,144-116 0,7 7 0,252-141 0,-369 244-1365,-19 12-5461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5:21.9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5:45:24.3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0 101 23386,'5538'-101'0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38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0 277 24575,'2'7'0,"-1"0"0,2-1 0,-1 0 0,1 1 0,-1-1 0,2 0 0,-1 0 0,1-1 0,7 11 0,5 6 0,16 39 0,-24-43 0,0-1 0,1-1 0,1 1 0,1-2 0,0 1 0,1-1 0,0-1 0,25 22 0,-33-34 0,-1-1 0,1 1 0,0-1 0,-1 0 0,1 0 0,0 0 0,0 0 0,0-1 0,0 1 0,0-1 0,0 0 0,0 0 0,-1-1 0,1 1 0,0-1 0,0 0 0,0 0 0,0 0 0,-1 0 0,1-1 0,-1 0 0,5-2 0,58-25 0,83-51 0,-19 9 0,227-101 101,50-25-1567,-326 154-5360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39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0 224 24575,'5'0'0,"0"4"0,5 11 0,9 15 0,1 7 0,2 1 0,1-5 0,1-9 0,1-8 0,17-24 0,24-29 0,31-11 0,24-15 0,18-2 0,-2 2 0,-19 8 0,-22 8 0,-27 13-8191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41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0 352 24575,'0'4'0,"0"10"0,0 12 0,4 5 0,2 2 0,8-13 0,19-32 0,17-31 0,13-21 0,5-9 0,3-8 0,-11 0 0,-10 10 0,-14 17-8191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42.6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1 108 24575,'0'5'0,"4"22"0,6 20 0,6 6 0,3-1 0,13-23 0,26-25 0,30-25 0,20-19 0,6-15 0,-4-3 0,-12 1 0,-18 4 0,-23 13-8191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43.6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0 321 24575,'0'-4'0,"4"2"0,6 7 0,2 15 0,10 8 0,3 4 0,-3 1 0,-2-6 0,1-6 0,18-17 0,24-21 0,32-29 0,17-25 0,10-12 0,-1 2 0,-18 4 0,-22 13 0,-25 19-8191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44.6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0 396 24575,'4'9'0,"6"7"0,2 9 0,2 1 0,-1 0 0,2-4 0,7-7 0,17-17 0,19-36 0,17-28 0,21-20 0,17-12 0,-7 1 0,-13 13 0,-22 21-8191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45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1 731 24575,'0'-4'0,"4"-2"0,2 5 0,3 7 0,6 2 0,17-22 0,20-30 0,23-33 0,16-30 0,31-18 0,26 4 0,4 22 0,-19 15 0,-32 21-8191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58.0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4:58.1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7:53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8 195 24575,'-1'2'0,"0"0"0,0-1 0,0 1 0,0 0 0,1 0 0,-1 0 0,1 0 0,-1-1 0,1 1 0,0 0 0,0 0 0,0 0 0,0 0 0,0 0 0,0 0 0,0 0 0,0 0 0,2 3 0,12 40 0,-12-37 0,9 25 0,2 0 0,0-1 0,3 0 0,0-1 0,42 56 0,-56-84 0,0-1 0,0 0 0,1 0 0,-1 0 0,1 0 0,0 0 0,0 0 0,-1-1 0,1 1 0,0-1 0,0 0 0,0 0 0,1 0 0,-1 0 0,0-1 0,0 1 0,0-1 0,1 0 0,-1 0 0,0 0 0,0 0 0,4-1 0,4-2 0,0 0 0,0 0 0,-1-1 0,1 0 0,10-6 0,228-136 0,-117 64 0,309-169-1365,-338 198-5461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7:56.7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0 464 24575,'5'0'0,"0"9"0,5 7 0,0 9 0,3-3 0,8-24 0,9-19 0,12-19 0,12-17 0,19-10 0,5-3 0,-2 1 0,-1 5 0,-9 8 0,-15 6 0,-17 10-8191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8:01.6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1 311 24575,'6'2'0,"-1"-1"0,1 1 0,0 0 0,-1 0 0,1 1 0,-1 0 0,0 0 0,0 0 0,0 1 0,0-1 0,-1 1 0,0 0 0,1 1 0,-1-1 0,3 6 0,1-2 0,-1 0 0,1-1 0,17 12 0,-19-16 0,-1-1 0,1 0 0,-1 0 0,1 0 0,0-1 0,0 0 0,0 0 0,-1-1 0,1 1 0,0-1 0,0 0 0,0-1 0,0 0 0,0 0 0,0 0 0,-1 0 0,1-1 0,0 0 0,-1 0 0,7-4 0,12-6 0,-1-2 0,0 0 0,24-20 0,-28 20 0,27-20-118,53-38-506,110-103 1,-174 139-6203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08:03.2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1 352 24575,'4'0'0,"2"4"0,4 11 0,4 2 0,5-6 0,11-14 0,23-23 0,24-20 0,16-11 0,13-9 0,3 2 0,-10 9 0,-12 8 0,-21 13-8191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14:11.0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0 270 24575,'3'1'0,"-1"-1"0,0 1 0,1 0 0,-1 0 0,0 0 0,0 0 0,0 0 0,1 0 0,-1 0 0,0 1 0,-1-1 0,1 1 0,0-1 0,2 4 0,26 30 0,-20-23 0,19 24 0,-18-20 0,1 0 0,1-1 0,0-1 0,1 0 0,1-1 0,19 13 0,-30-24 0,0 0 0,0-1 0,0 1 0,0-1 0,1 0 0,-1-1 0,0 1 0,1-1 0,-1 1 0,1-1 0,-1 0 0,0-1 0,1 1 0,-1-1 0,1 0 0,-1 0 0,0 0 0,6-3 0,8-4 0,0-1 0,30-18 0,-36 20 0,111-79-455,-3-5 0,112-110 0,-167 142-6371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14:12.1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0 344 24575,'0'-1'0,"0"1"0,0-1 0,0 1 0,0-1 0,0 1 0,0-1 0,0 1 0,0-1 0,0 1 0,1-1 0,-1 1 0,0-1 0,0 1 0,0-1 0,1 1 0,-1-1 0,0 1 0,0 0 0,1-1 0,-1 1 0,1-1 0,-1 1 0,0 0 0,1-1 0,-1 1 0,1 0 0,-1 0 0,0-1 0,1 1 0,-1 0 0,1 0 0,-1-1 0,1 1 0,-1 0 0,2 0 0,22 5 0,19 20 0,-19-7 0,39 41 0,-22-20 0,-39-36 0,1-1 0,0 1 0,1-1 0,-1 0 0,0 0 0,1 0 0,-1 0 0,1-1 0,0 0 0,-1 1 0,1-1 0,0 0 0,0-1 0,0 1 0,0-1 0,0 0 0,-1 1 0,1-2 0,0 1 0,8-2 0,2-2 0,0-1 0,0 0 0,0-1 0,18-10 0,-17 8 0,285-174 120,-15-27-1605,-201 145-5341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14:13.2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1 691 24575,'0'9'0,"4"6"0,6 2 0,18-7 0,31-18 0,31-20 0,22-37 0,9-32 0,1-26 0,-11-9 0,-17 9 0,-19 26 0,-22 28-8191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14:14.4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0 453 24575,'5'0'0,"5"5"0,5 5 0,1 5 0,1 1 0,16-16 0,18-34 0,19-28 0,28-16 0,18-13 0,3 5 0,-20 4 0,-25 17-8191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14:15.5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1 554 24575,'0'8'0,"0"8"0,8 14 0,4 10 0,3 3 0,0-2 0,1 1 0,2-6 0,7-19 0,21-42 0,32-47 0,30-37 0,13-26 0,3-16 0,-19 9 0,-19 29 0,-24 33-8191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14:16.7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0 411 24575,'4'9'0,"6"3"0,10-2 0,23-5 0,26-17 0,18-20 0,25-21 0,28-20 0,20-9 0,1 4 0,-20 11 0,-32 18-8191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13:26:27.1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1 462 24575,'2'1'0,"0"0"0,-1 0 0,1 0 0,0 1 0,-1-1 0,1 0 0,0 1 0,-1-1 0,0 1 0,1-1 0,-1 1 0,0 0 0,0 0 0,0-1 0,0 1 0,0 0 0,0 0 0,0 0 0,-1 0 0,1 0 0,0 3 0,2 4 0,24 53 0,59 95 0,-85-154 0,1 0 0,0 0 0,0-1 0,0 1 0,0-1 0,0 0 0,1 1 0,-1-1 0,1 0 0,-1 0 0,1-1 0,0 1 0,0-1 0,0 1 0,0-1 0,0 0 0,0 0 0,0 0 0,0 0 0,0-1 0,0 1 0,1-1 0,-1 0 0,0 0 0,0 0 0,1 0 0,-1-1 0,0 1 0,0-1 0,0 0 0,6-2 0,8-4 0,-1 0 0,0-2 0,-1 0 0,26-19 0,-11 6 0,38-22 0,290-186 0,19 29 0,64 30-1365,-347 138-5461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33:47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0 204 24575,'5'0'0,"5"0"0,1 4 0,3 2 0,-1 3 0,2 2 0,-2 2 0,2 3 0,2 4 0,6-7 0,9-17 0,8-26 0,4-13 0,5-6 0,2-1 0,-3 1 0,-6 8 0,-10 11-8191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33:50.1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 24575,'5'0'0,"5"5"0,5 9 0,5 7 0,3 5 0,-2 1 0,-1 2 0,1-6 0,2-5 0,0-16 0,9-15 0,5-11 0,3-6 0,5-1 0,-2 0 0,1 0 0,-8 7-8191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33:51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 24575,'5'0'0,"5"4"0,1 6 0,8 6 0,0 4 0,-3 3 0,0 2 0,-3 1 0,6 1 0,-2-1 0,7-8 0,19-17 0,33-16 0,35-15 0,18-10 0,6-8 0,-7-4 0,-26 7-8191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33:54.2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1 446 24575,'3'0'0,"-1"0"0,1 0 0,0 0 0,0 1 0,0-1 0,-1 1 0,1 0 0,0 0 0,-1 0 0,1 0 0,0 0 0,-1 1 0,1-1 0,-1 1 0,0-1 0,0 1 0,1 0 0,-1 0 0,0 0 0,2 3 0,1 2 0,-1 1 0,0 0 0,0 0 0,-1 0 0,3 9 0,-3-9 0,0 0 0,0 0 0,1-1 0,0 1 0,6 9 0,-8-15 0,-1-1 0,1 1 0,0-1 0,-1 1 0,1-1 0,0 0 0,0 1 0,0-1 0,0 0 0,0 0 0,0-1 0,0 1 0,0 0 0,1-1 0,-1 1 0,0-1 0,0 1 0,0-1 0,1 0 0,-1 0 0,0 0 0,4-1 0,51-17 0,-55 17 0,712-369 41,-399 194-1447,-246 139-5420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33:56.2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0 383 24575,'0'5'0,"0"5"0,5 1 0,5 7 0,5 1 0,5-7 0,7-14 0,9-21 0,5-14 0,6-18 0,-2-8 0,1 1 0,0-1 0,-2 6 0,-1 4 0,-7 11-8191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33:57.5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 24575,'5'0'0,"0"5"0,5 9 0,0 7 0,3 9 0,4 3 0,2-3 0,8-8 0,16-11 0,18-12 0,20-15 0,18-8 0,10-10 0,-2-2 0,-13 0 0,-15 1 0,-21 8-8191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0:3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1 614 24575,'1'0'0,"0"-1"0,1 0 0,-1 1 0,0-1 0,1 1 0,-1-1 0,1 1 0,-1 0 0,0 0 0,1 0 0,-1-1 0,1 1 0,-1 0 0,1 1 0,-1-1 0,1 0 0,-1 0 0,0 1 0,1-1 0,-1 1 0,1-1 0,-1 1 0,0-1 0,1 1 0,-1 0 0,0 0 0,0 0 0,0 0 0,2 1 0,33 30 0,74 101 0,-109-132 0,-1 0 0,1 0 0,0 0 0,0 0 0,0 0 0,0 0 0,0 0 0,0 0 0,0-1 0,0 1 0,0 0 0,0 0 0,1-1 0,-1 1 0,0-1 0,0 1 0,1-1 0,-1 0 0,0 1 0,1-1 0,-1 0 0,0 0 0,1 0 0,-1 0 0,0 0 0,1 0 0,-1 0 0,0 0 0,1-1 0,-1 1 0,0-1 0,0 1 0,1-1 0,-1 1 0,0-1 0,0 1 0,0-1 0,0 0 0,0 0 0,0 0 0,0 0 0,2-1 0,4-6 0,1-1 0,-1 0 0,-1 0 0,8-14 0,-4 8 0,72-112 0,6 4 0,156-169 0,-218 265 0,-17 16 0,0 1 0,1 1 0,0-1 0,1 2 0,0-1 0,15-7 0,71-44-1365,-75 46-5461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0:38.4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0 815 24575,'1'12'0,"0"1"0,1-1 0,0 0 0,0 1 0,2-1 0,0 0 0,8 18 0,47 77 0,-23-46 0,34 50 0,-69-110 0,-1 0 0,1 0 0,-1 0 0,1 0 0,0 0 0,-1-1 0,1 1 0,0 0 0,-1 0 0,1-1 0,0 1 0,0 0 0,0-1 0,0 1 0,0-1 0,0 0 0,-1 1 0,1-1 0,0 1 0,0-1 0,0 0 0,0 0 0,0 0 0,1 0 0,-1 0 0,0 0 0,0 0 0,0 0 0,0 0 0,0 0 0,0 0 0,0 0 0,0-1 0,0 1 0,0 0 0,0-1 0,-1 1 0,3-2 0,34-33 0,-35 33 0,79-98 0,83-135 0,-76 103 0,-68 104 0,397-563 0,-370 533-1365,-12 19-5461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0:42.9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0 255 24575,'2'9'0,"0"0"0,0-1 0,1 1 0,0-1 0,1 0 0,0 0 0,0 0 0,0 0 0,1-1 0,9 11 0,5 11 0,28 47 0,84 104 0,-128-176 0,0 0 0,0 0 0,0 0 0,1-1 0,0 1 0,0-1 0,0 0 0,0 0 0,0-1 0,0 1 0,1-1 0,-1 0 0,1 0 0,0 0 0,-1-1 0,1 0 0,0 0 0,6 1 0,-4-3 0,0 0 0,-1 0 0,1 0 0,0-1 0,-1 0 0,0-1 0,0 1 0,1-1 0,-2 0 0,1-1 0,0 1 0,-1-1 0,9-7 0,30-26 0,-1-3 0,56-67 0,67-104 0,-105 130 0,11-14-1365,-15 17-5461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0:49.5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2112 27 24575,'-5'-3'0,"0"0"0,-1 1 0,1-1 0,-1 1 0,0 0 0,0 1 0,0 0 0,0-1 0,0 2 0,0-1 0,0 1 0,0 0 0,-8 1 0,-8-2 0,-552-6 0,347 9 0,-60 23 0,44-1 0,156-21 0,-11-1 0,-123 19 0,181-15 0,19-3 0,0 0 0,0 2 0,-33 10 0,49-12 0,-1-1 0,0 1 0,0 0 0,1 0 0,0 1 0,-1 0 0,2 0 0,-1 0 0,0 1 0,1-1 0,0 1 0,0 0 0,0 0 0,0 1 0,1-1 0,-4 9 0,2-4 0,2 1 0,-1-1 0,1 1 0,1-1 0,-1 1 0,2 0 0,0 0 0,0 17 0,1-23 0,1 0 0,-1 0 0,1 0 0,0-1 0,0 1 0,1 0 0,0-1 0,-1 1 0,1-1 0,1 1 0,-1-1 0,1 0 0,0 0 0,-1 0 0,2-1 0,-1 1 0,0-1 0,1 1 0,0-1 0,-1 0 0,9 4 0,38 16 0,2-2 0,0-3 0,0-2 0,64 11 0,-76-17 0,87 16 0,1-6 0,153 5 0,260-20 0,-343-6 0,23 11 0,342-44 0,-550 32 0,1 0 0,-1-2 0,0 1 0,0-1 0,0-1 0,-1-1 0,1 0 0,-1 0 0,0-1 0,-1 0 0,0-1 0,0-1 0,-1 0 0,0 0 0,0-1 0,-1 0 0,0-1 0,-1 1 0,0-2 0,-1 1 0,-1-1 0,1 0 0,-2-1 0,0 0 0,0 1 0,-1-1 0,3-18 0,-7 27 0,1 0 0,-1 0 0,0 0 0,0 0 0,0 0 0,-1 0 0,1 1 0,-1-1 0,0 0 0,0 0 0,0 0 0,-1 1 0,0-1 0,1 0 0,-1 1 0,0-1 0,-1 1 0,1 0 0,0 0 0,-1 0 0,0 0 0,0 0 0,0 1 0,0-1 0,0 1 0,0 0 0,-1 0 0,-5-3 0,-8-2 0,-1 0 0,0 1 0,0 1 0,-35-5 0,28 6 0,-63-14-110,15 2-308,0 3-1,-140-6 1,183 20-6408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0:54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1 309 24575,'4'0'0,"15"0"0,12 4 0,10 11 0,-2 10 0,1 11 0,-3 3 0,-2-6 0,5-12 0,9-22 0,14-25 0,17-29 0,8-18 0,7-6 0,-5 3 0,-13 9 0,-15 8 0,-18 14-8191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0:56.8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4 24575,'-2'3'0,"-1"1"0,1-1 0,-1 0 0,0 0 0,0 0 0,0-1 0,0 1 0,-1-1 0,1 1 0,-1-1 0,-5 2 0,-4 4 0,-22 18 0,-34 31 0,59-47 0,-1 0 0,2 1 0,0 1 0,0-1 0,1 2 0,0-1 0,-6 15 0,6-8 0,0 0 0,2 1 0,0 0 0,1 0 0,1 1 0,1-1 0,1 1 0,0 0 0,4 40 0,-1-45 0,2-2 0,0 1 0,0 0 0,2 0 0,0-1 0,0 0 0,1 0 0,1-1 0,0 1 0,1-1 0,1-1 0,0 0 0,0 0 0,18 16 0,-4-6 0,0 0 0,2-2 0,1-1 0,0-1 0,2-1 0,-1-2 0,49 20 0,-54-26 0,27 9 0,66 17 0,-100-32 0,0 0 0,1-1 0,-1 0 0,1-2 0,0 1 0,-1-2 0,1 0 0,28-7 0,-35 5 0,-1 0 0,0-1 0,0 0 0,-1 0 0,1-1 0,-1 0 0,0 0 0,0-1 0,0 0 0,-1 0 0,0 0 0,0-1 0,8-14 0,6-10 0,31-66 0,-38 71 0,-7 15 0,-1-1 0,-1 0 0,0 0 0,0-1 0,-1 1 0,-1-1 0,0 0 0,-1 1 0,0-1 0,-1 0 0,-1 0 0,0 0 0,0 1 0,-4-14 0,0 9 0,0 0 0,-2 0 0,0 0 0,0 1 0,-2 0 0,0 0 0,-1 1 0,0 0 0,-18-18 0,13 14 0,1-1 0,-15-27 0,23 35 0,0 1 0,-1 0 0,0 0 0,-1 0 0,0 1 0,-1 0 0,0 0 0,0 1 0,-1 0 0,0 1 0,-1 0 0,-12-6 0,-9-2 0,-48-31 0,70 42-98,1 1 0,-1 0 0,1 1 1,-1 0-1,0 1 0,0 0 0,0 0 0,-1 1 0,1 0 0,-11 1 0,16 0-190,-36-1-6538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5:59.4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0 253 24575,'2'18'0,"0"1"0,1 0 0,1-1 0,1 0 0,0 0 0,1 0 0,1 0 0,1-1 0,1 0 0,0-1 0,19 26 0,-26-40 0,-1-1 0,1 1 0,-1-1 0,1 1 0,0-1 0,-1 0 0,1 0 0,0 0 0,0 0 0,0 0 0,0 0 0,0 0 0,0-1 0,0 1 0,0-1 0,0 0 0,0 1 0,1-1 0,-1 0 0,0 0 0,0 0 0,0-1 0,0 1 0,0 0 0,0-1 0,0 1 0,0-1 0,0 0 0,0 0 0,0 0 0,0 0 0,0 0 0,0 0 0,2-2 0,8-6 0,0 0 0,0 0 0,18-21 0,-19 19 0,102-110 0,-67 68 0,2 3 0,75-60 0,-27 33-1365,-74 59-5461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6:09.1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4 129 24575,'0'0'0,"0"0"0,-1-1 0,1 1 0,0 0 0,0 0 0,0 0 0,-1-1 0,1 1 0,0 0 0,0 0 0,0-1 0,0 1 0,-1 0 0,1 0 0,0-1 0,0 1 0,0 0 0,0-1 0,0 1 0,0 0 0,0-1 0,0 1 0,0 0 0,0 0 0,0-1 0,0 1 0,0 0 0,0-1 0,0 1 0,0 0 0,0 0 0,1-1 0,-1 1 0,0 0 0,0-1 0,0 1 0,0 0 0,0 0 0,1-1 0,-1 1 0,0 0 0,18-8 0,32 0 0,-42 7 0,911-60 0,-781 56 0,547-3 0,-467-4 0,-36 0 0,441 10 0,-327 3 0,-204 4-1365,-55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6:10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0 219 24575,'7'0'0,"1"1"0,-1 1 0,1-1 0,-1 1 0,0 1 0,0-1 0,0 1 0,0 1 0,-1-1 0,1 1 0,11 8 0,6 8 0,32 31 0,-49-45 0,33 41 0,16 17 0,-53-60 0,1-1 0,0 0 0,0 0 0,0 0 0,0 0 0,0-1 0,1 1 0,-1-1 0,1 0 0,-1-1 0,1 1 0,8 1 0,-9-3 0,1 0 0,-1 0 0,0-1 0,0 1 0,0-1 0,0 0 0,0 0 0,0-1 0,0 1 0,0-1 0,0 0 0,-1 0 0,6-4 0,44-38 0,-43 35 0,82-80 0,-32 29 0,3 2 0,2 3 0,79-50 0,-108 83-1365,-10 5-5461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6:46:16.2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1 423 24575,'1'7'0,"-1"1"0,2-1 0,-1 0 0,1 0 0,0 0 0,0 0 0,1 0 0,0 0 0,5 7 0,40 58 0,-39-59 0,-6-10 0,-1 0 0,1 0 0,0-1 0,0 1 0,0-1 0,0 0 0,0 0 0,1 0 0,-1 0 0,1 0 0,-1-1 0,1 0 0,0 0 0,-1 0 0,1 0 0,0 0 0,0-1 0,-1 1 0,1-1 0,0 0 0,0 0 0,0-1 0,0 1 0,-1-1 0,1 0 0,0 0 0,4-1 0,10-4 0,-1-1 0,0 0 0,0-1 0,22-15 0,2-4 20,-2-2 0,0-1-1,-2-2 1,55-62 0,114-165-939,-174 217 374,4-6-6281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7:18:56.9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 24575,'11'24'0,"-2"1"0,-1 1 0,8 43 0,-13-50 0,1 0 0,0 0 0,2-1 0,0 0 0,1 0 0,1 0 0,18 30 0,-25-47 0,-1 0 0,1 0 0,0 1 0,0-1 0,0 0 0,0 0 0,0 0 0,0 0 0,1 0 0,-1 0 0,0-1 0,0 1 0,1 0 0,-1-1 0,0 1 0,1 0 0,-1-1 0,1 0 0,-1 1 0,0-1 0,1 0 0,-1 0 0,1 0 0,-1 0 0,1 0 0,-1 0 0,1 0 0,-1 0 0,1 0 0,-1-1 0,1 1 0,-1-1 0,0 1 0,1-1 0,-1 0 0,0 1 0,1-1 0,1-2 0,4-3 0,0 0 0,0-1 0,-1 0 0,0 0 0,6-10 0,0 2 0,18-20 0,2 1 0,2 2 0,0 1 0,3 2 0,41-27 0,209-102 0,-239 133-1365,-11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customXml" Target="../ink/ink9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4.png"/><Relationship Id="rId7" Type="http://schemas.openxmlformats.org/officeDocument/2006/relationships/customXml" Target="../ink/ink1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6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hyperlink" Target="https://hub.docker.com/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.xml"/><Relationship Id="rId5" Type="http://schemas.openxmlformats.org/officeDocument/2006/relationships/image" Target="../media/image28.png"/><Relationship Id="rId4" Type="http://schemas.openxmlformats.org/officeDocument/2006/relationships/customXml" Target="../ink/ink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7" Type="http://schemas.openxmlformats.org/officeDocument/2006/relationships/customXml" Target="../ink/ink2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.xml"/><Relationship Id="rId5" Type="http://schemas.openxmlformats.org/officeDocument/2006/relationships/customXml" Target="../ink/ink23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7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ustomXml" Target="../ink/ink33.xml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12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customXml" Target="../ink/ink32.xml"/><Relationship Id="rId5" Type="http://schemas.openxmlformats.org/officeDocument/2006/relationships/customXml" Target="../ink/ink29.xml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customXml" Target="../ink/ink31.xml"/><Relationship Id="rId1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customXml" Target="../ink/ink35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customXml" Target="../ink/ink42.xml"/><Relationship Id="rId18" Type="http://schemas.openxmlformats.org/officeDocument/2006/relationships/image" Target="../media/image52.png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12" Type="http://schemas.openxmlformats.org/officeDocument/2006/relationships/image" Target="../media/image49.png"/><Relationship Id="rId17" Type="http://schemas.openxmlformats.org/officeDocument/2006/relationships/customXml" Target="../ink/ink44.xml"/><Relationship Id="rId2" Type="http://schemas.openxmlformats.org/officeDocument/2006/relationships/image" Target="../media/image44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customXml" Target="../ink/ink41.xml"/><Relationship Id="rId5" Type="http://schemas.openxmlformats.org/officeDocument/2006/relationships/customXml" Target="../ink/ink38.xml"/><Relationship Id="rId15" Type="http://schemas.openxmlformats.org/officeDocument/2006/relationships/customXml" Target="../ink/ink43.xml"/><Relationship Id="rId10" Type="http://schemas.openxmlformats.org/officeDocument/2006/relationships/image" Target="../media/image48.png"/><Relationship Id="rId19" Type="http://schemas.openxmlformats.org/officeDocument/2006/relationships/customXml" Target="../ink/ink45.xml"/><Relationship Id="rId4" Type="http://schemas.openxmlformats.org/officeDocument/2006/relationships/image" Target="../media/image45.png"/><Relationship Id="rId9" Type="http://schemas.openxmlformats.org/officeDocument/2006/relationships/customXml" Target="../ink/ink40.xml"/><Relationship Id="rId1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customXml" Target="../ink/ink47.xml"/><Relationship Id="rId10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openxmlformats.org/officeDocument/2006/relationships/customXml" Target="../ink/ink4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1.png"/><Relationship Id="rId12" Type="http://schemas.openxmlformats.org/officeDocument/2006/relationships/customXml" Target="../ink/ink54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1.xml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10" Type="http://schemas.openxmlformats.org/officeDocument/2006/relationships/customXml" Target="../ink/ink53.xml"/><Relationship Id="rId4" Type="http://schemas.openxmlformats.org/officeDocument/2006/relationships/customXml" Target="../ink/ink50.xml"/><Relationship Id="rId9" Type="http://schemas.openxmlformats.org/officeDocument/2006/relationships/image" Target="../media/image62.png"/><Relationship Id="rId14" Type="http://schemas.openxmlformats.org/officeDocument/2006/relationships/customXml" Target="../ink/ink5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62.xml"/><Relationship Id="rId3" Type="http://schemas.openxmlformats.org/officeDocument/2006/relationships/customXml" Target="../ink/ink57.xml"/><Relationship Id="rId7" Type="http://schemas.openxmlformats.org/officeDocument/2006/relationships/customXml" Target="../ink/ink59.xml"/><Relationship Id="rId12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customXml" Target="../ink/ink61.xml"/><Relationship Id="rId5" Type="http://schemas.openxmlformats.org/officeDocument/2006/relationships/customXml" Target="../ink/ink58.xml"/><Relationship Id="rId10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customXml" Target="../ink/ink60.xml"/><Relationship Id="rId1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customXml" Target="../ink/ink68.xml"/><Relationship Id="rId3" Type="http://schemas.openxmlformats.org/officeDocument/2006/relationships/customXml" Target="../ink/ink63.xml"/><Relationship Id="rId7" Type="http://schemas.openxmlformats.org/officeDocument/2006/relationships/customXml" Target="../ink/ink65.xml"/><Relationship Id="rId12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customXml" Target="../ink/ink67.xml"/><Relationship Id="rId5" Type="http://schemas.openxmlformats.org/officeDocument/2006/relationships/customXml" Target="../ink/ink64.xml"/><Relationship Id="rId10" Type="http://schemas.openxmlformats.org/officeDocument/2006/relationships/image" Target="../media/image78.png"/><Relationship Id="rId4" Type="http://schemas.openxmlformats.org/officeDocument/2006/relationships/image" Target="../media/image75.png"/><Relationship Id="rId9" Type="http://schemas.openxmlformats.org/officeDocument/2006/relationships/customXml" Target="../ink/ink66.xml"/><Relationship Id="rId1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customXml" Target="../ink/ink69.xml"/><Relationship Id="rId7" Type="http://schemas.openxmlformats.org/officeDocument/2006/relationships/customXml" Target="../ink/ink71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customXml" Target="../ink/ink70.xml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7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3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4A1E6-5815-5AAC-75F5-3C44F4917C3D}"/>
              </a:ext>
            </a:extLst>
          </p:cNvPr>
          <p:cNvSpPr txBox="1"/>
          <p:nvPr/>
        </p:nvSpPr>
        <p:spPr>
          <a:xfrm>
            <a:off x="129540" y="-24056"/>
            <a:ext cx="117393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CI/CD for a Dockerized FastAPI House Price Prediction App using GitHub Actions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 this hands-on project, we will build an automated CI/CD workflow for a machine learning application using GitHub Actions.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F0F514-D4A3-875E-D99B-1B9834E445AC}"/>
              </a:ext>
            </a:extLst>
          </p:cNvPr>
          <p:cNvSpPr/>
          <p:nvPr/>
        </p:nvSpPr>
        <p:spPr>
          <a:xfrm>
            <a:off x="9281160" y="1828800"/>
            <a:ext cx="2825496" cy="932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/>
              <a:t>Local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B5AD89-3819-EB9F-4F4E-D22BC02B01F6}"/>
              </a:ext>
            </a:extLst>
          </p:cNvPr>
          <p:cNvSpPr/>
          <p:nvPr/>
        </p:nvSpPr>
        <p:spPr>
          <a:xfrm>
            <a:off x="9354312" y="3578001"/>
            <a:ext cx="2752344" cy="932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/>
              <a:t>GitHub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5E4E46-F6AE-2FF0-5D5C-4644FB45B2F6}"/>
              </a:ext>
            </a:extLst>
          </p:cNvPr>
          <p:cNvSpPr/>
          <p:nvPr/>
        </p:nvSpPr>
        <p:spPr>
          <a:xfrm>
            <a:off x="9354312" y="5342132"/>
            <a:ext cx="2680716" cy="932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/>
              <a:t>Server</a:t>
            </a:r>
          </a:p>
          <a:p>
            <a:pPr algn="ctr"/>
            <a:r>
              <a:rPr lang="en-IN"/>
              <a:t>(Simulate on local m/c)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10074CC-6D22-B80A-51CF-E430BDE02EFC}"/>
              </a:ext>
            </a:extLst>
          </p:cNvPr>
          <p:cNvSpPr/>
          <p:nvPr/>
        </p:nvSpPr>
        <p:spPr>
          <a:xfrm rot="5400000">
            <a:off x="10405872" y="2972622"/>
            <a:ext cx="603504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1481EA8-BB44-8C73-4A72-437C1CC662EF}"/>
              </a:ext>
            </a:extLst>
          </p:cNvPr>
          <p:cNvSpPr/>
          <p:nvPr/>
        </p:nvSpPr>
        <p:spPr>
          <a:xfrm rot="5400000">
            <a:off x="10384536" y="4668012"/>
            <a:ext cx="603504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F0771-35AE-0274-18A4-32C9D7F55541}"/>
              </a:ext>
            </a:extLst>
          </p:cNvPr>
          <p:cNvSpPr txBox="1"/>
          <p:nvPr/>
        </p:nvSpPr>
        <p:spPr>
          <a:xfrm>
            <a:off x="210312" y="1755059"/>
            <a:ext cx="89611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We will: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a house price prediction model using Python and scikit-learn.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Serve the trained model through a FastAPI REST API.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 the application and model into a Docker image.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Use GitHub Actions to automatically train, test, and build the application whenever code is pushed to GitHub.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Automatically publish the Docker image to Docker Hub.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Simulate deployment on server (by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manually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pulling the published image from Docker Hub and running it as a container on our local machine) and then verify the deployment using health checks and prediction requests.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Make changes to the code verify that change is reflected on server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CFBAA-0F78-5058-68E8-2F071F22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CADAC2-1D47-CEA1-3561-17DAF62EDF0B}"/>
              </a:ext>
            </a:extLst>
          </p:cNvPr>
          <p:cNvSpPr txBox="1"/>
          <p:nvPr/>
        </p:nvSpPr>
        <p:spPr>
          <a:xfrm>
            <a:off x="166116" y="329845"/>
            <a:ext cx="110550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Goal: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Understand how GitHub Actions automates Continuous Integration (CI) and container image delivery, while demonstrating the deployment process using Docker.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6EC9FD-F28C-DA7B-D527-96D90DA4DE61}"/>
              </a:ext>
            </a:extLst>
          </p:cNvPr>
          <p:cNvSpPr/>
          <p:nvPr/>
        </p:nvSpPr>
        <p:spPr>
          <a:xfrm>
            <a:off x="9281160" y="1828800"/>
            <a:ext cx="2825496" cy="932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/>
              <a:t>Local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1DD3AE-8942-6B06-4436-531E66446F88}"/>
              </a:ext>
            </a:extLst>
          </p:cNvPr>
          <p:cNvSpPr/>
          <p:nvPr/>
        </p:nvSpPr>
        <p:spPr>
          <a:xfrm>
            <a:off x="9354312" y="3578001"/>
            <a:ext cx="2752344" cy="932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/>
              <a:t>GitHub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F70720-A71A-3156-84EB-829E9C442B32}"/>
              </a:ext>
            </a:extLst>
          </p:cNvPr>
          <p:cNvSpPr/>
          <p:nvPr/>
        </p:nvSpPr>
        <p:spPr>
          <a:xfrm>
            <a:off x="9354312" y="5342132"/>
            <a:ext cx="2680716" cy="932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/>
              <a:t>Server</a:t>
            </a:r>
          </a:p>
          <a:p>
            <a:pPr algn="ctr"/>
            <a:r>
              <a:rPr lang="en-IN"/>
              <a:t>(Simulate on local m/c)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96D20C9-DE02-3A23-28BC-AEC4BEF3D67E}"/>
              </a:ext>
            </a:extLst>
          </p:cNvPr>
          <p:cNvSpPr/>
          <p:nvPr/>
        </p:nvSpPr>
        <p:spPr>
          <a:xfrm rot="5400000">
            <a:off x="10405872" y="2972622"/>
            <a:ext cx="603504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24A17E3-5F92-D3D0-79A6-E568D6FB5AF3}"/>
              </a:ext>
            </a:extLst>
          </p:cNvPr>
          <p:cNvSpPr/>
          <p:nvPr/>
        </p:nvSpPr>
        <p:spPr>
          <a:xfrm rot="5400000">
            <a:off x="10384536" y="4668012"/>
            <a:ext cx="603504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A7ED9B-9B3B-17D2-6946-9564CD90D7AF}"/>
              </a:ext>
            </a:extLst>
          </p:cNvPr>
          <p:cNvSpPr txBox="1"/>
          <p:nvPr/>
        </p:nvSpPr>
        <p:spPr>
          <a:xfrm>
            <a:off x="85344" y="2761488"/>
            <a:ext cx="90799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NOTE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CI and image publishing stages are automated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Deployment is performed manually here.  This final stage can be automated using AWS Elastic Beanstalk, ECS, or another hosting platform. This would extend the project into a complete CI/CD deployment pipeline.</a:t>
            </a:r>
          </a:p>
        </p:txBody>
      </p:sp>
    </p:spTree>
    <p:extLst>
      <p:ext uri="{BB962C8B-B14F-4D97-AF65-F5344CB8AC3E}">
        <p14:creationId xmlns:p14="http://schemas.microsoft.com/office/powerpoint/2010/main" val="365362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D7244-A974-B20A-BEB7-0726B2C3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3277-CC49-2D78-4766-01112E52B478}"/>
              </a:ext>
            </a:extLst>
          </p:cNvPr>
          <p:cNvSpPr txBox="1"/>
          <p:nvPr/>
        </p:nvSpPr>
        <p:spPr>
          <a:xfrm>
            <a:off x="422148" y="348133"/>
            <a:ext cx="36377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1) Create a virtual env: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venv .venv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.\.venv\Scripts\Activate.ps1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mkdir house-price-api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cd house-price-api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81F44-9AB1-39DD-4699-A6CC66CD9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784" y="475088"/>
            <a:ext cx="3843379" cy="590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1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62A60-E299-C947-161D-F32E0AA7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444170-B230-24DE-4D66-128DCD1D2D45}"/>
              </a:ext>
            </a:extLst>
          </p:cNvPr>
          <p:cNvSpPr txBox="1"/>
          <p:nvPr/>
        </p:nvSpPr>
        <p:spPr>
          <a:xfrm>
            <a:off x="422148" y="348133"/>
            <a:ext cx="36377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2) requirements.txt</a:t>
            </a:r>
          </a:p>
          <a:p>
            <a:endParaRPr lang="en-IN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uvicorn[standard]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scikit-learn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joblib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pytest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4E13A-7B85-A377-5037-BA21E1CF15BC}"/>
              </a:ext>
            </a:extLst>
          </p:cNvPr>
          <p:cNvSpPr txBox="1"/>
          <p:nvPr/>
        </p:nvSpPr>
        <p:spPr>
          <a:xfrm>
            <a:off x="267462" y="3924545"/>
            <a:ext cx="104218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the packages: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&gt; python   -m   pip   install   -r   requirements.txt</a:t>
            </a:r>
          </a:p>
          <a:p>
            <a:pPr rtl="0">
              <a:buNone/>
            </a:pP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For production, pin tested dependency versions or use a lockfile. The unpinned list here keeps the classroom setup simple.</a:t>
            </a:r>
          </a:p>
        </p:txBody>
      </p:sp>
    </p:spTree>
    <p:extLst>
      <p:ext uri="{BB962C8B-B14F-4D97-AF65-F5344CB8AC3E}">
        <p14:creationId xmlns:p14="http://schemas.microsoft.com/office/powerpoint/2010/main" val="46996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219F3-1354-EA87-7EDF-7A0B7ABD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56826-382C-06D8-086A-9D42745CAE12}"/>
              </a:ext>
            </a:extLst>
          </p:cNvPr>
          <p:cNvSpPr txBox="1"/>
          <p:nvPr/>
        </p:nvSpPr>
        <p:spPr>
          <a:xfrm>
            <a:off x="422148" y="348133"/>
            <a:ext cx="9480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3) train.py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This script generates a synthetic dataset, trains a regression model, evaluates it, and saves the model to house_price_model.joblib.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17E76-8481-F3B1-9AFD-F3EEAA8EA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73" y="2606041"/>
            <a:ext cx="2676292" cy="23417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CFFAC4-F742-8569-3171-EEC56B5917C3}"/>
                  </a:ext>
                </a:extLst>
              </p14:cNvPr>
              <p14:cNvContentPartPr/>
              <p14:nvPr/>
            </p14:nvContentPartPr>
            <p14:xfrm>
              <a:off x="7159464" y="3829536"/>
              <a:ext cx="616680" cy="276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CFFAC4-F742-8569-3171-EEC56B5917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1824" y="3811536"/>
                <a:ext cx="65232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3587CC-3E47-F90A-25F6-F62F1520EA6E}"/>
                  </a:ext>
                </a:extLst>
              </p14:cNvPr>
              <p14:cNvContentPartPr/>
              <p14:nvPr/>
            </p14:nvContentPartPr>
            <p14:xfrm>
              <a:off x="7845264" y="3412296"/>
              <a:ext cx="377280" cy="240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3587CC-3E47-F90A-25F6-F62F1520EA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27624" y="3394656"/>
                <a:ext cx="412920" cy="27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2140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49F80-DCEE-877D-2708-EBD99410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F39E3-9B78-B758-61CC-DA58CAC74819}"/>
              </a:ext>
            </a:extLst>
          </p:cNvPr>
          <p:cNvSpPr txBox="1"/>
          <p:nvPr/>
        </p:nvSpPr>
        <p:spPr>
          <a:xfrm>
            <a:off x="422148" y="348133"/>
            <a:ext cx="94808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4)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main.py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This file loads the trained model and exposes two endpoints:</a:t>
            </a:r>
          </a:p>
          <a:p>
            <a:pPr lvl="0"/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GET /health — checks whether the API is running.</a:t>
            </a:r>
          </a:p>
          <a:p>
            <a:pPr lvl="0"/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POST /predict — predicts the price of a house.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0CA3001-514E-D328-7D68-83C176C41CD8}"/>
                  </a:ext>
                </a:extLst>
              </p14:cNvPr>
              <p14:cNvContentPartPr/>
              <p14:nvPr/>
            </p14:nvContentPartPr>
            <p14:xfrm>
              <a:off x="9286272" y="3152520"/>
              <a:ext cx="616680" cy="276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0CA3001-514E-D328-7D68-83C176C41C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8261" y="3134520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0D52F2-A4E0-8F99-537F-89CDAB353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429177"/>
            <a:ext cx="2590315" cy="27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1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09FCF-DAF7-E807-B7B5-7FD766AC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D4677A-A684-D508-3B24-62AFF120A45E}"/>
              </a:ext>
            </a:extLst>
          </p:cNvPr>
          <p:cNvSpPr txBox="1"/>
          <p:nvPr/>
        </p:nvSpPr>
        <p:spPr>
          <a:xfrm>
            <a:off x="422148" y="348133"/>
            <a:ext cx="9480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5)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test_api.py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tests check the API behavior and input validation. The workflow will train the model before running the tests.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D6DEFC-8758-6295-DEE1-B74D283D0817}"/>
                  </a:ext>
                </a:extLst>
              </p14:cNvPr>
              <p14:cNvContentPartPr/>
              <p14:nvPr/>
            </p14:nvContentPartPr>
            <p14:xfrm>
              <a:off x="9286272" y="3152520"/>
              <a:ext cx="616680" cy="276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D6DEFC-8758-6295-DEE1-B74D283D08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8261" y="3134520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6D3F8D-F21E-DD64-280F-A2ACFD451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719771"/>
            <a:ext cx="2372433" cy="290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19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9ABBF-6F5E-E80A-EA1B-D4D9B55E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A21C84-0A72-E725-496A-3A9F374CCAFC}"/>
              </a:ext>
            </a:extLst>
          </p:cNvPr>
          <p:cNvSpPr txBox="1"/>
          <p:nvPr/>
        </p:nvSpPr>
        <p:spPr>
          <a:xfrm>
            <a:off x="422148" y="348133"/>
            <a:ext cx="94808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6) Train the model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these commands in the activated virtual environment.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 train.py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The training script should also report the validation MAE and create house_price_model.joblib.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B2C53-F5A0-6980-40F3-16C7641B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68" y="5120640"/>
            <a:ext cx="11599178" cy="893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A7157-5EE4-B6F2-0806-BE1C62D6A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562" y="1548462"/>
            <a:ext cx="2448267" cy="33151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376083-03C4-A520-5090-4C49FC009606}"/>
                  </a:ext>
                </a:extLst>
              </p14:cNvPr>
              <p14:cNvContentPartPr/>
              <p14:nvPr/>
            </p14:nvContentPartPr>
            <p14:xfrm>
              <a:off x="9459829" y="2677032"/>
              <a:ext cx="616680" cy="276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376083-03C4-A520-5090-4C49FC0096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1818" y="2659032"/>
                <a:ext cx="652341" cy="31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332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70695-8247-508F-A5E2-BEB594E7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EB683D-1A20-99B5-D7B4-C88396F143A2}"/>
              </a:ext>
            </a:extLst>
          </p:cNvPr>
          <p:cNvSpPr txBox="1"/>
          <p:nvPr/>
        </p:nvSpPr>
        <p:spPr>
          <a:xfrm>
            <a:off x="422148" y="348133"/>
            <a:ext cx="94808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7) Test the model locally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a) Open a new terminal and start the API on this new terminal: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 -m  uvicorn  main:app   --reload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82AA19-6C45-BE28-1D99-DDE602CA03EC}"/>
                  </a:ext>
                </a:extLst>
              </p14:cNvPr>
              <p14:cNvContentPartPr/>
              <p14:nvPr/>
            </p14:nvContentPartPr>
            <p14:xfrm>
              <a:off x="11124259" y="2780932"/>
              <a:ext cx="616680" cy="276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82AA19-6C45-BE28-1D99-DDE602CA03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6248" y="2762932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AB3B73D-D7BC-E5FE-36AD-23EB2B4FF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28" y="3104212"/>
            <a:ext cx="11545911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4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76E03-0907-44BD-E654-F93C7410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42950-CEB5-D4A0-7A3F-0FC1B0D34706}"/>
              </a:ext>
            </a:extLst>
          </p:cNvPr>
          <p:cNvSpPr txBox="1"/>
          <p:nvPr/>
        </p:nvSpPr>
        <p:spPr>
          <a:xfrm>
            <a:off x="422148" y="348133"/>
            <a:ext cx="102214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b) Open these URLs in your browser: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API documentation: http://127.0.0.1:8000/docs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Health endpoint: http://127.0.0.1:8000/health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Try this JSON request in Swagger UI under POST /predict: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  "area": 1500,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  "bedrooms": 3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The API returns the predicted price in lakh rupees. The exact prediction may vary if you change the dataset or training code.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Stop the server with Ctrl+C before continuing.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47B06E-2B82-522C-0930-0B5E4EE407C4}"/>
                  </a:ext>
                </a:extLst>
              </p14:cNvPr>
              <p14:cNvContentPartPr/>
              <p14:nvPr/>
            </p14:nvContentPartPr>
            <p14:xfrm>
              <a:off x="11124259" y="2780932"/>
              <a:ext cx="616680" cy="276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47B06E-2B82-522C-0930-0B5E4EE407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6248" y="2762932"/>
                <a:ext cx="652341" cy="31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9745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B77F3-BD5D-A037-757D-F129E31F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51B46-4FA4-1B3A-656C-872973F68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" y="311336"/>
            <a:ext cx="6894769" cy="62701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B0CB98-DCD1-9A73-718C-B7B84C96F355}"/>
                  </a:ext>
                </a:extLst>
              </p14:cNvPr>
              <p14:cNvContentPartPr/>
              <p14:nvPr/>
            </p14:nvContentPartPr>
            <p14:xfrm>
              <a:off x="3520535" y="1601356"/>
              <a:ext cx="616680" cy="276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B0CB98-DCD1-9A73-718C-B7B84C96F3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2524" y="1583356"/>
                <a:ext cx="652341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99B25B-6E3D-4BCD-9B79-13DBCA6A48AA}"/>
                  </a:ext>
                </a:extLst>
              </p14:cNvPr>
              <p14:cNvContentPartPr/>
              <p14:nvPr/>
            </p14:nvContentPartPr>
            <p14:xfrm>
              <a:off x="2903855" y="5118404"/>
              <a:ext cx="616680" cy="27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99B25B-6E3D-4BCD-9B79-13DBCA6A48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5844" y="5100404"/>
                <a:ext cx="652341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6B1B52-28E9-D1E2-8945-8A1C221E5E87}"/>
                  </a:ext>
                </a:extLst>
              </p14:cNvPr>
              <p14:cNvContentPartPr/>
              <p14:nvPr/>
            </p14:nvContentPartPr>
            <p14:xfrm>
              <a:off x="2008727" y="311336"/>
              <a:ext cx="616680" cy="276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6B1B52-28E9-D1E2-8945-8A1C221E5E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0716" y="293336"/>
                <a:ext cx="652341" cy="31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314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94AA8-474E-FC88-777F-37A161FA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C6C875-CC37-5CBB-1E42-6942C66E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218" y="223181"/>
            <a:ext cx="4001058" cy="65826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3F9921-BCC6-2D3E-42FB-825E95633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2125"/>
            <a:ext cx="3615878" cy="6753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935052-66C7-2997-424F-169BE92D5C77}"/>
                  </a:ext>
                </a:extLst>
              </p14:cNvPr>
              <p14:cNvContentPartPr/>
              <p14:nvPr/>
            </p14:nvContentPartPr>
            <p14:xfrm>
              <a:off x="2612231" y="148980"/>
              <a:ext cx="616680" cy="276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935052-66C7-2997-424F-169BE92D5C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4220" y="130980"/>
                <a:ext cx="652341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D22B7CF-58F1-CB00-876A-D967C440E9B3}"/>
                  </a:ext>
                </a:extLst>
              </p14:cNvPr>
              <p14:cNvContentPartPr/>
              <p14:nvPr/>
            </p14:nvContentPartPr>
            <p14:xfrm>
              <a:off x="1862423" y="2092084"/>
              <a:ext cx="616680" cy="276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D22B7CF-58F1-CB00-876A-D967C440E9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4412" y="2074084"/>
                <a:ext cx="652341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6A99875-79FE-9882-3A9E-C0F6B2D77A9F}"/>
                  </a:ext>
                </a:extLst>
              </p14:cNvPr>
              <p14:cNvContentPartPr/>
              <p14:nvPr/>
            </p14:nvContentPartPr>
            <p14:xfrm>
              <a:off x="9738303" y="4083316"/>
              <a:ext cx="616680" cy="276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6A99875-79FE-9882-3A9E-C0F6B2D77A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0292" y="4065316"/>
                <a:ext cx="652341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F062F2-D0F8-3249-5A1E-D6791F796EE0}"/>
                  </a:ext>
                </a:extLst>
              </p14:cNvPr>
              <p14:cNvContentPartPr/>
              <p14:nvPr/>
            </p14:nvContentPartPr>
            <p14:xfrm>
              <a:off x="3032855" y="4359796"/>
              <a:ext cx="616680" cy="276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F062F2-D0F8-3249-5A1E-D6791F796E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4844" y="4341796"/>
                <a:ext cx="652341" cy="31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5657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7CCFD-07AE-692F-9DAE-C9121D50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0E3A2-537B-49A0-270F-B862C8C06B25}"/>
              </a:ext>
            </a:extLst>
          </p:cNvPr>
          <p:cNvSpPr txBox="1"/>
          <p:nvPr/>
        </p:nvSpPr>
        <p:spPr>
          <a:xfrm>
            <a:off x="422148" y="348133"/>
            <a:ext cx="10221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c) Test it using pytest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pytest   -v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6B04AE-90FA-241C-0B2D-91965C586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3" y="1861265"/>
            <a:ext cx="11603069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2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07FC6-CF2C-6106-FDCC-E9C3CF9D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001979-76DD-D2C9-099F-53B0192650B1}"/>
              </a:ext>
            </a:extLst>
          </p:cNvPr>
          <p:cNvSpPr txBox="1"/>
          <p:nvPr/>
        </p:nvSpPr>
        <p:spPr>
          <a:xfrm>
            <a:off x="262862" y="105289"/>
            <a:ext cx="10801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7. Dockerize the FastAPI application</a:t>
            </a:r>
          </a:p>
          <a:p>
            <a:endParaRPr lang="en-IN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packages your application and its dependencies into a container image. 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The same image can run on your laptop, a testing server, or a production server. This is one of the main benefits of containerized FastAPI deployments. 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a)  Create a file named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Dockerfile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with no file extension.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E9A50-01F6-B506-08C0-D5F5D1ECB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835" y="2222119"/>
            <a:ext cx="2495898" cy="36390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CA90F3-C5A6-C5D5-A89D-CE085852A19A}"/>
                  </a:ext>
                </a:extLst>
              </p14:cNvPr>
              <p14:cNvContentPartPr/>
              <p14:nvPr/>
            </p14:nvContentPartPr>
            <p14:xfrm>
              <a:off x="11499163" y="3290760"/>
              <a:ext cx="616680" cy="27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CA90F3-C5A6-C5D5-A89D-CE085852A1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81152" y="3272760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AFEEE00-9BDF-5666-87E5-A98075940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6" y="2136614"/>
            <a:ext cx="5038673" cy="460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38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C1965-FAD4-B892-2318-9F25CB6A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CD37E1-8333-2418-CF8B-B3087BD189A2}"/>
              </a:ext>
            </a:extLst>
          </p:cNvPr>
          <p:cNvSpPr txBox="1"/>
          <p:nvPr/>
        </p:nvSpPr>
        <p:spPr>
          <a:xfrm>
            <a:off x="422148" y="348133"/>
            <a:ext cx="8412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b) Create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.dockerignore 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file to prevent unnecessary files from entering the Docker build context.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F2F910-5B2C-A905-7094-88F4EED5232A}"/>
                  </a:ext>
                </a:extLst>
              </p14:cNvPr>
              <p14:cNvContentPartPr/>
              <p14:nvPr/>
            </p14:nvContentPartPr>
            <p14:xfrm>
              <a:off x="11499163" y="3290760"/>
              <a:ext cx="616680" cy="27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F2F910-5B2C-A905-7094-88F4EED523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81152" y="3272760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8C4773-6469-448D-F042-7B523F123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461" y="2124944"/>
            <a:ext cx="2705478" cy="3924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433DF7-D6BF-73D3-E307-B3AB5FB14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648114"/>
            <a:ext cx="1868509" cy="254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7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4018F6-676A-5825-A77A-88F917AD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D15F5A-8F7C-32AB-8023-AC544A3708BE}"/>
              </a:ext>
            </a:extLst>
          </p:cNvPr>
          <p:cNvSpPr txBox="1"/>
          <p:nvPr/>
        </p:nvSpPr>
        <p:spPr>
          <a:xfrm>
            <a:off x="422148" y="348133"/>
            <a:ext cx="95448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c) Build and test the Docker image locally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First, ensure Docker Desktop is running.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  train.py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docker  build  -t  house-price-api:local .</a:t>
            </a:r>
          </a:p>
          <a:p>
            <a:endParaRPr lang="en-IN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docker  run  -d  --name  house-price-container  -p  8000:8000  house-price-api:local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079FC2-560E-4A05-08FC-C2997099C89D}"/>
                  </a:ext>
                </a:extLst>
              </p14:cNvPr>
              <p14:cNvContentPartPr/>
              <p14:nvPr/>
            </p14:nvContentPartPr>
            <p14:xfrm>
              <a:off x="11499163" y="3290760"/>
              <a:ext cx="616680" cy="27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079FC2-560E-4A05-08FC-C2997099C8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81152" y="3272760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A937EAB-B675-4225-7440-1AA2B07D5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3" y="2862183"/>
            <a:ext cx="10583752" cy="1133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559E38-ADFB-6B4D-5F64-F8955AEB18EC}"/>
              </a:ext>
            </a:extLst>
          </p:cNvPr>
          <p:cNvSpPr txBox="1"/>
          <p:nvPr/>
        </p:nvSpPr>
        <p:spPr>
          <a:xfrm>
            <a:off x="422148" y="4969871"/>
            <a:ext cx="898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d) Open </a:t>
            </a:r>
            <a:r>
              <a:rPr lang="en-IN" sz="18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http://127.0.0.1:8000/docs 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and test the prediction endpoint.</a:t>
            </a:r>
          </a:p>
        </p:txBody>
      </p:sp>
    </p:spTree>
    <p:extLst>
      <p:ext uri="{BB962C8B-B14F-4D97-AF65-F5344CB8AC3E}">
        <p14:creationId xmlns:p14="http://schemas.microsoft.com/office/powerpoint/2010/main" val="4068728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352E6-C158-B93E-72BE-3FA3EDF0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5D88A9-E1ED-DE63-3220-3B5F7B951485}"/>
              </a:ext>
            </a:extLst>
          </p:cNvPr>
          <p:cNvSpPr txBox="1"/>
          <p:nvPr/>
        </p:nvSpPr>
        <p:spPr>
          <a:xfrm>
            <a:off x="422148" y="348133"/>
            <a:ext cx="9544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e) Check container logs: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docker  logs  house-price-container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8B43AB-A957-E0EC-B02C-CAA98BB43CC6}"/>
                  </a:ext>
                </a:extLst>
              </p14:cNvPr>
              <p14:cNvContentPartPr/>
              <p14:nvPr/>
            </p14:nvContentPartPr>
            <p14:xfrm>
              <a:off x="11499163" y="3290760"/>
              <a:ext cx="616680" cy="27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8B43AB-A957-E0EC-B02C-CAA98BB43C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81152" y="3272760"/>
                <a:ext cx="652341" cy="3121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895DDF7-8D0C-27A2-3CD8-92544A908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7" y="3219261"/>
            <a:ext cx="10821910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79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208F1-966D-0683-E2AB-99A15C39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A8565A-C734-4FCA-A6A7-ACEE552EE82D}"/>
              </a:ext>
            </a:extLst>
          </p:cNvPr>
          <p:cNvSpPr txBox="1"/>
          <p:nvPr/>
        </p:nvSpPr>
        <p:spPr>
          <a:xfrm>
            <a:off x="422148" y="348133"/>
            <a:ext cx="95448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f) Stop and remove the container after testing: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stop  house-price-container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rm  house-price-container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At this stage, you have a working Dockerized ML application that is running locally.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34F8DB-FD7A-9BFE-BBA5-5BE4BC22D3ED}"/>
                  </a:ext>
                </a:extLst>
              </p14:cNvPr>
              <p14:cNvContentPartPr/>
              <p14:nvPr/>
            </p14:nvContentPartPr>
            <p14:xfrm>
              <a:off x="9076003" y="2462559"/>
              <a:ext cx="616680" cy="27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34F8DB-FD7A-9BFE-BBA5-5BE4BC22D3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57992" y="2444559"/>
                <a:ext cx="652341" cy="3121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173A28A-92F9-AB57-8A66-198B30EFB0FE}"/>
              </a:ext>
            </a:extLst>
          </p:cNvPr>
          <p:cNvSpPr txBox="1"/>
          <p:nvPr/>
        </p:nvSpPr>
        <p:spPr>
          <a:xfrm>
            <a:off x="971550" y="5958763"/>
            <a:ext cx="899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Next, we will automate the same operations through GitHub Actions.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4B624C-B341-2AA1-E8E9-3A4A536D7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9" y="2872296"/>
            <a:ext cx="12192000" cy="12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68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949AA-469D-D073-46CA-5DC6405C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022AF6-2C2F-D560-E5F7-ED2982958E24}"/>
              </a:ext>
            </a:extLst>
          </p:cNvPr>
          <p:cNvSpPr txBox="1"/>
          <p:nvPr/>
        </p:nvSpPr>
        <p:spPr>
          <a:xfrm>
            <a:off x="623316" y="2615845"/>
            <a:ext cx="106329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GitHub Actions for CI/CD</a:t>
            </a:r>
          </a:p>
        </p:txBody>
      </p:sp>
    </p:spTree>
    <p:extLst>
      <p:ext uri="{BB962C8B-B14F-4D97-AF65-F5344CB8AC3E}">
        <p14:creationId xmlns:p14="http://schemas.microsoft.com/office/powerpoint/2010/main" val="3016796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48DF3-682C-FDA3-1CA0-9157470E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B4E7CE-777D-B453-4669-E6560A93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723" y="0"/>
            <a:ext cx="4420217" cy="1143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3BD8D-A686-CF08-28A2-4AA5DED1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600" y="1355860"/>
            <a:ext cx="7344800" cy="1695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0C079B-EDCB-647E-FA81-E762F0094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64" y="3575033"/>
            <a:ext cx="3419952" cy="1152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9EC039-12A9-F03F-3B9A-53A947D75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008" y="5315213"/>
            <a:ext cx="6449325" cy="1114581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BF81DA3B-C09B-0D55-B390-0E4970D6DE0C}"/>
              </a:ext>
            </a:extLst>
          </p:cNvPr>
          <p:cNvSpPr/>
          <p:nvPr/>
        </p:nvSpPr>
        <p:spPr>
          <a:xfrm>
            <a:off x="5632704" y="1079312"/>
            <a:ext cx="347472" cy="304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6E1A334-159D-58DC-E988-9A2BCE036163}"/>
              </a:ext>
            </a:extLst>
          </p:cNvPr>
          <p:cNvSpPr/>
          <p:nvPr/>
        </p:nvSpPr>
        <p:spPr>
          <a:xfrm>
            <a:off x="5632704" y="3051547"/>
            <a:ext cx="347472" cy="304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E7A3762-A19B-B1CC-B9DF-A06ACC8D082A}"/>
              </a:ext>
            </a:extLst>
          </p:cNvPr>
          <p:cNvSpPr/>
          <p:nvPr/>
        </p:nvSpPr>
        <p:spPr>
          <a:xfrm>
            <a:off x="5583935" y="4794755"/>
            <a:ext cx="347472" cy="304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92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C2156-938A-7745-CC7F-DFF874C1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2CB953F-8627-8353-7483-739F74C6FAE5}"/>
              </a:ext>
            </a:extLst>
          </p:cNvPr>
          <p:cNvSpPr txBox="1"/>
          <p:nvPr/>
        </p:nvSpPr>
        <p:spPr>
          <a:xfrm>
            <a:off x="192766" y="0"/>
            <a:ext cx="95547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Create a repository on Docker 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Hub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sign in (or create an account).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Repositories → Create repository.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BB64B8-D429-AAF0-4213-87ADDDE0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082634"/>
            <a:ext cx="8159496" cy="37467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EFF54A-74B7-0DF6-3616-7B143D9D02DE}"/>
                  </a:ext>
                </a:extLst>
              </p14:cNvPr>
              <p14:cNvContentPartPr/>
              <p14:nvPr/>
            </p14:nvContentPartPr>
            <p14:xfrm>
              <a:off x="10990944" y="2613672"/>
              <a:ext cx="259200" cy="240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EFF54A-74B7-0DF6-3616-7B143D9D02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72944" y="2595672"/>
                <a:ext cx="2948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033B228-8D87-3344-E143-2062224ADC75}"/>
                  </a:ext>
                </a:extLst>
              </p14:cNvPr>
              <p14:cNvContentPartPr/>
              <p14:nvPr/>
            </p14:nvContentPartPr>
            <p14:xfrm>
              <a:off x="4398264" y="2038392"/>
              <a:ext cx="249840" cy="257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033B228-8D87-3344-E143-2062224ADC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80264" y="2020392"/>
                <a:ext cx="285480" cy="2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259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099BC-D375-EB42-0CDE-7CA43BFE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8CB220-2348-7639-281D-526F1CD6B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044324"/>
              </p:ext>
            </p:extLst>
          </p:nvPr>
        </p:nvGraphicFramePr>
        <p:xfrm>
          <a:off x="3073126" y="67449"/>
          <a:ext cx="6943344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3872">
                  <a:extLst>
                    <a:ext uri="{9D8B030D-6E8A-4147-A177-3AD203B41FA5}">
                      <a16:colId xmlns:a16="http://schemas.microsoft.com/office/drawing/2014/main" val="2472716357"/>
                    </a:ext>
                  </a:extLst>
                </a:gridCol>
                <a:gridCol w="4919472">
                  <a:extLst>
                    <a:ext uri="{9D8B030D-6E8A-4147-A177-3AD203B41FA5}">
                      <a16:colId xmlns:a16="http://schemas.microsoft.com/office/drawing/2014/main" val="18023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534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Your Docker Hub username (ash322)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2555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Repository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house-price-api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23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Public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714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Dockerized FastAPI House Price Prediction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6827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A75AC57-5A03-0CB5-06A3-E26EC901FEEE}"/>
              </a:ext>
            </a:extLst>
          </p:cNvPr>
          <p:cNvSpPr txBox="1"/>
          <p:nvPr/>
        </p:nvSpPr>
        <p:spPr>
          <a:xfrm>
            <a:off x="192766" y="284037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these settings: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419D1-08DC-56AC-0468-FCF28367A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52" y="1965960"/>
            <a:ext cx="8330229" cy="48245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AE447B-1FF1-6D55-5FE7-70C3A338D740}"/>
                  </a:ext>
                </a:extLst>
              </p14:cNvPr>
              <p14:cNvContentPartPr/>
              <p14:nvPr/>
            </p14:nvContentPartPr>
            <p14:xfrm>
              <a:off x="2334906" y="2842272"/>
              <a:ext cx="259200" cy="240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AE447B-1FF1-6D55-5FE7-70C3A338D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6906" y="2824299"/>
                <a:ext cx="294840" cy="275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76CE78-75A8-B56B-5A65-91DFB945209C}"/>
                  </a:ext>
                </a:extLst>
              </p14:cNvPr>
              <p14:cNvContentPartPr/>
              <p14:nvPr/>
            </p14:nvContentPartPr>
            <p14:xfrm>
              <a:off x="4554266" y="3680472"/>
              <a:ext cx="259200" cy="24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76CE78-75A8-B56B-5A65-91DFB94520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6266" y="3662499"/>
                <a:ext cx="294840" cy="275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264DE5-A9E9-6EFC-C5A2-4EBC4101549D}"/>
                  </a:ext>
                </a:extLst>
              </p14:cNvPr>
              <p14:cNvContentPartPr/>
              <p14:nvPr/>
            </p14:nvContentPartPr>
            <p14:xfrm>
              <a:off x="1847226" y="5477054"/>
              <a:ext cx="259200" cy="240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264DE5-A9E9-6EFC-C5A2-4EBC410154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9226" y="5459081"/>
                <a:ext cx="294840" cy="275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E9141B-8159-1821-527B-4379B8E240EE}"/>
                  </a:ext>
                </a:extLst>
              </p14:cNvPr>
              <p14:cNvContentPartPr/>
              <p14:nvPr/>
            </p14:nvContentPartPr>
            <p14:xfrm>
              <a:off x="5577978" y="6213360"/>
              <a:ext cx="259200" cy="240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E9141B-8159-1821-527B-4379B8E240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59978" y="6195387"/>
                <a:ext cx="294840" cy="2757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2471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04BAC-A967-2668-5716-96BA69C2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6484A3-1895-65B2-F230-0F6FB30E72B4}"/>
              </a:ext>
            </a:extLst>
          </p:cNvPr>
          <p:cNvSpPr txBox="1"/>
          <p:nvPr/>
        </p:nvSpPr>
        <p:spPr>
          <a:xfrm>
            <a:off x="331470" y="332524"/>
            <a:ext cx="11281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Your image will eventually appear under:  YOUR_DOCKERHUB_USERNAME/house-price-api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ED784-816F-9096-C1F9-225F7F7B8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7" y="1133856"/>
            <a:ext cx="11372485" cy="45208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F58E1E-91F2-39A6-3405-BE2D09728EC6}"/>
                  </a:ext>
                </a:extLst>
              </p14:cNvPr>
              <p14:cNvContentPartPr/>
              <p14:nvPr/>
            </p14:nvContentPartPr>
            <p14:xfrm>
              <a:off x="1810368" y="2814840"/>
              <a:ext cx="259200" cy="240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F58E1E-91F2-39A6-3405-BE2D09728E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368" y="2796840"/>
                <a:ext cx="2948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D498FD0-BC08-97F4-20A8-418377C1B37B}"/>
                  </a:ext>
                </a:extLst>
              </p14:cNvPr>
              <p14:cNvContentPartPr/>
              <p14:nvPr/>
            </p14:nvContentPartPr>
            <p14:xfrm>
              <a:off x="4818744" y="4058424"/>
              <a:ext cx="259200" cy="240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D498FD0-BC08-97F4-20A8-418377C1B3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0744" y="4040424"/>
                <a:ext cx="294840" cy="2757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EFDDD8A-2918-7179-3106-109DD7B76663}"/>
              </a:ext>
            </a:extLst>
          </p:cNvPr>
          <p:cNvSpPr txBox="1"/>
          <p:nvPr/>
        </p:nvSpPr>
        <p:spPr>
          <a:xfrm>
            <a:off x="541782" y="5961441"/>
            <a:ext cx="9342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 your actual Docker Hub username in the steps below.</a:t>
            </a:r>
          </a:p>
        </p:txBody>
      </p:sp>
    </p:spTree>
    <p:extLst>
      <p:ext uri="{BB962C8B-B14F-4D97-AF65-F5344CB8AC3E}">
        <p14:creationId xmlns:p14="http://schemas.microsoft.com/office/powerpoint/2010/main" val="10611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B765A-2CA1-6CF6-4B81-3744754C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AA546F-56D9-3F29-844A-D5D0C59005CA}"/>
              </a:ext>
            </a:extLst>
          </p:cNvPr>
          <p:cNvSpPr txBox="1"/>
          <p:nvPr/>
        </p:nvSpPr>
        <p:spPr>
          <a:xfrm>
            <a:off x="64008" y="64008"/>
            <a:ext cx="45628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Generate a Docker Hub access token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GitHub Actions needs permission to push images to Docker Hub. 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putting your Docker Hub account password into GitHub, use an access token.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Hub → Account settings (Accessed by clicking profile image).</a:t>
            </a:r>
          </a:p>
          <a:p>
            <a:pPr marL="342900" lvl="0" indent="-342900">
              <a:buFont typeface="+mj-lt"/>
              <a:buAutoNum type="arabicPeriod"/>
            </a:pPr>
            <a:endParaRPr lang="en-IN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 access tokens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token named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github-actions-house-api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Read, Write &amp; Delete 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access</a:t>
            </a:r>
          </a:p>
          <a:p>
            <a:pPr marL="342900" lvl="0" indent="-342900">
              <a:buFont typeface="+mj-lt"/>
              <a:buAutoNum type="arabicPeriod"/>
            </a:pP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the token and copy it somewhere secure temporarily.</a:t>
            </a:r>
          </a:p>
          <a:p>
            <a:pPr marL="342900" lvl="0" indent="-342900">
              <a:buFont typeface="+mj-lt"/>
              <a:buAutoNum type="arabicPeriod"/>
            </a:pP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officially recommends access tokens for GitHub Actions registry authentication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9D446-7532-9C74-C072-E39C60A75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129" y="1033272"/>
            <a:ext cx="7156280" cy="54595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5846C4-EF74-B0DC-AB6B-0B084A808827}"/>
                  </a:ext>
                </a:extLst>
              </p14:cNvPr>
              <p14:cNvContentPartPr/>
              <p14:nvPr/>
            </p14:nvContentPartPr>
            <p14:xfrm>
              <a:off x="6647544" y="4564656"/>
              <a:ext cx="216720" cy="218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5846C4-EF74-B0DC-AB6B-0B084A8088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29544" y="4547016"/>
                <a:ext cx="2523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E850610-799E-43A3-4366-56A405B6B09B}"/>
                  </a:ext>
                </a:extLst>
              </p14:cNvPr>
              <p14:cNvContentPartPr/>
              <p14:nvPr/>
            </p14:nvContentPartPr>
            <p14:xfrm>
              <a:off x="8677584" y="3581856"/>
              <a:ext cx="452520" cy="230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E850610-799E-43A3-4366-56A405B6B0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59584" y="3564216"/>
                <a:ext cx="4881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CD9F3A-1527-9614-77A5-4AD9A36EDC95}"/>
                  </a:ext>
                </a:extLst>
              </p14:cNvPr>
              <p14:cNvContentPartPr/>
              <p14:nvPr/>
            </p14:nvContentPartPr>
            <p14:xfrm>
              <a:off x="7872984" y="4154616"/>
              <a:ext cx="306720" cy="22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CD9F3A-1527-9614-77A5-4AD9A36EDC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54984" y="4136616"/>
                <a:ext cx="3423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815DEE4-5137-1030-C862-6892DE222B43}"/>
                  </a:ext>
                </a:extLst>
              </p14:cNvPr>
              <p14:cNvContentPartPr/>
              <p14:nvPr/>
            </p14:nvContentPartPr>
            <p14:xfrm>
              <a:off x="8576784" y="5084496"/>
              <a:ext cx="285840" cy="202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815DEE4-5137-1030-C862-6892DE222B4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59144" y="5066856"/>
                <a:ext cx="3214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575FD1-AFAF-A9D8-99F4-DAB0756B3869}"/>
                  </a:ext>
                </a:extLst>
              </p14:cNvPr>
              <p14:cNvContentPartPr/>
              <p14:nvPr/>
            </p14:nvContentPartPr>
            <p14:xfrm>
              <a:off x="8659224" y="6245496"/>
              <a:ext cx="253440" cy="123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575FD1-AFAF-A9D8-99F4-DAB0756B38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41224" y="6227856"/>
                <a:ext cx="2890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DCFFC0C-785C-781B-02CF-E594BFA4FD52}"/>
                  </a:ext>
                </a:extLst>
              </p14:cNvPr>
              <p14:cNvContentPartPr/>
              <p14:nvPr/>
            </p14:nvContentPartPr>
            <p14:xfrm>
              <a:off x="9656064" y="965016"/>
              <a:ext cx="243360" cy="229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DCFFC0C-785C-781B-02CF-E594BFA4FD5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38064" y="947376"/>
                <a:ext cx="279000" cy="2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6044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AC0F2-6A80-CC50-5AD5-9D980FC0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83EC5-204C-3ED2-3541-AEFBFBBAC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269" y="192167"/>
            <a:ext cx="9326277" cy="61444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2DF955-9C26-9FD5-C663-E9FD2EEE6397}"/>
                  </a:ext>
                </a:extLst>
              </p14:cNvPr>
              <p14:cNvContentPartPr/>
              <p14:nvPr/>
            </p14:nvContentPartPr>
            <p14:xfrm>
              <a:off x="8448984" y="5184936"/>
              <a:ext cx="606240" cy="32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2DF955-9C26-9FD5-C663-E9FD2EEE63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30984" y="5166936"/>
                <a:ext cx="64188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D7BAA5-3D1E-F49C-618D-BAE5B34E0AFE}"/>
                  </a:ext>
                </a:extLst>
              </p14:cNvPr>
              <p14:cNvContentPartPr/>
              <p14:nvPr/>
            </p14:nvContentPartPr>
            <p14:xfrm>
              <a:off x="5239224" y="299901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D7BAA5-3D1E-F49C-618D-BAE5B34E0A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1584" y="298137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E24FCC-72AD-E58A-F500-36FB53F035D4}"/>
                  </a:ext>
                </a:extLst>
              </p14:cNvPr>
              <p14:cNvContentPartPr/>
              <p14:nvPr/>
            </p14:nvContentPartPr>
            <p14:xfrm>
              <a:off x="5239224" y="2962656"/>
              <a:ext cx="1994040" cy="36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E24FCC-72AD-E58A-F500-36FB53F035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21224" y="2944656"/>
                <a:ext cx="202968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6545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691D7-05CE-EA8E-E189-E633E29B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A319D4-4E0C-5C45-92D1-56FA954C2444}"/>
              </a:ext>
            </a:extLst>
          </p:cNvPr>
          <p:cNvSpPr txBox="1"/>
          <p:nvPr/>
        </p:nvSpPr>
        <p:spPr>
          <a:xfrm>
            <a:off x="0" y="0"/>
            <a:ext cx="9095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Create and Configure GitHub repository secrets and variables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GitHub repository house-price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A9767E-8E66-2107-D98E-6969C5400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864" y="393192"/>
            <a:ext cx="6745998" cy="64556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548195D-2500-B696-C19D-5CE9C8341F4E}"/>
                  </a:ext>
                </a:extLst>
              </p14:cNvPr>
              <p14:cNvContentPartPr/>
              <p14:nvPr/>
            </p14:nvContentPartPr>
            <p14:xfrm>
              <a:off x="7626024" y="1911816"/>
              <a:ext cx="533880" cy="218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548195D-2500-B696-C19D-5CE9C8341F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8024" y="1894176"/>
                <a:ext cx="5695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1AE283-AA23-8646-8C0D-57DF4048EC35}"/>
                  </a:ext>
                </a:extLst>
              </p14:cNvPr>
              <p14:cNvContentPartPr/>
              <p14:nvPr/>
            </p14:nvContentPartPr>
            <p14:xfrm>
              <a:off x="6665904" y="2973456"/>
              <a:ext cx="373680" cy="151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1AE283-AA23-8646-8C0D-57DF4048EC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47904" y="2955816"/>
                <a:ext cx="4093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563E9C-1C4C-5DA7-2D79-29AC0ED06A52}"/>
                  </a:ext>
                </a:extLst>
              </p14:cNvPr>
              <p14:cNvContentPartPr/>
              <p14:nvPr/>
            </p14:nvContentPartPr>
            <p14:xfrm>
              <a:off x="10936224" y="3997296"/>
              <a:ext cx="164160" cy="172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563E9C-1C4C-5DA7-2D79-29AC0ED06A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18224" y="3979656"/>
                <a:ext cx="1998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D110BE2-43D6-197C-BA84-63AB0D77EF24}"/>
                  </a:ext>
                </a:extLst>
              </p14:cNvPr>
              <p14:cNvContentPartPr/>
              <p14:nvPr/>
            </p14:nvContentPartPr>
            <p14:xfrm>
              <a:off x="11109744" y="4871376"/>
              <a:ext cx="286200" cy="117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D110BE2-43D6-197C-BA84-63AB0D77EF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92104" y="4853736"/>
                <a:ext cx="3218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DA857D9-680E-2FA4-1FBA-5EA1602C9DD1}"/>
                  </a:ext>
                </a:extLst>
              </p14:cNvPr>
              <p14:cNvContentPartPr/>
              <p14:nvPr/>
            </p14:nvContentPartPr>
            <p14:xfrm>
              <a:off x="11027664" y="5453136"/>
              <a:ext cx="334440" cy="174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DA857D9-680E-2FA4-1FBA-5EA1602C9D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09664" y="5435496"/>
                <a:ext cx="3700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0CBC6D-6F86-3EAA-5228-ED950568A98B}"/>
                  </a:ext>
                </a:extLst>
              </p14:cNvPr>
              <p14:cNvContentPartPr/>
              <p14:nvPr/>
            </p14:nvContentPartPr>
            <p14:xfrm>
              <a:off x="11210544" y="5938056"/>
              <a:ext cx="267120" cy="192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0CBC6D-6F86-3EAA-5228-ED950568A9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92544" y="5920416"/>
                <a:ext cx="3027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C5CAB1-1DD2-82F1-263E-B1214C468EB7}"/>
                  </a:ext>
                </a:extLst>
              </p14:cNvPr>
              <p14:cNvContentPartPr/>
              <p14:nvPr/>
            </p14:nvContentPartPr>
            <p14:xfrm>
              <a:off x="11155464" y="6411816"/>
              <a:ext cx="338760" cy="264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C5CAB1-1DD2-82F1-263E-B1214C468EB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137824" y="6393816"/>
                <a:ext cx="374400" cy="29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C3A0D87-860B-754F-1A62-9C479B5745BE}"/>
              </a:ext>
            </a:extLst>
          </p:cNvPr>
          <p:cNvGrpSpPr/>
          <p:nvPr/>
        </p:nvGrpSpPr>
        <p:grpSpPr>
          <a:xfrm>
            <a:off x="6080544" y="4333896"/>
            <a:ext cx="360" cy="360"/>
            <a:chOff x="6080544" y="4333896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35BE5C-BA6E-129F-C09F-E52A9C7230A5}"/>
                    </a:ext>
                  </a:extLst>
                </p14:cNvPr>
                <p14:cNvContentPartPr/>
                <p14:nvPr/>
              </p14:nvContentPartPr>
              <p14:xfrm>
                <a:off x="6080544" y="4333896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35BE5C-BA6E-129F-C09F-E52A9C7230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62904" y="43162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366990-361A-5672-2FD8-AE98231F7B31}"/>
                    </a:ext>
                  </a:extLst>
                </p14:cNvPr>
                <p14:cNvContentPartPr/>
                <p14:nvPr/>
              </p14:nvContentPartPr>
              <p14:xfrm>
                <a:off x="6080544" y="4333896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366990-361A-5672-2FD8-AE98231F7B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62904" y="43162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9171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9C2C8-9A83-8DD2-0623-4F6DFF8C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74CE8C-5AF4-3BB5-C5D2-A13DAD9F8CED}"/>
              </a:ext>
            </a:extLst>
          </p:cNvPr>
          <p:cNvSpPr txBox="1"/>
          <p:nvPr/>
        </p:nvSpPr>
        <p:spPr>
          <a:xfrm>
            <a:off x="0" y="0"/>
            <a:ext cx="9095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In this repo, go to: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Settings → Secrets and variables → 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32A95-DDBB-850E-3234-AC65B2592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749" y="451629"/>
            <a:ext cx="7990691" cy="63319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2B22290-85AB-318B-1B60-80FBE94D880D}"/>
                  </a:ext>
                </a:extLst>
              </p14:cNvPr>
              <p14:cNvContentPartPr/>
              <p14:nvPr/>
            </p14:nvContentPartPr>
            <p14:xfrm>
              <a:off x="4185144" y="478296"/>
              <a:ext cx="437760" cy="201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2B22290-85AB-318B-1B60-80FBE94D88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7504" y="460656"/>
                <a:ext cx="4734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3B50FB4-87ED-D7E9-D71D-2DB4A104C80B}"/>
                  </a:ext>
                </a:extLst>
              </p14:cNvPr>
              <p14:cNvContentPartPr/>
              <p14:nvPr/>
            </p14:nvContentPartPr>
            <p14:xfrm>
              <a:off x="9957744" y="792936"/>
              <a:ext cx="231840" cy="193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3B50FB4-87ED-D7E9-D71D-2DB4A104C8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39744" y="774936"/>
                <a:ext cx="2674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01C794-0DB5-A753-4348-52355A9C0062}"/>
                  </a:ext>
                </a:extLst>
              </p14:cNvPr>
              <p14:cNvContentPartPr/>
              <p14:nvPr/>
            </p14:nvContentPartPr>
            <p14:xfrm>
              <a:off x="3547584" y="6032736"/>
              <a:ext cx="282600" cy="152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01C794-0DB5-A753-4348-52355A9C00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9944" y="6015096"/>
                <a:ext cx="3182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49D8779-6252-4820-3422-96FCB2011B63}"/>
                  </a:ext>
                </a:extLst>
              </p14:cNvPr>
              <p14:cNvContentPartPr/>
              <p14:nvPr/>
            </p14:nvContentPartPr>
            <p14:xfrm>
              <a:off x="4553424" y="6310656"/>
              <a:ext cx="278640" cy="143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49D8779-6252-4820-3422-96FCB2011B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35784" y="6293016"/>
                <a:ext cx="31428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2367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D08FA-7BA7-A856-CF1F-732B347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B3F4AB-59D6-874B-AAA7-FD8BBADDC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206472"/>
              </p:ext>
            </p:extLst>
          </p:nvPr>
        </p:nvGraphicFramePr>
        <p:xfrm>
          <a:off x="2681478" y="182439"/>
          <a:ext cx="849249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1106">
                  <a:extLst>
                    <a:ext uri="{9D8B030D-6E8A-4147-A177-3AD203B41FA5}">
                      <a16:colId xmlns:a16="http://schemas.microsoft.com/office/drawing/2014/main" val="1503134216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557076741"/>
                    </a:ext>
                  </a:extLst>
                </a:gridCol>
                <a:gridCol w="3849624">
                  <a:extLst>
                    <a:ext uri="{9D8B030D-6E8A-4147-A177-3AD203B41FA5}">
                      <a16:colId xmlns:a16="http://schemas.microsoft.com/office/drawing/2014/main" val="3776090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907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Repository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DOCKERHUB_USERNAME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Your Docker Hub username(ash322)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77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Repository secret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DOCKERHUB_TOKEN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Your Docker Hub access token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2024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24822D-E90F-5610-F2F6-D6E02270D4A1}"/>
              </a:ext>
            </a:extLst>
          </p:cNvPr>
          <p:cNvSpPr txBox="1"/>
          <p:nvPr/>
        </p:nvSpPr>
        <p:spPr>
          <a:xfrm>
            <a:off x="118231" y="1348220"/>
            <a:ext cx="9973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For the username, use the Variables tab and select New repository variable.</a:t>
            </a:r>
          </a:p>
          <a:p>
            <a:pPr>
              <a:buNone/>
            </a:pP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For the token, use the Secrets tab and select New repository secret.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E1422-2B93-8959-75B6-C9114B749267}"/>
              </a:ext>
            </a:extLst>
          </p:cNvPr>
          <p:cNvSpPr txBox="1"/>
          <p:nvPr/>
        </p:nvSpPr>
        <p:spPr>
          <a:xfrm>
            <a:off x="118231" y="113938"/>
            <a:ext cx="2917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the following: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BD015-FCF8-C2D4-008E-F53E7308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34" y="1969554"/>
            <a:ext cx="3511546" cy="4863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B244C6-57A5-C7E3-F47D-219D738B9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730" y="1969554"/>
            <a:ext cx="2857899" cy="4706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0A4768B-CB63-3BBC-2A03-F2D7FDA98866}"/>
                  </a:ext>
                </a:extLst>
              </p14:cNvPr>
              <p14:cNvContentPartPr/>
              <p14:nvPr/>
            </p14:nvContentPartPr>
            <p14:xfrm>
              <a:off x="2624184" y="3240216"/>
              <a:ext cx="337680" cy="179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0A4768B-CB63-3BBC-2A03-F2D7FDA988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6184" y="3222576"/>
                <a:ext cx="3733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2B2CB8-3C2A-67AE-F0BF-B27095E3814B}"/>
                  </a:ext>
                </a:extLst>
              </p14:cNvPr>
              <p14:cNvContentPartPr/>
              <p14:nvPr/>
            </p14:nvContentPartPr>
            <p14:xfrm>
              <a:off x="1956744" y="4484736"/>
              <a:ext cx="382320" cy="180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2B2CB8-3C2A-67AE-F0BF-B27095E381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8744" y="4466736"/>
                <a:ext cx="4179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1499ED8-6372-0897-03CA-02D670841C90}"/>
                  </a:ext>
                </a:extLst>
              </p14:cNvPr>
              <p14:cNvContentPartPr/>
              <p14:nvPr/>
            </p14:nvContentPartPr>
            <p14:xfrm>
              <a:off x="1965744" y="6142896"/>
              <a:ext cx="316800" cy="267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1499ED8-6372-0897-03CA-02D670841C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8104" y="6124896"/>
                <a:ext cx="3524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629EEDC-576D-83CB-4887-573290979AE3}"/>
                  </a:ext>
                </a:extLst>
              </p14:cNvPr>
              <p14:cNvContentPartPr/>
              <p14:nvPr/>
            </p14:nvContentPartPr>
            <p14:xfrm>
              <a:off x="9454824" y="3220056"/>
              <a:ext cx="260640" cy="179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629EEDC-576D-83CB-4887-573290979A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36824" y="3202416"/>
                <a:ext cx="2962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97D6634-C671-70FF-CD4D-C179353CAC69}"/>
                  </a:ext>
                </a:extLst>
              </p14:cNvPr>
              <p14:cNvContentPartPr/>
              <p14:nvPr/>
            </p14:nvContentPartPr>
            <p14:xfrm>
              <a:off x="10789704" y="3833136"/>
              <a:ext cx="302760" cy="298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97D6634-C671-70FF-CD4D-C179353CAC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72064" y="3815136"/>
                <a:ext cx="3384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056083D-2806-190E-2297-DB85C446DDED}"/>
                  </a:ext>
                </a:extLst>
              </p14:cNvPr>
              <p14:cNvContentPartPr/>
              <p14:nvPr/>
            </p14:nvContentPartPr>
            <p14:xfrm>
              <a:off x="9015984" y="6115536"/>
              <a:ext cx="380520" cy="160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056083D-2806-190E-2297-DB85C446DDE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97984" y="6097896"/>
                <a:ext cx="416160" cy="19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867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708EF-5CD8-4B3E-559C-DA454963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EF52F9-B8DA-435B-BCC5-5B4188BACF63}"/>
              </a:ext>
            </a:extLst>
          </p:cNvPr>
          <p:cNvSpPr txBox="1"/>
          <p:nvPr/>
        </p:nvSpPr>
        <p:spPr>
          <a:xfrm>
            <a:off x="475488" y="238405"/>
            <a:ext cx="834618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We will reference these in the YAML workflow: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username: ${{ vars.DOCKERHUB_USERNAME }}</a:t>
            </a:r>
          </a:p>
          <a:p>
            <a:pPr rtl="0">
              <a:buNone/>
            </a:pPr>
            <a:r>
              <a:rPr lang="en-IN" sz="20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password: ${{ secrets.DOCKERHUB_TOKEN }}</a:t>
            </a:r>
          </a:p>
          <a:p>
            <a:pPr rtl="0"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GitHub Actions will inject these values when the workflow runs. 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do not need to put credentials in your code or Dockerfile.</a:t>
            </a:r>
          </a:p>
        </p:txBody>
      </p:sp>
    </p:spTree>
    <p:extLst>
      <p:ext uri="{BB962C8B-B14F-4D97-AF65-F5344CB8AC3E}">
        <p14:creationId xmlns:p14="http://schemas.microsoft.com/office/powerpoint/2010/main" val="3511494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5E618-484B-064D-385A-A87F304C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EF32C8-7F06-24F4-F84B-2C9CAB9199FC}"/>
              </a:ext>
            </a:extLst>
          </p:cNvPr>
          <p:cNvSpPr txBox="1"/>
          <p:nvPr/>
        </p:nvSpPr>
        <p:spPr>
          <a:xfrm>
            <a:off x="176964" y="118452"/>
            <a:ext cx="7977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Create the workflow file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the directory and file:  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.github/workflows/ci-cd.yml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C96BE-BFD6-1D5A-B16C-098D2C9FC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095418"/>
            <a:ext cx="3099635" cy="4906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04DFC99-DF40-381C-1BC1-D50CF37E1D60}"/>
                  </a:ext>
                </a:extLst>
              </p14:cNvPr>
              <p14:cNvContentPartPr/>
              <p14:nvPr/>
            </p14:nvContentPartPr>
            <p14:xfrm>
              <a:off x="10646172" y="2295747"/>
              <a:ext cx="616680" cy="27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04DFC99-DF40-381C-1BC1-D50CF37E1D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8161" y="2277747"/>
                <a:ext cx="652341" cy="3121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F9115D-950F-DC96-EBCC-353B0BE5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92097"/>
              </p:ext>
            </p:extLst>
          </p:nvPr>
        </p:nvGraphicFramePr>
        <p:xfrm>
          <a:off x="185839" y="2033876"/>
          <a:ext cx="797737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0132">
                  <a:extLst>
                    <a:ext uri="{9D8B030D-6E8A-4147-A177-3AD203B41FA5}">
                      <a16:colId xmlns:a16="http://schemas.microsoft.com/office/drawing/2014/main" val="2028749916"/>
                    </a:ext>
                  </a:extLst>
                </a:gridCol>
                <a:gridCol w="5397246">
                  <a:extLst>
                    <a:ext uri="{9D8B030D-6E8A-4147-A177-3AD203B41FA5}">
                      <a16:colId xmlns:a16="http://schemas.microsoft.com/office/drawing/2014/main" val="1645303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What GitHub Actions does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1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 Checkout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Downloads the source code into the runner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36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 Setup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Configures the Python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656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 Dependencies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Installs FastAPI, scikit-learn, pytest,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445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 Model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house_price_model.joblib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04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 the FastAPI test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33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 Docker Buildx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Prepares the Docker image builder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53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 Docker Hub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Authenticates securely using GitHub credentials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56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 Build and 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Builds the Docker image and uploads it to Docker 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51273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D2067C8-245B-EF5C-5678-6DA478964DCD}"/>
              </a:ext>
            </a:extLst>
          </p:cNvPr>
          <p:cNvSpPr txBox="1"/>
          <p:nvPr/>
        </p:nvSpPr>
        <p:spPr>
          <a:xfrm>
            <a:off x="185839" y="1230052"/>
            <a:ext cx="5327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the workflow in ci-cd.yml file</a:t>
            </a:r>
          </a:p>
        </p:txBody>
      </p:sp>
    </p:spTree>
    <p:extLst>
      <p:ext uri="{BB962C8B-B14F-4D97-AF65-F5344CB8AC3E}">
        <p14:creationId xmlns:p14="http://schemas.microsoft.com/office/powerpoint/2010/main" val="2913026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9B60D-3A8E-B1F7-C3F6-8CCB39ED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240E512-D54B-C429-4796-BE3A89E7216F}"/>
              </a:ext>
            </a:extLst>
          </p:cNvPr>
          <p:cNvSpPr txBox="1"/>
          <p:nvPr/>
        </p:nvSpPr>
        <p:spPr>
          <a:xfrm>
            <a:off x="258318" y="181969"/>
            <a:ext cx="109796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5 ) Push the project to GitHub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From your Windows PowerShell terminal, inside the project folder, run: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echo "# house-price" &gt;&gt; README.md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git init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git add .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git commit -m "first commit"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git branch -M main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git remote add origin https://github.com/ash322ash422/house-price.git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git push -u origin main</a:t>
            </a:r>
          </a:p>
          <a:p>
            <a:endParaRPr lang="en-IN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(See next slide for output)</a:t>
            </a:r>
          </a:p>
        </p:txBody>
      </p:sp>
    </p:spTree>
    <p:extLst>
      <p:ext uri="{BB962C8B-B14F-4D97-AF65-F5344CB8AC3E}">
        <p14:creationId xmlns:p14="http://schemas.microsoft.com/office/powerpoint/2010/main" val="604651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73567-B86C-AD84-2C48-8FA1059D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269B7BA-7D19-CBBC-1618-22227561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4" y="-9144"/>
            <a:ext cx="12088872" cy="54498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E532CB-6CBA-71A0-DC4B-13A0905CEE28}"/>
                  </a:ext>
                </a:extLst>
              </p14:cNvPr>
              <p14:cNvContentPartPr/>
              <p14:nvPr/>
            </p14:nvContentPartPr>
            <p14:xfrm>
              <a:off x="6985944" y="45576"/>
              <a:ext cx="171000" cy="106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E532CB-6CBA-71A0-DC4B-13A0905CEE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7944" y="27576"/>
                <a:ext cx="2066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C6FB91-7EF2-A59C-2909-19DAAE6B6D3B}"/>
                  </a:ext>
                </a:extLst>
              </p14:cNvPr>
              <p14:cNvContentPartPr/>
              <p14:nvPr/>
            </p14:nvContentPartPr>
            <p14:xfrm>
              <a:off x="7150464" y="495576"/>
              <a:ext cx="165240" cy="6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C6FB91-7EF2-A59C-2909-19DAAE6B6D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464" y="477936"/>
                <a:ext cx="200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3B980A-4190-9D52-E207-CF94F57BD90D}"/>
                  </a:ext>
                </a:extLst>
              </p14:cNvPr>
              <p14:cNvContentPartPr/>
              <p14:nvPr/>
            </p14:nvContentPartPr>
            <p14:xfrm>
              <a:off x="8659224" y="618336"/>
              <a:ext cx="321840" cy="8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3B980A-4190-9D52-E207-CF94F57BD9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1224" y="600696"/>
                <a:ext cx="3574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A74C59-536C-DDA6-5267-AAE4174E5089}"/>
                  </a:ext>
                </a:extLst>
              </p14:cNvPr>
              <p14:cNvContentPartPr/>
              <p14:nvPr/>
            </p14:nvContentPartPr>
            <p14:xfrm>
              <a:off x="7845264" y="2984976"/>
              <a:ext cx="473760" cy="21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A74C59-536C-DDA6-5267-AAE4174E508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27624" y="2966976"/>
                <a:ext cx="509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788958-54E5-22AC-0AB7-9CF83EDA8F6B}"/>
                  </a:ext>
                </a:extLst>
              </p14:cNvPr>
              <p14:cNvContentPartPr/>
              <p14:nvPr/>
            </p14:nvContentPartPr>
            <p14:xfrm>
              <a:off x="11100744" y="3080736"/>
              <a:ext cx="166320" cy="164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788958-54E5-22AC-0AB7-9CF83EDA8F6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82744" y="3063096"/>
                <a:ext cx="2019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5BBA44-9B91-7C3F-FA48-6735BF4492B5}"/>
                  </a:ext>
                </a:extLst>
              </p14:cNvPr>
              <p14:cNvContentPartPr/>
              <p14:nvPr/>
            </p14:nvContentPartPr>
            <p14:xfrm>
              <a:off x="8339184" y="3523176"/>
              <a:ext cx="301680" cy="75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5BBA44-9B91-7C3F-FA48-6735BF4492B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21184" y="3505176"/>
                <a:ext cx="337320" cy="1112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7A37752-BE74-18A0-5994-6E9883C1FB45}"/>
              </a:ext>
            </a:extLst>
          </p:cNvPr>
          <p:cNvSpPr txBox="1"/>
          <p:nvPr/>
        </p:nvSpPr>
        <p:spPr>
          <a:xfrm>
            <a:off x="0" y="5913660"/>
            <a:ext cx="12006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 </a:t>
            </a:r>
          </a:p>
          <a:p>
            <a:pPr>
              <a:buNone/>
            </a:pP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GitHub repository and remote are already configured, no additional 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git init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git remote add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 commands are needed.</a:t>
            </a:r>
          </a:p>
        </p:txBody>
      </p:sp>
    </p:spTree>
    <p:extLst>
      <p:ext uri="{BB962C8B-B14F-4D97-AF65-F5344CB8AC3E}">
        <p14:creationId xmlns:p14="http://schemas.microsoft.com/office/powerpoint/2010/main" val="4040389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76344-121B-77A5-F1EC-FF131161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570A45-DD7A-0DAD-3998-0736C1EC8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1608488"/>
            <a:ext cx="12192000" cy="3254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4BC043-EB10-96EA-5B61-999DF12C46ED}"/>
              </a:ext>
            </a:extLst>
          </p:cNvPr>
          <p:cNvSpPr txBox="1"/>
          <p:nvPr/>
        </p:nvSpPr>
        <p:spPr>
          <a:xfrm>
            <a:off x="365760" y="122077"/>
            <a:ext cx="93063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now?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As soon as the push reaches 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main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, GitHub Actions should automatically start the workflow.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Open your repository on GitHub → Actions → 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House Price API - Docker Hub CI/CD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4AFE10-5C13-4B45-0AC8-CA2E971D6F2D}"/>
                  </a:ext>
                </a:extLst>
              </p14:cNvPr>
              <p14:cNvContentPartPr/>
              <p14:nvPr/>
            </p14:nvContentPartPr>
            <p14:xfrm>
              <a:off x="2487024" y="1715544"/>
              <a:ext cx="337320" cy="288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4AFE10-5C13-4B45-0AC8-CA2E971D6F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9384" y="1697544"/>
                <a:ext cx="3729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74D6281-6E6E-4D14-8FE5-8DEE5735233F}"/>
                  </a:ext>
                </a:extLst>
              </p14:cNvPr>
              <p14:cNvContentPartPr/>
              <p14:nvPr/>
            </p14:nvContentPartPr>
            <p14:xfrm>
              <a:off x="3718980" y="1863861"/>
              <a:ext cx="403560" cy="441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74D6281-6E6E-4D14-8FE5-8DEE573523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0980" y="1845861"/>
                <a:ext cx="43920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C2030E-95B1-F75B-28A9-E7CA4DFC7C8C}"/>
                  </a:ext>
                </a:extLst>
              </p14:cNvPr>
              <p14:cNvContentPartPr/>
              <p14:nvPr/>
            </p14:nvContentPartPr>
            <p14:xfrm>
              <a:off x="1691568" y="3010648"/>
              <a:ext cx="347760" cy="248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C2030E-95B1-F75B-28A9-E7CA4DFC7C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3568" y="2992648"/>
                <a:ext cx="3834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F88AED-B528-D0E6-737C-C2EB816A4273}"/>
                  </a:ext>
                </a:extLst>
              </p14:cNvPr>
              <p14:cNvContentPartPr/>
              <p14:nvPr/>
            </p14:nvContentPartPr>
            <p14:xfrm>
              <a:off x="11035296" y="4362840"/>
              <a:ext cx="990360" cy="21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F88AED-B528-D0E6-737C-C2EB816A42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17656" y="4344840"/>
                <a:ext cx="10260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AE30847-C838-A9E2-BBDF-AE8D2BE47649}"/>
                  </a:ext>
                </a:extLst>
              </p14:cNvPr>
              <p14:cNvContentPartPr/>
              <p14:nvPr/>
            </p14:nvContentPartPr>
            <p14:xfrm>
              <a:off x="4122540" y="4131720"/>
              <a:ext cx="336600" cy="173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AE30847-C838-A9E2-BBDF-AE8D2BE4764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04900" y="4114080"/>
                <a:ext cx="3722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FEAF6C-9F3A-C649-04DE-57FF5B879341}"/>
                  </a:ext>
                </a:extLst>
              </p14:cNvPr>
              <p14:cNvContentPartPr/>
              <p14:nvPr/>
            </p14:nvContentPartPr>
            <p14:xfrm>
              <a:off x="2925504" y="4131720"/>
              <a:ext cx="338760" cy="338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FEAF6C-9F3A-C649-04DE-57FF5B8793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7504" y="4114080"/>
                <a:ext cx="374400" cy="3740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86C136C-B550-BD95-519B-DF3F461946AC}"/>
              </a:ext>
            </a:extLst>
          </p:cNvPr>
          <p:cNvSpPr txBox="1"/>
          <p:nvPr/>
        </p:nvSpPr>
        <p:spPr>
          <a:xfrm>
            <a:off x="142722" y="6296430"/>
            <a:ext cx="9257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workflow is successful, the image should now be available in your Docker 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2866176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C5047-1317-68C6-9FBA-856BA8FB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AC152-B841-EF22-E8DB-AE7BB106C8C2}"/>
              </a:ext>
            </a:extLst>
          </p:cNvPr>
          <p:cNvSpPr txBox="1"/>
          <p:nvPr/>
        </p:nvSpPr>
        <p:spPr>
          <a:xfrm>
            <a:off x="100584" y="130016"/>
            <a:ext cx="108447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6 — Verify the image on Docker Hub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 your Docker Hub account → Repositories → house-price-api → Tags.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should see a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latest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tag and a tag containing the Git commit SHA.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AC121-9784-13CA-2519-140C55B4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351927"/>
            <a:ext cx="10235184" cy="50908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B21DC8-E088-8909-D54D-14FFB7042F1A}"/>
                  </a:ext>
                </a:extLst>
              </p14:cNvPr>
              <p14:cNvContentPartPr/>
              <p14:nvPr/>
            </p14:nvContentPartPr>
            <p14:xfrm>
              <a:off x="2048184" y="1536696"/>
              <a:ext cx="245880" cy="183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B21DC8-E088-8909-D54D-14FFB7042F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0184" y="1518696"/>
                <a:ext cx="2815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3CCA75-0FC0-E4C9-E5EA-F05D4C21E23D}"/>
                  </a:ext>
                </a:extLst>
              </p14:cNvPr>
              <p14:cNvContentPartPr/>
              <p14:nvPr/>
            </p14:nvContentPartPr>
            <p14:xfrm>
              <a:off x="3921264" y="2047536"/>
              <a:ext cx="1176840" cy="46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3CCA75-0FC0-E4C9-E5EA-F05D4C21E2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03624" y="2029896"/>
                <a:ext cx="12124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B66B632-ECE0-C78F-58BF-EA6793BAB309}"/>
                  </a:ext>
                </a:extLst>
              </p14:cNvPr>
              <p14:cNvContentPartPr/>
              <p14:nvPr/>
            </p14:nvContentPartPr>
            <p14:xfrm>
              <a:off x="3803904" y="2371896"/>
              <a:ext cx="343080" cy="172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B66B632-ECE0-C78F-58BF-EA6793BAB3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5904" y="2353896"/>
                <a:ext cx="3787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EDBB1A8-5F8C-D89A-390A-79A85BCAE4DE}"/>
                  </a:ext>
                </a:extLst>
              </p14:cNvPr>
              <p14:cNvContentPartPr/>
              <p14:nvPr/>
            </p14:nvContentPartPr>
            <p14:xfrm>
              <a:off x="3894984" y="5324976"/>
              <a:ext cx="293040" cy="222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EDBB1A8-5F8C-D89A-390A-79A85BCAE4D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77344" y="5307336"/>
                <a:ext cx="328680" cy="2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4361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C8205-8212-2661-681E-66350DF5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9D4D82-796D-C03A-A711-FB6C0BE311B0}"/>
              </a:ext>
            </a:extLst>
          </p:cNvPr>
          <p:cNvSpPr txBox="1"/>
          <p:nvPr/>
        </p:nvSpPr>
        <p:spPr>
          <a:xfrm>
            <a:off x="340614" y="280107"/>
            <a:ext cx="100286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7 - Simulate the deployment server on Windows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will pretend your local Windows computer is a production server.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important concept is that we will not build the image locally again. Instead, we will pull the published image from Docker Hub, just as a real deployment server would.</a:t>
            </a:r>
          </a:p>
          <a:p>
            <a:pPr>
              <a:buNone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a)  Stop your previously running local container (Only if it is running)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created a container during your earlier testing, stop and remove it to free port 8000.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ps  -a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old container is named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house-price-container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, run: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stop  house-price-container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rm  house-price-container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F4839-4309-7327-3F8A-0EC47F0C2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65" y="4277607"/>
            <a:ext cx="8524180" cy="12535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BD8BC2-B9ED-E0EB-F123-4341AC807618}"/>
              </a:ext>
            </a:extLst>
          </p:cNvPr>
          <p:cNvSpPr txBox="1"/>
          <p:nvPr/>
        </p:nvSpPr>
        <p:spPr>
          <a:xfrm>
            <a:off x="660654" y="605078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Skip these commands if that container no longer exists.</a:t>
            </a:r>
          </a:p>
        </p:txBody>
      </p:sp>
    </p:spTree>
    <p:extLst>
      <p:ext uri="{BB962C8B-B14F-4D97-AF65-F5344CB8AC3E}">
        <p14:creationId xmlns:p14="http://schemas.microsoft.com/office/powerpoint/2010/main" val="666287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7D825-7363-1C6C-DB36-05DD7E64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A5CF8-98BB-7078-CEBC-57261148089A}"/>
              </a:ext>
            </a:extLst>
          </p:cNvPr>
          <p:cNvSpPr txBox="1"/>
          <p:nvPr/>
        </p:nvSpPr>
        <p:spPr>
          <a:xfrm>
            <a:off x="175260" y="68455"/>
            <a:ext cx="111831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b) Pull the image from Docker Hub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Replace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YOUR_DOCKERHUB_USERNAME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your actual Docker Hub username:</a:t>
            </a:r>
          </a:p>
          <a:p>
            <a:pPr rtl="0">
              <a:buNone/>
            </a:pP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&gt; docker pull YOUR_DOCKERHUB_USERNAME/house-price-api:latest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 For a public repository, you generally do not need to log in to pull the image.For a private repository, authenticate first with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docker login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command downloads the exact Docker image that GitHub Actions published.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E867B-87E3-54B6-595A-49849D475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699" y="2623000"/>
            <a:ext cx="9415636" cy="41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60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54D0-3D1A-F729-CD6F-B115CFAB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CEA9F8-309A-BFC8-B2E3-C3F1B37051A3}"/>
              </a:ext>
            </a:extLst>
          </p:cNvPr>
          <p:cNvSpPr txBox="1"/>
          <p:nvPr/>
        </p:nvSpPr>
        <p:spPr>
          <a:xfrm>
            <a:off x="175260" y="68455"/>
            <a:ext cx="111831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c) Verify the downloaded image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3D70E-7A75-269A-CF36-8D2DCF34E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77" y="1837944"/>
            <a:ext cx="9825198" cy="18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05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7B072-A630-F7C3-8853-9FE4B29B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BE466D-DC5A-6B13-9E79-4EAE3695B42C}"/>
              </a:ext>
            </a:extLst>
          </p:cNvPr>
          <p:cNvSpPr txBox="1"/>
          <p:nvPr/>
        </p:nvSpPr>
        <p:spPr>
          <a:xfrm>
            <a:off x="138684" y="196471"/>
            <a:ext cx="11739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d) Run the published Docker image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run -d --name house-price-server -p 8000:8000 YOUR_DOCKERHUB_USERNAME/house-price-api:latest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EFB16-8F85-F277-13BD-BDF56ECB2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5" y="1598629"/>
            <a:ext cx="11060486" cy="707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9FA585-8502-34C8-B114-23F6451C1991}"/>
              </a:ext>
            </a:extLst>
          </p:cNvPr>
          <p:cNvSpPr txBox="1"/>
          <p:nvPr/>
        </p:nvSpPr>
        <p:spPr>
          <a:xfrm>
            <a:off x="138684" y="2840659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e) Verify the running container</a:t>
            </a:r>
          </a:p>
          <a:p>
            <a:pPr rtl="0">
              <a:buNone/>
            </a:pP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docker ps</a:t>
            </a: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6501A-A177-9AD0-D3E7-7783BAB0A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" y="4242817"/>
            <a:ext cx="12069545" cy="11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39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11425-1C6E-2557-1394-9F0EEE9A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4CCD21-5B98-43E1-8F3B-3EC6F69143C3}"/>
              </a:ext>
            </a:extLst>
          </p:cNvPr>
          <p:cNvSpPr txBox="1"/>
          <p:nvPr/>
        </p:nvSpPr>
        <p:spPr>
          <a:xfrm>
            <a:off x="201168" y="203168"/>
            <a:ext cx="105704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8 — Test the deployed FastAPI application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Open: 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http://localhost:8000/docs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FastAPI's Swagger UI should appear.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Test your health endpoint just like we did before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Test your predict endpoint just like we did before</a:t>
            </a:r>
          </a:p>
        </p:txBody>
      </p:sp>
    </p:spTree>
    <p:extLst>
      <p:ext uri="{BB962C8B-B14F-4D97-AF65-F5344CB8AC3E}">
        <p14:creationId xmlns:p14="http://schemas.microsoft.com/office/powerpoint/2010/main" val="1262889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C83C8-4320-C6B0-967A-D1E3F4AF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8A388-1CAB-86BD-12FA-2D3D4EFABA60}"/>
              </a:ext>
            </a:extLst>
          </p:cNvPr>
          <p:cNvSpPr txBox="1"/>
          <p:nvPr/>
        </p:nvSpPr>
        <p:spPr>
          <a:xfrm>
            <a:off x="165684" y="0"/>
            <a:ext cx="1150315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9 — Simulate a new version of the application (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most useful part of the classroom demo)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a) Suppose a developer changes the application message in main.py: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@app.get("/")</a:t>
            </a:r>
          </a:p>
          <a:p>
            <a:r>
              <a:rPr lang="en-IN" sz="20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def home():</a:t>
            </a:r>
          </a:p>
          <a:p>
            <a:r>
              <a:rPr lang="en-IN" sz="20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    return {"message": "House Price API - Version 2"}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Now commit and push: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git  add  main.py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git  commit  -m  "Release version 2 of House Price API"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git  push  origin  main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Wait for 1 minute. GitHub Actions will automatically execute the workflow again and publish an updated image to Docker Hub (this can be verified by visiting the site).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343B1A-4E1A-90FA-3CEF-563331D32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4" y="4093428"/>
            <a:ext cx="10394789" cy="27645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0CE918-6671-1618-3E6C-A00775CE0C44}"/>
                  </a:ext>
                </a:extLst>
              </p14:cNvPr>
              <p14:cNvContentPartPr/>
              <p14:nvPr/>
            </p14:nvContentPartPr>
            <p14:xfrm>
              <a:off x="9710784" y="5713776"/>
              <a:ext cx="300600" cy="178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0CE918-6671-1618-3E6C-A00775CE0C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2784" y="5696136"/>
                <a:ext cx="336240" cy="2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383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B73E2-BCC4-4543-525D-87A0633F0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645E2D-EA08-63AE-7AFD-FD4C26921EFD}"/>
              </a:ext>
            </a:extLst>
          </p:cNvPr>
          <p:cNvSpPr txBox="1"/>
          <p:nvPr/>
        </p:nvSpPr>
        <p:spPr>
          <a:xfrm>
            <a:off x="201168" y="203168"/>
            <a:ext cx="115031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b) Now simulate a deployment on your local server.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Pull the new version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pull YOUR_DOCKERHUB_USERNAME/house-price-api:latest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Stop and remove the old container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stop house-price-server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rm house-price-server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 updated version</a:t>
            </a: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run -d --name house-price-server -p 8000:8000 YOUR_DOCKERHUB_USERNAME/house-price-api:latest</a:t>
            </a:r>
          </a:p>
        </p:txBody>
      </p:sp>
    </p:spTree>
    <p:extLst>
      <p:ext uri="{BB962C8B-B14F-4D97-AF65-F5344CB8AC3E}">
        <p14:creationId xmlns:p14="http://schemas.microsoft.com/office/powerpoint/2010/main" val="3186470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7B7E7-2669-1DDD-CB34-90918360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DE467-FCC0-F2C6-27C5-B48E85EF32F2}"/>
              </a:ext>
            </a:extLst>
          </p:cNvPr>
          <p:cNvSpPr txBox="1"/>
          <p:nvPr/>
        </p:nvSpPr>
        <p:spPr>
          <a:xfrm>
            <a:off x="352685" y="280339"/>
            <a:ext cx="8940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c) Open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http://localhost:8000/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and verify that the updated message appears.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D93FF-DB2B-D0A9-ACBC-84FECB9A3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883" y="2258568"/>
            <a:ext cx="7577348" cy="214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55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60180-4FA6-6217-0857-9A96FFDB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B5626-10E7-7526-8500-68CBBB91257C}"/>
              </a:ext>
            </a:extLst>
          </p:cNvPr>
          <p:cNvSpPr txBox="1"/>
          <p:nvPr/>
        </p:nvSpPr>
        <p:spPr>
          <a:xfrm>
            <a:off x="623316" y="2615845"/>
            <a:ext cx="106329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106151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1EE92-B6C5-E6F8-5EF1-7814F363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39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1880</Words>
  <Application>Microsoft Office PowerPoint</Application>
  <PresentationFormat>Widescreen</PresentationFormat>
  <Paragraphs>251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89</cp:revision>
  <dcterms:created xsi:type="dcterms:W3CDTF">2026-09-25T02:37:34Z</dcterms:created>
  <dcterms:modified xsi:type="dcterms:W3CDTF">2026-10-22T07:58:30Z</dcterms:modified>
</cp:coreProperties>
</file>