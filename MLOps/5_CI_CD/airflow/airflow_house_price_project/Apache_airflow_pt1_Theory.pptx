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6A05E1-19DD-9C78-D682-4BD3022B4DC4}"/>
              </a:ext>
            </a:extLst>
          </p:cNvPr>
          <p:cNvSpPr txBox="1"/>
          <p:nvPr/>
        </p:nvSpPr>
        <p:spPr>
          <a:xfrm>
            <a:off x="1947672" y="2674263"/>
            <a:ext cx="8135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Apache Airflow</a:t>
            </a:r>
            <a:endParaRPr lang="en-IN" sz="5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AABB7-8938-A17E-200C-B1799BDA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A7D51-D49B-9E93-7335-D759F23B0CF7}"/>
              </a:ext>
            </a:extLst>
          </p:cNvPr>
          <p:cNvSpPr txBox="1"/>
          <p:nvPr/>
        </p:nvSpPr>
        <p:spPr>
          <a:xfrm>
            <a:off x="128016" y="132231"/>
            <a:ext cx="113659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Apache Airflow?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Apache Airflow is an open-source platform used to programmatically author, schedule, and monitor workflows. It is a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orchestration tool.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A81BE-56D9-DDC2-12F8-662920F7D73C}"/>
              </a:ext>
            </a:extLst>
          </p:cNvPr>
          <p:cNvSpPr txBox="1"/>
          <p:nvPr/>
        </p:nvSpPr>
        <p:spPr>
          <a:xfrm>
            <a:off x="128016" y="1671763"/>
            <a:ext cx="11759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company needs to retrain its house price prediction model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every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week using updated property sales data.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Airflow, the ML engineer may have to manually: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the latest housing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Validate and clean the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feature engineering.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a machine learning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its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Save the trained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 these steps every week.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With Airflow, we can automate their scheduled execution, monitors their status, and can retry failed tasks.</a:t>
            </a:r>
          </a:p>
        </p:txBody>
      </p:sp>
    </p:spTree>
    <p:extLst>
      <p:ext uri="{BB962C8B-B14F-4D97-AF65-F5344CB8AC3E}">
        <p14:creationId xmlns:p14="http://schemas.microsoft.com/office/powerpoint/2010/main" val="87086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39D4A-E41F-32D8-FB60-F4EA1327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EED831-6399-3BAE-A848-74CE0AF7D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46373"/>
              </p:ext>
            </p:extLst>
          </p:nvPr>
        </p:nvGraphicFramePr>
        <p:xfrm>
          <a:off x="523494" y="904400"/>
          <a:ext cx="11512296" cy="50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808">
                  <a:extLst>
                    <a:ext uri="{9D8B030D-6E8A-4147-A177-3AD203B41FA5}">
                      <a16:colId xmlns:a16="http://schemas.microsoft.com/office/drawing/2014/main" val="3997532458"/>
                    </a:ext>
                  </a:extLst>
                </a:gridCol>
                <a:gridCol w="5495544">
                  <a:extLst>
                    <a:ext uri="{9D8B030D-6E8A-4147-A177-3AD203B41FA5}">
                      <a16:colId xmlns:a16="http://schemas.microsoft.com/office/drawing/2014/main" val="3203161509"/>
                    </a:ext>
                  </a:extLst>
                </a:gridCol>
                <a:gridCol w="4123944">
                  <a:extLst>
                    <a:ext uri="{9D8B030D-6E8A-4147-A177-3AD203B41FA5}">
                      <a16:colId xmlns:a16="http://schemas.microsoft.com/office/drawing/2014/main" val="3340786194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Concept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Meaning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Our house price project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4992180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Definition of the workflow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House price training pipeline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4343807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DAG Run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One execution of a DAG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One complete training attempt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605804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One unit of work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Train model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2210085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Operator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Template defining work to execute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Python or Bash operation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029807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TaskFlow API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Python functions converted into tasks with @task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Our primary implementation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4746952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Scheduler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Determines which tasks can run and when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Starts eligible tasks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1089091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Executor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Determines how task workloads are executed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Executes tasks through workers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124075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 Instance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One task in a specific DAG Run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Training task for a particular run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2884827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XCom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Transfers small data between 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Pass filenames and metrics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6105595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Retry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Reattempts a failed task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Retry a temporary data-loading failure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0296679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Sensor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Waits for a condition or event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Wait for incoming data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798754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89508A-AE06-EEA3-1AD9-22E820937286}"/>
              </a:ext>
            </a:extLst>
          </p:cNvPr>
          <p:cNvSpPr txBox="1"/>
          <p:nvPr/>
        </p:nvSpPr>
        <p:spPr>
          <a:xfrm>
            <a:off x="185166" y="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2. Essential Airflow terminology</a:t>
            </a:r>
          </a:p>
        </p:txBody>
      </p:sp>
    </p:spTree>
    <p:extLst>
      <p:ext uri="{BB962C8B-B14F-4D97-AF65-F5344CB8AC3E}">
        <p14:creationId xmlns:p14="http://schemas.microsoft.com/office/powerpoint/2010/main" val="41608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F4298-4E74-2580-27F0-5DD0047F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4899FB-2DA5-C28C-2510-104B249C0A6E}"/>
              </a:ext>
            </a:extLst>
          </p:cNvPr>
          <p:cNvSpPr txBox="1"/>
          <p:nvPr/>
        </p:nvSpPr>
        <p:spPr>
          <a:xfrm>
            <a:off x="185166" y="0"/>
            <a:ext cx="10787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3. What is a DAG?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DAG stands for Directed Acyclic Graph.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Directed: Tasks have a defined direction of execution.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Acyclic: The workflow cannot contain cycles.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Graph: Tasks are connected by dependencies.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model training should not start before data preparation finishes.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AB200D-75C3-AA0D-8B5C-7B13D8ADDAF9}"/>
              </a:ext>
            </a:extLst>
          </p:cNvPr>
          <p:cNvSpPr/>
          <p:nvPr/>
        </p:nvSpPr>
        <p:spPr>
          <a:xfrm>
            <a:off x="185166" y="2395728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5191F"/>
          </a:solidFill>
          <a:ln w="12700">
            <a:solidFill>
              <a:srgbClr val="30343D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18C12C-FADC-131F-6024-290061741641}"/>
              </a:ext>
            </a:extLst>
          </p:cNvPr>
          <p:cNvSpPr/>
          <p:nvPr/>
        </p:nvSpPr>
        <p:spPr>
          <a:xfrm>
            <a:off x="358902" y="245973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data</a:t>
            </a:r>
            <a:endParaRPr lang="en-US" sz="18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8CA2833-78A8-F857-F8C0-9D05D012EEB7}"/>
              </a:ext>
            </a:extLst>
          </p:cNvPr>
          <p:cNvSpPr/>
          <p:nvPr/>
        </p:nvSpPr>
        <p:spPr>
          <a:xfrm>
            <a:off x="2672334" y="2944368"/>
            <a:ext cx="0" cy="173736"/>
          </a:xfrm>
          <a:prstGeom prst="line">
            <a:avLst/>
          </a:prstGeom>
          <a:noFill/>
          <a:ln w="25400">
            <a:solidFill>
              <a:srgbClr val="69D2B1"/>
            </a:solidFill>
            <a:prstDash val="solid"/>
            <a:headEnd type="none"/>
            <a:tailEnd type="triangle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0F8EE5D-D8DB-905E-B78E-CEC6CC557424}"/>
              </a:ext>
            </a:extLst>
          </p:cNvPr>
          <p:cNvSpPr/>
          <p:nvPr/>
        </p:nvSpPr>
        <p:spPr>
          <a:xfrm>
            <a:off x="185166" y="3136392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5191F"/>
          </a:solidFill>
          <a:ln w="12700">
            <a:solidFill>
              <a:srgbClr val="30343D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AED62F4-97A7-69E2-1DF3-FECE547149DF}"/>
              </a:ext>
            </a:extLst>
          </p:cNvPr>
          <p:cNvSpPr/>
          <p:nvPr/>
        </p:nvSpPr>
        <p:spPr>
          <a:xfrm>
            <a:off x="358902" y="3200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data</a:t>
            </a:r>
            <a:endParaRPr lang="en-US" sz="1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5ADA4CD6-E2AA-AA0E-C4FF-BB9CE5954AB4}"/>
              </a:ext>
            </a:extLst>
          </p:cNvPr>
          <p:cNvSpPr/>
          <p:nvPr/>
        </p:nvSpPr>
        <p:spPr>
          <a:xfrm>
            <a:off x="2672334" y="3685032"/>
            <a:ext cx="0" cy="173736"/>
          </a:xfrm>
          <a:prstGeom prst="line">
            <a:avLst/>
          </a:prstGeom>
          <a:noFill/>
          <a:ln w="25400">
            <a:solidFill>
              <a:srgbClr val="69D2B1"/>
            </a:solidFill>
            <a:prstDash val="solid"/>
            <a:headEnd type="none"/>
            <a:tailEnd type="triangle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E87FE5C-F590-7117-0477-C4754241D0C2}"/>
              </a:ext>
            </a:extLst>
          </p:cNvPr>
          <p:cNvSpPr/>
          <p:nvPr/>
        </p:nvSpPr>
        <p:spPr>
          <a:xfrm>
            <a:off x="185166" y="3877056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5191F"/>
          </a:solidFill>
          <a:ln w="12700">
            <a:solidFill>
              <a:srgbClr val="30343D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A2764FE-D121-8991-2451-137D2CE22094}"/>
              </a:ext>
            </a:extLst>
          </p:cNvPr>
          <p:cNvSpPr/>
          <p:nvPr/>
        </p:nvSpPr>
        <p:spPr>
          <a:xfrm>
            <a:off x="358902" y="394106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 data</a:t>
            </a:r>
            <a:endParaRPr lang="en-US" sz="18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235A2DB1-5B88-E715-0159-8A52C63A3FDF}"/>
              </a:ext>
            </a:extLst>
          </p:cNvPr>
          <p:cNvSpPr/>
          <p:nvPr/>
        </p:nvSpPr>
        <p:spPr>
          <a:xfrm>
            <a:off x="2672334" y="4425696"/>
            <a:ext cx="0" cy="173736"/>
          </a:xfrm>
          <a:prstGeom prst="line">
            <a:avLst/>
          </a:prstGeom>
          <a:noFill/>
          <a:ln w="25400">
            <a:solidFill>
              <a:srgbClr val="69D2B1"/>
            </a:solidFill>
            <a:prstDash val="solid"/>
            <a:headEnd type="none"/>
            <a:tailEnd type="triangle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C9EDADC7-B44B-4E76-BF6E-AA6D05171527}"/>
              </a:ext>
            </a:extLst>
          </p:cNvPr>
          <p:cNvSpPr/>
          <p:nvPr/>
        </p:nvSpPr>
        <p:spPr>
          <a:xfrm>
            <a:off x="185166" y="4617720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5191F"/>
          </a:solidFill>
          <a:ln w="12700">
            <a:solidFill>
              <a:srgbClr val="30343D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EC4282B-783A-8470-B1FA-04BCCDB7D238}"/>
              </a:ext>
            </a:extLst>
          </p:cNvPr>
          <p:cNvSpPr/>
          <p:nvPr/>
        </p:nvSpPr>
        <p:spPr>
          <a:xfrm>
            <a:off x="358902" y="46817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</a:t>
            </a:r>
            <a:endParaRPr lang="en-US" sz="18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794F04D7-A682-045F-B6D7-A3CCDEF25FC8}"/>
              </a:ext>
            </a:extLst>
          </p:cNvPr>
          <p:cNvSpPr/>
          <p:nvPr/>
        </p:nvSpPr>
        <p:spPr>
          <a:xfrm>
            <a:off x="2672334" y="5166360"/>
            <a:ext cx="0" cy="173736"/>
          </a:xfrm>
          <a:prstGeom prst="line">
            <a:avLst/>
          </a:prstGeom>
          <a:noFill/>
          <a:ln w="25400">
            <a:solidFill>
              <a:srgbClr val="69D2B1"/>
            </a:solidFill>
            <a:prstDash val="solid"/>
            <a:headEnd type="none"/>
            <a:tailEnd type="triangle"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EDECB4BE-5528-BCA4-6EE8-B84CBF601A27}"/>
              </a:ext>
            </a:extLst>
          </p:cNvPr>
          <p:cNvSpPr/>
          <p:nvPr/>
        </p:nvSpPr>
        <p:spPr>
          <a:xfrm>
            <a:off x="185166" y="5358384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5191F"/>
          </a:solidFill>
          <a:ln w="12700">
            <a:solidFill>
              <a:srgbClr val="30343D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5FB5421-6F4A-4811-51A4-54F41DBE177D}"/>
              </a:ext>
            </a:extLst>
          </p:cNvPr>
          <p:cNvSpPr/>
          <p:nvPr/>
        </p:nvSpPr>
        <p:spPr>
          <a:xfrm>
            <a:off x="358902" y="54223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model</a:t>
            </a:r>
            <a:endParaRPr lang="en-US" sz="18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32C49327-3445-0DB2-D029-096250BBCAC0}"/>
              </a:ext>
            </a:extLst>
          </p:cNvPr>
          <p:cNvSpPr/>
          <p:nvPr/>
        </p:nvSpPr>
        <p:spPr>
          <a:xfrm>
            <a:off x="2672334" y="5907024"/>
            <a:ext cx="0" cy="173736"/>
          </a:xfrm>
          <a:prstGeom prst="line">
            <a:avLst/>
          </a:prstGeom>
          <a:noFill/>
          <a:ln w="25400">
            <a:solidFill>
              <a:srgbClr val="69D2B1"/>
            </a:solidFill>
            <a:prstDash val="solid"/>
            <a:headEnd type="none"/>
            <a:tailEnd type="triangle"/>
          </a:ln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69E391C4-789A-62F9-E3EA-16AB4F972358}"/>
              </a:ext>
            </a:extLst>
          </p:cNvPr>
          <p:cNvSpPr/>
          <p:nvPr/>
        </p:nvSpPr>
        <p:spPr>
          <a:xfrm>
            <a:off x="185166" y="6099048"/>
            <a:ext cx="4983480" cy="548640"/>
          </a:xfrm>
          <a:prstGeom prst="roundRect">
            <a:avLst>
              <a:gd name="adj" fmla="val 20000"/>
            </a:avLst>
          </a:prstGeom>
          <a:solidFill>
            <a:srgbClr val="14352E"/>
          </a:solidFill>
          <a:ln w="12700">
            <a:solidFill>
              <a:srgbClr val="69D2B1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42873D71-C1E2-EFE7-EE5B-F4B4A5C20005}"/>
              </a:ext>
            </a:extLst>
          </p:cNvPr>
          <p:cNvSpPr/>
          <p:nvPr/>
        </p:nvSpPr>
        <p:spPr>
          <a:xfrm>
            <a:off x="358902" y="616305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9D2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approved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8979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7395F-1F80-8C04-4685-DC2C40AB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FE6FE3-BA44-FA31-9110-1286E2F2B394}"/>
              </a:ext>
            </a:extLst>
          </p:cNvPr>
          <p:cNvSpPr txBox="1"/>
          <p:nvPr/>
        </p:nvSpPr>
        <p:spPr>
          <a:xfrm>
            <a:off x="221742" y="146304"/>
            <a:ext cx="3271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4. Airflow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54BBC-B3BD-8772-BCB7-FD012609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0" y="877824"/>
            <a:ext cx="6512196" cy="53155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0E4938-CE15-A407-C0AB-6C00470B66D8}"/>
              </a:ext>
            </a:extLst>
          </p:cNvPr>
          <p:cNvSpPr txBox="1"/>
          <p:nvPr/>
        </p:nvSpPr>
        <p:spPr>
          <a:xfrm>
            <a:off x="7024878" y="1071616"/>
            <a:ext cx="4930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 important components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DAG Processor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Parses Python files and discovers workflows.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Scheduler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Checks schedules and dependencies and decides when tasks can execute.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and Workers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Execute the tasks.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Metadata Database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Stores DAG run details, task states, and other operational metadata.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UI/API Server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Provides the interface for triggering workflows and inspecting execution history.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Triggerer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 Supports efficient waiting for certain asynchronous operations.</a:t>
            </a:r>
          </a:p>
        </p:txBody>
      </p:sp>
    </p:spTree>
    <p:extLst>
      <p:ext uri="{BB962C8B-B14F-4D97-AF65-F5344CB8AC3E}">
        <p14:creationId xmlns:p14="http://schemas.microsoft.com/office/powerpoint/2010/main" val="108344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59226-55D1-801C-08A9-E04296BF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C77DED5-08F0-868A-E6CA-1E1EF69CFD8A}"/>
              </a:ext>
            </a:extLst>
          </p:cNvPr>
          <p:cNvSpPr/>
          <p:nvPr/>
        </p:nvSpPr>
        <p:spPr>
          <a:xfrm>
            <a:off x="256032" y="2743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in Python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C477BA-B1EC-4D41-1787-EC244EA31B33}"/>
              </a:ext>
            </a:extLst>
          </p:cNvPr>
          <p:cNvSpPr/>
          <p:nvPr/>
        </p:nvSpPr>
        <p:spPr>
          <a:xfrm>
            <a:off x="896112" y="1920240"/>
            <a:ext cx="471830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9F5D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task_a &gt;&gt; task_b &gt;&gt; task_c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9F5D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Fan-out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9F5D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task_a &gt;&gt; [task_b, task_c]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9F5D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Fan-in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9F5D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[task_b, task_c] &gt;&gt; task_d</a:t>
            </a: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6B946C-8BDC-6393-4F49-38C005B721E4}"/>
              </a:ext>
            </a:extLst>
          </p:cNvPr>
          <p:cNvSpPr txBox="1"/>
          <p:nvPr/>
        </p:nvSpPr>
        <p:spPr>
          <a:xfrm>
            <a:off x="1072134" y="105713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 defines traditional dependencies using 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&gt;&gt;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F921F4-79F5-EEA2-A5DA-29402B858D12}"/>
              </a:ext>
            </a:extLst>
          </p:cNvPr>
          <p:cNvSpPr/>
          <p:nvPr/>
        </p:nvSpPr>
        <p:spPr>
          <a:xfrm>
            <a:off x="7982712" y="1239012"/>
            <a:ext cx="1746504" cy="5623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Task_a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57A718-B7FC-79D8-9A47-06816525E1CB}"/>
              </a:ext>
            </a:extLst>
          </p:cNvPr>
          <p:cNvSpPr/>
          <p:nvPr/>
        </p:nvSpPr>
        <p:spPr>
          <a:xfrm>
            <a:off x="6818376" y="2424684"/>
            <a:ext cx="1746504" cy="5623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Task_b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861530-3936-25AD-DFB5-CC6249C4A544}"/>
              </a:ext>
            </a:extLst>
          </p:cNvPr>
          <p:cNvSpPr/>
          <p:nvPr/>
        </p:nvSpPr>
        <p:spPr>
          <a:xfrm>
            <a:off x="9159240" y="2424684"/>
            <a:ext cx="1746504" cy="5623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Task_c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9DA7D1E-2ECD-466D-8462-3D3680CE5F8B}"/>
              </a:ext>
            </a:extLst>
          </p:cNvPr>
          <p:cNvSpPr/>
          <p:nvPr/>
        </p:nvSpPr>
        <p:spPr>
          <a:xfrm rot="1842368">
            <a:off x="8328661" y="1827276"/>
            <a:ext cx="344424" cy="50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2BF379-8B7F-0C70-1B83-8CE2C7846ACD}"/>
              </a:ext>
            </a:extLst>
          </p:cNvPr>
          <p:cNvSpPr/>
          <p:nvPr/>
        </p:nvSpPr>
        <p:spPr>
          <a:xfrm>
            <a:off x="7982712" y="3797808"/>
            <a:ext cx="1746504" cy="5623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Task_d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57AD5F3A-E4F8-979F-99ED-6ED88B062C9B}"/>
              </a:ext>
            </a:extLst>
          </p:cNvPr>
          <p:cNvSpPr/>
          <p:nvPr/>
        </p:nvSpPr>
        <p:spPr>
          <a:xfrm rot="19842160">
            <a:off x="8957359" y="1848611"/>
            <a:ext cx="344424" cy="50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1895CFE7-E8C8-422B-8A09-FB54C45A2137}"/>
              </a:ext>
            </a:extLst>
          </p:cNvPr>
          <p:cNvSpPr/>
          <p:nvPr/>
        </p:nvSpPr>
        <p:spPr>
          <a:xfrm rot="19842160">
            <a:off x="8231935" y="3112202"/>
            <a:ext cx="344424" cy="50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A9483B16-A20D-E2FB-58A6-1B83D9C0129D}"/>
              </a:ext>
            </a:extLst>
          </p:cNvPr>
          <p:cNvSpPr/>
          <p:nvPr/>
        </p:nvSpPr>
        <p:spPr>
          <a:xfrm rot="1842368">
            <a:off x="9130286" y="3140200"/>
            <a:ext cx="344424" cy="50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4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E9245-4E27-7F4F-B8CC-C6C5AFCA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74AB587-8D24-AE50-2006-429E1FF950B9}"/>
              </a:ext>
            </a:extLst>
          </p:cNvPr>
          <p:cNvSpPr txBox="1"/>
          <p:nvPr/>
        </p:nvSpPr>
        <p:spPr>
          <a:xfrm>
            <a:off x="377190" y="151876"/>
            <a:ext cx="113819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6. When should you use Airflow in MLOps?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 is especially 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Scheduled model retraining.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feature engineering.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data quality checks.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inference pipelines.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Coordinating model evaluation and registration.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Running pipelines that depend on data arriving from another system.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 is not the tool that should serve individual prediction requests in real time. FastAPI, for example, can serve predictions while Airflow manages training and retraining.</a:t>
            </a:r>
          </a:p>
        </p:txBody>
      </p:sp>
    </p:spTree>
    <p:extLst>
      <p:ext uri="{BB962C8B-B14F-4D97-AF65-F5344CB8AC3E}">
        <p14:creationId xmlns:p14="http://schemas.microsoft.com/office/powerpoint/2010/main" val="2150422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541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Mono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2026-10-22T12:57:08Z</dcterms:modified>
</cp:coreProperties>
</file>