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4:28:01.08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1 518 24575,'4'8'0,"6"8"0,1 9 0,4 10 0,2 2 0,21-4 0,21-13 0,18-18 0,8-18 0,8-32 0,17-26 0,13-16 0,6-12 0,7 0 0,-10 12 0,-23 13 0,-20 20 0,-24 19-8191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4:28:02.08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1 374 24575,'1'0'0,"1"1"0,-1-1 0,0 1 0,0 0 0,1-1 0,-1 1 0,0 0 0,0 0 0,0 0 0,0 0 0,0 0 0,0 0 0,0 0 0,0 0 0,0 0 0,0 0 0,-1 0 0,1 1 0,0-1 0,-1 0 0,1 3 0,14 36 0,-12-29 0,5 12 0,2 0 0,0-1 0,1-1 0,25 37 0,-33-55 0,0-1 0,0 1 0,0 0 0,1-1 0,-1 0 0,1 0 0,-1 0 0,1 0 0,0 0 0,-1-1 0,1 0 0,0 0 0,0 0 0,0 0 0,0 0 0,0-1 0,0 0 0,0 0 0,0 0 0,0 0 0,8-2 0,6-1 0,0-1 0,-1-1 0,28-11 0,12-8 1,-1-3 0,-2-2 0,74-53 0,138-125 21,-38 28-1413,-163 133-5435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4:28:03.26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1 547 24575,'0'-4'0,"4"7"0,6 16 0,6 9 0,-1 8 0,3 7 0,-3 1 0,14-12 0,27-25 0,44-30 0,35-32 0,24-30 0,12-21 0,-2-14 0,-13 4 0,-24 9 0,-30 23 0,-32 26-8191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4:28:08.89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0 283 24575,'7'9'0,"0"-1"0,-1 1 0,0 1 0,-1-1 0,6 14 0,-7-12 0,1-1 0,1 0 0,-1-1 0,2 0 0,11 15 0,-15-21 0,0-1 0,-1 0 0,1 1 0,0-1 0,1-1 0,-1 1 0,0 0 0,0-1 0,1 0 0,-1 1 0,1-2 0,-1 1 0,1 0 0,-1 0 0,1-1 0,-1 0 0,1 0 0,0 0 0,-1 0 0,1-1 0,-1 1 0,6-2 0,15-5 0,0 0 0,-1-2 0,0-1 0,24-13 0,91-59 0,-101 59 0,79-52 0,-46 28 0,136-68 0,-109 80-1365,-71 23-5461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4:28:21.56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0 739 24575,'9'0'0,"3"5"0,-2 5 0,8 1 0,8-5 0,31-31 0,31-35 0,35-26 0,27-20 0,14-13 0,-3 1 0,-26 11 0,-30 20 0,-34 25-8191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4:28:23.940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42 24575,'4'6'0,"0"-1"0,-1 1 0,0 0 0,0 0 0,0 1 0,-1-1 0,0 1 0,0-1 0,1 12 0,8 21 0,-4-22 0,0-1 0,1 0 0,1-1 0,1 0 0,0 0 0,0-1 0,19 18 0,-25-29 0,0-1 0,0 0 0,0 0 0,0 0 0,0 0 0,1-1 0,-1 1 0,1-1 0,-1 0 0,1-1 0,-1 1 0,1-1 0,-1 0 0,1 0 0,5-1 0,71-14 0,-67 11 0,35-10-170,-2-3-1,0-1 0,-1-3 1,-1-2-1,-1-2 0,-1-1 1,71-59-1,-35 21-6655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05.37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0 613 24575,'0'-1'0,"1"1"0,-1-1 0,0 1 0,0-1 0,0 0 0,0 1 0,0-1 0,1 1 0,-1 0 0,0-1 0,0 1 0,1-1 0,-1 1 0,0-1 0,1 1 0,-1 0 0,0-1 0,1 1 0,-1 0 0,1-1 0,-1 1 0,1 0 0,-1-1 0,1 1 0,-1 0 0,1 0 0,-1 0 0,1 0 0,-1-1 0,1 1 0,-1 0 0,1 0 0,-1 0 0,1 0 0,-1 0 0,1 0 0,-1 0 0,1 0 0,-1 1 0,1-1 0,-1 0 0,1 0 0,-1 0 0,1 0 0,-1 1 0,1-1 0,28 12 0,-26-11 0,42 28 0,-38-23 0,1 0 0,-1-1 0,1 0 0,17 7 0,-22-11 0,0 0 0,0-1 0,0 1 0,0-1 0,0 1 0,0-1 0,0 0 0,0 0 0,1 0 0,-1-1 0,0 1 0,0-1 0,0 1 0,0-1 0,0 0 0,-1-1 0,1 1 0,0 0 0,3-3 0,36-25 0,-1-3 0,70-69 0,-14 11 0,170-116 131,-29 25-1627,-201 150-5330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06.918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16 159 24575,'-1'0'0,"0"0"0,1 0 0,-1 0 0,0 0 0,1 0 0,-1 1 0,0-1 0,1 0 0,-1 0 0,0 1 0,1-1 0,-1 1 0,0-1 0,1 0 0,-1 1 0,1-1 0,-1 1 0,1-1 0,-1 1 0,1 0 0,0-1 0,-1 1 0,1-1 0,0 1 0,-1 0 0,1-1 0,0 1 0,0 0 0,-1 0 0,1-1 0,0 1 0,0 0 0,0-1 0,0 1 0,0 0 0,0 0 0,0-1 0,0 1 0,1 1 0,5 31 0,-6-32 0,9 29 0,1-1 0,20 39 0,-26-58 0,2 0 0,-1-1 0,1 1 0,1-1 0,-1-1 0,2 1 0,-1-1 0,1-1 0,0 1 0,12 7 0,-16-13 0,1 0 0,-1 0 0,0-1 0,1 0 0,-1 0 0,1 0 0,-1 0 0,1-1 0,0 0 0,-1 0 0,1 0 0,0 0 0,-1-1 0,1 0 0,-1 0 0,1 0 0,6-3 0,10-4 0,-1 0 0,26-17 0,-35 19 0,72-45-2,-2-5 0,97-86-1,-49 38-1355,-69 58-5468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08.74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0 722 24575,'3'17'0,"0"-1"0,1 1 0,1-1 0,0 0 0,1 0 0,12 22 0,-18-36 0,1 0 0,0 0 0,0 0 0,-1 0 0,1 0 0,0-1 0,0 1 0,1 0 0,-1 0 0,0-1 0,1 1 0,-1-1 0,1 1 0,-1-1 0,1 1 0,0-1 0,-1 0 0,1 0 0,0 0 0,0 0 0,0 0 0,0 0 0,0-1 0,0 1 0,0-1 0,0 1 0,0-1 0,3 0 0,0-1 0,1-1 0,0 0 0,0-1 0,-1 0 0,0 1 0,1-2 0,-1 1 0,0-1 0,8-7 0,233-206 0,-89 75 0,293-256 0,-437 388-273,-1-2 0,0 0 0,-1 0 0,19-27 0,-20 21-6553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3.73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587 116 24575,'-9'-8'0,"-1"0"0,0 0 0,-1 1 0,0 1 0,0 0 0,0 0 0,0 1 0,-1 1 0,0 0 0,0 1 0,0 0 0,-23-3 0,-14 2 0,-96 3 0,97 2 0,42-1 0,1 0 0,-1 0 0,1 0 0,0 0 0,-1 1 0,1 0 0,0 0 0,0 0 0,-1 1 0,1 0 0,0 0 0,0 0 0,1 0 0,-1 1 0,0 0 0,1 0 0,0 0 0,0 1 0,0-1 0,0 1 0,0 0 0,1 0 0,-1 1 0,-2 4 0,2-2 0,-3 4 0,0 1 0,1 0 0,0 0 0,1 1 0,0-1 0,1 1 0,0 1 0,1-1 0,0 0 0,0 27 0,3-25 0,2 0 0,0 0 0,1-1 0,0 1 0,1-1 0,1 1 0,0-1 0,1-1 0,0 1 0,1-1 0,1 0 0,0 0 0,1-1 0,0 0 0,1-1 0,0 0 0,1 0 0,0-1 0,1-1 0,0 0 0,20 12 0,176 95 0,-193-110 0,0 0 0,0-1 0,0 0 0,1-1 0,-1-1 0,1-1 0,0 0 0,27-1 0,-16-1 0,1-2 0,-1-1 0,1-1 0,31-9 0,-46 9 0,0 0 0,0-1 0,0-1 0,-1 0 0,0 0 0,0-2 0,-1 1 0,0-1 0,0-1 0,0 0 0,-2 0 0,1-1 0,-1-1 0,0 1 0,-1-1 0,-1-1 0,1 0 0,-2 0 0,0 0 0,0-1 0,6-23 0,-9 28 0,1-4 0,0 0 0,-1-1 0,0 0 0,0-13 0,-3 21 0,0-1 0,0 1 0,-1 0 0,0-1 0,0 1 0,0 0 0,-1 0 0,0 0 0,0 0 0,0 0 0,0 0 0,-6-8 0,-17-21 0,-2 0 0,-1 2 0,-1 1 0,-44-36 0,53 52-195,0 1 0,-1 1 0,-1 1 0,0 1 0,-1 0 0,-45-13 0,45 16-6631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53.5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0 226 24575,'15'18'0,"-1"1"0,-1 0 0,-1 1 0,-1 0 0,-1 1 0,9 25 0,2 1 0,-6-15 0,-2-2 0,1-1 0,33 50 0,-46-78 0,0 1 0,0-1 0,1 0 0,-1 0 0,0 1 0,1-1 0,-1 0 0,1 0 0,-1 0 0,1 0 0,-1-1 0,1 1 0,0 0 0,-1-1 0,1 1 0,0-1 0,0 1 0,-1-1 0,1 0 0,0 0 0,0 0 0,-1 0 0,1 0 0,0 0 0,0 0 0,0 0 0,-1-1 0,3 0 0,4-2 0,1-1 0,-1 0 0,0 0 0,12-9 0,-9 6 0,193-144 0,-49 34 0,297-160-1365,-376 236-5461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54.7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1 276 24575,'0'5'0,"0"5"0,0 5 0,4 9 0,2 5 0,8-3 0,6-9 0,13-13 0,9-16 0,15-18 0,15-13 0,4-7 0,-3-5 0,0-5 0,-13 3 0,-7 2 0,-14 11-8191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55.62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0 105 24575,'0'4'0,"0"6"0,0 10 0,4 10 0,2 9 0,0 1 0,7-5 0,6-9 0,25-22 0,23-24 0,22-27 0,12-13 0,-2-5 0,-13-1 0,-22 11-8191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56.52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53 24575,'0'5'0,"0"13"0,8 14 0,4 4 0,3 6 0,4 4 0,3-6 0,2-10 0,5-10 0,24-16 0,33-27 0,28-27 0,25-22 0,-3 2 0,-11 7 0,-27 16-8191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57.35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15 24575,'0'4'0,"4"6"0,6 10 0,6 6 0,4-2 0,12-5 0,8-5 0,12-14 0,22-11 0,16-13 0,9-10 0,-2 0 0,-19 6-8191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58.23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1 331 24575,'0'4'0,"0"6"0,0 6 0,0 3 0,4 9 0,6 3 0,19-4 0,29-11 0,45-16 0,48-34 0,28-34 0,14-26 0,-13-10 0,-28 4 0,-40 19-8191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58.969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1 169 24575,'0'27'0,"-1"-3"0,1 1 0,2 0 0,5 35 0,-6-56 0,0 1 0,0-1 0,0 1 0,0-1 0,1 1 0,0-1 0,0 0 0,0 0 0,0 0 0,0 0 0,1 0 0,0 0 0,0-1 0,0 1 0,0-1 0,1 0 0,-1 0 0,1 0 0,0 0 0,0-1 0,0 1 0,0-1 0,0 0 0,8 2 0,5-1 0,0-1 0,1 0 0,-1-2 0,0 0 0,1 0 0,27-6 0,77-15 0,-1-6 0,169-60 0,-250 75 0,565-211-1365,-484 173-5461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59.8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1 455 24575,'0'5'0,"0"5"0,4 5 0,6 1 0,6-3 0,8-4 0,26-15 0,44-21 0,44-23 0,30-19 0,7-16 0,-13-7 0,-21 9 0,-39 18 0,-37 20-8191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00.523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0 386 24575,'0'-8'0,"9"-4"0,20-12 0,35-19 0,50-16 0,53-10 0,33 2 0,-9 8 0,-37 14-8191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01.27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0 285 24575,'0'4'0,"0"6"0,0 6 0,5 0 0,9-3 0,7-4 0,9-3 0,16-15 0,27-24 0,35-15 0,51-8 0,37-3 0,16 0 0,-15 6 0,-42 11-8191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01.92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0 305 24575,'0'-4'0,"9"-6"0,15-19 0,26-12 0,21-9 0,29 1 0,15 3 0,1 11 0,-16 10 0,-24 10-8191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02.561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0 147 24575,'13'-4'0,"30"-10"0,30-12 0,32-5 0,28-7 0,-7 4-8191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pPr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6">
                    <a:lumMod val="60000"/>
                    <a:lumOff val="40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4.xml"/><Relationship Id="rId1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customXml" Target="../ink/ink7.xml"/><Relationship Id="rId7" Type="http://schemas.openxmlformats.org/officeDocument/2006/relationships/customXml" Target="../ink/ink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customXml" Target="../ink/ink8.xml"/><Relationship Id="rId10" Type="http://schemas.openxmlformats.org/officeDocument/2006/relationships/image" Target="../media/image16.png"/><Relationship Id="rId4" Type="http://schemas.openxmlformats.org/officeDocument/2006/relationships/image" Target="../media/image13.png"/><Relationship Id="rId9" Type="http://schemas.openxmlformats.org/officeDocument/2006/relationships/customXml" Target="../ink/ink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16.xml"/><Relationship Id="rId18" Type="http://schemas.openxmlformats.org/officeDocument/2006/relationships/image" Target="../media/image25.png"/><Relationship Id="rId26" Type="http://schemas.openxmlformats.org/officeDocument/2006/relationships/image" Target="../media/image29.png"/><Relationship Id="rId3" Type="http://schemas.openxmlformats.org/officeDocument/2006/relationships/customXml" Target="../ink/ink11.xml"/><Relationship Id="rId21" Type="http://schemas.openxmlformats.org/officeDocument/2006/relationships/customXml" Target="../ink/ink20.xml"/><Relationship Id="rId7" Type="http://schemas.openxmlformats.org/officeDocument/2006/relationships/customXml" Target="../ink/ink13.xml"/><Relationship Id="rId12" Type="http://schemas.openxmlformats.org/officeDocument/2006/relationships/image" Target="../media/image22.png"/><Relationship Id="rId17" Type="http://schemas.openxmlformats.org/officeDocument/2006/relationships/customXml" Target="../ink/ink18.xml"/><Relationship Id="rId25" Type="http://schemas.openxmlformats.org/officeDocument/2006/relationships/customXml" Target="../ink/ink22.xml"/><Relationship Id="rId2" Type="http://schemas.openxmlformats.org/officeDocument/2006/relationships/image" Target="../media/image17.png"/><Relationship Id="rId16" Type="http://schemas.openxmlformats.org/officeDocument/2006/relationships/image" Target="../media/image24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customXml" Target="../ink/ink15.xml"/><Relationship Id="rId24" Type="http://schemas.openxmlformats.org/officeDocument/2006/relationships/image" Target="../media/image28.png"/><Relationship Id="rId5" Type="http://schemas.openxmlformats.org/officeDocument/2006/relationships/customXml" Target="../ink/ink12.xml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10" Type="http://schemas.openxmlformats.org/officeDocument/2006/relationships/image" Target="../media/image21.png"/><Relationship Id="rId19" Type="http://schemas.openxmlformats.org/officeDocument/2006/relationships/customXml" Target="../ink/ink19.xml"/><Relationship Id="rId4" Type="http://schemas.openxmlformats.org/officeDocument/2006/relationships/image" Target="../media/image18.png"/><Relationship Id="rId9" Type="http://schemas.openxmlformats.org/officeDocument/2006/relationships/customXml" Target="../ink/ink14.xml"/><Relationship Id="rId14" Type="http://schemas.openxmlformats.org/officeDocument/2006/relationships/image" Target="../media/image23.png"/><Relationship Id="rId22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A6A05E1-19DD-9C78-D682-4BD3022B4DC4}"/>
              </a:ext>
            </a:extLst>
          </p:cNvPr>
          <p:cNvSpPr txBox="1"/>
          <p:nvPr/>
        </p:nvSpPr>
        <p:spPr>
          <a:xfrm>
            <a:off x="1947672" y="2674263"/>
            <a:ext cx="81358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5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Apache Airflow</a:t>
            </a:r>
            <a:endParaRPr lang="en-IN" sz="54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BF734F-B455-709F-26C7-D8BC57C8C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E562B5-7E9A-7D3E-430F-C98DDF2DFD9D}"/>
              </a:ext>
            </a:extLst>
          </p:cNvPr>
          <p:cNvSpPr txBox="1"/>
          <p:nvPr/>
        </p:nvSpPr>
        <p:spPr>
          <a:xfrm>
            <a:off x="91440" y="152668"/>
            <a:ext cx="1121968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Step1) Set up Airflow on Windows 11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Since you are already using Docker for MLOps, we will run Airflow using Docker Desktop.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official Airflow Docker Compose configuration uses multiple containers for the scheduler, API server, worker, PostgreSQL, Redis, and other components. This is useful because students can also understand a realistic distributed architecture.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Requirements: Docker Desktop with Linux containers enabled, Docker Compose V2, and at least 4 GB of memory available for Docker (preferably 8 GB).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52841A-6F48-2F7C-B76D-8FE2B0BD4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626" y="2532800"/>
            <a:ext cx="3629532" cy="417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302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F05F6C-8E0A-A759-3A9D-61DB3D538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E5F2AF-845A-5E9B-A739-5F6BCFA12F7C}"/>
              </a:ext>
            </a:extLst>
          </p:cNvPr>
          <p:cNvSpPr txBox="1"/>
          <p:nvPr/>
        </p:nvSpPr>
        <p:spPr>
          <a:xfrm>
            <a:off x="91440" y="152668"/>
            <a:ext cx="1122883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2) Create Docker stuff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Open PowerShell inside that directory.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A) Download the official Airflow Compose configuration: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Invoke-WebRequest  -Uri "https://airflow.apache.org/docs/apache-airflow/3.3.2/docker-compose.yaml"   -OutFile "docker-compose.yaml"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AE1C56-F24A-BB93-BA18-E4C4235D0407}"/>
              </a:ext>
            </a:extLst>
          </p:cNvPr>
          <p:cNvSpPr txBox="1"/>
          <p:nvPr/>
        </p:nvSpPr>
        <p:spPr>
          <a:xfrm>
            <a:off x="155448" y="2673388"/>
            <a:ext cx="112288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B) Create the necessary folders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New-Item -ItemType Directory -Force dags,logs,plugins,config,ml_artifacts | Out-Null</a:t>
            </a:r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198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7BB89-5E12-DFA2-F94F-0A969C60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E6E942-EA16-571A-42DE-87082FA8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264" y="590361"/>
            <a:ext cx="3419952" cy="543953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3618068-465E-B41E-5F0F-19B480E25F68}"/>
                  </a:ext>
                </a:extLst>
              </p14:cNvPr>
              <p14:cNvContentPartPr/>
              <p14:nvPr/>
            </p14:nvContentPartPr>
            <p14:xfrm>
              <a:off x="3867624" y="1441296"/>
              <a:ext cx="460440" cy="250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3618068-465E-B41E-5F0F-19B480E25F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49984" y="1423296"/>
                <a:ext cx="496080" cy="28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603486-B06E-A046-A93C-29F749DC72C7}"/>
                  </a:ext>
                </a:extLst>
              </p14:cNvPr>
              <p14:cNvContentPartPr/>
              <p14:nvPr/>
            </p14:nvContentPartPr>
            <p14:xfrm>
              <a:off x="3821904" y="2096496"/>
              <a:ext cx="416520" cy="2250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603486-B06E-A046-A93C-29F749DC72C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04264" y="2078496"/>
                <a:ext cx="452160" cy="26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712DB0E-F5F1-90E3-BBA7-ABF750C5DA65}"/>
                  </a:ext>
                </a:extLst>
              </p14:cNvPr>
              <p14:cNvContentPartPr/>
              <p14:nvPr/>
            </p14:nvContentPartPr>
            <p14:xfrm>
              <a:off x="4114584" y="2902896"/>
              <a:ext cx="488880" cy="272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712DB0E-F5F1-90E3-BBA7-ABF750C5DA6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096944" y="2885256"/>
                <a:ext cx="5245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547052B-D2AD-204C-C8CE-836A93064B53}"/>
                  </a:ext>
                </a:extLst>
              </p14:cNvPr>
              <p14:cNvContentPartPr/>
              <p14:nvPr/>
            </p14:nvContentPartPr>
            <p14:xfrm>
              <a:off x="5312664" y="5146776"/>
              <a:ext cx="360360" cy="1616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547052B-D2AD-204C-C8CE-836A93064B5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94664" y="5128776"/>
                <a:ext cx="39600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7BEB397-D103-4413-A48F-684FA6D9F5B3}"/>
                  </a:ext>
                </a:extLst>
              </p14:cNvPr>
              <p14:cNvContentPartPr/>
              <p14:nvPr/>
            </p14:nvContentPartPr>
            <p14:xfrm>
              <a:off x="4407264" y="2248416"/>
              <a:ext cx="406440" cy="2775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7BEB397-D103-4413-A48F-684FA6D9F5B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89264" y="2230776"/>
                <a:ext cx="44208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E609EDD-D76B-312E-3991-47226027F05D}"/>
                  </a:ext>
                </a:extLst>
              </p14:cNvPr>
              <p14:cNvContentPartPr/>
              <p14:nvPr/>
            </p14:nvContentPartPr>
            <p14:xfrm>
              <a:off x="3986784" y="1283256"/>
              <a:ext cx="293400" cy="1130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E609EDD-D76B-312E-3991-47226027F05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68784" y="1265256"/>
                <a:ext cx="329040" cy="14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4747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D00E4-B838-17FC-085D-DFC9F5B73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54B9C-DC42-8DCE-F7AD-35D02273B767}"/>
              </a:ext>
            </a:extLst>
          </p:cNvPr>
          <p:cNvSpPr txBox="1"/>
          <p:nvPr/>
        </p:nvSpPr>
        <p:spPr>
          <a:xfrm>
            <a:off x="106680" y="71134"/>
            <a:ext cx="98237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C. Build the Airflow Docker image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project contains a Dockerfile that adds NumPy, Pandas, Scikit-learn, and Joblib to the Airflow image.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&gt; docker build -t house-price-airflow:3.3.2  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3 minute)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8FC4E1-761C-0723-11F7-2D19589700BB}"/>
              </a:ext>
            </a:extLst>
          </p:cNvPr>
          <p:cNvSpPr txBox="1"/>
          <p:nvPr/>
        </p:nvSpPr>
        <p:spPr>
          <a:xfrm>
            <a:off x="128016" y="2748992"/>
            <a:ext cx="1069619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D. Initialize Airflow</a:t>
            </a:r>
          </a:p>
          <a:p>
            <a:pPr>
              <a:buNone/>
            </a:pPr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rtl="0">
              <a:buNone/>
            </a:pP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&gt; docker  compose  up  airflow-init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initializes the metadata database and creates the demonstration login. (Took 1 minute)</a:t>
            </a:r>
          </a:p>
        </p:txBody>
      </p:sp>
    </p:spTree>
    <p:extLst>
      <p:ext uri="{BB962C8B-B14F-4D97-AF65-F5344CB8AC3E}">
        <p14:creationId xmlns:p14="http://schemas.microsoft.com/office/powerpoint/2010/main" val="2307096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06F45-332C-826B-F3A1-A294FF43B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0669A1-6434-709A-F054-5404BB773A3C}"/>
              </a:ext>
            </a:extLst>
          </p:cNvPr>
          <p:cNvSpPr txBox="1"/>
          <p:nvPr/>
        </p:nvSpPr>
        <p:spPr>
          <a:xfrm>
            <a:off x="155448" y="116854"/>
            <a:ext cx="4892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E. Start the Airflow services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 compose  up  -d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Check the running containers: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&gt; docker  compose  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5AFC0D-E6AA-C4B1-9BF4-460A294F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12171"/>
            <a:ext cx="12192000" cy="256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685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6AC189-8BD4-1837-6230-83D1948C9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88C151-497C-A320-F9FC-B6D84982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54" y="0"/>
            <a:ext cx="8997146" cy="67594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B45356-C972-2B21-6893-4D85F25B5F51}"/>
              </a:ext>
            </a:extLst>
          </p:cNvPr>
          <p:cNvSpPr txBox="1"/>
          <p:nvPr/>
        </p:nvSpPr>
        <p:spPr>
          <a:xfrm>
            <a:off x="146304" y="98566"/>
            <a:ext cx="314553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F. Open Airflow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Airflow Web Interface: 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http://localhost:8080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Username: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airflow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Password: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airflow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Default credentials apply to the official Docker Compose learning setup, not production.</a:t>
            </a:r>
          </a:p>
        </p:txBody>
      </p:sp>
    </p:spTree>
    <p:extLst>
      <p:ext uri="{BB962C8B-B14F-4D97-AF65-F5344CB8AC3E}">
        <p14:creationId xmlns:p14="http://schemas.microsoft.com/office/powerpoint/2010/main" val="40445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6FE04F-4459-9368-5557-334273F90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85C48D0-208E-DB37-D986-BC3F24C7614D}"/>
              </a:ext>
            </a:extLst>
          </p:cNvPr>
          <p:cNvSpPr txBox="1"/>
          <p:nvPr/>
        </p:nvSpPr>
        <p:spPr>
          <a:xfrm>
            <a:off x="405384" y="1131838"/>
            <a:ext cx="11786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3) Now go through the code and explain it</a:t>
            </a: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56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07BC98-C564-9266-9F98-9550A17E6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1F61E8-514C-8ED1-64EA-37E0B412F980}"/>
              </a:ext>
            </a:extLst>
          </p:cNvPr>
          <p:cNvSpPr txBox="1"/>
          <p:nvPr/>
        </p:nvSpPr>
        <p:spPr>
          <a:xfrm>
            <a:off x="115824" y="49028"/>
            <a:ext cx="6705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Step 4 — Execute the DAG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In the Airflow web interface: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Open the DAG tab and locate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house_price_ml_pipeline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Click Trigger to start a manual run.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Open its Graph view(just click on the pipeline).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Inspect each task and its logs.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99B56-DD04-18D4-DCBA-23E90FDA1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461" y="1988021"/>
            <a:ext cx="10026243" cy="482095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1B226B-76DC-AE41-133E-FF5C71EF2738}"/>
                  </a:ext>
                </a:extLst>
              </p14:cNvPr>
              <p14:cNvContentPartPr/>
              <p14:nvPr/>
            </p14:nvContentPartPr>
            <p14:xfrm>
              <a:off x="2852784" y="3921696"/>
              <a:ext cx="377280" cy="2458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1B226B-76DC-AE41-133E-FF5C71EF27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34784" y="3904056"/>
                <a:ext cx="412920" cy="28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70AFE75-5D0B-D165-BEA9-4718A48749C0}"/>
                  </a:ext>
                </a:extLst>
              </p14:cNvPr>
              <p14:cNvContentPartPr/>
              <p14:nvPr/>
            </p14:nvContentPartPr>
            <p14:xfrm>
              <a:off x="2582064" y="3536496"/>
              <a:ext cx="309240" cy="164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70AFE75-5D0B-D165-BEA9-4718A48749C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564064" y="3518856"/>
                <a:ext cx="34488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EFE30F0-DD3A-F360-C7E3-04E5BB6BD5BF}"/>
                  </a:ext>
                </a:extLst>
              </p14:cNvPr>
              <p14:cNvContentPartPr/>
              <p14:nvPr/>
            </p14:nvContentPartPr>
            <p14:xfrm>
              <a:off x="10579464" y="3708576"/>
              <a:ext cx="393840" cy="3225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EFE30F0-DD3A-F360-C7E3-04E5BB6BD5B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561464" y="3690576"/>
                <a:ext cx="429480" cy="35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A5F8AE-599A-B49F-B65A-A4D284BE1604}"/>
                  </a:ext>
                </a:extLst>
              </p14:cNvPr>
              <p14:cNvContentPartPr/>
              <p14:nvPr/>
            </p14:nvContentPartPr>
            <p14:xfrm>
              <a:off x="10542024" y="4127976"/>
              <a:ext cx="346320" cy="255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A5F8AE-599A-B49F-B65A-A4D284BE160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524384" y="4110336"/>
                <a:ext cx="381960" cy="29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62442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0EC1EB-6C97-1B69-2B8D-75E3F71C7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52D0A40-4D80-B3F3-925B-04264CC2D5B0}"/>
              </a:ext>
            </a:extLst>
          </p:cNvPr>
          <p:cNvSpPr txBox="1"/>
          <p:nvPr/>
        </p:nvSpPr>
        <p:spPr>
          <a:xfrm>
            <a:off x="234696" y="221224"/>
            <a:ext cx="1034491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You should see six connected tasks. After a successful run, all six should be marked successful.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dataset, model, and evaluation artifacts will appear under 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ml_artifacts</a:t>
            </a: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in your project directory. The approved model will be saved at:</a:t>
            </a:r>
          </a:p>
          <a:p>
            <a:pPr>
              <a:buNone/>
            </a:pPr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ml_artifacts/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└── approved/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  ├── house_price_model.joblib</a:t>
            </a:r>
          </a:p>
          <a:p>
            <a:pPr>
              <a:buNone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    └── metrics.json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DDFC1-A8E5-3AEB-787A-B95C7BEFB8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446" y="1004072"/>
            <a:ext cx="4413162" cy="5632704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F3A5DAF-8F43-64BA-F17A-68E0D3ABEB44}"/>
              </a:ext>
            </a:extLst>
          </p:cNvPr>
          <p:cNvGrpSpPr/>
          <p:nvPr/>
        </p:nvGrpSpPr>
        <p:grpSpPr>
          <a:xfrm>
            <a:off x="7443144" y="2442456"/>
            <a:ext cx="433440" cy="457200"/>
            <a:chOff x="7443144" y="2442456"/>
            <a:chExt cx="433440" cy="457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8A34B4C-05F9-2BF6-C5FD-7974FAA4996D}"/>
                    </a:ext>
                  </a:extLst>
                </p14:cNvPr>
                <p14:cNvContentPartPr/>
                <p14:nvPr/>
              </p14:nvContentPartPr>
              <p14:xfrm>
                <a:off x="7443144" y="2442456"/>
                <a:ext cx="433440" cy="22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8A34B4C-05F9-2BF6-C5FD-7974FAA4996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425144" y="2424456"/>
                  <a:ext cx="46908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AF2AE10-299F-8215-91D0-7B4860C895C0}"/>
                    </a:ext>
                  </a:extLst>
                </p14:cNvPr>
                <p14:cNvContentPartPr/>
                <p14:nvPr/>
              </p14:nvContentPartPr>
              <p14:xfrm>
                <a:off x="7644024" y="2753496"/>
                <a:ext cx="224280" cy="1461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AF2AE10-299F-8215-91D0-7B4860C895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626384" y="2735496"/>
                  <a:ext cx="259920" cy="181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95E483B-F2D1-A809-241A-6E34B078B71D}"/>
                  </a:ext>
                </a:extLst>
              </p14:cNvPr>
              <p14:cNvContentPartPr/>
              <p14:nvPr/>
            </p14:nvContentPartPr>
            <p14:xfrm>
              <a:off x="8741664" y="3034656"/>
              <a:ext cx="215640" cy="1130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95E483B-F2D1-A809-241A-6E34B078B71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723664" y="3016656"/>
                <a:ext cx="251280" cy="14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1E5B8F5-6E7C-08BB-E53C-2DFEBD36C0BF}"/>
                  </a:ext>
                </a:extLst>
              </p14:cNvPr>
              <p14:cNvContentPartPr/>
              <p14:nvPr/>
            </p14:nvContentPartPr>
            <p14:xfrm>
              <a:off x="7772184" y="3336696"/>
              <a:ext cx="317160" cy="1173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1E5B8F5-6E7C-08BB-E53C-2DFEBD36C0B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754544" y="3319056"/>
                <a:ext cx="352800" cy="15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329504A-5583-AE19-3F4B-004E15ADDEA2}"/>
                  </a:ext>
                </a:extLst>
              </p14:cNvPr>
              <p14:cNvContentPartPr/>
              <p14:nvPr/>
            </p14:nvContentPartPr>
            <p14:xfrm>
              <a:off x="7095744" y="3707136"/>
              <a:ext cx="220680" cy="475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329504A-5583-AE19-3F4B-004E15ADDEA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7744" y="3689496"/>
                <a:ext cx="256320" cy="8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A0AF4E01-ED7D-5DF6-B760-5D76B6A6B3EE}"/>
              </a:ext>
            </a:extLst>
          </p:cNvPr>
          <p:cNvGrpSpPr/>
          <p:nvPr/>
        </p:nvGrpSpPr>
        <p:grpSpPr>
          <a:xfrm>
            <a:off x="8348184" y="3794616"/>
            <a:ext cx="633960" cy="395280"/>
            <a:chOff x="8348184" y="3794616"/>
            <a:chExt cx="633960" cy="395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E9C05B7-E7AB-F59A-B9AF-D9FA66F4EBE0}"/>
                    </a:ext>
                  </a:extLst>
                </p14:cNvPr>
                <p14:cNvContentPartPr/>
                <p14:nvPr/>
              </p14:nvContentPartPr>
              <p14:xfrm>
                <a:off x="8348184" y="3794616"/>
                <a:ext cx="421920" cy="1738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E9C05B7-E7AB-F59A-B9AF-D9FA66F4EBE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330544" y="3776976"/>
                  <a:ext cx="4575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73F0DC3-0681-9A2E-FB26-2F661A3EDEB7}"/>
                    </a:ext>
                  </a:extLst>
                </p14:cNvPr>
                <p14:cNvContentPartPr/>
                <p14:nvPr/>
              </p14:nvContentPartPr>
              <p14:xfrm>
                <a:off x="8430264" y="4035816"/>
                <a:ext cx="551880" cy="154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73F0DC3-0681-9A2E-FB26-2F661A3EDEB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412264" y="4018176"/>
                  <a:ext cx="587520" cy="189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26FBD6A-3F3F-CEA0-9535-A4C58B96BD0C}"/>
                  </a:ext>
                </a:extLst>
              </p14:cNvPr>
              <p14:cNvContentPartPr/>
              <p14:nvPr/>
            </p14:nvContentPartPr>
            <p14:xfrm>
              <a:off x="8732304" y="4316616"/>
              <a:ext cx="414360" cy="188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26FBD6A-3F3F-CEA0-9535-A4C58B96BD0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14664" y="4298976"/>
                <a:ext cx="450000" cy="22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F7E6B4E-2798-7D2A-255B-26E2882CC769}"/>
              </a:ext>
            </a:extLst>
          </p:cNvPr>
          <p:cNvGrpSpPr/>
          <p:nvPr/>
        </p:nvGrpSpPr>
        <p:grpSpPr>
          <a:xfrm>
            <a:off x="7836264" y="4707216"/>
            <a:ext cx="438120" cy="339840"/>
            <a:chOff x="7836264" y="4707216"/>
            <a:chExt cx="43812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FB5BE2-9BD5-07E9-C430-DE7BB09CE3D2}"/>
                    </a:ext>
                  </a:extLst>
                </p14:cNvPr>
                <p14:cNvContentPartPr/>
                <p14:nvPr/>
              </p14:nvContentPartPr>
              <p14:xfrm>
                <a:off x="7854624" y="4707216"/>
                <a:ext cx="334440" cy="1393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FB5BE2-9BD5-07E9-C430-DE7BB09CE3D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836624" y="4689216"/>
                  <a:ext cx="37008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BA713A9-1B35-A877-29A6-8C7F61421D65}"/>
                    </a:ext>
                  </a:extLst>
                </p14:cNvPr>
                <p14:cNvContentPartPr/>
                <p14:nvPr/>
              </p14:nvContentPartPr>
              <p14:xfrm>
                <a:off x="7836264" y="4917456"/>
                <a:ext cx="438120" cy="129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BA713A9-1B35-A877-29A6-8C7F61421D6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18264" y="4899456"/>
                  <a:ext cx="473760" cy="16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C52EC49-82AB-C48F-0F0B-0F07A8146131}"/>
                  </a:ext>
                </a:extLst>
              </p14:cNvPr>
              <p14:cNvContentPartPr/>
              <p14:nvPr/>
            </p14:nvContentPartPr>
            <p14:xfrm>
              <a:off x="7626024" y="5321736"/>
              <a:ext cx="238320" cy="10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C52EC49-82AB-C48F-0F0B-0F07A814613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608024" y="5304096"/>
                <a:ext cx="27396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FFC9FF6-97FA-8F30-538F-238A7F2196E3}"/>
                  </a:ext>
                </a:extLst>
              </p14:cNvPr>
              <p14:cNvContentPartPr/>
              <p14:nvPr/>
            </p14:nvContentPartPr>
            <p14:xfrm>
              <a:off x="7598664" y="5543136"/>
              <a:ext cx="177840" cy="5328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FFC9FF6-97FA-8F30-538F-238A7F2196E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580664" y="5525136"/>
                <a:ext cx="213480" cy="88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7802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E9FBB-25EB-12E9-2F67-A01EE13EB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919614-4EFD-3DED-1730-CE5484BBD5D4}"/>
              </a:ext>
            </a:extLst>
          </p:cNvPr>
          <p:cNvSpPr txBox="1"/>
          <p:nvPr/>
        </p:nvSpPr>
        <p:spPr>
          <a:xfrm>
            <a:off x="417576" y="2488936"/>
            <a:ext cx="115793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Demonstrate the Power of Airflow</a:t>
            </a:r>
          </a:p>
          <a:p>
            <a:r>
              <a:rPr lang="en-IN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Students will see why using Airflow is different from executing one large Python script.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4544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E7359B-9706-15C2-D107-59D6BEAE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5A36DF-4E78-53F2-4032-E0F94725BD5D}"/>
              </a:ext>
            </a:extLst>
          </p:cNvPr>
          <p:cNvSpPr txBox="1"/>
          <p:nvPr/>
        </p:nvSpPr>
        <p:spPr>
          <a:xfrm>
            <a:off x="234696" y="221224"/>
            <a:ext cx="103449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Demonstration 1 — Automatic task dependencies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Run the DAG and observe that model training cannot begin before data validation and preprocessing complete.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Ask students: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would happen if training started before the training dataset was prepared?</a:t>
            </a: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answer demonstrates why workflow orchestration matters.</a:t>
            </a:r>
          </a:p>
        </p:txBody>
      </p:sp>
    </p:spTree>
    <p:extLst>
      <p:ext uri="{BB962C8B-B14F-4D97-AF65-F5344CB8AC3E}">
        <p14:creationId xmlns:p14="http://schemas.microsoft.com/office/powerpoint/2010/main" val="156094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4F2DB5-E746-C486-955D-BCB2A4713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8A6A2E-A12A-0FD2-0527-3CD7EDF5EB6F}"/>
              </a:ext>
            </a:extLst>
          </p:cNvPr>
          <p:cNvSpPr txBox="1"/>
          <p:nvPr/>
        </p:nvSpPr>
        <p:spPr>
          <a:xfrm>
            <a:off x="234696" y="221224"/>
            <a:ext cx="1034491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Demonstration 2 — Automatic retries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Open house_price_pipeline.py and locate: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@task(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retries=2,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    retry_delay=timedelta(seconds=20))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def generate_data():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configures up to two retries after the initial attempt, with a 20-second delay between attempts.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To demonstrate failures, temporarily introduce a runtime exception inside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generate_data():</a:t>
            </a: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raise RuntimeError("Simulated temporary failure")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Trigger the DAG again. Students can inspect retry status, attempts, and error logs.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 the exception afterward.</a:t>
            </a:r>
          </a:p>
        </p:txBody>
      </p:sp>
    </p:spTree>
    <p:extLst>
      <p:ext uri="{BB962C8B-B14F-4D97-AF65-F5344CB8AC3E}">
        <p14:creationId xmlns:p14="http://schemas.microsoft.com/office/powerpoint/2010/main" val="1084981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5BAF6-FFBF-8FB5-6482-C59437AA9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18E216-D6E2-A00E-356E-FFF598E7A10F}"/>
              </a:ext>
            </a:extLst>
          </p:cNvPr>
          <p:cNvSpPr txBox="1"/>
          <p:nvPr/>
        </p:nvSpPr>
        <p:spPr>
          <a:xfrm>
            <a:off x="234696" y="221224"/>
            <a:ext cx="103449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Demonstration 3 — Data validation failure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Introduce invalid housing data by generating negative values for area_sqft.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validation task checks: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assert (df["area_sqft"] &gt; 0).all(), "Invalid area values"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When validation fails, model training does not execute.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Teaching takeaway: Invalid data can be stopped before it contaminates a machine learning model.</a:t>
            </a:r>
          </a:p>
        </p:txBody>
      </p:sp>
    </p:spTree>
    <p:extLst>
      <p:ext uri="{BB962C8B-B14F-4D97-AF65-F5344CB8AC3E}">
        <p14:creationId xmlns:p14="http://schemas.microsoft.com/office/powerpoint/2010/main" val="2887743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24FC47-6F25-4D6F-6BC0-C181A9AF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67B1C1-DBD5-F5AE-FB82-566F6F059282}"/>
              </a:ext>
            </a:extLst>
          </p:cNvPr>
          <p:cNvSpPr txBox="1"/>
          <p:nvPr/>
        </p:nvSpPr>
        <p:spPr>
          <a:xfrm>
            <a:off x="234696" y="221224"/>
            <a:ext cx="1034491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Demonstration 4 — Model quality gate</a:t>
            </a:r>
          </a:p>
          <a:p>
            <a:endParaRPr lang="en-IN" sz="20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Our pipeline uses this logic: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if result["R2"] &lt; 0.90 or result["MAE_lakhs"] &gt; 15:</a:t>
            </a:r>
          </a:p>
          <a:p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    raise ValueError("Model quality below threshold")</a:t>
            </a:r>
          </a:p>
          <a:p>
            <a:endParaRPr lang="en-IN" sz="2000" b="1" i="1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The model can be trained successfully but still fail the approval step.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For a stronger demonstration, temporarily change the required R² to an unrealistically high value such as 0.99999. Students will see that model training and evaluation may succeed while registration fails.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illustrates the separation between successful execution and acceptable model quality.</a:t>
            </a:r>
          </a:p>
        </p:txBody>
      </p:sp>
    </p:spTree>
    <p:extLst>
      <p:ext uri="{BB962C8B-B14F-4D97-AF65-F5344CB8AC3E}">
        <p14:creationId xmlns:p14="http://schemas.microsoft.com/office/powerpoint/2010/main" val="19990873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50927-4DE9-9C22-F28B-B42532F4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CBE4B2-DECB-F1B3-22E0-CEF48001B3A0}"/>
              </a:ext>
            </a:extLst>
          </p:cNvPr>
          <p:cNvSpPr txBox="1"/>
          <p:nvPr/>
        </p:nvSpPr>
        <p:spPr>
          <a:xfrm>
            <a:off x="234696" y="221224"/>
            <a:ext cx="10344912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Demonstration 5 — Scheduling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Change: 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schedule=None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to: 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schedule="@weekly"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the DAG file is reloaded and the DAG is enabled, Airflow can schedule future weekly runs.</a:t>
            </a:r>
          </a:p>
          <a:p>
            <a:endParaRPr lang="en-IN" sz="200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For quick classroom experimentation, you can also try a cron schedule:  </a:t>
            </a:r>
            <a:r>
              <a:rPr lang="en-IN" sz="2000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schedule="*/5 * * * *"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This describes a five-minute interval schedule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D6F4C7-C832-3A15-51C1-8131DB8FDEE3}"/>
              </a:ext>
            </a:extLst>
          </p:cNvPr>
          <p:cNvSpPr txBox="1"/>
          <p:nvPr/>
        </p:nvSpPr>
        <p:spPr>
          <a:xfrm>
            <a:off x="1282446" y="4660315"/>
            <a:ext cx="91447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After the demonstration, revert to </a:t>
            </a:r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  <a:latin typeface="+mn-lt"/>
              </a:rPr>
              <a:t>schedule=None</a:t>
            </a:r>
            <a:r>
              <a:rPr lang="en-IN" sz="2000" b="1" u="sng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IN" sz="20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to avoid unnecessary runs.</a:t>
            </a:r>
          </a:p>
        </p:txBody>
      </p:sp>
    </p:spTree>
    <p:extLst>
      <p:ext uri="{BB962C8B-B14F-4D97-AF65-F5344CB8AC3E}">
        <p14:creationId xmlns:p14="http://schemas.microsoft.com/office/powerpoint/2010/main" val="9854482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21AB5-DB23-BFC0-E7AF-A19AC9389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89F40-8062-D218-D811-5E34F0DB227E}"/>
              </a:ext>
            </a:extLst>
          </p:cNvPr>
          <p:cNvSpPr txBox="1"/>
          <p:nvPr/>
        </p:nvSpPr>
        <p:spPr>
          <a:xfrm>
            <a:off x="710184" y="2379208"/>
            <a:ext cx="103449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Airflow could trigger a training job that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loads versioned data from S3,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logs metrics to MLflow,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registers an approved model. </a:t>
            </a:r>
          </a:p>
          <a:p>
            <a:r>
              <a:rPr lang="en-IN" sz="2000">
                <a:solidFill>
                  <a:schemeClr val="accent6">
                    <a:lumMod val="60000"/>
                    <a:lumOff val="40000"/>
                  </a:schemeClr>
                </a:solidFill>
              </a:rPr>
              <a:t>A separate deployment process could then publish that approved model to a FastAPI service.</a:t>
            </a:r>
          </a:p>
        </p:txBody>
      </p:sp>
    </p:spTree>
    <p:extLst>
      <p:ext uri="{BB962C8B-B14F-4D97-AF65-F5344CB8AC3E}">
        <p14:creationId xmlns:p14="http://schemas.microsoft.com/office/powerpoint/2010/main" val="3957102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864</Words>
  <Application>Microsoft Office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37</cp:revision>
  <dcterms:created xsi:type="dcterms:W3CDTF">2026-09-25T02:37:34Z</dcterms:created>
  <dcterms:modified xsi:type="dcterms:W3CDTF">2026-10-22T18:58:53Z</dcterms:modified>
</cp:coreProperties>
</file>