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75" r:id="rId3"/>
    <p:sldId id="278" r:id="rId4"/>
    <p:sldId id="291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93" r:id="rId14"/>
    <p:sldId id="287" r:id="rId15"/>
    <p:sldId id="292" r:id="rId16"/>
    <p:sldId id="288" r:id="rId17"/>
    <p:sldId id="276" r:id="rId18"/>
    <p:sldId id="28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1:13:42.0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9924 24575,'0'0'0,"0"-1"0,0 1 0,0-1 0,0 1 0,1-1 0,-1 1 0,0-1 0,0 1 0,1-1 0,-1 1 0,0-1 0,0 1 0,1-1 0,-1 1 0,0 0 0,1-1 0,-1 1 0,1-1 0,-1 1 0,1 0 0,-1 0 0,0-1 0,1 1 0,-1 0 0,1 0 0,-1-1 0,1 1 0,-1 0 0,1 0 0,0 0 0,-1 0 0,1 0 0,-1 0 0,1 0 0,-1 0 0,1 0 0,-1 0 0,1 0 0,-1 0 0,1 0 0,0 1 0,27 6 0,-26-7 0,390 137 0,539 140 0,-736-233 0,2-9 0,380 18 0,780-97 0,-1065 28 0,-82 3 0,-1-9 0,-1-9 0,-1-9 0,216-72 0,487-262 0,-672 267 0,298-143 0,-33 14 0,-396 187 0,-2-6 0,-2-3 0,170-130 0,-86 38 0,145-113 0,-250 200 0,-4-4 0,-3-3 0,121-144 0,-127 122 0,-4-3 0,-4-2 0,-5-3 0,-4-3 0,68-189 0,140-607 0,-168 315 0,-58 323 0,219-966 0,-52 499 0,5-16 0,42-202 0,-92 364 0,-131 500 0,4 1 0,3 2 0,4 1 0,3 1 0,4 3 0,86-117 0,-99 149 0,-12 16 0,0 1 0,41-41 0,-30 39 0,0 1 0,2 1 0,1 2 0,51-29 0,-9 10 0,-53 29 0,0 1 0,1 0 0,0 2 0,48-16 0,271-76 0,-249 70-682,158-32-1,-210 56-6143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1:13:49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16 24575,'0'-1'0,"0"1"0,0-1 0,0 0 0,0 1 0,0-1 0,0 1 0,1-1 0,-1 0 0,0 1 0,0-1 0,0 1 0,1-1 0,-1 0 0,0 1 0,1-1 0,-1 1 0,1-1 0,-1 1 0,0-1 0,1 1 0,-1 0 0,1-1 0,-1 1 0,1 0 0,-1-1 0,1 1 0,0 0 0,-1-1 0,2 1 0,24 0 0,30 16 0,-53-15 0,52 23 0,-1 2 0,77 48 0,-104-58 0,1-2 0,0-1 0,1-1 0,0-2 0,1-1 0,33 6 0,-48-12 0,6 1 0,1 1 0,39 15 0,-56-18 0,-1-1 0,1 2 0,-1-1 0,0 1 0,1-1 0,-1 1 0,0 0 0,-1 0 0,1 1 0,-1-1 0,1 1 0,-1 0 0,0 0 0,0 0 0,-1 0 0,1 1 0,-1-1 0,3 8 0,-1 3 0,-2 0 0,0 0 0,0 0 0,-1 0 0,-1 1 0,-1-1 0,0 0 0,-1 0 0,0 0 0,-2 0 0,1-1 0,-7 16 0,-10 19 0,-2-1 0,-32 52 0,7-14 0,-40 57 0,50-88 0,30-41 0,1-1 0,0 1 0,0 1 0,2-1 0,0 1 0,-3 21 0,3-17 0,0 0 0,-1-1 0,-11 27 0,5-23-1365,3-3-5461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customXml" Target="../ink/ink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155448" y="1927320"/>
            <a:ext cx="11887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Continuous Integration</a:t>
            </a:r>
          </a:p>
          <a:p>
            <a:pPr algn="ctr">
              <a:buNone/>
            </a:pPr>
            <a:r>
              <a:rPr lang="en-US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Continuous Development</a:t>
            </a:r>
          </a:p>
          <a:p>
            <a:pPr algn="ctr"/>
            <a:r>
              <a:rPr lang="en-US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Continuous Training</a:t>
            </a:r>
          </a:p>
          <a:p>
            <a:pPr algn="ctr">
              <a:buNone/>
            </a:pPr>
            <a:r>
              <a:rPr lang="en-US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CI /  CD / CT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182880" y="677085"/>
            <a:ext cx="11658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normal app: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→ Build → Test → Deploy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In a typical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app: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856786-46E3-11CF-7D76-988B384566FD}"/>
              </a:ext>
            </a:extLst>
          </p:cNvPr>
          <p:cNvSpPr/>
          <p:nvPr/>
        </p:nvSpPr>
        <p:spPr>
          <a:xfrm>
            <a:off x="338328" y="2706624"/>
            <a:ext cx="2578608" cy="1014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Code + Data + Model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2BDC72-BFFC-D900-BDB4-D5257D1C8554}"/>
              </a:ext>
            </a:extLst>
          </p:cNvPr>
          <p:cNvSpPr/>
          <p:nvPr/>
        </p:nvSpPr>
        <p:spPr>
          <a:xfrm>
            <a:off x="3393186" y="2706624"/>
            <a:ext cx="1266444" cy="1014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Train + Evaluate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A76F3D-8240-C7EC-82EA-B1B609C2FAD3}"/>
              </a:ext>
            </a:extLst>
          </p:cNvPr>
          <p:cNvSpPr/>
          <p:nvPr/>
        </p:nvSpPr>
        <p:spPr>
          <a:xfrm>
            <a:off x="5135880" y="2706624"/>
            <a:ext cx="1266444" cy="1014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Deploy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31703E-28D6-B82A-3620-801879D3C720}"/>
              </a:ext>
            </a:extLst>
          </p:cNvPr>
          <p:cNvSpPr/>
          <p:nvPr/>
        </p:nvSpPr>
        <p:spPr>
          <a:xfrm>
            <a:off x="7002780" y="2706624"/>
            <a:ext cx="1266444" cy="10149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Monitor</a:t>
            </a:r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EE97FFC-EE42-0763-95D3-4DB0A55FA17C}"/>
              </a:ext>
            </a:extLst>
          </p:cNvPr>
          <p:cNvSpPr/>
          <p:nvPr/>
        </p:nvSpPr>
        <p:spPr>
          <a:xfrm>
            <a:off x="2980944" y="3035808"/>
            <a:ext cx="347472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D363C00-E8A3-B5DA-1070-C20E143F6D94}"/>
              </a:ext>
            </a:extLst>
          </p:cNvPr>
          <p:cNvSpPr/>
          <p:nvPr/>
        </p:nvSpPr>
        <p:spPr>
          <a:xfrm>
            <a:off x="4724019" y="3026664"/>
            <a:ext cx="347472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7B429A6-8134-C8BC-3755-45C653FD85DB}"/>
              </a:ext>
            </a:extLst>
          </p:cNvPr>
          <p:cNvSpPr/>
          <p:nvPr/>
        </p:nvSpPr>
        <p:spPr>
          <a:xfrm>
            <a:off x="6521577" y="3017520"/>
            <a:ext cx="347472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2914FF1-C12D-175F-C2F9-3E36777D9113}"/>
              </a:ext>
            </a:extLst>
          </p:cNvPr>
          <p:cNvSpPr/>
          <p:nvPr/>
        </p:nvSpPr>
        <p:spPr>
          <a:xfrm rot="5400000">
            <a:off x="7458075" y="4021895"/>
            <a:ext cx="675894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41961E2-923B-690D-343F-52138247844F}"/>
              </a:ext>
            </a:extLst>
          </p:cNvPr>
          <p:cNvSpPr/>
          <p:nvPr/>
        </p:nvSpPr>
        <p:spPr>
          <a:xfrm rot="10800000">
            <a:off x="4218051" y="4322182"/>
            <a:ext cx="3417951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7FA468C-6813-3392-0DCA-4606CA693654}"/>
              </a:ext>
            </a:extLst>
          </p:cNvPr>
          <p:cNvSpPr/>
          <p:nvPr/>
        </p:nvSpPr>
        <p:spPr>
          <a:xfrm rot="16200000">
            <a:off x="3797425" y="3935027"/>
            <a:ext cx="529590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6E1218-314B-380D-F56D-3B203AA2C79D}"/>
              </a:ext>
            </a:extLst>
          </p:cNvPr>
          <p:cNvSpPr txBox="1"/>
          <p:nvPr/>
        </p:nvSpPr>
        <p:spPr>
          <a:xfrm>
            <a:off x="5563933" y="4411390"/>
            <a:ext cx="1676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Retrain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4F01B2-8204-CB5B-509C-5AF1235DD74E}"/>
              </a:ext>
            </a:extLst>
          </p:cNvPr>
          <p:cNvSpPr txBox="1"/>
          <p:nvPr/>
        </p:nvSpPr>
        <p:spPr>
          <a:xfrm>
            <a:off x="338328" y="5562140"/>
            <a:ext cx="70351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difference:</a:t>
            </a: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depends on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+ model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just code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1ABD-9FE5-1D6E-25B7-A56A04C6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9A161-D9CB-D2DB-D013-8CB860F31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03" y="2276857"/>
            <a:ext cx="9722161" cy="271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8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845E1-78C7-3F42-3760-05846BBD7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113EB2-A046-CE89-1DCB-4CFB8B3ABAFC}"/>
              </a:ext>
            </a:extLst>
          </p:cNvPr>
          <p:cNvSpPr txBox="1"/>
          <p:nvPr/>
        </p:nvSpPr>
        <p:spPr>
          <a:xfrm>
            <a:off x="266700" y="1810941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Continuous Integration (CI) in 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7759D-2DE3-3752-8FE4-533F28AE4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732" y="3585786"/>
            <a:ext cx="7068536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6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F6E61-8877-590E-20E6-C22E0E61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6B466A-C251-0429-58F7-57C33DCF8F3F}"/>
              </a:ext>
            </a:extLst>
          </p:cNvPr>
          <p:cNvSpPr txBox="1"/>
          <p:nvPr/>
        </p:nvSpPr>
        <p:spPr>
          <a:xfrm>
            <a:off x="411480" y="3862654"/>
            <a:ext cx="51297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gets integrated?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code : Model training code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pipelines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engineering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 files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C63D86B-0C0D-4BD1-56DE-0C4040079F11}"/>
              </a:ext>
            </a:extLst>
          </p:cNvPr>
          <p:cNvSpPr/>
          <p:nvPr/>
        </p:nvSpPr>
        <p:spPr>
          <a:xfrm>
            <a:off x="1216152" y="521208"/>
            <a:ext cx="1069848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Ash</a:t>
            </a:r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4B3614-4401-EBF4-139E-FCFEFCCB2A62}"/>
              </a:ext>
            </a:extLst>
          </p:cNvPr>
          <p:cNvSpPr/>
          <p:nvPr/>
        </p:nvSpPr>
        <p:spPr>
          <a:xfrm>
            <a:off x="1216152" y="1740408"/>
            <a:ext cx="1069848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Khan</a:t>
            </a:r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B5AC7AD-7BE0-3A7E-3108-FF7CAAE28D2E}"/>
              </a:ext>
            </a:extLst>
          </p:cNvPr>
          <p:cNvSpPr/>
          <p:nvPr/>
        </p:nvSpPr>
        <p:spPr>
          <a:xfrm>
            <a:off x="2596896" y="774900"/>
            <a:ext cx="1600200" cy="407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40DFA6C-6557-AE55-8446-FE0B1A869444}"/>
              </a:ext>
            </a:extLst>
          </p:cNvPr>
          <p:cNvSpPr/>
          <p:nvPr/>
        </p:nvSpPr>
        <p:spPr>
          <a:xfrm>
            <a:off x="2596896" y="2142143"/>
            <a:ext cx="1600200" cy="407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F30235-9537-C7A2-499F-CAD02C65844A}"/>
              </a:ext>
            </a:extLst>
          </p:cNvPr>
          <p:cNvSpPr/>
          <p:nvPr/>
        </p:nvSpPr>
        <p:spPr>
          <a:xfrm>
            <a:off x="4495800" y="470122"/>
            <a:ext cx="2636520" cy="2432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Source Repository</a:t>
            </a:r>
          </a:p>
          <a:p>
            <a:pPr algn="ctr"/>
            <a:r>
              <a:rPr lang="en-US"/>
              <a:t>CI Server</a:t>
            </a:r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1EECC6-F2D7-260E-A444-69B0112CF744}"/>
              </a:ext>
            </a:extLst>
          </p:cNvPr>
          <p:cNvSpPr txBox="1"/>
          <p:nvPr/>
        </p:nvSpPr>
        <p:spPr>
          <a:xfrm>
            <a:off x="2468498" y="425624"/>
            <a:ext cx="2771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Changes code</a:t>
            </a: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2D6BE7-01FA-3E23-56D3-1B79A90BAC68}"/>
              </a:ext>
            </a:extLst>
          </p:cNvPr>
          <p:cNvSpPr txBox="1"/>
          <p:nvPr/>
        </p:nvSpPr>
        <p:spPr>
          <a:xfrm>
            <a:off x="2468498" y="2474920"/>
            <a:ext cx="2771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Changes code</a:t>
            </a:r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EC74FD-2DD2-B7BD-6361-B490EB978DD6}"/>
              </a:ext>
            </a:extLst>
          </p:cNvPr>
          <p:cNvSpPr txBox="1"/>
          <p:nvPr/>
        </p:nvSpPr>
        <p:spPr>
          <a:xfrm>
            <a:off x="8573642" y="2318325"/>
            <a:ext cx="2771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Performs checks</a:t>
            </a:r>
            <a:endParaRPr lang="en-I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F31784-9EC6-A7BD-124B-586DB43F30A1}"/>
              </a:ext>
            </a:extLst>
          </p:cNvPr>
          <p:cNvCxnSpPr/>
          <p:nvPr/>
        </p:nvCxnSpPr>
        <p:spPr>
          <a:xfrm>
            <a:off x="7351776" y="2002536"/>
            <a:ext cx="1124712" cy="4723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E146F3-7714-5696-9441-02A61B047BC2}"/>
              </a:ext>
            </a:extLst>
          </p:cNvPr>
          <p:cNvSpPr txBox="1"/>
          <p:nvPr/>
        </p:nvSpPr>
        <p:spPr>
          <a:xfrm>
            <a:off x="6775704" y="3847178"/>
            <a:ext cx="5257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Benefits of CI:</a:t>
            </a: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  can do more frequent updates without breaking app.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4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BBC3-349A-FC0F-4EC9-CA5462EB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7708E6-441D-F676-EB5B-4F9E1C3173D3}"/>
              </a:ext>
            </a:extLst>
          </p:cNvPr>
          <p:cNvSpPr txBox="1"/>
          <p:nvPr/>
        </p:nvSpPr>
        <p:spPr>
          <a:xfrm>
            <a:off x="246888" y="55293"/>
            <a:ext cx="49103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CI Steps in ML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Validation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code runs correctly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Linting (flake8)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Unit 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888A68-8924-E331-CA99-19485CA32601}"/>
              </a:ext>
            </a:extLst>
          </p:cNvPr>
          <p:cNvSpPr txBox="1"/>
          <p:nvPr/>
        </p:nvSpPr>
        <p:spPr>
          <a:xfrm>
            <a:off x="274320" y="3027093"/>
            <a:ext cx="11658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2. Data Validation 🚨 (VERY IMPORTANT)</a:t>
            </a:r>
          </a:p>
          <a:p>
            <a:endParaRPr lang="en-US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Check: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values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Schema mismatch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Data drift </a:t>
            </a:r>
          </a:p>
          <a:p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assert df.shape[1] == 10</a:t>
            </a:r>
          </a:p>
          <a:p>
            <a:r>
              <a:rPr lang="en-US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assert df.isnull().sum().sum() &lt; 100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07ABD-3FFF-DBFC-E6C0-2476B6CCBF7E}"/>
              </a:ext>
            </a:extLst>
          </p:cNvPr>
          <p:cNvSpPr txBox="1"/>
          <p:nvPr/>
        </p:nvSpPr>
        <p:spPr>
          <a:xfrm>
            <a:off x="6446520" y="1189256"/>
            <a:ext cx="54018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1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</a:rPr>
              <a:t>Linting</a:t>
            </a:r>
            <a:r>
              <a:rPr lang="en-IN" sz="1800" b="0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</a:rPr>
              <a:t> is </a:t>
            </a:r>
            <a:r>
              <a:rPr lang="en-IN">
                <a:solidFill>
                  <a:schemeClr val="accent2">
                    <a:lumMod val="60000"/>
                    <a:lumOff val="40000"/>
                  </a:schemeClr>
                </a:solidFill>
              </a:rPr>
              <a:t>the automated analysis of the source code to catch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2">
                    <a:lumMod val="60000"/>
                    <a:lumOff val="40000"/>
                  </a:schemeClr>
                </a:solidFill>
              </a:rPr>
              <a:t>syntax errors,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2">
                    <a:lumMod val="60000"/>
                    <a:lumOff val="40000"/>
                  </a:schemeClr>
                </a:solidFill>
              </a:rPr>
              <a:t>bugs,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2">
                    <a:lumMod val="60000"/>
                    <a:lumOff val="40000"/>
                  </a:schemeClr>
                </a:solidFill>
              </a:rPr>
              <a:t>style violations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8A5D490-F9F0-B57B-E9EE-5F66A28E6D59}"/>
              </a:ext>
            </a:extLst>
          </p:cNvPr>
          <p:cNvSpPr/>
          <p:nvPr/>
        </p:nvSpPr>
        <p:spPr>
          <a:xfrm rot="21320801">
            <a:off x="3055177" y="1857619"/>
            <a:ext cx="2938404" cy="295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913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896BC-967A-D49E-251E-49018E815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E331F-B1C9-FF34-7220-BA05D5D566FF}"/>
              </a:ext>
            </a:extLst>
          </p:cNvPr>
          <p:cNvSpPr txBox="1"/>
          <p:nvPr/>
        </p:nvSpPr>
        <p:spPr>
          <a:xfrm>
            <a:off x="274320" y="338757"/>
            <a:ext cx="88605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Model Training (Optional in CI)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small/quick version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of model. Not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 training (too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expensive)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Full model training is reserved for Continuous Training (CT) pipelines.</a:t>
            </a:r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040F9-2D0B-73C4-594F-51B4DFB9BC41}"/>
              </a:ext>
            </a:extLst>
          </p:cNvPr>
          <p:cNvSpPr txBox="1"/>
          <p:nvPr/>
        </p:nvSpPr>
        <p:spPr>
          <a:xfrm>
            <a:off x="256032" y="2850910"/>
            <a:ext cx="60807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Model Evaluation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Precision/Recall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F1 Score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assert accuracy &gt; 0.75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If model is worse → pipeline FAILS ❌</a:t>
            </a:r>
          </a:p>
        </p:txBody>
      </p:sp>
    </p:spTree>
    <p:extLst>
      <p:ext uri="{BB962C8B-B14F-4D97-AF65-F5344CB8AC3E}">
        <p14:creationId xmlns:p14="http://schemas.microsoft.com/office/powerpoint/2010/main" val="2085706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70A2-08DB-C5D2-75BE-8C895D72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BC79F1-B94A-1E45-CFA4-ACA8FEB5BD9C}"/>
              </a:ext>
            </a:extLst>
          </p:cNvPr>
          <p:cNvSpPr txBox="1"/>
          <p:nvPr/>
        </p:nvSpPr>
        <p:spPr>
          <a:xfrm>
            <a:off x="1988820" y="1077206"/>
            <a:ext cx="8526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Continuous Delivery / Deployment (CD)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B742BA-5804-9955-597C-1CF4D4FEE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073" y="2767382"/>
            <a:ext cx="8449854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6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6F1A8-CE22-7524-444A-7E9590F7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E1F7D0-F9FE-73F8-B836-E58DD4227311}"/>
              </a:ext>
            </a:extLst>
          </p:cNvPr>
          <p:cNvSpPr txBox="1"/>
          <p:nvPr/>
        </p:nvSpPr>
        <p:spPr>
          <a:xfrm>
            <a:off x="160020" y="440912"/>
            <a:ext cx="58933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Once CI passes: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Model Packaging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Save model: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import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joblib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joblib.dump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(model,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model.pkl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2F492-807D-3147-8C07-1CBE1CD0FB4A}"/>
              </a:ext>
            </a:extLst>
          </p:cNvPr>
          <p:cNvSpPr txBox="1"/>
          <p:nvPr/>
        </p:nvSpPr>
        <p:spPr>
          <a:xfrm>
            <a:off x="3922776" y="4208240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API Creation (Serving Model)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@app.post("/predict")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def predict(data):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return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(data)</a:t>
            </a:r>
          </a:p>
        </p:txBody>
      </p:sp>
    </p:spTree>
    <p:extLst>
      <p:ext uri="{BB962C8B-B14F-4D97-AF65-F5344CB8AC3E}">
        <p14:creationId xmlns:p14="http://schemas.microsoft.com/office/powerpoint/2010/main" val="643320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12BA-15D9-7E33-50CE-57D4BA58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A26480-520F-786A-22D9-7B57C2BE5CC0}"/>
              </a:ext>
            </a:extLst>
          </p:cNvPr>
          <p:cNvSpPr txBox="1"/>
          <p:nvPr/>
        </p:nvSpPr>
        <p:spPr>
          <a:xfrm>
            <a:off x="160020" y="440912"/>
            <a:ext cx="58933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Deployment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Cloud (AWS / GCP)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Docker container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Kubernetes</a:t>
            </a:r>
          </a:p>
        </p:txBody>
      </p:sp>
    </p:spTree>
    <p:extLst>
      <p:ext uri="{BB962C8B-B14F-4D97-AF65-F5344CB8AC3E}">
        <p14:creationId xmlns:p14="http://schemas.microsoft.com/office/powerpoint/2010/main" val="41795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09E3-46E7-5A2E-668A-4815F3F6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D75AA7-50C1-7775-1B7D-A17898358088}"/>
              </a:ext>
            </a:extLst>
          </p:cNvPr>
          <p:cNvSpPr txBox="1"/>
          <p:nvPr/>
        </p:nvSpPr>
        <p:spPr>
          <a:xfrm>
            <a:off x="1495044" y="2662904"/>
            <a:ext cx="9249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Continuous Monitoring (ML-Specific)</a:t>
            </a:r>
          </a:p>
        </p:txBody>
      </p:sp>
    </p:spTree>
    <p:extLst>
      <p:ext uri="{BB962C8B-B14F-4D97-AF65-F5344CB8AC3E}">
        <p14:creationId xmlns:p14="http://schemas.microsoft.com/office/powerpoint/2010/main" val="321305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3A304-5D02-BFC3-D1BB-F270B530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A1F98F3-2AFD-80B9-8FE6-5F84FE09128F}"/>
              </a:ext>
            </a:extLst>
          </p:cNvPr>
          <p:cNvSpPr txBox="1"/>
          <p:nvPr/>
        </p:nvSpPr>
        <p:spPr>
          <a:xfrm>
            <a:off x="274320" y="281214"/>
            <a:ext cx="64008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ML is DIFFERENT.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deployment: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accuracy in real world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drift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distribution 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trained on: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Age: 20–40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Production data: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Age: 60–80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Model performance drops → NEED retraining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A70C97-4576-1949-0CC9-DCD17D669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85575"/>
            <a:ext cx="4657013" cy="25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166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7A2D6-4BC5-BFFB-4BC2-1B251B17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A6ABE4-82E4-8E3F-9A2B-124055248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558" y="1426463"/>
            <a:ext cx="5635061" cy="3183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A3B9C9-4353-F040-377F-DB34D182C2B8}"/>
              </a:ext>
            </a:extLst>
          </p:cNvPr>
          <p:cNvSpPr txBox="1"/>
          <p:nvPr/>
        </p:nvSpPr>
        <p:spPr>
          <a:xfrm>
            <a:off x="267462" y="842802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Concept drift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Concept drift happens when relationship between input features and target variables changes over time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69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D47D-7CC7-0A79-D09C-08CE19AB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3441B34-3379-91FC-126A-B44F7A59B033}"/>
              </a:ext>
            </a:extLst>
          </p:cNvPr>
          <p:cNvSpPr txBox="1"/>
          <p:nvPr/>
        </p:nvSpPr>
        <p:spPr>
          <a:xfrm>
            <a:off x="2267712" y="1113318"/>
            <a:ext cx="85267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Continuous Retraining (Advanced </a:t>
            </a:r>
            <a:r>
              <a:rPr lang="en-US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CD)</a:t>
            </a:r>
            <a:endParaRPr lang="en-US" sz="3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1AC39D-85F3-2405-1963-6AF1568C8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71" y="2567504"/>
            <a:ext cx="5010849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01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36431-A09E-A9C0-1E10-BE40E3EB4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7B23583-4F50-5904-14EE-29E5A6C50E88}"/>
              </a:ext>
            </a:extLst>
          </p:cNvPr>
          <p:cNvSpPr txBox="1"/>
          <p:nvPr/>
        </p:nvSpPr>
        <p:spPr>
          <a:xfrm>
            <a:off x="274320" y="281214"/>
            <a:ext cx="85267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Continuous Retraining (Advanced CD)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 automatically: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new data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Retrain model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Re-evaluate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 new version </a:t>
            </a:r>
          </a:p>
        </p:txBody>
      </p:sp>
    </p:spTree>
    <p:extLst>
      <p:ext uri="{BB962C8B-B14F-4D97-AF65-F5344CB8AC3E}">
        <p14:creationId xmlns:p14="http://schemas.microsoft.com/office/powerpoint/2010/main" val="2206853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2AE6F-EEF4-6A26-D7E4-CEB75A671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94D18BA-AD30-2DA3-38D1-D97B7E18E29F}"/>
              </a:ext>
            </a:extLst>
          </p:cNvPr>
          <p:cNvSpPr txBox="1"/>
          <p:nvPr/>
        </p:nvSpPr>
        <p:spPr>
          <a:xfrm>
            <a:off x="274320" y="281214"/>
            <a:ext cx="598932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accent4">
                    <a:lumMod val="60000"/>
                    <a:lumOff val="40000"/>
                  </a:schemeClr>
                </a:solidFill>
              </a:rPr>
              <a:t>name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 ML Pipeline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on: [push]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jobs: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ml-pipeline: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runs-on: ubuntu-latest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steps: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uses: actions/checkout@v3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Install Dependencies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pip install -r requirements.txt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Run Data Validation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validate_data.py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Train Model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train.py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16D8A-2151-022E-3D2F-2E5D02C49A66}"/>
              </a:ext>
            </a:extLst>
          </p:cNvPr>
          <p:cNvSpPr txBox="1"/>
          <p:nvPr/>
        </p:nvSpPr>
        <p:spPr>
          <a:xfrm>
            <a:off x="6931152" y="1674674"/>
            <a:ext cx="38953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 name: Evaluate Model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evaluate.py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Save Model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save_model.py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4B2C035-2E38-C13E-E47D-91BAB855416E}"/>
                  </a:ext>
                </a:extLst>
              </p14:cNvPr>
              <p14:cNvContentPartPr/>
              <p14:nvPr/>
            </p14:nvContentPartPr>
            <p14:xfrm>
              <a:off x="2157984" y="2983536"/>
              <a:ext cx="4485240" cy="3768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4B2C035-2E38-C13E-E47D-91BAB85541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9984" y="2965536"/>
                <a:ext cx="4520880" cy="38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A9A1B8A-EFBA-DDAD-E64A-EC1070A02F97}"/>
                  </a:ext>
                </a:extLst>
              </p14:cNvPr>
              <p14:cNvContentPartPr/>
              <p14:nvPr/>
            </p14:nvContentPartPr>
            <p14:xfrm>
              <a:off x="6318144" y="2865456"/>
              <a:ext cx="277560" cy="463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A9A1B8A-EFBA-DDAD-E64A-EC1070A02F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00504" y="2847816"/>
                <a:ext cx="313200" cy="4993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C30550A-7FA4-C6EA-BCE7-3D3D230FD1B1}"/>
              </a:ext>
            </a:extLst>
          </p:cNvPr>
          <p:cNvSpPr txBox="1"/>
          <p:nvPr/>
        </p:nvSpPr>
        <p:spPr>
          <a:xfrm>
            <a:off x="4190238" y="92681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GitHub Actions for ML Pipeline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260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AF29-D29B-A6B6-40D7-A4D7272D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180810-739C-C9FC-397C-62B4CB37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54" y="1849135"/>
            <a:ext cx="8683784" cy="31597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FD4B61-E820-AF45-9275-2E38F71449AE}"/>
              </a:ext>
            </a:extLst>
          </p:cNvPr>
          <p:cNvSpPr txBox="1"/>
          <p:nvPr/>
        </p:nvSpPr>
        <p:spPr>
          <a:xfrm>
            <a:off x="2422778" y="691840"/>
            <a:ext cx="2771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Popular CI CD tools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623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BEA6-F3D4-0321-F388-23D9107A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096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533</Words>
  <Application>Microsoft Office PowerPoint</Application>
  <PresentationFormat>Widescreen</PresentationFormat>
  <Paragraphs>138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27</cp:revision>
  <dcterms:created xsi:type="dcterms:W3CDTF">2026-09-25T02:37:34Z</dcterms:created>
  <dcterms:modified xsi:type="dcterms:W3CDTF">2026-10-21T08:20:54Z</dcterms:modified>
</cp:coreProperties>
</file>