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2" r:id="rId2"/>
    <p:sldId id="256" r:id="rId3"/>
    <p:sldId id="257" r:id="rId4"/>
    <p:sldId id="26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7:18:38.6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1 189 24575,'0'18'0,"1"0"0,1 0 0,1-1 0,1 1 0,0 0 0,1-1 0,1 0 0,1 0 0,0-1 0,1 0 0,1 0 0,11 16 0,-5-7 0,-8-11 0,1-1 0,0 0 0,0 0 0,1-1 0,1-1 0,0 1 0,1-1 0,0-1 0,13 10 0,-21-19 0,-1 0 0,0 0 0,0-1 0,1 1 0,-1 0 0,1-1 0,-1 0 0,0 1 0,1-1 0,-1 0 0,1 0 0,-1-1 0,0 1 0,1 0 0,-1-1 0,0 0 0,1 1 0,3-3 0,40-23 0,-39 20 0,162-113 0,272-249 0,-407 333-1365,-11 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7:18:43.2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1 341 24575,'0'16'0,"0"0"0,1 0 0,1 0 0,1 0 0,0 0 0,2 0 0,-1-1 0,2 0 0,0 0 0,0 0 0,16 23 0,-20-35 0,0-1 0,0 0 0,1 0 0,-1 1 0,1-1 0,-1-1 0,1 1 0,0 0 0,0-1 0,0 1 0,0-1 0,0 0 0,0 0 0,0 0 0,0 0 0,0-1 0,1 1 0,-1-1 0,0 0 0,0 0 0,1 0 0,-1 0 0,0-1 0,0 1 0,0-1 0,0 0 0,7-2 0,8-4 0,1 0 0,-1-2 0,26-15 0,-30 16 0,236-143 0,62-36 0,-61 55-1365,-165 85-5461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7:19:45.5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7:22:4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23 469 24575,'-2'1'0,"1"0"0,0 0 0,0-1 0,0 1 0,0 0 0,0 0 0,0 0 0,0 0 0,0 1 0,0-1 0,0 0 0,0 0 0,1 0 0,-1 1 0,0-1 0,1 0 0,-1 1 0,1-1 0,0 0 0,-1 1 0,1-1 0,0 1 0,0 2 0,-5 36 0,7-26 0,0 0 0,1-1 0,1 1 0,0-1 0,1 0 0,0 0 0,1 0 0,0-1 0,1 1 0,0-2 0,17 21 0,-22-30 0,-1 0 0,1 0 0,0-1 0,0 1 0,0 0 0,0-1 0,0 0 0,0 0 0,1 1 0,-1-1 0,0 0 0,0-1 0,1 1 0,-1 0 0,1-1 0,-1 1 0,1-1 0,-1 0 0,1 0 0,-1 0 0,1 0 0,-1 0 0,1 0 0,-1-1 0,1 1 0,-1-1 0,1 0 0,-1 0 0,0 0 0,0 0 0,1 0 0,-1 0 0,0-1 0,0 1 0,0-1 0,2-2 0,10-6 0,0-2 0,-1 0 0,23-27 0,22-35 15,56-94-1,26-35 0,-116 173-296,1 1 1,1 2-1,2 0 1,45-33-1,-33 32-6544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7:22:45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0 486 24575,'0'200'0,"5"-182"0,7-18 0,21-26 0,-32 25 0,277-246 0,-197 182 0,144-87 0,93-25-1365,-245 141-5461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7:27:42.9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0 639 24575,'0'5'0,"0"5"0,4 10 0,6 10 0,6 13 0,8-1 0,5-8 0,6-9 0,10-18 0,23-31 0,22-30 0,25-26 0,29-22 0,15-19 0,-3-11 0,-18 0 0,-24 14 0,-32 27-8191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07:27:45.8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1 530 24575,'0'4'0,"0"10"0,4 8 0,6-1 0,36-4 0,53-13 0,49-20 0,42-21 0,28-16 0,19-22 0,1-19 0,-15-6 0,-32 4 0,-45 15 0,-46 21-8191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11:29:21.3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805 111 392 0 0,'-39'-35'5066'0'0,"-27"9"-4565"0"0,63 25-472 0 0,-48-15 216 0 0,-20 6-252 0 0,68 10 24 0 0,-33-10 2 0 0,-36 0 80 0 0,69 9-60 0 0,-22-1-20 0 0,-83 7-3 0 0,105-4-23 0 0,-4-1-25 0 0,0 1 12 0 0,0 0 1 0 0,0 0-1 0 0,0 0 1 0 0,-8 4 0 0 0,8 0 31 0 0,-1-1-1 0 0,1 0 0 0 0,0 1 0 0 0,0 0 0 0 0,-12 11 0 0 0,13-10-20 0 0,-1 0 0 0 0,0-1-1 0 0,0 0 1 0 0,-13 7 0 0 0,-15 15 1 0 0,33-26-22 0 0,-39 61 25 0 0,27-43 27 0 0,7-9-14 0 0,0-1-1 0 0,1 2 0 0 0,0-1 1 0 0,0 1-1 0 0,1-1 0 0 0,-6 21 1 0 0,11-29-14 0 0,-8 47-6 0 0,-11 64 40 0 0,17-107-22 0 0,1 0 0 0 0,0 0 1 0 0,0 0-1 0 0,1 0 0 0 0,0 1 1 0 0,1 6-1 0 0,-1-11-5 0 0,2 14-16 0 0,0-8 16 0 0,7 56 16 0 0,-9-62-20 0 0,12 45 555 0 0,3-9-459 0 0,-15-37-71 0 0,25 28 64 0 0,-6-12-47 0 0,41 20 44 0 0,2-8 8 0 0,-59-28-88 0 0,36 17-35 0 0,-37-18 33 0 0,9 5 12 0 0,1-1-1 0 0,0 0 1 0 0,24 4 0 0 0,-33-8-26 0 0,3 3 27 0 0,0-1 0 0 0,-1 0 0 0 0,1-1 0 0 0,0 1 0 0 0,0-1 0 0 0,7 1 0 0 0,46-4 175 0 0,-54 2-90 0 0,-2 0-61 0 0,1 0 0 0 0,0 0-1 0 0,-1-1 1 0 0,1 1 0 0 0,0-1 0 0 0,-1 0-1 0 0,1 0 1 0 0,-1 0 0 0 0,5-2 0 0 0,2 0 9 0 0,36-6-41 0 0,-42 8-15 0 0,19-1 68 0 0,32-7-12 0 0,-53 8-62 0 0,2 1 19 0 0,12 0 2 0 0,-13 0 51 0 0,29-9 183 0 0,-28 8-101 0 0,1 0 0 0 0,-1 0 1 0 0,0 0-1 0 0,0-1 0 0 0,0 0 0 0 0,0 1 0 0 0,0-1 0 0 0,0-1 1 0 0,0 1-1 0 0,3-3 0 0 0,-6 4-48 0 0,1 0-56 0 0,-1-1 1 0 0,1 1-1 0 0,0 0 0 0 0,-1-1 0 0 0,1 1 0 0 0,-1-1 1 0 0,1 1-1 0 0,-1-1 0 0 0,0 0 0 0 0,0 0 0 0 0,0 1 0 0 0,1-4 1 0 0,13-15 272 0 0,45-33-68 0 0,-58 52-233 0 0,30-35 383 0 0,-9 11-121 0 0,-22 24-236 0 0,21-30 259 0 0,-19 24-170 0 0,1 0 0 0 0,-1 0 0 0 0,0 0-1 0 0,-1 0 1 0 0,1 0 0 0 0,0-11 0 0 0,-2 15-94 0 0,0-11 135 0 0,-8-33 27 0 0,7 45-162 0 0,-1-16-17 0 0,3 11-19 0 0,-1 6 10 0 0,-1 0 0 0 0,0-1 0 0 0,0 1 0 0 0,0 0 0 0 0,0-1 0 0 0,0 1 0 0 0,0-1 0 0 0,0 1 0 0 0,0 0 1 0 0,0-1-1 0 0,-1 1 0 0 0,1 0 0 0 0,-1-1 0 0 0,1 1 0 0 0,-1 0 0 0 0,1 0 0 0 0,-1-1 0 0 0,-1 0 0 0 0,1 1-3 0 0,1-1 1 0 0,-1 1-1 0 0,0 0 0 0 0,1-1 0 0 0,-1 1 1 0 0,1 0-1 0 0,-1-1 0 0 0,1 1 0 0 0,0-1 1 0 0,-1 1-1 0 0,1 0 0 0 0,0-1 0 0 0,0 1 1 0 0,0-1-1 0 0,0-1 0 0 0,0 2-2 0 0,-3-6 10 0 0,-19-38-27 0 0,-15-12 47 0 0,36 55-35 0 0,-6-12-23 0 0,2 9 29 0 0,4 3 0 0 0,-37-32 34 0 0,27 18-18 0 0,10 14-10 0 0,-26-37 6 0 0,14 23 8 0 0,12 14-24 0 0,-23-26 95 0 0,3 4 44 0 0,20 23-131 0 0,0-1-9 0 0,-2-6 16 0 0,2 6-3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11:29:23.7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790 61 256 0 0,'0'0'952'0'0,"-33"-26"3106"0"0,12 13-3407 0 0,20 12-469 0 0,-34-10 598 0 0,-17 5-458 0 0,-100 2 0 0 0,107 4-277 0 0,-53 9 20 0 0,20 7-83 0 0,68-13 21 0 0,-43 16 3 0 0,40-12-10 0 0,0 0 1 0 0,0 1-1 0 0,1 1 0 0 0,0 0 0 0 0,0 1 1 0 0,1 0-1 0 0,1 0 0 0 0,-1 1 0 0 0,2 1 1 0 0,0 0-1 0 0,0 0 0 0 0,1 0 0 0 0,0 1 1 0 0,-8 22-1 0 0,2-6 27 0 0,9-19-25 0 0,0 1 0 0 0,1 0 1 0 0,0 0-1 0 0,1 1 0 0 0,-3 11 1 0 0,4-13 3 0 0,1 0 1 0 0,0 1-1 0 0,1-1 1 0 0,0 1-1 0 0,0-1 1 0 0,1 1-1 0 0,1-1 1 0 0,-1 0-1 0 0,2 0 1 0 0,-1 1-1 0 0,1-1 1 0 0,1-1-1 0 0,0 1 1 0 0,1-1-1 0 0,-1 1 1 0 0,2-1-1 0 0,-1 0 1 0 0,11 12-1 0 0,2 1 16 0 0,1-1 1 0 0,0-1-1 0 0,2 0 1 0 0,0-2-1 0 0,1 0 0 0 0,45 27 1 0 0,-43-31 5 0 0,1-1 1 0 0,1-1-1 0 0,0-1 0 0 0,0-1 1 0 0,1-2-1 0 0,1 0 1 0 0,-1-2-1 0 0,1-1 0 0 0,56 2 1 0 0,-55-5-8 0 0,-1-2 0 0 0,1-1 0 0 0,31-6 0 0 0,-40 4 40 0 0,0-2 1 0 0,0 0-1 0 0,-1-1 0 0 0,0 0 1 0 0,0-2-1 0 0,0 0 0 0 0,-1-2 1 0 0,0 0-1 0 0,-1-1 1 0 0,0 0-1 0 0,-1-1 0 0 0,17-16 1 0 0,-16 12 39 0 0,-1-1 1 0 0,-1 0-1 0 0,0-2 1 0 0,-1 1-1 0 0,-1-2 0 0 0,12-22 1 0 0,-19 29 45 0 0,-1-1 0 0 0,0 0 0 0 0,-1 0 0 0 0,0-1 0 0 0,-2 0-1 0 0,1 1 1 0 0,-1-21 0 0 0,-3 19-39 0 0,-1 0 0 0 0,0 1-1 0 0,-1 0 1 0 0,-1-1 0 0 0,-10-25 0 0 0,13 36-86 0 0,-6-14 51 0 0,0-1 1 0 0,-1 1-1 0 0,-1 1 0 0 0,-15-23 1 0 0,18 32-49 0 0,0 1 1 0 0,-1 1-1 0 0,0-1 1 0 0,0 1 0 0 0,0 1-1 0 0,-1-1 1 0 0,0 1-1 0 0,0 0 1 0 0,-1 1 0 0 0,1 0-1 0 0,-1 0 1 0 0,-10-3-1 0 0,7 3-31 0 0,-1 0 0 0 0,0 0-1 0 0,-1 1 1 0 0,1 1-1 0 0,-1 0 1 0 0,-23-2-1 0 0,34 4 9 0 0,-12 0-182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11:29:35.5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17144 1220 236 0 0,'0'0'3040'0'0,"-15"-36"897"0"0,9 27-3694 0 0,0-1 0 0 0,1 0 0 0 0,0 0 0 0 0,1-1 0 0 0,0 1 1 0 0,-3-15-1 0 0,-8-14 28 0 0,-23-13-231 0 0,-55-57 1 0 0,26 32-28 0 0,45 51-16 0 0,-36-48 18 0 0,55 71-14 0 0,-3-2-6 0 0,-40-32-8 0 0,-1 2 0 0 0,-69-38 0 0 0,112 70 13 0 0,-23-8 3 0 0,-109-49-31 0 0,106 46 17 0 0,23 11 9 0 0,1 0 0 0 0,-1 0 0 0 0,0 0 0 0 0,0 1 0 0 0,0 0-1 0 0,-7-1 1 0 0,12 2 0 0 0,-1 1 0 0 0,1-1 0 0 0,0 0-1 0 0,0 1 1 0 0,-1-1 0 0 0,1 0 0 0 0,0-1 0 0 0,0 1 0 0 0,0 0-1 0 0,0 0 1 0 0,-2-3 0 0 0,-25-12 20 0 0,-64-23-25 0 0,-19 3-13 0 0,54 21 5 0 0,-22 0 2 0 0,0 3-1 0 0,-1 3 1 0 0,-95 3-1 0 0,99 4 22 0 0,-25-3 6 0 0,-92-2-30 0 0,122 8-8 0 0,-192-6 23 0 0,165 1 21 0 0,-149-9-16 0 0,48 6-42 0 0,23 2 18 0 0,-55 1 26 0 0,185 2-24 0 0,-74 6-1 0 0,16 1-2 0 0,-214 2 44 0 0,-125-2-26 0 0,127-19 31 0 0,-86-7-24 0 0,-143-20 39 0 0,-182-8-58 0 0,255 32 11 0 0,242 6 55 0 0,-881-41 29 0 0,587 35-159 0 0,34 2 17 0 0,-118-10-43 0 0,176 19 52 0 0,-472 17-32 0 0,858-9 86 0 0,-650 33 37 0 0,668-32-47 0 0,-343 36-17 0 0,214-20 64 0 0,-120 19 45 0 0,176-21-85 0 0,-28 3-5 0 0,-168 50-1 0 0,-213 83 130 0 0,403-122-115 0 0,-146 36 20 0 0,88-20 21 0 0,71-18-30 0 0,9-13-4 0 0,56-11-20 0 0,0 0 1 0 0,1 2-1 0 0,-39 14 0 0 0,-46 15 16 0 0,-2-5 1 0 0,-1-5-1 0 0,-141 13 1 0 0,227-34-17 0 0,-58 17 0 0 0,62-14 12 0 0,-1-1-1 0 0,-40 5 0 0 0,-15 0-2 0 0,52-6 13 0 0,-1-1-1 0 0,-56 0 1 0 0,84-5-15 0 0,-20 0 47 0 0,-86 7-133 0 0,-194 27 52 0 0,292-35 48 0 0,-19 4-4 0 0,-32-3 19 0 0,58 0-30 0 0,-23 0-2 0 0,-179 10-58 0 0,204-10 68 0 0,-20 4-71 0 0,-10-1 86 0 0,29-3-9 0 0,1 1-18 0 0,-31 3 8 0 0,31-4-18 0 0,0 1 4 0 0,-97 17-1 0 0,98-18 20 0 0,-3 1 7 0 0,-28 5 14 0 0,30-6-26 0 0,-20 2 0 0 0,-9 3-11 0 0,30-5 2 0 0,-17 4-13 0 0,-53 6 24 0 0,69-10-6 0 0,-22 2 6 0 0,-66 9 274 0 0,88-10-245 0 0,-57 6-12 0 0,-102 11 187 0 0,159-17-106 0 0,-12 0-40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11:29:39.8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578 29 88 0 0,'-3'-16'1975'0'0,"3"15"-1912"0"0,0 1 1 0 0,-1-1-1 0 0,1 1 0 0 0,0-1 1 0 0,0 1-1 0 0,0-1 1 0 0,0 1-1 0 0,0-1 1 0 0,0 1-1 0 0,-1-1 0 0 0,1 1 1 0 0,0-1-1 0 0,0 1 1 0 0,-1-1-1 0 0,1 1 0 0 0,0-1 1 0 0,-1 1-1 0 0,1 0 1 0 0,-1-1-1 0 0,1 1 0 0 0,0 0 1 0 0,-1-1-1 0 0,1 1 1 0 0,-1 0-1 0 0,1-1 0 0 0,-1 1 1 0 0,1 0-1 0 0,-1 0 1 0 0,1 0-1 0 0,-1-1 1 0 0,1 1-1 0 0,-1 0 0 0 0,1 0 1 0 0,-1 0-1 0 0,1 0 1 0 0,-1 0-1 0 0,0 0 0 0 0,-6 25 1012 0 0,6-19-1354 0 0,1-5 281 0 0,-6 39 0 0 0,4-30-5 0 0,-13 32-16 0 0,15-40 35 0 0,-10 44-14 0 0,10-44-9 0 0,-18 33 96 0 0,9-10-30 0 0,8-20-55 0 0,-1 1 0 0 0,0-1 0 0 0,0 0 0 0 0,0 0 0 0 0,-1 0 0 0 0,0 0 0 0 0,-4 5-1 0 0,6-9 54 0 0,-14 53-16 0 0,15-52-41 0 0,-2 53 5406 0 0,-146-120-5036 0 0,146 64-363 0 0,-56-24 42 0 0,30 15-52 0 0,26 9 12 0 0,-33-9-11 0 0,-19-9 2 0 0,-6 0-30 0 0,57 18 32 0 0,-30-8-33 0 0,31 9-571 0 0,-26-7 1713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customXml" Target="../ink/ink2.xml"/><Relationship Id="rId10" Type="http://schemas.openxmlformats.org/officeDocument/2006/relationships/customXml" Target="../ink/ink4.xml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0B807D-7D48-76F7-8994-A82EF9BD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7CBB10-365C-60F0-32E1-07681149F1F5}"/>
              </a:ext>
            </a:extLst>
          </p:cNvPr>
          <p:cNvSpPr txBox="1"/>
          <p:nvPr/>
        </p:nvSpPr>
        <p:spPr>
          <a:xfrm>
            <a:off x="0" y="2562088"/>
            <a:ext cx="116928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Version Control</a:t>
            </a:r>
          </a:p>
          <a:p>
            <a:pPr algn="ctr">
              <a:buNone/>
            </a:pPr>
            <a:r>
              <a:rPr lang="en-IN" sz="4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DVC</a:t>
            </a:r>
          </a:p>
          <a:p>
            <a:pPr algn="ctr">
              <a:buNone/>
            </a:pPr>
            <a:endParaRPr lang="en-IN" sz="48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4800">
                <a:solidFill>
                  <a:schemeClr val="accent6">
                    <a:lumMod val="60000"/>
                    <a:lumOff val="40000"/>
                  </a:schemeClr>
                </a:solidFill>
              </a:rPr>
              <a:t>Prerequisite: Understanding of </a:t>
            </a:r>
            <a:r>
              <a:rPr lang="en-IN" sz="4800" i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335007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2D4297-9593-A8AE-7B2B-E64AF6B274AF}"/>
              </a:ext>
            </a:extLst>
          </p:cNvPr>
          <p:cNvSpPr txBox="1"/>
          <p:nvPr/>
        </p:nvSpPr>
        <p:spPr>
          <a:xfrm>
            <a:off x="294894" y="394960"/>
            <a:ext cx="1169289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DVC using a simple analogy</a:t>
            </a:r>
          </a:p>
          <a:p>
            <a:pPr>
              <a:buNone/>
            </a:pP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a student builds a house price prediction model.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On Monday, the student trains the model using 100 houses.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On Tuesday, they add 50 more houses and change the preprocessing code.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On Wednesday, the model performs worse, and they want to understand why.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Git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can track changes to Python files, but it is not designed to version large datasets and model artifacts directly.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DVC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works alongside Git to track data and support experiment tracking.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5F70E-095A-BB8C-D11C-F1D3C821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A3BE87-42A0-DF3C-6EE7-8DDC32A1726A}"/>
              </a:ext>
            </a:extLst>
          </p:cNvPr>
          <p:cNvSpPr txBox="1"/>
          <p:nvPr/>
        </p:nvSpPr>
        <p:spPr>
          <a:xfrm>
            <a:off x="294894" y="394960"/>
            <a:ext cx="116014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Benefits of DVC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Experiments: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DVC lets you see how your data and models evolved over time. </a:t>
            </a:r>
          </a:p>
          <a:p>
            <a:pPr lvl="2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Need to revisit an experiment from a few months ago? </a:t>
            </a:r>
          </a:p>
          <a:p>
            <a:pPr lvl="2"/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DVC can show you the specific data version used, allowing you to compare and analyze with ease.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Collaboration: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Sharing data science projects with coworkers can be challenging. DVC ensures everyone works with the same data versions.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Reproducibility: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DVC helps in replicating results. DVC allows you to capture the exact data and model versions used in your experiments, making it easy to reproduce them later.</a:t>
            </a:r>
          </a:p>
        </p:txBody>
      </p:sp>
    </p:spTree>
    <p:extLst>
      <p:ext uri="{BB962C8B-B14F-4D97-AF65-F5344CB8AC3E}">
        <p14:creationId xmlns:p14="http://schemas.microsoft.com/office/powerpoint/2010/main" val="66328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65609-F8B4-4F37-1881-7C3530CC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383209-C9F7-195E-C9E0-772A4F7C9679}"/>
              </a:ext>
            </a:extLst>
          </p:cNvPr>
          <p:cNvSpPr txBox="1"/>
          <p:nvPr/>
        </p:nvSpPr>
        <p:spPr>
          <a:xfrm>
            <a:off x="294894" y="394960"/>
            <a:ext cx="116014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One important distinction between DVC and git: 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DVC is not a replacement for Git.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Git normally versions the project code and DVC metadata;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DVC manages the corresponding data and artifacts. It stores data on a separate hard drive, cloud storage, or wherever you prefer</a:t>
            </a:r>
          </a:p>
        </p:txBody>
      </p:sp>
    </p:spTree>
    <p:extLst>
      <p:ext uri="{BB962C8B-B14F-4D97-AF65-F5344CB8AC3E}">
        <p14:creationId xmlns:p14="http://schemas.microsoft.com/office/powerpoint/2010/main" val="323875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4D872-DAE0-DDD6-3556-4D0FCBD53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B18F60-093D-1CCF-0265-8A450D643617}"/>
              </a:ext>
            </a:extLst>
          </p:cNvPr>
          <p:cNvSpPr txBox="1"/>
          <p:nvPr/>
        </p:nvSpPr>
        <p:spPr>
          <a:xfrm>
            <a:off x="294894" y="394960"/>
            <a:ext cx="11601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Installation: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–m pip install dvc pyyaml</a:t>
            </a:r>
          </a:p>
        </p:txBody>
      </p:sp>
    </p:spTree>
    <p:extLst>
      <p:ext uri="{BB962C8B-B14F-4D97-AF65-F5344CB8AC3E}">
        <p14:creationId xmlns:p14="http://schemas.microsoft.com/office/powerpoint/2010/main" val="377008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BFF5B-602B-DAAA-9E95-BEB8C177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165DB6F-B2C2-F3AC-F20B-A4980DF4F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885" y="3146143"/>
            <a:ext cx="3468964" cy="28257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3F75CC-3A64-D735-25B2-B57FE1F69AEC}"/>
              </a:ext>
            </a:extLst>
          </p:cNvPr>
          <p:cNvSpPr txBox="1"/>
          <p:nvPr/>
        </p:nvSpPr>
        <p:spPr>
          <a:xfrm>
            <a:off x="294894" y="394960"/>
            <a:ext cx="116014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Step1: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a) Generate some data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Run following:</a:t>
            </a:r>
          </a:p>
          <a:p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python    .\step1_generate_data.py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creates a data dir. and also a data file (house.csv) in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099B00-F263-8174-8E3C-A6E52E81B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3" y="3189702"/>
            <a:ext cx="2895497" cy="253628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68CE4EEF-80DF-CACE-AFD9-21C5435D954C}"/>
              </a:ext>
            </a:extLst>
          </p:cNvPr>
          <p:cNvSpPr/>
          <p:nvPr/>
        </p:nvSpPr>
        <p:spPr>
          <a:xfrm rot="10800000">
            <a:off x="8129016" y="3694175"/>
            <a:ext cx="1289304" cy="39319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05D4B-74F1-64B0-DF10-93670BAFC125}"/>
              </a:ext>
            </a:extLst>
          </p:cNvPr>
          <p:cNvSpPr txBox="1"/>
          <p:nvPr/>
        </p:nvSpPr>
        <p:spPr>
          <a:xfrm>
            <a:off x="316230" y="5945316"/>
            <a:ext cx="4054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(Initial dir structure)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A200F-85CE-2C69-E878-259B3B38C90E}"/>
              </a:ext>
            </a:extLst>
          </p:cNvPr>
          <p:cNvSpPr txBox="1"/>
          <p:nvPr/>
        </p:nvSpPr>
        <p:spPr>
          <a:xfrm>
            <a:off x="6394533" y="5870734"/>
            <a:ext cx="3468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the command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B3F5D-07A0-B4E8-978D-93B4695FFA29}"/>
              </a:ext>
            </a:extLst>
          </p:cNvPr>
          <p:cNvSpPr txBox="1"/>
          <p:nvPr/>
        </p:nvSpPr>
        <p:spPr>
          <a:xfrm>
            <a:off x="9655199" y="3728037"/>
            <a:ext cx="2424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this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directory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74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B2095-6BFC-122D-5F45-E48E18ABA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6104CDE-3F7A-485B-AACF-92658A878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2" y="1330113"/>
            <a:ext cx="10369326" cy="51895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3E332-2F22-F262-8574-0125CF915E5A}"/>
              </a:ext>
            </a:extLst>
          </p:cNvPr>
          <p:cNvSpPr txBox="1"/>
          <p:nvPr/>
        </p:nvSpPr>
        <p:spPr>
          <a:xfrm>
            <a:off x="157734" y="129784"/>
            <a:ext cx="11601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b) Initialize Git and DVC in the project folder: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git init             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(Creates .git directory)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 dvc init             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(Creates .dvc directory, .dvcignore)</a:t>
            </a:r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39F0F9-4EA7-4125-8DBA-AEE07E401116}"/>
                  </a:ext>
                </a:extLst>
              </p14:cNvPr>
              <p14:cNvContentPartPr/>
              <p14:nvPr/>
            </p14:nvContentPartPr>
            <p14:xfrm>
              <a:off x="8443744" y="1224453"/>
              <a:ext cx="348120" cy="21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39F0F9-4EA7-4125-8DBA-AEE07E4011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26104" y="1206453"/>
                <a:ext cx="383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DDAC02-C4BD-1CA3-0980-3F5B8EFB991F}"/>
                  </a:ext>
                </a:extLst>
              </p14:cNvPr>
              <p14:cNvContentPartPr/>
              <p14:nvPr/>
            </p14:nvContentPartPr>
            <p14:xfrm>
              <a:off x="9591768" y="1834056"/>
              <a:ext cx="417240" cy="208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BDDAC02-C4BD-1CA3-0980-3F5B8EFB99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74128" y="1816416"/>
                <a:ext cx="4528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0A6280-1672-4430-E6BC-55E2392B6BC6}"/>
                  </a:ext>
                </a:extLst>
              </p14:cNvPr>
              <p14:cNvContentPartPr/>
              <p14:nvPr/>
            </p14:nvContentPartPr>
            <p14:xfrm>
              <a:off x="5879304" y="40048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0A6280-1672-4430-E6BC-55E2392B6BC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61664" y="398721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D4B3A6C9-04F9-D4D5-8C64-DB4F88019C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4160" y="3429000"/>
            <a:ext cx="3105583" cy="31532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AD43E79-E8E1-587B-4419-267E772E3964}"/>
                  </a:ext>
                </a:extLst>
              </p14:cNvPr>
              <p14:cNvContentPartPr/>
              <p14:nvPr/>
            </p14:nvContentPartPr>
            <p14:xfrm>
              <a:off x="9867384" y="4037256"/>
              <a:ext cx="275760" cy="265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AD43E79-E8E1-587B-4419-267E772E39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49384" y="4019256"/>
                <a:ext cx="3114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913BB29-C31A-572C-2226-91AEBCFC7D10}"/>
                  </a:ext>
                </a:extLst>
              </p14:cNvPr>
              <p14:cNvContentPartPr/>
              <p14:nvPr/>
            </p14:nvContentPartPr>
            <p14:xfrm>
              <a:off x="10369224" y="4963896"/>
              <a:ext cx="369720" cy="253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913BB29-C31A-572C-2226-91AEBCFC7D1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351224" y="4945896"/>
                <a:ext cx="405360" cy="2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623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0201F-A828-6116-A86E-F9C9A505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963C8C-E657-F916-F255-28F2F0D8D471}"/>
              </a:ext>
            </a:extLst>
          </p:cNvPr>
          <p:cNvSpPr txBox="1"/>
          <p:nvPr/>
        </p:nvSpPr>
        <p:spPr>
          <a:xfrm>
            <a:off x="185166" y="166360"/>
            <a:ext cx="107967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c) Track it: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–m dvc add data/houses.csv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DVC creates a metadata file called data/houses.csv.dvc and stores the dataset content in its local cache.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Git should track the metadata rather than the CSV itsel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75C18-2B61-021B-A411-184DAA523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" y="2796427"/>
            <a:ext cx="11917680" cy="269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4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37DD5-0387-7657-3BF9-1B5587A6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2E2618-E9E3-13B7-A926-CED6DDA6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525688"/>
            <a:ext cx="3322701" cy="616595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3AF0090-7772-F997-5A4E-77AC16E05E24}"/>
              </a:ext>
            </a:extLst>
          </p:cNvPr>
          <p:cNvGrpSpPr/>
          <p:nvPr/>
        </p:nvGrpSpPr>
        <p:grpSpPr>
          <a:xfrm>
            <a:off x="9125424" y="1555776"/>
            <a:ext cx="1019160" cy="625320"/>
            <a:chOff x="9125424" y="1555776"/>
            <a:chExt cx="1019160" cy="6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13759E2-D168-C991-1BAF-DFC7AF3676AC}"/>
                    </a:ext>
                  </a:extLst>
                </p14:cNvPr>
                <p14:cNvContentPartPr/>
                <p14:nvPr/>
              </p14:nvContentPartPr>
              <p14:xfrm>
                <a:off x="9701784" y="1872936"/>
                <a:ext cx="442800" cy="308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13759E2-D168-C991-1BAF-DFC7AF3676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83784" y="1855296"/>
                  <a:ext cx="478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FAB74D-341D-10FC-5339-1D394A997E0E}"/>
                    </a:ext>
                  </a:extLst>
                </p14:cNvPr>
                <p14:cNvContentPartPr/>
                <p14:nvPr/>
              </p14:nvContentPartPr>
              <p14:xfrm>
                <a:off x="9125424" y="1555776"/>
                <a:ext cx="666360" cy="22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FAB74D-341D-10FC-5339-1D394A997E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07784" y="1537776"/>
                  <a:ext cx="702000" cy="25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567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4C162-A4D1-CFBC-61F6-7E1D5AA7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8D13A7-DB03-DF81-1705-76C22508C00A}"/>
              </a:ext>
            </a:extLst>
          </p:cNvPr>
          <p:cNvSpPr txBox="1"/>
          <p:nvPr/>
        </p:nvSpPr>
        <p:spPr>
          <a:xfrm>
            <a:off x="310896" y="361295"/>
            <a:ext cx="8382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d) Now commit the project:</a:t>
            </a:r>
          </a:p>
          <a:p>
            <a:pPr rtl="0">
              <a:buNone/>
            </a:pPr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&gt; git add .</a:t>
            </a:r>
          </a:p>
          <a:p>
            <a:pPr rtl="0">
              <a:buNone/>
            </a:pPr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&gt; git commit -m "Track initial house dataset"</a:t>
            </a:r>
            <a:endParaRPr lang="en-IN" sz="2400" b="1" i="1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093B8C-2A9D-8794-7A79-6A0527509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" y="2871217"/>
            <a:ext cx="12021263" cy="334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18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FC056-EF95-7790-3F8B-4A463A1E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2CA42-2A32-E57B-BAA6-8DC5B25DED46}"/>
              </a:ext>
            </a:extLst>
          </p:cNvPr>
          <p:cNvSpPr txBox="1"/>
          <p:nvPr/>
        </p:nvSpPr>
        <p:spPr>
          <a:xfrm>
            <a:off x="310896" y="361295"/>
            <a:ext cx="83827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a) Now we alter the dataset. Create step2_alter_data.py and run,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.\step2_alter_data.py </a:t>
            </a:r>
          </a:p>
          <a:p>
            <a:pPr>
              <a:buNone/>
            </a:pPr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b) Check altered data file using command:</a:t>
            </a:r>
          </a:p>
          <a:p>
            <a:pPr>
              <a:buNone/>
            </a:pPr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dvc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34469-A5A0-56BD-CC6F-6011C5C29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7" y="3538728"/>
            <a:ext cx="10791917" cy="141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43B50-F130-0BE4-3A96-75774D17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EADA18-4DF0-803F-509C-2D2BD68FE1FC}"/>
              </a:ext>
            </a:extLst>
          </p:cNvPr>
          <p:cNvSpPr txBox="1"/>
          <p:nvPr/>
        </p:nvSpPr>
        <p:spPr>
          <a:xfrm>
            <a:off x="82296" y="0"/>
            <a:ext cx="106436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c) DVC can detect that the tracked dataset has changed. To record the new version: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dvc add data/houses.csv</a:t>
            </a:r>
          </a:p>
          <a:p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git add data/houses.csv.dvc</a:t>
            </a:r>
          </a:p>
          <a:p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git commit -m "Update house price dataset"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Running dvc add updates the tracked data version.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metadata is committed to Git.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3247A-1F6D-5FFE-7C33-3124A0153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9076"/>
            <a:ext cx="12192000" cy="365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85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4AE81-EE4A-D018-E64E-8FE34A1E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A277D4-5164-0E3F-F7D6-0053B500CD64}"/>
              </a:ext>
            </a:extLst>
          </p:cNvPr>
          <p:cNvSpPr txBox="1"/>
          <p:nvPr/>
        </p:nvSpPr>
        <p:spPr>
          <a:xfrm>
            <a:off x="143256" y="78083"/>
            <a:ext cx="4657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Directory  structure after step2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D0435-C70C-37FA-2E0F-0176511F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" y="539748"/>
            <a:ext cx="2862580" cy="6030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A32BB-69E1-B50D-85BD-8F86E8FED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756" y="996696"/>
            <a:ext cx="6065273" cy="267173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E7B8885-66C0-C7B8-2FAE-5013C2266713}"/>
              </a:ext>
            </a:extLst>
          </p:cNvPr>
          <p:cNvGrpSpPr/>
          <p:nvPr/>
        </p:nvGrpSpPr>
        <p:grpSpPr>
          <a:xfrm>
            <a:off x="837144" y="1654056"/>
            <a:ext cx="6761880" cy="733680"/>
            <a:chOff x="837144" y="1654056"/>
            <a:chExt cx="6761880" cy="73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F7BE8B7-B3AE-BC49-1D0B-59EE3FE9B185}"/>
                    </a:ext>
                  </a:extLst>
                </p14:cNvPr>
                <p14:cNvContentPartPr/>
                <p14:nvPr/>
              </p14:nvContentPartPr>
              <p14:xfrm>
                <a:off x="7268184" y="2083176"/>
                <a:ext cx="330840" cy="30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F7BE8B7-B3AE-BC49-1D0B-59EE3FE9B1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50544" y="2065176"/>
                  <a:ext cx="3664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A3929FC-09AF-C9CA-124B-9F773DDB595F}"/>
                    </a:ext>
                  </a:extLst>
                </p14:cNvPr>
                <p14:cNvContentPartPr/>
                <p14:nvPr/>
              </p14:nvContentPartPr>
              <p14:xfrm>
                <a:off x="837144" y="1872936"/>
                <a:ext cx="400320" cy="285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A3929FC-09AF-C9CA-124B-9F773DDB59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9504" y="1854936"/>
                  <a:ext cx="4359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4ED45CE-AF76-C16F-72B1-EA892B7103DB}"/>
                    </a:ext>
                  </a:extLst>
                </p14:cNvPr>
                <p14:cNvContentPartPr/>
                <p14:nvPr/>
              </p14:nvContentPartPr>
              <p14:xfrm>
                <a:off x="1205064" y="1654056"/>
                <a:ext cx="6171840" cy="439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4ED45CE-AF76-C16F-72B1-EA892B7103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7424" y="1636056"/>
                  <a:ext cx="6207480" cy="47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7C96F18-DAC2-1F27-B038-C7A1804A8E86}"/>
                  </a:ext>
                </a:extLst>
              </p14:cNvPr>
              <p14:cNvContentPartPr/>
              <p14:nvPr/>
            </p14:nvContentPartPr>
            <p14:xfrm>
              <a:off x="7192944" y="1918656"/>
              <a:ext cx="208440" cy="141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7C96F18-DAC2-1F27-B038-C7A1804A8E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74944" y="1900656"/>
                <a:ext cx="244080" cy="17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8411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AD3D2-2FE3-9F29-E522-58BFFCC6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E2D97F-9230-F6F9-B808-EBDCC439C347}"/>
              </a:ext>
            </a:extLst>
          </p:cNvPr>
          <p:cNvSpPr txBox="1"/>
          <p:nvPr/>
        </p:nvSpPr>
        <p:spPr>
          <a:xfrm>
            <a:off x="143256" y="78083"/>
            <a:ext cx="119176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Now we create a pipeline for training a model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 pipeline, we have to remember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scripts run,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 what order,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with which inputs.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DVC pipelines describe the dependencies, commands, parameters, outputs, and metrics of ML.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dvc repro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the pipeline and skips stages that do not need to be rerun.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D0A8E-CB55-4436-2233-9E63B5CABFF8}"/>
              </a:ext>
            </a:extLst>
          </p:cNvPr>
          <p:cNvSpPr txBox="1"/>
          <p:nvPr/>
        </p:nvSpPr>
        <p:spPr>
          <a:xfrm>
            <a:off x="0" y="494511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a) Create a file called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src/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train.py 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038BAC1-577C-9DFE-D28E-B2926F609D2A}"/>
              </a:ext>
            </a:extLst>
          </p:cNvPr>
          <p:cNvSpPr/>
          <p:nvPr/>
        </p:nvSpPr>
        <p:spPr>
          <a:xfrm rot="20961781">
            <a:off x="4488667" y="5011591"/>
            <a:ext cx="1611236" cy="1737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6E7186-0041-62C9-04A5-251FAD48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3429000"/>
            <a:ext cx="3109289" cy="333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15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91050-10C8-B2BA-0C9D-2EE86A30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2D17F1-80C9-77B8-EA06-4B2EBCB8BCF3}"/>
              </a:ext>
            </a:extLst>
          </p:cNvPr>
          <p:cNvSpPr txBox="1"/>
          <p:nvPr/>
        </p:nvSpPr>
        <p:spPr>
          <a:xfrm>
            <a:off x="0" y="159841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b) Create a file called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dvc.yaml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53D5D2-8A4B-4ACC-4C66-DBE5C270F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94" y="147699"/>
            <a:ext cx="5008016" cy="328551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49652B4-3486-0E02-8836-F4F6E6D0BAF4}"/>
              </a:ext>
            </a:extLst>
          </p:cNvPr>
          <p:cNvSpPr/>
          <p:nvPr/>
        </p:nvSpPr>
        <p:spPr>
          <a:xfrm>
            <a:off x="4041648" y="1642294"/>
            <a:ext cx="1054702" cy="373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476F1F-63A3-3B94-2895-869F80957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37970"/>
              </p:ext>
            </p:extLst>
          </p:nvPr>
        </p:nvGraphicFramePr>
        <p:xfrm>
          <a:off x="563880" y="4162306"/>
          <a:ext cx="7702296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8776">
                  <a:extLst>
                    <a:ext uri="{9D8B030D-6E8A-4147-A177-3AD203B41FA5}">
                      <a16:colId xmlns:a16="http://schemas.microsoft.com/office/drawing/2014/main" val="3067964163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102739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DVC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0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Defines pipeline stages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060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Command executed for the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44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Files required by the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38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Outputs DVC should track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801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Evaluation results that can be inspected and compared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13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91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05C03-0E37-ADAF-1364-E3EB387A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27E806-A1CF-1BC2-0B0B-D45B34ADA642}"/>
              </a:ext>
            </a:extLst>
          </p:cNvPr>
          <p:cNvSpPr txBox="1"/>
          <p:nvPr/>
        </p:nvSpPr>
        <p:spPr>
          <a:xfrm>
            <a:off x="0" y="631638"/>
            <a:ext cx="3072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c) Run the pipeline</a:t>
            </a:r>
          </a:p>
          <a:p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dvc repro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5454C-F7FC-C541-AF28-A23AC1C62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519" y="877824"/>
            <a:ext cx="9284481" cy="554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53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C6236-9CDC-3F4A-080C-79D67FC5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32AAEB-710B-E7D7-4557-17473F0832D9}"/>
              </a:ext>
            </a:extLst>
          </p:cNvPr>
          <p:cNvSpPr txBox="1"/>
          <p:nvPr/>
        </p:nvSpPr>
        <p:spPr>
          <a:xfrm>
            <a:off x="109728" y="147006"/>
            <a:ext cx="3072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d) Check</a:t>
            </a:r>
          </a:p>
          <a:p>
            <a:endParaRPr lang="en-US" sz="2400" b="1" i="1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dvc metrics show</a:t>
            </a:r>
          </a:p>
          <a:p>
            <a:r>
              <a:rPr lang="en-US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dvc status</a:t>
            </a:r>
            <a:endParaRPr lang="en-IN" sz="2400" b="1" i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04D8A-67D5-16E2-143E-A03E51203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91" y="2646367"/>
            <a:ext cx="10301586" cy="176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97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75D02-2013-795F-185C-0DC4623D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CD53CF-F34C-60E9-50BB-0203A0B285A4}"/>
              </a:ext>
            </a:extLst>
          </p:cNvPr>
          <p:cNvSpPr txBox="1"/>
          <p:nvPr/>
        </p:nvSpPr>
        <p:spPr>
          <a:xfrm>
            <a:off x="109728" y="147006"/>
            <a:ext cx="10981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5) (NOT DONE HERE)</a:t>
            </a:r>
          </a:p>
          <a:p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Commit your updated pipeline metadata and code to Git.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commands are</a:t>
            </a:r>
          </a:p>
          <a:p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git add   train.py   dvc.yaml   dvc.lock  metrics.json   data/houses.csv.dvc</a:t>
            </a:r>
          </a:p>
          <a:p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</a:rPr>
              <a:t>&gt;  git commit -m "Track house price training pipeline"</a:t>
            </a:r>
          </a:p>
        </p:txBody>
      </p:sp>
    </p:spTree>
    <p:extLst>
      <p:ext uri="{BB962C8B-B14F-4D97-AF65-F5344CB8AC3E}">
        <p14:creationId xmlns:p14="http://schemas.microsoft.com/office/powerpoint/2010/main" val="1782632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C2F5A-670F-BB30-3667-A0498093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7268EF-027A-3E2F-1FE1-89F526DABCB0}"/>
              </a:ext>
            </a:extLst>
          </p:cNvPr>
          <p:cNvSpPr txBox="1"/>
          <p:nvPr/>
        </p:nvSpPr>
        <p:spPr>
          <a:xfrm>
            <a:off x="109728" y="147006"/>
            <a:ext cx="10981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Classroom demonstration: What happens when something changes?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33885-CDA0-89B7-301D-8EB97F90E884}"/>
              </a:ext>
            </a:extLst>
          </p:cNvPr>
          <p:cNvSpPr txBox="1"/>
          <p:nvPr/>
        </p:nvSpPr>
        <p:spPr>
          <a:xfrm>
            <a:off x="109728" y="744450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 A — Baseline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Run </a:t>
            </a:r>
            <a:r>
              <a:rPr lang="en-IN" sz="18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dvc repro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and record MAE and R².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78406-2F00-EB58-1A6E-7C8DF9DC4D03}"/>
              </a:ext>
            </a:extLst>
          </p:cNvPr>
          <p:cNvSpPr txBox="1"/>
          <p:nvPr/>
        </p:nvSpPr>
        <p:spPr>
          <a:xfrm>
            <a:off x="5294376" y="744450"/>
            <a:ext cx="6897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 B — Change the data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Modify some house prices, save the CSV, and run </a:t>
            </a:r>
            <a:r>
              <a:rPr lang="en-IN" sz="18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dvc repro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again. Observe that the training stage is rerun.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44CB54-2265-4398-F93C-ECD05DF39E39}"/>
              </a:ext>
            </a:extLst>
          </p:cNvPr>
          <p:cNvSpPr txBox="1"/>
          <p:nvPr/>
        </p:nvSpPr>
        <p:spPr>
          <a:xfrm>
            <a:off x="109728" y="2377166"/>
            <a:ext cx="118323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 C — Change the code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Change the train/test split or replace linear regression with a different model.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Rerun the pipeline and compare the metrics.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EE0F5C-94C7-E4A5-D424-C91A8202FDFD}"/>
              </a:ext>
            </a:extLst>
          </p:cNvPr>
          <p:cNvSpPr txBox="1"/>
          <p:nvPr/>
        </p:nvSpPr>
        <p:spPr>
          <a:xfrm>
            <a:off x="221361" y="4692408"/>
            <a:ext cx="101460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for students: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files changed in Git?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dependencies caused DVC to rerun the stage?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Why might the model perform differently after the data changes?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How can we restore a previous version of the dataset and training code?</a:t>
            </a:r>
          </a:p>
        </p:txBody>
      </p:sp>
    </p:spTree>
    <p:extLst>
      <p:ext uri="{BB962C8B-B14F-4D97-AF65-F5344CB8AC3E}">
        <p14:creationId xmlns:p14="http://schemas.microsoft.com/office/powerpoint/2010/main" val="4097824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845</Words>
  <Application>Microsoft Office PowerPoint</Application>
  <PresentationFormat>Widescreen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57</cp:revision>
  <dcterms:created xsi:type="dcterms:W3CDTF">2026-09-25T02:37:34Z</dcterms:created>
  <dcterms:modified xsi:type="dcterms:W3CDTF">2026-10-20T11:57:05Z</dcterms:modified>
</cp:coreProperties>
</file>