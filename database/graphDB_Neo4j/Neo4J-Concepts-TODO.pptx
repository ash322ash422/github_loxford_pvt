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96698-B43E-A0F0-1270-0EFD7AB600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528383-4B84-6AD8-9188-7D0B830A8A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8E9AB9-7307-9E85-1768-3FBA1822279A}"/>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5" name="Footer Placeholder 4">
            <a:extLst>
              <a:ext uri="{FF2B5EF4-FFF2-40B4-BE49-F238E27FC236}">
                <a16:creationId xmlns:a16="http://schemas.microsoft.com/office/drawing/2014/main" id="{18EA5662-C579-F408-F9BB-D3F6D1C37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FEC43-1946-2924-5F5F-4202B49547C3}"/>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3681548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A00D-E150-B6A2-D460-20DFFB1B25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A8146D-1C4C-3944-C465-BEF867D13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C6A34C-00AA-DEA0-F47E-FCE01C518D41}"/>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5" name="Footer Placeholder 4">
            <a:extLst>
              <a:ext uri="{FF2B5EF4-FFF2-40B4-BE49-F238E27FC236}">
                <a16:creationId xmlns:a16="http://schemas.microsoft.com/office/drawing/2014/main" id="{EBCA4E38-81A9-CE9B-33B6-B8F6C42836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7BB14C-7E62-7F6D-6397-7961B7239A62}"/>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3660035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94B64-EEED-3C57-BB17-C987D9E4BD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6F8A6E-4D89-BEA1-F2AC-77C20D4E0B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55B84F-F1FB-C367-5A5D-4102B685D531}"/>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5" name="Footer Placeholder 4">
            <a:extLst>
              <a:ext uri="{FF2B5EF4-FFF2-40B4-BE49-F238E27FC236}">
                <a16:creationId xmlns:a16="http://schemas.microsoft.com/office/drawing/2014/main" id="{AFE0275D-61F8-D63C-55DF-B5714F8D38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1B2287-D0A4-FDDF-F46F-C0D12BB8E8B3}"/>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3630518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DBF2-CCC2-C193-7093-E3A905DC7C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A12739-AAA1-DECE-1AFA-129A228B5D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238885-DBA8-E90A-5849-FABA14ACCE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4453F6-A4DA-D78A-059E-18F6D215B2C0}"/>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6" name="Footer Placeholder 5">
            <a:extLst>
              <a:ext uri="{FF2B5EF4-FFF2-40B4-BE49-F238E27FC236}">
                <a16:creationId xmlns:a16="http://schemas.microsoft.com/office/drawing/2014/main" id="{E450F300-7CD4-AA2C-40A0-F78A26ED2F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FAFCE8-B63C-AAEC-F9D7-73CCB11BAC8D}"/>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2642627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D3959-9603-43E7-8720-4FDB377810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FAF9DA-7F3A-881D-2985-02EA4D4C8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4CBB84-8704-F8DE-2F2B-1A9C7D4A5E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6D34E3-1688-F093-DF05-1DBDED58DC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3D21E8-1658-6495-C24B-B8915FC321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F49930-0C3F-DE1E-8AEC-B07DC8525CCE}"/>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8" name="Footer Placeholder 7">
            <a:extLst>
              <a:ext uri="{FF2B5EF4-FFF2-40B4-BE49-F238E27FC236}">
                <a16:creationId xmlns:a16="http://schemas.microsoft.com/office/drawing/2014/main" id="{D19745B8-24A0-08E2-8811-C2A065079A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97A4D7-1A63-E950-F0D1-9F5ED97117F6}"/>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3750914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4B870-E7CA-7FE5-1E4D-AC302CC703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1277B0-C689-211F-BE38-FA1B9D4834DE}"/>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4" name="Footer Placeholder 3">
            <a:extLst>
              <a:ext uri="{FF2B5EF4-FFF2-40B4-BE49-F238E27FC236}">
                <a16:creationId xmlns:a16="http://schemas.microsoft.com/office/drawing/2014/main" id="{CA17DA94-B855-C53D-1C00-5F6339301E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62B4EE-6623-B8F6-12E7-F5B64F1FA32A}"/>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260088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30E448-2477-9332-E4E4-D1D192A878BA}"/>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3" name="Footer Placeholder 2">
            <a:extLst>
              <a:ext uri="{FF2B5EF4-FFF2-40B4-BE49-F238E27FC236}">
                <a16:creationId xmlns:a16="http://schemas.microsoft.com/office/drawing/2014/main" id="{A81F80EC-1D51-C96A-6293-52655F9AAC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3BF6F6-AFEE-493A-856A-D05D0AA86A22}"/>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404174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0088-C946-B4E1-D08C-E3EA7145A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8DEA52-E972-55B0-CC87-E99CA5D561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386419-24AB-8944-5A20-7F810F1442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9A0013-A4C3-8AAA-E3E0-D735308079B4}"/>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6" name="Footer Placeholder 5">
            <a:extLst>
              <a:ext uri="{FF2B5EF4-FFF2-40B4-BE49-F238E27FC236}">
                <a16:creationId xmlns:a16="http://schemas.microsoft.com/office/drawing/2014/main" id="{3C1583FD-1AA3-6FDA-754E-94E432A871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A59FDA-239E-6D7A-F0DE-BE91CA815281}"/>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425268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7F8D-C986-2B4D-EBF7-00FF943E1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B1D104-8244-5D4C-E79E-6A37EBB657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9EE119-5AE5-7C48-B1BB-C7BF21380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34A81-6620-F187-17EB-7C59D0684EE7}"/>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6" name="Footer Placeholder 5">
            <a:extLst>
              <a:ext uri="{FF2B5EF4-FFF2-40B4-BE49-F238E27FC236}">
                <a16:creationId xmlns:a16="http://schemas.microsoft.com/office/drawing/2014/main" id="{0CFAFCA5-F54D-C376-3C3E-0450A04A38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590AE4-43F2-B4A6-0D4D-DA9B03A580A2}"/>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3254233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7C86E-AB39-DBF6-0FEA-58B8C3672D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A915D2-E4E7-5BD6-26DB-84BB0F7033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C7E2C5-5947-5FDE-5750-79E121FCF7E2}"/>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5" name="Footer Placeholder 4">
            <a:extLst>
              <a:ext uri="{FF2B5EF4-FFF2-40B4-BE49-F238E27FC236}">
                <a16:creationId xmlns:a16="http://schemas.microsoft.com/office/drawing/2014/main" id="{407CBCD5-4BCD-8CA2-8303-D34C3F40B3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6F3C35-F78D-2685-8DBB-EB24A12C9304}"/>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1839698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6E5C27-1869-CFE9-9358-9860AC3CD9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2556FC-B661-9BF0-17FB-6F79930CA8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1878AE-EE8E-343D-44CC-CC689F4BE9A9}"/>
              </a:ext>
            </a:extLst>
          </p:cNvPr>
          <p:cNvSpPr>
            <a:spLocks noGrp="1"/>
          </p:cNvSpPr>
          <p:nvPr>
            <p:ph type="dt" sz="half" idx="10"/>
          </p:nvPr>
        </p:nvSpPr>
        <p:spPr/>
        <p:txBody>
          <a:bodyPr/>
          <a:lstStyle/>
          <a:p>
            <a:fld id="{C0D24F74-B654-41AB-8B13-A9E443141571}" type="datetimeFigureOut">
              <a:rPr lang="en-IN" smtClean="0"/>
              <a:t>29-03-2025</a:t>
            </a:fld>
            <a:endParaRPr lang="en-IN"/>
          </a:p>
        </p:txBody>
      </p:sp>
      <p:sp>
        <p:nvSpPr>
          <p:cNvPr id="5" name="Footer Placeholder 4">
            <a:extLst>
              <a:ext uri="{FF2B5EF4-FFF2-40B4-BE49-F238E27FC236}">
                <a16:creationId xmlns:a16="http://schemas.microsoft.com/office/drawing/2014/main" id="{2F1B849C-13A6-6248-6B93-E0053A3B31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DEF236-E794-23F8-7045-A772C09F74F0}"/>
              </a:ext>
            </a:extLst>
          </p:cNvPr>
          <p:cNvSpPr>
            <a:spLocks noGrp="1"/>
          </p:cNvSpPr>
          <p:nvPr>
            <p:ph type="sldNum" sz="quarter" idx="12"/>
          </p:nvPr>
        </p:nvSpPr>
        <p:spPr/>
        <p:txBody>
          <a:bodyPr/>
          <a:lstStyle/>
          <a:p>
            <a:fld id="{3F5D28C0-60F1-46CD-8F4A-98AC3829E679}" type="slidenum">
              <a:rPr lang="en-IN" smtClean="0"/>
              <a:t>‹#›</a:t>
            </a:fld>
            <a:endParaRPr lang="en-IN"/>
          </a:p>
        </p:txBody>
      </p:sp>
    </p:spTree>
    <p:extLst>
      <p:ext uri="{BB962C8B-B14F-4D97-AF65-F5344CB8AC3E}">
        <p14:creationId xmlns:p14="http://schemas.microsoft.com/office/powerpoint/2010/main" val="2893525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DBC271-26B7-D788-9A71-2DB0BE6CD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3B31CB-07F6-A958-59F4-982975BACE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B67DB1-ABCA-6187-5BBD-ED7DE217A6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24F74-B654-41AB-8B13-A9E443141571}" type="datetimeFigureOut">
              <a:rPr lang="en-IN" smtClean="0"/>
              <a:t>29-03-2025</a:t>
            </a:fld>
            <a:endParaRPr lang="en-IN"/>
          </a:p>
        </p:txBody>
      </p:sp>
      <p:sp>
        <p:nvSpPr>
          <p:cNvPr id="5" name="Footer Placeholder 4">
            <a:extLst>
              <a:ext uri="{FF2B5EF4-FFF2-40B4-BE49-F238E27FC236}">
                <a16:creationId xmlns:a16="http://schemas.microsoft.com/office/drawing/2014/main" id="{979F8D6C-1A8F-F95F-0D73-E3E8338392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6C1E80-DA8E-E933-F4BF-47FC08F1F0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5D28C0-60F1-46CD-8F4A-98AC3829E679}" type="slidenum">
              <a:rPr lang="en-IN" smtClean="0"/>
              <a:t>‹#›</a:t>
            </a:fld>
            <a:endParaRPr lang="en-IN"/>
          </a:p>
        </p:txBody>
      </p:sp>
    </p:spTree>
    <p:extLst>
      <p:ext uri="{BB962C8B-B14F-4D97-AF65-F5344CB8AC3E}">
        <p14:creationId xmlns:p14="http://schemas.microsoft.com/office/powerpoint/2010/main" val="395212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E0B2B-7D11-B426-0840-89C4A428AD87}"/>
              </a:ext>
            </a:extLst>
          </p:cNvPr>
          <p:cNvSpPr>
            <a:spLocks noGrp="1"/>
          </p:cNvSpPr>
          <p:nvPr>
            <p:ph type="ctrTitle"/>
          </p:nvPr>
        </p:nvSpPr>
        <p:spPr/>
        <p:txBody>
          <a:bodyPr/>
          <a:lstStyle/>
          <a:p>
            <a:r>
              <a:rPr lang="en-US" dirty="0"/>
              <a:t>Neo4J</a:t>
            </a:r>
            <a:endParaRPr lang="en-IN" dirty="0"/>
          </a:p>
        </p:txBody>
      </p:sp>
      <p:sp>
        <p:nvSpPr>
          <p:cNvPr id="3" name="Subtitle 2">
            <a:extLst>
              <a:ext uri="{FF2B5EF4-FFF2-40B4-BE49-F238E27FC236}">
                <a16:creationId xmlns:a16="http://schemas.microsoft.com/office/drawing/2014/main" id="{F3C03DAC-C911-94D0-08B0-7168C856660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09094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0E444-9249-F024-3ACB-15E20B1A6830}"/>
              </a:ext>
            </a:extLst>
          </p:cNvPr>
          <p:cNvSpPr>
            <a:spLocks noGrp="1"/>
          </p:cNvSpPr>
          <p:nvPr>
            <p:ph type="title"/>
          </p:nvPr>
        </p:nvSpPr>
        <p:spPr/>
        <p:txBody>
          <a:bodyPr/>
          <a:lstStyle/>
          <a:p>
            <a:r>
              <a:rPr lang="en-US" dirty="0"/>
              <a:t>Create instance(TODO)</a:t>
            </a:r>
            <a:endParaRPr lang="en-IN" dirty="0"/>
          </a:p>
        </p:txBody>
      </p:sp>
      <p:sp>
        <p:nvSpPr>
          <p:cNvPr id="3" name="Content Placeholder 2">
            <a:extLst>
              <a:ext uri="{FF2B5EF4-FFF2-40B4-BE49-F238E27FC236}">
                <a16:creationId xmlns:a16="http://schemas.microsoft.com/office/drawing/2014/main" id="{85CD16BF-57EB-B02E-A5D0-214E5AB5690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5664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33AED-419A-15E6-3EA6-BD4B7A9E2AA8}"/>
              </a:ext>
            </a:extLst>
          </p:cNvPr>
          <p:cNvSpPr>
            <a:spLocks noGrp="1"/>
          </p:cNvSpPr>
          <p:nvPr>
            <p:ph type="title"/>
          </p:nvPr>
        </p:nvSpPr>
        <p:spPr>
          <a:xfrm>
            <a:off x="838200" y="172179"/>
            <a:ext cx="10515600" cy="574442"/>
          </a:xfrm>
        </p:spPr>
        <p:txBody>
          <a:bodyPr>
            <a:normAutofit fontScale="90000"/>
          </a:bodyPr>
          <a:lstStyle/>
          <a:p>
            <a:r>
              <a:rPr lang="en-US" dirty="0"/>
              <a:t>Graph Database</a:t>
            </a:r>
            <a:endParaRPr lang="en-IN" dirty="0"/>
          </a:p>
        </p:txBody>
      </p:sp>
      <p:sp>
        <p:nvSpPr>
          <p:cNvPr id="3" name="Content Placeholder 2">
            <a:extLst>
              <a:ext uri="{FF2B5EF4-FFF2-40B4-BE49-F238E27FC236}">
                <a16:creationId xmlns:a16="http://schemas.microsoft.com/office/drawing/2014/main" id="{B8378AC7-3B73-C0D5-0B85-601931BDB064}"/>
              </a:ext>
            </a:extLst>
          </p:cNvPr>
          <p:cNvSpPr>
            <a:spLocks noGrp="1"/>
          </p:cNvSpPr>
          <p:nvPr>
            <p:ph idx="1"/>
          </p:nvPr>
        </p:nvSpPr>
        <p:spPr>
          <a:xfrm>
            <a:off x="150301" y="835723"/>
            <a:ext cx="11862733" cy="2593277"/>
          </a:xfrm>
        </p:spPr>
        <p:txBody>
          <a:bodyPr>
            <a:normAutofit/>
          </a:bodyPr>
          <a:lstStyle/>
          <a:p>
            <a:pPr algn="l" rtl="0">
              <a:buNone/>
            </a:pPr>
            <a:r>
              <a:rPr lang="en-US" sz="1800" b="0" i="0" u="none" strike="noStrike" dirty="0">
                <a:solidFill>
                  <a:srgbClr val="05192D"/>
                </a:solidFill>
                <a:effectLst/>
                <a:latin typeface="Studio-Feixen-Sans"/>
              </a:rPr>
              <a:t>Graph databases are a type of NoSQL database (they don’t use SQL) designed for managing connected data. Graph databases use graph structures that are made up of:</a:t>
            </a:r>
            <a:endParaRPr lang="en-US" sz="1800" b="0" i="0" dirty="0">
              <a:solidFill>
                <a:srgbClr val="05192D"/>
              </a:solidFill>
              <a:effectLst/>
              <a:latin typeface="Studio-Feixen-Sans"/>
            </a:endParaRPr>
          </a:p>
          <a:p>
            <a:pPr algn="l">
              <a:buFont typeface="Arial" panose="020B0604020202020204" pitchFamily="34" charset="0"/>
              <a:buChar char="•"/>
            </a:pPr>
            <a:r>
              <a:rPr lang="en-US" sz="1800" b="1" i="0" u="none" strike="noStrike" dirty="0">
                <a:solidFill>
                  <a:srgbClr val="05192D"/>
                </a:solidFill>
                <a:effectLst/>
                <a:latin typeface="Studio-Feixen-Sans"/>
              </a:rPr>
              <a:t>Nodes (entities)</a:t>
            </a:r>
            <a:r>
              <a:rPr lang="en-US" sz="1800" b="0" i="0" u="none" strike="noStrike" dirty="0">
                <a:solidFill>
                  <a:srgbClr val="05192D"/>
                </a:solidFill>
                <a:effectLst/>
                <a:latin typeface="Studio-Feixen-Sans"/>
              </a:rPr>
              <a:t> such as people, places, concepts</a:t>
            </a:r>
            <a:endParaRPr lang="en-US" sz="1800" b="0" i="0" dirty="0">
              <a:solidFill>
                <a:srgbClr val="05192D"/>
              </a:solidFill>
              <a:effectLst/>
              <a:latin typeface="Studio-Feixen-Sans"/>
            </a:endParaRPr>
          </a:p>
          <a:p>
            <a:pPr algn="l">
              <a:buFont typeface="Arial" panose="020B0604020202020204" pitchFamily="34" charset="0"/>
              <a:buChar char="•"/>
            </a:pPr>
            <a:r>
              <a:rPr lang="en-US" sz="1800" b="1" i="0" u="none" strike="noStrike" dirty="0">
                <a:solidFill>
                  <a:srgbClr val="05192D"/>
                </a:solidFill>
                <a:effectLst/>
                <a:latin typeface="Studio-Feixen-Sans"/>
              </a:rPr>
              <a:t>Edges (relationships)</a:t>
            </a:r>
            <a:r>
              <a:rPr lang="en-US" sz="1800" b="0" i="0" u="none" strike="noStrike" dirty="0">
                <a:solidFill>
                  <a:srgbClr val="05192D"/>
                </a:solidFill>
                <a:effectLst/>
                <a:latin typeface="Studio-Feixen-Sans"/>
              </a:rPr>
              <a:t> that connect different nodes like </a:t>
            </a:r>
            <a:r>
              <a:rPr lang="en-US" sz="1800" b="0" i="1" u="none" strike="noStrike" dirty="0">
                <a:solidFill>
                  <a:srgbClr val="05192D"/>
                </a:solidFill>
                <a:effectLst/>
                <a:latin typeface="Studio-Feixen-Sans"/>
              </a:rPr>
              <a:t>person</a:t>
            </a:r>
            <a:r>
              <a:rPr lang="en-US" sz="1800" b="0" i="0" u="none" strike="noStrike" dirty="0">
                <a:solidFill>
                  <a:srgbClr val="05192D"/>
                </a:solidFill>
                <a:effectLst/>
                <a:latin typeface="Studio-Feixen-Sans"/>
              </a:rPr>
              <a:t> LIVES IN </a:t>
            </a:r>
            <a:r>
              <a:rPr lang="en-US" sz="1800" b="0" i="1" u="none" strike="noStrike" dirty="0">
                <a:solidFill>
                  <a:srgbClr val="05192D"/>
                </a:solidFill>
                <a:effectLst/>
                <a:latin typeface="Studio-Feixen-Sans"/>
              </a:rPr>
              <a:t>a place</a:t>
            </a:r>
            <a:r>
              <a:rPr lang="en-US" sz="1800" b="0" i="0" u="none" strike="noStrike" dirty="0">
                <a:solidFill>
                  <a:srgbClr val="05192D"/>
                </a:solidFill>
                <a:effectLst/>
                <a:latin typeface="Studio-Feixen-Sans"/>
              </a:rPr>
              <a:t>, or </a:t>
            </a:r>
            <a:r>
              <a:rPr lang="en-US" sz="1800" b="0" i="1" u="none" strike="noStrike" dirty="0">
                <a:solidFill>
                  <a:srgbClr val="05192D"/>
                </a:solidFill>
                <a:effectLst/>
                <a:latin typeface="Studio-Feixen-Sans"/>
              </a:rPr>
              <a:t>a football player</a:t>
            </a:r>
            <a:r>
              <a:rPr lang="en-US" sz="1800" b="0" i="0" u="none" strike="noStrike" dirty="0">
                <a:solidFill>
                  <a:srgbClr val="05192D"/>
                </a:solidFill>
                <a:effectLst/>
                <a:latin typeface="Studio-Feixen-Sans"/>
              </a:rPr>
              <a:t> SCORED IN </a:t>
            </a:r>
            <a:r>
              <a:rPr lang="en-US" sz="1800" b="0" i="1" u="none" strike="noStrike" dirty="0">
                <a:solidFill>
                  <a:srgbClr val="05192D"/>
                </a:solidFill>
                <a:effectLst/>
                <a:latin typeface="Studio-Feixen-Sans"/>
              </a:rPr>
              <a:t>a match</a:t>
            </a:r>
            <a:r>
              <a:rPr lang="en-US" sz="1800" b="0" i="0" u="none" strike="noStrike" dirty="0">
                <a:solidFill>
                  <a:srgbClr val="05192D"/>
                </a:solidFill>
                <a:effectLst/>
                <a:latin typeface="Studio-Feixen-Sans"/>
              </a:rPr>
              <a:t>.</a:t>
            </a:r>
            <a:endParaRPr lang="en-US" sz="1800" b="0" i="0" dirty="0">
              <a:solidFill>
                <a:srgbClr val="05192D"/>
              </a:solidFill>
              <a:effectLst/>
              <a:latin typeface="Studio-Feixen-Sans"/>
            </a:endParaRPr>
          </a:p>
          <a:p>
            <a:pPr algn="l">
              <a:buFont typeface="Arial" panose="020B0604020202020204" pitchFamily="34" charset="0"/>
              <a:buChar char="•"/>
            </a:pPr>
            <a:r>
              <a:rPr lang="en-US" sz="1800" b="1" i="0" u="none" strike="noStrike" dirty="0">
                <a:solidFill>
                  <a:srgbClr val="05192D"/>
                </a:solidFill>
                <a:effectLst/>
                <a:latin typeface="Studio-Feixen-Sans"/>
              </a:rPr>
              <a:t>Properties (attributes for nodes/edges)</a:t>
            </a:r>
            <a:r>
              <a:rPr lang="en-US" sz="1800" b="0" i="0" u="none" strike="noStrike" dirty="0">
                <a:solidFill>
                  <a:srgbClr val="05192D"/>
                </a:solidFill>
                <a:effectLst/>
                <a:latin typeface="Studio-Feixen-Sans"/>
              </a:rPr>
              <a:t> like the age of a person, or when in the match the goal was scored.</a:t>
            </a:r>
            <a:endParaRPr lang="en-US" sz="1800" b="0" i="0" dirty="0">
              <a:solidFill>
                <a:srgbClr val="05192D"/>
              </a:solidFill>
              <a:effectLst/>
              <a:latin typeface="Studio-Feixen-Sans"/>
            </a:endParaRPr>
          </a:p>
          <a:p>
            <a:pPr marL="0" indent="0" algn="l" rtl="0">
              <a:buNone/>
            </a:pPr>
            <a:r>
              <a:rPr lang="en-US" sz="1800" b="0" i="0" u="none" strike="noStrike" dirty="0">
                <a:solidFill>
                  <a:srgbClr val="05192D"/>
                </a:solidFill>
                <a:effectLst/>
                <a:latin typeface="Studio-Feixen-Sans"/>
              </a:rPr>
              <a:t>This structure makes graph databases ideal for handling interconnected data in fields and applications such as social networks, recommendations, fraud detection, etc., often outperforming relational DBs in terms of querying efficiency. Here is the structure of a sample graph database :</a:t>
            </a:r>
            <a:endParaRPr lang="en-US" sz="1800" b="0" i="0" dirty="0">
              <a:solidFill>
                <a:srgbClr val="05192D"/>
              </a:solidFill>
              <a:effectLst/>
              <a:latin typeface="Studio-Feixen-Sans"/>
            </a:endParaRPr>
          </a:p>
          <a:p>
            <a:endParaRPr lang="en-IN" sz="1800" dirty="0"/>
          </a:p>
        </p:txBody>
      </p:sp>
      <p:pic>
        <p:nvPicPr>
          <p:cNvPr id="5" name="Picture 4">
            <a:extLst>
              <a:ext uri="{FF2B5EF4-FFF2-40B4-BE49-F238E27FC236}">
                <a16:creationId xmlns:a16="http://schemas.microsoft.com/office/drawing/2014/main" id="{DF76ED54-3030-BF0F-DF45-E36EA6E865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9514" y="3744149"/>
            <a:ext cx="4359577" cy="2666116"/>
          </a:xfrm>
          <a:prstGeom prst="rect">
            <a:avLst/>
          </a:prstGeom>
        </p:spPr>
      </p:pic>
      <p:sp>
        <p:nvSpPr>
          <p:cNvPr id="6" name="TextBox 5">
            <a:extLst>
              <a:ext uri="{FF2B5EF4-FFF2-40B4-BE49-F238E27FC236}">
                <a16:creationId xmlns:a16="http://schemas.microsoft.com/office/drawing/2014/main" id="{331BE5F8-CE38-CE46-FF6F-BC5AAF2C9935}"/>
              </a:ext>
            </a:extLst>
          </p:cNvPr>
          <p:cNvSpPr txBox="1"/>
          <p:nvPr/>
        </p:nvSpPr>
        <p:spPr>
          <a:xfrm>
            <a:off x="3548543" y="3816988"/>
            <a:ext cx="692818" cy="369332"/>
          </a:xfrm>
          <a:prstGeom prst="rect">
            <a:avLst/>
          </a:prstGeom>
          <a:noFill/>
        </p:spPr>
        <p:txBody>
          <a:bodyPr wrap="none" rtlCol="0">
            <a:spAutoFit/>
          </a:bodyPr>
          <a:lstStyle/>
          <a:p>
            <a:r>
              <a:rPr lang="en-US" dirty="0"/>
              <a:t>Node</a:t>
            </a:r>
            <a:endParaRPr lang="en-IN" dirty="0"/>
          </a:p>
        </p:txBody>
      </p:sp>
      <p:sp>
        <p:nvSpPr>
          <p:cNvPr id="7" name="TextBox 6">
            <a:extLst>
              <a:ext uri="{FF2B5EF4-FFF2-40B4-BE49-F238E27FC236}">
                <a16:creationId xmlns:a16="http://schemas.microsoft.com/office/drawing/2014/main" id="{BCB5F5AC-830A-43AA-C14B-E6B4800CF514}"/>
              </a:ext>
            </a:extLst>
          </p:cNvPr>
          <p:cNvSpPr txBox="1"/>
          <p:nvPr/>
        </p:nvSpPr>
        <p:spPr>
          <a:xfrm>
            <a:off x="4379053" y="6410265"/>
            <a:ext cx="780470" cy="369332"/>
          </a:xfrm>
          <a:prstGeom prst="rect">
            <a:avLst/>
          </a:prstGeom>
          <a:noFill/>
        </p:spPr>
        <p:txBody>
          <a:bodyPr wrap="none" rtlCol="0">
            <a:spAutoFit/>
          </a:bodyPr>
          <a:lstStyle/>
          <a:p>
            <a:r>
              <a:rPr lang="en-US" dirty="0" err="1"/>
              <a:t>Entitiy</a:t>
            </a:r>
            <a:endParaRPr lang="en-IN" dirty="0"/>
          </a:p>
        </p:txBody>
      </p:sp>
      <p:cxnSp>
        <p:nvCxnSpPr>
          <p:cNvPr id="9" name="Straight Arrow Connector 8">
            <a:extLst>
              <a:ext uri="{FF2B5EF4-FFF2-40B4-BE49-F238E27FC236}">
                <a16:creationId xmlns:a16="http://schemas.microsoft.com/office/drawing/2014/main" id="{90C7A723-2955-1371-4523-BB626F202429}"/>
              </a:ext>
            </a:extLst>
          </p:cNvPr>
          <p:cNvCxnSpPr>
            <a:cxnSpLocks/>
          </p:cNvCxnSpPr>
          <p:nvPr/>
        </p:nvCxnSpPr>
        <p:spPr>
          <a:xfrm>
            <a:off x="4241361" y="4118994"/>
            <a:ext cx="1135982" cy="5788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3739DD12-97D8-6C85-502E-E02EBE38A184}"/>
              </a:ext>
            </a:extLst>
          </p:cNvPr>
          <p:cNvCxnSpPr>
            <a:cxnSpLocks/>
            <a:stCxn id="6" idx="3"/>
          </p:cNvCxnSpPr>
          <p:nvPr/>
        </p:nvCxnSpPr>
        <p:spPr>
          <a:xfrm>
            <a:off x="4241361" y="4001654"/>
            <a:ext cx="4298632" cy="6961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56B9274C-A008-2AE5-3A6D-042669859D37}"/>
              </a:ext>
            </a:extLst>
          </p:cNvPr>
          <p:cNvCxnSpPr>
            <a:cxnSpLocks/>
          </p:cNvCxnSpPr>
          <p:nvPr/>
        </p:nvCxnSpPr>
        <p:spPr>
          <a:xfrm flipV="1">
            <a:off x="5159523" y="6410265"/>
            <a:ext cx="1862062" cy="19294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C78FDFD1-F8E5-336E-D8A7-C4CE4B7F42C4}"/>
              </a:ext>
            </a:extLst>
          </p:cNvPr>
          <p:cNvCxnSpPr>
            <a:cxnSpLocks/>
          </p:cNvCxnSpPr>
          <p:nvPr/>
        </p:nvCxnSpPr>
        <p:spPr>
          <a:xfrm flipV="1">
            <a:off x="5016617" y="5881759"/>
            <a:ext cx="2004968" cy="5285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48F1C119-84ED-3EDF-C304-6F3349F58B69}"/>
              </a:ext>
            </a:extLst>
          </p:cNvPr>
          <p:cNvCxnSpPr>
            <a:cxnSpLocks/>
          </p:cNvCxnSpPr>
          <p:nvPr/>
        </p:nvCxnSpPr>
        <p:spPr>
          <a:xfrm flipV="1">
            <a:off x="4915949" y="5289797"/>
            <a:ext cx="2105636" cy="11204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38681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147</Words>
  <Application>Microsoft Office PowerPoint</Application>
  <PresentationFormat>Widescreen</PresentationFormat>
  <Paragraphs>10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Studio-Feixen-Sans</vt:lpstr>
      <vt:lpstr>Office Theme</vt:lpstr>
      <vt:lpstr>Neo4J</vt:lpstr>
      <vt:lpstr>Create instance(TODO)</vt:lpstr>
      <vt:lpstr>Graph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ash322.ash422@gmail.com</dc:creator>
  <cp:lastModifiedBy>ash322.ash422@gmail.com</cp:lastModifiedBy>
  <cp:revision>12</cp:revision>
  <dcterms:created xsi:type="dcterms:W3CDTF">2025-03-28T16:31:15Z</dcterms:created>
  <dcterms:modified xsi:type="dcterms:W3CDTF">2025-03-29T02:45:55Z</dcterms:modified>
</cp:coreProperties>
</file>