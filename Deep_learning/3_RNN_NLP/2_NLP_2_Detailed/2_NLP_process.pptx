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99" r:id="rId3"/>
    <p:sldId id="285" r:id="rId4"/>
    <p:sldId id="298" r:id="rId5"/>
    <p:sldId id="300" r:id="rId6"/>
    <p:sldId id="260" r:id="rId7"/>
    <p:sldId id="291" r:id="rId8"/>
    <p:sldId id="258" r:id="rId9"/>
    <p:sldId id="281" r:id="rId10"/>
    <p:sldId id="292" r:id="rId11"/>
    <p:sldId id="293" r:id="rId12"/>
    <p:sldId id="282" r:id="rId13"/>
    <p:sldId id="294" r:id="rId14"/>
    <p:sldId id="286" r:id="rId15"/>
    <p:sldId id="295" r:id="rId16"/>
    <p:sldId id="280" r:id="rId17"/>
    <p:sldId id="259" r:id="rId18"/>
    <p:sldId id="262" r:id="rId19"/>
    <p:sldId id="297" r:id="rId20"/>
    <p:sldId id="263" r:id="rId21"/>
    <p:sldId id="287" r:id="rId22"/>
    <p:sldId id="261" r:id="rId23"/>
    <p:sldId id="265" r:id="rId24"/>
    <p:sldId id="266" r:id="rId25"/>
    <p:sldId id="303" r:id="rId26"/>
    <p:sldId id="267" r:id="rId27"/>
    <p:sldId id="268" r:id="rId28"/>
    <p:sldId id="264" r:id="rId29"/>
    <p:sldId id="283" r:id="rId30"/>
    <p:sldId id="302" r:id="rId31"/>
    <p:sldId id="284" r:id="rId32"/>
    <p:sldId id="270" r:id="rId33"/>
    <p:sldId id="279" r:id="rId34"/>
    <p:sldId id="269" r:id="rId35"/>
    <p:sldId id="271" r:id="rId36"/>
    <p:sldId id="272" r:id="rId37"/>
    <p:sldId id="301" r:id="rId38"/>
    <p:sldId id="288" r:id="rId39"/>
    <p:sldId id="273" r:id="rId40"/>
    <p:sldId id="289" r:id="rId41"/>
    <p:sldId id="274" r:id="rId42"/>
    <p:sldId id="290" r:id="rId43"/>
    <p:sldId id="277" r:id="rId44"/>
    <p:sldId id="278" r:id="rId45"/>
    <p:sldId id="27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2D65C-C524-4C1F-8047-728773BB3F03}">
      <dgm:prSet phldrT="[Text]" custT="1"/>
      <dgm:spPr/>
      <dgm:t>
        <a:bodyPr anchor="t"/>
        <a:lstStyle/>
        <a:p>
          <a:pPr algn="ctr"/>
          <a:r>
            <a:rPr lang="en-US" sz="2000" b="1" dirty="0"/>
            <a:t>1. Text Acquisition</a:t>
          </a:r>
        </a:p>
        <a:p>
          <a:pPr algn="ctr"/>
          <a:endParaRPr lang="en-US" sz="2000" dirty="0"/>
        </a:p>
        <a:p>
          <a:pPr algn="ctr"/>
          <a:r>
            <a:rPr lang="en-US" sz="2000" dirty="0"/>
            <a:t>Collect or load raw text data.</a:t>
          </a:r>
        </a:p>
        <a:p>
          <a:pPr algn="ctr"/>
          <a:r>
            <a:rPr lang="fr-FR" sz="2000" dirty="0"/>
            <a:t>Sources: files, </a:t>
          </a:r>
          <a:r>
            <a:rPr lang="fr-FR" sz="2000" dirty="0" err="1"/>
            <a:t>databases</a:t>
          </a:r>
          <a:r>
            <a:rPr lang="fr-FR" sz="2000" dirty="0"/>
            <a:t>, APIs (</a:t>
          </a:r>
          <a:r>
            <a:rPr lang="fr-FR" sz="2000" dirty="0" err="1"/>
            <a:t>e.g</a:t>
          </a:r>
          <a:r>
            <a:rPr lang="fr-FR" sz="2000" dirty="0"/>
            <a:t>., Twitter API), web </a:t>
          </a:r>
          <a:r>
            <a:rPr lang="fr-FR" sz="2000" dirty="0" err="1"/>
            <a:t>scraping</a:t>
          </a:r>
          <a:r>
            <a:rPr lang="fr-FR" sz="2000" dirty="0"/>
            <a:t>, etc.</a:t>
          </a:r>
          <a:endParaRPr lang="en-US" sz="2000" dirty="0"/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2000" b="1" dirty="0"/>
            <a:t>2. Text Cleaning (Preprocessing)</a:t>
          </a:r>
        </a:p>
        <a:p>
          <a:endParaRPr lang="en-US" sz="2000" dirty="0"/>
        </a:p>
        <a:p>
          <a:r>
            <a:rPr lang="en-US" sz="2000" dirty="0"/>
            <a:t>Lowercasing</a:t>
          </a:r>
        </a:p>
        <a:p>
          <a:endParaRPr lang="en-US" sz="2000" dirty="0"/>
        </a:p>
        <a:p>
          <a:r>
            <a:rPr lang="en-US" sz="2000" dirty="0"/>
            <a:t>Remove unwanted parts:</a:t>
          </a:r>
        </a:p>
        <a:p>
          <a:r>
            <a:rPr lang="en-US" sz="2000" dirty="0"/>
            <a:t>like punctuation, special characters, numbers, HTML tags, URLs, @</a:t>
          </a:r>
        </a:p>
        <a:p>
          <a:endParaRPr lang="en-US" sz="2000" dirty="0"/>
        </a:p>
        <a:p>
          <a:r>
            <a:rPr lang="en-US" sz="2000" dirty="0"/>
            <a:t>Remove emojis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2000" b="1" dirty="0"/>
            <a:t>3. Tokenization</a:t>
          </a:r>
        </a:p>
        <a:p>
          <a:endParaRPr lang="en-US" sz="2000" b="1" dirty="0"/>
        </a:p>
        <a:p>
          <a:r>
            <a:rPr lang="en-US" sz="2000" dirty="0"/>
            <a:t>Split text into individual words or </a:t>
          </a:r>
          <a:r>
            <a:rPr lang="en-US" sz="2000" dirty="0" err="1"/>
            <a:t>subwords</a:t>
          </a:r>
          <a:r>
            <a:rPr lang="en-US" sz="2000" dirty="0"/>
            <a:t>.</a:t>
          </a:r>
        </a:p>
        <a:p>
          <a:r>
            <a:rPr lang="en-US" sz="2000" dirty="0"/>
            <a:t>Example: "Virgin America is great" → ["Virgin", "America", "is", "great"]</a:t>
          </a:r>
        </a:p>
        <a:p>
          <a:r>
            <a:rPr lang="en-US" sz="2000" dirty="0"/>
            <a:t>Libraries: </a:t>
          </a:r>
          <a:r>
            <a:rPr lang="en-US" sz="2000" dirty="0" err="1"/>
            <a:t>nltk</a:t>
          </a:r>
          <a:r>
            <a:rPr lang="en-US" sz="2000" dirty="0"/>
            <a:t>, </a:t>
          </a:r>
          <a:r>
            <a:rPr lang="en-US" sz="2000" dirty="0" err="1"/>
            <a:t>spaCy</a:t>
          </a:r>
          <a:r>
            <a:rPr lang="en-US" sz="2000" dirty="0"/>
            <a:t>, transformers.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2000" b="1" dirty="0"/>
            <a:t>4. POS tagging &amp; Normalization</a:t>
          </a:r>
        </a:p>
        <a:p>
          <a:r>
            <a:rPr lang="en-US" sz="2000" b="0" dirty="0"/>
            <a:t>4.0) POS tagging improves normalization </a:t>
          </a:r>
        </a:p>
        <a:p>
          <a:r>
            <a:rPr lang="en-US" sz="2000" dirty="0"/>
            <a:t>4.1) Norm. makes words more uniform:</a:t>
          </a:r>
        </a:p>
        <a:p>
          <a:r>
            <a:rPr lang="en-US" sz="2000" b="1" dirty="0"/>
            <a:t>Stemming</a:t>
          </a:r>
          <a:r>
            <a:rPr lang="en-US" sz="2000" dirty="0"/>
            <a:t> (cut to root form): "running" → "run"</a:t>
          </a:r>
        </a:p>
        <a:p>
          <a:r>
            <a:rPr lang="en-US" sz="2000" b="1" dirty="0"/>
            <a:t>Lemmatization</a:t>
          </a:r>
          <a:r>
            <a:rPr lang="en-US" sz="2000" dirty="0"/>
            <a:t> (dictionary form): "better" → "good"</a:t>
          </a:r>
        </a:p>
        <a:p>
          <a:r>
            <a:rPr lang="en-US" sz="2000" dirty="0"/>
            <a:t>4.2) Norm. removes </a:t>
          </a:r>
          <a:r>
            <a:rPr lang="en-US" sz="2000" dirty="0" err="1"/>
            <a:t>stopwords</a:t>
          </a:r>
          <a:r>
            <a:rPr lang="en-US" sz="2000" dirty="0"/>
            <a:t> (common words like "is", "the").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ScaleX="103374" custLinFactNeighborX="-8361" custLinFactNeighborY="-516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 custLinFactNeighborX="-21576" custLinFactNeighborY="-2726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 custScaleX="127552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 custScaleX="129007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2D65C-C524-4C1F-8047-728773BB3F03}">
      <dgm:prSet phldrT="[Text]" custT="1"/>
      <dgm:spPr/>
      <dgm:t>
        <a:bodyPr/>
        <a:lstStyle/>
        <a:p>
          <a:r>
            <a:rPr lang="en-US" sz="2000" b="1" dirty="0"/>
            <a:t>5. Text Representation</a:t>
          </a:r>
        </a:p>
        <a:p>
          <a:r>
            <a:rPr lang="en-US" sz="2000" dirty="0"/>
            <a:t>Convert text into </a:t>
          </a:r>
          <a:r>
            <a:rPr lang="en-US" sz="2000" b="1" dirty="0"/>
            <a:t>numerical format</a:t>
          </a:r>
          <a:r>
            <a:rPr lang="en-US" sz="2000" dirty="0"/>
            <a:t> (models can't read raw text).</a:t>
          </a:r>
        </a:p>
        <a:p>
          <a:r>
            <a:rPr lang="en-US" sz="2000" dirty="0"/>
            <a:t>Methods:</a:t>
          </a:r>
        </a:p>
        <a:p>
          <a:r>
            <a:rPr lang="en-US" sz="2000" b="0" dirty="0"/>
            <a:t>a) N-gram</a:t>
          </a:r>
        </a:p>
        <a:p>
          <a:r>
            <a:rPr lang="en-US" sz="2000" b="0" dirty="0"/>
            <a:t>b) Bag of Words (</a:t>
          </a:r>
          <a:r>
            <a:rPr lang="en-US" sz="2000" b="0" dirty="0" err="1"/>
            <a:t>BoW</a:t>
          </a:r>
          <a:r>
            <a:rPr lang="en-US" sz="2000" b="0" dirty="0"/>
            <a:t>)</a:t>
          </a:r>
        </a:p>
        <a:p>
          <a:r>
            <a:rPr lang="en-US" sz="2000" b="0" dirty="0"/>
            <a:t>c) TF-IDF (Term Frequency - Inverse Document Frequency)</a:t>
          </a:r>
        </a:p>
        <a:p>
          <a:r>
            <a:rPr lang="en-US" sz="2000" b="0" dirty="0"/>
            <a:t>d) Word </a:t>
          </a:r>
          <a:r>
            <a:rPr lang="en-US" sz="2000" b="0" dirty="0" err="1"/>
            <a:t>Embeddings</a:t>
          </a:r>
          <a:r>
            <a:rPr lang="en-US" sz="2000" b="0" dirty="0"/>
            <a:t> (Word2Vec, </a:t>
          </a:r>
          <a:r>
            <a:rPr lang="en-US" sz="2000" b="0" dirty="0" err="1"/>
            <a:t>GloVe</a:t>
          </a:r>
          <a:r>
            <a:rPr lang="en-US" sz="2000" b="0" dirty="0"/>
            <a:t>, </a:t>
          </a:r>
          <a:r>
            <a:rPr lang="en-US" sz="2000" b="0" dirty="0" err="1"/>
            <a:t>FastText</a:t>
          </a:r>
          <a:r>
            <a:rPr lang="en-US" sz="2000" b="0" dirty="0"/>
            <a:t>)</a:t>
          </a:r>
        </a:p>
        <a:p>
          <a:r>
            <a:rPr lang="en-US" sz="2000" b="0" dirty="0"/>
            <a:t>d) Transformer </a:t>
          </a:r>
          <a:r>
            <a:rPr lang="en-US" sz="2000" b="0" dirty="0" err="1"/>
            <a:t>Embeddings</a:t>
          </a:r>
          <a:r>
            <a:rPr lang="en-US" sz="2000" b="0" dirty="0"/>
            <a:t> (BERT, </a:t>
          </a:r>
          <a:r>
            <a:rPr lang="en-US" sz="2000" b="0" dirty="0" err="1"/>
            <a:t>RoBERTa</a:t>
          </a:r>
          <a:r>
            <a:rPr lang="en-US" sz="2000" b="0" dirty="0"/>
            <a:t>, etc.)</a:t>
          </a:r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2000" b="1" dirty="0"/>
            <a:t>6. Model Building</a:t>
          </a:r>
        </a:p>
        <a:p>
          <a:r>
            <a:rPr lang="en-US" sz="2000" dirty="0"/>
            <a:t>Choose and train models:</a:t>
          </a:r>
        </a:p>
        <a:p>
          <a:endParaRPr lang="en-US" sz="2000" dirty="0"/>
        </a:p>
        <a:p>
          <a:r>
            <a:rPr lang="en-US" sz="2000" dirty="0"/>
            <a:t>Classical ML: Logistic Regression, SVM, Random Forest</a:t>
          </a:r>
        </a:p>
        <a:p>
          <a:endParaRPr lang="en-US" sz="2000" dirty="0"/>
        </a:p>
        <a:p>
          <a:r>
            <a:rPr lang="en-US" sz="2000" dirty="0"/>
            <a:t>Deep Learning: RNN, LSTM, GRU, Transformer</a:t>
          </a:r>
        </a:p>
        <a:p>
          <a:endParaRPr lang="en-US" sz="2000" dirty="0"/>
        </a:p>
        <a:p>
          <a:r>
            <a:rPr lang="en-US" sz="2000" dirty="0"/>
            <a:t>Pretrained Models: </a:t>
          </a:r>
        </a:p>
        <a:p>
          <a:r>
            <a:rPr lang="en-US" sz="2000" dirty="0"/>
            <a:t>BERT, GPT, etc.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2000" b="1" dirty="0"/>
            <a:t>7. Evaluation</a:t>
          </a:r>
        </a:p>
        <a:p>
          <a:r>
            <a:rPr lang="en-US" sz="2000" dirty="0"/>
            <a:t>Evaluate model performance using metrics:</a:t>
          </a:r>
        </a:p>
        <a:p>
          <a:r>
            <a:rPr lang="en-US" sz="2000" dirty="0"/>
            <a:t>Accuracy</a:t>
          </a:r>
        </a:p>
        <a:p>
          <a:r>
            <a:rPr lang="en-US" sz="2000" dirty="0"/>
            <a:t>Precision, Recall, F1-Score</a:t>
          </a:r>
        </a:p>
        <a:p>
          <a:r>
            <a:rPr lang="en-US" sz="2000" dirty="0"/>
            <a:t>Confusion Matrix</a:t>
          </a:r>
        </a:p>
        <a:p>
          <a:endParaRPr lang="en-US" sz="2000" dirty="0"/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2000" b="1" dirty="0"/>
            <a:t>8. </a:t>
          </a:r>
          <a:r>
            <a:rPr lang="en-US" sz="2000" b="1" dirty="0" err="1"/>
            <a:t>Postprocessing</a:t>
          </a:r>
          <a:endParaRPr lang="en-US" sz="2000" b="1" dirty="0"/>
        </a:p>
        <a:p>
          <a:r>
            <a:rPr lang="en-US" sz="2000" dirty="0"/>
            <a:t>Interpret model outputs.</a:t>
          </a:r>
        </a:p>
        <a:p>
          <a:endParaRPr lang="en-US" sz="2000" dirty="0"/>
        </a:p>
        <a:p>
          <a:r>
            <a:rPr lang="en-US" sz="2000" dirty="0"/>
            <a:t>Decode token IDs back to words if needed (in generation tasks).</a:t>
          </a:r>
        </a:p>
        <a:p>
          <a:endParaRPr lang="en-US" sz="2000" dirty="0"/>
        </a:p>
        <a:p>
          <a:r>
            <a:rPr lang="en-US" sz="2000" dirty="0"/>
            <a:t>Aggregate results or produce final labels (for classification tasks).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LinFactNeighborY="-3093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0" y="290103"/>
          <a:ext cx="2097743" cy="5323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1. Text Acquisition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Collect or load raw text data.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Sources: files, </a:t>
          </a:r>
          <a:r>
            <a:rPr lang="fr-FR" sz="2000" kern="1200" dirty="0" err="1"/>
            <a:t>databases</a:t>
          </a:r>
          <a:r>
            <a:rPr lang="fr-FR" sz="2000" kern="1200" dirty="0"/>
            <a:t>, APIs (</a:t>
          </a:r>
          <a:r>
            <a:rPr lang="fr-FR" sz="2000" kern="1200" dirty="0" err="1"/>
            <a:t>e.g</a:t>
          </a:r>
          <a:r>
            <a:rPr lang="fr-FR" sz="2000" kern="1200" dirty="0"/>
            <a:t>., Twitter API), web </a:t>
          </a:r>
          <a:r>
            <a:rPr lang="fr-FR" sz="2000" kern="1200" dirty="0" err="1"/>
            <a:t>scraping</a:t>
          </a:r>
          <a:r>
            <a:rPr lang="fr-FR" sz="2000" kern="1200" dirty="0"/>
            <a:t>, etc.</a:t>
          </a:r>
          <a:endParaRPr lang="en-US" sz="2000" kern="1200" dirty="0"/>
        </a:p>
      </dsp:txBody>
      <dsp:txXfrm>
        <a:off x="61441" y="351544"/>
        <a:ext cx="1974861" cy="5200799"/>
      </dsp:txXfrm>
    </dsp:sp>
    <dsp:sp modelId="{D89F832D-E3ED-4E37-854E-BD18B3B3376F}">
      <dsp:nvSpPr>
        <dsp:cNvPr id="0" name=""/>
        <dsp:cNvSpPr/>
      </dsp:nvSpPr>
      <dsp:spPr>
        <a:xfrm rot="29911">
          <a:off x="2208164" y="2699368"/>
          <a:ext cx="431497" cy="503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08166" y="2799457"/>
        <a:ext cx="302048" cy="301956"/>
      </dsp:txXfrm>
    </dsp:sp>
    <dsp:sp modelId="{4FAD35A4-61F3-418D-BE87-E52A64AFAABF}">
      <dsp:nvSpPr>
        <dsp:cNvPr id="0" name=""/>
        <dsp:cNvSpPr/>
      </dsp:nvSpPr>
      <dsp:spPr>
        <a:xfrm>
          <a:off x="2911858" y="317573"/>
          <a:ext cx="2588382" cy="5323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2. Text Cleaning (Preprocessing)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Lowercasing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unwanted parts: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like punctuation, special characters, numbers, HTML tags, URLs, @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emojis</a:t>
          </a:r>
        </a:p>
      </dsp:txBody>
      <dsp:txXfrm>
        <a:off x="2987669" y="393384"/>
        <a:ext cx="2436760" cy="5172059"/>
      </dsp:txXfrm>
    </dsp:sp>
    <dsp:sp modelId="{7115A0E0-D94C-4BEC-8C6E-8F6E167A80FC}">
      <dsp:nvSpPr>
        <dsp:cNvPr id="0" name=""/>
        <dsp:cNvSpPr/>
      </dsp:nvSpPr>
      <dsp:spPr>
        <a:xfrm>
          <a:off x="5703168" y="2727783"/>
          <a:ext cx="430206" cy="503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703168" y="2828435"/>
        <a:ext cx="301144" cy="301956"/>
      </dsp:txXfrm>
    </dsp:sp>
    <dsp:sp modelId="{0BED751A-81B5-4F78-8ACE-26CD8123C9DA}">
      <dsp:nvSpPr>
        <dsp:cNvPr id="0" name=""/>
        <dsp:cNvSpPr/>
      </dsp:nvSpPr>
      <dsp:spPr>
        <a:xfrm>
          <a:off x="6311951" y="317573"/>
          <a:ext cx="2029276" cy="5323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3. Tokenization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Split text into individual words or </a:t>
          </a:r>
          <a:r>
            <a:rPr lang="en-US" sz="2000" kern="1200" dirty="0" err="1"/>
            <a:t>subwords</a:t>
          </a:r>
          <a:r>
            <a:rPr lang="en-US" sz="2000" kern="1200" dirty="0"/>
            <a:t>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"Virgin America is great" → ["Virgin", "America", "is", "great"]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Libraries: </a:t>
          </a:r>
          <a:r>
            <a:rPr lang="en-US" sz="2000" kern="1200" dirty="0" err="1"/>
            <a:t>nltk</a:t>
          </a:r>
          <a:r>
            <a:rPr lang="en-US" sz="2000" kern="1200" dirty="0"/>
            <a:t>, </a:t>
          </a:r>
          <a:r>
            <a:rPr lang="en-US" sz="2000" kern="1200" dirty="0" err="1"/>
            <a:t>spaCy</a:t>
          </a:r>
          <a:r>
            <a:rPr lang="en-US" sz="2000" kern="1200" dirty="0"/>
            <a:t>, transformers.</a:t>
          </a:r>
        </a:p>
      </dsp:txBody>
      <dsp:txXfrm>
        <a:off x="6371386" y="377008"/>
        <a:ext cx="1910406" cy="5204811"/>
      </dsp:txXfrm>
    </dsp:sp>
    <dsp:sp modelId="{21319410-2170-4FC1-80BC-A15C57440B7B}">
      <dsp:nvSpPr>
        <dsp:cNvPr id="0" name=""/>
        <dsp:cNvSpPr/>
      </dsp:nvSpPr>
      <dsp:spPr>
        <a:xfrm>
          <a:off x="8544154" y="2727783"/>
          <a:ext cx="430206" cy="503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544154" y="2828435"/>
        <a:ext cx="301144" cy="301956"/>
      </dsp:txXfrm>
    </dsp:sp>
    <dsp:sp modelId="{E8DD1799-27EF-49F2-854E-787D75467B88}">
      <dsp:nvSpPr>
        <dsp:cNvPr id="0" name=""/>
        <dsp:cNvSpPr/>
      </dsp:nvSpPr>
      <dsp:spPr>
        <a:xfrm>
          <a:off x="9152937" y="317573"/>
          <a:ext cx="2617908" cy="5323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4. POS tagging &amp; Normalization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4.0) POS tagging improves normalization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4.1) Norm. makes words more uniform: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Stemming</a:t>
          </a:r>
          <a:r>
            <a:rPr lang="en-US" sz="2000" kern="1200" dirty="0"/>
            <a:t> (cut to root form): "running" → "run"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Lemmatization</a:t>
          </a:r>
          <a:r>
            <a:rPr lang="en-US" sz="2000" kern="1200" dirty="0"/>
            <a:t> (dictionary form): "better" → "good"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4.2) Norm. removes </a:t>
          </a:r>
          <a:r>
            <a:rPr lang="en-US" sz="2000" kern="1200" dirty="0" err="1"/>
            <a:t>stopwords</a:t>
          </a:r>
          <a:r>
            <a:rPr lang="en-US" sz="2000" kern="1200" dirty="0"/>
            <a:t> (common words like "is", "the").</a:t>
          </a:r>
        </a:p>
      </dsp:txBody>
      <dsp:txXfrm>
        <a:off x="9229613" y="394249"/>
        <a:ext cx="2464556" cy="5170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10905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5. Text Representation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Convert text into </a:t>
          </a:r>
          <a:r>
            <a:rPr lang="en-US" sz="2000" b="1" kern="1200" dirty="0"/>
            <a:t>numerical format</a:t>
          </a:r>
          <a:r>
            <a:rPr lang="en-US" sz="2000" kern="1200" dirty="0"/>
            <a:t> (models can't read raw text).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a) N-gram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b) Bag of Words (</a:t>
          </a:r>
          <a:r>
            <a:rPr lang="en-US" sz="2000" b="0" kern="1200" dirty="0" err="1"/>
            <a:t>BoW</a:t>
          </a:r>
          <a:r>
            <a:rPr lang="en-US" sz="2000" b="0" kern="1200" dirty="0"/>
            <a:t>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c) TF-IDF (Term Frequency - Inverse Document Frequency)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d) Word </a:t>
          </a:r>
          <a:r>
            <a:rPr lang="en-US" sz="2000" b="0" kern="1200" dirty="0" err="1"/>
            <a:t>Embeddings</a:t>
          </a:r>
          <a:r>
            <a:rPr lang="en-US" sz="2000" b="0" kern="1200" dirty="0"/>
            <a:t> (Word2Vec, </a:t>
          </a:r>
          <a:r>
            <a:rPr lang="en-US" sz="2000" b="0" kern="1200" dirty="0" err="1"/>
            <a:t>GloVe</a:t>
          </a:r>
          <a:r>
            <a:rPr lang="en-US" sz="2000" b="0" kern="1200" dirty="0"/>
            <a:t>, </a:t>
          </a:r>
          <a:r>
            <a:rPr lang="en-US" sz="2000" b="0" kern="1200" dirty="0" err="1"/>
            <a:t>FastText</a:t>
          </a:r>
          <a:r>
            <a:rPr lang="en-US" sz="2000" b="0" kern="1200" dirty="0"/>
            <a:t>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d) Transformer </a:t>
          </a:r>
          <a:r>
            <a:rPr lang="en-US" sz="2000" b="0" kern="1200" dirty="0" err="1"/>
            <a:t>Embeddings</a:t>
          </a:r>
          <a:r>
            <a:rPr lang="en-US" sz="2000" b="0" kern="1200" dirty="0"/>
            <a:t> (BERT, </a:t>
          </a:r>
          <a:r>
            <a:rPr lang="en-US" sz="2000" b="0" kern="1200" dirty="0" err="1"/>
            <a:t>RoBERTa</a:t>
          </a:r>
          <a:r>
            <a:rPr lang="en-US" sz="2000" b="0" kern="1200" dirty="0"/>
            <a:t>, etc.)</a:t>
          </a:r>
        </a:p>
      </dsp:txBody>
      <dsp:txXfrm>
        <a:off x="77024" y="66119"/>
        <a:ext cx="2125229" cy="6460585"/>
      </dsp:txXfrm>
    </dsp:sp>
    <dsp:sp modelId="{D89F832D-E3ED-4E37-854E-BD18B3B3376F}">
      <dsp:nvSpPr>
        <dsp:cNvPr id="0" name=""/>
        <dsp:cNvSpPr/>
      </dsp:nvSpPr>
      <dsp:spPr>
        <a:xfrm>
          <a:off x="2494119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494119" y="3128456"/>
        <a:ext cx="335008" cy="335911"/>
      </dsp:txXfrm>
    </dsp:sp>
    <dsp:sp modelId="{4FAD35A4-61F3-418D-BE87-E52A64AFAABF}">
      <dsp:nvSpPr>
        <dsp:cNvPr id="0" name=""/>
        <dsp:cNvSpPr/>
      </dsp:nvSpPr>
      <dsp:spPr>
        <a:xfrm>
          <a:off x="3171359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6. Model Building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Choose and train models: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Classical ML: Logistic Regression, SVM, Random Forest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Deep Learning: RNN, LSTM, GRU, Transformer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Pretrained Models: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BERT, GPT, etc.</a:t>
          </a:r>
        </a:p>
      </dsp:txBody>
      <dsp:txXfrm>
        <a:off x="3237478" y="66119"/>
        <a:ext cx="2125229" cy="6460585"/>
      </dsp:txXfrm>
    </dsp:sp>
    <dsp:sp modelId="{7115A0E0-D94C-4BEC-8C6E-8F6E167A80FC}">
      <dsp:nvSpPr>
        <dsp:cNvPr id="0" name=""/>
        <dsp:cNvSpPr/>
      </dsp:nvSpPr>
      <dsp:spPr>
        <a:xfrm>
          <a:off x="5654573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54573" y="3128456"/>
        <a:ext cx="335008" cy="335911"/>
      </dsp:txXfrm>
    </dsp:sp>
    <dsp:sp modelId="{0BED751A-81B5-4F78-8ACE-26CD8123C9DA}">
      <dsp:nvSpPr>
        <dsp:cNvPr id="0" name=""/>
        <dsp:cNvSpPr/>
      </dsp:nvSpPr>
      <dsp:spPr>
        <a:xfrm>
          <a:off x="6331813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7. Evaluation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Evaluate model performance using metrics: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Accuracy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Precision, Recall, F1-Score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Confusion Matrix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6397932" y="66119"/>
        <a:ext cx="2125229" cy="6460585"/>
      </dsp:txXfrm>
    </dsp:sp>
    <dsp:sp modelId="{21319410-2170-4FC1-80BC-A15C57440B7B}">
      <dsp:nvSpPr>
        <dsp:cNvPr id="0" name=""/>
        <dsp:cNvSpPr/>
      </dsp:nvSpPr>
      <dsp:spPr>
        <a:xfrm>
          <a:off x="8815027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815027" y="3128456"/>
        <a:ext cx="335008" cy="335911"/>
      </dsp:txXfrm>
    </dsp:sp>
    <dsp:sp modelId="{E8DD1799-27EF-49F2-854E-787D75467B88}">
      <dsp:nvSpPr>
        <dsp:cNvPr id="0" name=""/>
        <dsp:cNvSpPr/>
      </dsp:nvSpPr>
      <dsp:spPr>
        <a:xfrm>
          <a:off x="9492268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8. </a:t>
          </a:r>
          <a:r>
            <a:rPr lang="en-US" sz="2000" b="1" kern="1200" dirty="0" err="1"/>
            <a:t>Postprocessing</a:t>
          </a: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Interpret model outputs.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Decode token IDs back to words if needed (in generation tasks).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Aggregate results or produce final labels (for classification tasks).</a:t>
          </a:r>
        </a:p>
      </dsp:txBody>
      <dsp:txXfrm>
        <a:off x="9558387" y="66119"/>
        <a:ext cx="2125229" cy="646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NLP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2963-E5F4-F136-3467-6895D410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E362A-0008-D07F-2A6D-27EB0D8B2D3E}"/>
              </a:ext>
            </a:extLst>
          </p:cNvPr>
          <p:cNvSpPr txBox="1"/>
          <p:nvPr/>
        </p:nvSpPr>
        <p:spPr>
          <a:xfrm>
            <a:off x="3216758" y="2532888"/>
            <a:ext cx="665876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</a:t>
            </a:r>
          </a:p>
        </p:txBody>
      </p:sp>
    </p:spTree>
    <p:extLst>
      <p:ext uri="{BB962C8B-B14F-4D97-AF65-F5344CB8AC3E}">
        <p14:creationId xmlns:p14="http://schemas.microsoft.com/office/powerpoint/2010/main" val="346145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231" y="3441680"/>
            <a:ext cx="77011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following corpus that contains product reviews from all customers: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1: "The delivery was fast. The product arrived intact. 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2: “Awesome service, but the product was old."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3: “Timely response. Excellent customer support."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4: “I liked the book. It was brand new as described."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{Rev 1, Rev 2, Rev 3, Rev 4 }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 customer reviews -&gt; there are 4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6408" y="3647314"/>
            <a:ext cx="4220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determine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 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any 1 of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documents it has,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(tokens), &lt;-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(vocabulary size).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5731A-61A0-BAD5-0752-6DF895F619D6}"/>
              </a:ext>
            </a:extLst>
          </p:cNvPr>
          <p:cNvSpPr txBox="1"/>
          <p:nvPr/>
        </p:nvSpPr>
        <p:spPr>
          <a:xfrm>
            <a:off x="135231" y="0"/>
            <a:ext cx="2327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701C2-4185-D5B1-6F03-CEBE61EDFDCB}"/>
              </a:ext>
            </a:extLst>
          </p:cNvPr>
          <p:cNvSpPr txBox="1"/>
          <p:nvPr/>
        </p:nvSpPr>
        <p:spPr>
          <a:xfrm>
            <a:off x="258482" y="533031"/>
            <a:ext cx="11675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corpus is a structured collection of text data, often used as a dataset for training NLP models. It can include various types of text, such as books, articles, and social media posts. 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NLP, a document can refer to a single text unit, such 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sentence, paragraph, or entire article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 The definition of a document can be flexible depending on the specific NLP task. </a:t>
            </a:r>
          </a:p>
        </p:txBody>
      </p:sp>
    </p:spTree>
    <p:extLst>
      <p:ext uri="{BB962C8B-B14F-4D97-AF65-F5344CB8AC3E}">
        <p14:creationId xmlns:p14="http://schemas.microsoft.com/office/powerpoint/2010/main" val="343091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CCCA-9240-56E9-8EC5-A8249FB8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423D90-6EBE-70EC-4235-EC57D055D02D}"/>
              </a:ext>
            </a:extLst>
          </p:cNvPr>
          <p:cNvSpPr txBox="1"/>
          <p:nvPr/>
        </p:nvSpPr>
        <p:spPr>
          <a:xfrm>
            <a:off x="256032" y="2414213"/>
            <a:ext cx="106801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1: "The delivery was fast. The product arrived intact. 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2: “Awesome service, but the product was old."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3: “Timely response. Excellent customer support."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4: “I liked the book. It was brand new as described."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Document1 has 2 sentence in it.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Unique set of words across all corpus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your corpus, the vocabulary is: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arrived, as, awesome, book, brand, but, customer, delivery, described, excellent, fast, intact, it, liked, new, old, product, response, service, support, the, timely, was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7B1D5-BD0F-C962-6180-A7B1A3A2988A}"/>
              </a:ext>
            </a:extLst>
          </p:cNvPr>
          <p:cNvSpPr txBox="1"/>
          <p:nvPr/>
        </p:nvSpPr>
        <p:spPr>
          <a:xfrm>
            <a:off x="256032" y="611970"/>
            <a:ext cx="114391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grammatically complete idea within that document.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/ dictionary: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vocabulary is a list of all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appear in the corpus. It's essentially a set of distinct tokens within the text data.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CE0E3-9362-D389-A5AE-25DA567DDA18}"/>
              </a:ext>
            </a:extLst>
          </p:cNvPr>
          <p:cNvSpPr txBox="1"/>
          <p:nvPr/>
        </p:nvSpPr>
        <p:spPr>
          <a:xfrm>
            <a:off x="135231" y="0"/>
            <a:ext cx="2327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terms:</a:t>
            </a:r>
          </a:p>
        </p:txBody>
      </p:sp>
    </p:spTree>
    <p:extLst>
      <p:ext uri="{BB962C8B-B14F-4D97-AF65-F5344CB8AC3E}">
        <p14:creationId xmlns:p14="http://schemas.microsoft.com/office/powerpoint/2010/main" val="39108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7676-BEDF-136B-A433-4B8D6655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B012BD-B029-3216-9332-86E76C713F1C}"/>
              </a:ext>
            </a:extLst>
          </p:cNvPr>
          <p:cNvSpPr txBox="1"/>
          <p:nvPr/>
        </p:nvSpPr>
        <p:spPr>
          <a:xfrm>
            <a:off x="3216758" y="2532888"/>
            <a:ext cx="665876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Process</a:t>
            </a:r>
          </a:p>
        </p:txBody>
      </p:sp>
    </p:spTree>
    <p:extLst>
      <p:ext uri="{BB962C8B-B14F-4D97-AF65-F5344CB8AC3E}">
        <p14:creationId xmlns:p14="http://schemas.microsoft.com/office/powerpoint/2010/main" val="199557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59644293"/>
              </p:ext>
            </p:extLst>
          </p:nvPr>
        </p:nvGraphicFramePr>
        <p:xfrm>
          <a:off x="176169" y="478548"/>
          <a:ext cx="11773250" cy="595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60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ED0A-BB1B-0C8A-1775-B5BD6EB7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B6F99B-C884-9078-111D-307CD91C7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9953549"/>
              </p:ext>
            </p:extLst>
          </p:nvPr>
        </p:nvGraphicFramePr>
        <p:xfrm>
          <a:off x="109057" y="128016"/>
          <a:ext cx="11760641" cy="6592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40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9297DE-B38B-67BF-489E-7EC1E7BA7F56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355" y="669441"/>
            <a:ext cx="695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for NLP datasets: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https://ics.uci.edu/~smyth/courses/cs175/text_data_sets.html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https://github.com/niderhoff/nlp-datasets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211E5-0B27-6587-E44E-C44109C00BA9}"/>
              </a:ext>
            </a:extLst>
          </p:cNvPr>
          <p:cNvSpPr txBox="1"/>
          <p:nvPr/>
        </p:nvSpPr>
        <p:spPr>
          <a:xfrm>
            <a:off x="306324" y="2122623"/>
            <a:ext cx="12001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File-Based Extraction: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and HTML: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can be extracted from these file formats using specialized libraries and tools.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Files: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directly imported and processed for analysis.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imported into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 common format for data manipulation and analysis in Python. </a:t>
            </a:r>
          </a:p>
        </p:txBody>
      </p:sp>
    </p:spTree>
    <p:extLst>
      <p:ext uri="{BB962C8B-B14F-4D97-AF65-F5344CB8AC3E}">
        <p14:creationId xmlns:p14="http://schemas.microsoft.com/office/powerpoint/2010/main" val="277734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FB579E-E005-355F-4965-4BBDCAFB6ECE}"/>
              </a:ext>
            </a:extLst>
          </p:cNvPr>
          <p:cNvSpPr txBox="1"/>
          <p:nvPr/>
        </p:nvSpPr>
        <p:spPr>
          <a:xfrm>
            <a:off x="326471" y="1147447"/>
            <a:ext cx="110578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 Tools: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 like Beautiful Soup and Scrapy can be used to extract text from websites.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Integration: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provide structured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can provide access to structured text data, such as news articles, social media posts, or product reviews.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9E8C3-5B7A-BDE8-D54B-775A52FB8FB8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297090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0883-10BC-4285-4F50-71165FD8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5FC599-311C-7364-A386-CA908E80FFE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37414-70D7-811A-3134-A679E042B38B}"/>
              </a:ext>
            </a:extLst>
          </p:cNvPr>
          <p:cNvSpPr txBox="1"/>
          <p:nvPr/>
        </p:nvSpPr>
        <p:spPr>
          <a:xfrm>
            <a:off x="493776" y="919401"/>
            <a:ext cx="10561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Data Augmentation(see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you have data (X, Y), where X is a sentence(e.g. product review) and Y(e.g. sentiment) is its corresponding label.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data augmentation, we transform this X and create X’ out of it, while still preserving the label 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(X, Y) ——T——&gt; (X’, Y)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6053F6-2551-F691-A2F2-8CAAB12DF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0553"/>
              </p:ext>
            </p:extLst>
          </p:nvPr>
        </p:nvGraphicFramePr>
        <p:xfrm>
          <a:off x="306324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movie was amazing.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highly recommend this 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Waste of my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E49535-BD1A-26DD-7F8C-BED4E1F25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03613"/>
              </p:ext>
            </p:extLst>
          </p:nvPr>
        </p:nvGraphicFramePr>
        <p:xfrm>
          <a:off x="6795516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</a:t>
                      </a:r>
                      <a:r>
                        <a:rPr lang="en-US" b="1" dirty="0"/>
                        <a:t>picture</a:t>
                      </a:r>
                      <a:r>
                        <a:rPr lang="en-US" dirty="0"/>
                        <a:t> was </a:t>
                      </a:r>
                      <a:r>
                        <a:rPr lang="en-US" b="1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</a:t>
                      </a:r>
                      <a:r>
                        <a:rPr lang="en-US" b="1" dirty="0"/>
                        <a:t>strongly suggest</a:t>
                      </a:r>
                      <a:r>
                        <a:rPr lang="en-US" dirty="0"/>
                        <a:t> the </a:t>
                      </a:r>
                      <a:r>
                        <a:rPr lang="en-US" b="1" dirty="0"/>
                        <a:t>picture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 wasted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6D63FC47-98DA-0B56-0AEA-03705AF5F63E}"/>
              </a:ext>
            </a:extLst>
          </p:cNvPr>
          <p:cNvSpPr/>
          <p:nvPr/>
        </p:nvSpPr>
        <p:spPr>
          <a:xfrm>
            <a:off x="5774436" y="4379976"/>
            <a:ext cx="790956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CBE5-8E38-8032-CEF5-D46991DF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CA8093-E078-A5A8-6306-B547B2548AD2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517EC-9961-22F4-220F-744418F7B340}"/>
              </a:ext>
            </a:extLst>
          </p:cNvPr>
          <p:cNvSpPr txBox="1"/>
          <p:nvPr/>
        </p:nvSpPr>
        <p:spPr>
          <a:xfrm>
            <a:off x="493776" y="919401"/>
            <a:ext cx="105613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d.1) Synonym Replacement: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words with synonyms to create variations in the dataset.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cheap smartphones.“ -&gt; "affordable mobile phones"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We can also do antonym replacement, but it would make sense in sentiment analysis: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 liked the spoons, +) -&gt; (I hated the spoons, -)</a:t>
            </a:r>
          </a:p>
        </p:txBody>
      </p:sp>
    </p:spTree>
    <p:extLst>
      <p:ext uri="{BB962C8B-B14F-4D97-AF65-F5344CB8AC3E}">
        <p14:creationId xmlns:p14="http://schemas.microsoft.com/office/powerpoint/2010/main" val="351423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B8AE19-36A8-860D-827A-5C6C7A98957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82A43D-6FCF-6883-A664-7849E4320087}"/>
              </a:ext>
            </a:extLst>
          </p:cNvPr>
          <p:cNvSpPr txBox="1"/>
          <p:nvPr/>
        </p:nvSpPr>
        <p:spPr>
          <a:xfrm>
            <a:off x="384048" y="536692"/>
            <a:ext cx="110368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d.2) Back Translation: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Translate text to another language and then back to the original, introducing diverse phrasing.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1: English → French → English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2: English → German → French → English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 (English):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weather is nice today, and I feel like going for a walk.“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French: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"Il fait beau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aujourd'hui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j'ai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 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promener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English: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"It is beautiful today and I want to go for a walk."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CE8F7A0-E857-31F0-A168-42CD3C67CEE1}"/>
              </a:ext>
            </a:extLst>
          </p:cNvPr>
          <p:cNvSpPr/>
          <p:nvPr/>
        </p:nvSpPr>
        <p:spPr>
          <a:xfrm>
            <a:off x="3648456" y="3537513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457A0DF-5048-8668-AC7D-39FB5F332085}"/>
              </a:ext>
            </a:extLst>
          </p:cNvPr>
          <p:cNvSpPr/>
          <p:nvPr/>
        </p:nvSpPr>
        <p:spPr>
          <a:xfrm>
            <a:off x="3718560" y="5145024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5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94F91-B5E4-FED2-0424-05269D7A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092942-47F2-B424-ABB2-5900C93C30DB}"/>
              </a:ext>
            </a:extLst>
          </p:cNvPr>
          <p:cNvSpPr txBox="1">
            <a:spLocks/>
          </p:cNvSpPr>
          <p:nvPr/>
        </p:nvSpPr>
        <p:spPr>
          <a:xfrm>
            <a:off x="306325" y="486561"/>
            <a:ext cx="10885994" cy="5806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d.3) Paraphrasing: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Rephrasing sentences while maintaining the original intent can also be used for data augmentation.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"She completed the project before the deadline."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Paraphrased Versions: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project was finished by her ahead of the deadline."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"She wrapped up the project on time."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"Before the deadline, she managed to complete the project."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"Her project was done prior to the due date.“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QuillBot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E1C2-4662-A1DD-7838-CA275810515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410705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93192" y="638960"/>
            <a:ext cx="11631168" cy="5728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d.4) Adding Noise: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random noise or perturbations to augment data.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"The manager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 Paraphrased Versions: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Swap (common typo):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Deletion: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manger approved the new policy yesterday."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“manger” — which also creates a valid but incorrect word)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Word: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"Manager approved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(Dropped “The” and “the” — still understandable, often found in informal 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BE41D-D259-0E4B-77E8-853C4F25E725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145742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D5229-13B9-7839-6583-974FC2DF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766EF-6EBC-9881-9712-F61C5A2891EB}"/>
              </a:ext>
            </a:extLst>
          </p:cNvPr>
          <p:cNvSpPr txBox="1">
            <a:spLocks/>
          </p:cNvSpPr>
          <p:nvPr/>
        </p:nvSpPr>
        <p:spPr>
          <a:xfrm>
            <a:off x="393192" y="638961"/>
            <a:ext cx="11631168" cy="3192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4.4) Adding Noise: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Homophone Confusion: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manager approved the knew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(“new” → “knew” — valid word, wrong context)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Keyboard Proximity Error: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manager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approvdd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(Double 'd' for 'ed' — a common fast-typing error)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A4778-1D7F-156C-B5FE-C2E09EA5B5C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977661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3EB219-3312-5E15-0B12-71CFD4E769D6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FECAD-CC22-01C7-FB3E-4C1473D69FC8}"/>
              </a:ext>
            </a:extLst>
          </p:cNvPr>
          <p:cNvSpPr txBox="1"/>
          <p:nvPr/>
        </p:nvSpPr>
        <p:spPr>
          <a:xfrm>
            <a:off x="228600" y="717215"/>
            <a:ext cx="116677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 need it in NLP sequential data?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is messy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Tweets, customer reviews, comments, etc. often have typos, emojis, hashtags, URLs, user mentions, extra spaces, casing differences, etc.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Consistency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Different variations like happy, Happy, and HAPPY should mean the same thing, but without cleaning, the model sees them as completely different words.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Smaller, cleaner vocabularies lead to faster training and better generalization.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 removal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Removes unnecessary data that could confuse the model (like HTML tags, random symbols).</a:t>
            </a:r>
          </a:p>
        </p:txBody>
      </p:sp>
    </p:spTree>
    <p:extLst>
      <p:ext uri="{BB962C8B-B14F-4D97-AF65-F5344CB8AC3E}">
        <p14:creationId xmlns:p14="http://schemas.microsoft.com/office/powerpoint/2010/main" val="5605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2805"/>
              </p:ext>
            </p:extLst>
          </p:nvPr>
        </p:nvGraphicFramePr>
        <p:xfrm>
          <a:off x="420624" y="855677"/>
          <a:ext cx="11550464" cy="5544642"/>
        </p:xfrm>
        <a:graphic>
          <a:graphicData uri="http://schemas.openxmlformats.org/drawingml/2006/table">
            <a:tbl>
              <a:tblPr/>
              <a:tblGrid>
                <a:gridCol w="3154942">
                  <a:extLst>
                    <a:ext uri="{9D8B030D-6E8A-4147-A177-3AD203B41FA5}">
                      <a16:colId xmlns:a16="http://schemas.microsoft.com/office/drawing/2014/main" val="2616763590"/>
                    </a:ext>
                  </a:extLst>
                </a:gridCol>
                <a:gridCol w="3935700">
                  <a:extLst>
                    <a:ext uri="{9D8B030D-6E8A-4147-A177-3AD203B41FA5}">
                      <a16:colId xmlns:a16="http://schemas.microsoft.com/office/drawing/2014/main" val="3884659483"/>
                    </a:ext>
                  </a:extLst>
                </a:gridCol>
                <a:gridCol w="4459822">
                  <a:extLst>
                    <a:ext uri="{9D8B030D-6E8A-4147-A177-3AD203B41FA5}">
                      <a16:colId xmlns:a16="http://schemas.microsoft.com/office/drawing/2014/main" val="4226176823"/>
                    </a:ext>
                  </a:extLst>
                </a:gridCol>
              </a:tblGrid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Cleaning Step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36113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Lowercasing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uniform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"Happy" → "happy"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4995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user mentions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noise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"@user123"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733282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URLs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web links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"Visit http://..."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0378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HTML tags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Tags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do not hold important info..(but heading may)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&lt;p&gt;This is good movie&lt;/p&gt;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-&gt;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This is good movie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60785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punctuation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Reduce unnecessary tokens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"Wow!!!" → "Wow"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765656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numbers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Optional, depends on task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am 20 years old" → "I am years old"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59040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extra whitespace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neat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"Hello    world" → "Hello world"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874173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stop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Remove very common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"the", "is", "in"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79349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Spelling correction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(Optional, heavy) Correct typos, library-&gt;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pyspellchecker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"recieve" → "receive"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51009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or replacing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/special chars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Clean text for simple models or replace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with actual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❤️ AI" → "I AI“ or “I love AI”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14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4B6E77-C385-3BAD-4250-0C708D1D6E4F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 Why we need it in NLP sequential data?</a:t>
            </a:r>
          </a:p>
        </p:txBody>
      </p:sp>
    </p:spTree>
    <p:extLst>
      <p:ext uri="{BB962C8B-B14F-4D97-AF65-F5344CB8AC3E}">
        <p14:creationId xmlns:p14="http://schemas.microsoft.com/office/powerpoint/2010/main" val="335077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99554"/>
            <a:ext cx="103307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Simple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"Virgin America is my favorite airline!"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['Virgin', 'America', 'is', 'my', 'favorite', 'airline',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Here, the text is split into separate sentences.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a paragraph: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"Virgin America is great. I had a wonderful experience! Highly recommended."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 America is great.',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'I had a wonderful experience!',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'Highly recommended.']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B6E67-2AB0-6897-D55C-7827F2B6CD2F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238930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64FA-E5CC-98C4-E3D1-A0A02ED1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07E44-D257-6FED-C14E-DBBB2D9ADD24}"/>
              </a:ext>
            </a:extLst>
          </p:cNvPr>
          <p:cNvSpPr txBox="1"/>
          <p:nvPr/>
        </p:nvSpPr>
        <p:spPr>
          <a:xfrm>
            <a:off x="343949" y="799554"/>
            <a:ext cx="11524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 BERT tokenizer)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"Unbelievable service!"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Tokens: ['un', '##believable', 'service',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Notice: un and believable are split because BERT uses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WordPiece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tokenization, handling rare words more efficiently.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3F392-7937-90FD-25BD-069B64D03D4C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156701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846533"/>
            <a:ext cx="106834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Character-level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"Airline"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Tokens: ['A',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'r', 'l',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'n', 'e']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5: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preserving hashtags, mentions, etc. (Twitter data)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"Thanks @VirginAmerica for the amazing service! #happycustomer“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['Thanks', '@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VirginAmerica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'for', 'the', 'amazing', 'service', '!', '#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happycustomer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6C383-0E33-1732-2D45-181650895928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3072675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31184"/>
            <a:ext cx="1086813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tokenization, it would be hard to understand: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words occur most frequently?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sentence sentiment? If you lot of words like : love, recommended, enjoy, liked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words are meaningful (e.g., named entities)?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 of tokenization: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text data manageable: Tokenization breaks down large text into smaller, more easily processed chunks, making it easier for NLP models to work with. 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Lays the foundation for other NLP tasks: Tokenization is a fundamental step that enables various other NLP tasks, such as text classification, sentiment analysis, machine translation, and language modeling. 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Enables text-to-numerical conversion: Sentence -&gt; Tokens -&gt; Numerical form(King, Queen, Castle, Fish, Ocean ) King, Queen and Castle are close to each other and Fish, Ocean are close Tokenization is crucial for converting raw text into a numerical format that machine learning models can process, as they typically work with numbers rather than raw text.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F753D-9FD0-A835-FDFA-646C50868635}"/>
              </a:ext>
            </a:extLst>
          </p:cNvPr>
          <p:cNvSpPr txBox="1"/>
          <p:nvPr/>
        </p:nvSpPr>
        <p:spPr>
          <a:xfrm>
            <a:off x="297180" y="14451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Why do we need it ?</a:t>
            </a:r>
          </a:p>
        </p:txBody>
      </p:sp>
    </p:spTree>
    <p:extLst>
      <p:ext uri="{BB962C8B-B14F-4D97-AF65-F5344CB8AC3E}">
        <p14:creationId xmlns:p14="http://schemas.microsoft.com/office/powerpoint/2010/main" val="630834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33464"/>
              </p:ext>
            </p:extLst>
          </p:nvPr>
        </p:nvGraphicFramePr>
        <p:xfrm>
          <a:off x="356616" y="1625950"/>
          <a:ext cx="11384280" cy="3108960"/>
        </p:xfrm>
        <a:graphic>
          <a:graphicData uri="http://schemas.openxmlformats.org/drawingml/2006/table">
            <a:tbl>
              <a:tblPr/>
              <a:tblGrid>
                <a:gridCol w="2253092">
                  <a:extLst>
                    <a:ext uri="{9D8B030D-6E8A-4147-A177-3AD203B41FA5}">
                      <a16:colId xmlns:a16="http://schemas.microsoft.com/office/drawing/2014/main" val="3717618253"/>
                    </a:ext>
                  </a:extLst>
                </a:gridCol>
                <a:gridCol w="3439048">
                  <a:extLst>
                    <a:ext uri="{9D8B030D-6E8A-4147-A177-3AD203B41FA5}">
                      <a16:colId xmlns:a16="http://schemas.microsoft.com/office/drawing/2014/main" val="134306161"/>
                    </a:ext>
                  </a:extLst>
                </a:gridCol>
                <a:gridCol w="1837590">
                  <a:extLst>
                    <a:ext uri="{9D8B030D-6E8A-4147-A177-3AD203B41FA5}">
                      <a16:colId xmlns:a16="http://schemas.microsoft.com/office/drawing/2014/main" val="2652345858"/>
                    </a:ext>
                  </a:extLst>
                </a:gridCol>
                <a:gridCol w="3854550">
                  <a:extLst>
                    <a:ext uri="{9D8B030D-6E8A-4147-A177-3AD203B41FA5}">
                      <a16:colId xmlns:a16="http://schemas.microsoft.com/office/drawing/2014/main" val="3988659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Use-case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Ready?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Classical NLP,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44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spaCy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Industrial, fast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 (but </a:t>
                      </a: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embeddings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possible)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4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67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TextBlob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Easy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SentencePiece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Pretraining tokenizers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521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E32FB8-2120-377F-3636-0E70C7EBB987}"/>
              </a:ext>
            </a:extLst>
          </p:cNvPr>
          <p:cNvSpPr txBox="1"/>
          <p:nvPr/>
        </p:nvSpPr>
        <p:spPr>
          <a:xfrm>
            <a:off x="580644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Libraries used</a:t>
            </a:r>
          </a:p>
        </p:txBody>
      </p:sp>
    </p:spTree>
    <p:extLst>
      <p:ext uri="{BB962C8B-B14F-4D97-AF65-F5344CB8AC3E}">
        <p14:creationId xmlns:p14="http://schemas.microsoft.com/office/powerpoint/2010/main" val="1957453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116" y="213093"/>
            <a:ext cx="3682525" cy="515092"/>
          </a:xfrm>
        </p:spPr>
        <p:txBody>
          <a:bodyPr>
            <a:noAutofit/>
          </a:bodyPr>
          <a:lstStyle/>
          <a:p>
            <a:r>
              <a:rPr lang="en-US" sz="2400" b="1" dirty="0"/>
              <a:t>4.1) POS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116" y="956344"/>
            <a:ext cx="11432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after tokenization, you get:  ["dogs", "are", "running"]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tagging assigns: [("dogs", "NOUN"), ("are", "VERB"), ("running", "VERB")]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during normalization, you lemmatize "running" to "run" because you know it's a verb (instead of wrongly guessing).</a:t>
            </a:r>
          </a:p>
        </p:txBody>
      </p:sp>
    </p:spTree>
    <p:extLst>
      <p:ext uri="{BB962C8B-B14F-4D97-AF65-F5344CB8AC3E}">
        <p14:creationId xmlns:p14="http://schemas.microsoft.com/office/powerpoint/2010/main" val="4282109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21" y="771787"/>
            <a:ext cx="51088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Virtual Assistants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"Book a flight to Paris."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(Verb)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(Determiner)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flight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(Preposition)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Paris (Proper Noun)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needs to know that "Book" is a verb (an action), and "flight" is the object. This helps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understand the user's intent: booking something rather than asking about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0016" y="771787"/>
            <a:ext cx="61826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Summarization Tools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stock market rose sharply due to the new policy announcements."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rose (Verb)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sharply (Adverb)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(Preposition)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(Adjective)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announcements (Noun)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Nouns and verbs are prioritized to extract key points.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Adjectives/adverbs like "sharply" might be selectively used for richer summaries.</a:t>
            </a:r>
          </a:p>
        </p:txBody>
      </p:sp>
    </p:spTree>
    <p:extLst>
      <p:ext uri="{BB962C8B-B14F-4D97-AF65-F5344CB8AC3E}">
        <p14:creationId xmlns:p14="http://schemas.microsoft.com/office/powerpoint/2010/main" val="1478735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B1F4-1364-3356-9D67-43EF273B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2A43-1FE1-365D-FEF0-BF4A4369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4FB67-4603-8492-6FC5-C9A56B80D05F}"/>
              </a:ext>
            </a:extLst>
          </p:cNvPr>
          <p:cNvSpPr txBox="1"/>
          <p:nvPr/>
        </p:nvSpPr>
        <p:spPr>
          <a:xfrm>
            <a:off x="164592" y="1382338"/>
            <a:ext cx="114482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Grammar Checkers (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Grammarly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MS Word)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“He run fast.”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(Pronoun)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(Adverb)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realizes "He" is singular, but "run" is plural — catches subject-verb disagreement error.</a:t>
            </a:r>
          </a:p>
        </p:txBody>
      </p:sp>
    </p:spTree>
    <p:extLst>
      <p:ext uri="{BB962C8B-B14F-4D97-AF65-F5344CB8AC3E}">
        <p14:creationId xmlns:p14="http://schemas.microsoft.com/office/powerpoint/2010/main" val="1418063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08867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1041862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Named Entity Recognition (NER)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"Apple is looking at buying a startup in the UK."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(Proper 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looking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buying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startup (Noun)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UK (Proper Noun)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distinguish "Apple" as a company (not a fruit!) based on context.</a:t>
            </a:r>
          </a:p>
        </p:txBody>
      </p:sp>
    </p:spTree>
    <p:extLst>
      <p:ext uri="{BB962C8B-B14F-4D97-AF65-F5344CB8AC3E}">
        <p14:creationId xmlns:p14="http://schemas.microsoft.com/office/powerpoint/2010/main" val="257466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55787" cy="515092"/>
          </a:xfrm>
        </p:spPr>
        <p:txBody>
          <a:bodyPr>
            <a:noAutofit/>
          </a:bodyPr>
          <a:lstStyle/>
          <a:p>
            <a:r>
              <a:rPr lang="en-US" sz="3200" dirty="0"/>
              <a:t>4.1) POS Tagging: Libraries used(p4)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33016"/>
              </p:ext>
            </p:extLst>
          </p:nvPr>
        </p:nvGraphicFramePr>
        <p:xfrm>
          <a:off x="374904" y="2218214"/>
          <a:ext cx="11420856" cy="4206240"/>
        </p:xfrm>
        <a:graphic>
          <a:graphicData uri="http://schemas.openxmlformats.org/drawingml/2006/table">
            <a:tbl>
              <a:tblPr/>
              <a:tblGrid>
                <a:gridCol w="1631659">
                  <a:extLst>
                    <a:ext uri="{9D8B030D-6E8A-4147-A177-3AD203B41FA5}">
                      <a16:colId xmlns:a16="http://schemas.microsoft.com/office/drawing/2014/main" val="802596431"/>
                    </a:ext>
                  </a:extLst>
                </a:gridCol>
                <a:gridCol w="3827309">
                  <a:extLst>
                    <a:ext uri="{9D8B030D-6E8A-4147-A177-3AD203B41FA5}">
                      <a16:colId xmlns:a16="http://schemas.microsoft.com/office/drawing/2014/main" val="3090122847"/>
                    </a:ext>
                  </a:extLst>
                </a:gridCol>
                <a:gridCol w="1393546">
                  <a:extLst>
                    <a:ext uri="{9D8B030D-6E8A-4147-A177-3AD203B41FA5}">
                      <a16:colId xmlns:a16="http://schemas.microsoft.com/office/drawing/2014/main" val="3508996495"/>
                    </a:ext>
                  </a:extLst>
                </a:gridCol>
                <a:gridCol w="2284171">
                  <a:extLst>
                    <a:ext uri="{9D8B030D-6E8A-4147-A177-3AD203B41FA5}">
                      <a16:colId xmlns:a16="http://schemas.microsoft.com/office/drawing/2014/main" val="4108852308"/>
                    </a:ext>
                  </a:extLst>
                </a:gridCol>
                <a:gridCol w="2284171">
                  <a:extLst>
                    <a:ext uri="{9D8B030D-6E8A-4147-A177-3AD203B41FA5}">
                      <a16:colId xmlns:a16="http://schemas.microsoft.com/office/drawing/2014/main" val="1887275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98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Education,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NLP basics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NLP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Real-world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7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Simplicity, quick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Beginners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18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learning, multi-lingual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Academic or robust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2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Contextual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Advanced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73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52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367779"/>
              </p:ext>
            </p:extLst>
          </p:nvPr>
        </p:nvGraphicFramePr>
        <p:xfrm>
          <a:off x="1435608" y="3509226"/>
          <a:ext cx="8549640" cy="3169920"/>
        </p:xfrm>
        <a:graphic>
          <a:graphicData uri="http://schemas.openxmlformats.org/drawingml/2006/table">
            <a:tbl>
              <a:tblPr/>
              <a:tblGrid>
                <a:gridCol w="2849880">
                  <a:extLst>
                    <a:ext uri="{9D8B030D-6E8A-4147-A177-3AD203B41FA5}">
                      <a16:colId xmlns:a16="http://schemas.microsoft.com/office/drawing/2014/main" val="921962802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700664409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297029622"/>
                    </a:ext>
                  </a:extLst>
                </a:gridCol>
              </a:tblGrid>
              <a:tr h="39234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Part of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Lemmatized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46100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Running, ran,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r</a:t>
                      </a: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8257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Better,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1424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was, were, being, been,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0933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65907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goose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028633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Studies, 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verb/noun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study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27722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Go, going, gone, goes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4309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147B68-9CF0-5A81-F1DF-3E7BB4D019B6}"/>
              </a:ext>
            </a:extLst>
          </p:cNvPr>
          <p:cNvSpPr txBox="1"/>
          <p:nvPr/>
        </p:nvSpPr>
        <p:spPr>
          <a:xfrm>
            <a:off x="539496" y="671119"/>
            <a:ext cx="1143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Lemmatization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to their base dictionary 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passengers are flying to New York" -&gt; "The passenger be fly to New York“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in mind that the actual lemmatization result may depend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of speech (POS)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tagging — so these are grouped accordingly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D0638-E536-BFD5-94A4-899B71D036AB}"/>
              </a:ext>
            </a:extLst>
          </p:cNvPr>
          <p:cNvSpPr txBox="1"/>
          <p:nvPr/>
        </p:nvSpPr>
        <p:spPr>
          <a:xfrm>
            <a:off x="315468" y="12922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4.2) Normalization: Lemmatization(p1)</a:t>
            </a:r>
          </a:p>
        </p:txBody>
      </p:sp>
    </p:spTree>
    <p:extLst>
      <p:ext uri="{BB962C8B-B14F-4D97-AF65-F5344CB8AC3E}">
        <p14:creationId xmlns:p14="http://schemas.microsoft.com/office/powerpoint/2010/main" val="4034066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31741"/>
              </p:ext>
            </p:extLst>
          </p:nvPr>
        </p:nvGraphicFramePr>
        <p:xfrm>
          <a:off x="635928" y="3858768"/>
          <a:ext cx="9431616" cy="2286000"/>
        </p:xfrm>
        <a:graphic>
          <a:graphicData uri="http://schemas.openxmlformats.org/drawingml/2006/table">
            <a:tbl>
              <a:tblPr/>
              <a:tblGrid>
                <a:gridCol w="2235288">
                  <a:extLst>
                    <a:ext uri="{9D8B030D-6E8A-4147-A177-3AD203B41FA5}">
                      <a16:colId xmlns:a16="http://schemas.microsoft.com/office/drawing/2014/main" val="3643671938"/>
                    </a:ext>
                  </a:extLst>
                </a:gridCol>
                <a:gridCol w="7196328">
                  <a:extLst>
                    <a:ext uri="{9D8B030D-6E8A-4147-A177-3AD203B41FA5}">
                      <a16:colId xmlns:a16="http://schemas.microsoft.com/office/drawing/2014/main" val="160745686"/>
                    </a:ext>
                  </a:extLst>
                </a:gridCol>
              </a:tblGrid>
              <a:tr h="48687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Stemmed Form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Using the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Porter Stemmer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- 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most common stemmers)</a:t>
                      </a:r>
                      <a:endParaRPr lang="en-US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932745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49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happili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7234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Studies, studying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374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869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5BF5A-B7AD-9971-AA2C-86009D7D35D6}"/>
              </a:ext>
            </a:extLst>
          </p:cNvPr>
          <p:cNvSpPr txBox="1"/>
          <p:nvPr/>
        </p:nvSpPr>
        <p:spPr>
          <a:xfrm>
            <a:off x="179832" y="525227"/>
            <a:ext cx="118323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Stemming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Chop off word endings to their root form.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(connect, connects, connected, connecting, connection, connections, connectivity, connective) -&gt; connect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Unlike lemmatization, stemming is rule-based and typically faster but less accurate.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stemmed output isn't always a valid English word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happili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"Passengers loved the amazing services" -&gt;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passeng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love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amaz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servic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B64BC-4719-0709-0FE7-10E8F0B11A85}"/>
              </a:ext>
            </a:extLst>
          </p:cNvPr>
          <p:cNvSpPr txBox="1"/>
          <p:nvPr/>
        </p:nvSpPr>
        <p:spPr>
          <a:xfrm>
            <a:off x="333756" y="6356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4.2) Normalization: Stemming(p2)</a:t>
            </a:r>
          </a:p>
        </p:txBody>
      </p:sp>
    </p:spTree>
    <p:extLst>
      <p:ext uri="{BB962C8B-B14F-4D97-AF65-F5344CB8AC3E}">
        <p14:creationId xmlns:p14="http://schemas.microsoft.com/office/powerpoint/2010/main" val="3819295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E050-2D0D-215C-3E86-78258727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494A25-A02C-4793-70A7-0984392EC7F2}"/>
              </a:ext>
            </a:extLst>
          </p:cNvPr>
          <p:cNvSpPr txBox="1"/>
          <p:nvPr/>
        </p:nvSpPr>
        <p:spPr>
          <a:xfrm>
            <a:off x="179832" y="525227"/>
            <a:ext cx="118323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stemming: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Reduced Dimension: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Reduce dimensionality of the vocabulary.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connect, connects, connected, connecting, connection, connections, connectivity, connective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connect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Faster processing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Smaller vocabulary = smaller feature space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Models train faster and use less memory.</a:t>
            </a:r>
          </a:p>
        </p:txBody>
      </p:sp>
    </p:spTree>
    <p:extLst>
      <p:ext uri="{BB962C8B-B14F-4D97-AF65-F5344CB8AC3E}">
        <p14:creationId xmlns:p14="http://schemas.microsoft.com/office/powerpoint/2010/main" val="253089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230902"/>
            <a:ext cx="7164899" cy="658332"/>
          </a:xfrm>
        </p:spPr>
        <p:txBody>
          <a:bodyPr>
            <a:noAutofit/>
          </a:bodyPr>
          <a:lstStyle/>
          <a:p>
            <a:r>
              <a:rPr lang="en-US" sz="2800" dirty="0"/>
              <a:t>4.2) Normalization: Expanding Contractions(p3)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570FC-A3C9-4CB6-E1D2-0AA377A66351}"/>
              </a:ext>
            </a:extLst>
          </p:cNvPr>
          <p:cNvSpPr txBox="1"/>
          <p:nvPr/>
        </p:nvSpPr>
        <p:spPr>
          <a:xfrm>
            <a:off x="649224" y="1125373"/>
            <a:ext cx="93085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Expanding Contractions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Expand things like "don't" into "do not".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can't believe it!"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can not believe it!“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understand "can" and "not" separately, improving meaning capture.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883D96B-7154-2E77-2D1B-03F570791631}"/>
              </a:ext>
            </a:extLst>
          </p:cNvPr>
          <p:cNvSpPr/>
          <p:nvPr/>
        </p:nvSpPr>
        <p:spPr>
          <a:xfrm>
            <a:off x="1481328" y="2587752"/>
            <a:ext cx="228600" cy="466344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5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N-gram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243" y="889233"/>
            <a:ext cx="116236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 N-gram?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contiguous sequence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 items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(usually words or characters) from a given text. It helps preserve context and word order to a limited extent.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 love New York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Unigram (1-gram):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"I", "love", “New”, “York”,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Bigram (2-gram):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love", "love New“, “New York”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Trigram (3-gram):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 New“, “love New York”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4-gram: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love New York”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8A58F-6423-F87D-B13A-30167BC88199}"/>
              </a:ext>
            </a:extLst>
          </p:cNvPr>
          <p:cNvSpPr txBox="1"/>
          <p:nvPr/>
        </p:nvSpPr>
        <p:spPr>
          <a:xfrm>
            <a:off x="362949" y="3881056"/>
            <a:ext cx="114661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it used?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single words (unigrams) ignore order and context,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 phrases or collocations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"New York" or "machine learning"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models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autocorrect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Enhance predictive performance by using common word pairings or triplets</a:t>
            </a:r>
          </a:p>
        </p:txBody>
      </p:sp>
    </p:spTree>
    <p:extLst>
      <p:ext uri="{BB962C8B-B14F-4D97-AF65-F5344CB8AC3E}">
        <p14:creationId xmlns:p14="http://schemas.microsoft.com/office/powerpoint/2010/main" val="1204343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6755" y="857713"/>
            <a:ext cx="117781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two sentences: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love, love flying with Delta Airlines."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"Delta Airlines has great service."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Build a Vocabulary (list of unique words)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the words from both sentences:["I", "love", "flying", "with", "Delta", "Airlines", "has", "great", "service"]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Represent each sentence as a Vector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sentence becomes a vector showing whether a word appears (and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how many times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565397"/>
              </p:ext>
            </p:extLst>
          </p:nvPr>
        </p:nvGraphicFramePr>
        <p:xfrm>
          <a:off x="222190" y="4555916"/>
          <a:ext cx="11692470" cy="1188720"/>
        </p:xfrm>
        <a:graphic>
          <a:graphicData uri="http://schemas.openxmlformats.org/drawingml/2006/table">
            <a:tbl>
              <a:tblPr/>
              <a:tblGrid>
                <a:gridCol w="1169247">
                  <a:extLst>
                    <a:ext uri="{9D8B030D-6E8A-4147-A177-3AD203B41FA5}">
                      <a16:colId xmlns:a16="http://schemas.microsoft.com/office/drawing/2014/main" val="4267372024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007650645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179171509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186624360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040426184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88330863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764918870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205795173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537681152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542653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Airlines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872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1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3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2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54448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2191" y="5964964"/>
            <a:ext cx="9410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machine learning models can understand the sentences numerically!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9BD94-0FA9-6307-1A69-100C9B5BB4F5}"/>
              </a:ext>
            </a:extLst>
          </p:cNvPr>
          <p:cNvSpPr txBox="1"/>
          <p:nvPr/>
        </p:nvSpPr>
        <p:spPr>
          <a:xfrm>
            <a:off x="222190" y="108205"/>
            <a:ext cx="10055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Text Representation: How does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work? (Step-by-Step Example)</a:t>
            </a:r>
          </a:p>
        </p:txBody>
      </p:sp>
    </p:spTree>
    <p:extLst>
      <p:ext uri="{BB962C8B-B14F-4D97-AF65-F5344CB8AC3E}">
        <p14:creationId xmlns:p14="http://schemas.microsoft.com/office/powerpoint/2010/main" val="1237423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Principles of Bag of Words (</a:t>
            </a:r>
            <a:r>
              <a:rPr lang="en-US" dirty="0" err="1"/>
              <a:t>BoW</a:t>
            </a:r>
            <a:r>
              <a:rPr lang="en-US" dirty="0"/>
              <a:t>):</a:t>
            </a:r>
          </a:p>
          <a:p>
            <a:r>
              <a:rPr lang="en-US" dirty="0"/>
              <a:t>We convert text into numbers (vectors) for modeling.</a:t>
            </a:r>
          </a:p>
          <a:p>
            <a:r>
              <a:rPr lang="en-US" dirty="0"/>
              <a:t>We ignore grammar and word order.</a:t>
            </a:r>
          </a:p>
          <a:p>
            <a:r>
              <a:rPr lang="en-US" dirty="0"/>
              <a:t>We only care about whether a word occurs (and sometimes how often).</a:t>
            </a:r>
          </a:p>
          <a:p>
            <a:r>
              <a:rPr lang="en-US" dirty="0"/>
              <a:t>It's simple, fast, and a great starting point for text-based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called "Bag" because we only care about the words and their counts — like putting words into a "bag" and shaking them — order doesn't matter.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6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Where is </a:t>
            </a:r>
            <a:r>
              <a:rPr lang="en-US" sz="3200" dirty="0" err="1"/>
              <a:t>BoW</a:t>
            </a:r>
            <a:r>
              <a:rPr lang="en-US" sz="3200" dirty="0"/>
              <a:t> used in NLP tasks?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Spam Detection </a:t>
            </a:r>
          </a:p>
          <a:p>
            <a:pPr marL="0" indent="0">
              <a:buNone/>
            </a:pPr>
            <a:r>
              <a:rPr lang="en-US" dirty="0"/>
              <a:t>→ "free", "winner", "offer" appear? =&gt; Spam!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Sentiment Analysis</a:t>
            </a:r>
          </a:p>
          <a:p>
            <a:pPr marL="0" indent="0">
              <a:buNone/>
            </a:pPr>
            <a:r>
              <a:rPr lang="en-US" dirty="0"/>
              <a:t>→ "love", "hate", "awesome", "bad" words are critical.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Topic Classification</a:t>
            </a:r>
          </a:p>
          <a:p>
            <a:pPr marL="0" indent="0">
              <a:buNone/>
            </a:pPr>
            <a:r>
              <a:rPr lang="en-US" dirty="0"/>
              <a:t>→ "flight", "hotel", "restaurant" words hint about travel vs food.</a:t>
            </a:r>
          </a:p>
        </p:txBody>
      </p:sp>
    </p:spTree>
    <p:extLst>
      <p:ext uri="{BB962C8B-B14F-4D97-AF65-F5344CB8AC3E}">
        <p14:creationId xmlns:p14="http://schemas.microsoft.com/office/powerpoint/2010/main" val="933682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819A5-49D0-0EDE-48C0-519D51B07AFA}"/>
              </a:ext>
            </a:extLst>
          </p:cNvPr>
          <p:cNvSpPr txBox="1"/>
          <p:nvPr/>
        </p:nvSpPr>
        <p:spPr>
          <a:xfrm>
            <a:off x="318082" y="1351508"/>
            <a:ext cx="111739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stands for TF – Term Frequency, IDF – Inverse Document Frequency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evaluate how important a word is in a specific document relative to a collection of documents (corpus).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analyzing text, some words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"the", "is", "and"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appear everywhere, but they’re not very informative.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helps filter out common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highlights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are more meaningful to a specific document.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smarter alternative to Bag of Words — where word frequency alone might mislead the model.</a:t>
            </a:r>
          </a:p>
        </p:txBody>
      </p:sp>
    </p:spTree>
    <p:extLst>
      <p:ext uri="{BB962C8B-B14F-4D97-AF65-F5344CB8AC3E}">
        <p14:creationId xmlns:p14="http://schemas.microsoft.com/office/powerpoint/2010/main" val="282668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4C4D-5442-E2B2-FAC2-65958953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8DCE-757B-54F7-893B-AA8B7136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59F73A-520F-3BDB-C1DB-6AD5C08DE6B3}"/>
                  </a:ext>
                </a:extLst>
              </p:cNvPr>
              <p:cNvSpPr txBox="1"/>
              <p:nvPr/>
            </p:nvSpPr>
            <p:spPr>
              <a:xfrm>
                <a:off x="318082" y="4246779"/>
                <a:ext cx="7701206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IDF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𝑐𝑜𝑛𝑡𝑎𝑖𝑛𝑖𝑛𝑔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59F73A-520F-3BDB-C1DB-6AD5C08DE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82" y="4246779"/>
                <a:ext cx="7701206" cy="6915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1AFCE66-DE09-EDCA-7422-151DF242DD6A}"/>
              </a:ext>
            </a:extLst>
          </p:cNvPr>
          <p:cNvSpPr txBox="1"/>
          <p:nvPr/>
        </p:nvSpPr>
        <p:spPr>
          <a:xfrm>
            <a:off x="8374713" y="4004946"/>
            <a:ext cx="343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uniques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/rare the word is across all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9A533-606F-4A1F-E22C-9BE99EAB76C9}"/>
              </a:ext>
            </a:extLst>
          </p:cNvPr>
          <p:cNvSpPr txBox="1"/>
          <p:nvPr/>
        </p:nvSpPr>
        <p:spPr>
          <a:xfrm>
            <a:off x="8374713" y="1902097"/>
            <a:ext cx="3365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often a term appears in a documents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1C5D2C-8036-3C4D-926B-617C67E87160}"/>
                  </a:ext>
                </a:extLst>
              </p:cNvPr>
              <p:cNvSpPr txBox="1"/>
              <p:nvPr/>
            </p:nvSpPr>
            <p:spPr>
              <a:xfrm>
                <a:off x="451624" y="1902097"/>
                <a:ext cx="733014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1C5D2C-8036-3C4D-926B-617C67E87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4" y="1902097"/>
                <a:ext cx="7330148" cy="691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BEDE36-0342-CB14-3DBB-5B7F3E261C00}"/>
              </a:ext>
            </a:extLst>
          </p:cNvPr>
          <p:cNvSpPr txBox="1"/>
          <p:nvPr/>
        </p:nvSpPr>
        <p:spPr>
          <a:xfrm>
            <a:off x="569967" y="1259478"/>
            <a:ext cx="2900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log is to the base 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15E538-4840-5CD3-4034-5D3D07080195}"/>
                  </a:ext>
                </a:extLst>
              </p:cNvPr>
              <p:cNvSpPr txBox="1"/>
              <p:nvPr/>
            </p:nvSpPr>
            <p:spPr>
              <a:xfrm>
                <a:off x="451624" y="3100775"/>
                <a:ext cx="742632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15E538-4840-5CD3-4034-5D3D07080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4" y="3100775"/>
                <a:ext cx="742632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A187EAD-6139-8285-A1A3-C163796783D3}"/>
              </a:ext>
            </a:extLst>
          </p:cNvPr>
          <p:cNvSpPr txBox="1"/>
          <p:nvPr/>
        </p:nvSpPr>
        <p:spPr>
          <a:xfrm>
            <a:off x="569967" y="252444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E5CE7-A633-C5FE-684A-EB6401619DB2}"/>
              </a:ext>
            </a:extLst>
          </p:cNvPr>
          <p:cNvSpPr txBox="1"/>
          <p:nvPr/>
        </p:nvSpPr>
        <p:spPr>
          <a:xfrm>
            <a:off x="451624" y="5730579"/>
            <a:ext cx="4134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(t, d) = TF( t, d ) x  IDF( t )</a:t>
            </a:r>
          </a:p>
        </p:txBody>
      </p:sp>
    </p:spTree>
    <p:extLst>
      <p:ext uri="{BB962C8B-B14F-4D97-AF65-F5344CB8AC3E}">
        <p14:creationId xmlns:p14="http://schemas.microsoft.com/office/powerpoint/2010/main" val="4179356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8069-A49E-B36C-FB5C-5F10836B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0" y="75874"/>
            <a:ext cx="5310674" cy="502621"/>
          </a:xfrm>
        </p:spPr>
        <p:txBody>
          <a:bodyPr>
            <a:noAutofit/>
          </a:bodyPr>
          <a:lstStyle/>
          <a:p>
            <a:r>
              <a:rPr lang="en-US" sz="3200" dirty="0"/>
              <a:t>5. Text Representation: TF-IDF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5AE08-3FF6-D8EE-51EF-AD97C872C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90" y="1323754"/>
            <a:ext cx="9090783" cy="529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9A332-ECD5-5E14-0162-C5717C2706BD}"/>
              </a:ext>
            </a:extLst>
          </p:cNvPr>
          <p:cNvSpPr txBox="1"/>
          <p:nvPr/>
        </p:nvSpPr>
        <p:spPr>
          <a:xfrm>
            <a:off x="783771" y="774441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Variants of Term frequency: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994" y="68282"/>
            <a:ext cx="5604546" cy="45699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5. Text Representation: TF-IDF (Example)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7" y="4716660"/>
            <a:ext cx="7519025" cy="2112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11936" y="919198"/>
            <a:ext cx="3156117" cy="42081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5273" y="4232002"/>
            <a:ext cx="148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values: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7EA73-0C3B-D942-637C-87F654D60E90}"/>
              </a:ext>
            </a:extLst>
          </p:cNvPr>
          <p:cNvSpPr txBox="1"/>
          <p:nvPr/>
        </p:nvSpPr>
        <p:spPr>
          <a:xfrm>
            <a:off x="6487" y="446350"/>
            <a:ext cx="77019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you have 3 documents: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d1: "Delta provides great service“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d2: "United offers great food“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d3: "Great airlines offer comfort“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word "great" appears in 3 documents — so its IDF will be low(0.71) (not unique).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word "comfort" appears only once — so it has a high IDF(1.4).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will highlight "comfort" over "great", since "great" is common and not very informative.</a:t>
            </a:r>
          </a:p>
        </p:txBody>
      </p:sp>
    </p:spTree>
    <p:extLst>
      <p:ext uri="{BB962C8B-B14F-4D97-AF65-F5344CB8AC3E}">
        <p14:creationId xmlns:p14="http://schemas.microsoft.com/office/powerpoint/2010/main" val="3026325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277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What is document in TF-IDF?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76F66-AD31-D812-B4A2-C42B8D9E2786}"/>
              </a:ext>
            </a:extLst>
          </p:cNvPr>
          <p:cNvSpPr txBox="1"/>
          <p:nvPr/>
        </p:nvSpPr>
        <p:spPr>
          <a:xfrm>
            <a:off x="701040" y="1674013"/>
            <a:ext cx="112135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you’re analyzing tweets,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tweet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“document.”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news classification,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article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“document.”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summarization,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paragraph or longer 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treated as a “document.”</a:t>
            </a:r>
          </a:p>
        </p:txBody>
      </p:sp>
    </p:spTree>
    <p:extLst>
      <p:ext uri="{BB962C8B-B14F-4D97-AF65-F5344CB8AC3E}">
        <p14:creationId xmlns:p14="http://schemas.microsoft.com/office/powerpoint/2010/main" val="257055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TF-IDF, how does it help?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AE422-2927-8BF9-58D6-28EFAF85EAED}"/>
              </a:ext>
            </a:extLst>
          </p:cNvPr>
          <p:cNvSpPr txBox="1"/>
          <p:nvPr/>
        </p:nvSpPr>
        <p:spPr>
          <a:xfrm>
            <a:off x="571500" y="1270338"/>
            <a:ext cx="72009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Filters out common, less informative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meaningful, rare keywords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performance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engines (e.g., Google ranking)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extraction</a:t>
            </a:r>
          </a:p>
        </p:txBody>
      </p:sp>
    </p:spTree>
    <p:extLst>
      <p:ext uri="{BB962C8B-B14F-4D97-AF65-F5344CB8AC3E}">
        <p14:creationId xmlns:p14="http://schemas.microsoft.com/office/powerpoint/2010/main" val="29297806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Embeddings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377DB-53A7-59BE-032E-CF8B4DD2B5D9}"/>
              </a:ext>
            </a:extLst>
          </p:cNvPr>
          <p:cNvSpPr txBox="1"/>
          <p:nvPr/>
        </p:nvSpPr>
        <p:spPr>
          <a:xfrm>
            <a:off x="36576" y="923012"/>
            <a:ext cx="1155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Word2Vec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powerful method developed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these embeddings using a neural network. It converts each word into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fixed-size 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100-300 dimensions),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captures 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training on large corpora.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represents words in a continuous vector space where semantically similar words are mapped to nearby points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2CEB5-7E35-AF19-8871-C182BD54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3600668"/>
            <a:ext cx="4461725" cy="275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6815F5-B0C4-7769-268A-9F037DA34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99" y="4163276"/>
            <a:ext cx="5058481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28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Word Embeddings, Word2Vec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0CB80-58AF-6EE5-2B10-5C88B2019B58}"/>
              </a:ext>
            </a:extLst>
          </p:cNvPr>
          <p:cNvSpPr txBox="1"/>
          <p:nvPr/>
        </p:nvSpPr>
        <p:spPr>
          <a:xfrm>
            <a:off x="318082" y="1056007"/>
            <a:ext cx="85862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Word2Vec Works (High Level)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has two main architectures: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CBOW (Continuous Bag of Words):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 from its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"The cat sat on the ___" → Predict: "mat"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Skip-Gram: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from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Given "sat" → Predict words like "cat", "on", "the"</a:t>
            </a:r>
          </a:p>
        </p:txBody>
      </p:sp>
    </p:spTree>
    <p:extLst>
      <p:ext uri="{BB962C8B-B14F-4D97-AF65-F5344CB8AC3E}">
        <p14:creationId xmlns:p14="http://schemas.microsoft.com/office/powerpoint/2010/main" val="3514277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Embeddings (</a:t>
            </a:r>
            <a:r>
              <a:rPr lang="en-US" sz="3200" b="1" dirty="0"/>
              <a:t>Word2Vec)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3EC54-C00B-B880-06CC-AACEF9B5B464}"/>
              </a:ext>
            </a:extLst>
          </p:cNvPr>
          <p:cNvSpPr txBox="1"/>
          <p:nvPr/>
        </p:nvSpPr>
        <p:spPr>
          <a:xfrm>
            <a:off x="740664" y="2136339"/>
            <a:ext cx="113659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Word2Vec powerful?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it learns relationships like:</a:t>
            </a:r>
          </a:p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("King") -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("Man") +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("Woman") ≈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("Queen")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["apple", "banana", "mango"]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end up near each other in vector space.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synonyms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analogies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even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grammatical similarities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Library used: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gensim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3793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1383</TotalTime>
  <Words>4091</Words>
  <Application>Microsoft Office PowerPoint</Application>
  <PresentationFormat>Widescreen</PresentationFormat>
  <Paragraphs>602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Wingdings</vt:lpstr>
      <vt:lpstr>Office Theme</vt:lpstr>
      <vt:lpstr>NLP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4.1) POS Tagging</vt:lpstr>
      <vt:lpstr>4.1) POS Tagging: Realistic Examples + How It's Used(p2)</vt:lpstr>
      <vt:lpstr>4.1) POS Tagging: Realistic Examples + How It's Used(p2)</vt:lpstr>
      <vt:lpstr>4.1) POS Tagging: Realistic Examples + How It's Used(p3)</vt:lpstr>
      <vt:lpstr>4.1) POS Tagging: Libraries used(p4)</vt:lpstr>
      <vt:lpstr>PowerPoint Presentation</vt:lpstr>
      <vt:lpstr>PowerPoint Presentation</vt:lpstr>
      <vt:lpstr>PowerPoint Presentation</vt:lpstr>
      <vt:lpstr>4.2) Normalization: Expanding Contractions(p3)</vt:lpstr>
      <vt:lpstr>5. Text Representation: N-gram</vt:lpstr>
      <vt:lpstr>PowerPoint Presentation</vt:lpstr>
      <vt:lpstr>PowerPoint Presentation</vt:lpstr>
      <vt:lpstr>5. Text Representation: Where is BoW used in NLP tasks?</vt:lpstr>
      <vt:lpstr>5. Text Representation: TF-IDF(see jupyter n/b for implementaion)</vt:lpstr>
      <vt:lpstr>5. Text Representation: TF-IDF(see jupyter n/b for implementaion)</vt:lpstr>
      <vt:lpstr>5. Text Representation: TF-IDF</vt:lpstr>
      <vt:lpstr>5. Text Representation: TF-IDF (Example)</vt:lpstr>
      <vt:lpstr>5. Text Representation: What is document in TF-IDF?</vt:lpstr>
      <vt:lpstr>5. Text Representation: TF-IDF, how does it help?</vt:lpstr>
      <vt:lpstr>5. Text Representation: Word Embeddings</vt:lpstr>
      <vt:lpstr>5. Text Representation: Word Embeddings, Word2Vec Architecture</vt:lpstr>
      <vt:lpstr>5. Text Representation: Word Embeddings (Word2Vec)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229</cp:revision>
  <dcterms:created xsi:type="dcterms:W3CDTF">2025-09-22T02:44:38Z</dcterms:created>
  <dcterms:modified xsi:type="dcterms:W3CDTF">2026-07-19T07:07:27Z</dcterms:modified>
</cp:coreProperties>
</file>