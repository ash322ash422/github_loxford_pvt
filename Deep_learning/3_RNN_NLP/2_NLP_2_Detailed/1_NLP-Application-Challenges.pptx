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3"/>
  </p:notesMasterIdLst>
  <p:handoutMasterIdLst>
    <p:handoutMasterId r:id="rId24"/>
  </p:handoutMasterIdLst>
  <p:sldIdLst>
    <p:sldId id="271" r:id="rId2"/>
    <p:sldId id="256" r:id="rId3"/>
    <p:sldId id="280" r:id="rId4"/>
    <p:sldId id="281" r:id="rId5"/>
    <p:sldId id="295" r:id="rId6"/>
    <p:sldId id="282" r:id="rId7"/>
    <p:sldId id="296" r:id="rId8"/>
    <p:sldId id="283" r:id="rId9"/>
    <p:sldId id="284" r:id="rId10"/>
    <p:sldId id="298" r:id="rId11"/>
    <p:sldId id="285" r:id="rId12"/>
    <p:sldId id="288" r:id="rId13"/>
    <p:sldId id="291" r:id="rId14"/>
    <p:sldId id="297" r:id="rId15"/>
    <p:sldId id="299" r:id="rId16"/>
    <p:sldId id="300" r:id="rId17"/>
    <p:sldId id="301" r:id="rId18"/>
    <p:sldId id="302" r:id="rId19"/>
    <p:sldId id="294" r:id="rId20"/>
    <p:sldId id="293" r:id="rId21"/>
    <p:sldId id="276" r:id="rId2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105" d="100"/>
          <a:sy n="105" d="100"/>
        </p:scale>
        <p:origin x="834" y="96"/>
      </p:cViewPr>
      <p:guideLst/>
    </p:cSldViewPr>
  </p:slideViewPr>
  <p:notesTextViewPr>
    <p:cViewPr>
      <p:scale>
        <a:sx n="1" d="1"/>
        <a:sy n="1" d="1"/>
      </p:scale>
      <p:origin x="0" y="0"/>
    </p:cViewPr>
  </p:notesTextViewPr>
  <p:notesViewPr>
    <p:cSldViewPr snapToGrid="0">
      <p:cViewPr varScale="1">
        <p:scale>
          <a:sx n="84" d="100"/>
          <a:sy n="84" d="100"/>
        </p:scale>
        <p:origin x="3054" y="96"/>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handoutMaster" Target="handoutMasters/handout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1ACA3A45-07AA-881E-EBAC-FAE1FFF9B3BB}"/>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B72C2385-62BD-1B9C-A617-554DDB21E0F4}"/>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7BAEECA8-D063-486F-AE31-5020270C1449}" type="datetimeFigureOut">
              <a:rPr lang="en-US" smtClean="0"/>
              <a:t>5/2/2026</a:t>
            </a:fld>
            <a:endParaRPr lang="en-US"/>
          </a:p>
        </p:txBody>
      </p:sp>
      <p:sp>
        <p:nvSpPr>
          <p:cNvPr id="4" name="Footer Placeholder 3">
            <a:extLst>
              <a:ext uri="{FF2B5EF4-FFF2-40B4-BE49-F238E27FC236}">
                <a16:creationId xmlns:a16="http://schemas.microsoft.com/office/drawing/2014/main" id="{C5328A6F-7933-1F9C-E9F6-B4A61026FBA4}"/>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66F9A57F-3A38-6EDA-B76D-A3DB4F6978A7}"/>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5793F6CE-D1D9-4B7B-9040-C7CAC074A6CE}" type="slidenum">
              <a:rPr lang="en-US" smtClean="0"/>
              <a:t>‹#›</a:t>
            </a:fld>
            <a:endParaRPr lang="en-US"/>
          </a:p>
        </p:txBody>
      </p:sp>
    </p:spTree>
    <p:extLst>
      <p:ext uri="{BB962C8B-B14F-4D97-AF65-F5344CB8AC3E}">
        <p14:creationId xmlns:p14="http://schemas.microsoft.com/office/powerpoint/2010/main" val="39761335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B233BD1-3BA8-448D-9D08-7846095EA517}" type="datetimeFigureOut">
              <a:rPr lang="en-US" smtClean="0"/>
              <a:t>5/2/2026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C63499C-1FAC-4F66-96F8-6DA2CC28B748}" type="slidenum">
              <a:rPr lang="en-US" smtClean="0"/>
              <a:t>‹#›</a:t>
            </a:fld>
            <a:endParaRPr lang="en-US"/>
          </a:p>
        </p:txBody>
      </p:sp>
    </p:spTree>
    <p:extLst>
      <p:ext uri="{BB962C8B-B14F-4D97-AF65-F5344CB8AC3E}">
        <p14:creationId xmlns:p14="http://schemas.microsoft.com/office/powerpoint/2010/main" val="8175397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EB0F26-247A-F2E0-8FBA-6EA7974D69E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F394F308-CEE8-92BC-D91A-4212DEA015D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B32794D3-11DF-A675-8D28-EC65EF27521E}"/>
              </a:ext>
            </a:extLst>
          </p:cNvPr>
          <p:cNvSpPr>
            <a:spLocks noGrp="1"/>
          </p:cNvSpPr>
          <p:nvPr>
            <p:ph type="dt" sz="half" idx="10"/>
          </p:nvPr>
        </p:nvSpPr>
        <p:spPr/>
        <p:txBody>
          <a:bodyPr/>
          <a:lstStyle/>
          <a:p>
            <a:fld id="{6383FAE1-13DE-4511-8C1B-C8AFB720664C}" type="datetimeFigureOut">
              <a:rPr lang="en-US" smtClean="0"/>
              <a:t>5/2/2026</a:t>
            </a:fld>
            <a:endParaRPr lang="en-US"/>
          </a:p>
        </p:txBody>
      </p:sp>
      <p:sp>
        <p:nvSpPr>
          <p:cNvPr id="5" name="Footer Placeholder 4">
            <a:extLst>
              <a:ext uri="{FF2B5EF4-FFF2-40B4-BE49-F238E27FC236}">
                <a16:creationId xmlns:a16="http://schemas.microsoft.com/office/drawing/2014/main" id="{EC53FDAF-B83A-AE0A-B811-B7195D37FDD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49530BD-9515-D107-426C-B72742CBF0BF}"/>
              </a:ext>
            </a:extLst>
          </p:cNvPr>
          <p:cNvSpPr>
            <a:spLocks noGrp="1"/>
          </p:cNvSpPr>
          <p:nvPr>
            <p:ph type="sldNum" sz="quarter" idx="12"/>
          </p:nvPr>
        </p:nvSpPr>
        <p:spPr/>
        <p:txBody>
          <a:bodyPr/>
          <a:lstStyle/>
          <a:p>
            <a:fld id="{81BC7A09-79EE-44A0-8F92-750D7C83D871}" type="slidenum">
              <a:rPr lang="en-US" smtClean="0"/>
              <a:t>‹#›</a:t>
            </a:fld>
            <a:endParaRPr lang="en-US"/>
          </a:p>
        </p:txBody>
      </p:sp>
    </p:spTree>
    <p:extLst>
      <p:ext uri="{BB962C8B-B14F-4D97-AF65-F5344CB8AC3E}">
        <p14:creationId xmlns:p14="http://schemas.microsoft.com/office/powerpoint/2010/main" val="144928269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CE7E77-8771-0BA4-B1D5-7F1DE0138C3D}"/>
              </a:ext>
            </a:extLst>
          </p:cNvPr>
          <p:cNvSpPr>
            <a:spLocks noGrp="1"/>
          </p:cNvSpPr>
          <p:nvPr>
            <p:ph type="title"/>
          </p:nvPr>
        </p:nvSpPr>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9543F30B-85C4-D934-2F30-179E3FCE9424}"/>
              </a:ext>
            </a:extLst>
          </p:cNvPr>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7C8EF7AF-5CE7-4387-31F9-79D35620609B}"/>
              </a:ext>
            </a:extLst>
          </p:cNvPr>
          <p:cNvSpPr>
            <a:spLocks noGrp="1"/>
          </p:cNvSpPr>
          <p:nvPr>
            <p:ph type="dt" sz="half" idx="10"/>
          </p:nvPr>
        </p:nvSpPr>
        <p:spPr/>
        <p:txBody>
          <a:bodyPr/>
          <a:lstStyle/>
          <a:p>
            <a:fld id="{6383FAE1-13DE-4511-8C1B-C8AFB720664C}" type="datetimeFigureOut">
              <a:rPr lang="en-US" smtClean="0"/>
              <a:t>5/2/2026</a:t>
            </a:fld>
            <a:endParaRPr lang="en-US"/>
          </a:p>
        </p:txBody>
      </p:sp>
      <p:sp>
        <p:nvSpPr>
          <p:cNvPr id="5" name="Footer Placeholder 4">
            <a:extLst>
              <a:ext uri="{FF2B5EF4-FFF2-40B4-BE49-F238E27FC236}">
                <a16:creationId xmlns:a16="http://schemas.microsoft.com/office/drawing/2014/main" id="{B0FCCC03-E434-4684-B55E-3F2D3991692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A1F3B05-B983-07A3-4B58-9D2E18438894}"/>
              </a:ext>
            </a:extLst>
          </p:cNvPr>
          <p:cNvSpPr>
            <a:spLocks noGrp="1"/>
          </p:cNvSpPr>
          <p:nvPr>
            <p:ph type="sldNum" sz="quarter" idx="12"/>
          </p:nvPr>
        </p:nvSpPr>
        <p:spPr/>
        <p:txBody>
          <a:bodyPr/>
          <a:lstStyle/>
          <a:p>
            <a:fld id="{81BC7A09-79EE-44A0-8F92-750D7C83D871}" type="slidenum">
              <a:rPr lang="en-US" smtClean="0"/>
              <a:t>‹#›</a:t>
            </a:fld>
            <a:endParaRPr lang="en-US"/>
          </a:p>
        </p:txBody>
      </p:sp>
    </p:spTree>
    <p:extLst>
      <p:ext uri="{BB962C8B-B14F-4D97-AF65-F5344CB8AC3E}">
        <p14:creationId xmlns:p14="http://schemas.microsoft.com/office/powerpoint/2010/main" val="159603644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223C21-D6A5-2D17-9BFA-70B3353D6A0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E92D89B8-191B-6AAD-5D5E-32B35726574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4CC528A-1563-9376-E089-4DA80AD11D0C}"/>
              </a:ext>
            </a:extLst>
          </p:cNvPr>
          <p:cNvSpPr>
            <a:spLocks noGrp="1"/>
          </p:cNvSpPr>
          <p:nvPr>
            <p:ph type="dt" sz="half" idx="10"/>
          </p:nvPr>
        </p:nvSpPr>
        <p:spPr/>
        <p:txBody>
          <a:bodyPr/>
          <a:lstStyle/>
          <a:p>
            <a:fld id="{6383FAE1-13DE-4511-8C1B-C8AFB720664C}" type="datetimeFigureOut">
              <a:rPr lang="en-US" smtClean="0"/>
              <a:t>5/2/2026</a:t>
            </a:fld>
            <a:endParaRPr lang="en-US"/>
          </a:p>
        </p:txBody>
      </p:sp>
      <p:sp>
        <p:nvSpPr>
          <p:cNvPr id="5" name="Footer Placeholder 4">
            <a:extLst>
              <a:ext uri="{FF2B5EF4-FFF2-40B4-BE49-F238E27FC236}">
                <a16:creationId xmlns:a16="http://schemas.microsoft.com/office/drawing/2014/main" id="{0519A01D-6FDA-C269-FF95-3FDB205C8E3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A980A21-61AC-4B39-D886-3A327DB7346D}"/>
              </a:ext>
            </a:extLst>
          </p:cNvPr>
          <p:cNvSpPr>
            <a:spLocks noGrp="1"/>
          </p:cNvSpPr>
          <p:nvPr>
            <p:ph type="sldNum" sz="quarter" idx="12"/>
          </p:nvPr>
        </p:nvSpPr>
        <p:spPr/>
        <p:txBody>
          <a:bodyPr/>
          <a:lstStyle/>
          <a:p>
            <a:fld id="{81BC7A09-79EE-44A0-8F92-750D7C83D871}" type="slidenum">
              <a:rPr lang="en-US" smtClean="0"/>
              <a:t>‹#›</a:t>
            </a:fld>
            <a:endParaRPr lang="en-US"/>
          </a:p>
        </p:txBody>
      </p:sp>
    </p:spTree>
    <p:extLst>
      <p:ext uri="{BB962C8B-B14F-4D97-AF65-F5344CB8AC3E}">
        <p14:creationId xmlns:p14="http://schemas.microsoft.com/office/powerpoint/2010/main" val="94111402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903C29-6DED-2A1F-5B4D-128B63652F7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6494ECB-0FCA-1AD0-F19A-27A4C16DC0F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A07402C2-E657-5A54-9627-8C9CBCBBE0A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1501FADA-AE3E-B30F-6353-BF0478CF0E39}"/>
              </a:ext>
            </a:extLst>
          </p:cNvPr>
          <p:cNvSpPr>
            <a:spLocks noGrp="1"/>
          </p:cNvSpPr>
          <p:nvPr>
            <p:ph type="dt" sz="half" idx="10"/>
          </p:nvPr>
        </p:nvSpPr>
        <p:spPr/>
        <p:txBody>
          <a:bodyPr/>
          <a:lstStyle/>
          <a:p>
            <a:fld id="{6383FAE1-13DE-4511-8C1B-C8AFB720664C}" type="datetimeFigureOut">
              <a:rPr lang="en-US" smtClean="0"/>
              <a:t>5/2/2026</a:t>
            </a:fld>
            <a:endParaRPr lang="en-US"/>
          </a:p>
        </p:txBody>
      </p:sp>
      <p:sp>
        <p:nvSpPr>
          <p:cNvPr id="6" name="Footer Placeholder 5">
            <a:extLst>
              <a:ext uri="{FF2B5EF4-FFF2-40B4-BE49-F238E27FC236}">
                <a16:creationId xmlns:a16="http://schemas.microsoft.com/office/drawing/2014/main" id="{7F16B517-96D7-6416-0C24-B14942ADD41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546F179-BF2F-393A-1AA6-C893B7B9FA37}"/>
              </a:ext>
            </a:extLst>
          </p:cNvPr>
          <p:cNvSpPr>
            <a:spLocks noGrp="1"/>
          </p:cNvSpPr>
          <p:nvPr>
            <p:ph type="sldNum" sz="quarter" idx="12"/>
          </p:nvPr>
        </p:nvSpPr>
        <p:spPr/>
        <p:txBody>
          <a:bodyPr/>
          <a:lstStyle/>
          <a:p>
            <a:fld id="{81BC7A09-79EE-44A0-8F92-750D7C83D871}" type="slidenum">
              <a:rPr lang="en-US" smtClean="0"/>
              <a:t>‹#›</a:t>
            </a:fld>
            <a:endParaRPr lang="en-US"/>
          </a:p>
        </p:txBody>
      </p:sp>
    </p:spTree>
    <p:extLst>
      <p:ext uri="{BB962C8B-B14F-4D97-AF65-F5344CB8AC3E}">
        <p14:creationId xmlns:p14="http://schemas.microsoft.com/office/powerpoint/2010/main" val="392585238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950483-A0C8-BF5B-61DE-39BC6FF9C123}"/>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646DB55B-C040-F211-BC81-97628EA4844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593EEAE-1CB3-AAC8-5818-D61E389EF1E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5ACE50F0-1141-D645-3892-2DA29633A37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32E976C-52C7-C22D-28F7-B21E295185E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E797D00B-0B76-5C50-686B-A01396FCD6FA}"/>
              </a:ext>
            </a:extLst>
          </p:cNvPr>
          <p:cNvSpPr>
            <a:spLocks noGrp="1"/>
          </p:cNvSpPr>
          <p:nvPr>
            <p:ph type="dt" sz="half" idx="10"/>
          </p:nvPr>
        </p:nvSpPr>
        <p:spPr/>
        <p:txBody>
          <a:bodyPr/>
          <a:lstStyle/>
          <a:p>
            <a:fld id="{6383FAE1-13DE-4511-8C1B-C8AFB720664C}" type="datetimeFigureOut">
              <a:rPr lang="en-US" smtClean="0"/>
              <a:t>5/2/2026</a:t>
            </a:fld>
            <a:endParaRPr lang="en-US"/>
          </a:p>
        </p:txBody>
      </p:sp>
      <p:sp>
        <p:nvSpPr>
          <p:cNvPr id="8" name="Footer Placeholder 7">
            <a:extLst>
              <a:ext uri="{FF2B5EF4-FFF2-40B4-BE49-F238E27FC236}">
                <a16:creationId xmlns:a16="http://schemas.microsoft.com/office/drawing/2014/main" id="{7B842B8D-3B74-4B67-9462-6D2C7ED9ADCB}"/>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F992D4BE-CE8C-0250-FE7D-1F370E25FE27}"/>
              </a:ext>
            </a:extLst>
          </p:cNvPr>
          <p:cNvSpPr>
            <a:spLocks noGrp="1"/>
          </p:cNvSpPr>
          <p:nvPr>
            <p:ph type="sldNum" sz="quarter" idx="12"/>
          </p:nvPr>
        </p:nvSpPr>
        <p:spPr/>
        <p:txBody>
          <a:bodyPr/>
          <a:lstStyle/>
          <a:p>
            <a:fld id="{81BC7A09-79EE-44A0-8F92-750D7C83D871}" type="slidenum">
              <a:rPr lang="en-US" smtClean="0"/>
              <a:t>‹#›</a:t>
            </a:fld>
            <a:endParaRPr lang="en-US"/>
          </a:p>
        </p:txBody>
      </p:sp>
    </p:spTree>
    <p:extLst>
      <p:ext uri="{BB962C8B-B14F-4D97-AF65-F5344CB8AC3E}">
        <p14:creationId xmlns:p14="http://schemas.microsoft.com/office/powerpoint/2010/main" val="37657502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CDBE28-2732-66A2-163C-433854615E7C}"/>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270F3D6-B4BC-015F-96FA-1720B040CC96}"/>
              </a:ext>
            </a:extLst>
          </p:cNvPr>
          <p:cNvSpPr>
            <a:spLocks noGrp="1"/>
          </p:cNvSpPr>
          <p:nvPr>
            <p:ph type="dt" sz="half" idx="10"/>
          </p:nvPr>
        </p:nvSpPr>
        <p:spPr/>
        <p:txBody>
          <a:bodyPr/>
          <a:lstStyle/>
          <a:p>
            <a:fld id="{6383FAE1-13DE-4511-8C1B-C8AFB720664C}" type="datetimeFigureOut">
              <a:rPr lang="en-US" smtClean="0"/>
              <a:t>5/2/2026</a:t>
            </a:fld>
            <a:endParaRPr lang="en-US"/>
          </a:p>
        </p:txBody>
      </p:sp>
      <p:sp>
        <p:nvSpPr>
          <p:cNvPr id="4" name="Footer Placeholder 3">
            <a:extLst>
              <a:ext uri="{FF2B5EF4-FFF2-40B4-BE49-F238E27FC236}">
                <a16:creationId xmlns:a16="http://schemas.microsoft.com/office/drawing/2014/main" id="{21168A87-13A5-0A5A-4D74-C75E27775575}"/>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ADD6D7CB-BD93-54BE-CB47-7FBA06B18442}"/>
              </a:ext>
            </a:extLst>
          </p:cNvPr>
          <p:cNvSpPr>
            <a:spLocks noGrp="1"/>
          </p:cNvSpPr>
          <p:nvPr>
            <p:ph type="sldNum" sz="quarter" idx="12"/>
          </p:nvPr>
        </p:nvSpPr>
        <p:spPr/>
        <p:txBody>
          <a:bodyPr/>
          <a:lstStyle/>
          <a:p>
            <a:fld id="{81BC7A09-79EE-44A0-8F92-750D7C83D871}" type="slidenum">
              <a:rPr lang="en-US" smtClean="0"/>
              <a:t>‹#›</a:t>
            </a:fld>
            <a:endParaRPr lang="en-US"/>
          </a:p>
        </p:txBody>
      </p:sp>
    </p:spTree>
    <p:extLst>
      <p:ext uri="{BB962C8B-B14F-4D97-AF65-F5344CB8AC3E}">
        <p14:creationId xmlns:p14="http://schemas.microsoft.com/office/powerpoint/2010/main" val="73465083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9B4114B-4550-9F52-0EF5-D1E9CF2FD384}"/>
              </a:ext>
            </a:extLst>
          </p:cNvPr>
          <p:cNvSpPr>
            <a:spLocks noGrp="1"/>
          </p:cNvSpPr>
          <p:nvPr>
            <p:ph type="dt" sz="half" idx="10"/>
          </p:nvPr>
        </p:nvSpPr>
        <p:spPr/>
        <p:txBody>
          <a:bodyPr/>
          <a:lstStyle/>
          <a:p>
            <a:fld id="{6383FAE1-13DE-4511-8C1B-C8AFB720664C}" type="datetimeFigureOut">
              <a:rPr lang="en-US" smtClean="0"/>
              <a:t>5/2/2026</a:t>
            </a:fld>
            <a:endParaRPr lang="en-US"/>
          </a:p>
        </p:txBody>
      </p:sp>
      <p:sp>
        <p:nvSpPr>
          <p:cNvPr id="3" name="Footer Placeholder 2">
            <a:extLst>
              <a:ext uri="{FF2B5EF4-FFF2-40B4-BE49-F238E27FC236}">
                <a16:creationId xmlns:a16="http://schemas.microsoft.com/office/drawing/2014/main" id="{0BF3136E-0C79-F4F5-F24E-D5FF71CDB55C}"/>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9F2E2157-F670-A339-0CB7-7399568D5A1C}"/>
              </a:ext>
            </a:extLst>
          </p:cNvPr>
          <p:cNvSpPr>
            <a:spLocks noGrp="1"/>
          </p:cNvSpPr>
          <p:nvPr>
            <p:ph type="sldNum" sz="quarter" idx="12"/>
          </p:nvPr>
        </p:nvSpPr>
        <p:spPr/>
        <p:txBody>
          <a:bodyPr/>
          <a:lstStyle/>
          <a:p>
            <a:fld id="{81BC7A09-79EE-44A0-8F92-750D7C83D871}" type="slidenum">
              <a:rPr lang="en-US" smtClean="0"/>
              <a:t>‹#›</a:t>
            </a:fld>
            <a:endParaRPr lang="en-US"/>
          </a:p>
        </p:txBody>
      </p:sp>
    </p:spTree>
    <p:extLst>
      <p:ext uri="{BB962C8B-B14F-4D97-AF65-F5344CB8AC3E}">
        <p14:creationId xmlns:p14="http://schemas.microsoft.com/office/powerpoint/2010/main" val="379650147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802A98-8738-1E16-A16E-D8858EEA762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64FC67E5-1169-257D-D9E7-C7B952C2137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90B2CF6C-0F85-566A-86BC-CBFEB17E755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A64F0FC-ECB8-638F-A224-98FFA8270730}"/>
              </a:ext>
            </a:extLst>
          </p:cNvPr>
          <p:cNvSpPr>
            <a:spLocks noGrp="1"/>
          </p:cNvSpPr>
          <p:nvPr>
            <p:ph type="dt" sz="half" idx="10"/>
          </p:nvPr>
        </p:nvSpPr>
        <p:spPr/>
        <p:txBody>
          <a:bodyPr/>
          <a:lstStyle/>
          <a:p>
            <a:fld id="{6383FAE1-13DE-4511-8C1B-C8AFB720664C}" type="datetimeFigureOut">
              <a:rPr lang="en-US" smtClean="0"/>
              <a:t>5/2/2026</a:t>
            </a:fld>
            <a:endParaRPr lang="en-US"/>
          </a:p>
        </p:txBody>
      </p:sp>
      <p:sp>
        <p:nvSpPr>
          <p:cNvPr id="6" name="Footer Placeholder 5">
            <a:extLst>
              <a:ext uri="{FF2B5EF4-FFF2-40B4-BE49-F238E27FC236}">
                <a16:creationId xmlns:a16="http://schemas.microsoft.com/office/drawing/2014/main" id="{A8095B89-4DC8-435E-3545-6187AD3E00A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71B68CF-9592-FB7C-B517-0CC962C8B6DC}"/>
              </a:ext>
            </a:extLst>
          </p:cNvPr>
          <p:cNvSpPr>
            <a:spLocks noGrp="1"/>
          </p:cNvSpPr>
          <p:nvPr>
            <p:ph type="sldNum" sz="quarter" idx="12"/>
          </p:nvPr>
        </p:nvSpPr>
        <p:spPr/>
        <p:txBody>
          <a:bodyPr/>
          <a:lstStyle/>
          <a:p>
            <a:fld id="{81BC7A09-79EE-44A0-8F92-750D7C83D871}" type="slidenum">
              <a:rPr lang="en-US" smtClean="0"/>
              <a:t>‹#›</a:t>
            </a:fld>
            <a:endParaRPr lang="en-US"/>
          </a:p>
        </p:txBody>
      </p:sp>
    </p:spTree>
    <p:extLst>
      <p:ext uri="{BB962C8B-B14F-4D97-AF65-F5344CB8AC3E}">
        <p14:creationId xmlns:p14="http://schemas.microsoft.com/office/powerpoint/2010/main" val="264430072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3E2BC2-F728-2BA5-C848-31FA3458ADF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B957B909-12C3-703B-57E9-008076312F6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FDAE4D7A-BC41-33D0-D36D-08BB5C2C594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B17FB83-437D-9293-0B99-2DC89A047DD5}"/>
              </a:ext>
            </a:extLst>
          </p:cNvPr>
          <p:cNvSpPr>
            <a:spLocks noGrp="1"/>
          </p:cNvSpPr>
          <p:nvPr>
            <p:ph type="dt" sz="half" idx="10"/>
          </p:nvPr>
        </p:nvSpPr>
        <p:spPr/>
        <p:txBody>
          <a:bodyPr/>
          <a:lstStyle/>
          <a:p>
            <a:fld id="{6383FAE1-13DE-4511-8C1B-C8AFB720664C}" type="datetimeFigureOut">
              <a:rPr lang="en-US" smtClean="0"/>
              <a:t>5/2/2026</a:t>
            </a:fld>
            <a:endParaRPr lang="en-US"/>
          </a:p>
        </p:txBody>
      </p:sp>
      <p:sp>
        <p:nvSpPr>
          <p:cNvPr id="6" name="Footer Placeholder 5">
            <a:extLst>
              <a:ext uri="{FF2B5EF4-FFF2-40B4-BE49-F238E27FC236}">
                <a16:creationId xmlns:a16="http://schemas.microsoft.com/office/drawing/2014/main" id="{1EDF5674-4DC1-3171-8FEB-C280686D413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DD431F6-5490-78BA-7028-0BD08BF1A0FA}"/>
              </a:ext>
            </a:extLst>
          </p:cNvPr>
          <p:cNvSpPr>
            <a:spLocks noGrp="1"/>
          </p:cNvSpPr>
          <p:nvPr>
            <p:ph type="sldNum" sz="quarter" idx="12"/>
          </p:nvPr>
        </p:nvSpPr>
        <p:spPr/>
        <p:txBody>
          <a:bodyPr/>
          <a:lstStyle/>
          <a:p>
            <a:fld id="{81BC7A09-79EE-44A0-8F92-750D7C83D871}" type="slidenum">
              <a:rPr lang="en-US" smtClean="0"/>
              <a:t>‹#›</a:t>
            </a:fld>
            <a:endParaRPr lang="en-US"/>
          </a:p>
        </p:txBody>
      </p:sp>
    </p:spTree>
    <p:extLst>
      <p:ext uri="{BB962C8B-B14F-4D97-AF65-F5344CB8AC3E}">
        <p14:creationId xmlns:p14="http://schemas.microsoft.com/office/powerpoint/2010/main" val="238086031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B3002A-A21A-4F99-1BCE-F61C85D7B652}"/>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50E85D03-9A7F-4A9E-379E-2DEA86D21FC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FDEEFB4-95FB-FEDD-75E7-143E7ED29C8A}"/>
              </a:ext>
            </a:extLst>
          </p:cNvPr>
          <p:cNvSpPr>
            <a:spLocks noGrp="1"/>
          </p:cNvSpPr>
          <p:nvPr>
            <p:ph type="dt" sz="half" idx="10"/>
          </p:nvPr>
        </p:nvSpPr>
        <p:spPr/>
        <p:txBody>
          <a:bodyPr/>
          <a:lstStyle/>
          <a:p>
            <a:fld id="{6383FAE1-13DE-4511-8C1B-C8AFB720664C}" type="datetimeFigureOut">
              <a:rPr lang="en-US" smtClean="0"/>
              <a:t>5/2/2026</a:t>
            </a:fld>
            <a:endParaRPr lang="en-US"/>
          </a:p>
        </p:txBody>
      </p:sp>
      <p:sp>
        <p:nvSpPr>
          <p:cNvPr id="5" name="Footer Placeholder 4">
            <a:extLst>
              <a:ext uri="{FF2B5EF4-FFF2-40B4-BE49-F238E27FC236}">
                <a16:creationId xmlns:a16="http://schemas.microsoft.com/office/drawing/2014/main" id="{F1BCE0D7-1712-FF0C-D965-BFD5AE1610F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32632A1-4243-F65B-A2B0-3F2142C3415D}"/>
              </a:ext>
            </a:extLst>
          </p:cNvPr>
          <p:cNvSpPr>
            <a:spLocks noGrp="1"/>
          </p:cNvSpPr>
          <p:nvPr>
            <p:ph type="sldNum" sz="quarter" idx="12"/>
          </p:nvPr>
        </p:nvSpPr>
        <p:spPr/>
        <p:txBody>
          <a:bodyPr/>
          <a:lstStyle/>
          <a:p>
            <a:fld id="{81BC7A09-79EE-44A0-8F92-750D7C83D871}" type="slidenum">
              <a:rPr lang="en-US" smtClean="0"/>
              <a:t>‹#›</a:t>
            </a:fld>
            <a:endParaRPr lang="en-US"/>
          </a:p>
        </p:txBody>
      </p:sp>
    </p:spTree>
    <p:extLst>
      <p:ext uri="{BB962C8B-B14F-4D97-AF65-F5344CB8AC3E}">
        <p14:creationId xmlns:p14="http://schemas.microsoft.com/office/powerpoint/2010/main" val="42750797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2293F13-2480-AB35-1A68-57A54CE6CD63}"/>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3BDA286C-2521-2961-CABA-5684DF43FB2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4D5FF44-F63B-872A-DC8D-A873790A64A3}"/>
              </a:ext>
            </a:extLst>
          </p:cNvPr>
          <p:cNvSpPr>
            <a:spLocks noGrp="1"/>
          </p:cNvSpPr>
          <p:nvPr>
            <p:ph type="dt" sz="half" idx="10"/>
          </p:nvPr>
        </p:nvSpPr>
        <p:spPr/>
        <p:txBody>
          <a:bodyPr/>
          <a:lstStyle/>
          <a:p>
            <a:fld id="{6383FAE1-13DE-4511-8C1B-C8AFB720664C}" type="datetimeFigureOut">
              <a:rPr lang="en-US" smtClean="0"/>
              <a:t>5/2/2026</a:t>
            </a:fld>
            <a:endParaRPr lang="en-US"/>
          </a:p>
        </p:txBody>
      </p:sp>
      <p:sp>
        <p:nvSpPr>
          <p:cNvPr id="5" name="Footer Placeholder 4">
            <a:extLst>
              <a:ext uri="{FF2B5EF4-FFF2-40B4-BE49-F238E27FC236}">
                <a16:creationId xmlns:a16="http://schemas.microsoft.com/office/drawing/2014/main" id="{4E653A11-7793-38C6-0506-A6FBE9A02A1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10962C0-F018-7629-445C-DDCA8AE1401B}"/>
              </a:ext>
            </a:extLst>
          </p:cNvPr>
          <p:cNvSpPr>
            <a:spLocks noGrp="1"/>
          </p:cNvSpPr>
          <p:nvPr>
            <p:ph type="sldNum" sz="quarter" idx="12"/>
          </p:nvPr>
        </p:nvSpPr>
        <p:spPr/>
        <p:txBody>
          <a:bodyPr/>
          <a:lstStyle/>
          <a:p>
            <a:fld id="{81BC7A09-79EE-44A0-8F92-750D7C83D871}" type="slidenum">
              <a:rPr lang="en-US" smtClean="0"/>
              <a:t>‹#›</a:t>
            </a:fld>
            <a:endParaRPr lang="en-US"/>
          </a:p>
        </p:txBody>
      </p:sp>
    </p:spTree>
    <p:extLst>
      <p:ext uri="{BB962C8B-B14F-4D97-AF65-F5344CB8AC3E}">
        <p14:creationId xmlns:p14="http://schemas.microsoft.com/office/powerpoint/2010/main" val="261299880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3CEE1C2-DF65-6CAD-D1EF-22450840439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a:extLst>
              <a:ext uri="{FF2B5EF4-FFF2-40B4-BE49-F238E27FC236}">
                <a16:creationId xmlns:a16="http://schemas.microsoft.com/office/drawing/2014/main" id="{46AFB6A6-8766-C849-1846-0F387502412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CB55176B-E136-1615-D0B5-186783ACB8F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383FAE1-13DE-4511-8C1B-C8AFB720664C}" type="datetimeFigureOut">
              <a:rPr lang="en-US" smtClean="0"/>
              <a:t>5/2/2026</a:t>
            </a:fld>
            <a:endParaRPr lang="en-US"/>
          </a:p>
        </p:txBody>
      </p:sp>
      <p:sp>
        <p:nvSpPr>
          <p:cNvPr id="5" name="Footer Placeholder 4">
            <a:extLst>
              <a:ext uri="{FF2B5EF4-FFF2-40B4-BE49-F238E27FC236}">
                <a16:creationId xmlns:a16="http://schemas.microsoft.com/office/drawing/2014/main" id="{5E5AAAF6-4731-DB91-AB26-A07CEF1B9D2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9814165E-BEE7-F086-BE90-50642610F09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1BC7A09-79EE-44A0-8F92-750D7C83D871}" type="slidenum">
              <a:rPr lang="en-US" smtClean="0"/>
              <a:t>‹#›</a:t>
            </a:fld>
            <a:endParaRPr lang="en-US"/>
          </a:p>
        </p:txBody>
      </p:sp>
      <p:pic>
        <p:nvPicPr>
          <p:cNvPr id="8" name="Picture 7">
            <a:extLst>
              <a:ext uri="{FF2B5EF4-FFF2-40B4-BE49-F238E27FC236}">
                <a16:creationId xmlns:a16="http://schemas.microsoft.com/office/drawing/2014/main" id="{9F3932AB-6107-98C9-CEDA-32A7DF597298}"/>
              </a:ext>
            </a:extLst>
          </p:cNvPr>
          <p:cNvPicPr>
            <a:picLocks noChangeAspect="1"/>
          </p:cNvPicPr>
          <p:nvPr userDrawn="1"/>
        </p:nvPicPr>
        <p:blipFill>
          <a:blip r:embed="rId13">
            <a:alphaModFix amt="50000"/>
            <a:extLst>
              <a:ext uri="{28A0092B-C50C-407E-A947-70E740481C1C}">
                <a14:useLocalDpi xmlns:a14="http://schemas.microsoft.com/office/drawing/2010/main" val="0"/>
              </a:ext>
            </a:extLst>
          </a:blip>
          <a:srcRect l="26008" t="39529" r="41606" b="46715"/>
          <a:stretch>
            <a:fillRect/>
          </a:stretch>
        </p:blipFill>
        <p:spPr>
          <a:xfrm>
            <a:off x="212435" y="136524"/>
            <a:ext cx="1330037" cy="1025209"/>
          </a:xfrm>
          <a:prstGeom prst="ellipse">
            <a:avLst/>
          </a:prstGeom>
          <a:ln w="63500" cap="rnd">
            <a:solidFill>
              <a:srgbClr val="33333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pic>
        <p:nvPicPr>
          <p:cNvPr id="7" name="Picture 6">
            <a:extLst>
              <a:ext uri="{FF2B5EF4-FFF2-40B4-BE49-F238E27FC236}">
                <a16:creationId xmlns:a16="http://schemas.microsoft.com/office/drawing/2014/main" id="{2CA22C5A-FA6D-B699-950E-8D249A969331}"/>
              </a:ext>
            </a:extLst>
          </p:cNvPr>
          <p:cNvPicPr>
            <a:picLocks noChangeAspect="1"/>
          </p:cNvPicPr>
          <p:nvPr userDrawn="1"/>
        </p:nvPicPr>
        <p:blipFill>
          <a:blip r:embed="rId13">
            <a:alphaModFix/>
            <a:extLst>
              <a:ext uri="{28A0092B-C50C-407E-A947-70E740481C1C}">
                <a14:useLocalDpi xmlns:a14="http://schemas.microsoft.com/office/drawing/2010/main" val="0"/>
              </a:ext>
            </a:extLst>
          </a:blip>
          <a:srcRect l="26008" t="39529" r="41606" b="46715"/>
          <a:stretch>
            <a:fillRect/>
          </a:stretch>
        </p:blipFill>
        <p:spPr>
          <a:xfrm>
            <a:off x="10855909" y="185738"/>
            <a:ext cx="1123656" cy="866128"/>
          </a:xfrm>
          <a:prstGeom prst="ellipse">
            <a:avLst/>
          </a:prstGeom>
          <a:ln w="63500" cap="rnd">
            <a:solidFill>
              <a:srgbClr val="33333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spTree>
    <p:extLst>
      <p:ext uri="{BB962C8B-B14F-4D97-AF65-F5344CB8AC3E}">
        <p14:creationId xmlns:p14="http://schemas.microsoft.com/office/powerpoint/2010/main" val="149997318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accent6">
              <a:lumMod val="60000"/>
              <a:lumOff val="40000"/>
            </a:schemeClr>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accent6">
              <a:lumMod val="60000"/>
              <a:lumOff val="40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accent6">
              <a:lumMod val="60000"/>
              <a:lumOff val="40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accent6">
              <a:lumMod val="60000"/>
              <a:lumOff val="40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accent6">
              <a:lumMod val="60000"/>
              <a:lumOff val="40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accent6">
              <a:lumMod val="60000"/>
              <a:lumOff val="40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hyperlink" Target="https://www.deeplearning.ai/the-batch/issue-44/" TargetMode="Externa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hyperlink" Target="https://deeplearning.ai/the-batch/online-clues-to-mental-illness/" TargetMode="External"/><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hyperlink" Target="https://deeplearning.ai/the-batch/outing-hidden-hatred/" TargetMode="External"/><Relationship Id="rId2" Type="http://schemas.openxmlformats.org/officeDocument/2006/relationships/hyperlink" Target="https://deeplearning.ai/the-batch/news-haters-gonna-mute/" TargetMode="External"/><Relationship Id="rId1" Type="http://schemas.openxmlformats.org/officeDocument/2006/relationships/slideLayout" Target="../slideLayouts/slideLayout2.xml"/><Relationship Id="rId4" Type="http://schemas.openxmlformats.org/officeDocument/2006/relationships/hyperlink" Target="https://deeplearning.ai/the-batch/double-check-for-defamation/"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hyperlink" Target="https://deeplearning.ai/the-batch/ai-makes-headlines/" TargetMode="External"/><Relationship Id="rId2" Type="http://schemas.openxmlformats.org/officeDocument/2006/relationships/image" Target="../media/image3.jpg"/><Relationship Id="rId1" Type="http://schemas.openxmlformats.org/officeDocument/2006/relationships/slideLayout" Target="../slideLayouts/slideLayout2.xml"/><Relationship Id="rId4" Type="http://schemas.openxmlformats.org/officeDocument/2006/relationships/hyperlink" Target="https://deeplearning.ai/the-batch/propaganda-watch/" TargetMode="External"/></Relationships>
</file>

<file path=ppt/slides/_rels/slide9.xml.rels><?xml version="1.0" encoding="UTF-8" standalone="yes"?>
<Relationships xmlns="http://schemas.openxmlformats.org/package/2006/relationships"><Relationship Id="rId3" Type="http://schemas.openxmlformats.org/officeDocument/2006/relationships/hyperlink" Target="https://support.microsoft.com/en-us/office/microsoft-editor-checks-grammar-and-more-in-documents-mail-and-the-web-91ecbe1b-d021-4e9e-a82e-abc4cd7163d7" TargetMode="External"/><Relationship Id="rId2" Type="http://schemas.openxmlformats.org/officeDocument/2006/relationships/hyperlink" Target="https://www.grammarly.com/blog/how-grammarly-uses-ai/" TargetMode="External"/><Relationship Id="rId1" Type="http://schemas.openxmlformats.org/officeDocument/2006/relationships/slideLayout" Target="../slideLayouts/slideLayout2.xml"/><Relationship Id="rId4" Type="http://schemas.openxmlformats.org/officeDocument/2006/relationships/hyperlink" Target="https://deeplearning.ai/the-batch/smart-students-dumb-algorithms/" TargetMode="External"/></Relationships>
</file>

<file path=ppt/slides/_rels/slide10.xml.rels><?xml version="1.0" encoding="UTF-8" standalone="yes"?>
<Relationships xmlns="http://schemas.openxmlformats.org/package/2006/relationships"><Relationship Id="rId2" Type="http://schemas.openxmlformats.org/officeDocument/2006/relationships/hyperlink" Target="https://deeplearning.ai/the-batch/order-in-the-court/" TargetMode="Externa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hyperlink" Target="https://mathworld.wolfram.com/MarkovProcess.html" TargetMode="External"/><Relationship Id="rId7" Type="http://schemas.openxmlformats.org/officeDocument/2006/relationships/hyperlink" Target="https://blog.google/technology/ai/lamda/" TargetMode="External"/><Relationship Id="rId2" Type="http://schemas.openxmlformats.org/officeDocument/2006/relationships/hyperlink" Target="https://deeplearning.ai/the-batch/generation-text/" TargetMode="External"/><Relationship Id="rId1" Type="http://schemas.openxmlformats.org/officeDocument/2006/relationships/slideLayout" Target="../slideLayouts/slideLayout2.xml"/><Relationship Id="rId6" Type="http://schemas.openxmlformats.org/officeDocument/2006/relationships/hyperlink" Target="https://openai.com/blog/tags/gpt-2/" TargetMode="External"/><Relationship Id="rId5" Type="http://schemas.openxmlformats.org/officeDocument/2006/relationships/hyperlink" Target="https://arxiv.org/abs/1810.04805" TargetMode="External"/><Relationship Id="rId4" Type="http://schemas.openxmlformats.org/officeDocument/2006/relationships/hyperlink" Target="https://machinelearningmastery.com/gentle-introduction-long-short-term-memory-networks-experts/" TargetMode="Externa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90151627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6D750E43-1789-93E3-78CF-5EB63D453ED7}"/>
              </a:ext>
            </a:extLst>
          </p:cNvPr>
          <p:cNvSpPr txBox="1"/>
          <p:nvPr/>
        </p:nvSpPr>
        <p:spPr>
          <a:xfrm>
            <a:off x="2784348" y="1497830"/>
            <a:ext cx="6190488" cy="2308324"/>
          </a:xfrm>
          <a:prstGeom prst="rect">
            <a:avLst/>
          </a:prstGeom>
          <a:noFill/>
        </p:spPr>
        <p:txBody>
          <a:bodyPr wrap="square">
            <a:spAutoFit/>
          </a:bodyPr>
          <a:lstStyle/>
          <a:p>
            <a:pPr algn="ctr"/>
            <a:r>
              <a:rPr lang="en-US" sz="4800" dirty="0">
                <a:solidFill>
                  <a:schemeClr val="accent6">
                    <a:lumMod val="60000"/>
                    <a:lumOff val="40000"/>
                  </a:schemeClr>
                </a:solidFill>
              </a:rPr>
              <a:t>NLP</a:t>
            </a:r>
          </a:p>
          <a:p>
            <a:pPr algn="ctr"/>
            <a:r>
              <a:rPr lang="en-US" sz="4800" dirty="0">
                <a:solidFill>
                  <a:schemeClr val="accent6">
                    <a:lumMod val="60000"/>
                    <a:lumOff val="40000"/>
                  </a:schemeClr>
                </a:solidFill>
              </a:rPr>
              <a:t>Applications</a:t>
            </a:r>
          </a:p>
          <a:p>
            <a:pPr algn="ctr"/>
            <a:r>
              <a:rPr lang="en-US" sz="4800" dirty="0">
                <a:solidFill>
                  <a:schemeClr val="accent6">
                    <a:lumMod val="60000"/>
                    <a:lumOff val="40000"/>
                  </a:schemeClr>
                </a:solidFill>
              </a:rPr>
              <a:t>Challenges</a:t>
            </a:r>
          </a:p>
        </p:txBody>
      </p:sp>
    </p:spTree>
    <p:extLst>
      <p:ext uri="{BB962C8B-B14F-4D97-AF65-F5344CB8AC3E}">
        <p14:creationId xmlns:p14="http://schemas.microsoft.com/office/powerpoint/2010/main" val="324863202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0E83D046-C7A2-B439-7671-8767ACE0AEA0}"/>
              </a:ext>
            </a:extLst>
          </p:cNvPr>
          <p:cNvSpPr txBox="1"/>
          <p:nvPr/>
        </p:nvSpPr>
        <p:spPr>
          <a:xfrm>
            <a:off x="242316" y="219372"/>
            <a:ext cx="6190488" cy="461665"/>
          </a:xfrm>
          <a:prstGeom prst="rect">
            <a:avLst/>
          </a:prstGeom>
          <a:noFill/>
        </p:spPr>
        <p:txBody>
          <a:bodyPr wrap="square">
            <a:spAutoFit/>
          </a:bodyPr>
          <a:lstStyle/>
          <a:p>
            <a:r>
              <a:rPr lang="en-US" sz="2400" dirty="0">
                <a:solidFill>
                  <a:schemeClr val="accent6">
                    <a:lumMod val="60000"/>
                    <a:lumOff val="40000"/>
                  </a:schemeClr>
                </a:solidFill>
              </a:rPr>
              <a:t>What is NLP ?</a:t>
            </a:r>
          </a:p>
        </p:txBody>
      </p:sp>
      <p:sp>
        <p:nvSpPr>
          <p:cNvPr id="7" name="TextBox 6">
            <a:extLst>
              <a:ext uri="{FF2B5EF4-FFF2-40B4-BE49-F238E27FC236}">
                <a16:creationId xmlns:a16="http://schemas.microsoft.com/office/drawing/2014/main" id="{866A42AB-B381-1F93-2D25-D3652F28D65C}"/>
              </a:ext>
            </a:extLst>
          </p:cNvPr>
          <p:cNvSpPr txBox="1"/>
          <p:nvPr/>
        </p:nvSpPr>
        <p:spPr>
          <a:xfrm>
            <a:off x="429768" y="1166843"/>
            <a:ext cx="11667744" cy="3785652"/>
          </a:xfrm>
          <a:prstGeom prst="rect">
            <a:avLst/>
          </a:prstGeom>
          <a:noFill/>
        </p:spPr>
        <p:txBody>
          <a:bodyPr wrap="square">
            <a:spAutoFit/>
          </a:bodyPr>
          <a:lstStyle/>
          <a:p>
            <a:r>
              <a:rPr lang="en-US" sz="2400" dirty="0">
                <a:solidFill>
                  <a:schemeClr val="accent6">
                    <a:lumMod val="60000"/>
                    <a:lumOff val="40000"/>
                  </a:schemeClr>
                </a:solidFill>
                <a:hlinkClick r:id="rId2">
                  <a:extLst>
                    <a:ext uri="{A12FA001-AC4F-418D-AE19-62706E023703}">
                      <ahyp:hlinkClr xmlns:ahyp="http://schemas.microsoft.com/office/drawing/2018/hyperlinkcolor" val="tx"/>
                    </a:ext>
                  </a:extLst>
                </a:hlinkClick>
              </a:rPr>
              <a:t>Natural language processing (NLP)</a:t>
            </a:r>
            <a:r>
              <a:rPr lang="en-US" sz="2400" dirty="0">
                <a:solidFill>
                  <a:schemeClr val="accent6">
                    <a:lumMod val="60000"/>
                    <a:lumOff val="40000"/>
                  </a:schemeClr>
                </a:solidFill>
              </a:rPr>
              <a:t> is the discipline of building machines that can manipulate human language — or data that resembles human language — in the way that it is written, spoken, and organized. </a:t>
            </a:r>
          </a:p>
          <a:p>
            <a:endParaRPr lang="en-US" sz="2400" dirty="0">
              <a:solidFill>
                <a:schemeClr val="accent6">
                  <a:lumMod val="60000"/>
                  <a:lumOff val="40000"/>
                </a:schemeClr>
              </a:solidFill>
            </a:endParaRPr>
          </a:p>
          <a:p>
            <a:endParaRPr lang="en-US" sz="2400" dirty="0">
              <a:solidFill>
                <a:schemeClr val="accent6">
                  <a:lumMod val="60000"/>
                  <a:lumOff val="40000"/>
                </a:schemeClr>
              </a:solidFill>
            </a:endParaRPr>
          </a:p>
          <a:p>
            <a:r>
              <a:rPr lang="en-US" sz="2400" dirty="0">
                <a:solidFill>
                  <a:schemeClr val="accent6">
                    <a:lumMod val="60000"/>
                    <a:lumOff val="40000"/>
                  </a:schemeClr>
                </a:solidFill>
              </a:rPr>
              <a:t>NLP can be divided into two overlapping subfields: </a:t>
            </a:r>
          </a:p>
          <a:p>
            <a:pPr marL="342900" indent="-342900">
              <a:buFont typeface="Arial" panose="020B0604020202020204" pitchFamily="34" charset="0"/>
              <a:buChar char="•"/>
            </a:pPr>
            <a:r>
              <a:rPr lang="en-US" sz="2400" dirty="0">
                <a:solidFill>
                  <a:schemeClr val="accent6">
                    <a:lumMod val="60000"/>
                    <a:lumOff val="40000"/>
                  </a:schemeClr>
                </a:solidFill>
              </a:rPr>
              <a:t>natural language understanding (NLU), which focuses on semantic analysis or determining the intended meaning of text, and </a:t>
            </a:r>
          </a:p>
          <a:p>
            <a:pPr marL="342900" indent="-342900">
              <a:buFont typeface="Arial" panose="020B0604020202020204" pitchFamily="34" charset="0"/>
              <a:buChar char="•"/>
            </a:pPr>
            <a:r>
              <a:rPr lang="en-US" sz="2400" dirty="0">
                <a:solidFill>
                  <a:schemeClr val="accent6">
                    <a:lumMod val="60000"/>
                    <a:lumOff val="40000"/>
                  </a:schemeClr>
                </a:solidFill>
              </a:rPr>
              <a:t>natural language generation (NLG), which focuses on text generation by a machine. </a:t>
            </a:r>
          </a:p>
          <a:p>
            <a:endParaRPr lang="en-US" sz="2400" dirty="0">
              <a:solidFill>
                <a:schemeClr val="accent6">
                  <a:lumMod val="60000"/>
                  <a:lumOff val="40000"/>
                </a:schemeClr>
              </a:solidFill>
            </a:endParaRPr>
          </a:p>
        </p:txBody>
      </p:sp>
    </p:spTree>
    <p:extLst>
      <p:ext uri="{BB962C8B-B14F-4D97-AF65-F5344CB8AC3E}">
        <p14:creationId xmlns:p14="http://schemas.microsoft.com/office/powerpoint/2010/main" val="207467447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F26B5AA7-2F89-DFF3-DA99-11737D1AE41B}"/>
              </a:ext>
            </a:extLst>
          </p:cNvPr>
          <p:cNvSpPr txBox="1"/>
          <p:nvPr/>
        </p:nvSpPr>
        <p:spPr>
          <a:xfrm>
            <a:off x="3150108" y="2787134"/>
            <a:ext cx="6190488" cy="707886"/>
          </a:xfrm>
          <a:prstGeom prst="rect">
            <a:avLst/>
          </a:prstGeom>
          <a:noFill/>
        </p:spPr>
        <p:txBody>
          <a:bodyPr wrap="square">
            <a:spAutoFit/>
          </a:bodyPr>
          <a:lstStyle/>
          <a:p>
            <a:pPr algn="ctr"/>
            <a:r>
              <a:rPr lang="en-US" sz="4000" dirty="0">
                <a:solidFill>
                  <a:schemeClr val="accent6">
                    <a:lumMod val="60000"/>
                    <a:lumOff val="40000"/>
                  </a:schemeClr>
                </a:solidFill>
              </a:rPr>
              <a:t>NLP : Applications</a:t>
            </a:r>
          </a:p>
        </p:txBody>
      </p:sp>
    </p:spTree>
    <p:extLst>
      <p:ext uri="{BB962C8B-B14F-4D97-AF65-F5344CB8AC3E}">
        <p14:creationId xmlns:p14="http://schemas.microsoft.com/office/powerpoint/2010/main" val="329748349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BFBF86-9744-98BC-4A92-69767F14D002}"/>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7D758D68-8029-2D20-DCC7-118292C4476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110294" y="3782561"/>
            <a:ext cx="6400800" cy="2933700"/>
          </a:xfrm>
          <a:prstGeom prst="rect">
            <a:avLst/>
          </a:prstGeom>
        </p:spPr>
      </p:pic>
      <p:sp>
        <p:nvSpPr>
          <p:cNvPr id="5" name="TextBox 4">
            <a:extLst>
              <a:ext uri="{FF2B5EF4-FFF2-40B4-BE49-F238E27FC236}">
                <a16:creationId xmlns:a16="http://schemas.microsoft.com/office/drawing/2014/main" id="{14BE0CA5-9E30-3F52-D064-3BA5DCACE8BE}"/>
              </a:ext>
            </a:extLst>
          </p:cNvPr>
          <p:cNvSpPr txBox="1"/>
          <p:nvPr/>
        </p:nvSpPr>
        <p:spPr>
          <a:xfrm>
            <a:off x="173736" y="141739"/>
            <a:ext cx="11210544" cy="3416320"/>
          </a:xfrm>
          <a:prstGeom prst="rect">
            <a:avLst/>
          </a:prstGeom>
          <a:noFill/>
        </p:spPr>
        <p:txBody>
          <a:bodyPr wrap="square">
            <a:spAutoFit/>
          </a:bodyPr>
          <a:lstStyle/>
          <a:p>
            <a:r>
              <a:rPr lang="en-US" sz="2400" b="1" dirty="0">
                <a:solidFill>
                  <a:schemeClr val="accent6">
                    <a:lumMod val="60000"/>
                    <a:lumOff val="40000"/>
                  </a:schemeClr>
                </a:solidFill>
              </a:rPr>
              <a:t>Sentiment analysis</a:t>
            </a:r>
            <a:r>
              <a:rPr lang="en-US" sz="2400" dirty="0">
                <a:solidFill>
                  <a:schemeClr val="accent6">
                    <a:lumMod val="60000"/>
                    <a:lumOff val="40000"/>
                  </a:schemeClr>
                </a:solidFill>
              </a:rPr>
              <a:t> </a:t>
            </a:r>
          </a:p>
          <a:p>
            <a:endParaRPr lang="en-US" sz="2400" dirty="0">
              <a:solidFill>
                <a:schemeClr val="accent6">
                  <a:lumMod val="60000"/>
                  <a:lumOff val="40000"/>
                </a:schemeClr>
              </a:solidFill>
            </a:endParaRPr>
          </a:p>
          <a:p>
            <a:r>
              <a:rPr lang="en-US" sz="2400" dirty="0">
                <a:solidFill>
                  <a:schemeClr val="accent6">
                    <a:lumMod val="60000"/>
                    <a:lumOff val="40000"/>
                  </a:schemeClr>
                </a:solidFill>
              </a:rPr>
              <a:t>Process of classifying the emotional intent of text. Generally, the input to a sentiment classification model is a piece of text, and the output is the probability that the sentiment expressed is positive, negative, or neutral. </a:t>
            </a:r>
          </a:p>
          <a:p>
            <a:endParaRPr lang="en-US" sz="2400" dirty="0">
              <a:solidFill>
                <a:schemeClr val="accent6">
                  <a:lumMod val="60000"/>
                  <a:lumOff val="40000"/>
                </a:schemeClr>
              </a:solidFill>
            </a:endParaRPr>
          </a:p>
          <a:p>
            <a:r>
              <a:rPr lang="en-US" sz="2400" dirty="0">
                <a:solidFill>
                  <a:schemeClr val="accent6">
                    <a:lumMod val="60000"/>
                    <a:lumOff val="40000"/>
                  </a:schemeClr>
                </a:solidFill>
              </a:rPr>
              <a:t>Sentiment analysis is used to</a:t>
            </a:r>
          </a:p>
          <a:p>
            <a:pPr marL="342900" indent="-342900">
              <a:buFont typeface="Arial" panose="020B0604020202020204" pitchFamily="34" charset="0"/>
              <a:buChar char="•"/>
            </a:pPr>
            <a:r>
              <a:rPr lang="en-US" sz="2400" dirty="0">
                <a:solidFill>
                  <a:schemeClr val="accent6">
                    <a:lumMod val="60000"/>
                    <a:lumOff val="40000"/>
                  </a:schemeClr>
                </a:solidFill>
              </a:rPr>
              <a:t>classify customer reviews on various online platforms</a:t>
            </a:r>
          </a:p>
          <a:p>
            <a:pPr marL="342900" indent="-342900">
              <a:buFont typeface="Arial" panose="020B0604020202020204" pitchFamily="34" charset="0"/>
              <a:buChar char="•"/>
            </a:pPr>
            <a:r>
              <a:rPr lang="en-US" sz="2400" dirty="0">
                <a:solidFill>
                  <a:schemeClr val="accent6">
                    <a:lumMod val="60000"/>
                    <a:lumOff val="40000"/>
                  </a:schemeClr>
                </a:solidFill>
              </a:rPr>
              <a:t>identify </a:t>
            </a:r>
            <a:r>
              <a:rPr lang="en-US" sz="2400" dirty="0">
                <a:solidFill>
                  <a:schemeClr val="accent6">
                    <a:lumMod val="60000"/>
                    <a:lumOff val="40000"/>
                  </a:schemeClr>
                </a:solidFill>
                <a:hlinkClick r:id="rId3">
                  <a:extLst>
                    <a:ext uri="{A12FA001-AC4F-418D-AE19-62706E023703}">
                      <ahyp:hlinkClr xmlns:ahyp="http://schemas.microsoft.com/office/drawing/2018/hyperlinkcolor" val="tx"/>
                    </a:ext>
                  </a:extLst>
                </a:hlinkClick>
              </a:rPr>
              <a:t>signs of mental illness</a:t>
            </a:r>
            <a:r>
              <a:rPr lang="en-US" sz="2400" dirty="0">
                <a:solidFill>
                  <a:schemeClr val="accent6">
                    <a:lumMod val="60000"/>
                    <a:lumOff val="40000"/>
                  </a:schemeClr>
                </a:solidFill>
              </a:rPr>
              <a:t> in online comments.</a:t>
            </a:r>
          </a:p>
        </p:txBody>
      </p:sp>
    </p:spTree>
    <p:extLst>
      <p:ext uri="{BB962C8B-B14F-4D97-AF65-F5344CB8AC3E}">
        <p14:creationId xmlns:p14="http://schemas.microsoft.com/office/powerpoint/2010/main" val="205762163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A6A16D12-52BF-D158-904D-B81BBF325187}"/>
              </a:ext>
            </a:extLst>
          </p:cNvPr>
          <p:cNvSpPr txBox="1"/>
          <p:nvPr/>
        </p:nvSpPr>
        <p:spPr>
          <a:xfrm>
            <a:off x="593980" y="270963"/>
            <a:ext cx="11530964" cy="3785652"/>
          </a:xfrm>
          <a:prstGeom prst="rect">
            <a:avLst/>
          </a:prstGeom>
          <a:noFill/>
        </p:spPr>
        <p:txBody>
          <a:bodyPr wrap="square">
            <a:spAutoFit/>
          </a:bodyPr>
          <a:lstStyle/>
          <a:p>
            <a:r>
              <a:rPr lang="en-US" sz="2400" b="1" dirty="0">
                <a:solidFill>
                  <a:schemeClr val="accent6">
                    <a:lumMod val="60000"/>
                    <a:lumOff val="40000"/>
                  </a:schemeClr>
                </a:solidFill>
              </a:rPr>
              <a:t>Toxicity classification</a:t>
            </a:r>
          </a:p>
          <a:p>
            <a:endParaRPr lang="en-US" sz="2400" b="1" dirty="0">
              <a:solidFill>
                <a:schemeClr val="accent6">
                  <a:lumMod val="60000"/>
                  <a:lumOff val="40000"/>
                </a:schemeClr>
              </a:solidFill>
            </a:endParaRPr>
          </a:p>
          <a:p>
            <a:r>
              <a:rPr lang="en-US" sz="2400" b="1" dirty="0">
                <a:solidFill>
                  <a:schemeClr val="accent6">
                    <a:lumMod val="60000"/>
                    <a:lumOff val="40000"/>
                  </a:schemeClr>
                </a:solidFill>
              </a:rPr>
              <a:t>B</a:t>
            </a:r>
            <a:r>
              <a:rPr lang="en-US" sz="2400" dirty="0">
                <a:solidFill>
                  <a:schemeClr val="accent6">
                    <a:lumMod val="60000"/>
                    <a:lumOff val="40000"/>
                  </a:schemeClr>
                </a:solidFill>
              </a:rPr>
              <a:t>ranch of sentiment analysis where the aim is not just to classify hostile intent but also to classify particular categories such as threats, insults, obscenities, and hatred towards certain identities.</a:t>
            </a:r>
          </a:p>
          <a:p>
            <a:endParaRPr lang="en-US" sz="2400" dirty="0">
              <a:solidFill>
                <a:schemeClr val="accent6">
                  <a:lumMod val="60000"/>
                  <a:lumOff val="40000"/>
                </a:schemeClr>
              </a:solidFill>
            </a:endParaRPr>
          </a:p>
          <a:p>
            <a:r>
              <a:rPr lang="en-US" sz="2400" dirty="0">
                <a:solidFill>
                  <a:schemeClr val="accent6">
                    <a:lumMod val="60000"/>
                    <a:lumOff val="40000"/>
                  </a:schemeClr>
                </a:solidFill>
              </a:rPr>
              <a:t>The input to such a model is text, and the output is generally the probability of each class of toxicity. Toxicity classification models can be used to moderate and improve online conversations by </a:t>
            </a:r>
            <a:r>
              <a:rPr lang="en-US" sz="2400" dirty="0">
                <a:solidFill>
                  <a:schemeClr val="accent6">
                    <a:lumMod val="60000"/>
                    <a:lumOff val="40000"/>
                  </a:schemeClr>
                </a:solidFill>
                <a:hlinkClick r:id="rId2">
                  <a:extLst>
                    <a:ext uri="{A12FA001-AC4F-418D-AE19-62706E023703}">
                      <ahyp:hlinkClr xmlns:ahyp="http://schemas.microsoft.com/office/drawing/2018/hyperlinkcolor" val="tx"/>
                    </a:ext>
                  </a:extLst>
                </a:hlinkClick>
              </a:rPr>
              <a:t>silencing offensive comments</a:t>
            </a:r>
            <a:r>
              <a:rPr lang="en-US" sz="2400" dirty="0">
                <a:solidFill>
                  <a:schemeClr val="accent6">
                    <a:lumMod val="60000"/>
                    <a:lumOff val="40000"/>
                  </a:schemeClr>
                </a:solidFill>
              </a:rPr>
              <a:t>, </a:t>
            </a:r>
            <a:r>
              <a:rPr lang="en-US" sz="2400" dirty="0">
                <a:solidFill>
                  <a:schemeClr val="accent6">
                    <a:lumMod val="60000"/>
                    <a:lumOff val="40000"/>
                  </a:schemeClr>
                </a:solidFill>
                <a:hlinkClick r:id="rId3">
                  <a:extLst>
                    <a:ext uri="{A12FA001-AC4F-418D-AE19-62706E023703}">
                      <ahyp:hlinkClr xmlns:ahyp="http://schemas.microsoft.com/office/drawing/2018/hyperlinkcolor" val="tx"/>
                    </a:ext>
                  </a:extLst>
                </a:hlinkClick>
              </a:rPr>
              <a:t>detecting hate speech</a:t>
            </a:r>
            <a:r>
              <a:rPr lang="en-US" sz="2400" dirty="0">
                <a:solidFill>
                  <a:schemeClr val="accent6">
                    <a:lumMod val="60000"/>
                    <a:lumOff val="40000"/>
                  </a:schemeClr>
                </a:solidFill>
              </a:rPr>
              <a:t>, or </a:t>
            </a:r>
            <a:r>
              <a:rPr lang="en-US" sz="2400" dirty="0">
                <a:solidFill>
                  <a:schemeClr val="accent6">
                    <a:lumMod val="60000"/>
                    <a:lumOff val="40000"/>
                  </a:schemeClr>
                </a:solidFill>
                <a:hlinkClick r:id="rId4">
                  <a:extLst>
                    <a:ext uri="{A12FA001-AC4F-418D-AE19-62706E023703}">
                      <ahyp:hlinkClr xmlns:ahyp="http://schemas.microsoft.com/office/drawing/2018/hyperlinkcolor" val="tx"/>
                    </a:ext>
                  </a:extLst>
                </a:hlinkClick>
              </a:rPr>
              <a:t>scanning documents for defamation</a:t>
            </a:r>
            <a:r>
              <a:rPr lang="en-US" sz="2400" dirty="0">
                <a:solidFill>
                  <a:schemeClr val="accent6">
                    <a:lumMod val="60000"/>
                    <a:lumOff val="40000"/>
                  </a:schemeClr>
                </a:solidFill>
              </a:rPr>
              <a:t>. </a:t>
            </a:r>
          </a:p>
        </p:txBody>
      </p:sp>
    </p:spTree>
    <p:extLst>
      <p:ext uri="{BB962C8B-B14F-4D97-AF65-F5344CB8AC3E}">
        <p14:creationId xmlns:p14="http://schemas.microsoft.com/office/powerpoint/2010/main" val="288357998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77D91B-111C-BD11-EE70-720406400B24}"/>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929B431E-312D-3F82-ECFE-5F5FC850E498}"/>
              </a:ext>
            </a:extLst>
          </p:cNvPr>
          <p:cNvSpPr txBox="1"/>
          <p:nvPr/>
        </p:nvSpPr>
        <p:spPr>
          <a:xfrm>
            <a:off x="182880" y="418526"/>
            <a:ext cx="11823192" cy="4893647"/>
          </a:xfrm>
          <a:prstGeom prst="rect">
            <a:avLst/>
          </a:prstGeom>
          <a:noFill/>
        </p:spPr>
        <p:txBody>
          <a:bodyPr wrap="square" rtlCol="0">
            <a:spAutoFit/>
          </a:bodyPr>
          <a:lstStyle/>
          <a:p>
            <a:pPr fontAlgn="base"/>
            <a:r>
              <a:rPr lang="en-US" sz="2400" b="1" dirty="0">
                <a:solidFill>
                  <a:schemeClr val="accent6">
                    <a:lumMod val="60000"/>
                    <a:lumOff val="40000"/>
                  </a:schemeClr>
                </a:solidFill>
              </a:rPr>
              <a:t>Language Translator</a:t>
            </a:r>
          </a:p>
          <a:p>
            <a:pPr marL="285750" indent="-285750" fontAlgn="base">
              <a:buFont typeface="Arial" panose="020B0604020202020204" pitchFamily="34" charset="0"/>
              <a:buChar char="•"/>
            </a:pPr>
            <a:endParaRPr lang="en-US" sz="2400" b="1" dirty="0">
              <a:solidFill>
                <a:schemeClr val="accent6">
                  <a:lumMod val="60000"/>
                  <a:lumOff val="40000"/>
                </a:schemeClr>
              </a:solidFill>
            </a:endParaRPr>
          </a:p>
          <a:p>
            <a:pPr fontAlgn="base"/>
            <a:r>
              <a:rPr lang="en-US" sz="2400" dirty="0">
                <a:solidFill>
                  <a:schemeClr val="accent6">
                    <a:lumMod val="60000"/>
                    <a:lumOff val="40000"/>
                  </a:schemeClr>
                </a:solidFill>
              </a:rPr>
              <a:t>Want to translate a text from English to Hindi but don’t know Hindi? </a:t>
            </a:r>
          </a:p>
          <a:p>
            <a:pPr marL="285750" indent="-285750" fontAlgn="base">
              <a:buFont typeface="Arial" panose="020B0604020202020204" pitchFamily="34" charset="0"/>
              <a:buChar char="•"/>
            </a:pPr>
            <a:endParaRPr lang="en-US" sz="2400" dirty="0">
              <a:solidFill>
                <a:schemeClr val="accent6">
                  <a:lumMod val="60000"/>
                  <a:lumOff val="40000"/>
                </a:schemeClr>
              </a:solidFill>
            </a:endParaRPr>
          </a:p>
          <a:p>
            <a:pPr fontAlgn="base"/>
            <a:r>
              <a:rPr lang="en-US" sz="2400" dirty="0">
                <a:solidFill>
                  <a:schemeClr val="accent6">
                    <a:lumMod val="60000"/>
                    <a:lumOff val="40000"/>
                  </a:schemeClr>
                </a:solidFill>
              </a:rPr>
              <a:t>Earlier, language translators used  Statistical machine translation (SMT) which meant they analyzed millions of documents that were already translated from one language to another (English to Hindi in this case) and then looked for the common patterns and basic vocabulary of the language. </a:t>
            </a:r>
          </a:p>
          <a:p>
            <a:pPr fontAlgn="base"/>
            <a:endParaRPr lang="en-US" sz="2400" dirty="0">
              <a:solidFill>
                <a:schemeClr val="accent6">
                  <a:lumMod val="60000"/>
                  <a:lumOff val="40000"/>
                </a:schemeClr>
              </a:solidFill>
            </a:endParaRPr>
          </a:p>
          <a:p>
            <a:pPr fontAlgn="base"/>
            <a:r>
              <a:rPr lang="en-US" sz="2400" dirty="0">
                <a:solidFill>
                  <a:schemeClr val="accent6">
                    <a:lumMod val="60000"/>
                    <a:lumOff val="40000"/>
                  </a:schemeClr>
                </a:solidFill>
              </a:rPr>
              <a:t>However, this method was not that accurate as compared to Sequence to sequence modeling.</a:t>
            </a:r>
          </a:p>
          <a:p>
            <a:pPr fontAlgn="base"/>
            <a:endParaRPr lang="en-US" sz="2400" dirty="0">
              <a:solidFill>
                <a:schemeClr val="accent6">
                  <a:lumMod val="60000"/>
                  <a:lumOff val="40000"/>
                </a:schemeClr>
              </a:solidFill>
            </a:endParaRPr>
          </a:p>
          <a:p>
            <a:pPr fontAlgn="base"/>
            <a:r>
              <a:rPr lang="en-US" sz="2400" dirty="0">
                <a:solidFill>
                  <a:schemeClr val="accent6">
                    <a:lumMod val="60000"/>
                    <a:lumOff val="40000"/>
                  </a:schemeClr>
                </a:solidFill>
              </a:rPr>
              <a:t>Google Translate and other translation tools as well as use Sequence to sequence modeling that is a technique in Natural Language Processing. </a:t>
            </a:r>
          </a:p>
        </p:txBody>
      </p:sp>
    </p:spTree>
    <p:extLst>
      <p:ext uri="{BB962C8B-B14F-4D97-AF65-F5344CB8AC3E}">
        <p14:creationId xmlns:p14="http://schemas.microsoft.com/office/powerpoint/2010/main" val="424853990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690716" y="3749040"/>
            <a:ext cx="6810568" cy="2955530"/>
          </a:xfrm>
          <a:prstGeom prst="rect">
            <a:avLst/>
          </a:prstGeom>
        </p:spPr>
      </p:pic>
      <p:sp>
        <p:nvSpPr>
          <p:cNvPr id="8" name="TextBox 7">
            <a:extLst>
              <a:ext uri="{FF2B5EF4-FFF2-40B4-BE49-F238E27FC236}">
                <a16:creationId xmlns:a16="http://schemas.microsoft.com/office/drawing/2014/main" id="{966077B4-34C5-A2C9-225E-8E59311FA99F}"/>
              </a:ext>
            </a:extLst>
          </p:cNvPr>
          <p:cNvSpPr txBox="1"/>
          <p:nvPr/>
        </p:nvSpPr>
        <p:spPr>
          <a:xfrm>
            <a:off x="265176" y="153430"/>
            <a:ext cx="10991088" cy="3416320"/>
          </a:xfrm>
          <a:prstGeom prst="rect">
            <a:avLst/>
          </a:prstGeom>
          <a:noFill/>
        </p:spPr>
        <p:txBody>
          <a:bodyPr wrap="square">
            <a:spAutoFit/>
          </a:bodyPr>
          <a:lstStyle/>
          <a:p>
            <a:r>
              <a:rPr lang="en-US" sz="2400" b="1" dirty="0">
                <a:solidFill>
                  <a:schemeClr val="accent6">
                    <a:lumMod val="60000"/>
                    <a:lumOff val="40000"/>
                  </a:schemeClr>
                </a:solidFill>
              </a:rPr>
              <a:t>Named entity recognition</a:t>
            </a:r>
          </a:p>
          <a:p>
            <a:endParaRPr lang="en-US" sz="2400" b="1" dirty="0">
              <a:solidFill>
                <a:schemeClr val="accent6">
                  <a:lumMod val="60000"/>
                  <a:lumOff val="40000"/>
                </a:schemeClr>
              </a:solidFill>
            </a:endParaRPr>
          </a:p>
          <a:p>
            <a:r>
              <a:rPr lang="en-US" sz="2400" dirty="0">
                <a:solidFill>
                  <a:schemeClr val="accent6">
                    <a:lumMod val="60000"/>
                    <a:lumOff val="40000"/>
                  </a:schemeClr>
                </a:solidFill>
              </a:rPr>
              <a:t>It aims to extract entities in a piece of text into predefined categories such as personal names, organizations, locations, and quantities. </a:t>
            </a:r>
          </a:p>
          <a:p>
            <a:r>
              <a:rPr lang="en-US" sz="2400" dirty="0">
                <a:solidFill>
                  <a:schemeClr val="accent6">
                    <a:lumMod val="60000"/>
                    <a:lumOff val="40000"/>
                  </a:schemeClr>
                </a:solidFill>
              </a:rPr>
              <a:t>The input to such a model is generally text, and the output is the various named entities along with their start and end positions. </a:t>
            </a:r>
          </a:p>
          <a:p>
            <a:r>
              <a:rPr lang="en-US" sz="2400" dirty="0">
                <a:solidFill>
                  <a:schemeClr val="accent6">
                    <a:lumMod val="60000"/>
                    <a:lumOff val="40000"/>
                  </a:schemeClr>
                </a:solidFill>
              </a:rPr>
              <a:t>Named entity recognition is useful in applications such as </a:t>
            </a:r>
            <a:r>
              <a:rPr lang="en-US" sz="2400" dirty="0">
                <a:solidFill>
                  <a:schemeClr val="accent6">
                    <a:lumMod val="60000"/>
                    <a:lumOff val="40000"/>
                  </a:schemeClr>
                </a:solidFill>
                <a:hlinkClick r:id="rId3">
                  <a:extLst>
                    <a:ext uri="{A12FA001-AC4F-418D-AE19-62706E023703}">
                      <ahyp:hlinkClr xmlns:ahyp="http://schemas.microsoft.com/office/drawing/2018/hyperlinkcolor" val="tx"/>
                    </a:ext>
                  </a:extLst>
                </a:hlinkClick>
              </a:rPr>
              <a:t>summarizing news articles</a:t>
            </a:r>
            <a:r>
              <a:rPr lang="en-US" sz="2400" dirty="0">
                <a:solidFill>
                  <a:schemeClr val="accent6">
                    <a:lumMod val="60000"/>
                    <a:lumOff val="40000"/>
                  </a:schemeClr>
                </a:solidFill>
              </a:rPr>
              <a:t> and </a:t>
            </a:r>
            <a:r>
              <a:rPr lang="en-US" sz="2400" dirty="0">
                <a:solidFill>
                  <a:schemeClr val="accent6">
                    <a:lumMod val="60000"/>
                    <a:lumOff val="40000"/>
                  </a:schemeClr>
                </a:solidFill>
                <a:hlinkClick r:id="rId4">
                  <a:extLst>
                    <a:ext uri="{A12FA001-AC4F-418D-AE19-62706E023703}">
                      <ahyp:hlinkClr xmlns:ahyp="http://schemas.microsoft.com/office/drawing/2018/hyperlinkcolor" val="tx"/>
                    </a:ext>
                  </a:extLst>
                </a:hlinkClick>
              </a:rPr>
              <a:t>combating disinformation</a:t>
            </a:r>
            <a:r>
              <a:rPr lang="en-US" sz="2400" dirty="0">
                <a:solidFill>
                  <a:schemeClr val="accent6">
                    <a:lumMod val="60000"/>
                    <a:lumOff val="40000"/>
                  </a:schemeClr>
                </a:solidFill>
              </a:rPr>
              <a:t>. For example, here is what a named entity recognition model could provide: </a:t>
            </a:r>
          </a:p>
        </p:txBody>
      </p:sp>
    </p:spTree>
    <p:extLst>
      <p:ext uri="{BB962C8B-B14F-4D97-AF65-F5344CB8AC3E}">
        <p14:creationId xmlns:p14="http://schemas.microsoft.com/office/powerpoint/2010/main" val="396764823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36F6BAF5-78F3-361D-8EE4-8655C3B8115E}"/>
              </a:ext>
            </a:extLst>
          </p:cNvPr>
          <p:cNvSpPr txBox="1"/>
          <p:nvPr/>
        </p:nvSpPr>
        <p:spPr>
          <a:xfrm>
            <a:off x="118872" y="443359"/>
            <a:ext cx="11622024" cy="3416320"/>
          </a:xfrm>
          <a:prstGeom prst="rect">
            <a:avLst/>
          </a:prstGeom>
          <a:noFill/>
        </p:spPr>
        <p:txBody>
          <a:bodyPr wrap="square">
            <a:spAutoFit/>
          </a:bodyPr>
          <a:lstStyle/>
          <a:p>
            <a:r>
              <a:rPr lang="en-US" sz="2400" b="1" dirty="0">
                <a:solidFill>
                  <a:schemeClr val="accent6">
                    <a:lumMod val="60000"/>
                    <a:lumOff val="40000"/>
                  </a:schemeClr>
                </a:solidFill>
              </a:rPr>
              <a:t>Grammatical error correction</a:t>
            </a:r>
            <a:r>
              <a:rPr lang="en-US" sz="2400" dirty="0">
                <a:solidFill>
                  <a:schemeClr val="accent6">
                    <a:lumMod val="60000"/>
                    <a:lumOff val="40000"/>
                  </a:schemeClr>
                </a:solidFill>
              </a:rPr>
              <a:t> </a:t>
            </a:r>
          </a:p>
          <a:p>
            <a:endParaRPr lang="en-US" sz="2400" dirty="0">
              <a:solidFill>
                <a:schemeClr val="accent6">
                  <a:lumMod val="60000"/>
                  <a:lumOff val="40000"/>
                </a:schemeClr>
              </a:solidFill>
            </a:endParaRPr>
          </a:p>
          <a:p>
            <a:pPr marL="0" indent="0">
              <a:buNone/>
            </a:pPr>
            <a:r>
              <a:rPr lang="en-US" sz="2400" dirty="0">
                <a:solidFill>
                  <a:schemeClr val="accent6">
                    <a:lumMod val="60000"/>
                    <a:lumOff val="40000"/>
                  </a:schemeClr>
                </a:solidFill>
              </a:rPr>
              <a:t>Models encode grammatical rules to correct the grammar within text. This is viewed mainly as a </a:t>
            </a:r>
            <a:r>
              <a:rPr lang="en-US" sz="2400" b="1" dirty="0">
                <a:solidFill>
                  <a:schemeClr val="accent6">
                    <a:lumMod val="60000"/>
                    <a:lumOff val="40000"/>
                  </a:schemeClr>
                </a:solidFill>
              </a:rPr>
              <a:t>sequence-to-sequence</a:t>
            </a:r>
            <a:r>
              <a:rPr lang="en-US" sz="2400" dirty="0">
                <a:solidFill>
                  <a:schemeClr val="accent6">
                    <a:lumMod val="60000"/>
                    <a:lumOff val="40000"/>
                  </a:schemeClr>
                </a:solidFill>
              </a:rPr>
              <a:t> task, where a model is trained on an ungrammatical sentence as input and a correct sentence as output. </a:t>
            </a:r>
          </a:p>
          <a:p>
            <a:pPr marL="0" indent="0">
              <a:buNone/>
            </a:pPr>
            <a:endParaRPr lang="en-US" sz="2400" dirty="0">
              <a:solidFill>
                <a:schemeClr val="accent6">
                  <a:lumMod val="60000"/>
                  <a:lumOff val="40000"/>
                </a:schemeClr>
              </a:solidFill>
            </a:endParaRPr>
          </a:p>
          <a:p>
            <a:pPr marL="0" indent="0">
              <a:buNone/>
            </a:pPr>
            <a:r>
              <a:rPr lang="en-US" sz="2400" dirty="0">
                <a:solidFill>
                  <a:schemeClr val="accent6">
                    <a:lumMod val="60000"/>
                    <a:lumOff val="40000"/>
                  </a:schemeClr>
                </a:solidFill>
              </a:rPr>
              <a:t>Online grammar checkers like </a:t>
            </a:r>
            <a:r>
              <a:rPr lang="en-US" sz="2400" dirty="0">
                <a:solidFill>
                  <a:schemeClr val="accent6">
                    <a:lumMod val="60000"/>
                    <a:lumOff val="40000"/>
                  </a:schemeClr>
                </a:solidFill>
                <a:hlinkClick r:id="rId2">
                  <a:extLst>
                    <a:ext uri="{A12FA001-AC4F-418D-AE19-62706E023703}">
                      <ahyp:hlinkClr xmlns:ahyp="http://schemas.microsoft.com/office/drawing/2018/hyperlinkcolor" val="tx"/>
                    </a:ext>
                  </a:extLst>
                </a:hlinkClick>
              </a:rPr>
              <a:t>Grammarly</a:t>
            </a:r>
            <a:r>
              <a:rPr lang="en-US" sz="2400" dirty="0">
                <a:solidFill>
                  <a:schemeClr val="accent6">
                    <a:lumMod val="60000"/>
                    <a:lumOff val="40000"/>
                  </a:schemeClr>
                </a:solidFill>
              </a:rPr>
              <a:t> and word-processing systems like </a:t>
            </a:r>
            <a:r>
              <a:rPr lang="en-US" sz="2400" dirty="0">
                <a:solidFill>
                  <a:schemeClr val="accent6">
                    <a:lumMod val="60000"/>
                    <a:lumOff val="40000"/>
                  </a:schemeClr>
                </a:solidFill>
                <a:hlinkClick r:id="rId3">
                  <a:extLst>
                    <a:ext uri="{A12FA001-AC4F-418D-AE19-62706E023703}">
                      <ahyp:hlinkClr xmlns:ahyp="http://schemas.microsoft.com/office/drawing/2018/hyperlinkcolor" val="tx"/>
                    </a:ext>
                  </a:extLst>
                </a:hlinkClick>
              </a:rPr>
              <a:t>Microsoft Word</a:t>
            </a:r>
            <a:r>
              <a:rPr lang="en-US" sz="2400" dirty="0">
                <a:solidFill>
                  <a:schemeClr val="accent6">
                    <a:lumMod val="60000"/>
                    <a:lumOff val="40000"/>
                  </a:schemeClr>
                </a:solidFill>
              </a:rPr>
              <a:t> use such systems to provide a better writing experience to their customers. </a:t>
            </a:r>
          </a:p>
          <a:p>
            <a:pPr marL="0" indent="0">
              <a:buNone/>
            </a:pPr>
            <a:r>
              <a:rPr lang="en-US" sz="2400" dirty="0">
                <a:solidFill>
                  <a:schemeClr val="accent6">
                    <a:lumMod val="60000"/>
                    <a:lumOff val="40000"/>
                  </a:schemeClr>
                </a:solidFill>
              </a:rPr>
              <a:t>Schools also use them to </a:t>
            </a:r>
            <a:r>
              <a:rPr lang="en-US" sz="2400" dirty="0">
                <a:solidFill>
                  <a:schemeClr val="accent6">
                    <a:lumMod val="60000"/>
                    <a:lumOff val="40000"/>
                  </a:schemeClr>
                </a:solidFill>
                <a:hlinkClick r:id="rId4">
                  <a:extLst>
                    <a:ext uri="{A12FA001-AC4F-418D-AE19-62706E023703}">
                      <ahyp:hlinkClr xmlns:ahyp="http://schemas.microsoft.com/office/drawing/2018/hyperlinkcolor" val="tx"/>
                    </a:ext>
                  </a:extLst>
                </a:hlinkClick>
              </a:rPr>
              <a:t>grade student essays</a:t>
            </a:r>
            <a:r>
              <a:rPr lang="en-US" sz="2400" dirty="0">
                <a:solidFill>
                  <a:schemeClr val="accent6">
                    <a:lumMod val="60000"/>
                    <a:lumOff val="40000"/>
                  </a:schemeClr>
                </a:solidFill>
              </a:rPr>
              <a:t>.</a:t>
            </a:r>
          </a:p>
        </p:txBody>
      </p:sp>
    </p:spTree>
    <p:extLst>
      <p:ext uri="{BB962C8B-B14F-4D97-AF65-F5344CB8AC3E}">
        <p14:creationId xmlns:p14="http://schemas.microsoft.com/office/powerpoint/2010/main" val="393844363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CDE90D-A63D-C575-9ED5-64D273D03E3C}"/>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F4B0CF51-413D-C9BE-EE6E-2AA234B130C4}"/>
              </a:ext>
            </a:extLst>
          </p:cNvPr>
          <p:cNvSpPr txBox="1"/>
          <p:nvPr/>
        </p:nvSpPr>
        <p:spPr>
          <a:xfrm>
            <a:off x="119210" y="413745"/>
            <a:ext cx="11391464" cy="4893647"/>
          </a:xfrm>
          <a:prstGeom prst="rect">
            <a:avLst/>
          </a:prstGeom>
          <a:noFill/>
        </p:spPr>
        <p:txBody>
          <a:bodyPr wrap="square" rtlCol="0">
            <a:spAutoFit/>
          </a:bodyPr>
          <a:lstStyle/>
          <a:p>
            <a:r>
              <a:rPr lang="en-US" sz="2400" b="1" dirty="0">
                <a:solidFill>
                  <a:schemeClr val="accent6">
                    <a:lumMod val="60000"/>
                    <a:lumOff val="40000"/>
                  </a:schemeClr>
                </a:solidFill>
              </a:rPr>
              <a:t>Topic modeling</a:t>
            </a:r>
            <a:r>
              <a:rPr lang="en-US" sz="2400" dirty="0">
                <a:solidFill>
                  <a:schemeClr val="accent6">
                    <a:lumMod val="60000"/>
                    <a:lumOff val="40000"/>
                  </a:schemeClr>
                </a:solidFill>
              </a:rPr>
              <a:t> </a:t>
            </a:r>
          </a:p>
          <a:p>
            <a:endParaRPr lang="en-US" sz="2400" dirty="0">
              <a:solidFill>
                <a:schemeClr val="accent6">
                  <a:lumMod val="60000"/>
                  <a:lumOff val="40000"/>
                </a:schemeClr>
              </a:solidFill>
            </a:endParaRPr>
          </a:p>
          <a:p>
            <a:r>
              <a:rPr lang="en-US" sz="2400" dirty="0">
                <a:solidFill>
                  <a:schemeClr val="accent6">
                    <a:lumMod val="60000"/>
                    <a:lumOff val="40000"/>
                  </a:schemeClr>
                </a:solidFill>
              </a:rPr>
              <a:t>It is an unsupervised text mining task that takes a corpus of documents and discovers abstract topics within that corpus. </a:t>
            </a:r>
          </a:p>
          <a:p>
            <a:r>
              <a:rPr lang="en-US" sz="2400" dirty="0">
                <a:solidFill>
                  <a:schemeClr val="accent6">
                    <a:lumMod val="60000"/>
                    <a:lumOff val="40000"/>
                  </a:schemeClr>
                </a:solidFill>
              </a:rPr>
              <a:t>The input to a topic model is a collection of documents, and the output is a list of topics.</a:t>
            </a:r>
          </a:p>
          <a:p>
            <a:endParaRPr lang="en-US" sz="2400" dirty="0">
              <a:solidFill>
                <a:schemeClr val="accent6">
                  <a:lumMod val="60000"/>
                  <a:lumOff val="40000"/>
                </a:schemeClr>
              </a:solidFill>
            </a:endParaRPr>
          </a:p>
          <a:p>
            <a:r>
              <a:rPr lang="en-US" sz="2400" dirty="0">
                <a:solidFill>
                  <a:schemeClr val="accent6">
                    <a:lumMod val="60000"/>
                    <a:lumOff val="40000"/>
                  </a:schemeClr>
                </a:solidFill>
              </a:rPr>
              <a:t>2 main  techniques used here:</a:t>
            </a:r>
          </a:p>
          <a:p>
            <a:pPr marL="342900" indent="-342900">
              <a:buFont typeface="Arial" panose="020B0604020202020204" pitchFamily="34" charset="0"/>
              <a:buChar char="•"/>
            </a:pPr>
            <a:r>
              <a:rPr lang="en-US" sz="2400" dirty="0">
                <a:solidFill>
                  <a:schemeClr val="accent6">
                    <a:lumMod val="60000"/>
                    <a:lumOff val="40000"/>
                  </a:schemeClr>
                </a:solidFill>
              </a:rPr>
              <a:t>Latent Semantic Analysis (LSA) and </a:t>
            </a:r>
          </a:p>
          <a:p>
            <a:pPr marL="342900" indent="-342900">
              <a:buFont typeface="Arial" panose="020B0604020202020204" pitchFamily="34" charset="0"/>
              <a:buChar char="•"/>
            </a:pPr>
            <a:r>
              <a:rPr lang="en-US" sz="2400" dirty="0">
                <a:solidFill>
                  <a:schemeClr val="accent6">
                    <a:lumMod val="60000"/>
                    <a:lumOff val="40000"/>
                  </a:schemeClr>
                </a:solidFill>
              </a:rPr>
              <a:t>Latent Dirichlet Allocation (LDA)</a:t>
            </a:r>
          </a:p>
          <a:p>
            <a:endParaRPr lang="en-US" sz="2400" dirty="0">
              <a:solidFill>
                <a:schemeClr val="accent6">
                  <a:lumMod val="60000"/>
                  <a:lumOff val="40000"/>
                </a:schemeClr>
              </a:solidFill>
            </a:endParaRPr>
          </a:p>
          <a:p>
            <a:r>
              <a:rPr lang="en-US" sz="2400" dirty="0">
                <a:solidFill>
                  <a:schemeClr val="accent6">
                    <a:lumMod val="60000"/>
                    <a:lumOff val="40000"/>
                  </a:schemeClr>
                </a:solidFill>
              </a:rPr>
              <a:t>Latent Dirichlet Allocation (LDA), one of the most popular topic modeling techniques, tries to view a document as a collection of topics and a topic as a collection of words. Topic modeling is being used commercially to help lawyers find evidence </a:t>
            </a:r>
            <a:r>
              <a:rPr lang="en-US" sz="2400" dirty="0">
                <a:solidFill>
                  <a:schemeClr val="accent6">
                    <a:lumMod val="60000"/>
                    <a:lumOff val="40000"/>
                  </a:schemeClr>
                </a:solidFill>
                <a:hlinkClick r:id="rId2">
                  <a:extLst>
                    <a:ext uri="{A12FA001-AC4F-418D-AE19-62706E023703}">
                      <ahyp:hlinkClr xmlns:ahyp="http://schemas.microsoft.com/office/drawing/2018/hyperlinkcolor" val="tx"/>
                    </a:ext>
                  </a:extLst>
                </a:hlinkClick>
              </a:rPr>
              <a:t>in legal documents</a:t>
            </a:r>
            <a:r>
              <a:rPr lang="en-US" sz="2400" dirty="0">
                <a:solidFill>
                  <a:schemeClr val="accent6">
                    <a:lumMod val="60000"/>
                    <a:lumOff val="40000"/>
                  </a:schemeClr>
                </a:solidFill>
              </a:rPr>
              <a:t>. </a:t>
            </a:r>
          </a:p>
        </p:txBody>
      </p:sp>
    </p:spTree>
    <p:extLst>
      <p:ext uri="{BB962C8B-B14F-4D97-AF65-F5344CB8AC3E}">
        <p14:creationId xmlns:p14="http://schemas.microsoft.com/office/powerpoint/2010/main" val="183375984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7239103E-687A-3B46-5D3D-70BD1C4CD811}"/>
              </a:ext>
            </a:extLst>
          </p:cNvPr>
          <p:cNvSpPr txBox="1"/>
          <p:nvPr/>
        </p:nvSpPr>
        <p:spPr>
          <a:xfrm>
            <a:off x="132179" y="162574"/>
            <a:ext cx="11053979" cy="3416320"/>
          </a:xfrm>
          <a:prstGeom prst="rect">
            <a:avLst/>
          </a:prstGeom>
          <a:noFill/>
        </p:spPr>
        <p:txBody>
          <a:bodyPr wrap="square">
            <a:spAutoFit/>
          </a:bodyPr>
          <a:lstStyle/>
          <a:p>
            <a:r>
              <a:rPr lang="en-US" sz="2400" b="1" dirty="0">
                <a:solidFill>
                  <a:schemeClr val="accent6">
                    <a:lumMod val="60000"/>
                    <a:lumOff val="40000"/>
                  </a:schemeClr>
                </a:solidFill>
              </a:rPr>
              <a:t>Text generation</a:t>
            </a:r>
          </a:p>
          <a:p>
            <a:r>
              <a:rPr lang="en-US" sz="2400" dirty="0">
                <a:solidFill>
                  <a:schemeClr val="accent6">
                    <a:lumMod val="60000"/>
                    <a:lumOff val="40000"/>
                  </a:schemeClr>
                </a:solidFill>
              </a:rPr>
              <a:t>Formally known as natural language generation (NLG), produces text that’s similar to human-written text. </a:t>
            </a:r>
          </a:p>
          <a:p>
            <a:endParaRPr lang="en-US" sz="2400" dirty="0">
              <a:solidFill>
                <a:schemeClr val="accent6">
                  <a:lumMod val="60000"/>
                  <a:lumOff val="40000"/>
                </a:schemeClr>
              </a:solidFill>
            </a:endParaRPr>
          </a:p>
          <a:p>
            <a:r>
              <a:rPr lang="en-US" sz="2400" dirty="0">
                <a:solidFill>
                  <a:schemeClr val="accent6">
                    <a:lumMod val="60000"/>
                    <a:lumOff val="40000"/>
                  </a:schemeClr>
                </a:solidFill>
              </a:rPr>
              <a:t>Such models can be fine-tuned to produce text in different genres and formats — including </a:t>
            </a:r>
            <a:r>
              <a:rPr lang="en-US" sz="2400" dirty="0">
                <a:solidFill>
                  <a:schemeClr val="accent6">
                    <a:lumMod val="60000"/>
                    <a:lumOff val="40000"/>
                  </a:schemeClr>
                </a:solidFill>
                <a:hlinkClick r:id="rId2">
                  <a:extLst>
                    <a:ext uri="{A12FA001-AC4F-418D-AE19-62706E023703}">
                      <ahyp:hlinkClr xmlns:ahyp="http://schemas.microsoft.com/office/drawing/2018/hyperlinkcolor" val="tx"/>
                    </a:ext>
                  </a:extLst>
                </a:hlinkClick>
              </a:rPr>
              <a:t>tweets, blogs, and even computer code</a:t>
            </a:r>
            <a:r>
              <a:rPr lang="en-US" sz="2400" dirty="0">
                <a:solidFill>
                  <a:schemeClr val="accent6">
                    <a:lumMod val="60000"/>
                    <a:lumOff val="40000"/>
                  </a:schemeClr>
                </a:solidFill>
              </a:rPr>
              <a:t>. Text generation has been performed using </a:t>
            </a:r>
            <a:r>
              <a:rPr lang="en-US" sz="2400" dirty="0">
                <a:solidFill>
                  <a:schemeClr val="accent6">
                    <a:lumMod val="60000"/>
                    <a:lumOff val="40000"/>
                  </a:schemeClr>
                </a:solidFill>
                <a:hlinkClick r:id="rId3">
                  <a:extLst>
                    <a:ext uri="{A12FA001-AC4F-418D-AE19-62706E023703}">
                      <ahyp:hlinkClr xmlns:ahyp="http://schemas.microsoft.com/office/drawing/2018/hyperlinkcolor" val="tx"/>
                    </a:ext>
                  </a:extLst>
                </a:hlinkClick>
              </a:rPr>
              <a:t>Markov processes</a:t>
            </a:r>
            <a:r>
              <a:rPr lang="en-US" sz="2400" dirty="0">
                <a:solidFill>
                  <a:schemeClr val="accent6">
                    <a:lumMod val="60000"/>
                    <a:lumOff val="40000"/>
                  </a:schemeClr>
                </a:solidFill>
              </a:rPr>
              <a:t>, </a:t>
            </a:r>
            <a:r>
              <a:rPr lang="en-US" sz="2400" dirty="0">
                <a:solidFill>
                  <a:schemeClr val="accent6">
                    <a:lumMod val="60000"/>
                    <a:lumOff val="40000"/>
                  </a:schemeClr>
                </a:solidFill>
                <a:hlinkClick r:id="rId4">
                  <a:extLst>
                    <a:ext uri="{A12FA001-AC4F-418D-AE19-62706E023703}">
                      <ahyp:hlinkClr xmlns:ahyp="http://schemas.microsoft.com/office/drawing/2018/hyperlinkcolor" val="tx"/>
                    </a:ext>
                  </a:extLst>
                </a:hlinkClick>
              </a:rPr>
              <a:t>LSTMs</a:t>
            </a:r>
            <a:r>
              <a:rPr lang="en-US" sz="2400" dirty="0">
                <a:solidFill>
                  <a:schemeClr val="accent6">
                    <a:lumMod val="60000"/>
                    <a:lumOff val="40000"/>
                  </a:schemeClr>
                </a:solidFill>
              </a:rPr>
              <a:t>, </a:t>
            </a:r>
            <a:r>
              <a:rPr lang="en-US" sz="2400" dirty="0">
                <a:solidFill>
                  <a:schemeClr val="accent6">
                    <a:lumMod val="60000"/>
                    <a:lumOff val="40000"/>
                  </a:schemeClr>
                </a:solidFill>
                <a:hlinkClick r:id="rId5">
                  <a:extLst>
                    <a:ext uri="{A12FA001-AC4F-418D-AE19-62706E023703}">
                      <ahyp:hlinkClr xmlns:ahyp="http://schemas.microsoft.com/office/drawing/2018/hyperlinkcolor" val="tx"/>
                    </a:ext>
                  </a:extLst>
                </a:hlinkClick>
              </a:rPr>
              <a:t>BERT</a:t>
            </a:r>
            <a:r>
              <a:rPr lang="en-US" sz="2400" dirty="0">
                <a:solidFill>
                  <a:schemeClr val="accent6">
                    <a:lumMod val="60000"/>
                    <a:lumOff val="40000"/>
                  </a:schemeClr>
                </a:solidFill>
              </a:rPr>
              <a:t>, </a:t>
            </a:r>
            <a:r>
              <a:rPr lang="en-US" sz="2400" dirty="0">
                <a:solidFill>
                  <a:schemeClr val="accent6">
                    <a:lumMod val="60000"/>
                    <a:lumOff val="40000"/>
                  </a:schemeClr>
                </a:solidFill>
                <a:hlinkClick r:id="rId6">
                  <a:extLst>
                    <a:ext uri="{A12FA001-AC4F-418D-AE19-62706E023703}">
                      <ahyp:hlinkClr xmlns:ahyp="http://schemas.microsoft.com/office/drawing/2018/hyperlinkcolor" val="tx"/>
                    </a:ext>
                  </a:extLst>
                </a:hlinkClick>
              </a:rPr>
              <a:t>GPT-2</a:t>
            </a:r>
            <a:r>
              <a:rPr lang="en-US" sz="2400" dirty="0">
                <a:solidFill>
                  <a:schemeClr val="accent6">
                    <a:lumMod val="60000"/>
                    <a:lumOff val="40000"/>
                  </a:schemeClr>
                </a:solidFill>
              </a:rPr>
              <a:t>, </a:t>
            </a:r>
            <a:r>
              <a:rPr lang="en-US" sz="2400" dirty="0">
                <a:solidFill>
                  <a:schemeClr val="accent6">
                    <a:lumMod val="60000"/>
                    <a:lumOff val="40000"/>
                  </a:schemeClr>
                </a:solidFill>
                <a:hlinkClick r:id="rId7">
                  <a:extLst>
                    <a:ext uri="{A12FA001-AC4F-418D-AE19-62706E023703}">
                      <ahyp:hlinkClr xmlns:ahyp="http://schemas.microsoft.com/office/drawing/2018/hyperlinkcolor" val="tx"/>
                    </a:ext>
                  </a:extLst>
                </a:hlinkClick>
              </a:rPr>
              <a:t>LaMDA</a:t>
            </a:r>
            <a:r>
              <a:rPr lang="en-US" sz="2400" dirty="0">
                <a:solidFill>
                  <a:schemeClr val="accent6">
                    <a:lumMod val="60000"/>
                    <a:lumOff val="40000"/>
                  </a:schemeClr>
                </a:solidFill>
              </a:rPr>
              <a:t>, and other approaches. </a:t>
            </a:r>
          </a:p>
          <a:p>
            <a:endParaRPr lang="en-US" sz="2400" dirty="0">
              <a:solidFill>
                <a:schemeClr val="accent6">
                  <a:lumMod val="60000"/>
                  <a:lumOff val="40000"/>
                </a:schemeClr>
              </a:solidFill>
            </a:endParaRPr>
          </a:p>
          <a:p>
            <a:r>
              <a:rPr lang="en-US" sz="2400" dirty="0">
                <a:solidFill>
                  <a:schemeClr val="accent6">
                    <a:lumMod val="60000"/>
                    <a:lumOff val="40000"/>
                  </a:schemeClr>
                </a:solidFill>
              </a:rPr>
              <a:t>It’s particularly useful for autocomplete and chatbots.</a:t>
            </a:r>
            <a:endParaRPr lang="en-US" sz="2000" dirty="0">
              <a:solidFill>
                <a:schemeClr val="accent6">
                  <a:lumMod val="60000"/>
                  <a:lumOff val="40000"/>
                </a:schemeClr>
              </a:solidFill>
            </a:endParaRPr>
          </a:p>
        </p:txBody>
      </p:sp>
      <p:sp>
        <p:nvSpPr>
          <p:cNvPr id="10" name="TextBox 9">
            <a:extLst>
              <a:ext uri="{FF2B5EF4-FFF2-40B4-BE49-F238E27FC236}">
                <a16:creationId xmlns:a16="http://schemas.microsoft.com/office/drawing/2014/main" id="{62E2AEB6-38A8-89CF-ECBC-F8EC0096C496}"/>
              </a:ext>
            </a:extLst>
          </p:cNvPr>
          <p:cNvSpPr txBox="1"/>
          <p:nvPr/>
        </p:nvSpPr>
        <p:spPr>
          <a:xfrm>
            <a:off x="132179" y="4387102"/>
            <a:ext cx="11258196" cy="2308324"/>
          </a:xfrm>
          <a:prstGeom prst="rect">
            <a:avLst/>
          </a:prstGeom>
          <a:noFill/>
        </p:spPr>
        <p:txBody>
          <a:bodyPr wrap="square">
            <a:spAutoFit/>
          </a:bodyPr>
          <a:lstStyle/>
          <a:p>
            <a:pPr marL="0" indent="0">
              <a:buNone/>
            </a:pPr>
            <a:r>
              <a:rPr lang="en-US" sz="2400" b="1" dirty="0">
                <a:solidFill>
                  <a:schemeClr val="accent6">
                    <a:lumMod val="60000"/>
                    <a:lumOff val="40000"/>
                  </a:schemeClr>
                </a:solidFill>
              </a:rPr>
              <a:t>Information retrieval</a:t>
            </a:r>
            <a:r>
              <a:rPr lang="en-US" sz="2400" dirty="0">
                <a:solidFill>
                  <a:schemeClr val="accent6">
                    <a:lumMod val="60000"/>
                    <a:lumOff val="40000"/>
                  </a:schemeClr>
                </a:solidFill>
              </a:rPr>
              <a:t> </a:t>
            </a:r>
          </a:p>
          <a:p>
            <a:pPr marL="0" indent="0">
              <a:buNone/>
            </a:pPr>
            <a:r>
              <a:rPr lang="en-US" sz="2400" dirty="0">
                <a:solidFill>
                  <a:schemeClr val="accent6">
                    <a:lumMod val="60000"/>
                    <a:lumOff val="40000"/>
                  </a:schemeClr>
                </a:solidFill>
              </a:rPr>
              <a:t>Finds the documents that are most relevant to a query. This is a problem every search and recommendation system faces. </a:t>
            </a:r>
          </a:p>
          <a:p>
            <a:pPr marL="0" indent="0">
              <a:buNone/>
            </a:pPr>
            <a:r>
              <a:rPr lang="en-US" sz="2400" dirty="0">
                <a:solidFill>
                  <a:schemeClr val="accent6">
                    <a:lumMod val="60000"/>
                    <a:lumOff val="40000"/>
                  </a:schemeClr>
                </a:solidFill>
              </a:rPr>
              <a:t>The goal is </a:t>
            </a:r>
            <a:r>
              <a:rPr lang="en-US" sz="2400" b="1" dirty="0">
                <a:solidFill>
                  <a:schemeClr val="accent6">
                    <a:lumMod val="60000"/>
                    <a:lumOff val="40000"/>
                  </a:schemeClr>
                </a:solidFill>
              </a:rPr>
              <a:t>not to answer a particular query</a:t>
            </a:r>
            <a:r>
              <a:rPr lang="en-US" sz="2400" dirty="0">
                <a:solidFill>
                  <a:schemeClr val="accent6">
                    <a:lumMod val="60000"/>
                    <a:lumOff val="40000"/>
                  </a:schemeClr>
                </a:solidFill>
              </a:rPr>
              <a:t> but to retrieve, from a collection of documents that may be numbered in the millions, a set that is </a:t>
            </a:r>
            <a:r>
              <a:rPr lang="en-US" sz="2400" b="1" dirty="0">
                <a:solidFill>
                  <a:schemeClr val="accent6">
                    <a:lumMod val="60000"/>
                    <a:lumOff val="40000"/>
                  </a:schemeClr>
                </a:solidFill>
              </a:rPr>
              <a:t>most relevant to the query</a:t>
            </a:r>
            <a:r>
              <a:rPr lang="en-US" sz="2400" dirty="0">
                <a:solidFill>
                  <a:schemeClr val="accent6">
                    <a:lumMod val="60000"/>
                    <a:lumOff val="40000"/>
                  </a:schemeClr>
                </a:solidFill>
              </a:rPr>
              <a:t>. </a:t>
            </a:r>
            <a:endParaRPr lang="en-US" sz="2000" dirty="0">
              <a:solidFill>
                <a:schemeClr val="accent6">
                  <a:lumMod val="60000"/>
                  <a:lumOff val="40000"/>
                </a:schemeClr>
              </a:solidFill>
            </a:endParaRPr>
          </a:p>
        </p:txBody>
      </p:sp>
    </p:spTree>
    <p:extLst>
      <p:ext uri="{BB962C8B-B14F-4D97-AF65-F5344CB8AC3E}">
        <p14:creationId xmlns:p14="http://schemas.microsoft.com/office/powerpoint/2010/main" val="362035921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2590CAB1-BD36-3386-18C9-2B01F6AAD353}"/>
              </a:ext>
            </a:extLst>
          </p:cNvPr>
          <p:cNvSpPr txBox="1"/>
          <p:nvPr/>
        </p:nvSpPr>
        <p:spPr>
          <a:xfrm>
            <a:off x="329184" y="498223"/>
            <a:ext cx="10305288" cy="3785652"/>
          </a:xfrm>
          <a:prstGeom prst="rect">
            <a:avLst/>
          </a:prstGeom>
          <a:noFill/>
        </p:spPr>
        <p:txBody>
          <a:bodyPr wrap="square">
            <a:spAutoFit/>
          </a:bodyPr>
          <a:lstStyle/>
          <a:p>
            <a:r>
              <a:rPr lang="en-US" sz="2400" dirty="0">
                <a:solidFill>
                  <a:schemeClr val="accent6">
                    <a:lumMod val="60000"/>
                    <a:lumOff val="40000"/>
                  </a:schemeClr>
                </a:solidFill>
              </a:rPr>
              <a:t>Automatic MOM(Minutes of Meeting) Generation:</a:t>
            </a:r>
          </a:p>
          <a:p>
            <a:endParaRPr lang="en-US" sz="2400" dirty="0">
              <a:solidFill>
                <a:schemeClr val="accent6">
                  <a:lumMod val="60000"/>
                  <a:lumOff val="40000"/>
                </a:schemeClr>
              </a:solidFill>
            </a:endParaRPr>
          </a:p>
          <a:p>
            <a:pPr marL="0" indent="0">
              <a:buNone/>
            </a:pPr>
            <a:r>
              <a:rPr lang="en-US" sz="2400" b="1" dirty="0">
                <a:solidFill>
                  <a:schemeClr val="accent6">
                    <a:lumMod val="60000"/>
                    <a:lumOff val="40000"/>
                  </a:schemeClr>
                </a:solidFill>
              </a:rPr>
              <a:t>Transcription and Note-Taking:</a:t>
            </a:r>
            <a:endParaRPr lang="en-US" sz="2400" dirty="0">
              <a:solidFill>
                <a:schemeClr val="accent6">
                  <a:lumMod val="60000"/>
                  <a:lumOff val="40000"/>
                </a:schemeClr>
              </a:solidFill>
            </a:endParaRPr>
          </a:p>
          <a:p>
            <a:pPr marL="0" indent="0" fontAlgn="ctr">
              <a:buNone/>
            </a:pPr>
            <a:r>
              <a:rPr lang="en-US" sz="2400" dirty="0">
                <a:solidFill>
                  <a:schemeClr val="accent6">
                    <a:lumMod val="60000"/>
                    <a:lumOff val="40000"/>
                  </a:schemeClr>
                </a:solidFill>
              </a:rPr>
              <a:t>NLP can be used to transcribe audio or video recordings of meetings into text, providing a real-time record of the discussion. </a:t>
            </a:r>
          </a:p>
          <a:p>
            <a:pPr marL="0" indent="0" fontAlgn="ctr">
              <a:buNone/>
            </a:pPr>
            <a:endParaRPr lang="en-US" sz="2400" dirty="0">
              <a:solidFill>
                <a:schemeClr val="accent6">
                  <a:lumMod val="60000"/>
                  <a:lumOff val="40000"/>
                </a:schemeClr>
              </a:solidFill>
            </a:endParaRPr>
          </a:p>
          <a:p>
            <a:pPr marL="0" indent="0" fontAlgn="ctr">
              <a:buNone/>
            </a:pPr>
            <a:endParaRPr lang="en-US" sz="2400" dirty="0">
              <a:solidFill>
                <a:schemeClr val="accent6">
                  <a:lumMod val="60000"/>
                  <a:lumOff val="40000"/>
                </a:schemeClr>
              </a:solidFill>
            </a:endParaRPr>
          </a:p>
          <a:p>
            <a:pPr marL="0" indent="0">
              <a:buNone/>
            </a:pPr>
            <a:r>
              <a:rPr lang="en-US" sz="2400" b="1" dirty="0">
                <a:solidFill>
                  <a:schemeClr val="accent6">
                    <a:lumMod val="60000"/>
                    <a:lumOff val="40000"/>
                  </a:schemeClr>
                </a:solidFill>
              </a:rPr>
              <a:t>Summarization:</a:t>
            </a:r>
            <a:endParaRPr lang="en-US" sz="2400" dirty="0">
              <a:solidFill>
                <a:schemeClr val="accent6">
                  <a:lumMod val="60000"/>
                  <a:lumOff val="40000"/>
                </a:schemeClr>
              </a:solidFill>
            </a:endParaRPr>
          </a:p>
          <a:p>
            <a:pPr marL="0" indent="0">
              <a:buNone/>
            </a:pPr>
            <a:r>
              <a:rPr lang="en-US" sz="2400" dirty="0">
                <a:solidFill>
                  <a:schemeClr val="accent6">
                    <a:lumMod val="60000"/>
                    <a:lumOff val="40000"/>
                  </a:schemeClr>
                </a:solidFill>
              </a:rPr>
              <a:t>NLP algorithms can summarize the main points of the meeting, identify key speakers, and highlight important decisions and action items. </a:t>
            </a:r>
          </a:p>
        </p:txBody>
      </p:sp>
    </p:spTree>
    <p:extLst>
      <p:ext uri="{BB962C8B-B14F-4D97-AF65-F5344CB8AC3E}">
        <p14:creationId xmlns:p14="http://schemas.microsoft.com/office/powerpoint/2010/main" val="232667359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6CA24F2A-5524-DA14-73F8-71A251CF718B}"/>
              </a:ext>
            </a:extLst>
          </p:cNvPr>
          <p:cNvSpPr txBox="1"/>
          <p:nvPr/>
        </p:nvSpPr>
        <p:spPr>
          <a:xfrm>
            <a:off x="3012948" y="3244334"/>
            <a:ext cx="6190488" cy="830997"/>
          </a:xfrm>
          <a:prstGeom prst="rect">
            <a:avLst/>
          </a:prstGeom>
          <a:noFill/>
        </p:spPr>
        <p:txBody>
          <a:bodyPr wrap="square">
            <a:spAutoFit/>
          </a:bodyPr>
          <a:lstStyle/>
          <a:p>
            <a:pPr algn="ctr"/>
            <a:r>
              <a:rPr lang="en-US" sz="4800" b="1" dirty="0">
                <a:solidFill>
                  <a:schemeClr val="accent6">
                    <a:lumMod val="60000"/>
                    <a:lumOff val="40000"/>
                  </a:schemeClr>
                </a:solidFill>
              </a:rPr>
              <a:t>NLP challenges</a:t>
            </a:r>
          </a:p>
        </p:txBody>
      </p:sp>
    </p:spTree>
    <p:extLst>
      <p:ext uri="{BB962C8B-B14F-4D97-AF65-F5344CB8AC3E}">
        <p14:creationId xmlns:p14="http://schemas.microsoft.com/office/powerpoint/2010/main" val="98938913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E6AEDF-2302-767B-6749-5DBFAFCDB28C}"/>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7324CBC1-7177-D578-F865-09BBE6C47385}"/>
              </a:ext>
            </a:extLst>
          </p:cNvPr>
          <p:cNvSpPr txBox="1"/>
          <p:nvPr/>
        </p:nvSpPr>
        <p:spPr>
          <a:xfrm>
            <a:off x="246888" y="296823"/>
            <a:ext cx="10771632" cy="5632311"/>
          </a:xfrm>
          <a:prstGeom prst="rect">
            <a:avLst/>
          </a:prstGeom>
          <a:noFill/>
        </p:spPr>
        <p:txBody>
          <a:bodyPr wrap="square">
            <a:spAutoFit/>
          </a:bodyPr>
          <a:lstStyle/>
          <a:p>
            <a:pPr marL="0" indent="0">
              <a:buNone/>
            </a:pPr>
            <a:r>
              <a:rPr lang="en-US" sz="2400" dirty="0">
                <a:solidFill>
                  <a:schemeClr val="accent6">
                    <a:lumMod val="60000"/>
                    <a:lumOff val="40000"/>
                  </a:schemeClr>
                </a:solidFill>
              </a:rPr>
              <a:t>1. Ambiguity and Polysemy:</a:t>
            </a:r>
          </a:p>
          <a:p>
            <a:pPr marL="0" indent="0">
              <a:buNone/>
            </a:pPr>
            <a:r>
              <a:rPr lang="en-US" sz="2400" b="1" dirty="0">
                <a:solidFill>
                  <a:schemeClr val="accent6">
                    <a:lumMod val="60000"/>
                    <a:lumOff val="40000"/>
                  </a:schemeClr>
                </a:solidFill>
              </a:rPr>
              <a:t>Issue: </a:t>
            </a:r>
            <a:r>
              <a:rPr lang="en-US" sz="2400" dirty="0">
                <a:solidFill>
                  <a:schemeClr val="accent6">
                    <a:lumMod val="60000"/>
                    <a:lumOff val="40000"/>
                  </a:schemeClr>
                </a:solidFill>
              </a:rPr>
              <a:t>Natural language is inherently ambiguous, with words and phrases having multiple meanings depending on context. NLP systems need to understand the intended meaning in different situations.</a:t>
            </a:r>
          </a:p>
          <a:p>
            <a:pPr marL="0" indent="0">
              <a:buNone/>
            </a:pPr>
            <a:endParaRPr lang="en-US" sz="2400" dirty="0">
              <a:solidFill>
                <a:schemeClr val="accent6">
                  <a:lumMod val="60000"/>
                  <a:lumOff val="40000"/>
                </a:schemeClr>
              </a:solidFill>
            </a:endParaRPr>
          </a:p>
          <a:p>
            <a:pPr marL="0" indent="0">
              <a:buNone/>
            </a:pPr>
            <a:r>
              <a:rPr lang="en-US" sz="2400" b="1" dirty="0">
                <a:solidFill>
                  <a:schemeClr val="accent6">
                    <a:lumMod val="60000"/>
                    <a:lumOff val="40000"/>
                  </a:schemeClr>
                </a:solidFill>
              </a:rPr>
              <a:t>Example:</a:t>
            </a:r>
          </a:p>
          <a:p>
            <a:pPr marL="0" indent="0">
              <a:buNone/>
            </a:pPr>
            <a:r>
              <a:rPr lang="en-US" sz="2400" b="1" dirty="0">
                <a:solidFill>
                  <a:schemeClr val="accent6">
                    <a:lumMod val="60000"/>
                    <a:lumOff val="40000"/>
                  </a:schemeClr>
                </a:solidFill>
              </a:rPr>
              <a:t>a) Lexical Ambiguity (Polysemy):</a:t>
            </a:r>
          </a:p>
          <a:p>
            <a:pPr marL="0" indent="0">
              <a:buNone/>
            </a:pPr>
            <a:r>
              <a:rPr lang="en-US" sz="2400" dirty="0">
                <a:solidFill>
                  <a:schemeClr val="accent6">
                    <a:lumMod val="60000"/>
                    <a:lumOff val="40000"/>
                  </a:schemeClr>
                </a:solidFill>
              </a:rPr>
              <a:t>Ritesh went to the bank (Institution or beach???)</a:t>
            </a:r>
          </a:p>
          <a:p>
            <a:pPr marL="0" indent="0">
              <a:buNone/>
            </a:pPr>
            <a:r>
              <a:rPr lang="en-US" sz="2400" dirty="0">
                <a:solidFill>
                  <a:schemeClr val="accent6">
                    <a:lumMod val="60000"/>
                    <a:lumOff val="40000"/>
                  </a:schemeClr>
                </a:solidFill>
              </a:rPr>
              <a:t>Ritesh swung the bat in an attempt to hit the flying bat.</a:t>
            </a:r>
          </a:p>
          <a:p>
            <a:pPr marL="0" indent="0">
              <a:buNone/>
            </a:pPr>
            <a:endParaRPr lang="en-US" sz="2400" dirty="0">
              <a:solidFill>
                <a:schemeClr val="accent6">
                  <a:lumMod val="60000"/>
                  <a:lumOff val="40000"/>
                </a:schemeClr>
              </a:solidFill>
            </a:endParaRPr>
          </a:p>
          <a:p>
            <a:pPr marL="0" indent="0">
              <a:buNone/>
            </a:pPr>
            <a:r>
              <a:rPr lang="en-US" sz="2400" b="1" dirty="0">
                <a:solidFill>
                  <a:schemeClr val="accent6">
                    <a:lumMod val="60000"/>
                    <a:lumOff val="40000"/>
                  </a:schemeClr>
                </a:solidFill>
              </a:rPr>
              <a:t>b) Syntactic Ambiguity</a:t>
            </a:r>
          </a:p>
          <a:p>
            <a:pPr marL="0" indent="0">
              <a:buNone/>
            </a:pPr>
            <a:r>
              <a:rPr lang="en-US" sz="2400" b="1" dirty="0">
                <a:solidFill>
                  <a:schemeClr val="accent6">
                    <a:lumMod val="60000"/>
                    <a:lumOff val="40000"/>
                  </a:schemeClr>
                </a:solidFill>
              </a:rPr>
              <a:t>Sentence</a:t>
            </a:r>
            <a:r>
              <a:rPr lang="en-US" sz="2400" dirty="0">
                <a:solidFill>
                  <a:schemeClr val="accent6">
                    <a:lumMod val="60000"/>
                    <a:lumOff val="40000"/>
                  </a:schemeClr>
                </a:solidFill>
              </a:rPr>
              <a:t>: </a:t>
            </a:r>
            <a:r>
              <a:rPr lang="en-US" sz="2400" i="1" dirty="0">
                <a:solidFill>
                  <a:schemeClr val="accent6">
                    <a:lumMod val="60000"/>
                    <a:lumOff val="40000"/>
                  </a:schemeClr>
                </a:solidFill>
              </a:rPr>
              <a:t>"I saw the man with the telescope."</a:t>
            </a:r>
            <a:endParaRPr lang="en-US" sz="2400" dirty="0">
              <a:solidFill>
                <a:schemeClr val="accent6">
                  <a:lumMod val="60000"/>
                  <a:lumOff val="40000"/>
                </a:schemeClr>
              </a:solidFill>
            </a:endParaRPr>
          </a:p>
          <a:p>
            <a:pPr marL="0" indent="0">
              <a:buNone/>
            </a:pPr>
            <a:r>
              <a:rPr lang="en-US" sz="2400" b="1" dirty="0">
                <a:solidFill>
                  <a:schemeClr val="accent6">
                    <a:lumMod val="60000"/>
                    <a:lumOff val="40000"/>
                  </a:schemeClr>
                </a:solidFill>
              </a:rPr>
              <a:t>Interpretation 1</a:t>
            </a:r>
            <a:r>
              <a:rPr lang="en-US" sz="2400" dirty="0">
                <a:solidFill>
                  <a:schemeClr val="accent6">
                    <a:lumMod val="60000"/>
                    <a:lumOff val="40000"/>
                  </a:schemeClr>
                </a:solidFill>
              </a:rPr>
              <a:t>: I used a telescope to see the man.</a:t>
            </a:r>
          </a:p>
          <a:p>
            <a:pPr marL="0" indent="0">
              <a:buNone/>
            </a:pPr>
            <a:r>
              <a:rPr lang="en-US" sz="2400" b="1" dirty="0">
                <a:solidFill>
                  <a:schemeClr val="accent6">
                    <a:lumMod val="60000"/>
                    <a:lumOff val="40000"/>
                  </a:schemeClr>
                </a:solidFill>
              </a:rPr>
              <a:t>Interpretation 2</a:t>
            </a:r>
            <a:r>
              <a:rPr lang="en-US" sz="2400" dirty="0">
                <a:solidFill>
                  <a:schemeClr val="accent6">
                    <a:lumMod val="60000"/>
                    <a:lumOff val="40000"/>
                  </a:schemeClr>
                </a:solidFill>
              </a:rPr>
              <a:t>: I saw a man who was holding a telescope.</a:t>
            </a:r>
          </a:p>
          <a:p>
            <a:pPr marL="0" indent="0">
              <a:buNone/>
            </a:pPr>
            <a:endParaRPr lang="en-US" sz="2400" dirty="0">
              <a:solidFill>
                <a:schemeClr val="accent6">
                  <a:lumMod val="60000"/>
                  <a:lumOff val="40000"/>
                </a:schemeClr>
              </a:solidFill>
            </a:endParaRPr>
          </a:p>
        </p:txBody>
      </p:sp>
    </p:spTree>
    <p:extLst>
      <p:ext uri="{BB962C8B-B14F-4D97-AF65-F5344CB8AC3E}">
        <p14:creationId xmlns:p14="http://schemas.microsoft.com/office/powerpoint/2010/main" val="394332341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C20ACF-054F-96C3-66EA-7E69AD195C08}"/>
            </a:ext>
          </a:extLst>
        </p:cNvPr>
        <p:cNvGrpSpPr/>
        <p:nvPr/>
      </p:nvGrpSpPr>
      <p:grpSpPr>
        <a:xfrm>
          <a:off x="0" y="0"/>
          <a:ext cx="0" cy="0"/>
          <a:chOff x="0" y="0"/>
          <a:chExt cx="0" cy="0"/>
        </a:xfrm>
      </p:grpSpPr>
      <p:sp>
        <p:nvSpPr>
          <p:cNvPr id="5" name="Content Placeholder 2">
            <a:extLst>
              <a:ext uri="{FF2B5EF4-FFF2-40B4-BE49-F238E27FC236}">
                <a16:creationId xmlns:a16="http://schemas.microsoft.com/office/drawing/2014/main" id="{707E582D-B6F3-2D08-73A8-40532A337AB1}"/>
              </a:ext>
            </a:extLst>
          </p:cNvPr>
          <p:cNvSpPr txBox="1">
            <a:spLocks/>
          </p:cNvSpPr>
          <p:nvPr/>
        </p:nvSpPr>
        <p:spPr>
          <a:xfrm>
            <a:off x="201168" y="226306"/>
            <a:ext cx="11191146" cy="7235198"/>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400" b="1" dirty="0">
                <a:solidFill>
                  <a:schemeClr val="accent6">
                    <a:lumMod val="60000"/>
                    <a:lumOff val="40000"/>
                  </a:schemeClr>
                </a:solidFill>
              </a:rPr>
              <a:t>c) Pragmatic Ambiguity</a:t>
            </a:r>
          </a:p>
          <a:p>
            <a:pPr marL="0" indent="0">
              <a:buNone/>
            </a:pPr>
            <a:r>
              <a:rPr lang="en-US" sz="2400" b="1" dirty="0">
                <a:solidFill>
                  <a:schemeClr val="accent6">
                    <a:lumMod val="60000"/>
                    <a:lumOff val="40000"/>
                  </a:schemeClr>
                </a:solidFill>
              </a:rPr>
              <a:t>Sentence</a:t>
            </a:r>
            <a:r>
              <a:rPr lang="en-US" sz="2400" dirty="0">
                <a:solidFill>
                  <a:schemeClr val="accent6">
                    <a:lumMod val="60000"/>
                    <a:lumOff val="40000"/>
                  </a:schemeClr>
                </a:solidFill>
              </a:rPr>
              <a:t>: </a:t>
            </a:r>
            <a:r>
              <a:rPr lang="en-US" sz="2400" i="1" dirty="0">
                <a:solidFill>
                  <a:schemeClr val="accent6">
                    <a:lumMod val="60000"/>
                    <a:lumOff val="40000"/>
                  </a:schemeClr>
                </a:solidFill>
              </a:rPr>
              <a:t>"Can you pass the salt?"</a:t>
            </a:r>
            <a:endParaRPr lang="en-US" sz="2400" dirty="0">
              <a:solidFill>
                <a:schemeClr val="accent6">
                  <a:lumMod val="60000"/>
                  <a:lumOff val="40000"/>
                </a:schemeClr>
              </a:solidFill>
            </a:endParaRPr>
          </a:p>
          <a:p>
            <a:pPr marL="0" indent="0">
              <a:buNone/>
            </a:pPr>
            <a:r>
              <a:rPr lang="en-US" sz="2400" dirty="0">
                <a:solidFill>
                  <a:schemeClr val="accent6">
                    <a:lumMod val="60000"/>
                    <a:lumOff val="40000"/>
                  </a:schemeClr>
                </a:solidFill>
              </a:rPr>
              <a:t>Literally, it's a yes/no question about ability.</a:t>
            </a:r>
          </a:p>
          <a:p>
            <a:pPr marL="0" indent="0">
              <a:buNone/>
            </a:pPr>
            <a:r>
              <a:rPr lang="en-US" sz="2400" dirty="0">
                <a:solidFill>
                  <a:schemeClr val="accent6">
                    <a:lumMod val="60000"/>
                    <a:lumOff val="40000"/>
                  </a:schemeClr>
                </a:solidFill>
              </a:rPr>
              <a:t>Pragmatically, it's a polite request to pass the salt.</a:t>
            </a:r>
          </a:p>
          <a:p>
            <a:pPr marL="0" indent="0">
              <a:buFont typeface="Arial" panose="020B0604020202020204" pitchFamily="34" charset="0"/>
              <a:buNone/>
            </a:pPr>
            <a:endParaRPr lang="en-US" sz="2400" b="1" dirty="0">
              <a:solidFill>
                <a:schemeClr val="accent6">
                  <a:lumMod val="60000"/>
                  <a:lumOff val="40000"/>
                </a:schemeClr>
              </a:solidFill>
            </a:endParaRPr>
          </a:p>
          <a:p>
            <a:pPr marL="0" indent="0">
              <a:buFont typeface="Arial" panose="020B0604020202020204" pitchFamily="34" charset="0"/>
              <a:buNone/>
            </a:pPr>
            <a:r>
              <a:rPr lang="en-US" sz="2400" b="1" dirty="0">
                <a:solidFill>
                  <a:schemeClr val="accent6">
                    <a:lumMod val="60000"/>
                    <a:lumOff val="40000"/>
                  </a:schemeClr>
                </a:solidFill>
              </a:rPr>
              <a:t>d) Punctuation ambiguity</a:t>
            </a:r>
          </a:p>
          <a:p>
            <a:pPr marL="0" indent="0">
              <a:buFont typeface="Arial" panose="020B0604020202020204" pitchFamily="34" charset="0"/>
              <a:buNone/>
            </a:pPr>
            <a:r>
              <a:rPr lang="en-US" sz="2400" dirty="0">
                <a:solidFill>
                  <a:schemeClr val="accent6">
                    <a:lumMod val="60000"/>
                    <a:lumOff val="40000"/>
                  </a:schemeClr>
                </a:solidFill>
              </a:rPr>
              <a:t>She found inspiration in cooking, her family, and her dog (right meaning)</a:t>
            </a:r>
          </a:p>
          <a:p>
            <a:pPr marL="0" indent="0">
              <a:buFont typeface="Arial" panose="020B0604020202020204" pitchFamily="34" charset="0"/>
              <a:buNone/>
            </a:pPr>
            <a:r>
              <a:rPr lang="en-US" sz="2400" dirty="0">
                <a:solidFill>
                  <a:schemeClr val="accent6">
                    <a:lumMod val="60000"/>
                    <a:lumOff val="40000"/>
                  </a:schemeClr>
                </a:solidFill>
              </a:rPr>
              <a:t>She found inspiration in cooking her family and her dog (weird meaning)</a:t>
            </a:r>
          </a:p>
          <a:p>
            <a:pPr marL="0" indent="0">
              <a:buFont typeface="Arial" panose="020B0604020202020204" pitchFamily="34" charset="0"/>
              <a:buNone/>
            </a:pPr>
            <a:endParaRPr lang="en-US" sz="2400" b="1" dirty="0">
              <a:solidFill>
                <a:schemeClr val="accent6">
                  <a:lumMod val="60000"/>
                  <a:lumOff val="40000"/>
                </a:schemeClr>
              </a:solidFill>
            </a:endParaRPr>
          </a:p>
          <a:p>
            <a:pPr marL="0" indent="0">
              <a:buFont typeface="Arial" panose="020B0604020202020204" pitchFamily="34" charset="0"/>
              <a:buNone/>
            </a:pPr>
            <a:r>
              <a:rPr lang="en-US" sz="2400" b="1" dirty="0">
                <a:solidFill>
                  <a:schemeClr val="accent6">
                    <a:lumMod val="60000"/>
                    <a:lumOff val="40000"/>
                  </a:schemeClr>
                </a:solidFill>
              </a:rPr>
              <a:t>e) Slang</a:t>
            </a:r>
          </a:p>
          <a:p>
            <a:pPr marL="0" indent="0">
              <a:buFont typeface="Arial" panose="020B0604020202020204" pitchFamily="34" charset="0"/>
              <a:buNone/>
            </a:pPr>
            <a:r>
              <a:rPr lang="en-US" sz="2400" dirty="0">
                <a:solidFill>
                  <a:schemeClr val="accent6">
                    <a:lumMod val="60000"/>
                    <a:lumOff val="40000"/>
                  </a:schemeClr>
                </a:solidFill>
              </a:rPr>
              <a:t>Sentence: "Dude your pants are on fire!"</a:t>
            </a:r>
          </a:p>
          <a:p>
            <a:pPr marL="0" indent="0">
              <a:buFont typeface="Arial" panose="020B0604020202020204" pitchFamily="34" charset="0"/>
              <a:buNone/>
            </a:pPr>
            <a:r>
              <a:rPr lang="en-US" sz="2400" dirty="0">
                <a:solidFill>
                  <a:schemeClr val="accent6">
                    <a:lumMod val="60000"/>
                    <a:lumOff val="40000"/>
                  </a:schemeClr>
                </a:solidFill>
              </a:rPr>
              <a:t>Literal interpretation: pants are on fire.</a:t>
            </a:r>
          </a:p>
          <a:p>
            <a:pPr marL="0" indent="0">
              <a:buFont typeface="Arial" panose="020B0604020202020204" pitchFamily="34" charset="0"/>
              <a:buNone/>
            </a:pPr>
            <a:r>
              <a:rPr lang="en-US" sz="2400" dirty="0">
                <a:solidFill>
                  <a:schemeClr val="accent6">
                    <a:lumMod val="60000"/>
                    <a:lumOff val="40000"/>
                  </a:schemeClr>
                </a:solidFill>
              </a:rPr>
              <a:t>Slang meaning: The pants was amazing or pants have design depicting fire</a:t>
            </a:r>
          </a:p>
        </p:txBody>
      </p:sp>
    </p:spTree>
    <p:extLst>
      <p:ext uri="{BB962C8B-B14F-4D97-AF65-F5344CB8AC3E}">
        <p14:creationId xmlns:p14="http://schemas.microsoft.com/office/powerpoint/2010/main" val="272922948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8A498D-036A-90C7-6E6F-CDEE5F38C2B9}"/>
            </a:ext>
          </a:extLst>
        </p:cNvPr>
        <p:cNvGrpSpPr/>
        <p:nvPr/>
      </p:nvGrpSpPr>
      <p:grpSpPr>
        <a:xfrm>
          <a:off x="0" y="0"/>
          <a:ext cx="0" cy="0"/>
          <a:chOff x="0" y="0"/>
          <a:chExt cx="0" cy="0"/>
        </a:xfrm>
      </p:grpSpPr>
      <p:sp>
        <p:nvSpPr>
          <p:cNvPr id="5" name="Content Placeholder 2">
            <a:extLst>
              <a:ext uri="{FF2B5EF4-FFF2-40B4-BE49-F238E27FC236}">
                <a16:creationId xmlns:a16="http://schemas.microsoft.com/office/drawing/2014/main" id="{CA5CA420-457A-6D22-13ED-0FC108B4F046}"/>
              </a:ext>
            </a:extLst>
          </p:cNvPr>
          <p:cNvSpPr txBox="1">
            <a:spLocks/>
          </p:cNvSpPr>
          <p:nvPr/>
        </p:nvSpPr>
        <p:spPr>
          <a:xfrm>
            <a:off x="201168" y="226306"/>
            <a:ext cx="11191146" cy="7235198"/>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400" b="1" dirty="0">
                <a:solidFill>
                  <a:schemeClr val="accent6">
                    <a:lumMod val="60000"/>
                    <a:lumOff val="40000"/>
                  </a:schemeClr>
                </a:solidFill>
              </a:rPr>
              <a:t>f) Sarcasm Ambiguity</a:t>
            </a:r>
          </a:p>
          <a:p>
            <a:pPr marL="0" indent="0">
              <a:buNone/>
            </a:pPr>
            <a:r>
              <a:rPr lang="en-US" sz="2400" i="1" dirty="0">
                <a:solidFill>
                  <a:schemeClr val="accent6">
                    <a:lumMod val="60000"/>
                    <a:lumOff val="40000"/>
                  </a:schemeClr>
                </a:solidFill>
              </a:rPr>
              <a:t>"Oh great, another Monday. I’m so excited."</a:t>
            </a:r>
            <a:endParaRPr lang="en-US" sz="2400" dirty="0">
              <a:solidFill>
                <a:schemeClr val="accent6">
                  <a:lumMod val="60000"/>
                  <a:lumOff val="40000"/>
                </a:schemeClr>
              </a:solidFill>
            </a:endParaRPr>
          </a:p>
          <a:p>
            <a:pPr marL="0" indent="0">
              <a:buNone/>
            </a:pPr>
            <a:r>
              <a:rPr lang="en-US" sz="2400" dirty="0">
                <a:solidFill>
                  <a:schemeClr val="accent6">
                    <a:lumMod val="60000"/>
                    <a:lumOff val="40000"/>
                  </a:schemeClr>
                </a:solidFill>
              </a:rPr>
              <a:t>Literal meaning: The speaker is excited.</a:t>
            </a:r>
          </a:p>
          <a:p>
            <a:pPr marL="0" indent="0">
              <a:buNone/>
            </a:pPr>
            <a:r>
              <a:rPr lang="en-US" sz="2400" dirty="0">
                <a:solidFill>
                  <a:schemeClr val="accent6">
                    <a:lumMod val="60000"/>
                    <a:lumOff val="40000"/>
                  </a:schemeClr>
                </a:solidFill>
              </a:rPr>
              <a:t>Actual (sarcastic) meaning: The speaker dreads it.</a:t>
            </a:r>
          </a:p>
          <a:p>
            <a:pPr marL="0" indent="0">
              <a:buNone/>
            </a:pPr>
            <a:endParaRPr lang="en-US" sz="2400" b="1" dirty="0">
              <a:solidFill>
                <a:schemeClr val="accent6">
                  <a:lumMod val="60000"/>
                  <a:lumOff val="40000"/>
                </a:schemeClr>
              </a:solidFill>
            </a:endParaRPr>
          </a:p>
          <a:p>
            <a:pPr marL="0" indent="0">
              <a:buNone/>
            </a:pPr>
            <a:r>
              <a:rPr lang="en-US" sz="2400" b="1" dirty="0">
                <a:solidFill>
                  <a:schemeClr val="accent6">
                    <a:lumMod val="60000"/>
                    <a:lumOff val="40000"/>
                  </a:schemeClr>
                </a:solidFill>
              </a:rPr>
              <a:t>g) Spelling mistake:</a:t>
            </a:r>
          </a:p>
          <a:p>
            <a:pPr marL="0" indent="0">
              <a:buNone/>
            </a:pPr>
            <a:r>
              <a:rPr lang="en-US" sz="2400" dirty="0">
                <a:solidFill>
                  <a:schemeClr val="accent6">
                    <a:lumMod val="60000"/>
                    <a:lumOff val="40000"/>
                  </a:schemeClr>
                </a:solidFill>
              </a:rPr>
              <a:t>"I cleaned the horse all morning.“….meant house</a:t>
            </a:r>
          </a:p>
        </p:txBody>
      </p:sp>
    </p:spTree>
    <p:extLst>
      <p:ext uri="{BB962C8B-B14F-4D97-AF65-F5344CB8AC3E}">
        <p14:creationId xmlns:p14="http://schemas.microsoft.com/office/powerpoint/2010/main" val="241331131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6CDE61-8147-0BA6-D9AF-E2D7D09A90AA}"/>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AAA38AB1-1C14-B3B5-62A9-015FDE532611}"/>
              </a:ext>
            </a:extLst>
          </p:cNvPr>
          <p:cNvSpPr txBox="1"/>
          <p:nvPr/>
        </p:nvSpPr>
        <p:spPr>
          <a:xfrm>
            <a:off x="73152" y="197346"/>
            <a:ext cx="11996928" cy="3416320"/>
          </a:xfrm>
          <a:prstGeom prst="rect">
            <a:avLst/>
          </a:prstGeom>
          <a:noFill/>
        </p:spPr>
        <p:txBody>
          <a:bodyPr wrap="square">
            <a:spAutoFit/>
          </a:bodyPr>
          <a:lstStyle/>
          <a:p>
            <a:pPr marL="0" indent="0">
              <a:buNone/>
            </a:pPr>
            <a:r>
              <a:rPr lang="en-US" sz="2400" dirty="0">
                <a:solidFill>
                  <a:schemeClr val="accent6">
                    <a:lumMod val="60000"/>
                    <a:lumOff val="40000"/>
                  </a:schemeClr>
                </a:solidFill>
              </a:rPr>
              <a:t>2. Data Quality and Availability:</a:t>
            </a:r>
          </a:p>
          <a:p>
            <a:pPr marL="0" indent="0">
              <a:buNone/>
            </a:pPr>
            <a:endParaRPr lang="en-US" sz="2400" dirty="0">
              <a:solidFill>
                <a:schemeClr val="accent6">
                  <a:lumMod val="60000"/>
                  <a:lumOff val="40000"/>
                </a:schemeClr>
              </a:solidFill>
            </a:endParaRPr>
          </a:p>
          <a:p>
            <a:pPr marL="0" indent="0">
              <a:buNone/>
            </a:pPr>
            <a:r>
              <a:rPr lang="en-US" sz="2400" b="1" dirty="0">
                <a:solidFill>
                  <a:schemeClr val="accent6">
                    <a:lumMod val="60000"/>
                    <a:lumOff val="40000"/>
                  </a:schemeClr>
                </a:solidFill>
              </a:rPr>
              <a:t>Issue: </a:t>
            </a:r>
            <a:r>
              <a:rPr lang="en-US" sz="2400" dirty="0">
                <a:solidFill>
                  <a:schemeClr val="accent6">
                    <a:lumMod val="60000"/>
                    <a:lumOff val="40000"/>
                  </a:schemeClr>
                </a:solidFill>
              </a:rPr>
              <a:t>NLP models rely on large amounts of training data, and the quality of this data significantly impacts performance. </a:t>
            </a:r>
          </a:p>
          <a:p>
            <a:pPr marL="0" indent="0">
              <a:buNone/>
            </a:pPr>
            <a:r>
              <a:rPr lang="en-US" sz="2400" b="1" dirty="0">
                <a:solidFill>
                  <a:schemeClr val="accent6">
                    <a:lumMod val="60000"/>
                    <a:lumOff val="40000"/>
                  </a:schemeClr>
                </a:solidFill>
              </a:rPr>
              <a:t>Noisy, incomplete, or biased data</a:t>
            </a:r>
            <a:r>
              <a:rPr lang="en-US" sz="2400" dirty="0">
                <a:solidFill>
                  <a:schemeClr val="accent6">
                    <a:lumMod val="60000"/>
                    <a:lumOff val="40000"/>
                  </a:schemeClr>
                </a:solidFill>
              </a:rPr>
              <a:t> can lead to inaccurate results. </a:t>
            </a:r>
          </a:p>
          <a:p>
            <a:pPr marL="0" indent="0">
              <a:buNone/>
            </a:pPr>
            <a:endParaRPr lang="en-US" sz="2400" dirty="0">
              <a:solidFill>
                <a:schemeClr val="accent6">
                  <a:lumMod val="60000"/>
                  <a:lumOff val="40000"/>
                </a:schemeClr>
              </a:solidFill>
            </a:endParaRPr>
          </a:p>
          <a:p>
            <a:pPr marL="0" indent="0">
              <a:buNone/>
            </a:pPr>
            <a:r>
              <a:rPr lang="en-US" sz="2400" b="1" dirty="0">
                <a:solidFill>
                  <a:schemeClr val="accent6">
                    <a:lumMod val="60000"/>
                    <a:lumOff val="40000"/>
                  </a:schemeClr>
                </a:solidFill>
              </a:rPr>
              <a:t>Example: </a:t>
            </a:r>
            <a:r>
              <a:rPr lang="en-US" sz="2400" dirty="0">
                <a:solidFill>
                  <a:schemeClr val="accent6">
                    <a:lumMod val="60000"/>
                    <a:lumOff val="40000"/>
                  </a:schemeClr>
                </a:solidFill>
              </a:rPr>
              <a:t>Training data with gendered stereotypes can result in NLP models perpetuating biases. </a:t>
            </a:r>
          </a:p>
          <a:p>
            <a:pPr marL="0" indent="0">
              <a:buNone/>
            </a:pPr>
            <a:endParaRPr lang="en-US" sz="2400" b="1" dirty="0">
              <a:solidFill>
                <a:schemeClr val="accent6">
                  <a:lumMod val="60000"/>
                  <a:lumOff val="40000"/>
                </a:schemeClr>
              </a:solidFill>
            </a:endParaRPr>
          </a:p>
        </p:txBody>
      </p:sp>
    </p:spTree>
    <p:extLst>
      <p:ext uri="{BB962C8B-B14F-4D97-AF65-F5344CB8AC3E}">
        <p14:creationId xmlns:p14="http://schemas.microsoft.com/office/powerpoint/2010/main" val="59633034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7E4201-D67D-4058-736E-7B947F73FC4B}"/>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CD3A4745-7E31-85A2-F2CE-83847A22C4E8}"/>
              </a:ext>
            </a:extLst>
          </p:cNvPr>
          <p:cNvSpPr txBox="1"/>
          <p:nvPr/>
        </p:nvSpPr>
        <p:spPr>
          <a:xfrm>
            <a:off x="73152" y="197346"/>
            <a:ext cx="11996928" cy="4893647"/>
          </a:xfrm>
          <a:prstGeom prst="rect">
            <a:avLst/>
          </a:prstGeom>
          <a:noFill/>
        </p:spPr>
        <p:txBody>
          <a:bodyPr wrap="square">
            <a:spAutoFit/>
          </a:bodyPr>
          <a:lstStyle/>
          <a:p>
            <a:pPr marL="0" indent="0">
              <a:buNone/>
            </a:pPr>
            <a:r>
              <a:rPr lang="en-US" sz="2400" b="1" dirty="0">
                <a:solidFill>
                  <a:schemeClr val="accent6">
                    <a:lumMod val="60000"/>
                    <a:lumOff val="40000"/>
                  </a:schemeClr>
                </a:solidFill>
              </a:rPr>
              <a:t>Training Data Example (Biased)</a:t>
            </a:r>
          </a:p>
          <a:p>
            <a:pPr marL="0" indent="0">
              <a:buNone/>
            </a:pPr>
            <a:r>
              <a:rPr lang="en-US" sz="2400" dirty="0">
                <a:solidFill>
                  <a:schemeClr val="accent6">
                    <a:lumMod val="60000"/>
                    <a:lumOff val="40000"/>
                  </a:schemeClr>
                </a:solidFill>
              </a:rPr>
              <a:t>Suppose a language model is trained on large-scale web data (like Common Crawl) that includes sentences like:</a:t>
            </a:r>
          </a:p>
          <a:p>
            <a:pPr marL="0" indent="0">
              <a:buNone/>
            </a:pPr>
            <a:r>
              <a:rPr lang="en-US" sz="2400" b="1" dirty="0">
                <a:solidFill>
                  <a:schemeClr val="accent6">
                    <a:lumMod val="60000"/>
                    <a:lumOff val="40000"/>
                  </a:schemeClr>
                </a:solidFill>
              </a:rPr>
              <a:t>"Women are nurses. Men are doctors. He is a brilliant scientist. She is a beautiful actress. The secretary scheduled his meeting. The boss signed the contract."</a:t>
            </a:r>
            <a:endParaRPr lang="en-US" sz="2400" dirty="0">
              <a:solidFill>
                <a:schemeClr val="accent6">
                  <a:lumMod val="60000"/>
                  <a:lumOff val="40000"/>
                </a:schemeClr>
              </a:solidFill>
            </a:endParaRPr>
          </a:p>
          <a:p>
            <a:pPr marL="0" indent="0">
              <a:buNone/>
            </a:pPr>
            <a:r>
              <a:rPr lang="en-US" sz="2400" dirty="0">
                <a:solidFill>
                  <a:schemeClr val="accent6">
                    <a:lumMod val="60000"/>
                    <a:lumOff val="40000"/>
                  </a:schemeClr>
                </a:solidFill>
              </a:rPr>
              <a:t>These examples reinforce </a:t>
            </a:r>
            <a:r>
              <a:rPr lang="en-US" sz="2400" b="1" dirty="0">
                <a:solidFill>
                  <a:schemeClr val="accent6">
                    <a:lumMod val="60000"/>
                    <a:lumOff val="40000"/>
                  </a:schemeClr>
                </a:solidFill>
              </a:rPr>
              <a:t>stereotypical gender roles</a:t>
            </a:r>
            <a:r>
              <a:rPr lang="en-US" sz="2400" dirty="0">
                <a:solidFill>
                  <a:schemeClr val="accent6">
                    <a:lumMod val="60000"/>
                    <a:lumOff val="40000"/>
                  </a:schemeClr>
                </a:solidFill>
              </a:rPr>
              <a:t> (e.g., associating women with appearance or support roles, and men with intelligence or leadership).</a:t>
            </a:r>
          </a:p>
          <a:p>
            <a:pPr marL="0" indent="0">
              <a:buNone/>
            </a:pPr>
            <a:endParaRPr lang="en-US" sz="2400" dirty="0">
              <a:solidFill>
                <a:schemeClr val="accent6">
                  <a:lumMod val="60000"/>
                  <a:lumOff val="40000"/>
                </a:schemeClr>
              </a:solidFill>
            </a:endParaRPr>
          </a:p>
          <a:p>
            <a:pPr marL="0" indent="0">
              <a:buNone/>
            </a:pPr>
            <a:r>
              <a:rPr lang="en-US" sz="2400" dirty="0">
                <a:solidFill>
                  <a:schemeClr val="accent6">
                    <a:lumMod val="60000"/>
                    <a:lumOff val="40000"/>
                  </a:schemeClr>
                </a:solidFill>
              </a:rPr>
              <a:t>You ask a model: "The doctor went to the hospital because __ was needed."</a:t>
            </a:r>
          </a:p>
          <a:p>
            <a:pPr marL="0" indent="0">
              <a:buNone/>
            </a:pPr>
            <a:r>
              <a:rPr lang="en-US" sz="2400" dirty="0">
                <a:solidFill>
                  <a:schemeClr val="accent6">
                    <a:lumMod val="60000"/>
                    <a:lumOff val="40000"/>
                  </a:schemeClr>
                </a:solidFill>
              </a:rPr>
              <a:t>It may respond: "he" — even if gender wasn’t specified in the question.</a:t>
            </a:r>
          </a:p>
          <a:p>
            <a:pPr marL="0" indent="0">
              <a:buNone/>
            </a:pPr>
            <a:endParaRPr lang="en-US" sz="2400" dirty="0">
              <a:solidFill>
                <a:schemeClr val="accent6">
                  <a:lumMod val="60000"/>
                  <a:lumOff val="40000"/>
                </a:schemeClr>
              </a:solidFill>
            </a:endParaRPr>
          </a:p>
          <a:p>
            <a:pPr marL="0" indent="0">
              <a:buNone/>
            </a:pPr>
            <a:r>
              <a:rPr lang="en-US" sz="2400" b="1" dirty="0">
                <a:solidFill>
                  <a:schemeClr val="accent6">
                    <a:lumMod val="60000"/>
                    <a:lumOff val="40000"/>
                  </a:schemeClr>
                </a:solidFill>
              </a:rPr>
              <a:t>Solution: </a:t>
            </a:r>
            <a:r>
              <a:rPr lang="en-US" sz="2400" dirty="0">
                <a:solidFill>
                  <a:schemeClr val="accent6">
                    <a:lumMod val="60000"/>
                    <a:lumOff val="40000"/>
                  </a:schemeClr>
                </a:solidFill>
              </a:rPr>
              <a:t>Carefully selecting and cleaning training data, and developing techniques to mitigate biases. </a:t>
            </a:r>
          </a:p>
        </p:txBody>
      </p:sp>
    </p:spTree>
    <p:extLst>
      <p:ext uri="{BB962C8B-B14F-4D97-AF65-F5344CB8AC3E}">
        <p14:creationId xmlns:p14="http://schemas.microsoft.com/office/powerpoint/2010/main" val="155450637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20C91265-6E21-B871-EF82-9963DE5D9CEA}"/>
              </a:ext>
            </a:extLst>
          </p:cNvPr>
          <p:cNvSpPr txBox="1"/>
          <p:nvPr/>
        </p:nvSpPr>
        <p:spPr>
          <a:xfrm>
            <a:off x="128016" y="308646"/>
            <a:ext cx="11439144" cy="6370975"/>
          </a:xfrm>
          <a:prstGeom prst="rect">
            <a:avLst/>
          </a:prstGeom>
          <a:noFill/>
        </p:spPr>
        <p:txBody>
          <a:bodyPr wrap="square">
            <a:spAutoFit/>
          </a:bodyPr>
          <a:lstStyle/>
          <a:p>
            <a:pPr marL="0" indent="0">
              <a:buNone/>
            </a:pPr>
            <a:r>
              <a:rPr lang="en-US" sz="2400" dirty="0">
                <a:solidFill>
                  <a:schemeClr val="accent6">
                    <a:lumMod val="60000"/>
                    <a:lumOff val="40000"/>
                  </a:schemeClr>
                </a:solidFill>
              </a:rPr>
              <a:t>3. Evolving Language:</a:t>
            </a:r>
          </a:p>
          <a:p>
            <a:pPr marL="0" indent="0">
              <a:buNone/>
            </a:pPr>
            <a:endParaRPr lang="en-US" sz="2400" dirty="0">
              <a:solidFill>
                <a:schemeClr val="accent6">
                  <a:lumMod val="60000"/>
                  <a:lumOff val="40000"/>
                </a:schemeClr>
              </a:solidFill>
            </a:endParaRPr>
          </a:p>
          <a:p>
            <a:pPr marL="0" indent="0">
              <a:buNone/>
            </a:pPr>
            <a:r>
              <a:rPr lang="en-US" sz="2400" b="1" dirty="0">
                <a:solidFill>
                  <a:schemeClr val="accent6">
                    <a:lumMod val="60000"/>
                    <a:lumOff val="40000"/>
                  </a:schemeClr>
                </a:solidFill>
              </a:rPr>
              <a:t>Issue:</a:t>
            </a:r>
            <a:r>
              <a:rPr lang="en-US" sz="2400" dirty="0">
                <a:solidFill>
                  <a:schemeClr val="accent6">
                    <a:lumMod val="60000"/>
                    <a:lumOff val="40000"/>
                  </a:schemeClr>
                </a:solidFill>
              </a:rPr>
              <a:t> Languages are constantly evolving, with new words, idioms, and slang emerging. NLP systems need to adapt to these changes.</a:t>
            </a:r>
          </a:p>
          <a:p>
            <a:pPr marL="0" indent="0">
              <a:buNone/>
            </a:pPr>
            <a:endParaRPr lang="en-US" sz="2400" dirty="0">
              <a:solidFill>
                <a:schemeClr val="accent6">
                  <a:lumMod val="60000"/>
                  <a:lumOff val="40000"/>
                </a:schemeClr>
              </a:solidFill>
            </a:endParaRPr>
          </a:p>
          <a:p>
            <a:pPr marL="0" indent="0">
              <a:buNone/>
            </a:pPr>
            <a:r>
              <a:rPr lang="en-US" sz="2400" b="1" dirty="0">
                <a:solidFill>
                  <a:schemeClr val="accent6">
                    <a:lumMod val="60000"/>
                    <a:lumOff val="40000"/>
                  </a:schemeClr>
                </a:solidFill>
              </a:rPr>
              <a:t>Example:</a:t>
            </a:r>
            <a:r>
              <a:rPr lang="en-US" sz="2400" dirty="0">
                <a:solidFill>
                  <a:schemeClr val="accent6">
                    <a:lumMod val="60000"/>
                    <a:lumOff val="40000"/>
                  </a:schemeClr>
                </a:solidFill>
              </a:rPr>
              <a:t> New slang terms and internet memes need to be understood by NLP systems.</a:t>
            </a:r>
          </a:p>
          <a:p>
            <a:pPr marL="0" indent="0">
              <a:buNone/>
            </a:pPr>
            <a:r>
              <a:rPr lang="en-US" sz="2400" dirty="0">
                <a:solidFill>
                  <a:schemeClr val="accent6">
                    <a:lumMod val="60000"/>
                    <a:lumOff val="40000"/>
                  </a:schemeClr>
                </a:solidFill>
              </a:rPr>
              <a:t>“Flex”:</a:t>
            </a:r>
          </a:p>
          <a:p>
            <a:pPr marL="0" indent="0">
              <a:buNone/>
            </a:pPr>
            <a:r>
              <a:rPr lang="en-US" sz="2400" dirty="0">
                <a:solidFill>
                  <a:schemeClr val="accent6">
                    <a:lumMod val="60000"/>
                    <a:lumOff val="40000"/>
                  </a:schemeClr>
                </a:solidFill>
              </a:rPr>
              <a:t>Old meaning: To "flex" meant to bend a muscle.</a:t>
            </a:r>
          </a:p>
          <a:p>
            <a:pPr marL="0" indent="0">
              <a:buNone/>
            </a:pPr>
            <a:r>
              <a:rPr lang="en-US" sz="2400" dirty="0">
                <a:solidFill>
                  <a:schemeClr val="accent6">
                    <a:lumMod val="60000"/>
                    <a:lumOff val="40000"/>
                  </a:schemeClr>
                </a:solidFill>
              </a:rPr>
              <a:t>New meaning: "Flex" in modern slang refers to showing off or boasting (e.g., "He’s flexing his new car.").</a:t>
            </a:r>
          </a:p>
          <a:p>
            <a:pPr marL="0" indent="0">
              <a:buNone/>
            </a:pPr>
            <a:endParaRPr lang="en-US" sz="2400" b="1" dirty="0">
              <a:solidFill>
                <a:schemeClr val="accent6">
                  <a:lumMod val="60000"/>
                  <a:lumOff val="40000"/>
                </a:schemeClr>
              </a:solidFill>
            </a:endParaRPr>
          </a:p>
          <a:p>
            <a:pPr marL="0" indent="0">
              <a:buNone/>
            </a:pPr>
            <a:endParaRPr lang="en-US" sz="2400" b="1" dirty="0">
              <a:solidFill>
                <a:schemeClr val="accent6">
                  <a:lumMod val="60000"/>
                  <a:lumOff val="40000"/>
                </a:schemeClr>
              </a:solidFill>
            </a:endParaRPr>
          </a:p>
          <a:p>
            <a:pPr marL="0" indent="0">
              <a:buNone/>
            </a:pPr>
            <a:r>
              <a:rPr lang="en-US" sz="2400" b="1" dirty="0">
                <a:solidFill>
                  <a:schemeClr val="accent6">
                    <a:lumMod val="60000"/>
                    <a:lumOff val="40000"/>
                  </a:schemeClr>
                </a:solidFill>
              </a:rPr>
              <a:t>Solution:</a:t>
            </a:r>
            <a:r>
              <a:rPr lang="en-US" sz="2400" dirty="0">
                <a:solidFill>
                  <a:schemeClr val="accent6">
                    <a:lumMod val="60000"/>
                    <a:lumOff val="40000"/>
                  </a:schemeClr>
                </a:solidFill>
              </a:rPr>
              <a:t> </a:t>
            </a:r>
          </a:p>
          <a:p>
            <a:pPr marL="0" indent="0">
              <a:buNone/>
            </a:pPr>
            <a:r>
              <a:rPr lang="en-US" sz="2400" dirty="0">
                <a:solidFill>
                  <a:schemeClr val="accent6">
                    <a:lumMod val="60000"/>
                    <a:lumOff val="40000"/>
                  </a:schemeClr>
                </a:solidFill>
              </a:rPr>
              <a:t>Developing NLP techniques that can adapt to evolving language and incorporating knowledge from online resources. </a:t>
            </a:r>
            <a:r>
              <a:rPr lang="en-US" sz="2400" b="1" dirty="0">
                <a:solidFill>
                  <a:schemeClr val="accent6">
                    <a:lumMod val="60000"/>
                    <a:lumOff val="40000"/>
                  </a:schemeClr>
                </a:solidFill>
              </a:rPr>
              <a:t> </a:t>
            </a:r>
          </a:p>
          <a:p>
            <a:pPr marL="0" indent="0">
              <a:buNone/>
            </a:pPr>
            <a:r>
              <a:rPr lang="en-US" sz="2400" b="1" dirty="0">
                <a:solidFill>
                  <a:schemeClr val="accent6">
                    <a:lumMod val="60000"/>
                    <a:lumOff val="40000"/>
                  </a:schemeClr>
                </a:solidFill>
              </a:rPr>
              <a:t>E</a:t>
            </a:r>
            <a:r>
              <a:rPr lang="en-US" sz="2400" dirty="0">
                <a:solidFill>
                  <a:schemeClr val="accent6">
                    <a:lumMod val="60000"/>
                    <a:lumOff val="40000"/>
                  </a:schemeClr>
                </a:solidFill>
              </a:rPr>
              <a:t>xample: </a:t>
            </a:r>
            <a:r>
              <a:rPr lang="en-US" sz="2400" b="1" dirty="0">
                <a:solidFill>
                  <a:schemeClr val="accent6">
                    <a:lumMod val="60000"/>
                    <a:lumOff val="40000"/>
                  </a:schemeClr>
                </a:solidFill>
              </a:rPr>
              <a:t>regularly update models</a:t>
            </a:r>
            <a:r>
              <a:rPr lang="en-US" sz="2400" dirty="0">
                <a:solidFill>
                  <a:schemeClr val="accent6">
                    <a:lumMod val="60000"/>
                    <a:lumOff val="40000"/>
                  </a:schemeClr>
                </a:solidFill>
              </a:rPr>
              <a:t> with new language data, particularly from social media, forums, and new books.</a:t>
            </a:r>
          </a:p>
        </p:txBody>
      </p:sp>
    </p:spTree>
    <p:extLst>
      <p:ext uri="{BB962C8B-B14F-4D97-AF65-F5344CB8AC3E}">
        <p14:creationId xmlns:p14="http://schemas.microsoft.com/office/powerpoint/2010/main" val="23260331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83488456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2B165F-3F52-C3BA-058E-030CDA967B2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B868C96-9C9D-E585-B77B-D5E5742F1051}"/>
              </a:ext>
            </a:extLst>
          </p:cNvPr>
          <p:cNvSpPr>
            <a:spLocks noGrp="1"/>
          </p:cNvSpPr>
          <p:nvPr>
            <p:ph type="title"/>
          </p:nvPr>
        </p:nvSpPr>
        <p:spPr>
          <a:xfrm>
            <a:off x="274320" y="136525"/>
            <a:ext cx="11466576" cy="832739"/>
          </a:xfrm>
        </p:spPr>
        <p:txBody>
          <a:bodyPr>
            <a:normAutofit/>
          </a:bodyPr>
          <a:lstStyle/>
          <a:p>
            <a:r>
              <a:rPr lang="en-US" sz="3600" dirty="0"/>
              <a:t>EXTRA</a:t>
            </a:r>
          </a:p>
        </p:txBody>
      </p:sp>
      <p:sp>
        <p:nvSpPr>
          <p:cNvPr id="4" name="TextBox 3">
            <a:extLst>
              <a:ext uri="{FF2B5EF4-FFF2-40B4-BE49-F238E27FC236}">
                <a16:creationId xmlns:a16="http://schemas.microsoft.com/office/drawing/2014/main" id="{9D9CD109-6B71-237D-3A76-9A4CC0660C9A}"/>
              </a:ext>
            </a:extLst>
          </p:cNvPr>
          <p:cNvSpPr txBox="1"/>
          <p:nvPr/>
        </p:nvSpPr>
        <p:spPr>
          <a:xfrm>
            <a:off x="274320" y="933117"/>
            <a:ext cx="11658600" cy="646331"/>
          </a:xfrm>
          <a:prstGeom prst="rect">
            <a:avLst/>
          </a:prstGeom>
          <a:noFill/>
        </p:spPr>
        <p:txBody>
          <a:bodyPr wrap="square">
            <a:spAutoFit/>
          </a:bodyPr>
          <a:lstStyle/>
          <a:p>
            <a:pPr marL="0" indent="0">
              <a:buNone/>
            </a:pPr>
            <a:r>
              <a:rPr lang="en-US" dirty="0" err="1">
                <a:solidFill>
                  <a:schemeClr val="accent6">
                    <a:lumMod val="60000"/>
                    <a:lumOff val="40000"/>
                  </a:schemeClr>
                </a:solidFill>
              </a:rPr>
              <a:t>Xxxxxxxxxxx</a:t>
            </a:r>
            <a:endParaRPr lang="en-US" dirty="0">
              <a:solidFill>
                <a:schemeClr val="accent6">
                  <a:lumMod val="60000"/>
                  <a:lumOff val="40000"/>
                </a:schemeClr>
              </a:solidFill>
            </a:endParaRPr>
          </a:p>
          <a:p>
            <a:pPr marL="0" indent="0">
              <a:buNone/>
            </a:pPr>
            <a:r>
              <a:rPr lang="en-US" dirty="0" err="1">
                <a:solidFill>
                  <a:schemeClr val="accent6">
                    <a:lumMod val="60000"/>
                    <a:lumOff val="40000"/>
                  </a:schemeClr>
                </a:solidFill>
              </a:rPr>
              <a:t>xxxxxxxxxxxx</a:t>
            </a:r>
            <a:endParaRPr lang="en-US" dirty="0">
              <a:solidFill>
                <a:schemeClr val="accent6">
                  <a:lumMod val="60000"/>
                  <a:lumOff val="40000"/>
                </a:schemeClr>
              </a:solidFill>
            </a:endParaRPr>
          </a:p>
        </p:txBody>
      </p:sp>
    </p:spTree>
    <p:extLst>
      <p:ext uri="{BB962C8B-B14F-4D97-AF65-F5344CB8AC3E}">
        <p14:creationId xmlns:p14="http://schemas.microsoft.com/office/powerpoint/2010/main" val="327880142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What is Statistics</Template>
  <TotalTime>1946</TotalTime>
  <Words>1396</Words>
  <Application>Microsoft Office PowerPoint</Application>
  <PresentationFormat>Widescreen</PresentationFormat>
  <Paragraphs>134</Paragraphs>
  <Slides>21</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21</vt:i4>
      </vt:variant>
    </vt:vector>
  </HeadingPairs>
  <TitlesOfParts>
    <vt:vector size="25" baseType="lpstr">
      <vt:lpstr>Arial</vt:lpstr>
      <vt:lpstr>Calibri</vt:lpstr>
      <vt:lpstr>Calibri Light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EXTRA</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Ashwani Kumar</dc:creator>
  <cp:lastModifiedBy>Ashwani Kumar</cp:lastModifiedBy>
  <cp:revision>252</cp:revision>
  <dcterms:created xsi:type="dcterms:W3CDTF">2025-09-22T02:44:38Z</dcterms:created>
  <dcterms:modified xsi:type="dcterms:W3CDTF">2026-05-02T08:39:59Z</dcterms:modified>
</cp:coreProperties>
</file>