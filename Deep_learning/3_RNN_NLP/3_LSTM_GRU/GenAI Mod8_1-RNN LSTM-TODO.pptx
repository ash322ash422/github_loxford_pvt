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9" r:id="rId4"/>
    <p:sldId id="274" r:id="rId5"/>
    <p:sldId id="280" r:id="rId6"/>
    <p:sldId id="279" r:id="rId7"/>
    <p:sldId id="281" r:id="rId8"/>
    <p:sldId id="263" r:id="rId9"/>
    <p:sldId id="270" r:id="rId10"/>
    <p:sldId id="282"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31" autoAdjust="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C911E-BA4D-52EF-0549-B71BF53166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CC4469-C8B5-573B-58AC-86E09B7206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2203FB-75D4-C751-DDD2-BCE8E8AD260E}"/>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5" name="Footer Placeholder 4">
            <a:extLst>
              <a:ext uri="{FF2B5EF4-FFF2-40B4-BE49-F238E27FC236}">
                <a16:creationId xmlns:a16="http://schemas.microsoft.com/office/drawing/2014/main" id="{FC26F5B0-3C63-DC28-632B-D6E5BBF8B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61C8FE-9D0D-98BE-72F7-E4BE69A6F30A}"/>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882113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C9AD2-70A8-F7B7-176D-5F9E5D0840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9C2D18-7E63-6392-CC11-12946F9200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F30052-674A-1D02-5226-1DB6ECC7F74E}"/>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5" name="Footer Placeholder 4">
            <a:extLst>
              <a:ext uri="{FF2B5EF4-FFF2-40B4-BE49-F238E27FC236}">
                <a16:creationId xmlns:a16="http://schemas.microsoft.com/office/drawing/2014/main" id="{279B2242-912C-8E8F-95B5-4DFBB9182E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0E43FE-F171-0ED4-3614-6BDC17E665DD}"/>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2790337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F113E-688D-42F1-24A9-806C33C8CC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BE9CDF-F890-308B-60D4-C671C9966A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A68178-FF2D-C11E-CCAE-C43AF624481D}"/>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5" name="Footer Placeholder 4">
            <a:extLst>
              <a:ext uri="{FF2B5EF4-FFF2-40B4-BE49-F238E27FC236}">
                <a16:creationId xmlns:a16="http://schemas.microsoft.com/office/drawing/2014/main" id="{37DEFDD0-0E54-F34E-576E-8E710CA4D9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F5145F-93B5-8FB9-C2D9-1E4F11C21DE4}"/>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1147969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19B07-C178-2B7A-8B68-BDFE03E33B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74A435-1696-624A-A2C2-43A5E2303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243E66-FB0C-6622-3BF1-1B56CE408D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8EF9E8-B1FF-66F8-F9F5-569D3512B7C3}"/>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6" name="Footer Placeholder 5">
            <a:extLst>
              <a:ext uri="{FF2B5EF4-FFF2-40B4-BE49-F238E27FC236}">
                <a16:creationId xmlns:a16="http://schemas.microsoft.com/office/drawing/2014/main" id="{3D141EC8-1FD6-93B8-5C57-319DC5EF0E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3F91B6-80C5-808A-5793-B3FB4FCCAE7B}"/>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234851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76FCC-6465-FDEB-A3A5-0BAABE2A05E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4C3DFD-6AE1-A9C3-5C39-1BC54F074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1B46A9-570C-079D-737C-031E88D0F5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40854F-EA26-7BEE-D556-B9648FF6F1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8EBAEB-B586-EC54-9CC0-E96E6295D5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49FCB2-E0B7-C5B4-2925-7712AEA71DAC}"/>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8" name="Footer Placeholder 7">
            <a:extLst>
              <a:ext uri="{FF2B5EF4-FFF2-40B4-BE49-F238E27FC236}">
                <a16:creationId xmlns:a16="http://schemas.microsoft.com/office/drawing/2014/main" id="{1D9F6318-6F67-2A0C-DBDD-CDAF3AE181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458A5E-0DA2-0D10-0741-E370929A0749}"/>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852829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D879-9936-09F2-DE21-2C48EA9485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40A706-BCB5-801C-4639-16C13BE307D4}"/>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4" name="Footer Placeholder 3">
            <a:extLst>
              <a:ext uri="{FF2B5EF4-FFF2-40B4-BE49-F238E27FC236}">
                <a16:creationId xmlns:a16="http://schemas.microsoft.com/office/drawing/2014/main" id="{9741DE95-3BD6-434A-9F07-5F83B163A0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24D211-0D64-2DF8-922A-37A09CA12E52}"/>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2674827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7C9BB0-C317-4AC7-B6C7-607ED04BF461}"/>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3" name="Footer Placeholder 2">
            <a:extLst>
              <a:ext uri="{FF2B5EF4-FFF2-40B4-BE49-F238E27FC236}">
                <a16:creationId xmlns:a16="http://schemas.microsoft.com/office/drawing/2014/main" id="{789041FB-9430-1AD3-9BBA-2A6559B1EA0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4731A02-5D31-E9E1-4323-16E98744B6FC}"/>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4270746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F539-D391-D591-5761-D5C75E71D1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F9368C-7F8E-9D03-AF85-72B9BACFED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5F4C9A-F9CC-C556-D9B7-632E7F80A9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940054-AC8F-82D3-C67C-D982B74E36E0}"/>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6" name="Footer Placeholder 5">
            <a:extLst>
              <a:ext uri="{FF2B5EF4-FFF2-40B4-BE49-F238E27FC236}">
                <a16:creationId xmlns:a16="http://schemas.microsoft.com/office/drawing/2014/main" id="{13F5D37F-E0AE-D665-208E-090EFBF74D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796F54-F13A-3B40-FC08-3C30C23B3537}"/>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67142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FC35B-00B3-CD66-6638-C0039881A5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38FE88-5F80-B278-FFEE-3F561EB96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79CEBD8-3DDA-7016-DB2A-1CF3D9CA4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5363BD-66A4-4E09-0101-FBAABC000F02}"/>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6" name="Footer Placeholder 5">
            <a:extLst>
              <a:ext uri="{FF2B5EF4-FFF2-40B4-BE49-F238E27FC236}">
                <a16:creationId xmlns:a16="http://schemas.microsoft.com/office/drawing/2014/main" id="{C3B4A633-D3C4-EDCC-9BA2-99C906239A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CCC804-5ACC-2526-6F0D-D4835BCAA9E2}"/>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4114935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E4999-D914-AFCC-83FA-F4C22A03F7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AE30BE-203D-223A-4A14-5AB145308A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CB918B-CC91-944F-00FA-EC313AAD2E63}"/>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5" name="Footer Placeholder 4">
            <a:extLst>
              <a:ext uri="{FF2B5EF4-FFF2-40B4-BE49-F238E27FC236}">
                <a16:creationId xmlns:a16="http://schemas.microsoft.com/office/drawing/2014/main" id="{A4AD8EE1-A59F-58E6-4BB8-1C5FD087B9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4585A1-541D-6D75-9E1E-1F7E754582FC}"/>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240838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356B5D-C8D8-ECCC-3BB0-1426739D34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206E72-CD9D-B473-C978-CD7A328D36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9718C5-F777-7FB5-F11D-F9D5779984ED}"/>
              </a:ext>
            </a:extLst>
          </p:cNvPr>
          <p:cNvSpPr>
            <a:spLocks noGrp="1"/>
          </p:cNvSpPr>
          <p:nvPr>
            <p:ph type="dt" sz="half" idx="10"/>
          </p:nvPr>
        </p:nvSpPr>
        <p:spPr/>
        <p:txBody>
          <a:bodyPr/>
          <a:lstStyle/>
          <a:p>
            <a:fld id="{4565A654-9D0C-4DAA-B381-92628E1C236C}" type="datetimeFigureOut">
              <a:rPr lang="en-IN" smtClean="0"/>
              <a:t>09-04-2026</a:t>
            </a:fld>
            <a:endParaRPr lang="en-IN"/>
          </a:p>
        </p:txBody>
      </p:sp>
      <p:sp>
        <p:nvSpPr>
          <p:cNvPr id="5" name="Footer Placeholder 4">
            <a:extLst>
              <a:ext uri="{FF2B5EF4-FFF2-40B4-BE49-F238E27FC236}">
                <a16:creationId xmlns:a16="http://schemas.microsoft.com/office/drawing/2014/main" id="{51BF4AFF-FC8A-1549-F007-E08A4E4B5D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1505D3-2538-6F07-FCBB-72B5D88C7E68}"/>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1313354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B4D10-2244-A63B-A7C2-C712C2D1F5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F3F54E-CCA1-2794-AD6B-33306033BC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BCC7E9-5E97-7D9A-80F7-C11F71B75B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65A654-9D0C-4DAA-B381-92628E1C236C}" type="datetimeFigureOut">
              <a:rPr lang="en-IN" smtClean="0"/>
              <a:t>09-04-2026</a:t>
            </a:fld>
            <a:endParaRPr lang="en-IN"/>
          </a:p>
        </p:txBody>
      </p:sp>
      <p:sp>
        <p:nvSpPr>
          <p:cNvPr id="5" name="Footer Placeholder 4">
            <a:extLst>
              <a:ext uri="{FF2B5EF4-FFF2-40B4-BE49-F238E27FC236}">
                <a16:creationId xmlns:a16="http://schemas.microsoft.com/office/drawing/2014/main" id="{B952BDFE-DBE2-2CB5-69A1-EA11BFD25A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B6F177B-B754-EC0D-F292-F5747AEE7A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037FFC-58BA-4495-9B99-C86A89ED7E51}" type="slidenum">
              <a:rPr lang="en-IN" smtClean="0"/>
              <a:t>‹#›</a:t>
            </a:fld>
            <a:endParaRPr lang="en-IN"/>
          </a:p>
        </p:txBody>
      </p:sp>
    </p:spTree>
    <p:extLst>
      <p:ext uri="{BB962C8B-B14F-4D97-AF65-F5344CB8AC3E}">
        <p14:creationId xmlns:p14="http://schemas.microsoft.com/office/powerpoint/2010/main" val="643443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ennybritz.com/posts/wildml/recurrent-neural-networks-tutorial-part-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builtin.com/artificial-intelligence/ai-music-examples" TargetMode="External"/><Relationship Id="rId7" Type="http://schemas.openxmlformats.org/officeDocument/2006/relationships/hyperlink" Target="https://builtin.com/data-science/introduction-nlp"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builtin.com/artificial-intelligence/machine-translation" TargetMode="External"/><Relationship Id="rId5" Type="http://schemas.openxmlformats.org/officeDocument/2006/relationships/hyperlink" Target="https://builtin.com/artificial-intelligence/what-is-natural-language-generation" TargetMode="External"/><Relationship Id="rId4" Type="http://schemas.openxmlformats.org/officeDocument/2006/relationships/hyperlink" Target="https://builtin.com/machine-learning/sentiment-analysis"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hyperlink" Target="http://www-dsi.ing.unifi.it/~paolo/ps/tnn-94-gradient.pdf" TargetMode="External"/><Relationship Id="rId4" Type="http://schemas.openxmlformats.org/officeDocument/2006/relationships/hyperlink" Target="http://people.idsia.ch/~juergen/SeppHochreiter1991ThesisAdvisorSchmidhuber.pdf"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colah.github.io/posts/2015-08-Understanding-LSTMs/#fn1" TargetMode="External"/><Relationship Id="rId2" Type="http://schemas.openxmlformats.org/officeDocument/2006/relationships/hyperlink" Target="http://www.bioinf.jku.at/publications/older/2604.pdf" TargetMode="Externa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E670-5DAA-CAD5-C096-690745938A41}"/>
              </a:ext>
            </a:extLst>
          </p:cNvPr>
          <p:cNvSpPr>
            <a:spLocks noGrp="1"/>
          </p:cNvSpPr>
          <p:nvPr>
            <p:ph type="ctrTitle"/>
          </p:nvPr>
        </p:nvSpPr>
        <p:spPr/>
        <p:txBody>
          <a:bodyPr/>
          <a:lstStyle/>
          <a:p>
            <a:r>
              <a:rPr lang="en-US" dirty="0"/>
              <a:t>AI RNN LSTM</a:t>
            </a:r>
            <a:endParaRPr lang="en-IN" dirty="0"/>
          </a:p>
        </p:txBody>
      </p:sp>
      <p:sp>
        <p:nvSpPr>
          <p:cNvPr id="3" name="Subtitle 2">
            <a:extLst>
              <a:ext uri="{FF2B5EF4-FFF2-40B4-BE49-F238E27FC236}">
                <a16:creationId xmlns:a16="http://schemas.microsoft.com/office/drawing/2014/main" id="{27E9C61A-C735-C4D6-0C0F-7FAE649F150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20413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a:t>
            </a:r>
          </a:p>
        </p:txBody>
      </p:sp>
      <p:sp>
        <p:nvSpPr>
          <p:cNvPr id="3" name="Content Placeholder 2"/>
          <p:cNvSpPr>
            <a:spLocks noGrp="1"/>
          </p:cNvSpPr>
          <p:nvPr>
            <p:ph idx="1"/>
          </p:nvPr>
        </p:nvSpPr>
        <p:spPr/>
        <p:txBody>
          <a:bodyPr/>
          <a:lstStyle/>
          <a:p>
            <a:r>
              <a:rPr lang="en-US" dirty="0">
                <a:hlinkClick r:id="rId2"/>
              </a:rPr>
              <a:t>https://dennybritz.com/posts/wildml/recurrent-neural-networks-tutorial-part-1/</a:t>
            </a:r>
            <a:endParaRPr lang="en-US" dirty="0"/>
          </a:p>
          <a:p>
            <a:r>
              <a:rPr lang="en-US" dirty="0"/>
              <a:t>https://www.youtube.com/watch?v=yZv_yRgOvMg</a:t>
            </a:r>
          </a:p>
        </p:txBody>
      </p:sp>
    </p:spTree>
    <p:extLst>
      <p:ext uri="{BB962C8B-B14F-4D97-AF65-F5344CB8AC3E}">
        <p14:creationId xmlns:p14="http://schemas.microsoft.com/office/powerpoint/2010/main" val="4030946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DB474-BC4E-E44B-2BDF-5C9BE39797B6}"/>
              </a:ext>
            </a:extLst>
          </p:cNvPr>
          <p:cNvSpPr>
            <a:spLocks noGrp="1"/>
          </p:cNvSpPr>
          <p:nvPr>
            <p:ph type="title"/>
          </p:nvPr>
        </p:nvSpPr>
        <p:spPr>
          <a:xfrm>
            <a:off x="838200" y="160934"/>
            <a:ext cx="10515600" cy="531520"/>
          </a:xfrm>
        </p:spPr>
        <p:txBody>
          <a:bodyPr>
            <a:normAutofit fontScale="90000"/>
          </a:bodyPr>
          <a:lstStyle/>
          <a:p>
            <a:r>
              <a:rPr lang="en-US" dirty="0"/>
              <a:t>Architecture</a:t>
            </a:r>
            <a:endParaRPr lang="en-IN" dirty="0"/>
          </a:p>
        </p:txBody>
      </p:sp>
      <p:sp>
        <p:nvSpPr>
          <p:cNvPr id="3" name="Content Placeholder 2">
            <a:extLst>
              <a:ext uri="{FF2B5EF4-FFF2-40B4-BE49-F238E27FC236}">
                <a16:creationId xmlns:a16="http://schemas.microsoft.com/office/drawing/2014/main" id="{20C1ACD7-D9B9-DB8D-026C-5161CA3F5BE1}"/>
              </a:ext>
            </a:extLst>
          </p:cNvPr>
          <p:cNvSpPr>
            <a:spLocks noGrp="1"/>
          </p:cNvSpPr>
          <p:nvPr>
            <p:ph idx="1"/>
          </p:nvPr>
        </p:nvSpPr>
        <p:spPr>
          <a:xfrm>
            <a:off x="292964" y="636017"/>
            <a:ext cx="11665258" cy="3403322"/>
          </a:xfrm>
        </p:spPr>
        <p:txBody>
          <a:bodyPr>
            <a:noAutofit/>
          </a:bodyPr>
          <a:lstStyle/>
          <a:p>
            <a:pPr marL="0" indent="0">
              <a:buNone/>
            </a:pPr>
            <a:r>
              <a:rPr lang="en-US" sz="1400" dirty="0"/>
              <a:t>RNNs are a type of neural network with hidden states and allow past outputs to be used as inputs. Here’s a breakdown of its key components:</a:t>
            </a:r>
          </a:p>
          <a:p>
            <a:r>
              <a:rPr lang="en-US" sz="1400" b="1" dirty="0"/>
              <a:t>Input Layer</a:t>
            </a:r>
            <a:r>
              <a:rPr lang="en-US" sz="1400" dirty="0"/>
              <a:t>: This layer receives the initial element of the sequence data. For example, in a sentence, it might receive the first word as a vector representation.</a:t>
            </a:r>
          </a:p>
          <a:p>
            <a:r>
              <a:rPr lang="en-US" sz="1400" b="1" dirty="0"/>
              <a:t>Hidden Layer</a:t>
            </a:r>
            <a:r>
              <a:rPr lang="en-US" sz="1400" dirty="0"/>
              <a:t>: The heart of the RNN, the hidden layer contains a set of interconnected neurons. Each neuron processes the current input along with the information from the previous hidden layer’s state. This “state” captures the network’s memory of past inputs, allowing it to understand the current element in context.</a:t>
            </a:r>
          </a:p>
          <a:p>
            <a:r>
              <a:rPr lang="en-US" sz="1400" b="1" dirty="0"/>
              <a:t>Activation Function</a:t>
            </a:r>
            <a:r>
              <a:rPr lang="en-US" sz="1400" dirty="0"/>
              <a:t>: This function introduces non-linearity into the network, enabling it to learn complex patterns. It transforms the combined input from the current input layer and the previous hidden layer state before passing it on.</a:t>
            </a:r>
          </a:p>
          <a:p>
            <a:r>
              <a:rPr lang="en-US" sz="1400" b="1" dirty="0"/>
              <a:t>Output Layer</a:t>
            </a:r>
            <a:r>
              <a:rPr lang="en-US" sz="1400" dirty="0"/>
              <a:t>: The output layer generates the network’s prediction based on the processed information. In a language model, it might predict the next word in the sequence.</a:t>
            </a:r>
          </a:p>
          <a:p>
            <a:r>
              <a:rPr lang="en-US" sz="1400" b="1" dirty="0"/>
              <a:t>Recurrent Connection</a:t>
            </a:r>
            <a:r>
              <a:rPr lang="en-US" sz="1400" dirty="0"/>
              <a:t>: A key distinction of RNNs is the recurrent connection within the hidden layer. This connection allows the network to pass the hidden state information (the network’s memory) to the next time step. It’s like passing a baton in a relay race, carrying information about previous inputs forward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9572" y="3888420"/>
            <a:ext cx="6416754" cy="2840854"/>
          </a:xfrm>
          <a:prstGeom prst="rect">
            <a:avLst/>
          </a:prstGeom>
        </p:spPr>
      </p:pic>
    </p:spTree>
    <p:extLst>
      <p:ext uri="{BB962C8B-B14F-4D97-AF65-F5344CB8AC3E}">
        <p14:creationId xmlns:p14="http://schemas.microsoft.com/office/powerpoint/2010/main" val="3477126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541"/>
          </a:xfrm>
        </p:spPr>
        <p:txBody>
          <a:bodyPr>
            <a:normAutofit fontScale="90000"/>
          </a:bodyPr>
          <a:lstStyle/>
          <a:p>
            <a:r>
              <a:rPr lang="en-US" dirty="0"/>
              <a:t>RNN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9526" y="1844984"/>
            <a:ext cx="6153150" cy="2724150"/>
          </a:xfrm>
          <a:prstGeom prst="rect">
            <a:avLst/>
          </a:prstGeom>
        </p:spPr>
      </p:pic>
      <p:sp>
        <p:nvSpPr>
          <p:cNvPr id="5" name="TextBox 4"/>
          <p:cNvSpPr txBox="1"/>
          <p:nvPr/>
        </p:nvSpPr>
        <p:spPr>
          <a:xfrm>
            <a:off x="435006" y="5113538"/>
            <a:ext cx="10012693" cy="923330"/>
          </a:xfrm>
          <a:prstGeom prst="rect">
            <a:avLst/>
          </a:prstGeom>
          <a:noFill/>
        </p:spPr>
        <p:txBody>
          <a:bodyPr wrap="square" rtlCol="0">
            <a:spAutoFit/>
          </a:bodyPr>
          <a:lstStyle/>
          <a:p>
            <a:r>
              <a:rPr lang="en-US" b="1" dirty="0"/>
              <a:t>RNN incorporates loops that allow information from previous steps to be fed back into the network</a:t>
            </a:r>
            <a:r>
              <a:rPr lang="en-US" dirty="0"/>
              <a:t>. This feedback enables RNNs to remember prior inputs making them ideal for tasks where context is important.</a:t>
            </a:r>
          </a:p>
        </p:txBody>
      </p:sp>
    </p:spTree>
    <p:extLst>
      <p:ext uri="{BB962C8B-B14F-4D97-AF65-F5344CB8AC3E}">
        <p14:creationId xmlns:p14="http://schemas.microsoft.com/office/powerpoint/2010/main" val="97187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541"/>
          </a:xfrm>
        </p:spPr>
        <p:txBody>
          <a:bodyPr>
            <a:normAutofit/>
          </a:bodyPr>
          <a:lstStyle/>
          <a:p>
            <a:r>
              <a:rPr lang="en-US" sz="3200" dirty="0"/>
              <a:t>RNN: Feed Forward Propagation (TODO from Batch9)</a:t>
            </a:r>
          </a:p>
        </p:txBody>
      </p:sp>
    </p:spTree>
    <p:extLst>
      <p:ext uri="{BB962C8B-B14F-4D97-AF65-F5344CB8AC3E}">
        <p14:creationId xmlns:p14="http://schemas.microsoft.com/office/powerpoint/2010/main" val="629707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805" y="258589"/>
            <a:ext cx="10515600" cy="602541"/>
          </a:xfrm>
        </p:spPr>
        <p:txBody>
          <a:bodyPr>
            <a:normAutofit/>
          </a:bodyPr>
          <a:lstStyle/>
          <a:p>
            <a:r>
              <a:rPr lang="en-US" sz="3200" dirty="0"/>
              <a:t>RNN: How many parameters(</a:t>
            </a:r>
            <a:r>
              <a:rPr lang="en-US" sz="3200" dirty="0" err="1"/>
              <a:t>wts+bias</a:t>
            </a:r>
            <a:r>
              <a:rPr lang="en-US" sz="3200" dirty="0"/>
              <a:t>) ?  </a:t>
            </a:r>
            <a:r>
              <a:rPr lang="en-US" sz="3200" dirty="0" err="1"/>
              <a:t>Ans</a:t>
            </a:r>
            <a:r>
              <a:rPr lang="en-US" sz="3200" dirty="0"/>
              <a:t>: 27+4=31</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416794" y="-100988"/>
            <a:ext cx="5746073" cy="7661432"/>
          </a:xfrm>
          <a:prstGeom prst="rect">
            <a:avLst/>
          </a:prstGeom>
        </p:spPr>
      </p:pic>
    </p:spTree>
    <p:extLst>
      <p:ext uri="{BB962C8B-B14F-4D97-AF65-F5344CB8AC3E}">
        <p14:creationId xmlns:p14="http://schemas.microsoft.com/office/powerpoint/2010/main" val="4202496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805" y="258589"/>
            <a:ext cx="10515600" cy="602541"/>
          </a:xfrm>
        </p:spPr>
        <p:txBody>
          <a:bodyPr>
            <a:normAutofit/>
          </a:bodyPr>
          <a:lstStyle/>
          <a:p>
            <a:r>
              <a:rPr lang="en-US" sz="3200" dirty="0"/>
              <a:t>RNN: Back propagation Theory(TODO)</a:t>
            </a:r>
          </a:p>
        </p:txBody>
      </p:sp>
    </p:spTree>
    <p:extLst>
      <p:ext uri="{BB962C8B-B14F-4D97-AF65-F5344CB8AC3E}">
        <p14:creationId xmlns:p14="http://schemas.microsoft.com/office/powerpoint/2010/main" val="2822161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AF557-984D-9391-456C-056CDC893981}"/>
              </a:ext>
            </a:extLst>
          </p:cNvPr>
          <p:cNvSpPr>
            <a:spLocks noGrp="1"/>
          </p:cNvSpPr>
          <p:nvPr>
            <p:ph type="title"/>
          </p:nvPr>
        </p:nvSpPr>
        <p:spPr>
          <a:xfrm>
            <a:off x="838201" y="365125"/>
            <a:ext cx="3121058" cy="615263"/>
          </a:xfrm>
        </p:spPr>
        <p:txBody>
          <a:bodyPr>
            <a:normAutofit fontScale="90000"/>
          </a:bodyPr>
          <a:lstStyle/>
          <a:p>
            <a:r>
              <a:rPr lang="en-US" dirty="0"/>
              <a:t>Types of RNN</a:t>
            </a:r>
            <a:endParaRPr lang="en-IN" dirty="0"/>
          </a:p>
        </p:txBody>
      </p:sp>
      <p:pic>
        <p:nvPicPr>
          <p:cNvPr id="5" name="Picture 4">
            <a:extLst>
              <a:ext uri="{FF2B5EF4-FFF2-40B4-BE49-F238E27FC236}">
                <a16:creationId xmlns:a16="http://schemas.microsoft.com/office/drawing/2014/main" id="{20BFA01E-330B-6BAC-E66B-8118D088B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1335" y="503641"/>
            <a:ext cx="5334462" cy="2400508"/>
          </a:xfrm>
          <a:prstGeom prst="rect">
            <a:avLst/>
          </a:prstGeom>
        </p:spPr>
      </p:pic>
      <p:sp>
        <p:nvSpPr>
          <p:cNvPr id="6" name="TextBox 5">
            <a:extLst>
              <a:ext uri="{FF2B5EF4-FFF2-40B4-BE49-F238E27FC236}">
                <a16:creationId xmlns:a16="http://schemas.microsoft.com/office/drawing/2014/main" id="{6FFE490D-681E-A54A-D39D-EF1E43C27571}"/>
              </a:ext>
            </a:extLst>
          </p:cNvPr>
          <p:cNvSpPr txBox="1"/>
          <p:nvPr/>
        </p:nvSpPr>
        <p:spPr>
          <a:xfrm>
            <a:off x="461913" y="1574276"/>
            <a:ext cx="5457106" cy="3539430"/>
          </a:xfrm>
          <a:prstGeom prst="rect">
            <a:avLst/>
          </a:prstGeom>
          <a:noFill/>
        </p:spPr>
        <p:txBody>
          <a:bodyPr wrap="square" rtlCol="0">
            <a:spAutoFit/>
          </a:bodyPr>
          <a:lstStyle/>
          <a:p>
            <a:pPr marL="285750" indent="-285750">
              <a:buFont typeface="Arial" panose="020B0604020202020204" pitchFamily="34" charset="0"/>
              <a:buChar char="•"/>
            </a:pPr>
            <a:r>
              <a:rPr lang="en-US" sz="1400" b="1" dirty="0"/>
              <a:t>One-to-one</a:t>
            </a:r>
            <a:r>
              <a:rPr lang="en-US" sz="1400" dirty="0"/>
              <a:t> RNN models have one input and one output. One-to-one architecture is used in traditional neural networks and for general machine learning tasks like </a:t>
            </a:r>
            <a:r>
              <a:rPr lang="en-US" sz="1400" b="1" dirty="0"/>
              <a:t>image classification</a:t>
            </a:r>
            <a:r>
              <a:rPr lang="en-US" sz="1400" dirty="0"/>
              <a:t>.</a:t>
            </a:r>
          </a:p>
          <a:p>
            <a:pPr marL="285750" indent="-285750">
              <a:buFont typeface="Arial" panose="020B0604020202020204" pitchFamily="34" charset="0"/>
              <a:buChar char="•"/>
            </a:pPr>
            <a:r>
              <a:rPr lang="en-US" sz="1400" b="1" i="0" dirty="0">
                <a:solidFill>
                  <a:srgbClr val="3A3B41"/>
                </a:solidFill>
                <a:effectLst/>
              </a:rPr>
              <a:t>One-to-many</a:t>
            </a:r>
            <a:r>
              <a:rPr lang="en-US" sz="1400" b="0" i="0" dirty="0">
                <a:solidFill>
                  <a:srgbClr val="3A3B41"/>
                </a:solidFill>
                <a:effectLst/>
              </a:rPr>
              <a:t> RNNs have one input and several outputs. This enables image captioning or </a:t>
            </a:r>
            <a:r>
              <a:rPr lang="en-US" sz="1400" b="0" i="0" dirty="0">
                <a:effectLst/>
                <a:hlinkClick r:id="rId3"/>
              </a:rPr>
              <a:t>music generation</a:t>
            </a:r>
            <a:r>
              <a:rPr lang="en-US" sz="1400" b="0" i="0" dirty="0">
                <a:solidFill>
                  <a:srgbClr val="3A3B41"/>
                </a:solidFill>
                <a:effectLst/>
              </a:rPr>
              <a:t> capabilities, as it uses a single input (like a keyword) to generate multiple outputs (like a sentence).</a:t>
            </a:r>
          </a:p>
          <a:p>
            <a:pPr marL="285750" indent="-285750">
              <a:buFont typeface="Arial" panose="020B0604020202020204" pitchFamily="34" charset="0"/>
              <a:buChar char="•"/>
            </a:pPr>
            <a:r>
              <a:rPr lang="en-US" sz="1400" b="1" dirty="0">
                <a:solidFill>
                  <a:srgbClr val="3A3B41"/>
                </a:solidFill>
              </a:rPr>
              <a:t>M</a:t>
            </a:r>
            <a:r>
              <a:rPr lang="en-US" sz="1400" b="1" i="0" dirty="0">
                <a:solidFill>
                  <a:srgbClr val="3A3B41"/>
                </a:solidFill>
                <a:effectLst/>
              </a:rPr>
              <a:t>any-to-one </a:t>
            </a:r>
            <a:r>
              <a:rPr lang="en-US" sz="1400" b="0" i="0" dirty="0">
                <a:solidFill>
                  <a:srgbClr val="3A3B41"/>
                </a:solidFill>
                <a:effectLst/>
              </a:rPr>
              <a:t>model has several inputs and one output. Tasks like </a:t>
            </a:r>
            <a:r>
              <a:rPr lang="en-US" sz="1400" b="0" i="0" dirty="0">
                <a:effectLst/>
                <a:hlinkClick r:id="rId4"/>
              </a:rPr>
              <a:t>sentiment analysis</a:t>
            </a:r>
            <a:r>
              <a:rPr lang="en-US" sz="1400" b="0" i="0" dirty="0">
                <a:solidFill>
                  <a:srgbClr val="3A3B41"/>
                </a:solidFill>
                <a:effectLst/>
              </a:rPr>
              <a:t> or </a:t>
            </a:r>
            <a:r>
              <a:rPr lang="en-US" sz="1400" b="0" i="0" dirty="0">
                <a:effectLst/>
                <a:hlinkClick r:id="rId5"/>
              </a:rPr>
              <a:t>text classification</a:t>
            </a:r>
            <a:r>
              <a:rPr lang="en-US" sz="1400" b="0" i="0" dirty="0">
                <a:solidFill>
                  <a:srgbClr val="3A3B41"/>
                </a:solidFill>
                <a:effectLst/>
              </a:rPr>
              <a:t> often use many-to-one architectures. For example, a sequence of inputs (like a sentence) can be classified into one category (like if the sentence is considered a positive/negative sentiment). </a:t>
            </a:r>
          </a:p>
          <a:p>
            <a:pPr marL="285750" indent="-285750">
              <a:buFont typeface="Arial" panose="020B0604020202020204" pitchFamily="34" charset="0"/>
              <a:buChar char="•"/>
            </a:pPr>
            <a:r>
              <a:rPr lang="en-US" sz="1400" b="1" i="0" dirty="0">
                <a:solidFill>
                  <a:srgbClr val="3A3B41"/>
                </a:solidFill>
                <a:effectLst/>
              </a:rPr>
              <a:t>Many-to-many</a:t>
            </a:r>
            <a:r>
              <a:rPr lang="en-US" sz="1400" b="0" i="0" dirty="0">
                <a:solidFill>
                  <a:srgbClr val="3A3B41"/>
                </a:solidFill>
                <a:effectLst/>
              </a:rPr>
              <a:t> models map several inputs to several outputs. </a:t>
            </a:r>
            <a:r>
              <a:rPr lang="en-US" sz="1400" b="0" i="0" dirty="0">
                <a:effectLst/>
                <a:hlinkClick r:id="rId6"/>
              </a:rPr>
              <a:t>Machine translation</a:t>
            </a:r>
            <a:r>
              <a:rPr lang="en-US" sz="1400" b="0" i="0" dirty="0">
                <a:solidFill>
                  <a:srgbClr val="3A3B41"/>
                </a:solidFill>
                <a:effectLst/>
              </a:rPr>
              <a:t> and </a:t>
            </a:r>
            <a:r>
              <a:rPr lang="en-US" sz="1400" b="0" i="0" dirty="0">
                <a:effectLst/>
                <a:hlinkClick r:id="rId7"/>
              </a:rPr>
              <a:t>name entity recognition</a:t>
            </a:r>
            <a:r>
              <a:rPr lang="en-US" sz="1400" b="0" i="0" dirty="0">
                <a:solidFill>
                  <a:srgbClr val="3A3B41"/>
                </a:solidFill>
                <a:effectLst/>
              </a:rPr>
              <a:t> are powered by many-to-many RNNs, where multiple words or sentences can be structured into multiple different outputs (like a new language or varied categorizations).</a:t>
            </a:r>
            <a:endParaRPr lang="en-IN" sz="1400" dirty="0"/>
          </a:p>
        </p:txBody>
      </p:sp>
    </p:spTree>
    <p:extLst>
      <p:ext uri="{BB962C8B-B14F-4D97-AF65-F5344CB8AC3E}">
        <p14:creationId xmlns:p14="http://schemas.microsoft.com/office/powerpoint/2010/main" val="2573950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10515600" cy="709073"/>
          </a:xfrm>
        </p:spPr>
        <p:txBody>
          <a:bodyPr/>
          <a:lstStyle/>
          <a:p>
            <a:r>
              <a:rPr lang="en-US" dirty="0"/>
              <a:t>Difference between RNN and simple NN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1787" y="2748552"/>
            <a:ext cx="6448425" cy="2733675"/>
          </a:xfrm>
          <a:prstGeom prst="rect">
            <a:avLst/>
          </a:prstGeom>
        </p:spPr>
      </p:pic>
    </p:spTree>
    <p:extLst>
      <p:ext uri="{BB962C8B-B14F-4D97-AF65-F5344CB8AC3E}">
        <p14:creationId xmlns:p14="http://schemas.microsoft.com/office/powerpoint/2010/main" val="2384839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969" y="1923818"/>
            <a:ext cx="11141475" cy="4548623"/>
          </a:xfrm>
          <a:prstGeom prst="rect">
            <a:avLst/>
          </a:prstGeom>
        </p:spPr>
      </p:pic>
    </p:spTree>
    <p:extLst>
      <p:ext uri="{BB962C8B-B14F-4D97-AF65-F5344CB8AC3E}">
        <p14:creationId xmlns:p14="http://schemas.microsoft.com/office/powerpoint/2010/main" val="2199504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04887"/>
          </a:xfrm>
        </p:spPr>
        <p:txBody>
          <a:bodyPr>
            <a:normAutofit fontScale="90000"/>
          </a:bodyPr>
          <a:lstStyle/>
          <a:p>
            <a:r>
              <a:rPr lang="en-US" dirty="0"/>
              <a:t>LSTM Architecture(p1):</a:t>
            </a:r>
          </a:p>
        </p:txBody>
      </p:sp>
      <p:sp>
        <p:nvSpPr>
          <p:cNvPr id="3" name="Content Placeholder 2"/>
          <p:cNvSpPr>
            <a:spLocks noGrp="1"/>
          </p:cNvSpPr>
          <p:nvPr>
            <p:ph idx="1"/>
          </p:nvPr>
        </p:nvSpPr>
        <p:spPr>
          <a:xfrm>
            <a:off x="514905" y="790114"/>
            <a:ext cx="11185863" cy="967666"/>
          </a:xfrm>
        </p:spPr>
        <p:txBody>
          <a:bodyPr>
            <a:noAutofit/>
          </a:bodyPr>
          <a:lstStyle/>
          <a:p>
            <a:pPr marL="0" indent="0">
              <a:buNone/>
            </a:pPr>
            <a:r>
              <a:rPr lang="en-US" sz="1200" b="1" dirty="0"/>
              <a:t>The Problem of Long-Term Dependencies:</a:t>
            </a:r>
          </a:p>
          <a:p>
            <a:pPr marL="0" indent="0">
              <a:buNone/>
            </a:pPr>
            <a:r>
              <a:rPr lang="en-US" sz="1200" dirty="0"/>
              <a:t>Sometimes, we only need to look at recent information to perform the present task. For example, consider a language model trying to predict the next word based on the previous ones. If we are trying to predict the last word in “the clouds are in the </a:t>
            </a:r>
            <a:r>
              <a:rPr lang="en-US" sz="1200" i="1" dirty="0"/>
              <a:t>sky</a:t>
            </a:r>
            <a:r>
              <a:rPr lang="en-US" sz="1200" dirty="0"/>
              <a:t>,” we don’t need any further context – it’s pretty obvious the next word is going to be sky. In such cases, where the gap between the relevant information and the place that it’s needed is small, RNNs can learn to use the past information.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404" y="1765651"/>
            <a:ext cx="2820972" cy="1219696"/>
          </a:xfrm>
          <a:prstGeom prst="rect">
            <a:avLst/>
          </a:prstGeom>
        </p:spPr>
      </p:pic>
      <p:sp>
        <p:nvSpPr>
          <p:cNvPr id="5" name="TextBox 4"/>
          <p:cNvSpPr txBox="1"/>
          <p:nvPr/>
        </p:nvSpPr>
        <p:spPr>
          <a:xfrm>
            <a:off x="443883" y="3231472"/>
            <a:ext cx="11506691" cy="1015663"/>
          </a:xfrm>
          <a:prstGeom prst="rect">
            <a:avLst/>
          </a:prstGeom>
          <a:noFill/>
        </p:spPr>
        <p:txBody>
          <a:bodyPr wrap="square" rtlCol="0">
            <a:spAutoFit/>
          </a:bodyPr>
          <a:lstStyle/>
          <a:p>
            <a:r>
              <a:rPr lang="en-US" sz="1200" dirty="0"/>
              <a:t>But there are also cases where we need more context. Consider trying to predict the last word in the text “I grew up in France… I speak fluent </a:t>
            </a:r>
            <a:r>
              <a:rPr lang="en-US" sz="1200" i="1" dirty="0"/>
              <a:t>French</a:t>
            </a:r>
            <a:r>
              <a:rPr lang="en-US" sz="1200" dirty="0"/>
              <a:t>.” Recent information suggests that the next word is probably the name of a language, but if we want to narrow down which language, we need the context of France, from further back. It’s entirely possible for the gap between the relevant information and the point where it is needed to become very large.</a:t>
            </a:r>
          </a:p>
          <a:p>
            <a:r>
              <a:rPr lang="en-US" sz="1200" dirty="0"/>
              <a:t>Unfortunately, as that gap grows, RNNs become unable to learn to connect the information</a:t>
            </a:r>
          </a:p>
          <a:p>
            <a:endParaRPr lang="en-US" sz="12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46" y="4244090"/>
            <a:ext cx="3601825" cy="1153393"/>
          </a:xfrm>
          <a:prstGeom prst="rect">
            <a:avLst/>
          </a:prstGeom>
        </p:spPr>
      </p:pic>
      <p:sp>
        <p:nvSpPr>
          <p:cNvPr id="7" name="TextBox 6"/>
          <p:cNvSpPr txBox="1"/>
          <p:nvPr/>
        </p:nvSpPr>
        <p:spPr>
          <a:xfrm>
            <a:off x="372863" y="5788243"/>
            <a:ext cx="11398927" cy="830997"/>
          </a:xfrm>
          <a:prstGeom prst="rect">
            <a:avLst/>
          </a:prstGeom>
          <a:noFill/>
        </p:spPr>
        <p:txBody>
          <a:bodyPr wrap="square" rtlCol="0">
            <a:spAutoFit/>
          </a:bodyPr>
          <a:lstStyle/>
          <a:p>
            <a:r>
              <a:rPr lang="en-US" sz="1200" dirty="0"/>
              <a:t>In theory, RNNs are absolutely capable of handling such “long-term dependencies.” A human could carefully pick parameters for them to solve toy problems of this form. Sadly, in practice, RNNs don’t seem to be able to learn them. The problem was explored in depth by </a:t>
            </a:r>
            <a:r>
              <a:rPr lang="en-US" sz="1200" dirty="0" err="1">
                <a:hlinkClick r:id="rId4"/>
              </a:rPr>
              <a:t>Hochreiter</a:t>
            </a:r>
            <a:r>
              <a:rPr lang="en-US" sz="1200" dirty="0">
                <a:hlinkClick r:id="rId4"/>
              </a:rPr>
              <a:t> (1991) [German]</a:t>
            </a:r>
            <a:r>
              <a:rPr lang="en-US" sz="1200" dirty="0"/>
              <a:t> and </a:t>
            </a:r>
            <a:r>
              <a:rPr lang="en-US" sz="1200" dirty="0" err="1">
                <a:hlinkClick r:id="rId5"/>
              </a:rPr>
              <a:t>Bengio</a:t>
            </a:r>
            <a:r>
              <a:rPr lang="en-US" sz="1200" dirty="0">
                <a:hlinkClick r:id="rId5"/>
              </a:rPr>
              <a:t>, et al. (1994)</a:t>
            </a:r>
            <a:r>
              <a:rPr lang="en-US" sz="1200" dirty="0"/>
              <a:t>, who found some pretty fundamental reasons why it might be difficult.</a:t>
            </a:r>
          </a:p>
          <a:p>
            <a:r>
              <a:rPr lang="en-US" sz="1200" dirty="0"/>
              <a:t>Thankfully, LSTMs don’t have this problem!</a:t>
            </a:r>
          </a:p>
        </p:txBody>
      </p:sp>
      <p:sp>
        <p:nvSpPr>
          <p:cNvPr id="8" name="TextBox 7"/>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2812057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10515600" cy="504887"/>
          </a:xfrm>
        </p:spPr>
        <p:txBody>
          <a:bodyPr>
            <a:normAutofit fontScale="90000"/>
          </a:bodyPr>
          <a:lstStyle/>
          <a:p>
            <a:r>
              <a:rPr lang="en-US" dirty="0"/>
              <a:t>LSTM Architecture(p2): </a:t>
            </a:r>
          </a:p>
        </p:txBody>
      </p:sp>
      <p:sp>
        <p:nvSpPr>
          <p:cNvPr id="3" name="Content Placeholder 2"/>
          <p:cNvSpPr>
            <a:spLocks noGrp="1"/>
          </p:cNvSpPr>
          <p:nvPr>
            <p:ph idx="1"/>
          </p:nvPr>
        </p:nvSpPr>
        <p:spPr>
          <a:xfrm>
            <a:off x="275209" y="585926"/>
            <a:ext cx="11675366" cy="1291011"/>
          </a:xfrm>
        </p:spPr>
        <p:txBody>
          <a:bodyPr>
            <a:noAutofit/>
          </a:bodyPr>
          <a:lstStyle/>
          <a:p>
            <a:pPr marL="0" indent="0">
              <a:buNone/>
            </a:pPr>
            <a:r>
              <a:rPr lang="en-US" sz="1050" b="1" dirty="0"/>
              <a:t>LSTM Networks</a:t>
            </a:r>
          </a:p>
          <a:p>
            <a:pPr marL="0" indent="0">
              <a:buNone/>
            </a:pPr>
            <a:r>
              <a:rPr lang="en-US" sz="1050" dirty="0"/>
              <a:t>Long Short Term Memory networks – usually just called “LSTMs” – are a special kind of RNN, capable of learning long-term dependencies. They were introduced by </a:t>
            </a:r>
            <a:r>
              <a:rPr lang="en-US" sz="1050" dirty="0" err="1">
                <a:hlinkClick r:id="rId2"/>
              </a:rPr>
              <a:t>Hochreiter</a:t>
            </a:r>
            <a:r>
              <a:rPr lang="en-US" sz="1050" dirty="0">
                <a:hlinkClick r:id="rId2"/>
              </a:rPr>
              <a:t> &amp; </a:t>
            </a:r>
            <a:r>
              <a:rPr lang="en-US" sz="1050" dirty="0" err="1">
                <a:hlinkClick r:id="rId2"/>
              </a:rPr>
              <a:t>Schmidhuber</a:t>
            </a:r>
            <a:r>
              <a:rPr lang="en-US" sz="1050" dirty="0">
                <a:hlinkClick r:id="rId2"/>
              </a:rPr>
              <a:t> (1997)</a:t>
            </a:r>
            <a:r>
              <a:rPr lang="en-US" sz="1050" dirty="0"/>
              <a:t>, and were refined and popularized by many people in following work.</a:t>
            </a:r>
            <a:r>
              <a:rPr lang="en-US" sz="1050" baseline="30000" dirty="0">
                <a:hlinkClick r:id="rId3"/>
              </a:rPr>
              <a:t>1</a:t>
            </a:r>
            <a:r>
              <a:rPr lang="en-US" sz="1050" dirty="0"/>
              <a:t> They work tremendously well on a large variety of problems, and are now widely used.</a:t>
            </a:r>
          </a:p>
          <a:p>
            <a:pPr marL="0" indent="0">
              <a:buNone/>
            </a:pPr>
            <a:r>
              <a:rPr lang="en-US" sz="1050" dirty="0"/>
              <a:t>LSTMs are explicitly designed to avoid the long-term dependency problem. Remembering information for long periods of time is practically their default behavior, not something they struggle to learn!</a:t>
            </a:r>
          </a:p>
          <a:p>
            <a:pPr marL="0" indent="0">
              <a:buNone/>
            </a:pPr>
            <a:r>
              <a:rPr lang="en-US" sz="1050" dirty="0"/>
              <a:t>All recurrent neural networks have the form of a chain of repeating modules of neural network. In standard RNNs, this repeating module will have a very simple structure, such as a single </a:t>
            </a:r>
            <a:r>
              <a:rPr lang="en-US" sz="1050" dirty="0" err="1"/>
              <a:t>tanh</a:t>
            </a:r>
            <a:r>
              <a:rPr lang="en-US" sz="1050" dirty="0"/>
              <a:t> layer.</a:t>
            </a:r>
          </a:p>
          <a:p>
            <a:pPr marL="0" indent="0">
              <a:buNone/>
            </a:pPr>
            <a:endParaRPr lang="en-US" sz="1050"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250" y="1822861"/>
            <a:ext cx="3807351" cy="1647152"/>
          </a:xfrm>
          <a:prstGeom prst="rect">
            <a:avLst/>
          </a:prstGeom>
        </p:spPr>
      </p:pic>
      <p:sp>
        <p:nvSpPr>
          <p:cNvPr id="9" name="TextBox 8"/>
          <p:cNvSpPr txBox="1"/>
          <p:nvPr/>
        </p:nvSpPr>
        <p:spPr>
          <a:xfrm>
            <a:off x="186432" y="3515555"/>
            <a:ext cx="11862222" cy="276999"/>
          </a:xfrm>
          <a:prstGeom prst="rect">
            <a:avLst/>
          </a:prstGeom>
          <a:noFill/>
        </p:spPr>
        <p:txBody>
          <a:bodyPr wrap="none" rtlCol="0">
            <a:spAutoFit/>
          </a:bodyPr>
          <a:lstStyle/>
          <a:p>
            <a:r>
              <a:rPr lang="en-US" sz="1200" dirty="0"/>
              <a:t>LSTMs also have this chain like structure, but the repeating module has a different structure. Instead of having a single neural network layer, there are four, interacting in a very special way.</a:t>
            </a: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9927" y="3799446"/>
            <a:ext cx="3975982" cy="1715664"/>
          </a:xfrm>
          <a:prstGeom prst="rect">
            <a:avLst/>
          </a:prstGeom>
        </p:spPr>
      </p:pic>
      <p:sp>
        <p:nvSpPr>
          <p:cNvPr id="11" name="TextBox 10"/>
          <p:cNvSpPr txBox="1"/>
          <p:nvPr/>
        </p:nvSpPr>
        <p:spPr>
          <a:xfrm>
            <a:off x="62143" y="5504156"/>
            <a:ext cx="11328166" cy="276999"/>
          </a:xfrm>
          <a:prstGeom prst="rect">
            <a:avLst/>
          </a:prstGeom>
          <a:noFill/>
        </p:spPr>
        <p:txBody>
          <a:bodyPr wrap="none" rtlCol="0">
            <a:spAutoFit/>
          </a:bodyPr>
          <a:lstStyle/>
          <a:p>
            <a:r>
              <a:rPr lang="en-US" sz="1200" dirty="0"/>
              <a:t>Don’t worry about the details of what’s going on. We’ll walk through the LSTM diagram step by step later. For now, let’s just try to get comfortable with the notation we’ll be using.</a:t>
            </a:r>
          </a:p>
        </p:txBody>
      </p:sp>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153" y="5790975"/>
            <a:ext cx="3195973" cy="552032"/>
          </a:xfrm>
          <a:prstGeom prst="rect">
            <a:avLst/>
          </a:prstGeom>
        </p:spPr>
      </p:pic>
      <p:sp>
        <p:nvSpPr>
          <p:cNvPr id="13" name="TextBox 12"/>
          <p:cNvSpPr txBox="1"/>
          <p:nvPr/>
        </p:nvSpPr>
        <p:spPr>
          <a:xfrm>
            <a:off x="124275" y="6365284"/>
            <a:ext cx="11817422" cy="461665"/>
          </a:xfrm>
          <a:prstGeom prst="rect">
            <a:avLst/>
          </a:prstGeom>
          <a:noFill/>
        </p:spPr>
        <p:txBody>
          <a:bodyPr wrap="square" rtlCol="0">
            <a:spAutoFit/>
          </a:bodyPr>
          <a:lstStyle/>
          <a:p>
            <a:r>
              <a:rPr lang="en-US" sz="1200" dirty="0"/>
              <a:t>In the above diagram, each line carries an entire vector, from the output of one node to the inputs of others. The pink circles represent pointwise operations, like vector addition, while the yellow boxes are learned neural network layers. Lines merging denote concatenation, while a line forking denote its content being copied and the copies going to different locations.</a:t>
            </a:r>
          </a:p>
        </p:txBody>
      </p:sp>
      <p:sp>
        <p:nvSpPr>
          <p:cNvPr id="14" name="TextBox 13"/>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1892745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10515600" cy="380601"/>
          </a:xfrm>
        </p:spPr>
        <p:txBody>
          <a:bodyPr>
            <a:normAutofit fontScale="90000"/>
          </a:bodyPr>
          <a:lstStyle/>
          <a:p>
            <a:r>
              <a:rPr lang="en-US" sz="2400" dirty="0"/>
              <a:t>LSTM Architecture(p3): </a:t>
            </a:r>
          </a:p>
        </p:txBody>
      </p:sp>
      <p:sp>
        <p:nvSpPr>
          <p:cNvPr id="5" name="TextBox 4"/>
          <p:cNvSpPr txBox="1"/>
          <p:nvPr/>
        </p:nvSpPr>
        <p:spPr>
          <a:xfrm>
            <a:off x="266330" y="683580"/>
            <a:ext cx="10750059" cy="600164"/>
          </a:xfrm>
          <a:prstGeom prst="rect">
            <a:avLst/>
          </a:prstGeom>
          <a:noFill/>
        </p:spPr>
        <p:txBody>
          <a:bodyPr wrap="none" rtlCol="0">
            <a:spAutoFit/>
          </a:bodyPr>
          <a:lstStyle/>
          <a:p>
            <a:r>
              <a:rPr lang="en-US" sz="1100" b="1" dirty="0"/>
              <a:t>The Core Idea Behind LSTMs</a:t>
            </a:r>
          </a:p>
          <a:p>
            <a:r>
              <a:rPr lang="en-US" sz="1100" dirty="0"/>
              <a:t>The key to LSTMs is the cell state, the horizontal line running through the top of the diagram.</a:t>
            </a:r>
          </a:p>
          <a:p>
            <a:r>
              <a:rPr lang="en-US" sz="1100" dirty="0"/>
              <a:t>The cell state is kind of like a conveyor belt. It runs straight down the entire chain, with only some minor linear interactions. It’s very easy for information to just flow along it unchanged.</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082" y="1292620"/>
            <a:ext cx="3256556" cy="1928224"/>
          </a:xfrm>
          <a:prstGeom prst="rect">
            <a:avLst/>
          </a:prstGeom>
        </p:spPr>
      </p:pic>
      <p:sp>
        <p:nvSpPr>
          <p:cNvPr id="7" name="TextBox 6"/>
          <p:cNvSpPr txBox="1"/>
          <p:nvPr/>
        </p:nvSpPr>
        <p:spPr>
          <a:xfrm>
            <a:off x="238082" y="3280168"/>
            <a:ext cx="8690199" cy="430887"/>
          </a:xfrm>
          <a:prstGeom prst="rect">
            <a:avLst/>
          </a:prstGeom>
          <a:noFill/>
        </p:spPr>
        <p:txBody>
          <a:bodyPr wrap="none" rtlCol="0">
            <a:spAutoFit/>
          </a:bodyPr>
          <a:lstStyle/>
          <a:p>
            <a:r>
              <a:rPr lang="en-US" sz="1100" dirty="0"/>
              <a:t>The LSTM does have the ability to remove or add information to the cell state, carefully regulated by structures called gates.</a:t>
            </a:r>
          </a:p>
          <a:p>
            <a:r>
              <a:rPr lang="en-US" sz="1100" dirty="0"/>
              <a:t>Gates are a way to optionally let information through. They are composed out of a sigmoid neural net layer and a pointwise multiplication operation.</a:t>
            </a: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251" y="4046185"/>
            <a:ext cx="1575329" cy="1840338"/>
          </a:xfrm>
          <a:prstGeom prst="rect">
            <a:avLst/>
          </a:prstGeom>
        </p:spPr>
      </p:pic>
      <p:sp>
        <p:nvSpPr>
          <p:cNvPr id="15" name="TextBox 14"/>
          <p:cNvSpPr txBox="1"/>
          <p:nvPr/>
        </p:nvSpPr>
        <p:spPr>
          <a:xfrm>
            <a:off x="266330" y="6092978"/>
            <a:ext cx="11602763" cy="600164"/>
          </a:xfrm>
          <a:prstGeom prst="rect">
            <a:avLst/>
          </a:prstGeom>
          <a:noFill/>
        </p:spPr>
        <p:txBody>
          <a:bodyPr wrap="square" rtlCol="0">
            <a:spAutoFit/>
          </a:bodyPr>
          <a:lstStyle/>
          <a:p>
            <a:r>
              <a:rPr lang="en-US" sz="1100" dirty="0"/>
              <a:t>The sigmoid layer outputs numbers between zero and one, describing how much of each component should be let through. A value of zero means “let nothing through,” while a value of one means “let everything through!”</a:t>
            </a:r>
          </a:p>
          <a:p>
            <a:r>
              <a:rPr lang="en-US" sz="1100" dirty="0"/>
              <a:t>An LSTM has three of these gates, to protect and control the cell state.</a:t>
            </a:r>
          </a:p>
        </p:txBody>
      </p:sp>
      <p:sp>
        <p:nvSpPr>
          <p:cNvPr id="16" name="TextBox 15"/>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1545366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7027416" cy="302595"/>
          </a:xfrm>
        </p:spPr>
        <p:txBody>
          <a:bodyPr>
            <a:normAutofit fontScale="90000"/>
          </a:bodyPr>
          <a:lstStyle/>
          <a:p>
            <a:r>
              <a:rPr lang="en-US" sz="2400" dirty="0"/>
              <a:t>LSTM Architecture(p4):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98" y="887239"/>
            <a:ext cx="5680609" cy="514236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4709" y="392511"/>
            <a:ext cx="5593107" cy="5877020"/>
          </a:xfrm>
          <a:prstGeom prst="rect">
            <a:avLst/>
          </a:prstGeom>
        </p:spPr>
      </p:pic>
      <p:sp>
        <p:nvSpPr>
          <p:cNvPr id="9" name="Right Arrow 8"/>
          <p:cNvSpPr/>
          <p:nvPr/>
        </p:nvSpPr>
        <p:spPr>
          <a:xfrm rot="19034116">
            <a:off x="5712737" y="5703683"/>
            <a:ext cx="407406" cy="3259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599939" y="6525087"/>
            <a:ext cx="1476943" cy="276999"/>
          </a:xfrm>
          <a:prstGeom prst="rect">
            <a:avLst/>
          </a:prstGeom>
          <a:noFill/>
        </p:spPr>
        <p:txBody>
          <a:bodyPr wrap="none" rtlCol="0">
            <a:spAutoFit/>
          </a:bodyPr>
          <a:lstStyle/>
          <a:p>
            <a:r>
              <a:rPr lang="en-US" sz="1200" dirty="0"/>
              <a:t>Continued next page</a:t>
            </a:r>
          </a:p>
        </p:txBody>
      </p:sp>
      <p:sp>
        <p:nvSpPr>
          <p:cNvPr id="13" name="TextBox 12"/>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395194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6086383" cy="451622"/>
          </a:xfrm>
        </p:spPr>
        <p:txBody>
          <a:bodyPr>
            <a:normAutofit/>
          </a:bodyPr>
          <a:lstStyle/>
          <a:p>
            <a:r>
              <a:rPr lang="en-US" sz="2400" dirty="0"/>
              <a:t>LSTM Architecture(p5):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595" y="636884"/>
            <a:ext cx="6184126" cy="2890231"/>
          </a:xfrm>
          <a:prstGeom prst="rect">
            <a:avLst/>
          </a:prstGeom>
        </p:spPr>
      </p:pic>
      <p:sp>
        <p:nvSpPr>
          <p:cNvPr id="7" name="TextBox 6"/>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1380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3405</TotalTime>
  <Words>1355</Words>
  <Application>Microsoft Office PowerPoint</Application>
  <PresentationFormat>Widescreen</PresentationFormat>
  <Paragraphs>53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AI RNN LSTM</vt:lpstr>
      <vt:lpstr>source</vt:lpstr>
      <vt:lpstr>Architecture</vt:lpstr>
      <vt:lpstr>RNN</vt:lpstr>
      <vt:lpstr>RNN: Feed Forward Propagation (TODO from Batch9)</vt:lpstr>
      <vt:lpstr>RNN: How many parameters(wts+bias) ?  Ans: 27+4=31</vt:lpstr>
      <vt:lpstr>RNN: Back propagation Theory(TODO)</vt:lpstr>
      <vt:lpstr>Types of RNN</vt:lpstr>
      <vt:lpstr>Difference between RNN and simple NN</vt:lpstr>
      <vt:lpstr>PowerPoint Presentation</vt:lpstr>
      <vt:lpstr>LSTM Architecture(p1):</vt:lpstr>
      <vt:lpstr>LSTM Architecture(p2): </vt:lpstr>
      <vt:lpstr>LSTM Architecture(p3): </vt:lpstr>
      <vt:lpstr>LSTM Architecture(p4): </vt:lpstr>
      <vt:lpstr>LSTM Architecture(p5):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RNN LSTM</dc:title>
  <dc:creator>ash322.ash422@gmail.com</dc:creator>
  <cp:lastModifiedBy>Ashwani Kumar</cp:lastModifiedBy>
  <cp:revision>129</cp:revision>
  <dcterms:created xsi:type="dcterms:W3CDTF">2025-01-30T10:54:00Z</dcterms:created>
  <dcterms:modified xsi:type="dcterms:W3CDTF">2026-04-09T10:26:16Z</dcterms:modified>
</cp:coreProperties>
</file>