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1" r:id="rId2"/>
    <p:sldId id="282" r:id="rId3"/>
    <p:sldId id="277" r:id="rId4"/>
    <p:sldId id="278" r:id="rId5"/>
    <p:sldId id="279" r:id="rId6"/>
    <p:sldId id="280" r:id="rId7"/>
    <p:sldId id="264" r:id="rId8"/>
    <p:sldId id="281" r:id="rId9"/>
    <p:sldId id="283" r:id="rId10"/>
    <p:sldId id="275" r:id="rId11"/>
    <p:sldId id="2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5/9/2026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3499C-1FAC-4F66-96F8-6DA2CC28B748}" type="slidenum">
              <a:rPr lang="en-US" smtClean="0"/>
              <a:t>8</a:t>
            </a:fld>
            <a:endParaRPr lang="en-US"/>
          </a:p>
        </p:txBody>
      </p:sp>
    </p:spTree>
    <p:extLst>
      <p:ext uri="{BB962C8B-B14F-4D97-AF65-F5344CB8AC3E}">
        <p14:creationId xmlns:p14="http://schemas.microsoft.com/office/powerpoint/2010/main" val="1951634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5F73-AF40-D59A-702B-349D9B69D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8E882-B185-9843-CFB8-31FAEF4A4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38C4A-71C2-5048-B6A4-85046D52F9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526AA8-C30E-70F1-4F95-1FD0C4A541C8}"/>
              </a:ext>
            </a:extLst>
          </p:cNvPr>
          <p:cNvSpPr>
            <a:spLocks noGrp="1"/>
          </p:cNvSpPr>
          <p:nvPr>
            <p:ph type="sldNum" sz="quarter" idx="5"/>
          </p:nvPr>
        </p:nvSpPr>
        <p:spPr/>
        <p:txBody>
          <a:bodyPr/>
          <a:lstStyle/>
          <a:p>
            <a:fld id="{6C63499C-1FAC-4F66-96F8-6DA2CC28B748}" type="slidenum">
              <a:rPr lang="en-US" smtClean="0"/>
              <a:t>9</a:t>
            </a:fld>
            <a:endParaRPr lang="en-US"/>
          </a:p>
        </p:txBody>
      </p:sp>
    </p:spTree>
    <p:extLst>
      <p:ext uri="{BB962C8B-B14F-4D97-AF65-F5344CB8AC3E}">
        <p14:creationId xmlns:p14="http://schemas.microsoft.com/office/powerpoint/2010/main" val="387452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5/9/2026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EDFBC3-9D91-C0E3-C044-A3E48599551C}"/>
              </a:ext>
            </a:extLst>
          </p:cNvPr>
          <p:cNvSpPr txBox="1"/>
          <p:nvPr/>
        </p:nvSpPr>
        <p:spPr>
          <a:xfrm>
            <a:off x="489204" y="199382"/>
            <a:ext cx="6190488" cy="461665"/>
          </a:xfrm>
          <a:prstGeom prst="rect">
            <a:avLst/>
          </a:prstGeom>
          <a:noFill/>
        </p:spPr>
        <p:txBody>
          <a:bodyPr wrap="square">
            <a:spAutoFit/>
          </a:bodyPr>
          <a:lstStyle/>
          <a:p>
            <a:r>
              <a:rPr lang="en-US" sz="2400" b="1" dirty="0">
                <a:solidFill>
                  <a:schemeClr val="accent6">
                    <a:lumMod val="60000"/>
                    <a:lumOff val="40000"/>
                  </a:schemeClr>
                </a:solidFill>
              </a:rPr>
              <a:t>Disadvantages of RNN</a:t>
            </a:r>
          </a:p>
        </p:txBody>
      </p:sp>
      <p:sp>
        <p:nvSpPr>
          <p:cNvPr id="7" name="TextBox 6">
            <a:extLst>
              <a:ext uri="{FF2B5EF4-FFF2-40B4-BE49-F238E27FC236}">
                <a16:creationId xmlns:a16="http://schemas.microsoft.com/office/drawing/2014/main" id="{B2798BA2-1B0D-E97E-15AB-67BD92368A1E}"/>
              </a:ext>
            </a:extLst>
          </p:cNvPr>
          <p:cNvSpPr txBox="1"/>
          <p:nvPr/>
        </p:nvSpPr>
        <p:spPr>
          <a:xfrm>
            <a:off x="173736" y="820246"/>
            <a:ext cx="11695176" cy="6001643"/>
          </a:xfrm>
          <a:prstGeom prst="rect">
            <a:avLst/>
          </a:prstGeom>
          <a:noFill/>
        </p:spPr>
        <p:txBody>
          <a:bodyPr wrap="square">
            <a:spAutoFit/>
          </a:bodyPr>
          <a:lstStyle/>
          <a:p>
            <a:pPr marL="0" indent="0">
              <a:buNone/>
            </a:pPr>
            <a:r>
              <a:rPr lang="en-US" sz="2400" b="1" dirty="0">
                <a:solidFill>
                  <a:schemeClr val="accent6">
                    <a:lumMod val="60000"/>
                    <a:lumOff val="40000"/>
                  </a:schemeClr>
                </a:solidFill>
              </a:rPr>
              <a:t>1 . Limited Memory and Difficulty with Long Sequences:</a:t>
            </a:r>
          </a:p>
          <a:p>
            <a:pPr marL="0" indent="0" fontAlgn="ctr">
              <a:buNone/>
            </a:pPr>
            <a:endParaRPr lang="en-US" sz="2400" dirty="0">
              <a:solidFill>
                <a:schemeClr val="accent6">
                  <a:lumMod val="60000"/>
                  <a:lumOff val="40000"/>
                </a:schemeClr>
              </a:solidFill>
            </a:endParaRPr>
          </a:p>
          <a:p>
            <a:pPr marL="342900" indent="-342900" fontAlgn="ctr">
              <a:buFont typeface="Arial" panose="020B0604020202020204" pitchFamily="34" charset="0"/>
              <a:buChar char="•"/>
            </a:pPr>
            <a:r>
              <a:rPr lang="en-US" sz="2400" dirty="0">
                <a:solidFill>
                  <a:schemeClr val="accent6">
                    <a:lumMod val="60000"/>
                    <a:lumOff val="40000"/>
                  </a:schemeClr>
                </a:solidFill>
              </a:rPr>
              <a:t>RNNs are good for short-term dependencies (e.g., "The cat sat"). They struggle when important information is far back in time (long-term dependency).</a:t>
            </a:r>
          </a:p>
          <a:p>
            <a:pPr marL="0" indent="0" fontAlgn="ctr">
              <a:buNone/>
            </a:pPr>
            <a:endParaRPr lang="en-US" sz="2400" dirty="0">
              <a:solidFill>
                <a:schemeClr val="accent6">
                  <a:lumMod val="60000"/>
                  <a:lumOff val="40000"/>
                </a:schemeClr>
              </a:solidFill>
            </a:endParaRPr>
          </a:p>
          <a:p>
            <a:pPr marL="0" indent="0" fontAlgn="ctr">
              <a:buNone/>
            </a:pPr>
            <a:r>
              <a:rPr lang="en-US" sz="2400" b="1" dirty="0">
                <a:solidFill>
                  <a:schemeClr val="accent6">
                    <a:lumMod val="60000"/>
                    <a:lumOff val="40000"/>
                  </a:schemeClr>
                </a:solidFill>
              </a:rPr>
              <a:t>Reason: </a:t>
            </a:r>
            <a:r>
              <a:rPr lang="en-US" sz="2400" dirty="0">
                <a:solidFill>
                  <a:schemeClr val="accent6">
                    <a:lumMod val="60000"/>
                    <a:lumOff val="40000"/>
                  </a:schemeClr>
                </a:solidFill>
              </a:rPr>
              <a:t>They have limited memory</a:t>
            </a:r>
            <a:endParaRPr lang="en-US" sz="2400" b="1"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Example: “Today is Diwali, a festival that is celebrated by millions of people across different countries with lamps, fireworks, sweets, decorations, and family gatherings, bringing joy and brightness everywhere. This occasion … ”</a:t>
            </a:r>
          </a:p>
          <a:p>
            <a:pPr marL="0" indent="0" fontAlgn="ctr">
              <a:buNone/>
            </a:pP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Main subject = "Today is Diwali"</a:t>
            </a:r>
          </a:p>
          <a:p>
            <a:pPr marL="0" indent="0" fontAlgn="ctr">
              <a:buNone/>
            </a:pPr>
            <a:r>
              <a:rPr lang="en-US" sz="2400" dirty="0">
                <a:solidFill>
                  <a:schemeClr val="accent6">
                    <a:lumMod val="60000"/>
                    <a:lumOff val="40000"/>
                  </a:schemeClr>
                </a:solidFill>
              </a:rPr>
              <a:t>But important information ("Diwali") is hidden behind lots of extra words: celebrated by millions, across countries, lamps, sweets, decorations, gatherings.</a:t>
            </a:r>
          </a:p>
          <a:p>
            <a:pPr marL="0" indent="0" fontAlgn="ctr">
              <a:buNone/>
            </a:pP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By the time the model reaches “This occasion", a basic RNN might forget that it all started with "Diwali" and context is “Diwali” and not "countries" or "families".</a:t>
            </a:r>
          </a:p>
        </p:txBody>
      </p:sp>
    </p:spTree>
    <p:extLst>
      <p:ext uri="{BB962C8B-B14F-4D97-AF65-F5344CB8AC3E}">
        <p14:creationId xmlns:p14="http://schemas.microsoft.com/office/powerpoint/2010/main" val="2536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F040-92ED-980B-FE51-96B5705452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CAD6B5-DC62-9FAD-8CE5-214D57C25ED1}"/>
              </a:ext>
            </a:extLst>
          </p:cNvPr>
          <p:cNvSpPr txBox="1"/>
          <p:nvPr/>
        </p:nvSpPr>
        <p:spPr>
          <a:xfrm>
            <a:off x="489204" y="199382"/>
            <a:ext cx="6190488" cy="461665"/>
          </a:xfrm>
          <a:prstGeom prst="rect">
            <a:avLst/>
          </a:prstGeom>
          <a:noFill/>
        </p:spPr>
        <p:txBody>
          <a:bodyPr wrap="square">
            <a:spAutoFit/>
          </a:bodyPr>
          <a:lstStyle/>
          <a:p>
            <a:r>
              <a:rPr lang="en-US" sz="2400" b="1" dirty="0">
                <a:solidFill>
                  <a:schemeClr val="accent6">
                    <a:lumMod val="60000"/>
                    <a:lumOff val="40000"/>
                  </a:schemeClr>
                </a:solidFill>
              </a:rPr>
              <a:t>Disadvantages of RNN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106C0A-A7C3-306D-11A2-7B1CBA63288B}"/>
                  </a:ext>
                </a:extLst>
              </p:cNvPr>
              <p:cNvSpPr txBox="1"/>
              <p:nvPr/>
            </p:nvSpPr>
            <p:spPr>
              <a:xfrm>
                <a:off x="173736" y="820246"/>
                <a:ext cx="11695176" cy="3416320"/>
              </a:xfrm>
              <a:prstGeom prst="rect">
                <a:avLst/>
              </a:prstGeom>
              <a:noFill/>
            </p:spPr>
            <p:txBody>
              <a:bodyPr wrap="square">
                <a:spAutoFit/>
              </a:bodyPr>
              <a:lstStyle/>
              <a:p>
                <a:pPr marL="0" indent="0">
                  <a:buNone/>
                </a:pPr>
                <a:r>
                  <a:rPr lang="en-US" sz="2400" b="1" dirty="0">
                    <a:solidFill>
                      <a:schemeClr val="accent6">
                        <a:lumMod val="60000"/>
                        <a:lumOff val="40000"/>
                      </a:schemeClr>
                    </a:solidFill>
                  </a:rPr>
                  <a:t>Cause:</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Meaning/context is "diluted"</a:t>
                </a:r>
                <a:r>
                  <a:rPr lang="en-US" sz="2400" dirty="0">
                    <a:solidFill>
                      <a:schemeClr val="accent6">
                        <a:lumMod val="60000"/>
                        <a:lumOff val="40000"/>
                      </a:schemeClr>
                    </a:solidFill>
                  </a:rPr>
                  <a:t> as time steps increase:</a:t>
                </a:r>
              </a:p>
              <a:p>
                <a:pPr marL="0" indent="0" fontAlgn="ctr">
                  <a:buNone/>
                </a:pPr>
                <a:r>
                  <a:rPr lang="en-US" sz="2400" dirty="0">
                    <a:solidFill>
                      <a:schemeClr val="accent6">
                        <a:lumMod val="60000"/>
                        <a:lumOff val="40000"/>
                      </a:schemeClr>
                    </a:solidFill>
                  </a:rPr>
                  <a:t>As more steps pass, the important signal fades (this is called </a:t>
                </a:r>
                <a:r>
                  <a:rPr lang="en-US" sz="2400" b="1" dirty="0">
                    <a:solidFill>
                      <a:schemeClr val="accent6">
                        <a:lumMod val="60000"/>
                        <a:lumOff val="40000"/>
                      </a:schemeClr>
                    </a:solidFill>
                  </a:rPr>
                  <a:t>vanishing gradient during training)</a:t>
                </a:r>
                <a:r>
                  <a:rPr lang="en-US" sz="2400" dirty="0">
                    <a:solidFill>
                      <a:schemeClr val="accent6">
                        <a:lumMod val="60000"/>
                        <a:lumOff val="40000"/>
                      </a:schemeClr>
                    </a:solidFill>
                  </a:rPr>
                  <a:t>, i.e. RNNs lose important early information over long sequences.</a:t>
                </a:r>
              </a:p>
              <a:p>
                <a:pPr marL="0" indent="0" fontAlgn="ctr">
                  <a:buNone/>
                </a:pPr>
                <a:endParaRPr lang="en-US" sz="2400" dirty="0">
                  <a:solidFill>
                    <a:schemeClr val="accent6">
                      <a:lumMod val="60000"/>
                      <a:lumOff val="40000"/>
                    </a:schemeClr>
                  </a:solidFill>
                </a:endParaRPr>
              </a:p>
              <a:p>
                <a:pPr marL="0" indent="0" fontAlgn="ctr">
                  <a:buNone/>
                </a:pPr>
                <a:endParaRPr lang="en-US" sz="2400" dirty="0">
                  <a:solidFill>
                    <a:schemeClr val="accent6">
                      <a:lumMod val="60000"/>
                      <a:lumOff val="40000"/>
                    </a:schemeClr>
                  </a:solidFill>
                </a:endParaRPr>
              </a:p>
              <a:p>
                <a:r>
                  <a:rPr lang="en-US" sz="2400" dirty="0">
                    <a:solidFill>
                      <a:schemeClr val="accent6">
                        <a:lumMod val="60000"/>
                        <a:lumOff val="40000"/>
                      </a:schemeClr>
                    </a:solidFill>
                  </a:rPr>
                  <a:t>If weights are small (&lt;1), repeated multiplication:</a:t>
                </a:r>
              </a:p>
              <a:p>
                <a:pPr/>
                <a14:m>
                  <m:oMathPara xmlns:m="http://schemas.openxmlformats.org/officeDocument/2006/math">
                    <m:oMathParaPr>
                      <m:jc m:val="centerGroup"/>
                    </m:oMathParaPr>
                    <m:oMath xmlns:m="http://schemas.openxmlformats.org/officeDocument/2006/math">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5</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0</m:t>
                      </m:r>
                    </m:oMath>
                  </m:oMathPara>
                </a14:m>
                <a:endParaRPr lang="en-US" sz="2400" dirty="0">
                  <a:solidFill>
                    <a:schemeClr val="accent6">
                      <a:lumMod val="60000"/>
                      <a:lumOff val="40000"/>
                    </a:schemeClr>
                  </a:solidFill>
                </a:endParaRPr>
              </a:p>
            </p:txBody>
          </p:sp>
        </mc:Choice>
        <mc:Fallback xmlns="">
          <p:sp>
            <p:nvSpPr>
              <p:cNvPr id="7" name="TextBox 6">
                <a:extLst>
                  <a:ext uri="{FF2B5EF4-FFF2-40B4-BE49-F238E27FC236}">
                    <a16:creationId xmlns:a16="http://schemas.microsoft.com/office/drawing/2014/main" id="{58106C0A-A7C3-306D-11A2-7B1CBA63288B}"/>
                  </a:ext>
                </a:extLst>
              </p:cNvPr>
              <p:cNvSpPr txBox="1">
                <a:spLocks noRot="1" noChangeAspect="1" noMove="1" noResize="1" noEditPoints="1" noAdjustHandles="1" noChangeArrowheads="1" noChangeShapeType="1" noTextEdit="1"/>
              </p:cNvSpPr>
              <p:nvPr/>
            </p:nvSpPr>
            <p:spPr>
              <a:xfrm>
                <a:off x="173736" y="820246"/>
                <a:ext cx="11695176" cy="3416320"/>
              </a:xfrm>
              <a:prstGeom prst="rect">
                <a:avLst/>
              </a:prstGeom>
              <a:blipFill>
                <a:blip r:embed="rId2"/>
                <a:stretch>
                  <a:fillRect l="-834" t="-1429"/>
                </a:stretch>
              </a:blipFill>
            </p:spPr>
            <p:txBody>
              <a:bodyPr/>
              <a:lstStyle/>
              <a:p>
                <a:r>
                  <a:rPr lang="en-US">
                    <a:noFill/>
                  </a:rPr>
                  <a:t> </a:t>
                </a:r>
              </a:p>
            </p:txBody>
          </p:sp>
        </mc:Fallback>
      </mc:AlternateContent>
    </p:spTree>
    <p:extLst>
      <p:ext uri="{BB962C8B-B14F-4D97-AF65-F5344CB8AC3E}">
        <p14:creationId xmlns:p14="http://schemas.microsoft.com/office/powerpoint/2010/main" val="257162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9463" y="4171273"/>
            <a:ext cx="4005665" cy="2399045"/>
          </a:xfrm>
          <a:prstGeom prst="rect">
            <a:avLst/>
          </a:prstGeom>
        </p:spPr>
      </p:pic>
      <p:sp>
        <p:nvSpPr>
          <p:cNvPr id="9" name="TextBox 8">
            <a:extLst>
              <a:ext uri="{FF2B5EF4-FFF2-40B4-BE49-F238E27FC236}">
                <a16:creationId xmlns:a16="http://schemas.microsoft.com/office/drawing/2014/main" id="{56A8A63D-8906-0BD6-9674-F7F0981D622E}"/>
              </a:ext>
            </a:extLst>
          </p:cNvPr>
          <p:cNvSpPr txBox="1"/>
          <p:nvPr/>
        </p:nvSpPr>
        <p:spPr>
          <a:xfrm>
            <a:off x="82296" y="82296"/>
            <a:ext cx="11658600" cy="4524315"/>
          </a:xfrm>
          <a:prstGeom prst="rect">
            <a:avLst/>
          </a:prstGeom>
          <a:noFill/>
        </p:spPr>
        <p:txBody>
          <a:bodyPr wrap="square">
            <a:spAutoFit/>
          </a:bodyPr>
          <a:lstStyle/>
          <a:p>
            <a:pPr marL="0" indent="0">
              <a:buNone/>
            </a:pPr>
            <a:r>
              <a:rPr lang="en-US" sz="2400" b="1" dirty="0">
                <a:solidFill>
                  <a:schemeClr val="accent6">
                    <a:lumMod val="60000"/>
                    <a:lumOff val="40000"/>
                  </a:schemeClr>
                </a:solidFill>
              </a:rPr>
              <a:t>Understanding the math of vanishing gradient problem during training:</a:t>
            </a:r>
          </a:p>
          <a:p>
            <a:pPr marL="514350" indent="-514350">
              <a:buFont typeface="+mj-lt"/>
              <a:buAutoNum type="arabicPeriod"/>
            </a:pPr>
            <a:r>
              <a:rPr lang="en-US" sz="2400" dirty="0">
                <a:solidFill>
                  <a:schemeClr val="accent6">
                    <a:lumMod val="60000"/>
                    <a:lumOff val="40000"/>
                  </a:schemeClr>
                </a:solidFill>
              </a:rPr>
              <a:t>During training, RNN uses backpropagation through time (BPTT) to update weights by moving backward across many time steps.</a:t>
            </a:r>
          </a:p>
          <a:p>
            <a:pPr marL="514350" indent="-514350">
              <a:buFont typeface="+mj-lt"/>
              <a:buAutoNum type="arabicPeriod"/>
            </a:pPr>
            <a:r>
              <a:rPr lang="en-US" sz="2400" dirty="0">
                <a:solidFill>
                  <a:schemeClr val="accent6">
                    <a:lumMod val="60000"/>
                    <a:lumOff val="40000"/>
                  </a:schemeClr>
                </a:solidFill>
              </a:rPr>
              <a:t>At each step, gradients (tiny error signals) are multiplied by the weights repeatedly as they flow backward.</a:t>
            </a:r>
          </a:p>
          <a:p>
            <a:pPr marL="514350" indent="-514350">
              <a:buFont typeface="+mj-lt"/>
              <a:buAutoNum type="arabicPeriod"/>
            </a:pPr>
            <a:r>
              <a:rPr lang="en-US" sz="2400" dirty="0">
                <a:solidFill>
                  <a:schemeClr val="accent6">
                    <a:lumMod val="60000"/>
                    <a:lumOff val="40000"/>
                  </a:schemeClr>
                </a:solidFill>
              </a:rPr>
              <a:t>If the weights are small (e.g., 0.5), then multiplying many times makes gradients shrink exponentially toward zero. </a:t>
            </a:r>
          </a:p>
          <a:p>
            <a:pPr marL="514350" indent="-514350">
              <a:buFont typeface="+mj-lt"/>
              <a:buAutoNum type="arabicPeriod"/>
            </a:pPr>
            <a:r>
              <a:rPr lang="en-US" sz="2400" dirty="0">
                <a:solidFill>
                  <a:schemeClr val="accent6">
                    <a:lumMod val="60000"/>
                    <a:lumOff val="40000"/>
                  </a:schemeClr>
                </a:solidFill>
              </a:rPr>
              <a:t>When gradients become very tiny, they stop updating the early layers (the start of the sequence) — this is vanishing gradients.</a:t>
            </a:r>
          </a:p>
          <a:p>
            <a:pPr marL="514350" indent="-514350">
              <a:buFont typeface="+mj-lt"/>
              <a:buAutoNum type="arabicPeriod"/>
            </a:pPr>
            <a:r>
              <a:rPr lang="en-US" sz="2400" dirty="0">
                <a:solidFill>
                  <a:schemeClr val="accent6">
                    <a:lumMod val="60000"/>
                    <a:lumOff val="40000"/>
                  </a:schemeClr>
                </a:solidFill>
              </a:rPr>
              <a:t>As a result, the RNN forgets long-term information</a:t>
            </a:r>
          </a:p>
          <a:p>
            <a:pPr marL="0" indent="0">
              <a:buNone/>
            </a:pPr>
            <a:r>
              <a:rPr lang="en-US" sz="2400" b="1" dirty="0">
                <a:solidFill>
                  <a:schemeClr val="accent6">
                    <a:lumMod val="60000"/>
                    <a:lumOff val="40000"/>
                  </a:schemeClr>
                </a:solidFill>
              </a:rPr>
              <a:t>Backpropagation + many time steps + small weights = vanishing gradient = RNN forgets long-term memory</a:t>
            </a:r>
            <a:r>
              <a:rPr lang="en-US" sz="2400" dirty="0">
                <a:solidFill>
                  <a:schemeClr val="accent6">
                    <a:lumMod val="60000"/>
                    <a:lumOff val="40000"/>
                  </a:schemeClr>
                </a:solidFill>
              </a:rPr>
              <a:t>.</a:t>
            </a:r>
          </a:p>
        </p:txBody>
      </p:sp>
      <p:sp>
        <p:nvSpPr>
          <p:cNvPr id="3" name="TextBox 2">
            <a:extLst>
              <a:ext uri="{FF2B5EF4-FFF2-40B4-BE49-F238E27FC236}">
                <a16:creationId xmlns:a16="http://schemas.microsoft.com/office/drawing/2014/main" id="{70A74CE0-3724-96F8-D6B4-C9DBB8FFDCE5}"/>
              </a:ext>
            </a:extLst>
          </p:cNvPr>
          <p:cNvSpPr txBox="1"/>
          <p:nvPr/>
        </p:nvSpPr>
        <p:spPr>
          <a:xfrm>
            <a:off x="0" y="6488668"/>
            <a:ext cx="9468612" cy="369332"/>
          </a:xfrm>
          <a:prstGeom prst="rect">
            <a:avLst/>
          </a:prstGeom>
          <a:noFill/>
        </p:spPr>
        <p:txBody>
          <a:bodyPr wrap="square">
            <a:spAutoFit/>
          </a:bodyPr>
          <a:lstStyle/>
          <a:p>
            <a:pPr marL="0" indent="0">
              <a:buNone/>
            </a:pPr>
            <a:r>
              <a:rPr lang="en-US" sz="1800" b="1" dirty="0">
                <a:solidFill>
                  <a:schemeClr val="accent6">
                    <a:lumMod val="60000"/>
                    <a:lumOff val="40000"/>
                  </a:schemeClr>
                </a:solidFill>
              </a:rPr>
              <a:t>Read </a:t>
            </a:r>
            <a:r>
              <a:rPr lang="en-US" sz="1800" dirty="0">
                <a:solidFill>
                  <a:schemeClr val="accent6">
                    <a:lumMod val="60000"/>
                    <a:lumOff val="40000"/>
                  </a:schemeClr>
                </a:solidFill>
              </a:rPr>
              <a:t>Source: https://dennybritz.com/posts/wildml/recurrent-neural-networks-tutorial-part-3</a:t>
            </a:r>
          </a:p>
        </p:txBody>
      </p:sp>
    </p:spTree>
    <p:extLst>
      <p:ext uri="{BB962C8B-B14F-4D97-AF65-F5344CB8AC3E}">
        <p14:creationId xmlns:p14="http://schemas.microsoft.com/office/powerpoint/2010/main" val="995260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0F4F4BA-6882-2984-36D9-AE64B77B5EE3}"/>
              </a:ext>
            </a:extLst>
          </p:cNvPr>
          <p:cNvSpPr txBox="1"/>
          <p:nvPr/>
        </p:nvSpPr>
        <p:spPr>
          <a:xfrm>
            <a:off x="173736" y="146733"/>
            <a:ext cx="11365992" cy="6001643"/>
          </a:xfrm>
          <a:prstGeom prst="rect">
            <a:avLst/>
          </a:prstGeom>
          <a:noFill/>
        </p:spPr>
        <p:txBody>
          <a:bodyPr wrap="square">
            <a:spAutoFit/>
          </a:bodyPr>
          <a:lstStyle/>
          <a:p>
            <a:pPr marL="0" indent="0">
              <a:buNone/>
            </a:pPr>
            <a:r>
              <a:rPr lang="en-US" sz="2400" b="1" dirty="0">
                <a:solidFill>
                  <a:schemeClr val="accent6">
                    <a:lumMod val="60000"/>
                    <a:lumOff val="40000"/>
                  </a:schemeClr>
                </a:solidFill>
              </a:rPr>
              <a:t>2. Unidirectional in RNN</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RNN takes data sequentially and word by word or letter by letter. Now when we are trying to predict a particular word we are not thinking about its future context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Example :</a:t>
            </a:r>
          </a:p>
          <a:p>
            <a:pPr marL="0" indent="0">
              <a:buNone/>
            </a:pPr>
            <a:r>
              <a:rPr lang="en-US" sz="2400" dirty="0">
                <a:solidFill>
                  <a:schemeClr val="accent6">
                    <a:lumMod val="60000"/>
                    <a:lumOff val="40000"/>
                  </a:schemeClr>
                </a:solidFill>
              </a:rPr>
              <a:t>“Mouse is really good. The mouse is used to ____ for the easy use of computers.”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Now </a:t>
            </a:r>
            <a:r>
              <a:rPr lang="en-US" sz="2400" b="1" dirty="0">
                <a:solidFill>
                  <a:schemeClr val="accent6">
                    <a:lumMod val="60000"/>
                    <a:lumOff val="40000"/>
                  </a:schemeClr>
                </a:solidFill>
              </a:rPr>
              <a:t>if we can travel bidirectional </a:t>
            </a:r>
            <a:r>
              <a:rPr lang="en-US" sz="2400" dirty="0">
                <a:solidFill>
                  <a:schemeClr val="accent6">
                    <a:lumMod val="60000"/>
                    <a:lumOff val="40000"/>
                  </a:schemeClr>
                </a:solidFill>
              </a:rPr>
              <a:t>and we can also see future context we may say ‘Scroll’ is the appropriate word here. But, if it’s unidirectional, our model has never seen computers so how does it know if we are talking about the animal mouse or computer mouse.</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These problems are solved later using language models like BERT where we can input complete sentences and use the self-attention mechanism to understand the context of the text.</a:t>
            </a:r>
          </a:p>
        </p:txBody>
      </p:sp>
    </p:spTree>
    <p:extLst>
      <p:ext uri="{BB962C8B-B14F-4D97-AF65-F5344CB8AC3E}">
        <p14:creationId xmlns:p14="http://schemas.microsoft.com/office/powerpoint/2010/main" val="419823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p:nvPr/>
        </p:nvCxnSpPr>
        <p:spPr>
          <a:xfrm flipH="1">
            <a:off x="9268287" y="4287915"/>
            <a:ext cx="1109709" cy="7723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6DA1CF2-CC05-3055-4BEC-F6CFC6BC9DB9}"/>
              </a:ext>
            </a:extLst>
          </p:cNvPr>
          <p:cNvSpPr txBox="1"/>
          <p:nvPr/>
        </p:nvSpPr>
        <p:spPr>
          <a:xfrm>
            <a:off x="256032" y="492299"/>
            <a:ext cx="11512296" cy="3944670"/>
          </a:xfrm>
          <a:prstGeom prst="rect">
            <a:avLst/>
          </a:prstGeom>
          <a:noFill/>
        </p:spPr>
        <p:txBody>
          <a:bodyPr wrap="square">
            <a:spAutoFit/>
          </a:bodyPr>
          <a:lstStyle/>
          <a:p>
            <a:pPr marL="0" indent="0" algn="l">
              <a:lnSpc>
                <a:spcPts val="2700"/>
              </a:lnSpc>
              <a:spcAft>
                <a:spcPts val="750"/>
              </a:spcAft>
              <a:buNone/>
            </a:pPr>
            <a:r>
              <a:rPr lang="en-US" sz="2400" b="1" i="0" dirty="0">
                <a:solidFill>
                  <a:schemeClr val="accent6">
                    <a:lumMod val="60000"/>
                    <a:lumOff val="40000"/>
                  </a:schemeClr>
                </a:solidFill>
                <a:effectLst/>
                <a:latin typeface="Inter"/>
              </a:rPr>
              <a:t>3. Computationally slower than other neural network architectures. </a:t>
            </a:r>
          </a:p>
          <a:p>
            <a:pPr marL="0" indent="0" algn="l">
              <a:lnSpc>
                <a:spcPts val="2700"/>
              </a:lnSpc>
              <a:spcAft>
                <a:spcPts val="750"/>
              </a:spcAft>
              <a:buNone/>
            </a:pPr>
            <a:r>
              <a:rPr lang="en-US" sz="2400" b="0" i="0" dirty="0">
                <a:solidFill>
                  <a:schemeClr val="accent6">
                    <a:lumMod val="60000"/>
                    <a:lumOff val="40000"/>
                  </a:schemeClr>
                </a:solidFill>
                <a:effectLst/>
                <a:latin typeface="Inter"/>
              </a:rPr>
              <a:t>The reason</a:t>
            </a:r>
            <a:r>
              <a:rPr lang="en-US" sz="2400" dirty="0">
                <a:solidFill>
                  <a:schemeClr val="accent6">
                    <a:lumMod val="60000"/>
                    <a:lumOff val="40000"/>
                  </a:schemeClr>
                </a:solidFill>
                <a:latin typeface="Inter"/>
              </a:rPr>
              <a:t>s are</a:t>
            </a:r>
            <a:endParaRPr lang="en-US" sz="2400" b="0" i="0" dirty="0">
              <a:solidFill>
                <a:schemeClr val="accent6">
                  <a:lumMod val="60000"/>
                  <a:lumOff val="40000"/>
                </a:schemeClr>
              </a:solidFill>
              <a:effectLst/>
              <a:latin typeface="Inter"/>
            </a:endParaRPr>
          </a:p>
          <a:p>
            <a:pPr marL="0" indent="0">
              <a:buNone/>
            </a:pPr>
            <a:r>
              <a:rPr lang="en-US" sz="2400" dirty="0">
                <a:solidFill>
                  <a:schemeClr val="accent6">
                    <a:lumMod val="60000"/>
                    <a:lumOff val="40000"/>
                  </a:schemeClr>
                </a:solidFill>
              </a:rPr>
              <a:t>a) </a:t>
            </a:r>
            <a:r>
              <a:rPr lang="en-US" sz="2400" b="1" dirty="0">
                <a:solidFill>
                  <a:schemeClr val="accent6">
                    <a:lumMod val="60000"/>
                    <a:lumOff val="40000"/>
                  </a:schemeClr>
                </a:solidFill>
              </a:rPr>
              <a:t>Sequential Dependency</a:t>
            </a:r>
            <a:r>
              <a:rPr lang="en-US" sz="2400" dirty="0">
                <a:solidFill>
                  <a:schemeClr val="accent6">
                    <a:lumMod val="60000"/>
                    <a:lumOff val="40000"/>
                  </a:schemeClr>
                </a:solidFill>
              </a:rPr>
              <a:t>: In RNNs, each output depends on the previous output — you can't compute all time steps at once.</a:t>
            </a:r>
          </a:p>
          <a:p>
            <a:pPr marL="0" indent="0">
              <a:buNone/>
            </a:pPr>
            <a:r>
              <a:rPr lang="en-US" sz="2400" dirty="0">
                <a:solidFill>
                  <a:schemeClr val="accent6">
                    <a:lumMod val="60000"/>
                    <a:lumOff val="40000"/>
                  </a:schemeClr>
                </a:solidFill>
              </a:rPr>
              <a:t>➔ You must go one step at a time, in order, which prevents parallel processing.</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b) </a:t>
            </a:r>
            <a:r>
              <a:rPr lang="en-US" sz="2400" b="1" dirty="0">
                <a:solidFill>
                  <a:schemeClr val="accent6">
                    <a:lumMod val="60000"/>
                    <a:lumOff val="40000"/>
                  </a:schemeClr>
                </a:solidFill>
              </a:rPr>
              <a:t>Backpropagation Through Time (BPTT)</a:t>
            </a:r>
            <a:r>
              <a:rPr lang="en-US" sz="2400" dirty="0">
                <a:solidFill>
                  <a:schemeClr val="accent6">
                    <a:lumMod val="60000"/>
                    <a:lumOff val="40000"/>
                  </a:schemeClr>
                </a:solidFill>
              </a:rPr>
              <a:t>: Training an RNN requires unrolling the network across many time steps and back propagating through each.</a:t>
            </a:r>
          </a:p>
          <a:p>
            <a:pPr marL="0" indent="0">
              <a:buNone/>
            </a:pPr>
            <a:r>
              <a:rPr lang="en-US" sz="2400" dirty="0">
                <a:solidFill>
                  <a:schemeClr val="accent6">
                    <a:lumMod val="60000"/>
                    <a:lumOff val="40000"/>
                  </a:schemeClr>
                </a:solidFill>
              </a:rPr>
              <a:t>➔ This makes training longer and memory-intensive compared to a simple backward pass in a feedforward network.</a:t>
            </a:r>
          </a:p>
        </p:txBody>
      </p:sp>
    </p:spTree>
    <p:extLst>
      <p:ext uri="{BB962C8B-B14F-4D97-AF65-F5344CB8AC3E}">
        <p14:creationId xmlns:p14="http://schemas.microsoft.com/office/powerpoint/2010/main" val="111894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E0BD-B9EE-E018-3C7A-20C7B400B779}"/>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4907AA7D-FCA2-08F8-EF0C-4B41786A93A4}"/>
              </a:ext>
            </a:extLst>
          </p:cNvPr>
          <p:cNvCxnSpPr/>
          <p:nvPr/>
        </p:nvCxnSpPr>
        <p:spPr>
          <a:xfrm flipH="1">
            <a:off x="9268287" y="4287915"/>
            <a:ext cx="1109709" cy="7723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9EE076-7D86-6CFE-46CC-70DD17E6B898}"/>
              </a:ext>
            </a:extLst>
          </p:cNvPr>
          <p:cNvSpPr txBox="1"/>
          <p:nvPr/>
        </p:nvSpPr>
        <p:spPr>
          <a:xfrm>
            <a:off x="192024" y="1013507"/>
            <a:ext cx="11512296" cy="2677656"/>
          </a:xfrm>
          <a:prstGeom prst="rect">
            <a:avLst/>
          </a:prstGeom>
          <a:noFill/>
        </p:spPr>
        <p:txBody>
          <a:bodyPr wrap="square">
            <a:spAutoFit/>
          </a:bodyPr>
          <a:lstStyle/>
          <a:p>
            <a:r>
              <a:rPr lang="en-US" sz="2400" b="1" dirty="0">
                <a:solidFill>
                  <a:schemeClr val="accent6">
                    <a:lumMod val="60000"/>
                    <a:lumOff val="40000"/>
                  </a:schemeClr>
                </a:solidFill>
              </a:rPr>
              <a:t>Summary:</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RNN is slower because it is </a:t>
            </a:r>
          </a:p>
          <a:p>
            <a:pPr marL="342900" indent="-342900">
              <a:buFont typeface="Arial" panose="020B0604020202020204" pitchFamily="34" charset="0"/>
              <a:buChar char="•"/>
            </a:pPr>
            <a:r>
              <a:rPr lang="en-US" sz="2400" b="1" dirty="0">
                <a:solidFill>
                  <a:schemeClr val="accent6">
                    <a:lumMod val="60000"/>
                    <a:lumOff val="40000"/>
                  </a:schemeClr>
                </a:solidFill>
              </a:rPr>
              <a:t>sequential</a:t>
            </a:r>
            <a:r>
              <a:rPr lang="en-US" sz="2400" dirty="0">
                <a:solidFill>
                  <a:schemeClr val="accent6">
                    <a:lumMod val="60000"/>
                    <a:lumOff val="40000"/>
                  </a:schemeClr>
                </a:solidFill>
              </a:rPr>
              <a:t> and </a:t>
            </a:r>
          </a:p>
          <a:p>
            <a:pPr marL="342900" indent="-342900">
              <a:buFont typeface="Arial" panose="020B0604020202020204" pitchFamily="34" charset="0"/>
              <a:buChar char="•"/>
            </a:pPr>
            <a:r>
              <a:rPr lang="en-US" sz="2400" b="1" dirty="0">
                <a:solidFill>
                  <a:schemeClr val="accent6">
                    <a:lumMod val="60000"/>
                    <a:lumOff val="40000"/>
                  </a:schemeClr>
                </a:solidFill>
              </a:rPr>
              <a:t>depends on past computations</a:t>
            </a:r>
            <a:r>
              <a:rPr lang="en-US" sz="2400" dirty="0">
                <a:solidFill>
                  <a:schemeClr val="accent6">
                    <a:lumMod val="60000"/>
                    <a:lumOff val="40000"/>
                  </a:schemeClr>
                </a:solidFill>
              </a:rPr>
              <a:t>,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while normal feedforward networks (like CNNs or MLPs) can work on all parts in parallel.</a:t>
            </a:r>
            <a:endParaRPr lang="en-IN" sz="2400" dirty="0">
              <a:solidFill>
                <a:schemeClr val="accent6">
                  <a:lumMod val="60000"/>
                  <a:lumOff val="40000"/>
                </a:schemeClr>
              </a:solidFill>
            </a:endParaRPr>
          </a:p>
        </p:txBody>
      </p:sp>
    </p:spTree>
    <p:extLst>
      <p:ext uri="{BB962C8B-B14F-4D97-AF65-F5344CB8AC3E}">
        <p14:creationId xmlns:p14="http://schemas.microsoft.com/office/powerpoint/2010/main" val="179768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872" y="744570"/>
            <a:ext cx="11658599" cy="1200329"/>
          </a:xfrm>
          <a:prstGeom prst="rect">
            <a:avLst/>
          </a:prstGeom>
          <a:noFill/>
        </p:spPr>
        <p:txBody>
          <a:bodyPr wrap="square" rtlCol="0">
            <a:spAutoFit/>
          </a:bodyPr>
          <a:lstStyle/>
          <a:p>
            <a:r>
              <a:rPr lang="en-US" sz="2400" dirty="0">
                <a:solidFill>
                  <a:schemeClr val="accent6">
                    <a:lumMod val="60000"/>
                    <a:lumOff val="40000"/>
                  </a:schemeClr>
                </a:solidFill>
              </a:rPr>
              <a:t>That's why </a:t>
            </a:r>
            <a:r>
              <a:rPr lang="en-US" sz="2400" b="1" dirty="0">
                <a:solidFill>
                  <a:schemeClr val="accent6">
                    <a:lumMod val="60000"/>
                    <a:lumOff val="40000"/>
                  </a:schemeClr>
                </a:solidFill>
              </a:rPr>
              <a:t>LSTM</a:t>
            </a:r>
            <a:r>
              <a:rPr lang="en-US" sz="2400" dirty="0">
                <a:solidFill>
                  <a:schemeClr val="accent6">
                    <a:lumMod val="60000"/>
                    <a:lumOff val="40000"/>
                  </a:schemeClr>
                </a:solidFill>
              </a:rPr>
              <a:t> (Long Short-Term Memory) and </a:t>
            </a:r>
            <a:r>
              <a:rPr lang="en-US" sz="2400" b="1" dirty="0">
                <a:solidFill>
                  <a:schemeClr val="accent6">
                    <a:lumMod val="60000"/>
                    <a:lumOff val="40000"/>
                  </a:schemeClr>
                </a:solidFill>
              </a:rPr>
              <a:t>GRU</a:t>
            </a:r>
            <a:r>
              <a:rPr lang="en-US" sz="2400" dirty="0">
                <a:solidFill>
                  <a:schemeClr val="accent6">
                    <a:lumMod val="60000"/>
                    <a:lumOff val="40000"/>
                  </a:schemeClr>
                </a:solidFill>
              </a:rPr>
              <a:t> networks were invented!</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They are </a:t>
            </a:r>
            <a:r>
              <a:rPr lang="en-US" sz="2400" i="1" dirty="0">
                <a:solidFill>
                  <a:schemeClr val="accent6">
                    <a:lumMod val="60000"/>
                    <a:lumOff val="40000"/>
                  </a:schemeClr>
                </a:solidFill>
              </a:rPr>
              <a:t>special types of RNNs</a:t>
            </a:r>
            <a:r>
              <a:rPr lang="en-US" sz="2400" dirty="0">
                <a:solidFill>
                  <a:schemeClr val="accent6">
                    <a:lumMod val="60000"/>
                    <a:lumOff val="40000"/>
                  </a:schemeClr>
                </a:solidFill>
              </a:rPr>
              <a:t> that can </a:t>
            </a:r>
            <a:r>
              <a:rPr lang="en-US" sz="2400" b="1" dirty="0">
                <a:solidFill>
                  <a:schemeClr val="accent6">
                    <a:lumMod val="60000"/>
                    <a:lumOff val="40000"/>
                  </a:schemeClr>
                </a:solidFill>
              </a:rPr>
              <a:t>carry long-term information</a:t>
            </a:r>
            <a:r>
              <a:rPr lang="en-US" sz="2400" dirty="0">
                <a:solidFill>
                  <a:schemeClr val="accent6">
                    <a:lumMod val="60000"/>
                    <a:lumOff val="40000"/>
                  </a:schemeClr>
                </a:solidFill>
              </a:rPr>
              <a:t> much better.</a:t>
            </a:r>
          </a:p>
        </p:txBody>
      </p:sp>
    </p:spTree>
    <p:extLst>
      <p:ext uri="{BB962C8B-B14F-4D97-AF65-F5344CB8AC3E}">
        <p14:creationId xmlns:p14="http://schemas.microsoft.com/office/powerpoint/2010/main" val="145445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2B782-8D73-4DFE-FB56-FB2FE1EF1DF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7940FD-8392-47AC-BB64-BF04F0FCD513}"/>
              </a:ext>
            </a:extLst>
          </p:cNvPr>
          <p:cNvSpPr txBox="1"/>
          <p:nvPr/>
        </p:nvSpPr>
        <p:spPr>
          <a:xfrm>
            <a:off x="201168" y="706642"/>
            <a:ext cx="11064240" cy="3416320"/>
          </a:xfrm>
          <a:prstGeom prst="rect">
            <a:avLst/>
          </a:prstGeom>
          <a:noFill/>
        </p:spPr>
        <p:txBody>
          <a:bodyPr wrap="square">
            <a:spAutoFit/>
          </a:bodyPr>
          <a:lstStyle/>
          <a:p>
            <a:r>
              <a:rPr lang="en-US" sz="2400" b="1" dirty="0">
                <a:solidFill>
                  <a:schemeClr val="accent6">
                    <a:lumMod val="60000"/>
                    <a:lumOff val="40000"/>
                  </a:schemeClr>
                </a:solidFill>
              </a:rPr>
              <a:t>LSTM</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is a specific type of RNN (Recurrent Neural Network) designed to address the limitations of standard RNNs, particularly in handling </a:t>
            </a:r>
            <a:r>
              <a:rPr lang="en-US" sz="2400" b="1" dirty="0">
                <a:solidFill>
                  <a:schemeClr val="accent6">
                    <a:lumMod val="60000"/>
                    <a:lumOff val="40000"/>
                  </a:schemeClr>
                </a:solidFill>
              </a:rPr>
              <a:t>long-term dependencies in sequential data.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LSTMs use a more sophisticated architecture with "gates" to control the flow of information, allowing them to better </a:t>
            </a:r>
            <a:r>
              <a:rPr lang="en-US" sz="2400" b="1" dirty="0">
                <a:solidFill>
                  <a:schemeClr val="accent6">
                    <a:lumMod val="60000"/>
                    <a:lumOff val="40000"/>
                  </a:schemeClr>
                </a:solidFill>
              </a:rPr>
              <a:t>remember (and forget)</a:t>
            </a:r>
            <a:r>
              <a:rPr lang="en-US" sz="2400" dirty="0">
                <a:solidFill>
                  <a:schemeClr val="accent6">
                    <a:lumMod val="60000"/>
                    <a:lumOff val="40000"/>
                  </a:schemeClr>
                </a:solidFill>
              </a:rPr>
              <a:t> relevant information over long periods of time. </a:t>
            </a:r>
            <a:endParaRPr lang="en-IN" sz="2400" dirty="0">
              <a:solidFill>
                <a:schemeClr val="accent6">
                  <a:lumMod val="60000"/>
                  <a:lumOff val="40000"/>
                </a:schemeClr>
              </a:solidFill>
            </a:endParaRPr>
          </a:p>
        </p:txBody>
      </p:sp>
    </p:spTree>
    <p:extLst>
      <p:ext uri="{BB962C8B-B14F-4D97-AF65-F5344CB8AC3E}">
        <p14:creationId xmlns:p14="http://schemas.microsoft.com/office/powerpoint/2010/main" val="1335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B1DD-D26E-C95B-8E17-46F8C583012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0D0DACC-74B4-4805-B9BA-B6F1212446FF}"/>
              </a:ext>
            </a:extLst>
          </p:cNvPr>
          <p:cNvSpPr txBox="1"/>
          <p:nvPr/>
        </p:nvSpPr>
        <p:spPr>
          <a:xfrm>
            <a:off x="201168" y="423178"/>
            <a:ext cx="11064240" cy="2677656"/>
          </a:xfrm>
          <a:prstGeom prst="rect">
            <a:avLst/>
          </a:prstGeom>
          <a:noFill/>
        </p:spPr>
        <p:txBody>
          <a:bodyPr wrap="square">
            <a:spAutoFit/>
          </a:bodyPr>
          <a:lstStyle/>
          <a:p>
            <a:r>
              <a:rPr lang="en-US" sz="2400" b="1" dirty="0">
                <a:solidFill>
                  <a:schemeClr val="accent6">
                    <a:lumMod val="60000"/>
                    <a:lumOff val="40000"/>
                  </a:schemeClr>
                </a:solidFill>
              </a:rPr>
              <a:t>LSTM Components</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1. Forget Gate: </a:t>
            </a:r>
            <a:r>
              <a:rPr lang="en-US" sz="2400" dirty="0">
                <a:solidFill>
                  <a:schemeClr val="accent6">
                    <a:lumMod val="60000"/>
                    <a:lumOff val="40000"/>
                  </a:schemeClr>
                </a:solidFill>
              </a:rPr>
              <a:t>What to remove from memory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2. Input Gate: </a:t>
            </a:r>
            <a:r>
              <a:rPr lang="en-US" sz="2400" dirty="0">
                <a:solidFill>
                  <a:schemeClr val="accent6">
                    <a:lumMod val="60000"/>
                    <a:lumOff val="40000"/>
                  </a:schemeClr>
                </a:solidFill>
              </a:rPr>
              <a:t>What new information to store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Output Gate: </a:t>
            </a:r>
            <a:r>
              <a:rPr lang="en-US" sz="2400" dirty="0">
                <a:solidFill>
                  <a:schemeClr val="accent6">
                    <a:lumMod val="60000"/>
                    <a:lumOff val="40000"/>
                  </a:schemeClr>
                </a:solidFill>
              </a:rPr>
              <a:t>What to send as output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E784ED-F17C-5908-EF6F-2E4D66A7C17F}"/>
                  </a:ext>
                </a:extLst>
              </p:cNvPr>
              <p:cNvSpPr txBox="1"/>
              <p:nvPr/>
            </p:nvSpPr>
            <p:spPr>
              <a:xfrm>
                <a:off x="1764792" y="3519729"/>
                <a:ext cx="8165592" cy="2785314"/>
              </a:xfrm>
              <a:prstGeom prst="rect">
                <a:avLst/>
              </a:prstGeom>
              <a:noFill/>
            </p:spPr>
            <p:txBody>
              <a:bodyPr wrap="square">
                <a:spAutoFit/>
              </a:bodyPr>
              <a:lstStyle/>
              <a:p>
                <a:pPr>
                  <a:buNone/>
                </a:pPr>
                <a:r>
                  <a:rPr lang="en-US" sz="2400" b="1" dirty="0">
                    <a:solidFill>
                      <a:schemeClr val="accent6">
                        <a:lumMod val="60000"/>
                        <a:lumOff val="40000"/>
                      </a:schemeClr>
                    </a:solidFill>
                  </a:rPr>
                  <a:t>LSTM Key Equations</a:t>
                </a: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𝒇</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𝝈</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𝑾</m:t>
                            </m:r>
                          </m:e>
                          <m:sub>
                            <m:r>
                              <a:rPr lang="ar-AE" sz="2400" b="1" i="1">
                                <a:solidFill>
                                  <a:schemeClr val="accent6">
                                    <a:lumMod val="60000"/>
                                    <a:lumOff val="40000"/>
                                  </a:schemeClr>
                                </a:solidFill>
                                <a:latin typeface="Cambria Math" panose="02040503050406030204" pitchFamily="18" charset="0"/>
                              </a:rPr>
                              <m:t>𝒇</m:t>
                            </m:r>
                          </m:sub>
                        </m:sSub>
                        <m:r>
                          <a:rPr lang="ar-AE" sz="2400" b="1" i="0">
                            <a:solidFill>
                              <a:schemeClr val="accent6">
                                <a:lumMod val="60000"/>
                                <a:lumOff val="40000"/>
                              </a:schemeClr>
                            </a:solidFill>
                            <a:latin typeface="Cambria Math" panose="02040503050406030204" pitchFamily="18" charset="0"/>
                          </a:rPr>
                          <m:t>⋅</m:t>
                        </m:r>
                        <m:d>
                          <m:dPr>
                            <m:begChr m:val="["/>
                            <m:endChr m:val="]"/>
                            <m:sepChr m:val=","/>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r>
                                  <a:rPr lang="ar-AE" sz="2400" b="1" i="0">
                                    <a:solidFill>
                                      <a:schemeClr val="accent6">
                                        <a:lumMod val="60000"/>
                                        <a:lumOff val="40000"/>
                                      </a:schemeClr>
                                    </a:solidFill>
                                    <a:latin typeface="Cambria Math" panose="02040503050406030204" pitchFamily="18" charset="0"/>
                                  </a:rPr>
                                  <m:t>−</m:t>
                                </m:r>
                                <m:r>
                                  <a:rPr lang="ar-AE" sz="2400" b="1" i="0">
                                    <a:solidFill>
                                      <a:schemeClr val="accent6">
                                        <a:lumMod val="60000"/>
                                        <a:lumOff val="40000"/>
                                      </a:schemeClr>
                                    </a:solidFill>
                                    <a:latin typeface="Cambria Math" panose="02040503050406030204" pitchFamily="18" charset="0"/>
                                  </a:rPr>
                                  <m:t>𝟏</m:t>
                                </m:r>
                              </m:sub>
                            </m:sSub>
                            <m:r>
                              <a:rPr lang="en-US" sz="2400" b="1" i="1" smtClean="0">
                                <a:solidFill>
                                  <a:schemeClr val="accent6">
                                    <a:lumMod val="60000"/>
                                    <a:lumOff val="40000"/>
                                  </a:schemeClr>
                                </a:solidFill>
                                <a:latin typeface="Cambria Math" panose="02040503050406030204" pitchFamily="18" charset="0"/>
                              </a:rPr>
                              <m:t> </m:t>
                            </m:r>
                          </m:e>
                          <m:e>
                            <m:r>
                              <a:rPr lang="en-US" sz="2400" b="1" i="1" smtClean="0">
                                <a:solidFill>
                                  <a:schemeClr val="accent6">
                                    <a:lumMod val="60000"/>
                                    <a:lumOff val="40000"/>
                                  </a:schemeClr>
                                </a:solidFill>
                                <a:latin typeface="Cambria Math" panose="02040503050406030204" pitchFamily="18" charset="0"/>
                              </a:rPr>
                              <m:t> </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𝒙</m:t>
                                </m:r>
                              </m:e>
                              <m:sub>
                                <m:r>
                                  <a:rPr lang="ar-AE" sz="2400" b="1" i="1">
                                    <a:solidFill>
                                      <a:schemeClr val="accent6">
                                        <a:lumMod val="60000"/>
                                        <a:lumOff val="40000"/>
                                      </a:schemeClr>
                                    </a:solidFill>
                                    <a:latin typeface="Cambria Math" panose="02040503050406030204" pitchFamily="18" charset="0"/>
                                  </a:rPr>
                                  <m:t>𝒕</m:t>
                                </m:r>
                              </m:sub>
                            </m:sSub>
                          </m:e>
                        </m:d>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𝒃</m:t>
                            </m:r>
                          </m:e>
                          <m:sub>
                            <m:r>
                              <a:rPr lang="ar-AE" sz="2400" b="1" i="1">
                                <a:solidFill>
                                  <a:schemeClr val="accent6">
                                    <a:lumMod val="60000"/>
                                    <a:lumOff val="40000"/>
                                  </a:schemeClr>
                                </a:solidFill>
                                <a:latin typeface="Cambria Math" panose="02040503050406030204" pitchFamily="18" charset="0"/>
                              </a:rPr>
                              <m:t>𝒇</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forget gate equation</a:t>
                </a:r>
                <a:endParaRPr lang="ar-AE" sz="2400" dirty="0">
                  <a:solidFill>
                    <a:schemeClr val="accent6">
                      <a:lumMod val="60000"/>
                      <a:lumOff val="40000"/>
                    </a:schemeClr>
                  </a:solidFill>
                </a:endParaRPr>
              </a:p>
              <a:p>
                <a:pPr>
                  <a:buNone/>
                </a:pPr>
                <a:endParaRPr lang="en-US" sz="2400" b="1" i="1" dirty="0">
                  <a:solidFill>
                    <a:schemeClr val="accent6">
                      <a:lumMod val="60000"/>
                      <a:lumOff val="40000"/>
                    </a:schemeClr>
                  </a:solidFill>
                  <a:latin typeface="Cambria Math" panose="02040503050406030204" pitchFamily="18" charset="0"/>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𝒊</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𝝈</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𝑾</m:t>
                            </m:r>
                          </m:e>
                          <m:sub>
                            <m:r>
                              <a:rPr lang="ar-AE" sz="2400" b="1" i="1">
                                <a:solidFill>
                                  <a:schemeClr val="accent6">
                                    <a:lumMod val="60000"/>
                                    <a:lumOff val="40000"/>
                                  </a:schemeClr>
                                </a:solidFill>
                                <a:latin typeface="Cambria Math" panose="02040503050406030204" pitchFamily="18" charset="0"/>
                              </a:rPr>
                              <m:t>𝒊</m:t>
                            </m:r>
                          </m:sub>
                        </m:sSub>
                        <m:d>
                          <m:dPr>
                            <m:begChr m:val="["/>
                            <m:endChr m:val="]"/>
                            <m:sepChr m:val=","/>
                            <m:ctrlPr>
                              <a:rPr lang="ar-AE" sz="2400" b="1" i="1" smtClean="0">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r>
                                  <a:rPr lang="ar-AE" sz="2400" b="1" i="0">
                                    <a:solidFill>
                                      <a:schemeClr val="accent6">
                                        <a:lumMod val="60000"/>
                                        <a:lumOff val="40000"/>
                                      </a:schemeClr>
                                    </a:solidFill>
                                    <a:latin typeface="Cambria Math" panose="02040503050406030204" pitchFamily="18" charset="0"/>
                                  </a:rPr>
                                  <m:t>−</m:t>
                                </m:r>
                                <m:r>
                                  <a:rPr lang="ar-AE" sz="2400" b="1" i="0">
                                    <a:solidFill>
                                      <a:schemeClr val="accent6">
                                        <a:lumMod val="60000"/>
                                        <a:lumOff val="40000"/>
                                      </a:schemeClr>
                                    </a:solidFill>
                                    <a:latin typeface="Cambria Math" panose="02040503050406030204" pitchFamily="18" charset="0"/>
                                  </a:rPr>
                                  <m:t>𝟏</m:t>
                                </m:r>
                              </m:sub>
                            </m:sSub>
                            <m:r>
                              <a:rPr lang="en-US" sz="2400" b="1" i="1" smtClean="0">
                                <a:solidFill>
                                  <a:schemeClr val="accent6">
                                    <a:lumMod val="60000"/>
                                    <a:lumOff val="40000"/>
                                  </a:schemeClr>
                                </a:solidFill>
                                <a:latin typeface="Cambria Math" panose="02040503050406030204" pitchFamily="18" charset="0"/>
                              </a:rPr>
                              <m:t> </m:t>
                            </m:r>
                          </m:e>
                          <m:e>
                            <m:sSub>
                              <m:sSubPr>
                                <m:ctrlPr>
                                  <a:rPr lang="ar-AE" sz="2400" b="1" i="1">
                                    <a:solidFill>
                                      <a:schemeClr val="accent6">
                                        <a:lumMod val="60000"/>
                                        <a:lumOff val="40000"/>
                                      </a:schemeClr>
                                    </a:solidFill>
                                    <a:latin typeface="Cambria Math" panose="02040503050406030204" pitchFamily="18" charset="0"/>
                                  </a:rPr>
                                </m:ctrlPr>
                              </m:sSubPr>
                              <m:e>
                                <m:r>
                                  <a:rPr lang="en-US" sz="2400" b="1" i="1" smtClean="0">
                                    <a:solidFill>
                                      <a:schemeClr val="accent6">
                                        <a:lumMod val="60000"/>
                                        <a:lumOff val="40000"/>
                                      </a:schemeClr>
                                    </a:solidFill>
                                    <a:latin typeface="Cambria Math" panose="02040503050406030204" pitchFamily="18" charset="0"/>
                                  </a:rPr>
                                  <m:t> </m:t>
                                </m:r>
                                <m:r>
                                  <a:rPr lang="ar-AE" sz="2400" b="1" i="1">
                                    <a:solidFill>
                                      <a:schemeClr val="accent6">
                                        <a:lumMod val="60000"/>
                                        <a:lumOff val="40000"/>
                                      </a:schemeClr>
                                    </a:solidFill>
                                    <a:latin typeface="Cambria Math" panose="02040503050406030204" pitchFamily="18" charset="0"/>
                                  </a:rPr>
                                  <m:t>𝒙</m:t>
                                </m:r>
                              </m:e>
                              <m:sub>
                                <m:r>
                                  <a:rPr lang="ar-AE" sz="2400" b="1" i="1">
                                    <a:solidFill>
                                      <a:schemeClr val="accent6">
                                        <a:lumMod val="60000"/>
                                        <a:lumOff val="40000"/>
                                      </a:schemeClr>
                                    </a:solidFill>
                                    <a:latin typeface="Cambria Math" panose="02040503050406030204" pitchFamily="18" charset="0"/>
                                  </a:rPr>
                                  <m:t>𝒕</m:t>
                                </m:r>
                              </m:sub>
                            </m:sSub>
                          </m:e>
                        </m:d>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𝒃</m:t>
                            </m:r>
                          </m:e>
                          <m:sub>
                            <m:r>
                              <a:rPr lang="ar-AE" sz="2400" b="1" i="1">
                                <a:solidFill>
                                  <a:schemeClr val="accent6">
                                    <a:lumMod val="60000"/>
                                    <a:lumOff val="40000"/>
                                  </a:schemeClr>
                                </a:solidFill>
                                <a:latin typeface="Cambria Math" panose="02040503050406030204" pitchFamily="18" charset="0"/>
                              </a:rPr>
                              <m:t>𝒊</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input gate equation</a:t>
                </a:r>
                <a:endParaRPr lang="ar-AE" sz="2400" dirty="0">
                  <a:solidFill>
                    <a:schemeClr val="accent6">
                      <a:lumMod val="60000"/>
                      <a:lumOff val="40000"/>
                    </a:schemeClr>
                  </a:solidFill>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𝒇</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smtClean="0">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r>
                          <a:rPr lang="ar-AE" sz="2400" b="1" i="1">
                            <a:solidFill>
                              <a:schemeClr val="accent6">
                                <a:lumMod val="60000"/>
                                <a:lumOff val="40000"/>
                              </a:schemeClr>
                            </a:solidFill>
                            <a:latin typeface="Cambria Math" panose="02040503050406030204" pitchFamily="18" charset="0"/>
                          </a:rPr>
                          <m:t>−</m:t>
                        </m:r>
                        <m:r>
                          <a:rPr lang="ar-AE" sz="2400" b="1" i="1">
                            <a:solidFill>
                              <a:schemeClr val="accent6">
                                <a:lumMod val="60000"/>
                                <a:lumOff val="40000"/>
                              </a:schemeClr>
                            </a:solidFill>
                            <a:latin typeface="Cambria Math" panose="02040503050406030204" pitchFamily="18" charset="0"/>
                          </a:rPr>
                          <m:t>𝟏</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𝒊</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smtClean="0">
                            <a:solidFill>
                              <a:schemeClr val="accent6">
                                <a:lumMod val="60000"/>
                                <a:lumOff val="40000"/>
                              </a:schemeClr>
                            </a:solidFill>
                            <a:latin typeface="Cambria Math" panose="02040503050406030204" pitchFamily="18" charset="0"/>
                          </a:rPr>
                        </m:ctrlPr>
                      </m:sSubPr>
                      <m:e>
                        <m:acc>
                          <m:accPr>
                            <m:chr m:val="̃"/>
                            <m:ctrlPr>
                              <a:rPr lang="ar-AE" sz="2400" b="1" i="1">
                                <a:solidFill>
                                  <a:schemeClr val="accent6">
                                    <a:lumMod val="60000"/>
                                    <a:lumOff val="40000"/>
                                  </a:schemeClr>
                                </a:solidFill>
                                <a:latin typeface="Cambria Math" panose="02040503050406030204" pitchFamily="18" charset="0"/>
                              </a:rPr>
                            </m:ctrlPr>
                          </m:accPr>
                          <m:e>
                            <m:r>
                              <a:rPr lang="ar-AE" sz="2400" b="1" i="1">
                                <a:solidFill>
                                  <a:schemeClr val="accent6">
                                    <a:lumMod val="60000"/>
                                    <a:lumOff val="40000"/>
                                  </a:schemeClr>
                                </a:solidFill>
                                <a:latin typeface="Cambria Math" panose="02040503050406030204" pitchFamily="18" charset="0"/>
                              </a:rPr>
                              <m:t>𝒄</m:t>
                            </m:r>
                          </m:e>
                        </m:acc>
                      </m:e>
                      <m:sub>
                        <m:r>
                          <a:rPr lang="ar-AE" sz="2400" b="1" i="1">
                            <a:solidFill>
                              <a:schemeClr val="accent6">
                                <a:lumMod val="60000"/>
                                <a:lumOff val="40000"/>
                              </a:schemeClr>
                            </a:solidFill>
                            <a:latin typeface="Cambria Math" panose="02040503050406030204" pitchFamily="18" charset="0"/>
                          </a:rPr>
                          <m:t>𝒕</m:t>
                        </m:r>
                      </m:sub>
                    </m:sSub>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input gate equation</a:t>
                </a:r>
              </a:p>
              <a:p>
                <a:pPr>
                  <a:buNone/>
                </a:pPr>
                <a:endParaRPr lang="ar-AE" sz="2400" b="1" dirty="0">
                  <a:solidFill>
                    <a:schemeClr val="accent6">
                      <a:lumMod val="60000"/>
                      <a:lumOff val="40000"/>
                    </a:schemeClr>
                  </a:solidFill>
                </a:endParaRPr>
              </a:p>
              <a:p>
                <a:pPr>
                  <a:buNone/>
                </a:pPr>
                <a14:m>
                  <m:oMath xmlns:m="http://schemas.openxmlformats.org/officeDocument/2006/math">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𝒉</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𝒐</m:t>
                        </m:r>
                      </m:e>
                      <m:sub>
                        <m:r>
                          <a:rPr lang="ar-AE" sz="2400" b="1" i="1">
                            <a:solidFill>
                              <a:schemeClr val="accent6">
                                <a:lumMod val="60000"/>
                                <a:lumOff val="40000"/>
                              </a:schemeClr>
                            </a:solidFill>
                            <a:latin typeface="Cambria Math" panose="02040503050406030204" pitchFamily="18" charset="0"/>
                          </a:rPr>
                          <m:t>𝒕</m:t>
                        </m:r>
                      </m:sub>
                    </m:sSub>
                    <m:r>
                      <a:rPr lang="ar-AE" sz="2400" b="1" i="0">
                        <a:solidFill>
                          <a:schemeClr val="accent6">
                            <a:lumMod val="60000"/>
                            <a:lumOff val="40000"/>
                          </a:schemeClr>
                        </a:solidFill>
                        <a:latin typeface="Cambria Math" panose="02040503050406030204" pitchFamily="18" charset="0"/>
                      </a:rPr>
                      <m:t>⋅</m:t>
                    </m:r>
                    <m:r>
                      <a:rPr lang="en-US" sz="2400" b="1" i="0">
                        <a:solidFill>
                          <a:schemeClr val="accent6">
                            <a:lumMod val="60000"/>
                            <a:lumOff val="40000"/>
                          </a:schemeClr>
                        </a:solidFill>
                        <a:latin typeface="Cambria Math" panose="02040503050406030204" pitchFamily="18" charset="0"/>
                      </a:rPr>
                      <m:t>𝐭𝐚𝐧𝐡</m:t>
                    </m:r>
                    <m:r>
                      <a:rPr lang="en-US" sz="2400" b="1" i="0">
                        <a:solidFill>
                          <a:schemeClr val="accent6">
                            <a:lumMod val="60000"/>
                            <a:lumOff val="40000"/>
                          </a:schemeClr>
                        </a:solidFill>
                        <a:latin typeface="Cambria Math" panose="02040503050406030204" pitchFamily="18" charset="0"/>
                      </a:rPr>
                      <m:t>⁡</m:t>
                    </m:r>
                    <m:d>
                      <m:dPr>
                        <m:ctrlPr>
                          <a:rPr lang="ar-AE" sz="2400" b="1" i="1">
                            <a:solidFill>
                              <a:schemeClr val="accent6">
                                <a:lumMod val="60000"/>
                                <a:lumOff val="40000"/>
                              </a:schemeClr>
                            </a:solidFill>
                            <a:latin typeface="Cambria Math" panose="02040503050406030204" pitchFamily="18" charset="0"/>
                          </a:rPr>
                        </m:ctrlPr>
                      </m:dPr>
                      <m:e>
                        <m:sSub>
                          <m:sSubPr>
                            <m:ctrlPr>
                              <a:rPr lang="ar-AE" sz="2400" b="1" i="1">
                                <a:solidFill>
                                  <a:schemeClr val="accent6">
                                    <a:lumMod val="60000"/>
                                    <a:lumOff val="40000"/>
                                  </a:schemeClr>
                                </a:solidFill>
                                <a:latin typeface="Cambria Math" panose="02040503050406030204" pitchFamily="18" charset="0"/>
                              </a:rPr>
                            </m:ctrlPr>
                          </m:sSubPr>
                          <m:e>
                            <m:r>
                              <a:rPr lang="ar-AE" sz="2400" b="1" i="1">
                                <a:solidFill>
                                  <a:schemeClr val="accent6">
                                    <a:lumMod val="60000"/>
                                    <a:lumOff val="40000"/>
                                  </a:schemeClr>
                                </a:solidFill>
                                <a:latin typeface="Cambria Math" panose="02040503050406030204" pitchFamily="18" charset="0"/>
                              </a:rPr>
                              <m:t>𝒄</m:t>
                            </m:r>
                          </m:e>
                          <m:sub>
                            <m:r>
                              <a:rPr lang="ar-AE" sz="2400" b="1" i="1">
                                <a:solidFill>
                                  <a:schemeClr val="accent6">
                                    <a:lumMod val="60000"/>
                                    <a:lumOff val="40000"/>
                                  </a:schemeClr>
                                </a:solidFill>
                                <a:latin typeface="Cambria Math" panose="02040503050406030204" pitchFamily="18" charset="0"/>
                              </a:rPr>
                              <m:t>𝒕</m:t>
                            </m:r>
                          </m:sub>
                        </m:sSub>
                      </m:e>
                    </m:d>
                  </m:oMath>
                </a14:m>
                <a:r>
                  <a:rPr lang="en-US" sz="2400" b="1" dirty="0">
                    <a:solidFill>
                      <a:schemeClr val="accent6">
                        <a:lumMod val="60000"/>
                        <a:lumOff val="40000"/>
                      </a:schemeClr>
                    </a:solidFill>
                  </a:rPr>
                  <a:t>                         </a:t>
                </a:r>
                <a:r>
                  <a:rPr lang="en-US" sz="2400" dirty="0">
                    <a:solidFill>
                      <a:schemeClr val="accent6">
                        <a:lumMod val="60000"/>
                        <a:lumOff val="40000"/>
                      </a:schemeClr>
                    </a:solidFill>
                  </a:rPr>
                  <a:t>-&gt; output gate equation</a:t>
                </a:r>
                <a:endParaRPr lang="ar-AE" sz="2400" dirty="0">
                  <a:solidFill>
                    <a:schemeClr val="accent6">
                      <a:lumMod val="60000"/>
                      <a:lumOff val="40000"/>
                    </a:schemeClr>
                  </a:solidFill>
                </a:endParaRPr>
              </a:p>
            </p:txBody>
          </p:sp>
        </mc:Choice>
        <mc:Fallback xmlns="">
          <p:sp>
            <p:nvSpPr>
              <p:cNvPr id="3" name="TextBox 2">
                <a:extLst>
                  <a:ext uri="{FF2B5EF4-FFF2-40B4-BE49-F238E27FC236}">
                    <a16:creationId xmlns:a16="http://schemas.microsoft.com/office/drawing/2014/main" id="{41E784ED-F17C-5908-EF6F-2E4D66A7C17F}"/>
                  </a:ext>
                </a:extLst>
              </p:cNvPr>
              <p:cNvSpPr txBox="1">
                <a:spLocks noRot="1" noChangeAspect="1" noMove="1" noResize="1" noEditPoints="1" noAdjustHandles="1" noChangeArrowheads="1" noChangeShapeType="1" noTextEdit="1"/>
              </p:cNvSpPr>
              <p:nvPr/>
            </p:nvSpPr>
            <p:spPr>
              <a:xfrm>
                <a:off x="1764792" y="3519729"/>
                <a:ext cx="8165592" cy="2785314"/>
              </a:xfrm>
              <a:prstGeom prst="rect">
                <a:avLst/>
              </a:prstGeom>
              <a:blipFill>
                <a:blip r:embed="rId3"/>
                <a:stretch>
                  <a:fillRect l="-1195" t="-1751" b="-2407"/>
                </a:stretch>
              </a:blipFill>
            </p:spPr>
            <p:txBody>
              <a:bodyPr/>
              <a:lstStyle/>
              <a:p>
                <a:r>
                  <a:rPr lang="en-US">
                    <a:noFill/>
                  </a:rPr>
                  <a:t> </a:t>
                </a:r>
              </a:p>
            </p:txBody>
          </p:sp>
        </mc:Fallback>
      </mc:AlternateContent>
    </p:spTree>
    <p:extLst>
      <p:ext uri="{BB962C8B-B14F-4D97-AF65-F5344CB8AC3E}">
        <p14:creationId xmlns:p14="http://schemas.microsoft.com/office/powerpoint/2010/main" val="1159075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91895B-CCF8-A3DA-98E6-C7933EA32E98}"/>
              </a:ext>
            </a:extLst>
          </p:cNvPr>
          <p:cNvPicPr>
            <a:picLocks noChangeAspect="1"/>
          </p:cNvPicPr>
          <p:nvPr/>
        </p:nvPicPr>
        <p:blipFill>
          <a:blip r:embed="rId2"/>
          <a:stretch>
            <a:fillRect/>
          </a:stretch>
        </p:blipFill>
        <p:spPr>
          <a:xfrm>
            <a:off x="1744793" y="784663"/>
            <a:ext cx="8135485" cy="2819794"/>
          </a:xfrm>
          <a:prstGeom prst="rect">
            <a:avLst/>
          </a:prstGeom>
        </p:spPr>
      </p:pic>
      <p:sp>
        <p:nvSpPr>
          <p:cNvPr id="8" name="TextBox 7">
            <a:extLst>
              <a:ext uri="{FF2B5EF4-FFF2-40B4-BE49-F238E27FC236}">
                <a16:creationId xmlns:a16="http://schemas.microsoft.com/office/drawing/2014/main" id="{E4B67545-33EA-4D06-1428-254520650DF7}"/>
              </a:ext>
            </a:extLst>
          </p:cNvPr>
          <p:cNvSpPr txBox="1"/>
          <p:nvPr/>
        </p:nvSpPr>
        <p:spPr>
          <a:xfrm>
            <a:off x="2999232" y="4764024"/>
            <a:ext cx="3312061" cy="369332"/>
          </a:xfrm>
          <a:prstGeom prst="rect">
            <a:avLst/>
          </a:prstGeom>
          <a:noFill/>
        </p:spPr>
        <p:txBody>
          <a:bodyPr wrap="none" rtlCol="0">
            <a:spAutoFit/>
          </a:bodyPr>
          <a:lstStyle/>
          <a:p>
            <a:r>
              <a:rPr lang="en-US" dirty="0">
                <a:solidFill>
                  <a:schemeClr val="accent6">
                    <a:lumMod val="60000"/>
                    <a:lumOff val="40000"/>
                  </a:schemeClr>
                </a:solidFill>
              </a:rPr>
              <a:t>Source: internet (</a:t>
            </a:r>
            <a:r>
              <a:rPr lang="en-US" dirty="0" err="1">
                <a:solidFill>
                  <a:schemeClr val="accent6">
                    <a:lumMod val="60000"/>
                    <a:lumOff val="40000"/>
                  </a:schemeClr>
                </a:solidFill>
              </a:rPr>
              <a:t>analyticsvidhya</a:t>
            </a:r>
            <a:r>
              <a:rPr lang="en-US" dirty="0">
                <a:solidFill>
                  <a:schemeClr val="accent6">
                    <a:lumMod val="60000"/>
                    <a:lumOff val="40000"/>
                  </a:schemeClr>
                </a:solidFill>
              </a:rPr>
              <a:t>)</a:t>
            </a:r>
          </a:p>
        </p:txBody>
      </p:sp>
    </p:spTree>
    <p:extLst>
      <p:ext uri="{BB962C8B-B14F-4D97-AF65-F5344CB8AC3E}">
        <p14:creationId xmlns:p14="http://schemas.microsoft.com/office/powerpoint/2010/main" val="366625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E53B-D882-F803-9DA1-A6508A034CC1}"/>
            </a:ext>
          </a:extLst>
        </p:cNvPr>
        <p:cNvGrpSpPr/>
        <p:nvPr/>
      </p:nvGrpSpPr>
      <p:grpSpPr>
        <a:xfrm>
          <a:off x="0" y="0"/>
          <a:ext cx="0" cy="0"/>
          <a:chOff x="0" y="0"/>
          <a:chExt cx="0" cy="0"/>
        </a:xfrm>
      </p:grpSpPr>
    </p:spTree>
    <p:extLst>
      <p:ext uri="{BB962C8B-B14F-4D97-AF65-F5344CB8AC3E}">
        <p14:creationId xmlns:p14="http://schemas.microsoft.com/office/powerpoint/2010/main" val="344303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2090</TotalTime>
  <Words>816</Words>
  <Application>Microsoft Office PowerPoint</Application>
  <PresentationFormat>Widescreen</PresentationFormat>
  <Paragraphs>78</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Cambria Math</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246</cp:revision>
  <dcterms:created xsi:type="dcterms:W3CDTF">2025-09-22T02:44:38Z</dcterms:created>
  <dcterms:modified xsi:type="dcterms:W3CDTF">2026-05-09T08:12:04Z</dcterms:modified>
</cp:coreProperties>
</file>