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57" r:id="rId3"/>
    <p:sldId id="278" r:id="rId4"/>
    <p:sldId id="279" r:id="rId5"/>
    <p:sldId id="277" r:id="rId6"/>
    <p:sldId id="281" r:id="rId7"/>
    <p:sldId id="282" r:id="rId8"/>
    <p:sldId id="280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63E684-AFCD-CA74-D7EC-F29DA051867F}"/>
              </a:ext>
            </a:extLst>
          </p:cNvPr>
          <p:cNvSpPr txBox="1"/>
          <p:nvPr/>
        </p:nvSpPr>
        <p:spPr>
          <a:xfrm>
            <a:off x="1271016" y="2414016"/>
            <a:ext cx="783028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 </a:t>
            </a:r>
          </a:p>
          <a:p>
            <a:pPr algn="ctr">
              <a:buNone/>
            </a:pP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(NER)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FE506-3FCF-27B0-D561-24C74E585066}"/>
              </a:ext>
            </a:extLst>
          </p:cNvPr>
          <p:cNvSpPr txBox="1"/>
          <p:nvPr/>
        </p:nvSpPr>
        <p:spPr>
          <a:xfrm>
            <a:off x="0" y="111728"/>
            <a:ext cx="119009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NER?</a:t>
            </a:r>
          </a:p>
          <a:p>
            <a:pPr>
              <a:buNone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sequence labeling task in NLP where a model identifies and classifies </a:t>
            </a: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entities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text into predefined categories such as: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4A3DC-4CB4-1465-8FA0-09BF13DF395C}"/>
              </a:ext>
            </a:extLst>
          </p:cNvPr>
          <p:cNvSpPr txBox="1"/>
          <p:nvPr/>
        </p:nvSpPr>
        <p:spPr>
          <a:xfrm>
            <a:off x="146304" y="2110246"/>
            <a:ext cx="113477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 Doe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met the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 Secretary-General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York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April 20, 2026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NER model would tag this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Loxford Doe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UN Secretary-General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ORGANIZATION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New York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April 20, 2026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FF5AA-3DAE-56B8-A848-5D04260D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DD7E5C-1D0D-376A-E6AC-DBF39E12D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987941"/>
              </p:ext>
            </p:extLst>
          </p:nvPr>
        </p:nvGraphicFramePr>
        <p:xfrm>
          <a:off x="1889760" y="672878"/>
          <a:ext cx="7510272" cy="3200400"/>
        </p:xfrm>
        <a:graphic>
          <a:graphicData uri="http://schemas.openxmlformats.org/drawingml/2006/table">
            <a:tbl>
              <a:tblPr/>
              <a:tblGrid>
                <a:gridCol w="3130296">
                  <a:extLst>
                    <a:ext uri="{9D8B030D-6E8A-4147-A177-3AD203B41FA5}">
                      <a16:colId xmlns:a16="http://schemas.microsoft.com/office/drawing/2014/main" val="583976427"/>
                    </a:ext>
                  </a:extLst>
                </a:gridCol>
                <a:gridCol w="4379976">
                  <a:extLst>
                    <a:ext uri="{9D8B030D-6E8A-4147-A177-3AD203B41FA5}">
                      <a16:colId xmlns:a16="http://schemas.microsoft.com/office/drawing/2014/main" val="355948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08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Person (PER)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Elon Musk, Mahatma Gandhi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74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Organization (ORG)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Google, United Nations, ISRO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79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Location (LOC/GPE)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Delhi, Himalayas, Pacific Ocean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050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Date/Time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15 August 1947, next Monday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56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Money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₹500 crore, $1 billion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92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Miscellaneous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Olympic Games, Nobel Prize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459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77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948CC-EF27-6495-4CC8-BFE3E7AA1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0C3FD-6191-DF3B-AB5E-CC361C392DEE}"/>
              </a:ext>
            </a:extLst>
          </p:cNvPr>
          <p:cNvSpPr txBox="1"/>
          <p:nvPr/>
        </p:nvSpPr>
        <p:spPr>
          <a:xfrm>
            <a:off x="82296" y="84492"/>
            <a:ext cx="11027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is NER Formulated?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NER is typically framed as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sequence labeling 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token in a sentence gets a label using schemes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BIO tagging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 Doe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met the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 Secretary-General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York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April 20, 2026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C7920C-98B7-A03B-771A-2734526AFB82}"/>
              </a:ext>
            </a:extLst>
          </p:cNvPr>
          <p:cNvSpPr txBox="1"/>
          <p:nvPr/>
        </p:nvSpPr>
        <p:spPr>
          <a:xfrm>
            <a:off x="717804" y="2392816"/>
            <a:ext cx="70088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  →  B-PER   (Beginning of a Person entity)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      →  I-PER   (Inside a Person entity)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       →  O       (Outside any entity)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      →  O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        →  B-ORG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Secretary →  I-ORG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   →  I-ORG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       →  O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      →  B-LOC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York      →  I-LOC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E74646-BB93-E9A2-1BF8-392F7C9E22AD}"/>
              </a:ext>
            </a:extLst>
          </p:cNvPr>
          <p:cNvSpPr txBox="1"/>
          <p:nvPr/>
        </p:nvSpPr>
        <p:spPr>
          <a:xfrm>
            <a:off x="4370832" y="4701140"/>
            <a:ext cx="73197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NER uses architectures like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BiLSTM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-CRF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transformer-based models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fine-tuned on annotated corpora (like CoNLL-2003).</a:t>
            </a:r>
          </a:p>
        </p:txBody>
      </p:sp>
    </p:spTree>
    <p:extLst>
      <p:ext uri="{BB962C8B-B14F-4D97-AF65-F5344CB8AC3E}">
        <p14:creationId xmlns:p14="http://schemas.microsoft.com/office/powerpoint/2010/main" val="184666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ACFF-3F89-7683-67ED-21AF0A74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B1DFA26-418A-ADF9-06CE-82204C84E02C}"/>
              </a:ext>
            </a:extLst>
          </p:cNvPr>
          <p:cNvSpPr txBox="1"/>
          <p:nvPr/>
        </p:nvSpPr>
        <p:spPr>
          <a:xfrm>
            <a:off x="182880" y="382012"/>
            <a:ext cx="1115568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NER?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NER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foundational building block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almost every serious NLP pipeline.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Here's why it matters: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Extraction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Raw text is unstructured. NER converts it into structured data — e.g., extracting all company names and dates from thousands of news articles automatically.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Question Answering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ask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"Who founded Apple?"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system uses NER to identify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Apple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 an ORG and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Steve Jobs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 the answer entity.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Document Summarization &amp; Indexing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Automatically tag documents by the people, organizations, and locations they mention — enabling smarter filtering and retrieval.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19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19D2-A68A-33AE-2DD2-4AB738EE2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FA15F1-1A85-1715-6627-7FE29DE07564}"/>
              </a:ext>
            </a:extLst>
          </p:cNvPr>
          <p:cNvSpPr txBox="1"/>
          <p:nvPr/>
        </p:nvSpPr>
        <p:spPr>
          <a:xfrm>
            <a:off x="146304" y="1177540"/>
            <a:ext cx="111556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Knowledge Graph Construction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NER identifies entities that become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knowledge graphs (like Google's Knowledge Panel), enabling reasoning over relationships.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Healthcare NLP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drug names, diseases, dosages, and symptoms from clinical notes (a specialized form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biomedical NER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Finance &amp; Legal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party names, monetary amounts, dates, and clauses from contracts or financial reports at scale.</a:t>
            </a:r>
          </a:p>
        </p:txBody>
      </p:sp>
    </p:spTree>
    <p:extLst>
      <p:ext uri="{BB962C8B-B14F-4D97-AF65-F5344CB8AC3E}">
        <p14:creationId xmlns:p14="http://schemas.microsoft.com/office/powerpoint/2010/main" val="233913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AF99-A1EA-2AD1-E099-3832DC31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67A028C-4F0C-FFE9-F251-EA5F2E1AF3E5}"/>
              </a:ext>
            </a:extLst>
          </p:cNvPr>
          <p:cNvSpPr txBox="1"/>
          <p:nvPr/>
        </p:nvSpPr>
        <p:spPr>
          <a:xfrm>
            <a:off x="676656" y="757148"/>
            <a:ext cx="840333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Evolution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Rule-Based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learning from data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HMM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global sequence modeling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CRF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automatic feature learning (Conditional Random Field)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BiLSTM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CRF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pre-training &amp; self-attention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BERT fine-tuned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zero-shot generalization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(GPT, Claude,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426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CCC4-64CE-272B-B6DB-5EE9DE4C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20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1131</TotalTime>
  <Words>487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181</cp:revision>
  <dcterms:created xsi:type="dcterms:W3CDTF">2025-09-22T02:44:38Z</dcterms:created>
  <dcterms:modified xsi:type="dcterms:W3CDTF">2026-05-10T09:24:53Z</dcterms:modified>
</cp:coreProperties>
</file>