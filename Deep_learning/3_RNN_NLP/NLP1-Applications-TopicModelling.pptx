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8" r:id="rId4"/>
    <p:sldId id="257" r:id="rId5"/>
    <p:sldId id="259" r:id="rId6"/>
    <p:sldId id="260" r:id="rId7"/>
    <p:sldId id="264" r:id="rId8"/>
    <p:sldId id="265" r:id="rId9"/>
    <p:sldId id="266" r:id="rId10"/>
    <p:sldId id="267" r:id="rId11"/>
    <p:sldId id="268" r:id="rId12"/>
    <p:sldId id="261" r:id="rId13"/>
    <p:sldId id="269" r:id="rId14"/>
    <p:sldId id="26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69" autoAdjust="0"/>
    <p:restoredTop sz="94660"/>
  </p:normalViewPr>
  <p:slideViewPr>
    <p:cSldViewPr snapToGrid="0">
      <p:cViewPr varScale="1">
        <p:scale>
          <a:sx n="111" d="100"/>
          <a:sy n="111" d="100"/>
        </p:scale>
        <p:origin x="30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27:53.330"/>
    </inkml:context>
    <inkml:brush xml:id="br0">
      <inkml:brushProperty name="width" value="0.1" units="cm"/>
      <inkml:brushProperty name="height" value="0.1" units="cm"/>
      <inkml:brushProperty name="color" value="#00A0D7"/>
    </inkml:brush>
  </inkml:definitions>
  <inkml:trace contextRef="#ctx0" brushRef="#br0">1 910 24575,'16'2'0,"1"0"0,-1 1 0,0 1 0,0 0 0,0 1 0,-1 1 0,0 0 0,28 17 0,-22-12 0,1-1 0,0-1 0,29 8 0,146 42 0,-175-52 0,-1-2 0,2-1 0,-1 0 0,30 0 0,93-5 0,-58-2 0,1034 3 0,-1101 0 0,0-2 0,1 0 0,-1-1 0,32-10 0,74-34 0,-23 9 0,109-25 0,-12 5 0,-81 7 0,-14 5 0,-69 32 0,38-22 0,-42 19 0,57-20 0,166-59 0,-160 63 0,2 4 0,186-30 0,-239 52 0,50-14 0,-50 10 0,51-7 0,290-46 0,-72 9 0,298-37 0,48 4 0,-516 77 0,104-12 0,-142 5 0,-28 3 0,135-8 0,467 22 0,-309 4 0,384-3 0,-717 2 0,-1 2 0,1 2 0,63 18 0,-16-4 0,333 90 0,-395-102 0,0 1 0,-1 1 0,21 13 0,-1 0 0,2-3 0,17 9 0,-20-6 0,1-2 0,75 25 0,-60-24 0,507 170 0,-358-126 0,393 122 0,7-31 0,-557-145 0,-1 1 0,0 3 0,-1 2 0,52 28 0,30 16 0,136 48 0,-240-101 0,1 2 0,-1 0 0,-1 2 0,0 0 0,-1 2 0,-1 0 0,0 2 0,19 19 0,-12-10 0,-2 1 0,0 1 0,-2 1 0,-2 2 0,0 0 0,-2 1 0,16 36 0,-29-53 0,-2-6 0,-1 1 0,1-1 0,-2 1 0,6 21 0,-9-29 0,1 0 0,-1 0 0,0 0 0,0 0 0,0 0 0,0 1 0,0-1 0,-1 0 0,1 0 0,-1 0 0,1 0 0,-1 0 0,0 0 0,0 0 0,1 0 0,-1 0 0,-1 0 0,1 0 0,0-1 0,0 1 0,-1 0 0,1-1 0,-1 1 0,1-1 0,-1 1 0,0-1 0,0 0 0,1 0 0,-1 0 0,-3 1 0,-5 2 0,0 0 0,-1-1 0,0-1 0,0 0 0,1 0 0,-1-1 0,-19 0 0,-79-8 0,103 6 0,-19-3 0,0-1 0,1-2 0,-40-15 0,-15-5 0,4 8 0,13 4 0,-75-30 0,125 37 0,18 3 0,24 2 0,-30 3 0,50-3 0,1 2 0,-1 3 0,0 1 0,82 18 0,-97-12 0,1-1 0,0-1 0,0-2 0,1-2 0,-1-1 0,64-5 0,-94 2 0,-1 0 0,1-1 0,-1 0 0,0 0 0,1 0 0,-1 0 0,0-1 0,-1 0 0,1 0 0,0-1 0,-1 1 0,0-1 0,1 0 0,-1 0 0,-1 0 0,1 0 0,-1-1 0,4-5 0,5-11 0,-1 0 0,-1-1 0,8-25 0,-2 5 0,1 2 0,-2 10 0,-3 0 0,0-1 0,-2-1 0,-1 0 0,5-37 0,-11 45 45,2-1-1,11-32 1,6-28-1544,-18 60-5327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28:01.462"/>
    </inkml:context>
    <inkml:brush xml:id="br0">
      <inkml:brushProperty name="width" value="0.1" units="cm"/>
      <inkml:brushProperty name="height" value="0.1" units="cm"/>
      <inkml:brushProperty name="color" value="#00A0D7"/>
    </inkml:brush>
  </inkml:definitions>
  <inkml:trace contextRef="#ctx0" brushRef="#br0">1 806 24575,'0'-15'0,"0"0"0,1 0 0,1 0 0,1 0 0,0 0 0,1 1 0,0-1 0,1 1 0,1 0 0,0 0 0,1 1 0,0 0 0,1 0 0,1 1 0,18-21 0,-21 26 0,151-158 0,-138 149 0,1 0 0,0 1 0,1 1 0,1 1 0,1 0 0,44-16 0,331-92 0,-223 87 0,-106 23 0,68-21 0,-58 11 0,1 3 0,0 4 0,116-5 0,250 16 0,-233 6 0,2300-4 0,-2090 36 0,-358-27 0,110 5 0,-92-8 0,91 16 0,252 32 0,-233-35 0,-105-7 0,96 7 0,-64-9 0,195 39 0,-217-34 0,138 1 0,-68-7 0,534 4 0,-444-14 0,2085 2-1749,-1332 0 3498,-722 13-1749,-26 0 0,-220-13 0,12 0 0,67 9 0,489 51 0,-313-37 0,364 74 0,-350-49 0,-89-17 0,173 15 0,-358-42 0,1 2 0,63 17 0,75 35 0,-93-28 0,-12-6 0,471 176 0,-417-151 0,-74-30 0,76 38 0,92 82 0,-41-23 0,-140-92 0,-2 2 0,-1 2 0,-2 1 0,0 2 0,-2 1 0,54 69 0,0 16 0,113 196 0,-108-144 0,-66-131 0,-17-28 0,-2 1 0,1 0 0,6 15 0,92 247 0,-36-107 0,39 118 0,-96-246 0,-2 1 0,-2 1 0,-1-1 0,2 59 0,-7-79 0,0 0 0,1 1 0,2-2 0,0 1 0,9 23 0,9 32 0,-14-33 0,-2 0 0,2 43 0,-9-81 0,0 0 0,0 0 0,0 1 0,0-1 0,-1 0 0,1 0 0,-1 1 0,0-1 0,0 0 0,0 0 0,0 0 0,0 0 0,-1 0 0,1 0 0,-1 0 0,0 0 0,0-1 0,-4 5 0,2-4 0,0 0 0,0-1 0,0 1 0,0-1 0,0 0 0,0 0 0,-1 0 0,1-1 0,-1 1 0,0-1 0,-7 1 0,-11 0 0,0-2 0,1 0 0,-1-1 0,-30-6 0,42 5 0,-60-8 0,0-3 0,1-3 0,1-4 0,-91-37 0,136 48 0,0 0 0,-41-6 0,60 13 0,88 23 0,70 12 0,-125-27 0,42 14 0,-48-13 0,0-1 0,0 0 0,41 4 0,22-6 0,164-14 0,-234 7 0,1 0 0,0-2 0,-1 1 0,0-2 0,0 0 0,-1-1 0,0-1 0,0 0 0,20-15 0,10-12 0,52-54 0,-81 74 0,11-12-227,0-2-1,-2-1 1,-2 0-1,0-2 1,20-41-1,-29 48-6598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28:09.245"/>
    </inkml:context>
    <inkml:brush xml:id="br0">
      <inkml:brushProperty name="width" value="0.1" units="cm"/>
      <inkml:brushProperty name="height" value="0.1" units="cm"/>
      <inkml:brushProperty name="color" value="#00A0D7"/>
    </inkml:brush>
  </inkml:definitions>
  <inkml:trace contextRef="#ctx0" brushRef="#br0">14 177 24575,'-1'0'0,"1"0"0,-1 1 0,0-1 0,1 0 0,-1 0 0,1 1 0,-1-1 0,0 0 0,1 0 0,-1 1 0,1-1 0,-1 1 0,1-1 0,-1 0 0,1 1 0,-1-1 0,1 1 0,0-1 0,-1 1 0,1 0 0,0-1 0,-1 1 0,1-1 0,0 1 0,0-1 0,-1 1 0,1 0 0,0-1 0,0 1 0,0 0 0,0-1 0,0 1 0,0 0 0,0-1 0,0 1 0,0 0 0,0-1 0,0 1 0,1-1 0,-1 1 0,0 0 0,9 29 0,5-7 0,1-1 0,1 0 0,21 22 0,-27-32 0,36 42 0,139 177 0,-163-202 0,26 26 0,7 9 0,-29-33 0,36 37 0,-62-67 0,1 0 0,0-1 0,-1 1 0,1 0 0,0-1 0,0 1 0,0-1 0,0 1 0,0-1 0,0 1 0,0-1 0,0 1 0,0-1 0,0 0 0,0 0 0,0 1 0,0-1 0,0 0 0,0 0 0,0 0 0,0 0 0,0 0 0,0 0 0,0-1 0,0 1 0,0 0 0,0 0 0,0-1 0,0 1 0,0-1 0,0 1 0,0-1 0,-1 1 0,1-1 0,0 1 0,0-1 0,0 0 0,-1 0 0,1 1 0,0-1 0,-1 0 0,1 0 0,-1 0 0,1 0 0,-1 0 0,1-1 0,4-6 0,-1 0 0,0-1 0,-1 0 0,3-10 0,-3 11 0,5-23 0,-2 0 0,-1 0 0,-1-1 0,-1 0 0,-3-40 0,-1 40 0,2-1 0,1 1 0,1 0 0,16-60 0,-3 44 0,16-61 0,-19 54-682,27-70-1,-29 98-6143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28:10.834"/>
    </inkml:context>
    <inkml:brush xml:id="br0">
      <inkml:brushProperty name="width" value="0.1" units="cm"/>
      <inkml:brushProperty name="height" value="0.1" units="cm"/>
      <inkml:brushProperty name="color" value="#00A0D7"/>
    </inkml:brush>
  </inkml:definitions>
  <inkml:trace contextRef="#ctx0" brushRef="#br0">0 212 24575,'0'-4'0,"1"1"0,0-1 0,-1 0 0,1 0 0,1 1 0,-1-1 0,0 1 0,1-1 0,0 1 0,0-1 0,0 1 0,0 0 0,0 0 0,1 0 0,0 0 0,-1 0 0,1 1 0,0-1 0,0 1 0,0 0 0,6-3 0,5-3 0,0 1 0,0 0 0,29-8 0,147-44 0,-157 49 18,0 1-1,1 2 1,0 1-1,35-1 1,138 3-746,-159 4 3,30 1-6101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28:12.809"/>
    </inkml:context>
    <inkml:brush xml:id="br0">
      <inkml:brushProperty name="width" value="0.1" units="cm"/>
      <inkml:brushProperty name="height" value="0.1" units="cm"/>
      <inkml:brushProperty name="color" value="#00A0D7"/>
    </inkml:brush>
  </inkml:definitions>
  <inkml:trace contextRef="#ctx0" brushRef="#br0">3 0 24575,'-3'170'0,"6"182"0,1-317-1365,2-5-5461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28:16.120"/>
    </inkml:context>
    <inkml:brush xml:id="br0">
      <inkml:brushProperty name="width" value="0.1" units="cm"/>
      <inkml:brushProperty name="height" value="0.1" units="cm"/>
      <inkml:brushProperty name="color" value="#00A0D7"/>
    </inkml:brush>
  </inkml:definitions>
  <inkml:trace contextRef="#ctx0" brushRef="#br0">126 1 24423,'0'1166'0,"126"-1419"0,-252 506 0,0-506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28:17.943"/>
    </inkml:context>
    <inkml:brush xml:id="br0">
      <inkml:brushProperty name="width" value="0.1" units="cm"/>
      <inkml:brushProperty name="height" value="0.1" units="cm"/>
      <inkml:brushProperty name="color" value="#00A0D7"/>
    </inkml:brush>
  </inkml:definitions>
  <inkml:trace contextRef="#ctx0" brushRef="#br0">1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28:50.902"/>
    </inkml:context>
    <inkml:brush xml:id="br0">
      <inkml:brushProperty name="width" value="0.1" units="cm"/>
      <inkml:brushProperty name="height" value="0.1" units="cm"/>
      <inkml:brushProperty name="color" value="#00A0D7"/>
    </inkml:brush>
  </inkml:definitions>
  <inkml:trace contextRef="#ctx0" brushRef="#br0">8062 6763 24575,'1'0'0,"0"0"0,0 0 0,-1 1 0,1-1 0,0 0 0,-1 1 0,1-1 0,0 0 0,-1 1 0,1-1 0,0 1 0,-1-1 0,1 1 0,-1-1 0,1 1 0,-1 0 0,1-1 0,-1 1 0,1 0 0,-1-1 0,0 1 0,1 0 0,-1-1 0,0 1 0,0 0 0,1 0 0,-1-1 0,0 1 0,0 0 0,0 0 0,0 0 0,0-1 0,0 1 0,0 1 0,-4 29 0,-2-14 0,0-1 0,-1 0 0,-1 0 0,-1 0 0,-19 26 0,-63 68 0,74-91 0,-89 102 0,-178 155 0,278-270 0,-23 19 0,-1-1 0,0-2 0,-2-1 0,-41 21 0,-61 8 0,36-10 0,-106 28 0,124-44 0,-186 37 0,150-39 0,-11 2 0,0-7 0,-2-4 0,-137-5 0,-448-11 0,623-2 0,0-3 0,0-4 0,2-4 0,0-4 0,-108-40 0,93 26 0,36 12 0,1-2 0,1-3 0,-78-44 0,69 27 0,-258-170 0,203 113 0,-159-158 0,211 177 0,3-3 0,-121-179 0,157 202 0,-113-162 0,96 144 0,4-2 0,-51-107 0,85 154 0,-210-365 0,-76-151 0,189 245 0,44 108 0,-75-214 0,95 263 0,14 31 0,16 48 0,-44-98 0,-51-98 0,30 65 0,61 141 0,2 0 0,3-2 0,-24-122 0,31 124 0,-3 2 0,-39-93 0,31 89 0,-8-17 0,-20-59 0,-40-201 0,45 166 0,-5-10 0,39 147 0,1-1 0,2 0 0,-7-58 0,13 74 0,0 2 0,-1-1 0,-1 0 0,-11-22 0,8 21 0,2-1 0,-11-42 0,15 43 0,-4-26 0,-2 0 0,-22-65 0,15 62 0,2 0 0,3 0 0,-9-80 0,10 52 0,3 36 0,-1-60 0,9 19 0,-2-63 0,1 143 0,0-1 0,0 1 0,-1 0 0,1-1 0,-1 1 0,0 0 0,0 0 0,0 0 0,-1 0 0,1 0 0,-1 0 0,1 0 0,-1 0 0,0 0 0,0 1 0,0-1 0,-1 1 0,1 0 0,-1-1 0,-2-1 0,3 3 0,0 1 0,0-1 0,0 0 0,0 1 0,0 0 0,0-1 0,0 1 0,0 0 0,0 0 0,0 0 0,0 0 0,0 0 0,0 1 0,0-1 0,0 1 0,0-1 0,0 1 0,0 0 0,0-1 0,0 1 0,0 0 0,0 0 0,1 1 0,-1-1 0,0 0 0,1 1 0,-1-1 0,1 0 0,0 1 0,-1 0 0,1-1 0,-2 4 0,-13 20 0,0 0 0,1 0 0,-21 55 0,7-15 0,15-31 0,2 0 0,-14 63 0,20-70 0,0 1 0,-2-1 0,-2-1 0,0 1 0,-23 39 0,33-65 0,0 0 0,-1 0 0,1-1 0,0 1 0,-1 0 0,1 0 0,0-1 0,-1 1 0,1 0 0,-1-1 0,1 1 0,-1-1 0,0 1 0,1-1 0,-1 1 0,1-1 0,-1 1 0,0-1 0,0 1 0,1-1 0,-1 0 0,0 1 0,0-1 0,1 0 0,-1 0 0,0 0 0,0 0 0,0 1 0,1-1 0,-2 0 0,1-1 0,0 0 0,0 0 0,0-1 0,0 1 0,1 0 0,-1 0 0,0 0 0,1 0 0,-1-1 0,1 1 0,-1 0 0,1-1 0,0 1 0,-1 0 0,1-3 0,-3-56 0,5 41 0,1 1 0,1-1 0,0 0 0,2 1 0,0 0 0,11-22 0,3-1 0,39-58 0,-48 83 0,1 0 0,0 1 0,1 1 0,0-1 0,1 2 0,1 0 0,22-15 0,-29 23 0,0 0 0,1 0 0,-1 1 0,1 0 0,0 1 0,0 0 0,0 0 0,0 1 0,1 0 0,-1 1 0,0 0 0,1 1 0,-1-1 0,1 2 0,-1-1 0,1 2 0,9 1 0,0 3 0,-1 0 0,0 1 0,0 1 0,-1 0 0,0 2 0,0 0 0,19 15 0,99 97 0,-77-67 0,-12-8-1365,-28-28-5461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069F3E5-9A8D-4E6D-9702-4B92AE7BFC47}"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2442190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69F3E5-9A8D-4E6D-9702-4B92AE7BFC47}"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3716924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69F3E5-9A8D-4E6D-9702-4B92AE7BFC47}"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106501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069F3E5-9A8D-4E6D-9702-4B92AE7BFC47}"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1890324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069F3E5-9A8D-4E6D-9702-4B92AE7BFC47}" type="datetimeFigureOut">
              <a:rPr lang="en-US" smtClean="0"/>
              <a:t>4/19/2026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4239870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069F3E5-9A8D-4E6D-9702-4B92AE7BFC47}" type="datetimeFigureOut">
              <a:rPr lang="en-US" smtClean="0"/>
              <a:t>4/19/2026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4087121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69F3E5-9A8D-4E6D-9702-4B92AE7BFC47}" type="datetimeFigureOut">
              <a:rPr lang="en-US" smtClean="0"/>
              <a:t>4/19/2026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1644227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069F3E5-9A8D-4E6D-9702-4B92AE7BFC47}"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3241838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069F3E5-9A8D-4E6D-9702-4B92AE7BFC47}"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1864750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69F3E5-9A8D-4E6D-9702-4B92AE7BFC47}"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3108147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69F3E5-9A8D-4E6D-9702-4B92AE7BFC47}"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1374342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69F3E5-9A8D-4E6D-9702-4B92AE7BFC47}" type="datetimeFigureOut">
              <a:rPr lang="en-US" smtClean="0"/>
              <a:t>4/19/2026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0835EA-F59B-49B2-AAAD-BCB4B28F0AD2}" type="slidenum">
              <a:rPr lang="en-US" smtClean="0"/>
              <a:t>‹#›</a:t>
            </a:fld>
            <a:endParaRPr lang="en-US"/>
          </a:p>
        </p:txBody>
      </p:sp>
    </p:spTree>
    <p:extLst>
      <p:ext uri="{BB962C8B-B14F-4D97-AF65-F5344CB8AC3E}">
        <p14:creationId xmlns:p14="http://schemas.microsoft.com/office/powerpoint/2010/main" val="1700990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datacamp.com/blog/introduction-to-unsupervised-learnin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customXml" Target="../ink/ink5.xml"/><Relationship Id="rId18" Type="http://schemas.openxmlformats.org/officeDocument/2006/relationships/image" Target="../media/image11.png"/><Relationship Id="rId3" Type="http://schemas.openxmlformats.org/officeDocument/2006/relationships/image" Target="../media/image3.png"/><Relationship Id="rId7" Type="http://schemas.openxmlformats.org/officeDocument/2006/relationships/customXml" Target="../ink/ink2.xml"/><Relationship Id="rId12" Type="http://schemas.openxmlformats.org/officeDocument/2006/relationships/image" Target="../media/image8.png"/><Relationship Id="rId17" Type="http://schemas.openxmlformats.org/officeDocument/2006/relationships/customXml" Target="../ink/ink7.xml"/><Relationship Id="rId2" Type="http://schemas.openxmlformats.org/officeDocument/2006/relationships/hyperlink" Target="https://en.wikipedia.org/wiki/Singular_value" TargetMode="External"/><Relationship Id="rId16" Type="http://schemas.openxmlformats.org/officeDocument/2006/relationships/image" Target="../media/image10.png"/><Relationship Id="rId20"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customXml" Target="../ink/ink4.xml"/><Relationship Id="rId5" Type="http://schemas.openxmlformats.org/officeDocument/2006/relationships/customXml" Target="../ink/ink1.xml"/><Relationship Id="rId15" Type="http://schemas.openxmlformats.org/officeDocument/2006/relationships/customXml" Target="../ink/ink6.xml"/><Relationship Id="rId10" Type="http://schemas.openxmlformats.org/officeDocument/2006/relationships/image" Target="../media/image7.png"/><Relationship Id="rId19" Type="http://schemas.openxmlformats.org/officeDocument/2006/relationships/customXml" Target="../ink/ink8.xml"/><Relationship Id="rId4" Type="http://schemas.openxmlformats.org/officeDocument/2006/relationships/image" Target="../media/image4.png"/><Relationship Id="rId9" Type="http://schemas.openxmlformats.org/officeDocument/2006/relationships/customXml" Target="../ink/ink3.xml"/><Relationship Id="rId1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towardsdatascience.com/light-on-math-machine-learning-intuitive-guide-to-latent-dirichlet-allocation-437c81220158/"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t>GenAI</a:t>
            </a:r>
            <a:r>
              <a:rPr lang="en-US" dirty="0"/>
              <a:t> Module7 – NLP- applications-</a:t>
            </a:r>
            <a:r>
              <a:rPr lang="en-US" dirty="0" err="1"/>
              <a:t>TopicModelling</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48632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Source: https://www.analyticsvidhya.com/blog/2021/06/part-16-step-by-step-guide-to-master-nlp-topic-modelling-using-lsa/</a:t>
            </a:r>
          </a:p>
        </p:txBody>
      </p:sp>
    </p:spTree>
    <p:extLst>
      <p:ext uri="{BB962C8B-B14F-4D97-AF65-F5344CB8AC3E}">
        <p14:creationId xmlns:p14="http://schemas.microsoft.com/office/powerpoint/2010/main" val="3383970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1613"/>
          </a:xfrm>
        </p:spPr>
        <p:txBody>
          <a:bodyPr/>
          <a:lstStyle/>
          <a:p>
            <a:r>
              <a:rPr lang="en-US" dirty="0"/>
              <a:t>What is topic Modelling?</a:t>
            </a:r>
          </a:p>
        </p:txBody>
      </p:sp>
      <p:sp>
        <p:nvSpPr>
          <p:cNvPr id="3" name="Content Placeholder 2"/>
          <p:cNvSpPr>
            <a:spLocks noGrp="1"/>
          </p:cNvSpPr>
          <p:nvPr>
            <p:ph idx="1"/>
          </p:nvPr>
        </p:nvSpPr>
        <p:spPr/>
        <p:txBody>
          <a:bodyPr/>
          <a:lstStyle/>
          <a:p>
            <a:r>
              <a:rPr lang="en-US" dirty="0"/>
              <a:t>Topic modeling is a frequently used approach to discover hidden semantic patterns portrayed by a text corpus and automatically identify topics that exist inside it.</a:t>
            </a:r>
          </a:p>
          <a:p>
            <a:r>
              <a:rPr lang="en-US" dirty="0"/>
              <a:t>Namely, it’s a type of statistical modeling that leverages </a:t>
            </a:r>
            <a:r>
              <a:rPr lang="en-US" b="1" dirty="0">
                <a:hlinkClick r:id="rId2"/>
              </a:rPr>
              <a:t>unsupervised machine learning</a:t>
            </a:r>
            <a:r>
              <a:rPr lang="en-US" dirty="0"/>
              <a:t> to analyze and identify clusters or groups of similar words within a body of text.</a:t>
            </a:r>
          </a:p>
          <a:p>
            <a:r>
              <a:rPr lang="en-US" dirty="0"/>
              <a:t>For example, a topic modeling algorithm may be deployed to determine whether the contents of a document imply it’s an invoice, complaint, or contract.</a:t>
            </a:r>
          </a:p>
        </p:txBody>
      </p:sp>
    </p:spTree>
    <p:extLst>
      <p:ext uri="{BB962C8B-B14F-4D97-AF65-F5344CB8AC3E}">
        <p14:creationId xmlns:p14="http://schemas.microsoft.com/office/powerpoint/2010/main" val="128205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1613"/>
          </a:xfrm>
        </p:spPr>
        <p:txBody>
          <a:bodyPr/>
          <a:lstStyle/>
          <a:p>
            <a:r>
              <a:rPr lang="en-US" dirty="0"/>
              <a:t>Why topic Modelling?</a:t>
            </a:r>
          </a:p>
        </p:txBody>
      </p:sp>
      <p:sp>
        <p:nvSpPr>
          <p:cNvPr id="3" name="Content Placeholder 2"/>
          <p:cNvSpPr>
            <a:spLocks noGrp="1"/>
          </p:cNvSpPr>
          <p:nvPr>
            <p:ph idx="1"/>
          </p:nvPr>
        </p:nvSpPr>
        <p:spPr/>
        <p:txBody>
          <a:bodyPr/>
          <a:lstStyle/>
          <a:p>
            <a:r>
              <a:rPr lang="en-US" dirty="0"/>
              <a:t>The objective of analytics is to derive insights from data. </a:t>
            </a:r>
          </a:p>
          <a:p>
            <a:r>
              <a:rPr lang="en-US" dirty="0"/>
              <a:t>Traditionally, such data was structured,  i.e. rows and columns.</a:t>
            </a:r>
          </a:p>
          <a:p>
            <a:r>
              <a:rPr lang="en-US" dirty="0"/>
              <a:t>Today much of the data being generated is </a:t>
            </a:r>
            <a:r>
              <a:rPr lang="en-US" b="1" dirty="0"/>
              <a:t>unstructured</a:t>
            </a:r>
            <a:r>
              <a:rPr lang="en-US" dirty="0"/>
              <a:t>, meaning there’s no predefined data model. Unstructured data represents &gt; 70% of all new enterprise data. Furthermore, it’s growing faster than structured data. </a:t>
            </a:r>
          </a:p>
          <a:p>
            <a:r>
              <a:rPr lang="en-US" dirty="0"/>
              <a:t>So, we need new techniques to obtain relevant information from this unstructured data. This is where topic modelling comes.</a:t>
            </a:r>
          </a:p>
          <a:p>
            <a:endParaRPr lang="en-US" dirty="0"/>
          </a:p>
        </p:txBody>
      </p:sp>
    </p:spTree>
    <p:extLst>
      <p:ext uri="{BB962C8B-B14F-4D97-AF65-F5344CB8AC3E}">
        <p14:creationId xmlns:p14="http://schemas.microsoft.com/office/powerpoint/2010/main" val="1019040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1613"/>
          </a:xfrm>
        </p:spPr>
        <p:txBody>
          <a:bodyPr/>
          <a:lstStyle/>
          <a:p>
            <a:r>
              <a:rPr lang="en-US" dirty="0"/>
              <a:t>Topic Modelling Techniques: LSA and LDA</a:t>
            </a:r>
          </a:p>
        </p:txBody>
      </p:sp>
      <p:sp>
        <p:nvSpPr>
          <p:cNvPr id="3" name="Content Placeholder 2"/>
          <p:cNvSpPr>
            <a:spLocks noGrp="1"/>
          </p:cNvSpPr>
          <p:nvPr>
            <p:ph idx="1"/>
          </p:nvPr>
        </p:nvSpPr>
        <p:spPr>
          <a:xfrm>
            <a:off x="838200" y="1230006"/>
            <a:ext cx="10515600" cy="4351338"/>
          </a:xfrm>
        </p:spPr>
        <p:txBody>
          <a:bodyPr>
            <a:normAutofit/>
          </a:bodyPr>
          <a:lstStyle/>
          <a:p>
            <a:r>
              <a:rPr lang="en-US" dirty="0"/>
              <a:t>Two popular topic modeling techniques are Latent Semantic Analysis (LSA) and Latent </a:t>
            </a:r>
            <a:r>
              <a:rPr lang="en-US" dirty="0" err="1"/>
              <a:t>Dirichlet</a:t>
            </a:r>
            <a:r>
              <a:rPr lang="en-US" dirty="0"/>
              <a:t> Allocation (LDA)</a:t>
            </a:r>
          </a:p>
          <a:p>
            <a:pPr marL="0" indent="0">
              <a:buNone/>
            </a:pPr>
            <a:endParaRPr lang="en-US" dirty="0"/>
          </a:p>
        </p:txBody>
      </p:sp>
    </p:spTree>
    <p:extLst>
      <p:ext uri="{BB962C8B-B14F-4D97-AF65-F5344CB8AC3E}">
        <p14:creationId xmlns:p14="http://schemas.microsoft.com/office/powerpoint/2010/main" val="223797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3858" y="230902"/>
            <a:ext cx="8414857" cy="540886"/>
          </a:xfrm>
        </p:spPr>
        <p:txBody>
          <a:bodyPr>
            <a:normAutofit/>
          </a:bodyPr>
          <a:lstStyle/>
          <a:p>
            <a:r>
              <a:rPr lang="en-US" sz="3200" dirty="0"/>
              <a:t>Topic Modelling Techniques: LSA(see </a:t>
            </a:r>
            <a:r>
              <a:rPr lang="en-US" sz="3200" dirty="0" err="1"/>
              <a:t>jupyter</a:t>
            </a:r>
            <a:r>
              <a:rPr lang="en-US" sz="3200" dirty="0"/>
              <a:t> n/b)</a:t>
            </a:r>
          </a:p>
        </p:txBody>
      </p:sp>
      <p:sp>
        <p:nvSpPr>
          <p:cNvPr id="3" name="Content Placeholder 2"/>
          <p:cNvSpPr>
            <a:spLocks noGrp="1"/>
          </p:cNvSpPr>
          <p:nvPr>
            <p:ph idx="1"/>
          </p:nvPr>
        </p:nvSpPr>
        <p:spPr>
          <a:xfrm>
            <a:off x="838200" y="1230006"/>
            <a:ext cx="10515600" cy="4351338"/>
          </a:xfrm>
        </p:spPr>
        <p:txBody>
          <a:bodyPr>
            <a:normAutofit fontScale="92500" lnSpcReduction="10000"/>
          </a:bodyPr>
          <a:lstStyle/>
          <a:p>
            <a:r>
              <a:rPr lang="en-US" dirty="0"/>
              <a:t> LSA assumes words with similar meanings will appear in similar documents. It does so by constructing a matrix containing the word counts per document, where each row represents a unique word, and columns represent each document, and then using a Singular Value Decomposition (SVD) to reduce the number of rows while preserving the similarity structure among columns. SVD is a mathematical method that simplifies data while keeping its important features. It's used here to maintain the relationships between words and documents.</a:t>
            </a:r>
          </a:p>
          <a:p>
            <a:pPr marL="0" indent="0">
              <a:buNone/>
            </a:pPr>
            <a:r>
              <a:rPr lang="en-US" dirty="0"/>
              <a:t>To determine the similarity between documents, cosine similarity is used. This is a measure that calculates the cosine of the angle between two vectors, in this case, representing documents. A value close to 1 means the documents are very similar based on the words in them, whereas a value close to 0 means they're quite different.</a:t>
            </a:r>
          </a:p>
          <a:p>
            <a:endParaRPr lang="en-US" dirty="0"/>
          </a:p>
        </p:txBody>
      </p:sp>
    </p:spTree>
    <p:extLst>
      <p:ext uri="{BB962C8B-B14F-4D97-AF65-F5344CB8AC3E}">
        <p14:creationId xmlns:p14="http://schemas.microsoft.com/office/powerpoint/2010/main" val="2410084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8677C-6EF8-21B5-E59C-9CFCD9ADA4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29B22F-E73F-5AF4-2030-5E0385E4E57C}"/>
              </a:ext>
            </a:extLst>
          </p:cNvPr>
          <p:cNvSpPr>
            <a:spLocks noGrp="1"/>
          </p:cNvSpPr>
          <p:nvPr>
            <p:ph type="title"/>
          </p:nvPr>
        </p:nvSpPr>
        <p:spPr>
          <a:xfrm>
            <a:off x="203718" y="215834"/>
            <a:ext cx="3108650" cy="493291"/>
          </a:xfrm>
        </p:spPr>
        <p:txBody>
          <a:bodyPr>
            <a:noAutofit/>
          </a:bodyPr>
          <a:lstStyle/>
          <a:p>
            <a:r>
              <a:rPr lang="en-US" sz="2800" dirty="0"/>
              <a:t>LSA explained(p1):</a:t>
            </a:r>
          </a:p>
        </p:txBody>
      </p:sp>
      <p:sp>
        <p:nvSpPr>
          <p:cNvPr id="3" name="Content Placeholder 2">
            <a:extLst>
              <a:ext uri="{FF2B5EF4-FFF2-40B4-BE49-F238E27FC236}">
                <a16:creationId xmlns:a16="http://schemas.microsoft.com/office/drawing/2014/main" id="{9371CBED-654B-657B-0997-5C3BF4A73570}"/>
              </a:ext>
            </a:extLst>
          </p:cNvPr>
          <p:cNvSpPr>
            <a:spLocks noGrp="1"/>
          </p:cNvSpPr>
          <p:nvPr>
            <p:ph idx="1"/>
          </p:nvPr>
        </p:nvSpPr>
        <p:spPr>
          <a:xfrm>
            <a:off x="222377" y="858417"/>
            <a:ext cx="7102153" cy="5803640"/>
          </a:xfrm>
        </p:spPr>
        <p:txBody>
          <a:bodyPr>
            <a:normAutofit/>
          </a:bodyPr>
          <a:lstStyle/>
          <a:p>
            <a:pPr marL="0" indent="0">
              <a:buNone/>
            </a:pPr>
            <a:r>
              <a:rPr lang="en-US" sz="1800" b="0" i="0" dirty="0">
                <a:solidFill>
                  <a:srgbClr val="242424"/>
                </a:solidFill>
                <a:effectLst/>
                <a:latin typeface="source-serif-pro"/>
              </a:rPr>
              <a:t>Step1) we construct an </a:t>
            </a:r>
            <a:r>
              <a:rPr lang="en-US" sz="1800" b="0" i="1" dirty="0">
                <a:solidFill>
                  <a:srgbClr val="242424"/>
                </a:solidFill>
                <a:effectLst/>
                <a:latin typeface="source-serif-pro"/>
              </a:rPr>
              <a:t>m </a:t>
            </a:r>
            <a:r>
              <a:rPr lang="en-US" sz="1800" b="0" i="0" dirty="0">
                <a:solidFill>
                  <a:srgbClr val="242424"/>
                </a:solidFill>
                <a:effectLst/>
                <a:latin typeface="source-serif-pro"/>
              </a:rPr>
              <a:t>× </a:t>
            </a:r>
            <a:r>
              <a:rPr lang="en-US" sz="1800" b="0" i="1" dirty="0">
                <a:solidFill>
                  <a:srgbClr val="242424"/>
                </a:solidFill>
                <a:effectLst/>
                <a:latin typeface="source-serif-pro"/>
              </a:rPr>
              <a:t>n</a:t>
            </a:r>
            <a:r>
              <a:rPr lang="en-US" sz="1800" b="0" i="0" dirty="0">
                <a:solidFill>
                  <a:srgbClr val="242424"/>
                </a:solidFill>
                <a:effectLst/>
                <a:latin typeface="source-serif-pro"/>
              </a:rPr>
              <a:t> matrix </a:t>
            </a:r>
            <a:r>
              <a:rPr lang="en-US" sz="1800" b="0" i="1" dirty="0">
                <a:solidFill>
                  <a:srgbClr val="242424"/>
                </a:solidFill>
                <a:effectLst/>
                <a:latin typeface="source-serif-pro"/>
              </a:rPr>
              <a:t>A, where m is number of</a:t>
            </a:r>
            <a:r>
              <a:rPr lang="en-US" sz="1800" b="0" i="0" dirty="0">
                <a:solidFill>
                  <a:srgbClr val="242424"/>
                </a:solidFill>
                <a:effectLst/>
                <a:latin typeface="source-serif-pro"/>
              </a:rPr>
              <a:t> documents and </a:t>
            </a:r>
            <a:r>
              <a:rPr lang="en-US" sz="1800" b="0" i="1" dirty="0">
                <a:solidFill>
                  <a:srgbClr val="242424"/>
                </a:solidFill>
                <a:effectLst/>
                <a:latin typeface="source-serif-pro"/>
              </a:rPr>
              <a:t>n</a:t>
            </a:r>
            <a:r>
              <a:rPr lang="en-US" sz="1800" b="0" i="0" dirty="0">
                <a:solidFill>
                  <a:srgbClr val="242424"/>
                </a:solidFill>
                <a:effectLst/>
                <a:latin typeface="source-serif-pro"/>
              </a:rPr>
              <a:t> is number of words in our vocabulary</a:t>
            </a:r>
          </a:p>
          <a:p>
            <a:pPr marL="0" indent="0">
              <a:buNone/>
            </a:pPr>
            <a:r>
              <a:rPr lang="en-US" sz="1800" b="0" i="0" dirty="0">
                <a:solidFill>
                  <a:srgbClr val="242424"/>
                </a:solidFill>
                <a:effectLst/>
                <a:latin typeface="source-serif-pro"/>
              </a:rPr>
              <a:t>- In the simplest version of LSA, each entry can simply be a raw count of the number of times the </a:t>
            </a:r>
            <a:r>
              <a:rPr lang="en-US" sz="1800" b="0" i="1" dirty="0">
                <a:solidFill>
                  <a:srgbClr val="242424"/>
                </a:solidFill>
                <a:effectLst/>
                <a:latin typeface="source-serif-pro"/>
              </a:rPr>
              <a:t>j</a:t>
            </a:r>
            <a:r>
              <a:rPr lang="en-US" sz="1800" b="0" i="0" dirty="0">
                <a:solidFill>
                  <a:srgbClr val="242424"/>
                </a:solidFill>
                <a:effectLst/>
                <a:latin typeface="source-serif-pro"/>
              </a:rPr>
              <a:t>-</a:t>
            </a:r>
            <a:r>
              <a:rPr lang="en-US" sz="1800" b="0" i="0" dirty="0" err="1">
                <a:solidFill>
                  <a:srgbClr val="242424"/>
                </a:solidFill>
                <a:effectLst/>
                <a:latin typeface="source-serif-pro"/>
              </a:rPr>
              <a:t>th</a:t>
            </a:r>
            <a:r>
              <a:rPr lang="en-US" sz="1800" b="0" i="0" dirty="0">
                <a:solidFill>
                  <a:srgbClr val="242424"/>
                </a:solidFill>
                <a:effectLst/>
                <a:latin typeface="source-serif-pro"/>
              </a:rPr>
              <a:t> word appeared in the </a:t>
            </a:r>
            <a:r>
              <a:rPr lang="en-US" sz="1800" b="0" i="1" dirty="0" err="1">
                <a:solidFill>
                  <a:srgbClr val="242424"/>
                </a:solidFill>
                <a:effectLst/>
                <a:latin typeface="source-serif-pro"/>
              </a:rPr>
              <a:t>i</a:t>
            </a:r>
            <a:r>
              <a:rPr lang="en-US" sz="1800" b="0" i="0" dirty="0" err="1">
                <a:solidFill>
                  <a:srgbClr val="242424"/>
                </a:solidFill>
                <a:effectLst/>
                <a:latin typeface="source-serif-pro"/>
              </a:rPr>
              <a:t>-th</a:t>
            </a:r>
            <a:r>
              <a:rPr lang="en-US" sz="1800" b="0" i="0" dirty="0">
                <a:solidFill>
                  <a:srgbClr val="242424"/>
                </a:solidFill>
                <a:effectLst/>
                <a:latin typeface="source-serif-pro"/>
              </a:rPr>
              <a:t> document. In practice, however, raw counts do not work particularly well because they do not account for the </a:t>
            </a:r>
            <a:r>
              <a:rPr lang="en-US" sz="1800" b="0" i="1" dirty="0">
                <a:solidFill>
                  <a:srgbClr val="242424"/>
                </a:solidFill>
                <a:effectLst/>
                <a:latin typeface="source-serif-pro"/>
              </a:rPr>
              <a:t>significance</a:t>
            </a:r>
            <a:r>
              <a:rPr lang="en-US" sz="1800" b="0" i="0" dirty="0">
                <a:solidFill>
                  <a:srgbClr val="242424"/>
                </a:solidFill>
                <a:effectLst/>
                <a:latin typeface="source-serif-pro"/>
              </a:rPr>
              <a:t> of each word in the document.</a:t>
            </a:r>
          </a:p>
          <a:p>
            <a:pPr>
              <a:buFontTx/>
              <a:buChar char="-"/>
            </a:pPr>
            <a:r>
              <a:rPr lang="en-US" sz="1800" dirty="0">
                <a:solidFill>
                  <a:srgbClr val="242424"/>
                </a:solidFill>
                <a:latin typeface="source-serif-pro"/>
              </a:rPr>
              <a:t>Better would be </a:t>
            </a:r>
            <a:r>
              <a:rPr lang="en-US" sz="1800" dirty="0"/>
              <a:t>use </a:t>
            </a:r>
            <a:r>
              <a:rPr lang="en-US" sz="1800" b="1" dirty="0" err="1">
                <a:effectLst/>
                <a:latin typeface="source-serif-pro"/>
              </a:rPr>
              <a:t>tf-idf</a:t>
            </a:r>
            <a:r>
              <a:rPr lang="en-US" sz="1800" b="1" dirty="0">
                <a:effectLst/>
                <a:latin typeface="source-serif-pro"/>
              </a:rPr>
              <a:t> score </a:t>
            </a:r>
            <a:r>
              <a:rPr lang="en-US" sz="1800" dirty="0">
                <a:effectLst/>
                <a:latin typeface="source-serif-pro"/>
              </a:rPr>
              <a:t>as an entry in the</a:t>
            </a:r>
            <a:r>
              <a:rPr lang="en-US" sz="1800" dirty="0"/>
              <a:t> document-term matrix</a:t>
            </a:r>
            <a:r>
              <a:rPr lang="en-US" sz="1800" b="0" i="0" dirty="0">
                <a:solidFill>
                  <a:srgbClr val="242424"/>
                </a:solidFill>
                <a:effectLst/>
                <a:latin typeface="source-serif-pro"/>
              </a:rPr>
              <a:t>. </a:t>
            </a:r>
            <a:r>
              <a:rPr lang="en-US" sz="1800" b="0" i="0" dirty="0" err="1">
                <a:solidFill>
                  <a:srgbClr val="242424"/>
                </a:solidFill>
                <a:effectLst/>
                <a:latin typeface="source-serif-pro"/>
              </a:rPr>
              <a:t>Tf-idf</a:t>
            </a:r>
            <a:r>
              <a:rPr lang="en-US" sz="1800" b="0" i="0" dirty="0">
                <a:solidFill>
                  <a:srgbClr val="242424"/>
                </a:solidFill>
                <a:effectLst/>
                <a:latin typeface="source-serif-pro"/>
              </a:rPr>
              <a:t>, or term frequency-inverse document frequency, assigns a weight for term </a:t>
            </a:r>
            <a:r>
              <a:rPr lang="en-US" sz="1800" b="0" i="1" dirty="0">
                <a:solidFill>
                  <a:srgbClr val="242424"/>
                </a:solidFill>
                <a:effectLst/>
                <a:latin typeface="source-serif-pro"/>
              </a:rPr>
              <a:t>j </a:t>
            </a:r>
            <a:r>
              <a:rPr lang="en-US" sz="1800" b="0" i="0" dirty="0">
                <a:solidFill>
                  <a:srgbClr val="242424"/>
                </a:solidFill>
                <a:effectLst/>
                <a:latin typeface="source-serif-pro"/>
              </a:rPr>
              <a:t>in document </a:t>
            </a:r>
            <a:r>
              <a:rPr lang="en-US" sz="1800" b="0" i="1" dirty="0" err="1">
                <a:solidFill>
                  <a:srgbClr val="242424"/>
                </a:solidFill>
                <a:effectLst/>
                <a:latin typeface="source-serif-pro"/>
              </a:rPr>
              <a:t>i</a:t>
            </a:r>
            <a:r>
              <a:rPr lang="en-US" sz="1800" b="0" i="1" dirty="0">
                <a:solidFill>
                  <a:srgbClr val="242424"/>
                </a:solidFill>
                <a:effectLst/>
                <a:latin typeface="source-serif-pro"/>
              </a:rPr>
              <a:t>.</a:t>
            </a:r>
          </a:p>
          <a:p>
            <a:pPr marL="0" indent="0">
              <a:buNone/>
            </a:pPr>
            <a:r>
              <a:rPr lang="en-US" sz="1800" dirty="0">
                <a:solidFill>
                  <a:srgbClr val="242424"/>
                </a:solidFill>
                <a:latin typeface="source-serif-pro"/>
              </a:rPr>
              <a:t>Intuitively, a term has a large weight when it occurs frequently across the document but infrequently across the corpus(i.e. collection of docs). For e.g., word “see” might appear often in a document and because it’s likely fairly common in the rest of the corpus, it will have low </a:t>
            </a:r>
            <a:r>
              <a:rPr lang="en-US" sz="1800" dirty="0" err="1">
                <a:solidFill>
                  <a:srgbClr val="242424"/>
                </a:solidFill>
                <a:latin typeface="source-serif-pro"/>
              </a:rPr>
              <a:t>tf-idf</a:t>
            </a:r>
            <a:r>
              <a:rPr lang="en-US" sz="1800" dirty="0">
                <a:solidFill>
                  <a:srgbClr val="242424"/>
                </a:solidFill>
                <a:latin typeface="source-serif-pro"/>
              </a:rPr>
              <a:t> score. However, if the word “super-nova” appears often in a document and it is rarer in the rest of the corpus, it will have a higher </a:t>
            </a:r>
            <a:r>
              <a:rPr lang="en-US" sz="1800" dirty="0" err="1">
                <a:solidFill>
                  <a:srgbClr val="242424"/>
                </a:solidFill>
                <a:latin typeface="source-serif-pro"/>
              </a:rPr>
              <a:t>tf-idf</a:t>
            </a:r>
            <a:r>
              <a:rPr lang="en-US" sz="1800" dirty="0">
                <a:solidFill>
                  <a:srgbClr val="242424"/>
                </a:solidFill>
                <a:latin typeface="source-serif-pro"/>
              </a:rPr>
              <a:t> score.</a:t>
            </a:r>
          </a:p>
        </p:txBody>
      </p:sp>
      <p:sp>
        <p:nvSpPr>
          <p:cNvPr id="5" name="TextBox 4">
            <a:extLst>
              <a:ext uri="{FF2B5EF4-FFF2-40B4-BE49-F238E27FC236}">
                <a16:creationId xmlns:a16="http://schemas.microsoft.com/office/drawing/2014/main" id="{569C3004-CE1D-52B4-5190-B71B19C299D6}"/>
              </a:ext>
            </a:extLst>
          </p:cNvPr>
          <p:cNvSpPr txBox="1"/>
          <p:nvPr/>
        </p:nvSpPr>
        <p:spPr>
          <a:xfrm>
            <a:off x="5421085" y="261257"/>
            <a:ext cx="5942204" cy="276999"/>
          </a:xfrm>
          <a:prstGeom prst="rect">
            <a:avLst/>
          </a:prstGeom>
          <a:noFill/>
        </p:spPr>
        <p:txBody>
          <a:bodyPr wrap="none" rtlCol="0">
            <a:spAutoFit/>
          </a:bodyPr>
          <a:lstStyle/>
          <a:p>
            <a:r>
              <a:rPr lang="en-IN" sz="1200" dirty="0"/>
              <a:t>https://medium.com/nanonets/topic-modeling-with-lsa-psla-lda-and-lda2vec-555ff65b0b05</a:t>
            </a:r>
          </a:p>
        </p:txBody>
      </p:sp>
      <p:pic>
        <p:nvPicPr>
          <p:cNvPr id="7" name="Picture 6">
            <a:extLst>
              <a:ext uri="{FF2B5EF4-FFF2-40B4-BE49-F238E27FC236}">
                <a16:creationId xmlns:a16="http://schemas.microsoft.com/office/drawing/2014/main" id="{F07215D2-E192-93BF-A94D-EA63CA56C2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6827" y="3713584"/>
            <a:ext cx="4246905" cy="2542090"/>
          </a:xfrm>
          <a:prstGeom prst="rect">
            <a:avLst/>
          </a:prstGeom>
        </p:spPr>
      </p:pic>
      <p:pic>
        <p:nvPicPr>
          <p:cNvPr id="11" name="Picture 10">
            <a:extLst>
              <a:ext uri="{FF2B5EF4-FFF2-40B4-BE49-F238E27FC236}">
                <a16:creationId xmlns:a16="http://schemas.microsoft.com/office/drawing/2014/main" id="{223C4C56-CDED-8AF4-F44F-3A2306B906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7591" y="935462"/>
            <a:ext cx="3608869" cy="2380916"/>
          </a:xfrm>
          <a:prstGeom prst="rect">
            <a:avLst/>
          </a:prstGeom>
        </p:spPr>
      </p:pic>
    </p:spTree>
    <p:extLst>
      <p:ext uri="{BB962C8B-B14F-4D97-AF65-F5344CB8AC3E}">
        <p14:creationId xmlns:p14="http://schemas.microsoft.com/office/powerpoint/2010/main" val="3888011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258FD-453F-C034-6DC6-B6D4937AF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8297C6-0835-D50D-D3FD-7155D3648A73}"/>
              </a:ext>
            </a:extLst>
          </p:cNvPr>
          <p:cNvSpPr>
            <a:spLocks noGrp="1"/>
          </p:cNvSpPr>
          <p:nvPr>
            <p:ph type="title"/>
          </p:nvPr>
        </p:nvSpPr>
        <p:spPr>
          <a:xfrm>
            <a:off x="838200" y="365125"/>
            <a:ext cx="4582885" cy="493291"/>
          </a:xfrm>
        </p:spPr>
        <p:txBody>
          <a:bodyPr>
            <a:noAutofit/>
          </a:bodyPr>
          <a:lstStyle/>
          <a:p>
            <a:r>
              <a:rPr lang="en-US" sz="2800" dirty="0"/>
              <a:t>LSA explained(p2):</a:t>
            </a:r>
          </a:p>
        </p:txBody>
      </p:sp>
      <p:sp>
        <p:nvSpPr>
          <p:cNvPr id="3" name="Content Placeholder 2">
            <a:extLst>
              <a:ext uri="{FF2B5EF4-FFF2-40B4-BE49-F238E27FC236}">
                <a16:creationId xmlns:a16="http://schemas.microsoft.com/office/drawing/2014/main" id="{9A1E44E3-4855-C903-6820-D87327E6FD52}"/>
              </a:ext>
            </a:extLst>
          </p:cNvPr>
          <p:cNvSpPr>
            <a:spLocks noGrp="1"/>
          </p:cNvSpPr>
          <p:nvPr>
            <p:ph idx="1"/>
          </p:nvPr>
        </p:nvSpPr>
        <p:spPr>
          <a:xfrm>
            <a:off x="838200" y="1230006"/>
            <a:ext cx="10515600" cy="1408419"/>
          </a:xfrm>
        </p:spPr>
        <p:txBody>
          <a:bodyPr>
            <a:normAutofit lnSpcReduction="10000"/>
          </a:bodyPr>
          <a:lstStyle/>
          <a:p>
            <a:pPr marL="0" indent="0">
              <a:buNone/>
            </a:pPr>
            <a:r>
              <a:rPr lang="en-US" sz="1800" b="0" i="0" dirty="0">
                <a:solidFill>
                  <a:srgbClr val="242424"/>
                </a:solidFill>
                <a:effectLst/>
                <a:latin typeface="source-serif-pro"/>
              </a:rPr>
              <a:t>Step2) Here we do dimensionality reduction using </a:t>
            </a:r>
            <a:r>
              <a:rPr lang="en-US" sz="1800" b="1" i="0" dirty="0">
                <a:solidFill>
                  <a:srgbClr val="242424"/>
                </a:solidFill>
                <a:effectLst/>
                <a:latin typeface="source-serif-pro"/>
              </a:rPr>
              <a:t>truncated SVD</a:t>
            </a:r>
            <a:r>
              <a:rPr lang="en-US" sz="1800" b="0" i="0" dirty="0">
                <a:solidFill>
                  <a:srgbClr val="242424"/>
                </a:solidFill>
                <a:effectLst/>
                <a:latin typeface="source-serif-pro"/>
              </a:rPr>
              <a:t>. SVD, or singular value decomposition, is a technique in linear algebra that factorizes any matrix </a:t>
            </a:r>
            <a:r>
              <a:rPr lang="en-US" sz="1800" b="0" i="1" dirty="0">
                <a:solidFill>
                  <a:srgbClr val="242424"/>
                </a:solidFill>
                <a:effectLst/>
                <a:latin typeface="source-serif-pro"/>
              </a:rPr>
              <a:t>M</a:t>
            </a:r>
            <a:r>
              <a:rPr lang="en-US" sz="1800" b="0" i="0" dirty="0">
                <a:solidFill>
                  <a:srgbClr val="242424"/>
                </a:solidFill>
                <a:effectLst/>
                <a:latin typeface="source-serif-pro"/>
              </a:rPr>
              <a:t> into the product of 3 separate matrices: </a:t>
            </a:r>
            <a:r>
              <a:rPr lang="en-US" sz="1800" b="0" i="1" dirty="0">
                <a:solidFill>
                  <a:srgbClr val="242424"/>
                </a:solidFill>
                <a:effectLst/>
                <a:latin typeface="source-serif-pro"/>
              </a:rPr>
              <a:t>M=U*S*V</a:t>
            </a:r>
            <a:r>
              <a:rPr lang="en-US" sz="1800" b="0" i="0" dirty="0">
                <a:solidFill>
                  <a:srgbClr val="242424"/>
                </a:solidFill>
                <a:effectLst/>
                <a:latin typeface="source-serif-pro"/>
              </a:rPr>
              <a:t>, where </a:t>
            </a:r>
            <a:r>
              <a:rPr lang="en-US" sz="1800" b="0" i="1" dirty="0">
                <a:solidFill>
                  <a:srgbClr val="242424"/>
                </a:solidFill>
                <a:effectLst/>
                <a:latin typeface="source-serif-pro"/>
              </a:rPr>
              <a:t>S</a:t>
            </a:r>
            <a:r>
              <a:rPr lang="en-US" sz="1800" b="0" i="0" dirty="0">
                <a:solidFill>
                  <a:srgbClr val="242424"/>
                </a:solidFill>
                <a:effectLst/>
                <a:latin typeface="source-serif-pro"/>
              </a:rPr>
              <a:t> is a diagonal matrix of the </a:t>
            </a:r>
            <a:r>
              <a:rPr lang="en-US" sz="1800" b="0" i="0" u="sng" dirty="0">
                <a:effectLst/>
                <a:latin typeface="source-serif-pro"/>
                <a:hlinkClick r:id="rId2"/>
              </a:rPr>
              <a:t>singular values</a:t>
            </a:r>
            <a:r>
              <a:rPr lang="en-US" sz="1800" b="0" i="0" dirty="0">
                <a:solidFill>
                  <a:srgbClr val="242424"/>
                </a:solidFill>
                <a:effectLst/>
                <a:latin typeface="source-serif-pro"/>
              </a:rPr>
              <a:t> of </a:t>
            </a:r>
            <a:r>
              <a:rPr lang="en-US" sz="1800" b="0" i="1" dirty="0">
                <a:solidFill>
                  <a:srgbClr val="242424"/>
                </a:solidFill>
                <a:effectLst/>
                <a:latin typeface="source-serif-pro"/>
              </a:rPr>
              <a:t>M</a:t>
            </a:r>
            <a:r>
              <a:rPr lang="en-US" sz="1800" b="0" i="0" dirty="0">
                <a:solidFill>
                  <a:srgbClr val="242424"/>
                </a:solidFill>
                <a:effectLst/>
                <a:latin typeface="source-serif-pro"/>
              </a:rPr>
              <a:t>. Critically, truncated SVD reduces dimensionality by selecting only the </a:t>
            </a:r>
            <a:r>
              <a:rPr lang="en-US" sz="1800" b="0" i="1" dirty="0">
                <a:solidFill>
                  <a:srgbClr val="242424"/>
                </a:solidFill>
                <a:effectLst/>
                <a:latin typeface="source-serif-pro"/>
              </a:rPr>
              <a:t>t</a:t>
            </a:r>
            <a:r>
              <a:rPr lang="en-US" sz="1800" b="0" i="0" dirty="0">
                <a:solidFill>
                  <a:srgbClr val="242424"/>
                </a:solidFill>
                <a:effectLst/>
                <a:latin typeface="source-serif-pro"/>
              </a:rPr>
              <a:t> largest singular values, and only keeping the first </a:t>
            </a:r>
            <a:r>
              <a:rPr lang="en-US" sz="1800" b="0" i="1" dirty="0">
                <a:solidFill>
                  <a:srgbClr val="242424"/>
                </a:solidFill>
                <a:effectLst/>
                <a:latin typeface="source-serif-pro"/>
              </a:rPr>
              <a:t>t</a:t>
            </a:r>
            <a:r>
              <a:rPr lang="en-US" sz="1800" b="0" i="0" dirty="0">
                <a:solidFill>
                  <a:srgbClr val="242424"/>
                </a:solidFill>
                <a:effectLst/>
                <a:latin typeface="source-serif-pro"/>
              </a:rPr>
              <a:t> columns of </a:t>
            </a:r>
            <a:r>
              <a:rPr lang="en-US" sz="1800" b="0" i="1" dirty="0">
                <a:solidFill>
                  <a:srgbClr val="242424"/>
                </a:solidFill>
                <a:effectLst/>
                <a:latin typeface="source-serif-pro"/>
              </a:rPr>
              <a:t>U</a:t>
            </a:r>
            <a:r>
              <a:rPr lang="en-US" sz="1800" b="0" i="0" dirty="0">
                <a:solidFill>
                  <a:srgbClr val="242424"/>
                </a:solidFill>
                <a:effectLst/>
                <a:latin typeface="source-serif-pro"/>
              </a:rPr>
              <a:t> and </a:t>
            </a:r>
            <a:r>
              <a:rPr lang="en-US" sz="1800" b="0" i="1" dirty="0">
                <a:solidFill>
                  <a:srgbClr val="242424"/>
                </a:solidFill>
                <a:effectLst/>
                <a:latin typeface="source-serif-pro"/>
              </a:rPr>
              <a:t>V</a:t>
            </a:r>
            <a:r>
              <a:rPr lang="en-US" sz="1800" b="0" i="0" dirty="0">
                <a:solidFill>
                  <a:srgbClr val="242424"/>
                </a:solidFill>
                <a:effectLst/>
                <a:latin typeface="source-serif-pro"/>
              </a:rPr>
              <a:t>. In this case, </a:t>
            </a:r>
            <a:r>
              <a:rPr lang="en-US" sz="1800" b="0" i="1" dirty="0">
                <a:solidFill>
                  <a:srgbClr val="242424"/>
                </a:solidFill>
                <a:effectLst/>
                <a:latin typeface="source-serif-pro"/>
              </a:rPr>
              <a:t>t</a:t>
            </a:r>
            <a:r>
              <a:rPr lang="en-US" sz="1800" b="0" i="0" dirty="0">
                <a:solidFill>
                  <a:srgbClr val="242424"/>
                </a:solidFill>
                <a:effectLst/>
                <a:latin typeface="source-serif-pro"/>
              </a:rPr>
              <a:t> is a hyperparameter we can select and adjust to reflect the number of topics we want to find.</a:t>
            </a:r>
          </a:p>
          <a:p>
            <a:pPr marL="0" indent="0">
              <a:buNone/>
            </a:pPr>
            <a:endParaRPr lang="en-US" dirty="0">
              <a:solidFill>
                <a:srgbClr val="242424"/>
              </a:solidFill>
              <a:latin typeface="source-serif-pro"/>
            </a:endParaRPr>
          </a:p>
        </p:txBody>
      </p:sp>
      <p:sp>
        <p:nvSpPr>
          <p:cNvPr id="5" name="TextBox 4">
            <a:extLst>
              <a:ext uri="{FF2B5EF4-FFF2-40B4-BE49-F238E27FC236}">
                <a16:creationId xmlns:a16="http://schemas.microsoft.com/office/drawing/2014/main" id="{EAB3B675-67C8-E4C8-440F-60D0EEEACAC4}"/>
              </a:ext>
            </a:extLst>
          </p:cNvPr>
          <p:cNvSpPr txBox="1"/>
          <p:nvPr/>
        </p:nvSpPr>
        <p:spPr>
          <a:xfrm>
            <a:off x="5421085" y="261257"/>
            <a:ext cx="5942204" cy="276999"/>
          </a:xfrm>
          <a:prstGeom prst="rect">
            <a:avLst/>
          </a:prstGeom>
          <a:noFill/>
        </p:spPr>
        <p:txBody>
          <a:bodyPr wrap="none" rtlCol="0">
            <a:spAutoFit/>
          </a:bodyPr>
          <a:lstStyle/>
          <a:p>
            <a:r>
              <a:rPr lang="en-IN" sz="1200" dirty="0"/>
              <a:t>https://medium.com/nanonets/topic-modeling-with-lsa-psla-lda-and-lda2vec-555ff65b0b05</a:t>
            </a:r>
          </a:p>
        </p:txBody>
      </p:sp>
      <p:pic>
        <p:nvPicPr>
          <p:cNvPr id="6" name="Picture 5">
            <a:extLst>
              <a:ext uri="{FF2B5EF4-FFF2-40B4-BE49-F238E27FC236}">
                <a16:creationId xmlns:a16="http://schemas.microsoft.com/office/drawing/2014/main" id="{A534EB61-553A-F842-FF61-2A9CD8166C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6945" y="3638939"/>
            <a:ext cx="8225691" cy="3016086"/>
          </a:xfrm>
          <a:prstGeom prst="rect">
            <a:avLst/>
          </a:prstGeom>
        </p:spPr>
      </p:pic>
      <p:pic>
        <p:nvPicPr>
          <p:cNvPr id="1028" name="Picture 4" descr="Topic Modelling using LSA SVD">
            <a:extLst>
              <a:ext uri="{FF2B5EF4-FFF2-40B4-BE49-F238E27FC236}">
                <a16:creationId xmlns:a16="http://schemas.microsoft.com/office/drawing/2014/main" id="{872D0196-BE09-0DCD-E380-C0618B267E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8872" y="2764476"/>
            <a:ext cx="2019300" cy="6572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16605CE-78A0-4B7B-B455-19A667758C03}"/>
                  </a:ext>
                </a:extLst>
              </p14:cNvPr>
              <p14:cNvContentPartPr/>
              <p14:nvPr/>
            </p14:nvContentPartPr>
            <p14:xfrm>
              <a:off x="2006008" y="2984870"/>
              <a:ext cx="4795920" cy="667440"/>
            </p14:xfrm>
          </p:contentPart>
        </mc:Choice>
        <mc:Fallback xmlns="">
          <p:pic>
            <p:nvPicPr>
              <p:cNvPr id="8" name="Ink 7">
                <a:extLst>
                  <a:ext uri="{FF2B5EF4-FFF2-40B4-BE49-F238E27FC236}">
                    <a16:creationId xmlns:a16="http://schemas.microsoft.com/office/drawing/2014/main" id="{816605CE-78A0-4B7B-B455-19A667758C03}"/>
                  </a:ext>
                </a:extLst>
              </p:cNvPr>
              <p:cNvPicPr/>
              <p:nvPr/>
            </p:nvPicPr>
            <p:blipFill>
              <a:blip r:embed="rId6"/>
              <a:stretch>
                <a:fillRect/>
              </a:stretch>
            </p:blipFill>
            <p:spPr>
              <a:xfrm>
                <a:off x="1988368" y="2966870"/>
                <a:ext cx="4831560" cy="703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ECC11BB8-335D-F48F-3D0A-8A33315D64F9}"/>
                  </a:ext>
                </a:extLst>
              </p14:cNvPr>
              <p14:cNvContentPartPr/>
              <p14:nvPr/>
            </p14:nvContentPartPr>
            <p14:xfrm>
              <a:off x="2369608" y="2583830"/>
              <a:ext cx="6685200" cy="1354680"/>
            </p14:xfrm>
          </p:contentPart>
        </mc:Choice>
        <mc:Fallback xmlns="">
          <p:pic>
            <p:nvPicPr>
              <p:cNvPr id="9" name="Ink 8">
                <a:extLst>
                  <a:ext uri="{FF2B5EF4-FFF2-40B4-BE49-F238E27FC236}">
                    <a16:creationId xmlns:a16="http://schemas.microsoft.com/office/drawing/2014/main" id="{ECC11BB8-335D-F48F-3D0A-8A33315D64F9}"/>
                  </a:ext>
                </a:extLst>
              </p:cNvPr>
              <p:cNvPicPr/>
              <p:nvPr/>
            </p:nvPicPr>
            <p:blipFill>
              <a:blip r:embed="rId8"/>
              <a:stretch>
                <a:fillRect/>
              </a:stretch>
            </p:blipFill>
            <p:spPr>
              <a:xfrm>
                <a:off x="2351968" y="2565830"/>
                <a:ext cx="6720840" cy="1390320"/>
              </a:xfrm>
              <a:prstGeom prst="rect">
                <a:avLst/>
              </a:prstGeom>
            </p:spPr>
          </p:pic>
        </mc:Fallback>
      </mc:AlternateContent>
      <p:grpSp>
        <p:nvGrpSpPr>
          <p:cNvPr id="14" name="Group 13">
            <a:extLst>
              <a:ext uri="{FF2B5EF4-FFF2-40B4-BE49-F238E27FC236}">
                <a16:creationId xmlns:a16="http://schemas.microsoft.com/office/drawing/2014/main" id="{EA4375E7-4352-85C2-E9E5-A527E32F9E71}"/>
              </a:ext>
            </a:extLst>
          </p:cNvPr>
          <p:cNvGrpSpPr/>
          <p:nvPr/>
        </p:nvGrpSpPr>
        <p:grpSpPr>
          <a:xfrm>
            <a:off x="10221568" y="2778950"/>
            <a:ext cx="752760" cy="408240"/>
            <a:chOff x="10221568" y="2778950"/>
            <a:chExt cx="752760" cy="408240"/>
          </a:xfrm>
        </p:grpSpPr>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A301DF39-1B45-FC67-0F24-EEA970E24F0F}"/>
                    </a:ext>
                  </a:extLst>
                </p14:cNvPr>
                <p14:cNvContentPartPr/>
                <p14:nvPr/>
              </p14:nvContentPartPr>
              <p14:xfrm>
                <a:off x="10221568" y="2866070"/>
                <a:ext cx="278640" cy="321120"/>
              </p14:xfrm>
            </p:contentPart>
          </mc:Choice>
          <mc:Fallback xmlns="">
            <p:pic>
              <p:nvPicPr>
                <p:cNvPr id="10" name="Ink 9">
                  <a:extLst>
                    <a:ext uri="{FF2B5EF4-FFF2-40B4-BE49-F238E27FC236}">
                      <a16:creationId xmlns:a16="http://schemas.microsoft.com/office/drawing/2014/main" id="{A301DF39-1B45-FC67-0F24-EEA970E24F0F}"/>
                    </a:ext>
                  </a:extLst>
                </p:cNvPr>
                <p:cNvPicPr/>
                <p:nvPr/>
              </p:nvPicPr>
              <p:blipFill>
                <a:blip r:embed="rId10"/>
                <a:stretch>
                  <a:fillRect/>
                </a:stretch>
              </p:blipFill>
              <p:spPr>
                <a:xfrm>
                  <a:off x="10203928" y="2848430"/>
                  <a:ext cx="314280" cy="3567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5185E407-DA93-7E6B-0CA4-3A0E91DC66DB}"/>
                    </a:ext>
                  </a:extLst>
                </p14:cNvPr>
                <p14:cNvContentPartPr/>
                <p14:nvPr/>
              </p14:nvContentPartPr>
              <p14:xfrm>
                <a:off x="10664728" y="2778950"/>
                <a:ext cx="309600" cy="76680"/>
              </p14:xfrm>
            </p:contentPart>
          </mc:Choice>
          <mc:Fallback xmlns="">
            <p:pic>
              <p:nvPicPr>
                <p:cNvPr id="11" name="Ink 10">
                  <a:extLst>
                    <a:ext uri="{FF2B5EF4-FFF2-40B4-BE49-F238E27FC236}">
                      <a16:creationId xmlns:a16="http://schemas.microsoft.com/office/drawing/2014/main" id="{5185E407-DA93-7E6B-0CA4-3A0E91DC66DB}"/>
                    </a:ext>
                  </a:extLst>
                </p:cNvPr>
                <p:cNvPicPr/>
                <p:nvPr/>
              </p:nvPicPr>
              <p:blipFill>
                <a:blip r:embed="rId12"/>
                <a:stretch>
                  <a:fillRect/>
                </a:stretch>
              </p:blipFill>
              <p:spPr>
                <a:xfrm>
                  <a:off x="10646728" y="2761310"/>
                  <a:ext cx="34524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5966A22E-34C4-1706-014F-1AE14CD5F393}"/>
                    </a:ext>
                  </a:extLst>
                </p14:cNvPr>
                <p14:cNvContentPartPr/>
                <p14:nvPr/>
              </p14:nvContentPartPr>
              <p14:xfrm>
                <a:off x="10831768" y="2817830"/>
                <a:ext cx="5040" cy="211680"/>
              </p14:xfrm>
            </p:contentPart>
          </mc:Choice>
          <mc:Fallback xmlns="">
            <p:pic>
              <p:nvPicPr>
                <p:cNvPr id="13" name="Ink 12">
                  <a:extLst>
                    <a:ext uri="{FF2B5EF4-FFF2-40B4-BE49-F238E27FC236}">
                      <a16:creationId xmlns:a16="http://schemas.microsoft.com/office/drawing/2014/main" id="{5966A22E-34C4-1706-014F-1AE14CD5F393}"/>
                    </a:ext>
                  </a:extLst>
                </p:cNvPr>
                <p:cNvPicPr/>
                <p:nvPr/>
              </p:nvPicPr>
              <p:blipFill>
                <a:blip r:embed="rId14"/>
                <a:stretch>
                  <a:fillRect/>
                </a:stretch>
              </p:blipFill>
              <p:spPr>
                <a:xfrm>
                  <a:off x="10813768" y="2799830"/>
                  <a:ext cx="40680" cy="247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
            <p14:nvContentPartPr>
              <p14:cNvPr id="16" name="Ink 15">
                <a:extLst>
                  <a:ext uri="{FF2B5EF4-FFF2-40B4-BE49-F238E27FC236}">
                    <a16:creationId xmlns:a16="http://schemas.microsoft.com/office/drawing/2014/main" id="{0E0BA86E-F2F3-4975-6E4C-2C068E00414C}"/>
                  </a:ext>
                </a:extLst>
              </p14:cNvPr>
              <p14:cNvContentPartPr/>
              <p14:nvPr/>
            </p14:nvContentPartPr>
            <p14:xfrm>
              <a:off x="10488688" y="3433430"/>
              <a:ext cx="91080" cy="420120"/>
            </p14:xfrm>
          </p:contentPart>
        </mc:Choice>
        <mc:Fallback xmlns="">
          <p:pic>
            <p:nvPicPr>
              <p:cNvPr id="16" name="Ink 15">
                <a:extLst>
                  <a:ext uri="{FF2B5EF4-FFF2-40B4-BE49-F238E27FC236}">
                    <a16:creationId xmlns:a16="http://schemas.microsoft.com/office/drawing/2014/main" id="{0E0BA86E-F2F3-4975-6E4C-2C068E00414C}"/>
                  </a:ext>
                </a:extLst>
              </p:cNvPr>
              <p:cNvPicPr/>
              <p:nvPr/>
            </p:nvPicPr>
            <p:blipFill>
              <a:blip r:embed="rId16"/>
              <a:stretch>
                <a:fillRect/>
              </a:stretch>
            </p:blipFill>
            <p:spPr>
              <a:xfrm>
                <a:off x="10470688" y="3415790"/>
                <a:ext cx="126720" cy="4557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7" name="Ink 16">
                <a:extLst>
                  <a:ext uri="{FF2B5EF4-FFF2-40B4-BE49-F238E27FC236}">
                    <a16:creationId xmlns:a16="http://schemas.microsoft.com/office/drawing/2014/main" id="{7074E43B-1D79-F6E7-E498-6E372764CF8D}"/>
                  </a:ext>
                </a:extLst>
              </p14:cNvPr>
              <p14:cNvContentPartPr/>
              <p14:nvPr/>
            </p14:nvContentPartPr>
            <p14:xfrm>
              <a:off x="11243248" y="3470870"/>
              <a:ext cx="360" cy="360"/>
            </p14:xfrm>
          </p:contentPart>
        </mc:Choice>
        <mc:Fallback xmlns="">
          <p:pic>
            <p:nvPicPr>
              <p:cNvPr id="17" name="Ink 16">
                <a:extLst>
                  <a:ext uri="{FF2B5EF4-FFF2-40B4-BE49-F238E27FC236}">
                    <a16:creationId xmlns:a16="http://schemas.microsoft.com/office/drawing/2014/main" id="{7074E43B-1D79-F6E7-E498-6E372764CF8D}"/>
                  </a:ext>
                </a:extLst>
              </p:cNvPr>
              <p:cNvPicPr/>
              <p:nvPr/>
            </p:nvPicPr>
            <p:blipFill>
              <a:blip r:embed="rId18"/>
              <a:stretch>
                <a:fillRect/>
              </a:stretch>
            </p:blipFill>
            <p:spPr>
              <a:xfrm>
                <a:off x="11225608" y="345323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8" name="Ink 17">
                <a:extLst>
                  <a:ext uri="{FF2B5EF4-FFF2-40B4-BE49-F238E27FC236}">
                    <a16:creationId xmlns:a16="http://schemas.microsoft.com/office/drawing/2014/main" id="{FF716C00-D715-EAAA-7E28-643C04B0EF68}"/>
                  </a:ext>
                </a:extLst>
              </p14:cNvPr>
              <p14:cNvContentPartPr/>
              <p14:nvPr/>
            </p14:nvContentPartPr>
            <p14:xfrm>
              <a:off x="988288" y="3443870"/>
              <a:ext cx="2907720" cy="2855160"/>
            </p14:xfrm>
          </p:contentPart>
        </mc:Choice>
        <mc:Fallback xmlns="">
          <p:pic>
            <p:nvPicPr>
              <p:cNvPr id="18" name="Ink 17">
                <a:extLst>
                  <a:ext uri="{FF2B5EF4-FFF2-40B4-BE49-F238E27FC236}">
                    <a16:creationId xmlns:a16="http://schemas.microsoft.com/office/drawing/2014/main" id="{FF716C00-D715-EAAA-7E28-643C04B0EF68}"/>
                  </a:ext>
                </a:extLst>
              </p:cNvPr>
              <p:cNvPicPr/>
              <p:nvPr/>
            </p:nvPicPr>
            <p:blipFill>
              <a:blip r:embed="rId20"/>
              <a:stretch>
                <a:fillRect/>
              </a:stretch>
            </p:blipFill>
            <p:spPr>
              <a:xfrm>
                <a:off x="970648" y="3426230"/>
                <a:ext cx="2943360" cy="2890800"/>
              </a:xfrm>
              <a:prstGeom prst="rect">
                <a:avLst/>
              </a:prstGeom>
            </p:spPr>
          </p:pic>
        </mc:Fallback>
      </mc:AlternateContent>
    </p:spTree>
    <p:extLst>
      <p:ext uri="{BB962C8B-B14F-4D97-AF65-F5344CB8AC3E}">
        <p14:creationId xmlns:p14="http://schemas.microsoft.com/office/powerpoint/2010/main" val="431224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E0117-C5F3-A336-F4E9-6FD6E6ECD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F4E24E-A835-6DD6-F970-060723192E95}"/>
              </a:ext>
            </a:extLst>
          </p:cNvPr>
          <p:cNvSpPr>
            <a:spLocks noGrp="1"/>
          </p:cNvSpPr>
          <p:nvPr>
            <p:ph type="title"/>
          </p:nvPr>
        </p:nvSpPr>
        <p:spPr>
          <a:xfrm>
            <a:off x="838200" y="365125"/>
            <a:ext cx="4582885" cy="493291"/>
          </a:xfrm>
        </p:spPr>
        <p:txBody>
          <a:bodyPr>
            <a:noAutofit/>
          </a:bodyPr>
          <a:lstStyle/>
          <a:p>
            <a:r>
              <a:rPr lang="en-US" sz="2800" dirty="0"/>
              <a:t>LSA explained(p3):</a:t>
            </a:r>
          </a:p>
        </p:txBody>
      </p:sp>
      <p:sp>
        <p:nvSpPr>
          <p:cNvPr id="5" name="TextBox 4">
            <a:extLst>
              <a:ext uri="{FF2B5EF4-FFF2-40B4-BE49-F238E27FC236}">
                <a16:creationId xmlns:a16="http://schemas.microsoft.com/office/drawing/2014/main" id="{7FB74EA9-261F-0200-443C-7E7C223D7EE6}"/>
              </a:ext>
            </a:extLst>
          </p:cNvPr>
          <p:cNvSpPr txBox="1"/>
          <p:nvPr/>
        </p:nvSpPr>
        <p:spPr>
          <a:xfrm>
            <a:off x="5421085" y="261257"/>
            <a:ext cx="5942204" cy="276999"/>
          </a:xfrm>
          <a:prstGeom prst="rect">
            <a:avLst/>
          </a:prstGeom>
          <a:noFill/>
        </p:spPr>
        <p:txBody>
          <a:bodyPr wrap="none" rtlCol="0">
            <a:spAutoFit/>
          </a:bodyPr>
          <a:lstStyle/>
          <a:p>
            <a:r>
              <a:rPr lang="en-IN" sz="1200" dirty="0"/>
              <a:t>https://medium.com/nanonets/topic-modeling-with-lsa-psla-lda-and-lda2vec-555ff65b0b05</a:t>
            </a:r>
          </a:p>
        </p:txBody>
      </p:sp>
      <p:pic>
        <p:nvPicPr>
          <p:cNvPr id="19" name="Picture 18">
            <a:extLst>
              <a:ext uri="{FF2B5EF4-FFF2-40B4-BE49-F238E27FC236}">
                <a16:creationId xmlns:a16="http://schemas.microsoft.com/office/drawing/2014/main" id="{954EF142-1170-9A61-0FA3-377FC0AF1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1085" y="858416"/>
            <a:ext cx="6481437" cy="2163471"/>
          </a:xfrm>
          <a:prstGeom prst="rect">
            <a:avLst/>
          </a:prstGeom>
        </p:spPr>
      </p:pic>
      <p:sp>
        <p:nvSpPr>
          <p:cNvPr id="21" name="TextBox 20">
            <a:extLst>
              <a:ext uri="{FF2B5EF4-FFF2-40B4-BE49-F238E27FC236}">
                <a16:creationId xmlns:a16="http://schemas.microsoft.com/office/drawing/2014/main" id="{8B4013BD-238E-AAC3-1A1D-D0E860146C39}"/>
              </a:ext>
            </a:extLst>
          </p:cNvPr>
          <p:cNvSpPr txBox="1"/>
          <p:nvPr/>
        </p:nvSpPr>
        <p:spPr>
          <a:xfrm>
            <a:off x="146956" y="3315490"/>
            <a:ext cx="11404342" cy="923330"/>
          </a:xfrm>
          <a:prstGeom prst="rect">
            <a:avLst/>
          </a:prstGeom>
          <a:noFill/>
        </p:spPr>
        <p:txBody>
          <a:bodyPr wrap="square">
            <a:spAutoFit/>
          </a:bodyPr>
          <a:lstStyle/>
          <a:p>
            <a:r>
              <a:rPr lang="en-US" b="0" i="1" dirty="0">
                <a:solidFill>
                  <a:srgbClr val="242424"/>
                </a:solidFill>
                <a:effectLst/>
                <a:latin typeface="source-serif-pro"/>
              </a:rPr>
              <a:t>U</a:t>
            </a:r>
            <a:r>
              <a:rPr lang="en-US" b="0" i="0" dirty="0">
                <a:solidFill>
                  <a:srgbClr val="242424"/>
                </a:solidFill>
                <a:effectLst/>
                <a:latin typeface="source-serif-pro"/>
              </a:rPr>
              <a:t> ∈ ℝ^(m ⨉ t) emerges as our </a:t>
            </a:r>
            <a:r>
              <a:rPr lang="en-US" b="1" i="0" dirty="0">
                <a:solidFill>
                  <a:srgbClr val="242424"/>
                </a:solidFill>
                <a:effectLst/>
                <a:latin typeface="source-serif-pro"/>
              </a:rPr>
              <a:t>document-topic</a:t>
            </a:r>
            <a:r>
              <a:rPr lang="en-US" b="0" i="0" dirty="0">
                <a:solidFill>
                  <a:srgbClr val="242424"/>
                </a:solidFill>
                <a:effectLst/>
                <a:latin typeface="source-serif-pro"/>
              </a:rPr>
              <a:t> matrix, and </a:t>
            </a:r>
            <a:r>
              <a:rPr lang="en-US" b="0" i="1" dirty="0">
                <a:solidFill>
                  <a:srgbClr val="242424"/>
                </a:solidFill>
                <a:effectLst/>
                <a:latin typeface="source-serif-pro"/>
              </a:rPr>
              <a:t>V</a:t>
            </a:r>
            <a:r>
              <a:rPr lang="en-US" b="0" i="0" dirty="0">
                <a:solidFill>
                  <a:srgbClr val="242424"/>
                </a:solidFill>
                <a:effectLst/>
                <a:latin typeface="source-serif-pro"/>
              </a:rPr>
              <a:t> ∈ ℝ^(n ⨉ t) becomes our </a:t>
            </a:r>
            <a:r>
              <a:rPr lang="en-US" b="1" i="0" dirty="0">
                <a:solidFill>
                  <a:srgbClr val="242424"/>
                </a:solidFill>
                <a:effectLst/>
                <a:latin typeface="source-serif-pro"/>
              </a:rPr>
              <a:t>term-topic</a:t>
            </a:r>
            <a:r>
              <a:rPr lang="en-US" b="0" i="0" dirty="0">
                <a:solidFill>
                  <a:srgbClr val="242424"/>
                </a:solidFill>
                <a:effectLst/>
                <a:latin typeface="source-serif-pro"/>
              </a:rPr>
              <a:t> matrix. In both </a:t>
            </a:r>
            <a:r>
              <a:rPr lang="en-US" b="0" i="1" dirty="0">
                <a:solidFill>
                  <a:srgbClr val="242424"/>
                </a:solidFill>
                <a:effectLst/>
                <a:latin typeface="source-serif-pro"/>
              </a:rPr>
              <a:t>U</a:t>
            </a:r>
            <a:r>
              <a:rPr lang="en-US" b="0" i="0" dirty="0">
                <a:solidFill>
                  <a:srgbClr val="242424"/>
                </a:solidFill>
                <a:effectLst/>
                <a:latin typeface="source-serif-pro"/>
              </a:rPr>
              <a:t> and </a:t>
            </a:r>
            <a:r>
              <a:rPr lang="en-US" b="0" i="1" dirty="0">
                <a:solidFill>
                  <a:srgbClr val="242424"/>
                </a:solidFill>
                <a:effectLst/>
                <a:latin typeface="source-serif-pro"/>
              </a:rPr>
              <a:t>V</a:t>
            </a:r>
            <a:r>
              <a:rPr lang="en-US" b="0" i="0" dirty="0">
                <a:solidFill>
                  <a:srgbClr val="242424"/>
                </a:solidFill>
                <a:effectLst/>
                <a:latin typeface="source-serif-pro"/>
              </a:rPr>
              <a:t>, the columns correspond to one of our </a:t>
            </a:r>
            <a:r>
              <a:rPr lang="en-US" b="0" i="1" dirty="0">
                <a:solidFill>
                  <a:srgbClr val="242424"/>
                </a:solidFill>
                <a:effectLst/>
                <a:latin typeface="source-serif-pro"/>
              </a:rPr>
              <a:t>t</a:t>
            </a:r>
            <a:r>
              <a:rPr lang="en-US" b="0" i="0" dirty="0">
                <a:solidFill>
                  <a:srgbClr val="242424"/>
                </a:solidFill>
                <a:effectLst/>
                <a:latin typeface="source-serif-pro"/>
              </a:rPr>
              <a:t> topics. In </a:t>
            </a:r>
            <a:r>
              <a:rPr lang="en-US" b="0" i="1" dirty="0">
                <a:solidFill>
                  <a:srgbClr val="242424"/>
                </a:solidFill>
                <a:effectLst/>
                <a:latin typeface="source-serif-pro"/>
              </a:rPr>
              <a:t>U, </a:t>
            </a:r>
            <a:r>
              <a:rPr lang="en-US" b="0" i="0" dirty="0">
                <a:solidFill>
                  <a:srgbClr val="242424"/>
                </a:solidFill>
                <a:effectLst/>
                <a:latin typeface="source-serif-pro"/>
              </a:rPr>
              <a:t>rows represent document vectors expressed in terms of topics; in </a:t>
            </a:r>
            <a:r>
              <a:rPr lang="en-US" b="0" i="1" dirty="0">
                <a:solidFill>
                  <a:srgbClr val="242424"/>
                </a:solidFill>
                <a:effectLst/>
                <a:latin typeface="source-serif-pro"/>
              </a:rPr>
              <a:t>V</a:t>
            </a:r>
            <a:r>
              <a:rPr lang="en-US" b="0" i="0" dirty="0">
                <a:solidFill>
                  <a:srgbClr val="242424"/>
                </a:solidFill>
                <a:effectLst/>
                <a:latin typeface="source-serif-pro"/>
              </a:rPr>
              <a:t>, rows represent term vectors expressed in terms of topics.</a:t>
            </a:r>
            <a:endParaRPr lang="en-IN" dirty="0"/>
          </a:p>
        </p:txBody>
      </p:sp>
    </p:spTree>
    <p:extLst>
      <p:ext uri="{BB962C8B-B14F-4D97-AF65-F5344CB8AC3E}">
        <p14:creationId xmlns:p14="http://schemas.microsoft.com/office/powerpoint/2010/main" val="545785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EF72B-535A-0C9A-6298-7FB7C34527C3}"/>
              </a:ext>
            </a:extLst>
          </p:cNvPr>
          <p:cNvSpPr>
            <a:spLocks noGrp="1"/>
          </p:cNvSpPr>
          <p:nvPr>
            <p:ph type="title"/>
          </p:nvPr>
        </p:nvSpPr>
        <p:spPr>
          <a:xfrm>
            <a:off x="175724" y="187843"/>
            <a:ext cx="10834397" cy="651912"/>
          </a:xfrm>
        </p:spPr>
        <p:txBody>
          <a:bodyPr>
            <a:normAutofit fontScale="90000"/>
          </a:bodyPr>
          <a:lstStyle/>
          <a:p>
            <a:r>
              <a:rPr lang="en-US" b="1" i="0" dirty="0">
                <a:solidFill>
                  <a:srgbClr val="383838"/>
                </a:solidFill>
                <a:effectLst/>
                <a:latin typeface="Inter"/>
              </a:rPr>
              <a:t>LSA: Application of Document and Term Vectors</a:t>
            </a:r>
            <a:endParaRPr lang="en-IN" dirty="0"/>
          </a:p>
        </p:txBody>
      </p:sp>
      <p:sp>
        <p:nvSpPr>
          <p:cNvPr id="3" name="Content Placeholder 2">
            <a:extLst>
              <a:ext uri="{FF2B5EF4-FFF2-40B4-BE49-F238E27FC236}">
                <a16:creationId xmlns:a16="http://schemas.microsoft.com/office/drawing/2014/main" id="{A8E50543-1A55-8439-735B-53E7A4A4A814}"/>
              </a:ext>
            </a:extLst>
          </p:cNvPr>
          <p:cNvSpPr>
            <a:spLocks noGrp="1"/>
          </p:cNvSpPr>
          <p:nvPr>
            <p:ph idx="1"/>
          </p:nvPr>
        </p:nvSpPr>
        <p:spPr>
          <a:xfrm>
            <a:off x="418323" y="1564368"/>
            <a:ext cx="10515600" cy="3156922"/>
          </a:xfrm>
        </p:spPr>
        <p:txBody>
          <a:bodyPr>
            <a:normAutofit fontScale="77500" lnSpcReduction="20000"/>
          </a:bodyPr>
          <a:lstStyle/>
          <a:p>
            <a:pPr algn="l">
              <a:lnSpc>
                <a:spcPct val="120000"/>
              </a:lnSpc>
              <a:buNone/>
            </a:pPr>
            <a:r>
              <a:rPr lang="en-US" b="0" i="0" dirty="0">
                <a:solidFill>
                  <a:srgbClr val="383838"/>
                </a:solidFill>
                <a:effectLst/>
                <a:latin typeface="Inter"/>
              </a:rPr>
              <a:t>Now with the help of these document vectors and term vectors, we can easily calculate some measures such as cosine similarity to evaluate:</a:t>
            </a:r>
          </a:p>
          <a:p>
            <a:pPr algn="l">
              <a:lnSpc>
                <a:spcPct val="120000"/>
              </a:lnSpc>
              <a:spcAft>
                <a:spcPts val="750"/>
              </a:spcAft>
              <a:buFont typeface="Arial" panose="020B0604020202020204" pitchFamily="34" charset="0"/>
              <a:buChar char="•"/>
            </a:pPr>
            <a:r>
              <a:rPr lang="en-US" b="0" i="0" dirty="0">
                <a:solidFill>
                  <a:srgbClr val="383838"/>
                </a:solidFill>
                <a:effectLst/>
                <a:latin typeface="Inter"/>
              </a:rPr>
              <a:t>The similarity of different documents.</a:t>
            </a:r>
          </a:p>
          <a:p>
            <a:pPr algn="l">
              <a:lnSpc>
                <a:spcPct val="120000"/>
              </a:lnSpc>
              <a:spcAft>
                <a:spcPts val="750"/>
              </a:spcAft>
              <a:buFont typeface="Arial" panose="020B0604020202020204" pitchFamily="34" charset="0"/>
              <a:buChar char="•"/>
            </a:pPr>
            <a:r>
              <a:rPr lang="en-US" b="0" i="0" dirty="0">
                <a:solidFill>
                  <a:srgbClr val="383838"/>
                </a:solidFill>
                <a:effectLst/>
                <a:latin typeface="Inter"/>
              </a:rPr>
              <a:t>The similarity of different words.</a:t>
            </a:r>
          </a:p>
          <a:p>
            <a:pPr algn="l">
              <a:lnSpc>
                <a:spcPct val="120000"/>
              </a:lnSpc>
              <a:spcAft>
                <a:spcPts val="750"/>
              </a:spcAft>
              <a:buFont typeface="Arial" panose="020B0604020202020204" pitchFamily="34" charset="0"/>
              <a:buChar char="•"/>
            </a:pPr>
            <a:r>
              <a:rPr lang="en-US" b="0" i="0" dirty="0">
                <a:solidFill>
                  <a:srgbClr val="383838"/>
                </a:solidFill>
                <a:effectLst/>
                <a:latin typeface="Inter"/>
              </a:rPr>
              <a:t>The similarity of terms or queries and documents which will become useful in information retrieval, when we want to retrieve passages most relevant to our search query.</a:t>
            </a:r>
          </a:p>
        </p:txBody>
      </p:sp>
    </p:spTree>
    <p:extLst>
      <p:ext uri="{BB962C8B-B14F-4D97-AF65-F5344CB8AC3E}">
        <p14:creationId xmlns:p14="http://schemas.microsoft.com/office/powerpoint/2010/main" val="3470869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71286-2489-5849-C785-D9C02061F9AA}"/>
              </a:ext>
            </a:extLst>
          </p:cNvPr>
          <p:cNvSpPr>
            <a:spLocks noGrp="1"/>
          </p:cNvSpPr>
          <p:nvPr>
            <p:ph type="title"/>
          </p:nvPr>
        </p:nvSpPr>
        <p:spPr>
          <a:xfrm>
            <a:off x="408993" y="365125"/>
            <a:ext cx="5287132" cy="605259"/>
          </a:xfrm>
        </p:spPr>
        <p:txBody>
          <a:bodyPr>
            <a:normAutofit fontScale="90000"/>
          </a:bodyPr>
          <a:lstStyle/>
          <a:p>
            <a:r>
              <a:rPr lang="en-US" b="1" i="0" dirty="0">
                <a:solidFill>
                  <a:srgbClr val="383838"/>
                </a:solidFill>
                <a:effectLst/>
                <a:latin typeface="Inter"/>
              </a:rPr>
              <a:t>Applications of LSA</a:t>
            </a:r>
            <a:endParaRPr lang="en-IN" dirty="0"/>
          </a:p>
        </p:txBody>
      </p:sp>
      <p:sp>
        <p:nvSpPr>
          <p:cNvPr id="3" name="Content Placeholder 2">
            <a:extLst>
              <a:ext uri="{FF2B5EF4-FFF2-40B4-BE49-F238E27FC236}">
                <a16:creationId xmlns:a16="http://schemas.microsoft.com/office/drawing/2014/main" id="{29C0493B-97DC-AEB2-D2DE-4D5DABA30649}"/>
              </a:ext>
            </a:extLst>
          </p:cNvPr>
          <p:cNvSpPr>
            <a:spLocks noGrp="1"/>
          </p:cNvSpPr>
          <p:nvPr>
            <p:ph idx="1"/>
          </p:nvPr>
        </p:nvSpPr>
        <p:spPr/>
        <p:txBody>
          <a:bodyPr>
            <a:normAutofit fontScale="77500" lnSpcReduction="20000"/>
          </a:bodyPr>
          <a:lstStyle/>
          <a:p>
            <a:pPr algn="l">
              <a:lnSpc>
                <a:spcPts val="2700"/>
              </a:lnSpc>
              <a:buNone/>
            </a:pPr>
            <a:r>
              <a:rPr lang="en-US" b="0" i="0" dirty="0">
                <a:solidFill>
                  <a:srgbClr val="383838"/>
                </a:solidFill>
                <a:effectLst/>
                <a:latin typeface="Inter"/>
              </a:rPr>
              <a:t>The LSA is considered the pioneer for Dimensionality Reduction algorithms.</a:t>
            </a:r>
          </a:p>
          <a:p>
            <a:pPr algn="l">
              <a:lnSpc>
                <a:spcPts val="2700"/>
              </a:lnSpc>
              <a:buNone/>
            </a:pPr>
            <a:r>
              <a:rPr lang="en-US" b="1" i="0" dirty="0">
                <a:solidFill>
                  <a:srgbClr val="383838"/>
                </a:solidFill>
                <a:effectLst/>
                <a:latin typeface="Inter"/>
              </a:rPr>
              <a:t>1.</a:t>
            </a:r>
            <a:r>
              <a:rPr lang="en-US" b="0" i="0" dirty="0">
                <a:solidFill>
                  <a:srgbClr val="383838"/>
                </a:solidFill>
                <a:effectLst/>
                <a:latin typeface="Inter"/>
              </a:rPr>
              <a:t> The LSA can be used for dimensionality reduction. We can reduce the vector size drastically from millions to thousands without losing any context or information. As a result, it reduces the computation power and the time taken to perform the computation.</a:t>
            </a:r>
          </a:p>
          <a:p>
            <a:pPr algn="l">
              <a:lnSpc>
                <a:spcPts val="2700"/>
              </a:lnSpc>
              <a:buNone/>
            </a:pPr>
            <a:r>
              <a:rPr lang="en-US" b="1" i="0" dirty="0">
                <a:solidFill>
                  <a:srgbClr val="383838"/>
                </a:solidFill>
                <a:effectLst/>
                <a:latin typeface="Inter"/>
              </a:rPr>
              <a:t>2. </a:t>
            </a:r>
            <a:r>
              <a:rPr lang="en-US" b="0" i="0" dirty="0">
                <a:solidFill>
                  <a:srgbClr val="383838"/>
                </a:solidFill>
                <a:effectLst/>
                <a:latin typeface="Inter"/>
              </a:rPr>
              <a:t>The LSA can be used in search engines. Latent Semantic Indexing(LSI) is the algorithm developed based on LSA, as the documents matching the given search query are found with the help of the vector that is developed from LSA.</a:t>
            </a:r>
          </a:p>
          <a:p>
            <a:pPr marL="0" indent="0" algn="l">
              <a:lnSpc>
                <a:spcPts val="2700"/>
              </a:lnSpc>
              <a:buNone/>
            </a:pPr>
            <a:r>
              <a:rPr lang="en-US" b="1" i="0" dirty="0">
                <a:solidFill>
                  <a:srgbClr val="383838"/>
                </a:solidFill>
                <a:effectLst/>
                <a:latin typeface="Inter"/>
              </a:rPr>
              <a:t>3. </a:t>
            </a:r>
            <a:r>
              <a:rPr lang="en-US" b="0" i="0" dirty="0">
                <a:solidFill>
                  <a:srgbClr val="383838"/>
                </a:solidFill>
                <a:effectLst/>
                <a:latin typeface="Inter"/>
              </a:rPr>
              <a:t>LSA can also be used for document clustering. As we can see that the LSA assigns topics to each document based on the assigned topic so we can cluster the documents.</a:t>
            </a:r>
          </a:p>
          <a:p>
            <a:endParaRPr lang="en-IN" dirty="0"/>
          </a:p>
        </p:txBody>
      </p:sp>
    </p:spTree>
    <p:extLst>
      <p:ext uri="{BB962C8B-B14F-4D97-AF65-F5344CB8AC3E}">
        <p14:creationId xmlns:p14="http://schemas.microsoft.com/office/powerpoint/2010/main" val="2291184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7701793" cy="524108"/>
          </a:xfrm>
        </p:spPr>
        <p:txBody>
          <a:bodyPr>
            <a:normAutofit fontScale="90000"/>
          </a:bodyPr>
          <a:lstStyle/>
          <a:p>
            <a:r>
              <a:rPr lang="en-US" sz="3200" b="1" dirty="0"/>
              <a:t>Topic Modelling Techniques: LDA(see </a:t>
            </a:r>
            <a:r>
              <a:rPr lang="en-US" sz="3200" b="1" dirty="0" err="1"/>
              <a:t>jupyter</a:t>
            </a:r>
            <a:r>
              <a:rPr lang="en-US" sz="3200" b="1" dirty="0"/>
              <a:t> n/b)</a:t>
            </a:r>
          </a:p>
        </p:txBody>
      </p:sp>
      <p:sp>
        <p:nvSpPr>
          <p:cNvPr id="3" name="Content Placeholder 2"/>
          <p:cNvSpPr>
            <a:spLocks noGrp="1"/>
          </p:cNvSpPr>
          <p:nvPr>
            <p:ph idx="1"/>
          </p:nvPr>
        </p:nvSpPr>
        <p:spPr>
          <a:xfrm>
            <a:off x="838200" y="1230006"/>
            <a:ext cx="10515600" cy="1664196"/>
          </a:xfrm>
        </p:spPr>
        <p:txBody>
          <a:bodyPr>
            <a:normAutofit fontScale="70000" lnSpcReduction="20000"/>
          </a:bodyPr>
          <a:lstStyle/>
          <a:p>
            <a:r>
              <a:rPr lang="en-US" dirty="0"/>
              <a:t>Some interesting source: </a:t>
            </a:r>
            <a:r>
              <a:rPr lang="en-US" dirty="0">
                <a:hlinkClick r:id="rId2"/>
              </a:rPr>
              <a:t>https://towardsdatascience.com/light-on-math-machine-learning-intuitive-guide-to-latent-dirichlet-allocation-437c81220158/</a:t>
            </a:r>
            <a:endParaRPr lang="en-US" dirty="0"/>
          </a:p>
          <a:p>
            <a:r>
              <a:rPr lang="en-US" dirty="0"/>
              <a:t>https://www.geeksforgeeks.org/latent-dirichlet-allocation/</a:t>
            </a:r>
          </a:p>
          <a:p>
            <a:r>
              <a:rPr lang="en-US" dirty="0"/>
              <a:t>LDA is a generative probabilistic model that leverages Bayesian inference to find the underlying topics in a corpus of texts. It assumes each document is a combination of a small number of latent topics, and each word is generated by a particular topic.</a:t>
            </a:r>
          </a:p>
        </p:txBody>
      </p:sp>
    </p:spTree>
    <p:extLst>
      <p:ext uri="{BB962C8B-B14F-4D97-AF65-F5344CB8AC3E}">
        <p14:creationId xmlns:p14="http://schemas.microsoft.com/office/powerpoint/2010/main" val="30757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35" y="172179"/>
            <a:ext cx="7701793" cy="524108"/>
          </a:xfrm>
        </p:spPr>
        <p:txBody>
          <a:bodyPr>
            <a:normAutofit fontScale="90000"/>
          </a:bodyPr>
          <a:lstStyle/>
          <a:p>
            <a:r>
              <a:rPr lang="en-US" sz="3200" b="1" dirty="0"/>
              <a:t>Topic Modelling Techniques: LDA</a:t>
            </a:r>
          </a:p>
        </p:txBody>
      </p:sp>
      <p:sp>
        <p:nvSpPr>
          <p:cNvPr id="7" name="Rectangle 6"/>
          <p:cNvSpPr/>
          <p:nvPr/>
        </p:nvSpPr>
        <p:spPr>
          <a:xfrm>
            <a:off x="125135" y="797565"/>
            <a:ext cx="11862733" cy="2862322"/>
          </a:xfrm>
          <a:prstGeom prst="rect">
            <a:avLst/>
          </a:prstGeom>
        </p:spPr>
        <p:txBody>
          <a:bodyPr wrap="square">
            <a:spAutoFit/>
          </a:bodyPr>
          <a:lstStyle/>
          <a:p>
            <a:r>
              <a:rPr lang="en-US" dirty="0"/>
              <a:t>2. How LDA Works:</a:t>
            </a:r>
          </a:p>
          <a:p>
            <a:pPr marL="285750" indent="-285750">
              <a:buFont typeface="Arial" panose="020B0604020202020204" pitchFamily="34" charset="0"/>
              <a:buChar char="•"/>
            </a:pPr>
            <a:r>
              <a:rPr lang="en-US" dirty="0"/>
              <a:t>Generative Model: LDA is a generative model, meaning it assumes that documents are generated from a process where each document is a mixture of underlying topics, and each topic is a mixture of words. </a:t>
            </a:r>
          </a:p>
          <a:p>
            <a:pPr marL="285750" indent="-285750">
              <a:buFont typeface="Arial" panose="020B0604020202020204" pitchFamily="34" charset="0"/>
              <a:buChar char="•"/>
            </a:pPr>
            <a:r>
              <a:rPr lang="en-US" dirty="0"/>
              <a:t>Mixture of Topics: Each document is represented as a probability distribution over the topics, indicating which topics are most relevant to that document.  </a:t>
            </a:r>
          </a:p>
          <a:p>
            <a:pPr marL="285750" indent="-285750">
              <a:buFont typeface="Arial" panose="020B0604020202020204" pitchFamily="34" charset="0"/>
              <a:buChar char="•"/>
            </a:pPr>
            <a:r>
              <a:rPr lang="en-US" dirty="0"/>
              <a:t>Mixture of Words: Each topic is represented as a probability distribution over the words, indicating which words are most likely to appear in that topic. </a:t>
            </a:r>
          </a:p>
          <a:p>
            <a:pPr marL="285750" indent="-285750">
              <a:buFont typeface="Arial" panose="020B0604020202020204" pitchFamily="34" charset="0"/>
              <a:buChar char="•"/>
            </a:pPr>
            <a:r>
              <a:rPr lang="en-US" dirty="0"/>
              <a:t>Latent: The topics themselves are "latent" variables, meaning they are not directly observed but inferred from the data. </a:t>
            </a:r>
          </a:p>
          <a:p>
            <a:pPr marL="285750" indent="-285750">
              <a:buFont typeface="Arial" panose="020B0604020202020204" pitchFamily="34" charset="0"/>
              <a:buChar char="•"/>
            </a:pPr>
            <a:r>
              <a:rPr lang="en-US" dirty="0" err="1"/>
              <a:t>Dirichlet</a:t>
            </a:r>
            <a:r>
              <a:rPr lang="en-US" dirty="0"/>
              <a:t> Distribution: LDA assumes that both the topic proportions within a document and the word probabilities within a topic follow a </a:t>
            </a:r>
            <a:r>
              <a:rPr lang="en-US" dirty="0" err="1"/>
              <a:t>Dirichlet</a:t>
            </a:r>
            <a:r>
              <a:rPr lang="en-US" dirty="0"/>
              <a:t> distribution, a probability distribution that describes the probabilities of multiple events. </a:t>
            </a:r>
          </a:p>
        </p:txBody>
      </p:sp>
      <p:sp>
        <p:nvSpPr>
          <p:cNvPr id="8" name="Rectangle 7"/>
          <p:cNvSpPr/>
          <p:nvPr/>
        </p:nvSpPr>
        <p:spPr>
          <a:xfrm>
            <a:off x="125135" y="4455654"/>
            <a:ext cx="11929845" cy="2308324"/>
          </a:xfrm>
          <a:prstGeom prst="rect">
            <a:avLst/>
          </a:prstGeom>
        </p:spPr>
        <p:txBody>
          <a:bodyPr wrap="square">
            <a:spAutoFit/>
          </a:bodyPr>
          <a:lstStyle/>
          <a:p>
            <a:r>
              <a:rPr lang="en-US" dirty="0"/>
              <a:t>3. Key Steps in LDA:</a:t>
            </a:r>
          </a:p>
          <a:p>
            <a:r>
              <a:rPr lang="en-US" dirty="0"/>
              <a:t>Data Preparation: The text data needs to be preprocessed, including cleaning, removing stop words, and creating a vocabulary of words. </a:t>
            </a:r>
          </a:p>
          <a:p>
            <a:r>
              <a:rPr lang="en-US" dirty="0"/>
              <a:t>Model Training: The LDA model is trained on the prepared data, which involves inferring the latent topics and their associated word distributions. </a:t>
            </a:r>
          </a:p>
          <a:p>
            <a:r>
              <a:rPr lang="en-US" dirty="0"/>
              <a:t>Topic Interpretation: Once the model is trained, the topics can be interpreted by examining the words with the highest probabilities within each topic. </a:t>
            </a:r>
          </a:p>
          <a:p>
            <a:r>
              <a:rPr lang="en-US" dirty="0"/>
              <a:t>Document Analysis: The model can be used to determine which topics are most relevant to each document. </a:t>
            </a:r>
          </a:p>
        </p:txBody>
      </p:sp>
    </p:spTree>
    <p:extLst>
      <p:ext uri="{BB962C8B-B14F-4D97-AF65-F5344CB8AC3E}">
        <p14:creationId xmlns:p14="http://schemas.microsoft.com/office/powerpoint/2010/main" val="4102283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6577668" cy="675110"/>
          </a:xfrm>
        </p:spPr>
        <p:txBody>
          <a:bodyPr>
            <a:normAutofit fontScale="90000"/>
          </a:bodyPr>
          <a:lstStyle/>
          <a:p>
            <a:r>
              <a:rPr lang="en-US" b="1" dirty="0"/>
              <a:t>Applications of Topic Modelling</a:t>
            </a:r>
          </a:p>
        </p:txBody>
      </p:sp>
      <p:sp>
        <p:nvSpPr>
          <p:cNvPr id="3" name="Content Placeholder 2"/>
          <p:cNvSpPr>
            <a:spLocks noGrp="1"/>
          </p:cNvSpPr>
          <p:nvPr>
            <p:ph idx="1"/>
          </p:nvPr>
        </p:nvSpPr>
        <p:spPr/>
        <p:txBody>
          <a:bodyPr/>
          <a:lstStyle/>
          <a:p>
            <a:r>
              <a:rPr lang="en-US" b="1" dirty="0"/>
              <a:t>Document Classification</a:t>
            </a:r>
            <a:r>
              <a:rPr lang="en-US" dirty="0"/>
              <a:t>: It helps in automatically classifying documents into predefined categories based on their content.</a:t>
            </a:r>
          </a:p>
          <a:p>
            <a:r>
              <a:rPr lang="en-US" b="1" dirty="0"/>
              <a:t>Customer Feedback Analysis</a:t>
            </a:r>
            <a:r>
              <a:rPr lang="en-US" dirty="0"/>
              <a:t>: Companies use topic modeling to analyze customer reviews and feedback to identify common issues and areas for improvement.</a:t>
            </a:r>
          </a:p>
          <a:p>
            <a:endParaRPr lang="en-US" dirty="0"/>
          </a:p>
        </p:txBody>
      </p:sp>
    </p:spTree>
    <p:extLst>
      <p:ext uri="{BB962C8B-B14F-4D97-AF65-F5344CB8AC3E}">
        <p14:creationId xmlns:p14="http://schemas.microsoft.com/office/powerpoint/2010/main" val="23501789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2705</TotalTime>
  <Words>1428</Words>
  <Application>Microsoft Office PowerPoint</Application>
  <PresentationFormat>Widescreen</PresentationFormat>
  <Paragraphs>57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Inter</vt:lpstr>
      <vt:lpstr>source-serif-pro</vt:lpstr>
      <vt:lpstr>Office Theme</vt:lpstr>
      <vt:lpstr>GenAI Module7 – NLP- applications-TopicModelling</vt:lpstr>
      <vt:lpstr>PowerPoint Presentation</vt:lpstr>
      <vt:lpstr>What is topic Modelling?</vt:lpstr>
      <vt:lpstr>Why topic Modelling?</vt:lpstr>
      <vt:lpstr>Topic Modelling Techniques: LSA and LDA</vt:lpstr>
      <vt:lpstr>Topic Modelling Techniques: LSA(see jupyter n/b)</vt:lpstr>
      <vt:lpstr>LSA explained(p1):</vt:lpstr>
      <vt:lpstr>LSA explained(p2):</vt:lpstr>
      <vt:lpstr>LSA explained(p3):</vt:lpstr>
      <vt:lpstr>LSA: Application of Document and Term Vectors</vt:lpstr>
      <vt:lpstr>Applications of LSA</vt:lpstr>
      <vt:lpstr>Topic Modelling Techniques: LDA(see jupyter n/b)</vt:lpstr>
      <vt:lpstr>Topic Modelling Techniques: LDA</vt:lpstr>
      <vt:lpstr>Applications of Topic Modelling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GenAI Module7 - NLP</dc:title>
  <dc:creator>Windows User</dc:creator>
  <cp:lastModifiedBy>Ashwani Kumar</cp:lastModifiedBy>
  <cp:revision>164</cp:revision>
  <dcterms:created xsi:type="dcterms:W3CDTF">2025-01-16T06:16:23Z</dcterms:created>
  <dcterms:modified xsi:type="dcterms:W3CDTF">2026-04-19T09:24:53Z</dcterms:modified>
</cp:coreProperties>
</file>