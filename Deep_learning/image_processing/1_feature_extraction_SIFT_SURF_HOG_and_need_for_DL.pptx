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76" r:id="rId2"/>
    <p:sldId id="257" r:id="rId3"/>
    <p:sldId id="277" r:id="rId4"/>
    <p:sldId id="278" r:id="rId5"/>
    <p:sldId id="279" r:id="rId6"/>
    <p:sldId id="283" r:id="rId7"/>
    <p:sldId id="284" r:id="rId8"/>
    <p:sldId id="280" r:id="rId9"/>
    <p:sldId id="275" r:id="rId10"/>
    <p:sldId id="285" r:id="rId11"/>
    <p:sldId id="282" r:id="rId12"/>
    <p:sldId id="28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CD7380-14F7-CE9E-BFA6-CE50101D2C07}"/>
              </a:ext>
            </a:extLst>
          </p:cNvPr>
          <p:cNvSpPr txBox="1"/>
          <p:nvPr/>
        </p:nvSpPr>
        <p:spPr>
          <a:xfrm>
            <a:off x="426720" y="469452"/>
            <a:ext cx="113385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What is Image Processing?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Definition: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 processing is the technique of manipulating images to extract useful information.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Basic idea: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image = matrix of pixel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Grayscale → 2D matrix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RGB → 3D matrix (Height × Width × Channels)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Pixel value range: 0–255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 = black, 255 = white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DBC16-C006-C421-38B3-B90362D1D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5E310D-3764-EC6B-21EC-BF55BFB03955}"/>
              </a:ext>
            </a:extLst>
          </p:cNvPr>
          <p:cNvSpPr txBox="1"/>
          <p:nvPr/>
        </p:nvSpPr>
        <p:spPr>
          <a:xfrm>
            <a:off x="426720" y="469452"/>
            <a:ext cx="113385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operations: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Resizing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Filtering (blur, sharpen)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Edge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Thresholding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important?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Computer vision systems rely on it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 medical imaging, self-driving cars, face recognition</a:t>
            </a:r>
          </a:p>
        </p:txBody>
      </p:sp>
    </p:spTree>
    <p:extLst>
      <p:ext uri="{BB962C8B-B14F-4D97-AF65-F5344CB8AC3E}">
        <p14:creationId xmlns:p14="http://schemas.microsoft.com/office/powerpoint/2010/main" val="3798805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12120-9241-A6A7-17D5-6E5B21B1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698C4A-FCD8-85DF-645C-C5006EF1AAA9}"/>
              </a:ext>
            </a:extLst>
          </p:cNvPr>
          <p:cNvSpPr txBox="1"/>
          <p:nvPr/>
        </p:nvSpPr>
        <p:spPr>
          <a:xfrm>
            <a:off x="426720" y="469452"/>
            <a:ext cx="113385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Traditional Feature Extraction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deep learning, we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manually designed features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Idea: Convert image → meaningful numbers (features)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 SURF , SIFT, HOG   - No longer used widely</a:t>
            </a:r>
          </a:p>
        </p:txBody>
      </p:sp>
    </p:spTree>
    <p:extLst>
      <p:ext uri="{BB962C8B-B14F-4D97-AF65-F5344CB8AC3E}">
        <p14:creationId xmlns:p14="http://schemas.microsoft.com/office/powerpoint/2010/main" val="1451372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41110-BD9A-3DE9-5757-850AFFCDB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84556F-0F14-96FA-44BE-8CFC33903061}"/>
              </a:ext>
            </a:extLst>
          </p:cNvPr>
          <p:cNvSpPr txBox="1"/>
          <p:nvPr/>
        </p:nvSpPr>
        <p:spPr>
          <a:xfrm>
            <a:off x="335280" y="67116"/>
            <a:ext cx="692505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2.1 SIFT (Scale-Invariant Feature Transform)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Detect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keypoints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Scale invariant (zoom doesn’t matter)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Rotation invariant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Detect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keypoints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(corners/blobs)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Assign orientation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descriptor (vector of features)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Keypoints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+ 128-dimensional vector per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keypoint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0C8AC1-9E66-28B8-E49C-FB08685A4D85}"/>
              </a:ext>
            </a:extLst>
          </p:cNvPr>
          <p:cNvSpPr txBox="1"/>
          <p:nvPr/>
        </p:nvSpPr>
        <p:spPr>
          <a:xfrm>
            <a:off x="7478268" y="2797386"/>
            <a:ext cx="47137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Object recognition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 matching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Strength: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Very robust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Weakness: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Slow, computationally expensive</a:t>
            </a:r>
          </a:p>
        </p:txBody>
      </p:sp>
    </p:spTree>
    <p:extLst>
      <p:ext uri="{BB962C8B-B14F-4D97-AF65-F5344CB8AC3E}">
        <p14:creationId xmlns:p14="http://schemas.microsoft.com/office/powerpoint/2010/main" val="33133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60710-D9E8-B198-04CD-EE3C4C3E1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2150B0-5360-7764-8A87-80C3BEB60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24" y="155671"/>
            <a:ext cx="4934639" cy="22672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ADD28F-AA39-0F59-7341-C4B443E96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780" y="1128439"/>
            <a:ext cx="6592220" cy="11812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96EB8D-196F-4AAD-91BD-9D01348BD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824" y="2668884"/>
            <a:ext cx="8323472" cy="4189116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226C94E0-A9FB-3FF2-6487-2417E1B2141F}"/>
              </a:ext>
            </a:extLst>
          </p:cNvPr>
          <p:cNvSpPr/>
          <p:nvPr/>
        </p:nvSpPr>
        <p:spPr>
          <a:xfrm>
            <a:off x="5213906" y="1426463"/>
            <a:ext cx="385874" cy="2926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849B133-17F3-8947-3AA0-8A09C118EDE9}"/>
              </a:ext>
            </a:extLst>
          </p:cNvPr>
          <p:cNvSpPr/>
          <p:nvPr/>
        </p:nvSpPr>
        <p:spPr>
          <a:xfrm rot="8403213">
            <a:off x="8659605" y="2566702"/>
            <a:ext cx="571768" cy="2926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70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CB068-3854-C265-9DF4-FA96E8EF5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A59196-B163-9FBF-9C1B-17BDA0909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823549"/>
            <a:ext cx="4677428" cy="52109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1E02CF-E43D-245A-9667-15B4071DC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58" y="823549"/>
            <a:ext cx="4677428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236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8FCA3-E868-7EE7-980C-47FB4B730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1F732F-279B-E1F8-E74A-88A45E75294D}"/>
              </a:ext>
            </a:extLst>
          </p:cNvPr>
          <p:cNvSpPr txBox="1"/>
          <p:nvPr/>
        </p:nvSpPr>
        <p:spPr>
          <a:xfrm>
            <a:off x="335280" y="67116"/>
            <a:ext cx="692505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2.2 SURF (Speeded-Up Robust Features)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Faster version of SIFT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it's different: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Uses approximations → faster computation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Uses integral images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Faster than SIFT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Slightly less accurate</a:t>
            </a:r>
          </a:p>
        </p:txBody>
      </p:sp>
    </p:spTree>
    <p:extLst>
      <p:ext uri="{BB962C8B-B14F-4D97-AF65-F5344CB8AC3E}">
        <p14:creationId xmlns:p14="http://schemas.microsoft.com/office/powerpoint/2010/main" val="740892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EC1CC-29D8-54F5-1683-4AC0CA1FDF12}"/>
              </a:ext>
            </a:extLst>
          </p:cNvPr>
          <p:cNvSpPr txBox="1"/>
          <p:nvPr/>
        </p:nvSpPr>
        <p:spPr>
          <a:xfrm>
            <a:off x="278892" y="213420"/>
            <a:ext cx="619048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2.3 HOG (Histogram of Oriented Gradients)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Idea: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Capture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edge directions (gradients)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an image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Divide image into small cells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Compute gradients (edges)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Create histogram of directions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Normalize across blocks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Feature vector representing shape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C0E584-7142-6344-654C-2594F66B8632}"/>
              </a:ext>
            </a:extLst>
          </p:cNvPr>
          <p:cNvSpPr txBox="1"/>
          <p:nvPr/>
        </p:nvSpPr>
        <p:spPr>
          <a:xfrm>
            <a:off x="6606540" y="2992088"/>
            <a:ext cx="58475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Best for: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Object detection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intuition: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Objects are defined by edges, not raw pixels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19351-64FD-93D3-6A47-5A0C39599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307441-2EA0-C24D-74FD-899DB8155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67" y="64008"/>
            <a:ext cx="7923043" cy="37189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C837E0-8E83-A86F-7BCB-2F0AE85FE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410" y="2478867"/>
            <a:ext cx="3645294" cy="38735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812465-EE3D-C000-7ECF-55F4EE9A0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715" y="2478867"/>
            <a:ext cx="3645293" cy="396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77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D3845-E97E-131E-8D49-BA5879089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683C43C-1715-7234-8927-79770C5D8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262753"/>
              </p:ext>
            </p:extLst>
          </p:nvPr>
        </p:nvGraphicFramePr>
        <p:xfrm>
          <a:off x="545592" y="361982"/>
          <a:ext cx="10015728" cy="1828800"/>
        </p:xfrm>
        <a:graphic>
          <a:graphicData uri="http://schemas.openxmlformats.org/drawingml/2006/table">
            <a:tbl>
              <a:tblPr/>
              <a:tblGrid>
                <a:gridCol w="2298192">
                  <a:extLst>
                    <a:ext uri="{9D8B030D-6E8A-4147-A177-3AD203B41FA5}">
                      <a16:colId xmlns:a16="http://schemas.microsoft.com/office/drawing/2014/main" val="1369297100"/>
                    </a:ext>
                  </a:extLst>
                </a:gridCol>
                <a:gridCol w="3282696">
                  <a:extLst>
                    <a:ext uri="{9D8B030D-6E8A-4147-A177-3AD203B41FA5}">
                      <a16:colId xmlns:a16="http://schemas.microsoft.com/office/drawing/2014/main" val="200432943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15691639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Weakness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763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Very robust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7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SURF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Less precise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663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HOG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Simple, good for shapes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Not good for complex objects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8155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6D030B7-D40D-FC98-8A0C-6B99EBE504DC}"/>
              </a:ext>
            </a:extLst>
          </p:cNvPr>
          <p:cNvSpPr txBox="1"/>
          <p:nvPr/>
        </p:nvSpPr>
        <p:spPr>
          <a:xfrm>
            <a:off x="2025396" y="3079698"/>
            <a:ext cx="61904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Why Traditional Methods Failed?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Manual feature design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scalable for complex tasks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Struggle with: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Lighting changes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Background noise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 datasets </a:t>
            </a: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This led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Learning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800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09FDB-78D9-B7FB-0258-C2B330BA1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995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1116</TotalTime>
  <Words>358</Words>
  <Application>Microsoft Office PowerPoint</Application>
  <PresentationFormat>Widescreen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180</cp:revision>
  <dcterms:created xsi:type="dcterms:W3CDTF">2025-09-22T02:44:38Z</dcterms:created>
  <dcterms:modified xsi:type="dcterms:W3CDTF">2026-04-23T05:47:07Z</dcterms:modified>
</cp:coreProperties>
</file>