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87" r:id="rId3"/>
    <p:sldId id="286" r:id="rId4"/>
    <p:sldId id="277" r:id="rId5"/>
    <p:sldId id="281" r:id="rId6"/>
    <p:sldId id="276" r:id="rId7"/>
    <p:sldId id="275" r:id="rId8"/>
    <p:sldId id="279" r:id="rId9"/>
    <p:sldId id="283" r:id="rId10"/>
    <p:sldId id="284" r:id="rId11"/>
    <p:sldId id="282" r:id="rId12"/>
    <p:sldId id="285" r:id="rId13"/>
    <p:sldId id="280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2:21:24.6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2645 1933 24575,'0'1'0,"0"-1"0,0 0 0,0 0 0,1 0 0,-1 0 0,0 0 0,0 1 0,0-1 0,0 0 0,0 0 0,0 0 0,0 0 0,0 0 0,0 0 0,0 1 0,0-1 0,0 0 0,0 0 0,0 0 0,1 0 0,-1 0 0,0 0 0,0 0 0,0 0 0,0 0 0,0 1 0,0-1 0,1 0 0,-1 0 0,0 0 0,0 0 0,0 0 0,0 0 0,0 0 0,1 0 0,-1 0 0,0 0 0,0 0 0,0 0 0,0 0 0,0 0 0,0 0 0,1 0 0,-1 0 0,0 0 0,0 0 0,0 0 0,0-1 0,0 1 0,1 0 0,-1 0 0,0 0 0,0 0 0,0 0 0,13-8 0,9-12 0,5-10 0,-2-1 0,0-1 0,-3-1 0,0-2 0,-3 0 0,0 0 0,-3-2 0,16-47 0,-17 31 0,-2-1 0,-2-1 0,-2 0 0,-3 0 0,-1-80 0,-4 50 0,1 45 0,-2 0 0,-1 0 0,-3 0 0,0 0 0,-13-43 0,12 68 0,-1 0 0,-1 1 0,-1 0 0,0 0 0,0 1 0,-16-19 0,-70-69 0,77 83 0,-23-20 0,-1 3 0,-2 1 0,-1 2 0,-2 2 0,-75-38 0,-259-91 0,278 120 0,38 16 0,-1 3 0,-1 3 0,-115-15 0,56 21 0,-137 4 0,56 7 0,-147 4 0,332-3 0,-1 1 0,1 1 0,-1 1 0,1 2 0,0-1 0,1 2 0,0 1 0,-33 17 0,23-7 0,2 2 0,0 0 0,1 2 0,-42 43 0,44-39 0,2 1 0,0 1 0,2 1 0,-34 60 0,45-68 0,0 1 0,1 1 0,1-1 0,2 1 0,0 0 0,1 1 0,1 0 0,-1 34 0,9 357 0,0-382 0,0-1 0,3 1 0,0-1 0,2-1 0,1 0 0,2 0 0,28 54 0,0-16 0,2-2 0,57 68 0,-78-108 0,2-1 0,1 0 0,0-2 0,2-1 0,1-1 0,1-2 0,0 0 0,2-2 0,0-1 0,55 22 0,162 63-1365,-215-89-5461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2:21:26.3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761 1 24575,'8'20'0,"-1"1"0,0 0 0,-1 0 0,-2 1 0,4 34 0,2 12 0,-9-64 0,17 82 0,-3 2 0,4 135 0,-19-208 0,2 0 0,-1 1 0,8 27 0,-8-42 0,-1 1 0,0-1 0,1 0 0,-1 1 0,0-1 0,0 0 0,0 1 0,0-1 0,0 0 0,-1 1 0,1-1 0,0 0 0,-1 1 0,1-1 0,-1 0 0,1 0 0,-1 1 0,1-1 0,-1 0 0,0 0 0,0 0 0,0 0 0,1 0 0,-1 0 0,0 0 0,0 0 0,0 0 0,-1 0 0,1-1 0,0 1 0,0 0 0,0-1 0,0 1 0,-1-1 0,1 1 0,-3 0 0,-5 1 0,0 0 0,-1-1 0,1 1 0,-13-2 0,13 1 0,-380-2 0,147-3 0,110 4-1365,111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3:09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0 328 24575,'2'0'0,"0"1"0,-1-1 0,1 1 0,0-1 0,-1 1 0,1 0 0,-1 0 0,1 0 0,-1 0 0,1 0 0,-1 0 0,0 0 0,1 1 0,-1-1 0,0 0 0,0 1 0,0-1 0,0 1 0,1 2 0,21 41 0,-12-20 0,45 73 0,24 40 0,-79-135 0,1-1 0,-1 1 0,1-1 0,0 1 0,0-1 0,0 0 0,0 0 0,0 0 0,0 0 0,0 0 0,1-1 0,-1 1 0,1-1 0,-1 1 0,1-1 0,-1 0 0,1 0 0,0 0 0,0-1 0,0 1 0,-1 0 0,1-1 0,0 0 0,0 0 0,0 0 0,0 0 0,0 0 0,0 0 0,-1-1 0,1 1 0,0-1 0,0 0 0,0 0 0,-1 0 0,1 0 0,-1-1 0,1 1 0,-1-1 0,1 1 0,-1-1 0,0 0 0,3-3 0,14-12 0,-1-2 0,-1 0 0,-1-1 0,15-23 0,18-22 0,224-215 0,-173 185 0,-5 18-404,-77 64-557,15-12-5865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3:13.8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433 5 24575,'-82'-2'0,"42"0"0,-1 2 0,1 1 0,-75 13 0,110-13 0,1 0 0,-1 0 0,1 1 0,0-1 0,-1 1 0,1 0 0,0 0 0,0 1 0,0-1 0,0 1 0,1 0 0,-1 0 0,1 0 0,0 0 0,0 1 0,0-1 0,0 1 0,0 0 0,1 0 0,0 0 0,-1 0 0,2 0 0,-3 5 0,1 6 0,0 1 0,0-1 0,2 1 0,0-1 0,1 26 0,5 126 0,-4 209 0,-13-296 0,7-60 0,2 1 0,0-1 0,1 37 0,2-54 0,1-1 0,-1 1 0,1-1 0,-1 0 0,1 1 0,0-1 0,0 1 0,0-1 0,0 0 0,1 0 0,-1 0 0,1 1 0,-1-1 0,1-1 0,0 1 0,0 0 0,-1 0 0,1-1 0,1 1 0,-1-1 0,0 1 0,0-1 0,0 0 0,1 0 0,-1 0 0,0 0 0,1 0 0,-1-1 0,1 1 0,-1-1 0,5 1 0,10 0 0,0 0 0,1 0 0,29-5 0,-15 2 0,366-1-41,-254 4-1283,-114-1-5502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9:38.2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1629 0 24575,'-708'0'0,"655"3"0,0 3 0,-81 17 0,39-4 0,73-14 0,0 1 0,0 1 0,-21 10 0,-27 10 0,33-13 0,0 2 0,1 2 0,1 1 0,0 2 0,2 2 0,-48 40 0,72-55 0,0 0 0,0 1 0,1 0 0,0 0 0,0 1 0,1 0 0,1 0 0,-1 1 0,2 0 0,-8 18 0,7-9 0,1 1 0,1-1 0,0 1 0,2-1 0,-1 30 0,3-39 0,3 286 0,-3-292 0,1 0 0,-1 0 0,1 0 0,0 0 0,1-1 0,-1 1 0,1 0 0,0-1 0,0 1 0,0-1 0,1 1 0,-1-1 0,1 0 0,0 0 0,0 0 0,1-1 0,6 7 0,0-4 0,-1 0 0,1-1 0,-1 0 0,2-1 0,-1 0 0,0 0 0,15 2 0,360 69 0,-143-32 0,-164-30 0,139 6 0,80-20 0,-112-1 0,-123-2 0,0-2 0,75-17 0,-48 7 0,-64 12 0,0-1 0,-1-1 0,0-1 0,0 0 0,0-2 0,-1-1 0,-1-1 0,0-1 0,0-1 0,-1-1 0,25-22 0,20-18 0,-18 16 0,-2-2 0,53-60 0,-92 92 0,0-1 0,-1-1 0,0 1 0,0-1 0,-1 0 0,0-1 0,-1 1 0,0-1 0,-1 1 0,0-1 0,0 0 0,-2-1 0,1 1 0,-1 0 0,-1 0 0,-1-19 0,-1 16 0,0 0 0,-1 0 0,-1 1 0,-1-1 0,1 1 0,-2 0 0,0 0 0,-1 1 0,0 0 0,0 0 0,-2 0 0,-15-17 0,11 16 0,-1 0 0,-1 1 0,0 0 0,0 1 0,-1 1 0,-1 0 0,-29-12 0,-11 0 0,-62-14 0,63 20 0,20 4 0,-1 3 0,0 1 0,0 1 0,-1 2 0,-44 1 0,-96 5-1365,156-1-5461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9:49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1378 1 24575,'-834'0'0,"814"1"0,1 0 0,-1 2 0,1 0 0,0 2 0,0 0 0,0 1 0,-25 12 0,13-4 0,2 2 0,0 1 0,-41 32 0,50-32 0,1 2 0,0 0 0,2 1 0,0 1 0,1 0 0,1 2 0,1-1 0,1 2 0,1 0 0,-12 34 0,19-39 0,0 0 0,2 0 0,0 0 0,1 0 0,0 23 0,9 97 0,-6-129 0,1 0 0,0 0 0,1 0 0,0-1 0,0 1 0,1-1 0,0 0 0,1 0 0,0-1 0,0 1 0,1-1 0,0 0 0,1 0 0,-1-1 0,1 0 0,15 12 0,9 3 0,0-1 0,1-2 0,41 18 0,-46-23 0,8 2 0,0-2 0,1-1 0,1-1 0,60 9 0,154 10 0,-245-31 0,114 7 0,52 6 0,-73-3 0,196-7 0,-146-6 0,-31 5 0,130-5 0,-234 1 0,-1-1 0,1-1 0,-1 0 0,1-1 0,-1-1 0,0 0 0,-1 0 0,0-2 0,0 1 0,0-2 0,-1 1 0,0-1 0,-1-1 0,0 0 0,-1-1 0,0 1 0,0-2 0,-1 1 0,13-25 0,-15 11 0,-1 0 0,-1 0 0,-1 0 0,-1 0 0,-1 0 0,-2 0 0,-3-33 0,0-26 0,5 32 0,1 30 0,-2 0 0,0 0 0,-5-24 0,4 40 0,0 0 0,0-1 0,-1 1 0,0 0 0,-1 0 0,0 1 0,1-1 0,-2 0 0,1 1 0,-1-1 0,1 1 0,-1 0 0,-1 1 0,1-1 0,-6-4 0,-37-23 0,-1 1 0,-1 3 0,-58-23 0,52 24 0,22 14 0,0 2 0,0 1 0,-1 1 0,-1 2 0,-47-3 0,-43-10 0,100 14 0,-181-30 0,185 32-1365,5-2-5461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5:21.4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82 24575,'61'-10'0,"-8"0"0,564 1 0,-349 12 0,-117-1 0,158-5 0,-277 0-273,0-3 0,-1 0 0,0-2 0,58-23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5:24.4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0 294 24575,'4'0'0,"6"4"0,2 6 0,-2 6 0,6 8 0,5 0 0,11-12 0,14-17 0,25-21 0,26-18 0,27-11 0,1-5 0,-13 9 0,-7 3 0,-17 6 0,-20 10 0,-22 11-8191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5:25.7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0 293 24575,'1'31'0,"1"0"0,1 0 0,1 0 0,2 0 0,2-1 0,0 0 0,2 0 0,18 37 0,-27-64 0,1 1 0,-1-1 0,1-1 0,-1 1 0,1 0 0,0 0 0,0-1 0,0 1 0,0-1 0,1 1 0,-1-1 0,1 0 0,-1 0 0,1 0 0,0 0 0,0-1 0,0 1 0,0-1 0,0 1 0,0-1 0,0 0 0,0 0 0,1-1 0,-1 1 0,5 0 0,-2-2 0,1-1 0,-1 1 0,0-1 0,1 0 0,-1 0 0,0-1 0,0 0 0,-1 0 0,1 0 0,-1-1 0,1 0 0,5-6 0,170-137 0,344-258 0,-512 396-170,0 0-1,0 1 0,1 0 1,0 1-1,1 0 0,0 1 1,18-5-1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15.8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1 217 24575,'4'2'0,"-1"0"0,1 0 0,-1 1 0,0-1 0,1 0 0,-1 1 0,0 0 0,0 0 0,-1 0 0,1 0 0,-1 0 0,1 1 0,1 4 0,5 3 0,-7-7 0,1-1 0,0 1 0,0-1 0,0 0 0,0 0 0,0 0 0,1-1 0,-1 1 0,1-1 0,0 0 0,-1 0 0,1 0 0,0 0 0,0-1 0,1 0 0,-1 0 0,0 0 0,9 1 0,-7-3 0,0 0 0,0 0 0,1 0 0,-1-1 0,0 0 0,0-1 0,-1 1 0,1-1 0,0 0 0,-1-1 0,0 1 0,7-7 0,31-25 17,39-42-1,-59 52-216,2 2 1,0 0-1,1 2 0,2 1 0,0 1 1,32-17-1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18.1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0 365 24575,'1'-1'0,"0"-1"0,1 1 0,-1 0 0,0 0 0,0 0 0,1 0 0,-1 0 0,0 0 0,1 0 0,-1 0 0,1 1 0,-1-1 0,1 0 0,0 1 0,-1-1 0,1 1 0,-1 0 0,1 0 0,0-1 0,-1 1 0,1 0 0,0 0 0,-1 1 0,1-1 0,0 0 0,-1 0 0,1 1 0,0-1 0,-1 1 0,1 0 0,-1-1 0,1 1 0,-1 0 0,1 0 0,-1 0 0,0 0 0,1 0 0,-1 0 0,0 0 0,0 0 0,0 1 0,0-1 0,0 0 0,1 3 0,6 8 0,-1 0 0,-1 1 0,1 0 0,5 19 0,-2-5 0,-3-13 0,1 4 0,0-1 0,1 0 0,22 28 0,-29-41 0,0-1 0,1 0 0,0 0 0,0 0 0,0 0 0,0-1 0,0 1 0,1-1 0,-1 0 0,1 0 0,0 0 0,-1 0 0,1 0 0,0-1 0,0 0 0,0 0 0,0 0 0,0 0 0,0-1 0,0 1 0,0-1 0,0 0 0,1 0 0,3-2 0,13-4 0,-1-1 0,0-1 0,-1-1 0,0-1 0,0 0 0,31-24 0,7-4 0,206-112 0,367-153 0,-590 287-682,48-14-1,-48 21-6143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20.2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87 24575,'7'1'0,"-1"0"0,0 0 0,0 1 0,0-1 0,0 1 0,-1 1 0,1-1 0,0 1 0,-1 0 0,0 0 0,1 0 0,-1 1 0,-1 0 0,1 0 0,6 7 0,7 9 0,0 1 0,17 24 0,-30-37 0,6 8 0,-1 0 0,0 1 0,10 22 0,-19-36 0,0 0 0,1-1 0,0 1 0,-1-1 0,1 1 0,0-1 0,0 0 0,0 0 0,0 0 0,1 0 0,-1 0 0,1-1 0,-1 1 0,1 0 0,-1-1 0,1 0 0,0 0 0,0 0 0,-1 0 0,1 0 0,0-1 0,0 1 0,0-1 0,0 1 0,0-1 0,0 0 0,0 0 0,0-1 0,0 1 0,0-1 0,5-1 0,12-3 0,-1-1 0,0-1 0,32-15 0,-30 12 0,242-129 0,-107 52 0,-126 71-455,0 0 0,36-29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22.6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0 521 24575,'0'-1'0,"1"0"0,-1 0 0,0 1 0,0-1 0,1 0 0,-1 0 0,0 1 0,1-1 0,-1 0 0,1 0 0,-1 1 0,1-1 0,-1 1 0,1-1 0,0 0 0,-1 1 0,1-1 0,0 1 0,-1 0 0,1-1 0,0 1 0,-1-1 0,1 1 0,0 0 0,0 0 0,0-1 0,-1 1 0,1 0 0,0 0 0,0 0 0,0 0 0,0 0 0,-1 0 0,1 0 0,0 0 0,0 0 0,0 1 0,-1-1 0,1 0 0,0 0 0,1 1 0,36 10 0,-24-3 0,0 1 0,0 0 0,-1 1 0,0 0 0,0 1 0,-2 0 0,1 1 0,-1 0 0,-1 1 0,0 1 0,15 27 0,-24-40 0,0 0 0,-1 0 0,1 1 0,0-1 0,0 0 0,0 0 0,0 0 0,0 0 0,0 0 0,0 0 0,1 0 0,-1-1 0,0 1 0,0 0 0,1-1 0,-1 1 0,0-1 0,1 1 0,-1-1 0,1 0 0,-1 1 0,0-1 0,1 0 0,-1 0 0,1 0 0,-1 0 0,1 0 0,-1 0 0,1-1 0,-1 1 0,3-1 0,4-2 0,0-1 0,0 1 0,0-2 0,10-6 0,-11 7 0,310-215 0,101-61 0,-157 153-1365,-161 89-5461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6:10:47.59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0 588 24575,'3'1'0,"-1"-1"0,1 1 0,0 0 0,-1 0 0,1 0 0,-1 1 0,0-1 0,1 0 0,-1 1 0,0 0 0,0-1 0,0 1 0,0 0 0,0 0 0,2 3 0,22 35 0,37 180 0,-57-202 0,-4-9 0,0-1 0,1 0 0,0 0 0,9 14 0,-12-21 0,1 1 0,0-1 0,0 0 0,0 0 0,-1 0 0,1 0 0,0 0 0,0-1 0,0 1 0,1 0 0,-1 0 0,0-1 0,0 1 0,0 0 0,1-1 0,-1 1 0,0-1 0,0 0 0,1 1 0,-1-1 0,0 0 0,1 0 0,-1 0 0,0 0 0,1 0 0,-1 0 0,0 0 0,1 0 0,-1-1 0,0 1 0,1 0 0,-1-1 0,0 1 0,0-1 0,1 1 0,-1-1 0,1-1 0,11-7 0,-1-1 0,0-1 0,-1 0 0,0-1 0,0 0 0,-2 0 0,1-1 0,10-22 0,3 0 0,-4 4 0,-1 0 0,17-46 0,-24 49 0,1 2 0,2 0 0,0 0 0,32-42 0,12 6 0,81-67 0,-86 82 0,21-11 0,-51 43 0,-2-1 0,32-32 0,61-60-1365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1:24.3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1375 58 24575,'-1'-2'0,"1"0"0,-1 0 0,0 1 0,0-1 0,0 1 0,0-1 0,0 0 0,0 1 0,0 0 0,0-1 0,0 1 0,-1 0 0,1-1 0,-1 1 0,1 0 0,-1 0 0,1 0 0,-1 0 0,1 1 0,-1-1 0,0 0 0,0 1 0,-2-1 0,-44-12 0,-12 5 0,-1 3 0,0 3 0,-65 6 0,0-1 0,-21-6 0,-160 6 0,291 0 0,0-1 0,0 2 0,0 0 0,0 1 0,1 1 0,0 0 0,0 1 0,0 0 0,1 1 0,0 1 0,-14 12 0,11-7 0,0 1 0,1 0 0,1 1 0,1 1 0,0 0 0,1 1 0,-20 38 0,21-30 0,2 2 0,0 0 0,2 0 0,1 0 0,1 1 0,-3 42 0,2 177 0,6 17 0,5 157 0,-3-400 0,1 0 0,1 0 0,2-1 0,0 1 0,1-1 0,1-1 0,1 1 0,0-1 0,2 0 0,20 30 0,-24-44 0,0 1 0,0-1 0,1-1 0,0 1 0,0-1 0,1 0 0,-1-1 0,10 5 0,71 26 0,-67-27 0,18 7 0,0-1 0,1-1 0,0-3 0,1-1 0,0-2 0,61 2 0,567-13-1365,-639 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1:48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713 0 24575,'-397'22'0,"339"-17"0,46-4 0,1 1 0,0 0 0,0 0 0,0 1 0,0 1 0,1 0 0,-1 0 0,-15 10 0,21-11 0,0 0 0,1 0 0,-1 1 0,1 0 0,-1 0 0,1 0 0,0 0 0,1 1 0,-1 0 0,1-1 0,0 1 0,0 0 0,1 1 0,-1-1 0,1 0 0,0 1 0,1 0 0,-2 6 0,-9 150 0,6-58 0,-5 516 0,14-370 0,-3 573 0,-2-788 0,-1-1 0,-2 0 0,-11 39 0,7-38 0,2 0 0,-4 70 0,13 633 0,-2-735 0,0 0 0,0 0 0,1 0 0,-1 0 0,1 0 0,-1 0 0,1 0 0,0 0 0,0 0 0,1 0 0,-1-1 0,0 1 0,1 0 0,0-1 0,-1 1 0,1-1 0,0 0 0,1 0 0,-1 1 0,0-1 0,0-1 0,1 1 0,-1 0 0,1-1 0,0 1 0,-1-1 0,1 0 0,0 1 0,0-1 0,0-1 0,4 2 0,10 1 0,1-1 0,-1 0 0,0-2 0,27-1 0,-17 0 0,562-4-1365,-547 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1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1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63EA86-9651-E9BA-E51C-5E17F52FE6B6}"/>
              </a:ext>
            </a:extLst>
          </p:cNvPr>
          <p:cNvSpPr txBox="1"/>
          <p:nvPr/>
        </p:nvSpPr>
        <p:spPr>
          <a:xfrm>
            <a:off x="3108960" y="2359152"/>
            <a:ext cx="66786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Tune an Open AI Model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4CA2-C655-80A5-EB78-76683CCA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FC6C65-0BA4-0169-396C-38D4E341D7A0}"/>
              </a:ext>
            </a:extLst>
          </p:cNvPr>
          <p:cNvSpPr txBox="1"/>
          <p:nvPr/>
        </p:nvSpPr>
        <p:spPr>
          <a:xfrm>
            <a:off x="312498" y="1866412"/>
            <a:ext cx="111906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design a fine-tuned model that would take input hospital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unstructured data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give output as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data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form of JSON</a:t>
            </a:r>
          </a:p>
        </p:txBody>
      </p:sp>
    </p:spTree>
    <p:extLst>
      <p:ext uri="{BB962C8B-B14F-4D97-AF65-F5344CB8AC3E}">
        <p14:creationId xmlns:p14="http://schemas.microsoft.com/office/powerpoint/2010/main" val="26987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3A58-C42F-7E6A-B2EA-79577F01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D6F7CE-56D5-1E8B-282A-3B0A00DA5735}"/>
              </a:ext>
            </a:extLst>
          </p:cNvPr>
          <p:cNvSpPr txBox="1"/>
          <p:nvPr/>
        </p:nvSpPr>
        <p:spPr>
          <a:xfrm>
            <a:off x="0" y="1533465"/>
            <a:ext cx="47736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are a medical information extractor. Following is a patient data: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“Mr. Loxford Kumar is a 36 year of age. He is having pain  in  his gum on  left side. Possible tooth decay. Prescribed Helio 50mg daily”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Summarize above and produce output in strict JSON format: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 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patient_name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”: &lt;patient name here&gt;,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“age” : &lt;age here&gt;,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“diagnosis”: “diagnosis here”,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“prescribed medication”: “medication  here”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A86DF-9E0D-5209-3D41-BC1445A60DEF}"/>
              </a:ext>
            </a:extLst>
          </p:cNvPr>
          <p:cNvSpPr txBox="1"/>
          <p:nvPr/>
        </p:nvSpPr>
        <p:spPr>
          <a:xfrm>
            <a:off x="7150607" y="2637040"/>
            <a:ext cx="494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"patient name": “Loxford Kumar",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"age": 36,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"diagnosis": "Periodontal Abscess",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"prescribed medication": “Helio”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B3C743-E19F-2DBC-4361-8A74E184E8E7}"/>
              </a:ext>
            </a:extLst>
          </p:cNvPr>
          <p:cNvSpPr/>
          <p:nvPr/>
        </p:nvSpPr>
        <p:spPr>
          <a:xfrm>
            <a:off x="4773684" y="3279138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No Fine Tuned</a:t>
            </a:r>
          </a:p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7C71E0-E027-E5C3-F9C0-C4F85FAFF58C}"/>
              </a:ext>
            </a:extLst>
          </p:cNvPr>
          <p:cNvSpPr/>
          <p:nvPr/>
        </p:nvSpPr>
        <p:spPr>
          <a:xfrm>
            <a:off x="4170439" y="3626610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876B9C2-5FF2-741C-1992-715135DB9840}"/>
              </a:ext>
            </a:extLst>
          </p:cNvPr>
          <p:cNvSpPr/>
          <p:nvPr/>
        </p:nvSpPr>
        <p:spPr>
          <a:xfrm>
            <a:off x="6568927" y="3626610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246EC-9825-ACCD-5FE8-4E32EEA675EB}"/>
              </a:ext>
            </a:extLst>
          </p:cNvPr>
          <p:cNvSpPr txBox="1"/>
          <p:nvPr/>
        </p:nvSpPr>
        <p:spPr>
          <a:xfrm>
            <a:off x="512064" y="313132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fine tuned model, you would have to use prompt to get output in JSON format </a:t>
            </a:r>
          </a:p>
        </p:txBody>
      </p:sp>
    </p:spTree>
    <p:extLst>
      <p:ext uri="{BB962C8B-B14F-4D97-AF65-F5344CB8AC3E}">
        <p14:creationId xmlns:p14="http://schemas.microsoft.com/office/powerpoint/2010/main" val="407340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17B0-2317-6300-05E6-CA7871758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4ED367-0B16-3DC4-9E42-EF6923744366}"/>
              </a:ext>
            </a:extLst>
          </p:cNvPr>
          <p:cNvSpPr txBox="1"/>
          <p:nvPr/>
        </p:nvSpPr>
        <p:spPr>
          <a:xfrm>
            <a:off x="190517" y="2435858"/>
            <a:ext cx="40340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Victoria Gupta, a 27-year-old female, presents with chronic fatigue, muscle pain, and tender points throughout body.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Reports unrefreshing sleep and cognitive difficulties. Started on Duloxetine 30mg daily with gradual increase to 60mg.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B82DC-B053-1DFD-1DE5-57AA6EC12CD7}"/>
              </a:ext>
            </a:extLst>
          </p:cNvPr>
          <p:cNvSpPr txBox="1"/>
          <p:nvPr/>
        </p:nvSpPr>
        <p:spPr>
          <a:xfrm>
            <a:off x="7150607" y="2637040"/>
            <a:ext cx="494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"patient name": "Victoria Gupta",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"age": 27,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"diagnosis": "fibromyalgia",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"prescribed medication": "Duloxetine“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36459D-9650-908C-4B61-3079E438849C}"/>
              </a:ext>
            </a:extLst>
          </p:cNvPr>
          <p:cNvSpPr/>
          <p:nvPr/>
        </p:nvSpPr>
        <p:spPr>
          <a:xfrm>
            <a:off x="4640062" y="3297426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Fine Tuned</a:t>
            </a:r>
          </a:p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ACB062B-9A66-ADBE-F1CF-31EC2989687D}"/>
              </a:ext>
            </a:extLst>
          </p:cNvPr>
          <p:cNvSpPr/>
          <p:nvPr/>
        </p:nvSpPr>
        <p:spPr>
          <a:xfrm>
            <a:off x="4023360" y="3630168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EF39431-45E7-BB65-47F1-C29197AECA01}"/>
              </a:ext>
            </a:extLst>
          </p:cNvPr>
          <p:cNvSpPr/>
          <p:nvPr/>
        </p:nvSpPr>
        <p:spPr>
          <a:xfrm>
            <a:off x="6427196" y="3617976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95B49-82DE-268C-6B67-CE60D2133CE6}"/>
              </a:ext>
            </a:extLst>
          </p:cNvPr>
          <p:cNvSpPr txBox="1"/>
          <p:nvPr/>
        </p:nvSpPr>
        <p:spPr>
          <a:xfrm>
            <a:off x="2266958" y="313132"/>
            <a:ext cx="7599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fine tuned model, your prompt would be simpler</a:t>
            </a:r>
          </a:p>
        </p:txBody>
      </p:sp>
    </p:spTree>
    <p:extLst>
      <p:ext uri="{BB962C8B-B14F-4D97-AF65-F5344CB8AC3E}">
        <p14:creationId xmlns:p14="http://schemas.microsoft.com/office/powerpoint/2010/main" val="3274656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BEDA-3181-CF16-ED7E-6ED2DF17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58694C-EA6E-8298-12EA-C74FEBC6D9DB}"/>
              </a:ext>
            </a:extLst>
          </p:cNvPr>
          <p:cNvSpPr txBox="1"/>
          <p:nvPr/>
        </p:nvSpPr>
        <p:spPr>
          <a:xfrm>
            <a:off x="94488" y="2813072"/>
            <a:ext cx="40340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Loxford Kumar is a 36 year of age.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He is having pain  in  his gum on  left side. Possible tooth decay.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Prescribed Helio 50mg daily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8215D-5D96-7E23-7D2D-FCEFF91468F5}"/>
              </a:ext>
            </a:extLst>
          </p:cNvPr>
          <p:cNvSpPr txBox="1"/>
          <p:nvPr/>
        </p:nvSpPr>
        <p:spPr>
          <a:xfrm>
            <a:off x="7150607" y="2637040"/>
            <a:ext cx="494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"patient name": “Loxford Kumar",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"age": 36,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"diagnosis": "Periodontal Abscess",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"prescribed medication": “Helio”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AC0D19-EC15-60BD-670F-B096753A4D11}"/>
              </a:ext>
            </a:extLst>
          </p:cNvPr>
          <p:cNvSpPr/>
          <p:nvPr/>
        </p:nvSpPr>
        <p:spPr>
          <a:xfrm>
            <a:off x="4640062" y="3297426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Fine Tuned</a:t>
            </a:r>
          </a:p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2355450-534D-036E-534D-3D0B26CB9C9F}"/>
              </a:ext>
            </a:extLst>
          </p:cNvPr>
          <p:cNvSpPr/>
          <p:nvPr/>
        </p:nvSpPr>
        <p:spPr>
          <a:xfrm>
            <a:off x="4023360" y="3630168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DB2E72A-984B-D9F7-4E55-71FB0C576CD1}"/>
              </a:ext>
            </a:extLst>
          </p:cNvPr>
          <p:cNvSpPr/>
          <p:nvPr/>
        </p:nvSpPr>
        <p:spPr>
          <a:xfrm>
            <a:off x="6427196" y="3617976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0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DF311C-21E8-278C-B84C-BE04237E57F0}"/>
              </a:ext>
            </a:extLst>
          </p:cNvPr>
          <p:cNvSpPr/>
          <p:nvPr/>
        </p:nvSpPr>
        <p:spPr>
          <a:xfrm>
            <a:off x="214884" y="1743699"/>
            <a:ext cx="116129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API Key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1B50D4-F053-AE02-CF37-C90BA4777C4A}"/>
              </a:ext>
            </a:extLst>
          </p:cNvPr>
          <p:cNvSpPr/>
          <p:nvPr/>
        </p:nvSpPr>
        <p:spPr>
          <a:xfrm>
            <a:off x="2189990" y="1739237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Prepare 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73A055-120C-A047-C78E-2E2F70191DA2}"/>
              </a:ext>
            </a:extLst>
          </p:cNvPr>
          <p:cNvSpPr/>
          <p:nvPr/>
        </p:nvSpPr>
        <p:spPr>
          <a:xfrm>
            <a:off x="4846318" y="1593130"/>
            <a:ext cx="1691640" cy="1289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training file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validation file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A5FA3E-D114-7DBD-EAE6-FBF0666B606F}"/>
              </a:ext>
            </a:extLst>
          </p:cNvPr>
          <p:cNvSpPr/>
          <p:nvPr/>
        </p:nvSpPr>
        <p:spPr>
          <a:xfrm>
            <a:off x="7470660" y="1809338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Fine Tuning job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48B15C-B065-952A-1BB7-9AF88E9F2236}"/>
              </a:ext>
            </a:extLst>
          </p:cNvPr>
          <p:cNvSpPr/>
          <p:nvPr/>
        </p:nvSpPr>
        <p:spPr>
          <a:xfrm>
            <a:off x="10002010" y="1858117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 Fine Tuning Job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C10102-3CCF-F893-5587-FC2DBF731007}"/>
              </a:ext>
            </a:extLst>
          </p:cNvPr>
          <p:cNvSpPr/>
          <p:nvPr/>
        </p:nvSpPr>
        <p:spPr>
          <a:xfrm>
            <a:off x="10110979" y="3839312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the model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0097FD3-6BCA-236A-FA4C-15FF759E60CC}"/>
              </a:ext>
            </a:extLst>
          </p:cNvPr>
          <p:cNvSpPr/>
          <p:nvPr/>
        </p:nvSpPr>
        <p:spPr>
          <a:xfrm>
            <a:off x="1465328" y="200898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7D9374C-1196-81B8-9EB2-44F43CC9DF52}"/>
              </a:ext>
            </a:extLst>
          </p:cNvPr>
          <p:cNvSpPr/>
          <p:nvPr/>
        </p:nvSpPr>
        <p:spPr>
          <a:xfrm>
            <a:off x="4000504" y="2080615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5FBB028-D46B-6130-10EF-165CAF0B4B71}"/>
              </a:ext>
            </a:extLst>
          </p:cNvPr>
          <p:cNvSpPr/>
          <p:nvPr/>
        </p:nvSpPr>
        <p:spPr>
          <a:xfrm>
            <a:off x="6656838" y="205165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4BDA97-26BD-A10A-51D8-A05090C147A8}"/>
              </a:ext>
            </a:extLst>
          </p:cNvPr>
          <p:cNvSpPr/>
          <p:nvPr/>
        </p:nvSpPr>
        <p:spPr>
          <a:xfrm>
            <a:off x="9244604" y="217053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03B357A-1187-E8D3-B35A-942C9078B07D}"/>
              </a:ext>
            </a:extLst>
          </p:cNvPr>
          <p:cNvSpPr/>
          <p:nvPr/>
        </p:nvSpPr>
        <p:spPr>
          <a:xfrm rot="5400000">
            <a:off x="10500359" y="3161135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7973F-5520-FDC3-B55C-07416CD83696}"/>
              </a:ext>
            </a:extLst>
          </p:cNvPr>
          <p:cNvSpPr txBox="1"/>
          <p:nvPr/>
        </p:nvSpPr>
        <p:spPr>
          <a:xfrm>
            <a:off x="2437890" y="210312"/>
            <a:ext cx="57516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 flow of fine tuning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E57C65-A889-2B56-1857-8966E05FFF4E}"/>
              </a:ext>
            </a:extLst>
          </p:cNvPr>
          <p:cNvGrpSpPr/>
          <p:nvPr/>
        </p:nvGrpSpPr>
        <p:grpSpPr>
          <a:xfrm>
            <a:off x="10038744" y="1041336"/>
            <a:ext cx="1064160" cy="780120"/>
            <a:chOff x="10038744" y="1041336"/>
            <a:chExt cx="1064160" cy="78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A2A615-98AD-90B0-D41C-D0B9A55A92EA}"/>
                    </a:ext>
                  </a:extLst>
                </p14:cNvPr>
                <p14:cNvContentPartPr/>
                <p14:nvPr/>
              </p14:nvContentPartPr>
              <p14:xfrm>
                <a:off x="10038744" y="1041336"/>
                <a:ext cx="1064160" cy="727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A2A615-98AD-90B0-D41C-D0B9A55A92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20744" y="1023336"/>
                  <a:ext cx="109980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85B749-A98C-4C97-FA7F-E45A54DC8136}"/>
                    </a:ext>
                  </a:extLst>
                </p14:cNvPr>
                <p14:cNvContentPartPr/>
                <p14:nvPr/>
              </p14:nvContentPartPr>
              <p14:xfrm>
                <a:off x="10049544" y="1544976"/>
                <a:ext cx="316440" cy="276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85B749-A98C-4C97-FA7F-E45A54DC81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31544" y="1527336"/>
                  <a:ext cx="352080" cy="31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DF42C-E81D-E380-9EED-02AA20E65EE6}"/>
              </a:ext>
            </a:extLst>
          </p:cNvPr>
          <p:cNvSpPr txBox="1"/>
          <p:nvPr/>
        </p:nvSpPr>
        <p:spPr>
          <a:xfrm>
            <a:off x="867266" y="490194"/>
            <a:ext cx="1631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0C924-2354-D20B-173A-F35F9EC1E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46" y="1225485"/>
            <a:ext cx="11809907" cy="56325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3A6752-5E99-41CB-5F33-4231E6C6F3B7}"/>
                  </a:ext>
                </a:extLst>
              </p14:cNvPr>
              <p14:cNvContentPartPr/>
              <p14:nvPr/>
            </p14:nvContentPartPr>
            <p14:xfrm>
              <a:off x="9930384" y="2332656"/>
              <a:ext cx="351720" cy="250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3A6752-5E99-41CB-5F33-4231E6C6F3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2384" y="2314656"/>
                <a:ext cx="3873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511BEE-2211-5C38-51C7-39F32069D861}"/>
                  </a:ext>
                </a:extLst>
              </p14:cNvPr>
              <p14:cNvContentPartPr/>
              <p14:nvPr/>
            </p14:nvContentPartPr>
            <p14:xfrm>
              <a:off x="1855944" y="3975696"/>
              <a:ext cx="273960" cy="361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511BEE-2211-5C38-51C7-39F32069D8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8304" y="3958056"/>
                <a:ext cx="309600" cy="3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5071-A7B3-7DEC-53C6-8B1CE39C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4198C-735A-389B-ADA1-FB1F6534D6F7}"/>
              </a:ext>
            </a:extLst>
          </p:cNvPr>
          <p:cNvSpPr txBox="1"/>
          <p:nvPr/>
        </p:nvSpPr>
        <p:spPr>
          <a:xfrm>
            <a:off x="3402486" y="0"/>
            <a:ext cx="2644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534D8-2331-8CB0-D084-5D8164F25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38" y="790770"/>
            <a:ext cx="11776524" cy="59885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A48F91-782C-9445-47A6-1F3F72115633}"/>
                  </a:ext>
                </a:extLst>
              </p14:cNvPr>
              <p14:cNvContentPartPr/>
              <p14:nvPr/>
            </p14:nvContentPartPr>
            <p14:xfrm>
              <a:off x="10697544" y="1444536"/>
              <a:ext cx="906480" cy="413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A48F91-782C-9445-47A6-1F3F721156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79544" y="1426536"/>
                <a:ext cx="94212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E1BF35-9C07-18B3-3A5B-C301BAED9CA8}"/>
                  </a:ext>
                </a:extLst>
              </p14:cNvPr>
              <p14:cNvContentPartPr/>
              <p14:nvPr/>
            </p14:nvContentPartPr>
            <p14:xfrm>
              <a:off x="409104" y="6409656"/>
              <a:ext cx="810360" cy="394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E1BF35-9C07-18B3-3A5B-C301BAED9C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1104" y="6392016"/>
                <a:ext cx="846000" cy="43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87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E5B34-EE5D-0E1C-5DA6-C001E635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F8D6C6-06E1-804D-FE42-3B3FBCD8256F}"/>
              </a:ext>
            </a:extLst>
          </p:cNvPr>
          <p:cNvSpPr txBox="1"/>
          <p:nvPr/>
        </p:nvSpPr>
        <p:spPr>
          <a:xfrm>
            <a:off x="1713987" y="78714"/>
            <a:ext cx="6789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I used this screen to find the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3CE9A-C733-D0C9-B98B-AA12AD327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72702"/>
            <a:ext cx="11003280" cy="59065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140DA21-6320-93CC-95E9-F20A19FB8A81}"/>
                  </a:ext>
                </a:extLst>
              </p14:cNvPr>
              <p14:cNvContentPartPr/>
              <p14:nvPr/>
            </p14:nvContentPartPr>
            <p14:xfrm>
              <a:off x="10853784" y="1762776"/>
              <a:ext cx="602640" cy="29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140DA21-6320-93CC-95E9-F20A19FB8A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7784" y="1727136"/>
                <a:ext cx="67428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590EB2-407B-FC92-F63D-4B4A0D50C93B}"/>
                  </a:ext>
                </a:extLst>
              </p14:cNvPr>
              <p14:cNvContentPartPr/>
              <p14:nvPr/>
            </p14:nvContentPartPr>
            <p14:xfrm>
              <a:off x="4626864" y="2829456"/>
              <a:ext cx="355680" cy="138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590EB2-407B-FC92-F63D-4B4A0D50C9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0864" y="2793456"/>
                <a:ext cx="4273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4542CA-71DB-9D0D-6974-CA259389823A}"/>
                  </a:ext>
                </a:extLst>
              </p14:cNvPr>
              <p14:cNvContentPartPr/>
              <p14:nvPr/>
            </p14:nvContentPartPr>
            <p14:xfrm>
              <a:off x="5851944" y="2144016"/>
              <a:ext cx="381240" cy="236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4542CA-71DB-9D0D-6974-CA25938982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5944" y="2108016"/>
                <a:ext cx="452880" cy="3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0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9C45-475B-06EC-9470-C65C8B18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1110F-CC20-0422-9FC6-372BC1A25854}"/>
              </a:ext>
            </a:extLst>
          </p:cNvPr>
          <p:cNvSpPr txBox="1"/>
          <p:nvPr/>
        </p:nvSpPr>
        <p:spPr>
          <a:xfrm>
            <a:off x="3461066" y="2967335"/>
            <a:ext cx="43010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 I ran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 </a:t>
            </a:r>
          </a:p>
          <a:p>
            <a:pPr algn="ctr"/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FT_OpenAI_Models.ipynb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09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3ECB-DF21-F95E-EDDA-9598BCB2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0F9F6-4698-5533-8B47-E467B28981C6}"/>
              </a:ext>
            </a:extLst>
          </p:cNvPr>
          <p:cNvSpPr txBox="1"/>
          <p:nvPr/>
        </p:nvSpPr>
        <p:spPr>
          <a:xfrm>
            <a:off x="897234" y="273093"/>
            <a:ext cx="4362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Fine tuned model is created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832834-2EEC-AAC4-B50A-CAA44AAA3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2986"/>
            <a:ext cx="11497056" cy="54519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26B2FB-2855-F345-8495-91C5A66C289E}"/>
                  </a:ext>
                </a:extLst>
              </p14:cNvPr>
              <p14:cNvContentPartPr/>
              <p14:nvPr/>
            </p14:nvContentPartPr>
            <p14:xfrm>
              <a:off x="7790544" y="3533616"/>
              <a:ext cx="198720" cy="113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26B2FB-2855-F345-8495-91C5A66C28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4904" y="3497616"/>
                <a:ext cx="2703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FBA09E-E266-2508-F553-D46B76B7A6F3}"/>
                  </a:ext>
                </a:extLst>
              </p14:cNvPr>
              <p14:cNvContentPartPr/>
              <p14:nvPr/>
            </p14:nvContentPartPr>
            <p14:xfrm>
              <a:off x="8503704" y="3727296"/>
              <a:ext cx="560880" cy="227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FBA09E-E266-2508-F553-D46B76B7A6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67704" y="3691296"/>
                <a:ext cx="6325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5BAC7C-0831-2C58-03F2-76A348F66738}"/>
                  </a:ext>
                </a:extLst>
              </p14:cNvPr>
              <p14:cNvContentPartPr/>
              <p14:nvPr/>
            </p14:nvContentPartPr>
            <p14:xfrm>
              <a:off x="8330184" y="4366656"/>
              <a:ext cx="353520" cy="12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5BAC7C-0831-2C58-03F2-76A348F667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94184" y="4331016"/>
                <a:ext cx="4251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227A43-5C31-F872-D426-ED99CCDE44E3}"/>
                  </a:ext>
                </a:extLst>
              </p14:cNvPr>
              <p14:cNvContentPartPr/>
              <p14:nvPr/>
            </p14:nvContentPartPr>
            <p14:xfrm>
              <a:off x="7434144" y="4777776"/>
              <a:ext cx="511920" cy="250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227A43-5C31-F872-D426-ED99CCDE44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8144" y="4741776"/>
                <a:ext cx="583560" cy="3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131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E9D0-C34C-ECD3-1A44-0135B2F9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4F3DB-2A18-C085-A8CF-F8AB18573933}"/>
              </a:ext>
            </a:extLst>
          </p:cNvPr>
          <p:cNvSpPr txBox="1"/>
          <p:nvPr/>
        </p:nvSpPr>
        <p:spPr>
          <a:xfrm>
            <a:off x="1287163" y="227373"/>
            <a:ext cx="8100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I went to Open AI playground to view chat with the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322DC-0E48-BBDD-CBB3-EA2063E0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958155"/>
            <a:ext cx="11067288" cy="55821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6F3122-647F-F92E-A6CB-8C14224764B4}"/>
                  </a:ext>
                </a:extLst>
              </p14:cNvPr>
              <p14:cNvContentPartPr/>
              <p14:nvPr/>
            </p14:nvContentPartPr>
            <p14:xfrm>
              <a:off x="10103904" y="6115896"/>
              <a:ext cx="373320" cy="346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6F3122-647F-F92E-A6CB-8C14224764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67904" y="6079896"/>
                <a:ext cx="444960" cy="4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30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5997-38DB-371A-2AFF-C2A0B755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CDA49-6464-FA5D-B443-8DE7C9A6DEE1}"/>
              </a:ext>
            </a:extLst>
          </p:cNvPr>
          <p:cNvSpPr txBox="1"/>
          <p:nvPr/>
        </p:nvSpPr>
        <p:spPr>
          <a:xfrm>
            <a:off x="1162267" y="78714"/>
            <a:ext cx="6027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Playground -&gt; Chat with your fine-tuned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3EBE4-6DA2-F200-1F48-A31DDBD4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18" y="1036854"/>
            <a:ext cx="11317405" cy="5742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94DC74-1393-082B-496C-1EA112FA992C}"/>
                  </a:ext>
                </a:extLst>
              </p14:cNvPr>
              <p14:cNvContentPartPr/>
              <p14:nvPr/>
            </p14:nvContentPartPr>
            <p14:xfrm>
              <a:off x="5594904" y="2311056"/>
              <a:ext cx="495000" cy="671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94DC74-1393-082B-496C-1EA112FA99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7264" y="2293056"/>
                <a:ext cx="53064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8598DC9-C5D3-138B-98DE-B2571732273E}"/>
                  </a:ext>
                </a:extLst>
              </p14:cNvPr>
              <p14:cNvContentPartPr/>
              <p14:nvPr/>
            </p14:nvContentPartPr>
            <p14:xfrm>
              <a:off x="5723424" y="3355776"/>
              <a:ext cx="299880" cy="1182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8598DC9-C5D3-138B-98DE-B257173227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5424" y="3337776"/>
                <a:ext cx="335520" cy="12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8214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CFA4-2524-938D-31D5-098A85E1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89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1368</TotalTime>
  <Words>400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204</cp:revision>
  <dcterms:created xsi:type="dcterms:W3CDTF">2025-09-22T02:44:38Z</dcterms:created>
  <dcterms:modified xsi:type="dcterms:W3CDTF">2026-06-10T11:23:06Z</dcterms:modified>
</cp:coreProperties>
</file>