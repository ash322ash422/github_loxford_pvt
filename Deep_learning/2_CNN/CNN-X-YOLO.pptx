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3" r:id="rId3"/>
    <p:sldId id="257" r:id="rId4"/>
    <p:sldId id="275" r:id="rId5"/>
    <p:sldId id="258" r:id="rId6"/>
    <p:sldId id="259" r:id="rId7"/>
    <p:sldId id="261" r:id="rId8"/>
    <p:sldId id="272" r:id="rId9"/>
    <p:sldId id="262" r:id="rId10"/>
    <p:sldId id="264" r:id="rId11"/>
    <p:sldId id="263" r:id="rId12"/>
    <p:sldId id="265" r:id="rId13"/>
    <p:sldId id="266" r:id="rId14"/>
    <p:sldId id="267" r:id="rId15"/>
    <p:sldId id="269" r:id="rId16"/>
    <p:sldId id="270" r:id="rId17"/>
    <p:sldId id="268" r:id="rId18"/>
    <p:sldId id="271"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7" autoAdjust="0"/>
    <p:restoredTop sz="94660"/>
  </p:normalViewPr>
  <p:slideViewPr>
    <p:cSldViewPr snapToGrid="0">
      <p:cViewPr varScale="1">
        <p:scale>
          <a:sx n="91" d="100"/>
          <a:sy n="91" d="100"/>
        </p:scale>
        <p:origin x="3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C343C-3F91-44AE-9C2B-98E041508789}" type="datetimeFigureOut">
              <a:rPr lang="en-US" smtClean="0"/>
              <a:t>3/5/2025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84CCFB-00AE-456E-B3EF-47F219EECEC6}" type="slidenum">
              <a:rPr lang="en-US" smtClean="0"/>
              <a:t>‹#›</a:t>
            </a:fld>
            <a:endParaRPr lang="en-US"/>
          </a:p>
        </p:txBody>
      </p:sp>
    </p:spTree>
    <p:extLst>
      <p:ext uri="{BB962C8B-B14F-4D97-AF65-F5344CB8AC3E}">
        <p14:creationId xmlns:p14="http://schemas.microsoft.com/office/powerpoint/2010/main" val="4038338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A68D787-6B45-4334-957C-CB5558ED73BB}"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425576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8D787-6B45-4334-957C-CB5558ED73BB}"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869434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68D787-6B45-4334-957C-CB5558ED73BB}"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1461534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68D787-6B45-4334-957C-CB5558ED73BB}"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3133386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68D787-6B45-4334-957C-CB5558ED73BB}" type="datetimeFigureOut">
              <a:rPr lang="en-US" smtClean="0"/>
              <a:t>3/5/2025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89694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A68D787-6B45-4334-957C-CB5558ED73BB}" type="datetimeFigureOut">
              <a:rPr lang="en-US" smtClean="0"/>
              <a:t>3/5/2025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4112768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68D787-6B45-4334-957C-CB5558ED73BB}" type="datetimeFigureOut">
              <a:rPr lang="en-US" smtClean="0"/>
              <a:t>3/5/2025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1604715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A68D787-6B45-4334-957C-CB5558ED73BB}"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17733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A68D787-6B45-4334-957C-CB5558ED73BB}"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158802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8D787-6B45-4334-957C-CB5558ED73BB}"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210904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8D787-6B45-4334-957C-CB5558ED73BB}"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4086974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68D787-6B45-4334-957C-CB5558ED73BB}" type="datetimeFigureOut">
              <a:rPr lang="en-US" smtClean="0"/>
              <a:t>3/5/2025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7205EF-3857-4FFD-83B0-90058D738BF6}" type="slidenum">
              <a:rPr lang="en-US" smtClean="0"/>
              <a:t>‹#›</a:t>
            </a:fld>
            <a:endParaRPr lang="en-US"/>
          </a:p>
        </p:txBody>
      </p:sp>
    </p:spTree>
    <p:extLst>
      <p:ext uri="{BB962C8B-B14F-4D97-AF65-F5344CB8AC3E}">
        <p14:creationId xmlns:p14="http://schemas.microsoft.com/office/powerpoint/2010/main" val="1716846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nyckel.com/blog/image-classific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ncord.com/blog/object-detec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cs.brown.edu/~pff/segment/"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 CNN YOLO</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34375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8BA6-5813-22F6-9EC9-6EB9DBC876A5}"/>
              </a:ext>
            </a:extLst>
          </p:cNvPr>
          <p:cNvSpPr>
            <a:spLocks noGrp="1"/>
          </p:cNvSpPr>
          <p:nvPr>
            <p:ph type="title"/>
          </p:nvPr>
        </p:nvSpPr>
        <p:spPr>
          <a:xfrm>
            <a:off x="838200" y="365126"/>
            <a:ext cx="10515600" cy="716252"/>
          </a:xfrm>
        </p:spPr>
        <p:txBody>
          <a:bodyPr/>
          <a:lstStyle/>
          <a:p>
            <a:r>
              <a:rPr lang="en-US" dirty="0"/>
              <a:t>Object detection by YOLO</a:t>
            </a:r>
            <a:endParaRPr lang="en-IN" dirty="0"/>
          </a:p>
        </p:txBody>
      </p:sp>
      <p:pic>
        <p:nvPicPr>
          <p:cNvPr id="5" name="Content Placeholder 4">
            <a:extLst>
              <a:ext uri="{FF2B5EF4-FFF2-40B4-BE49-F238E27FC236}">
                <a16:creationId xmlns:a16="http://schemas.microsoft.com/office/drawing/2014/main" id="{3526E460-9CA4-E203-FACE-68BDF4DFF3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7482" y="1039871"/>
            <a:ext cx="8490527" cy="5742592"/>
          </a:xfrm>
        </p:spPr>
      </p:pic>
    </p:spTree>
    <p:extLst>
      <p:ext uri="{BB962C8B-B14F-4D97-AF65-F5344CB8AC3E}">
        <p14:creationId xmlns:p14="http://schemas.microsoft.com/office/powerpoint/2010/main" val="23643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63CBD-B2B8-D0C7-EEA3-2B32D6B99A50}"/>
              </a:ext>
            </a:extLst>
          </p:cNvPr>
          <p:cNvSpPr>
            <a:spLocks noGrp="1"/>
          </p:cNvSpPr>
          <p:nvPr>
            <p:ph type="title"/>
          </p:nvPr>
        </p:nvSpPr>
        <p:spPr>
          <a:xfrm>
            <a:off x="838200" y="205735"/>
            <a:ext cx="10515600" cy="708666"/>
          </a:xfrm>
        </p:spPr>
        <p:txBody>
          <a:bodyPr/>
          <a:lstStyle/>
          <a:p>
            <a:r>
              <a:rPr lang="en-US" b="1" dirty="0"/>
              <a:t> Evolution of YOLO(p1)</a:t>
            </a:r>
            <a:endParaRPr lang="en-IN" dirty="0"/>
          </a:p>
        </p:txBody>
      </p:sp>
      <p:sp>
        <p:nvSpPr>
          <p:cNvPr id="3" name="Content Placeholder 2">
            <a:extLst>
              <a:ext uri="{FF2B5EF4-FFF2-40B4-BE49-F238E27FC236}">
                <a16:creationId xmlns:a16="http://schemas.microsoft.com/office/drawing/2014/main" id="{BE1FCE68-460B-A6DD-2A2C-639092C08D05}"/>
              </a:ext>
            </a:extLst>
          </p:cNvPr>
          <p:cNvSpPr>
            <a:spLocks noGrp="1"/>
          </p:cNvSpPr>
          <p:nvPr>
            <p:ph idx="1"/>
          </p:nvPr>
        </p:nvSpPr>
        <p:spPr>
          <a:xfrm>
            <a:off x="838200" y="911224"/>
            <a:ext cx="10515600" cy="4351338"/>
          </a:xfrm>
        </p:spPr>
        <p:txBody>
          <a:bodyPr>
            <a:normAutofit fontScale="70000" lnSpcReduction="20000"/>
          </a:bodyPr>
          <a:lstStyle/>
          <a:p>
            <a:pPr marL="0" indent="0">
              <a:buNone/>
            </a:pPr>
            <a:r>
              <a:rPr lang="en-US" dirty="0"/>
              <a:t>YOLO (You Only Look Once) is one of the most popular deep-learning-based object detection algorithms. It was introduced by Joseph Redmon, Santosh </a:t>
            </a:r>
            <a:r>
              <a:rPr lang="en-US" dirty="0" err="1"/>
              <a:t>Divvala</a:t>
            </a:r>
            <a:r>
              <a:rPr lang="en-US" dirty="0"/>
              <a:t>, Ross </a:t>
            </a:r>
            <a:r>
              <a:rPr lang="en-US" dirty="0" err="1"/>
              <a:t>Girshick</a:t>
            </a:r>
            <a:r>
              <a:rPr lang="en-US" dirty="0"/>
              <a:t>, and Ali Farhadi</a:t>
            </a:r>
            <a:r>
              <a:rPr lang="en-US" b="1" dirty="0"/>
              <a:t>. in 2015</a:t>
            </a:r>
            <a:r>
              <a:rPr lang="en-US" dirty="0"/>
              <a:t> in their paper </a:t>
            </a:r>
            <a:r>
              <a:rPr lang="en-US" i="1" dirty="0"/>
              <a:t>"You Only Look Once: Unified, Real-Time Object Detection"</a:t>
            </a:r>
            <a:r>
              <a:rPr lang="en-US" dirty="0"/>
              <a:t>. YOLO revolutionized object detection by making it much faster compared to previous methods.</a:t>
            </a:r>
          </a:p>
          <a:p>
            <a:pPr marL="0" indent="0">
              <a:buNone/>
            </a:pPr>
            <a:r>
              <a:rPr lang="en-US" b="1" dirty="0"/>
              <a:t>Before YOLO: The Traditional Object Detection Approaches</a:t>
            </a:r>
          </a:p>
          <a:p>
            <a:pPr>
              <a:buFont typeface="+mj-lt"/>
              <a:buAutoNum type="arabicPeriod"/>
            </a:pPr>
            <a:r>
              <a:rPr lang="en-US" b="1" dirty="0"/>
              <a:t>Sliding Window + CNNs:</a:t>
            </a:r>
            <a:r>
              <a:rPr lang="en-US" dirty="0"/>
              <a:t> Early object detection involved running a CNN on multiple regions of an image, making it slow.</a:t>
            </a:r>
          </a:p>
          <a:p>
            <a:pPr>
              <a:buFont typeface="+mj-lt"/>
              <a:buAutoNum type="arabicPeriod"/>
            </a:pPr>
            <a:r>
              <a:rPr lang="en-US" b="1" dirty="0"/>
              <a:t>Region-Based Methods (R-CNN, Fast R-CNN, Faster R-CNN):</a:t>
            </a:r>
            <a:r>
              <a:rPr lang="en-US" dirty="0"/>
              <a:t> Uses 2 shot detection method</a:t>
            </a:r>
          </a:p>
          <a:p>
            <a:pPr marL="742950" lvl="1" indent="-285750">
              <a:buFont typeface="+mj-lt"/>
              <a:buAutoNum type="arabicPeriod"/>
            </a:pPr>
            <a:r>
              <a:rPr lang="en-US" dirty="0"/>
              <a:t>R-CNN proposed regions of interest, then classified them.</a:t>
            </a:r>
          </a:p>
          <a:p>
            <a:pPr marL="742950" lvl="1" indent="-285750">
              <a:buFont typeface="+mj-lt"/>
              <a:buAutoNum type="arabicPeriod"/>
            </a:pPr>
            <a:r>
              <a:rPr lang="en-US" dirty="0"/>
              <a:t>Faster R-CNN improved speed but was still slower than real-time.</a:t>
            </a:r>
          </a:p>
          <a:p>
            <a:pPr>
              <a:buFont typeface="+mj-lt"/>
              <a:buAutoNum type="arabicPeriod"/>
            </a:pPr>
            <a:r>
              <a:rPr lang="en-US" b="1" dirty="0"/>
              <a:t>YOLO Changed the Game:</a:t>
            </a:r>
            <a:r>
              <a:rPr lang="en-US" dirty="0"/>
              <a:t> The technique frames the object detection problem as a </a:t>
            </a:r>
            <a:r>
              <a:rPr lang="en-US" b="1" dirty="0"/>
              <a:t>regression rather than a classification task</a:t>
            </a:r>
            <a:r>
              <a:rPr lang="en-US" dirty="0"/>
              <a:t> by spatially separating bounding boxes and associating probabilities to each detected image using a single convolutional neural network (CNN).  Unlike R-CNN-based models, which looked at multiple regions, YOLO treated object detection as a </a:t>
            </a:r>
            <a:r>
              <a:rPr lang="en-US" b="1" dirty="0"/>
              <a:t>single regression problem</a:t>
            </a:r>
            <a:r>
              <a:rPr lang="en-US" dirty="0"/>
              <a:t>, processing the image in </a:t>
            </a:r>
            <a:r>
              <a:rPr lang="en-US" b="1" dirty="0"/>
              <a:t>1 shot/pass</a:t>
            </a:r>
            <a:r>
              <a:rPr lang="en-US" dirty="0"/>
              <a:t>—hence, "You Only Look Once.“</a:t>
            </a:r>
          </a:p>
          <a:p>
            <a:pPr marL="0" indent="0">
              <a:buNone/>
            </a:pPr>
            <a:endParaRPr lang="en-US" dirty="0"/>
          </a:p>
        </p:txBody>
      </p:sp>
    </p:spTree>
    <p:extLst>
      <p:ext uri="{BB962C8B-B14F-4D97-AF65-F5344CB8AC3E}">
        <p14:creationId xmlns:p14="http://schemas.microsoft.com/office/powerpoint/2010/main" val="1717885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0168C-4099-BAD6-2BD8-BB6027E2B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45C30-54A2-4DEE-B116-732E28C1A539}"/>
              </a:ext>
            </a:extLst>
          </p:cNvPr>
          <p:cNvSpPr>
            <a:spLocks noGrp="1"/>
          </p:cNvSpPr>
          <p:nvPr>
            <p:ph type="title"/>
          </p:nvPr>
        </p:nvSpPr>
        <p:spPr>
          <a:xfrm>
            <a:off x="7164198" y="205735"/>
            <a:ext cx="4189602" cy="708666"/>
          </a:xfrm>
        </p:spPr>
        <p:txBody>
          <a:bodyPr>
            <a:normAutofit/>
          </a:bodyPr>
          <a:lstStyle/>
          <a:p>
            <a:r>
              <a:rPr lang="en-US" sz="2400" b="1" dirty="0"/>
              <a:t> Evolution of YOLO(p2)</a:t>
            </a:r>
            <a:endParaRPr lang="en-IN" sz="2400" dirty="0"/>
          </a:p>
        </p:txBody>
      </p:sp>
      <p:sp>
        <p:nvSpPr>
          <p:cNvPr id="3" name="Content Placeholder 2">
            <a:extLst>
              <a:ext uri="{FF2B5EF4-FFF2-40B4-BE49-F238E27FC236}">
                <a16:creationId xmlns:a16="http://schemas.microsoft.com/office/drawing/2014/main" id="{E7F1D2F0-789B-E4BE-0A87-A98708A22456}"/>
              </a:ext>
            </a:extLst>
          </p:cNvPr>
          <p:cNvSpPr>
            <a:spLocks noGrp="1"/>
          </p:cNvSpPr>
          <p:nvPr>
            <p:ph idx="1"/>
          </p:nvPr>
        </p:nvSpPr>
        <p:spPr>
          <a:xfrm>
            <a:off x="310394" y="760223"/>
            <a:ext cx="11744586" cy="2914155"/>
          </a:xfrm>
        </p:spPr>
        <p:txBody>
          <a:bodyPr>
            <a:normAutofit fontScale="62500" lnSpcReduction="20000"/>
          </a:bodyPr>
          <a:lstStyle/>
          <a:p>
            <a:pPr marL="0" indent="0">
              <a:buNone/>
            </a:pPr>
            <a:r>
              <a:rPr lang="en-US" dirty="0"/>
              <a:t>— </a:t>
            </a:r>
            <a:r>
              <a:rPr lang="en-US" b="1" dirty="0"/>
              <a:t>The sliding windows detection algorithm</a:t>
            </a:r>
          </a:p>
          <a:p>
            <a:pPr marL="0" indent="0">
              <a:buNone/>
            </a:pPr>
            <a:r>
              <a:rPr lang="en-US" dirty="0"/>
              <a:t>In object detection problems, we generally have to find all the possible objects in the image like all the cars in the image, all the pedestrians in the image, all the bikes in the image, etc. To achieve this, we use an algorithm known as Sliding window detection. Let us understand this algorithm.</a:t>
            </a:r>
          </a:p>
          <a:p>
            <a:r>
              <a:rPr lang="en-US" dirty="0"/>
              <a:t>In this algorithm, we choose a grid cell of a specific size. Let us choose the grid cell of size 2x2.</a:t>
            </a:r>
          </a:p>
          <a:p>
            <a:r>
              <a:rPr lang="en-US" dirty="0"/>
              <a:t>We pass the above grid cell through the image and convolute the part of the image in the grid cell and predict the output.</a:t>
            </a:r>
          </a:p>
          <a:p>
            <a:r>
              <a:rPr lang="en-US" dirty="0"/>
              <a:t>Then we slide the grid cell through stride-2 and then convolute the next part of the image.</a:t>
            </a:r>
          </a:p>
          <a:p>
            <a:r>
              <a:rPr lang="en-US" dirty="0"/>
              <a:t>In this way, we go cover the whole image.</a:t>
            </a:r>
          </a:p>
          <a:p>
            <a:r>
              <a:rPr lang="en-US" dirty="0"/>
              <a:t>We repeat the same procedure with different grid cells size.</a:t>
            </a:r>
          </a:p>
        </p:txBody>
      </p:sp>
      <p:sp>
        <p:nvSpPr>
          <p:cNvPr id="4" name="TextBox 3">
            <a:extLst>
              <a:ext uri="{FF2B5EF4-FFF2-40B4-BE49-F238E27FC236}">
                <a16:creationId xmlns:a16="http://schemas.microsoft.com/office/drawing/2014/main" id="{7170A457-216A-2CA6-38C7-71D4AEF40DC7}"/>
              </a:ext>
            </a:extLst>
          </p:cNvPr>
          <p:cNvSpPr txBox="1"/>
          <p:nvPr/>
        </p:nvSpPr>
        <p:spPr>
          <a:xfrm>
            <a:off x="176170" y="4144160"/>
            <a:ext cx="5536733" cy="2531719"/>
          </a:xfrm>
          <a:prstGeom prst="rect">
            <a:avLst/>
          </a:prstGeom>
          <a:noFill/>
        </p:spPr>
        <p:txBody>
          <a:bodyPr wrap="square" rtlCol="0">
            <a:spAutoFit/>
          </a:bodyPr>
          <a:lstStyle/>
          <a:p>
            <a:pPr algn="l">
              <a:lnSpc>
                <a:spcPts val="2400"/>
              </a:lnSpc>
            </a:pPr>
            <a:r>
              <a:rPr lang="en-US" sz="1600" b="1" i="0" dirty="0">
                <a:solidFill>
                  <a:srgbClr val="3E3E3E"/>
                </a:solidFill>
                <a:effectLst/>
                <a:latin typeface="source-serif-pro"/>
              </a:rPr>
              <a:t>Disadvantages</a:t>
            </a:r>
            <a:r>
              <a:rPr lang="en-US" sz="1600" b="0" i="0" dirty="0">
                <a:solidFill>
                  <a:srgbClr val="3E3E3E"/>
                </a:solidFill>
                <a:effectLst/>
                <a:latin typeface="source-serif-pro"/>
              </a:rPr>
              <a:t> of the sliding window:</a:t>
            </a:r>
          </a:p>
          <a:p>
            <a:pPr algn="l">
              <a:lnSpc>
                <a:spcPts val="2400"/>
              </a:lnSpc>
              <a:buFont typeface="Arial" panose="020B0604020202020204" pitchFamily="34" charset="0"/>
              <a:buChar char="•"/>
            </a:pPr>
            <a:r>
              <a:rPr lang="en-US" sz="1600" b="0" i="0" dirty="0">
                <a:solidFill>
                  <a:srgbClr val="3E3E3E"/>
                </a:solidFill>
                <a:effectLst/>
                <a:latin typeface="source-serif-pro"/>
              </a:rPr>
              <a:t>It is computationally expensive(Earlier simple linear classifiers were used which were not as expensive to compute as compared to neural networks.).</a:t>
            </a:r>
          </a:p>
          <a:p>
            <a:pPr algn="l">
              <a:lnSpc>
                <a:spcPts val="2400"/>
              </a:lnSpc>
              <a:buFont typeface="Arial" panose="020B0604020202020204" pitchFamily="34" charset="0"/>
              <a:buChar char="•"/>
            </a:pPr>
            <a:r>
              <a:rPr lang="en-US" sz="1600" b="0" i="0" dirty="0">
                <a:solidFill>
                  <a:srgbClr val="3E3E3E"/>
                </a:solidFill>
                <a:effectLst/>
                <a:latin typeface="source-serif-pro"/>
              </a:rPr>
              <a:t>Time-consuming.</a:t>
            </a:r>
          </a:p>
          <a:p>
            <a:pPr algn="l">
              <a:lnSpc>
                <a:spcPts val="2400"/>
              </a:lnSpc>
            </a:pPr>
            <a:r>
              <a:rPr lang="en-US" sz="1600" b="0" i="0" dirty="0">
                <a:solidFill>
                  <a:srgbClr val="3E3E3E"/>
                </a:solidFill>
                <a:effectLst/>
                <a:latin typeface="source-serif-pro"/>
              </a:rPr>
              <a:t>Fortunately, however, this problem of computational cost has a pretty good solution. It can be handled by the </a:t>
            </a:r>
            <a:r>
              <a:rPr lang="en-US" sz="1600" b="1" i="1" dirty="0">
                <a:solidFill>
                  <a:srgbClr val="3E3E3E"/>
                </a:solidFill>
                <a:effectLst/>
                <a:latin typeface="source-serif-pro"/>
              </a:rPr>
              <a:t>convolutional implementation of the sliding window algorithm. (DIL)</a:t>
            </a:r>
            <a:endParaRPr lang="en-US" sz="1600" b="0" i="0" dirty="0">
              <a:solidFill>
                <a:srgbClr val="3E3E3E"/>
              </a:solidFill>
              <a:effectLst/>
              <a:latin typeface="source-serif-pro"/>
            </a:endParaRPr>
          </a:p>
        </p:txBody>
      </p:sp>
      <p:pic>
        <p:nvPicPr>
          <p:cNvPr id="6" name="Picture 5">
            <a:extLst>
              <a:ext uri="{FF2B5EF4-FFF2-40B4-BE49-F238E27FC236}">
                <a16:creationId xmlns:a16="http://schemas.microsoft.com/office/drawing/2014/main" id="{66443579-212D-F27B-906A-A9A49C531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2686" y="3238859"/>
            <a:ext cx="5812051" cy="3407738"/>
          </a:xfrm>
          <a:prstGeom prst="rect">
            <a:avLst/>
          </a:prstGeom>
        </p:spPr>
      </p:pic>
    </p:spTree>
    <p:extLst>
      <p:ext uri="{BB962C8B-B14F-4D97-AF65-F5344CB8AC3E}">
        <p14:creationId xmlns:p14="http://schemas.microsoft.com/office/powerpoint/2010/main" val="1957314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5EFE-6E27-FBFC-69ED-A8ACCE83C6AB}"/>
              </a:ext>
            </a:extLst>
          </p:cNvPr>
          <p:cNvSpPr>
            <a:spLocks noGrp="1"/>
          </p:cNvSpPr>
          <p:nvPr>
            <p:ph type="title"/>
          </p:nvPr>
        </p:nvSpPr>
        <p:spPr>
          <a:xfrm>
            <a:off x="838200" y="365125"/>
            <a:ext cx="10515600" cy="427977"/>
          </a:xfrm>
        </p:spPr>
        <p:txBody>
          <a:bodyPr>
            <a:normAutofit fontScale="90000"/>
          </a:bodyPr>
          <a:lstStyle/>
          <a:p>
            <a:r>
              <a:rPr lang="en-US" sz="3600" b="1" dirty="0"/>
              <a:t>Why is YOLO popular?(p1)</a:t>
            </a:r>
            <a:endParaRPr lang="en-IN" sz="3600" b="1" dirty="0"/>
          </a:p>
        </p:txBody>
      </p:sp>
      <p:sp>
        <p:nvSpPr>
          <p:cNvPr id="3" name="Content Placeholder 2">
            <a:extLst>
              <a:ext uri="{FF2B5EF4-FFF2-40B4-BE49-F238E27FC236}">
                <a16:creationId xmlns:a16="http://schemas.microsoft.com/office/drawing/2014/main" id="{57FB6672-DA6B-F8DE-35AD-0721760663EC}"/>
              </a:ext>
            </a:extLst>
          </p:cNvPr>
          <p:cNvSpPr>
            <a:spLocks noGrp="1"/>
          </p:cNvSpPr>
          <p:nvPr>
            <p:ph idx="1"/>
          </p:nvPr>
        </p:nvSpPr>
        <p:spPr>
          <a:xfrm>
            <a:off x="838200" y="1032523"/>
            <a:ext cx="10515600" cy="1020212"/>
          </a:xfrm>
        </p:spPr>
        <p:txBody>
          <a:bodyPr/>
          <a:lstStyle/>
          <a:p>
            <a:pPr marL="0" indent="0" algn="l">
              <a:spcAft>
                <a:spcPts val="900"/>
              </a:spcAft>
              <a:buNone/>
            </a:pPr>
            <a:r>
              <a:rPr lang="en-US" b="0" i="0" dirty="0">
                <a:solidFill>
                  <a:srgbClr val="05192D"/>
                </a:solidFill>
                <a:effectLst/>
                <a:latin typeface="Studio-Feixen-Sans"/>
              </a:rPr>
              <a:t>1. Speed : YOLO is extremely fast because it does not deal with complex pipelines. It can process images at 45 Frames Per Second (FPS)</a:t>
            </a:r>
          </a:p>
          <a:p>
            <a:pPr marL="0" indent="0">
              <a:buNone/>
            </a:pPr>
            <a:endParaRPr lang="en-IN" dirty="0"/>
          </a:p>
        </p:txBody>
      </p:sp>
      <p:pic>
        <p:nvPicPr>
          <p:cNvPr id="5" name="Picture 4">
            <a:extLst>
              <a:ext uri="{FF2B5EF4-FFF2-40B4-BE49-F238E27FC236}">
                <a16:creationId xmlns:a16="http://schemas.microsoft.com/office/drawing/2014/main" id="{55C5A99A-B029-7BFF-5D87-D1FD038EA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9534" y="2052736"/>
            <a:ext cx="8371187" cy="4518538"/>
          </a:xfrm>
          <a:prstGeom prst="rect">
            <a:avLst/>
          </a:prstGeom>
        </p:spPr>
      </p:pic>
    </p:spTree>
    <p:extLst>
      <p:ext uri="{BB962C8B-B14F-4D97-AF65-F5344CB8AC3E}">
        <p14:creationId xmlns:p14="http://schemas.microsoft.com/office/powerpoint/2010/main" val="133058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434F1-0F4D-3B59-A004-04D31DDDA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CDB02-3870-0C44-B57F-99711152352F}"/>
              </a:ext>
            </a:extLst>
          </p:cNvPr>
          <p:cNvSpPr>
            <a:spLocks noGrp="1"/>
          </p:cNvSpPr>
          <p:nvPr>
            <p:ph type="title"/>
          </p:nvPr>
        </p:nvSpPr>
        <p:spPr>
          <a:xfrm>
            <a:off x="838200" y="299809"/>
            <a:ext cx="10515600" cy="474630"/>
          </a:xfrm>
        </p:spPr>
        <p:txBody>
          <a:bodyPr>
            <a:normAutofit fontScale="90000"/>
          </a:bodyPr>
          <a:lstStyle/>
          <a:p>
            <a:r>
              <a:rPr lang="en-US" sz="3600" dirty="0"/>
              <a:t>Why is YOLO popular?(p2)</a:t>
            </a:r>
            <a:endParaRPr lang="en-IN" sz="3600" dirty="0"/>
          </a:p>
        </p:txBody>
      </p:sp>
      <p:sp>
        <p:nvSpPr>
          <p:cNvPr id="3" name="Content Placeholder 2">
            <a:extLst>
              <a:ext uri="{FF2B5EF4-FFF2-40B4-BE49-F238E27FC236}">
                <a16:creationId xmlns:a16="http://schemas.microsoft.com/office/drawing/2014/main" id="{6AC58227-75D4-5DFC-17B2-6B906B2E6A56}"/>
              </a:ext>
            </a:extLst>
          </p:cNvPr>
          <p:cNvSpPr>
            <a:spLocks noGrp="1"/>
          </p:cNvSpPr>
          <p:nvPr>
            <p:ph idx="1"/>
          </p:nvPr>
        </p:nvSpPr>
        <p:spPr>
          <a:xfrm>
            <a:off x="838200" y="1163151"/>
            <a:ext cx="10515600" cy="1766661"/>
          </a:xfrm>
        </p:spPr>
        <p:txBody>
          <a:bodyPr>
            <a:normAutofit lnSpcReduction="10000"/>
          </a:bodyPr>
          <a:lstStyle/>
          <a:p>
            <a:pPr marL="0" indent="0" algn="l">
              <a:spcAft>
                <a:spcPts val="900"/>
              </a:spcAft>
              <a:buNone/>
            </a:pPr>
            <a:r>
              <a:rPr lang="en-US" b="0" i="0" dirty="0">
                <a:solidFill>
                  <a:srgbClr val="05192D"/>
                </a:solidFill>
                <a:effectLst/>
                <a:latin typeface="Studio-Feixen-Sans"/>
              </a:rPr>
              <a:t>2. Detection accuracy is good</a:t>
            </a:r>
          </a:p>
          <a:p>
            <a:pPr marL="0" indent="0" algn="l">
              <a:spcAft>
                <a:spcPts val="900"/>
              </a:spcAft>
              <a:buNone/>
            </a:pPr>
            <a:r>
              <a:rPr lang="en-US" b="0" i="0" dirty="0">
                <a:solidFill>
                  <a:srgbClr val="05192D"/>
                </a:solidFill>
                <a:effectLst/>
                <a:latin typeface="Studio-Feixen-Sans"/>
              </a:rPr>
              <a:t>3. Good generalization: can be generalized to many objects </a:t>
            </a:r>
          </a:p>
          <a:p>
            <a:pPr marL="0" indent="0" algn="l">
              <a:spcAft>
                <a:spcPts val="900"/>
              </a:spcAft>
              <a:buNone/>
            </a:pPr>
            <a:r>
              <a:rPr lang="en-US" b="0" i="0" dirty="0">
                <a:solidFill>
                  <a:srgbClr val="05192D"/>
                </a:solidFill>
                <a:effectLst/>
                <a:latin typeface="Studio-Feixen-Sans"/>
              </a:rPr>
              <a:t>4. Open-source</a:t>
            </a:r>
          </a:p>
          <a:p>
            <a:pPr marL="0" indent="0" algn="l">
              <a:spcAft>
                <a:spcPts val="900"/>
              </a:spcAft>
              <a:buNone/>
            </a:pPr>
            <a:endParaRPr lang="en-US" b="0" i="0" dirty="0">
              <a:solidFill>
                <a:srgbClr val="05192D"/>
              </a:solidFill>
              <a:effectLst/>
              <a:latin typeface="Studio-Feixen-Sans"/>
            </a:endParaRPr>
          </a:p>
        </p:txBody>
      </p:sp>
    </p:spTree>
    <p:extLst>
      <p:ext uri="{BB962C8B-B14F-4D97-AF65-F5344CB8AC3E}">
        <p14:creationId xmlns:p14="http://schemas.microsoft.com/office/powerpoint/2010/main" val="399213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0D8E2-DA8D-3B74-319B-CE29CBA15A97}"/>
              </a:ext>
            </a:extLst>
          </p:cNvPr>
          <p:cNvSpPr>
            <a:spLocks noGrp="1"/>
          </p:cNvSpPr>
          <p:nvPr>
            <p:ph type="title"/>
          </p:nvPr>
        </p:nvSpPr>
        <p:spPr>
          <a:xfrm>
            <a:off x="838200" y="113198"/>
            <a:ext cx="10515600" cy="605259"/>
          </a:xfrm>
        </p:spPr>
        <p:txBody>
          <a:bodyPr>
            <a:normAutofit/>
          </a:bodyPr>
          <a:lstStyle/>
          <a:p>
            <a:r>
              <a:rPr lang="en-US" sz="3200" dirty="0"/>
              <a:t>Few useful terms(p1):</a:t>
            </a:r>
            <a:endParaRPr lang="en-IN" sz="3200" dirty="0"/>
          </a:p>
        </p:txBody>
      </p:sp>
      <p:sp>
        <p:nvSpPr>
          <p:cNvPr id="3" name="Content Placeholder 2">
            <a:extLst>
              <a:ext uri="{FF2B5EF4-FFF2-40B4-BE49-F238E27FC236}">
                <a16:creationId xmlns:a16="http://schemas.microsoft.com/office/drawing/2014/main" id="{D5821E4B-0488-55E5-8597-2A5106E1D0EB}"/>
              </a:ext>
            </a:extLst>
          </p:cNvPr>
          <p:cNvSpPr>
            <a:spLocks noGrp="1"/>
          </p:cNvSpPr>
          <p:nvPr>
            <p:ph idx="1"/>
          </p:nvPr>
        </p:nvSpPr>
        <p:spPr>
          <a:xfrm>
            <a:off x="223935" y="724618"/>
            <a:ext cx="11793894" cy="3091602"/>
          </a:xfrm>
        </p:spPr>
        <p:txBody>
          <a:bodyPr>
            <a:normAutofit fontScale="70000" lnSpcReduction="20000"/>
          </a:bodyPr>
          <a:lstStyle/>
          <a:p>
            <a:pPr algn="l"/>
            <a:r>
              <a:rPr lang="en-US" b="1" i="0" dirty="0">
                <a:effectLst/>
                <a:latin typeface="Manrope"/>
              </a:rPr>
              <a:t>Image Classification: </a:t>
            </a:r>
            <a:r>
              <a:rPr lang="en-US" b="0" i="0" dirty="0">
                <a:solidFill>
                  <a:srgbClr val="292929"/>
                </a:solidFill>
                <a:effectLst/>
                <a:latin typeface="Inter"/>
              </a:rPr>
              <a:t>Image classification is a fundamental task in computer vision. Given an input image, the goal of an image classification model is to assign it to one of a pre-defined set of classes. Most </a:t>
            </a:r>
            <a:r>
              <a:rPr lang="en-US" b="1" i="0" dirty="0">
                <a:solidFill>
                  <a:srgbClr val="3F2193"/>
                </a:solidFill>
                <a:effectLst/>
                <a:latin typeface="Inter"/>
                <a:hlinkClick r:id="rId2"/>
              </a:rPr>
              <a:t>image classification models</a:t>
            </a:r>
            <a:r>
              <a:rPr lang="en-US" b="0" i="0" dirty="0">
                <a:solidFill>
                  <a:srgbClr val="292929"/>
                </a:solidFill>
                <a:effectLst/>
                <a:latin typeface="Inter"/>
              </a:rPr>
              <a:t> use CNNs, which are specifically designed to process pixel data and can capture spatial features. Image classification models are trained on large datasets (like ImageNet) and can classify images into 1000 object categories, such as keyboard, mouse, pencil, and many animals.</a:t>
            </a:r>
          </a:p>
          <a:p>
            <a:pPr algn="l"/>
            <a:r>
              <a:rPr lang="en-US" b="1" i="0" dirty="0">
                <a:effectLst/>
                <a:latin typeface="Manrope"/>
              </a:rPr>
              <a:t>Object Localization: </a:t>
            </a:r>
            <a:r>
              <a:rPr lang="en-US" b="0" i="0" dirty="0">
                <a:solidFill>
                  <a:srgbClr val="292929"/>
                </a:solidFill>
                <a:effectLst/>
                <a:latin typeface="Inter"/>
              </a:rPr>
              <a:t>Object localization is another important task in computer vision that </a:t>
            </a:r>
            <a:r>
              <a:rPr lang="en-US" b="1" i="0" dirty="0">
                <a:solidFill>
                  <a:srgbClr val="292929"/>
                </a:solidFill>
                <a:effectLst/>
                <a:latin typeface="Inter"/>
              </a:rPr>
              <a:t>identifies the location of an object</a:t>
            </a:r>
            <a:r>
              <a:rPr lang="en-US" b="0" i="0" dirty="0">
                <a:solidFill>
                  <a:srgbClr val="292929"/>
                </a:solidFill>
                <a:effectLst/>
                <a:latin typeface="Inter"/>
              </a:rPr>
              <a:t> in the image. It </a:t>
            </a:r>
            <a:r>
              <a:rPr lang="en-US" b="1" i="0" dirty="0">
                <a:solidFill>
                  <a:srgbClr val="292929"/>
                </a:solidFill>
                <a:effectLst/>
                <a:latin typeface="Inter"/>
              </a:rPr>
              <a:t>extends the image classification model by adding a regression head to predict the bounding box coordinates</a:t>
            </a:r>
            <a:r>
              <a:rPr lang="en-US" b="0" i="0" dirty="0">
                <a:solidFill>
                  <a:srgbClr val="292929"/>
                </a:solidFill>
                <a:effectLst/>
                <a:latin typeface="Inter"/>
              </a:rPr>
              <a:t> of the object. The bounding box is typically represented by four coordinates that define its position and size. Object localization is a key step in object detection, where the goal is not just to classify the primary object of interest in the image, but also to identify its location.</a:t>
            </a:r>
          </a:p>
          <a:p>
            <a:r>
              <a:rPr lang="en-US" b="1" dirty="0">
                <a:solidFill>
                  <a:srgbClr val="292929"/>
                </a:solidFill>
                <a:latin typeface="Inter"/>
              </a:rPr>
              <a:t>Object Detection</a:t>
            </a:r>
            <a:r>
              <a:rPr lang="en-US" dirty="0">
                <a:solidFill>
                  <a:srgbClr val="292929"/>
                </a:solidFill>
                <a:latin typeface="Inter"/>
              </a:rPr>
              <a:t>: </a:t>
            </a:r>
            <a:r>
              <a:rPr lang="en-US" dirty="0"/>
              <a:t>identifies and classifies objects in images or videos</a:t>
            </a:r>
            <a:r>
              <a:rPr lang="en-US" b="0" i="0" dirty="0">
                <a:solidFill>
                  <a:srgbClr val="001D35"/>
                </a:solidFill>
                <a:effectLst/>
                <a:latin typeface="Google Sans"/>
              </a:rPr>
              <a:t>.</a:t>
            </a:r>
            <a:endParaRPr lang="en-US" b="0" i="0" dirty="0">
              <a:solidFill>
                <a:srgbClr val="292929"/>
              </a:solidFill>
              <a:effectLst/>
              <a:latin typeface="Inter"/>
            </a:endParaRPr>
          </a:p>
          <a:p>
            <a:endParaRPr lang="en-IN" dirty="0"/>
          </a:p>
        </p:txBody>
      </p:sp>
      <p:pic>
        <p:nvPicPr>
          <p:cNvPr id="5" name="Picture 4">
            <a:extLst>
              <a:ext uri="{FF2B5EF4-FFF2-40B4-BE49-F238E27FC236}">
                <a16:creationId xmlns:a16="http://schemas.microsoft.com/office/drawing/2014/main" id="{F70D8A6B-D8C5-EA7B-EEF3-A4A745ADB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5279" y="3698842"/>
            <a:ext cx="6904318" cy="2987299"/>
          </a:xfrm>
          <a:prstGeom prst="rect">
            <a:avLst/>
          </a:prstGeom>
        </p:spPr>
      </p:pic>
    </p:spTree>
    <p:extLst>
      <p:ext uri="{BB962C8B-B14F-4D97-AF65-F5344CB8AC3E}">
        <p14:creationId xmlns:p14="http://schemas.microsoft.com/office/powerpoint/2010/main" val="2349942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C2448-456B-2693-3D15-CD5E1F707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EA9BB-0560-E41F-372C-1B2A844F1BEC}"/>
              </a:ext>
            </a:extLst>
          </p:cNvPr>
          <p:cNvSpPr>
            <a:spLocks noGrp="1"/>
          </p:cNvSpPr>
          <p:nvPr>
            <p:ph type="title"/>
          </p:nvPr>
        </p:nvSpPr>
        <p:spPr>
          <a:xfrm>
            <a:off x="838200" y="113198"/>
            <a:ext cx="10515600" cy="605259"/>
          </a:xfrm>
        </p:spPr>
        <p:txBody>
          <a:bodyPr>
            <a:normAutofit/>
          </a:bodyPr>
          <a:lstStyle/>
          <a:p>
            <a:r>
              <a:rPr lang="en-US" sz="3200" dirty="0"/>
              <a:t>Few useful terms(p2):</a:t>
            </a:r>
            <a:endParaRPr lang="en-IN" sz="3200" dirty="0"/>
          </a:p>
        </p:txBody>
      </p:sp>
      <p:sp>
        <p:nvSpPr>
          <p:cNvPr id="3" name="Content Placeholder 2">
            <a:extLst>
              <a:ext uri="{FF2B5EF4-FFF2-40B4-BE49-F238E27FC236}">
                <a16:creationId xmlns:a16="http://schemas.microsoft.com/office/drawing/2014/main" id="{4B95C42F-82EA-33CB-F360-84568BBC8AD9}"/>
              </a:ext>
            </a:extLst>
          </p:cNvPr>
          <p:cNvSpPr>
            <a:spLocks noGrp="1"/>
          </p:cNvSpPr>
          <p:nvPr>
            <p:ph idx="1"/>
          </p:nvPr>
        </p:nvSpPr>
        <p:spPr>
          <a:xfrm>
            <a:off x="223935" y="724618"/>
            <a:ext cx="11793894" cy="3091602"/>
          </a:xfrm>
        </p:spPr>
        <p:txBody>
          <a:bodyPr>
            <a:normAutofit/>
          </a:bodyPr>
          <a:lstStyle/>
          <a:p>
            <a:r>
              <a:rPr lang="en-IN" b="1" i="0" dirty="0">
                <a:effectLst/>
                <a:latin typeface="Manrope"/>
              </a:rPr>
              <a:t>Intersection over Union (</a:t>
            </a:r>
            <a:r>
              <a:rPr lang="en-IN" b="1" i="0" dirty="0" err="1">
                <a:effectLst/>
                <a:latin typeface="Manrope"/>
              </a:rPr>
              <a:t>IoU</a:t>
            </a:r>
            <a:r>
              <a:rPr lang="en-IN" b="1" i="0" dirty="0">
                <a:effectLst/>
                <a:latin typeface="Manrope"/>
              </a:rPr>
              <a:t>)</a:t>
            </a:r>
          </a:p>
          <a:p>
            <a:pPr marL="0" indent="0" algn="l">
              <a:buNone/>
            </a:pPr>
            <a:r>
              <a:rPr lang="en-US" b="0" i="0" dirty="0" err="1">
                <a:solidFill>
                  <a:srgbClr val="292929"/>
                </a:solidFill>
                <a:effectLst/>
                <a:latin typeface="Inter"/>
              </a:rPr>
              <a:t>IoU</a:t>
            </a:r>
            <a:r>
              <a:rPr lang="en-US" dirty="0">
                <a:solidFill>
                  <a:srgbClr val="292929"/>
                </a:solidFill>
                <a:latin typeface="Inter"/>
              </a:rPr>
              <a:t> </a:t>
            </a:r>
            <a:r>
              <a:rPr lang="en-US" b="0" i="0" dirty="0">
                <a:solidFill>
                  <a:srgbClr val="292929"/>
                </a:solidFill>
                <a:effectLst/>
                <a:latin typeface="Inter"/>
              </a:rPr>
              <a:t>is a common metric used to evaluate the performance of an object detection algorithm. It measures the overlap between the </a:t>
            </a:r>
            <a:r>
              <a:rPr lang="en-US" b="1" i="0" dirty="0">
                <a:solidFill>
                  <a:srgbClr val="292929"/>
                </a:solidFill>
                <a:effectLst/>
                <a:latin typeface="Inter"/>
              </a:rPr>
              <a:t>predicted bounding box (P)</a:t>
            </a:r>
            <a:r>
              <a:rPr lang="en-US" b="0" i="0" dirty="0">
                <a:solidFill>
                  <a:srgbClr val="292929"/>
                </a:solidFill>
                <a:effectLst/>
                <a:latin typeface="Inter"/>
              </a:rPr>
              <a:t> and the </a:t>
            </a:r>
            <a:r>
              <a:rPr lang="en-US" b="1" i="0" dirty="0">
                <a:solidFill>
                  <a:srgbClr val="292929"/>
                </a:solidFill>
                <a:effectLst/>
                <a:latin typeface="Inter"/>
              </a:rPr>
              <a:t>ground truth bounding box (G)</a:t>
            </a:r>
            <a:r>
              <a:rPr lang="en-US" b="0" i="0" dirty="0">
                <a:solidFill>
                  <a:srgbClr val="292929"/>
                </a:solidFill>
                <a:effectLst/>
                <a:latin typeface="Inter"/>
              </a:rPr>
              <a:t>. The </a:t>
            </a:r>
            <a:r>
              <a:rPr lang="en-US" b="0" i="0" dirty="0" err="1">
                <a:solidFill>
                  <a:srgbClr val="292929"/>
                </a:solidFill>
                <a:effectLst/>
                <a:latin typeface="Inter"/>
              </a:rPr>
              <a:t>IoU</a:t>
            </a:r>
            <a:r>
              <a:rPr lang="en-US" b="0" i="0" dirty="0">
                <a:solidFill>
                  <a:srgbClr val="292929"/>
                </a:solidFill>
                <a:effectLst/>
                <a:latin typeface="Inter"/>
              </a:rPr>
              <a:t> is calculated as the area of intersection divided by the area of union of P and G.</a:t>
            </a:r>
          </a:p>
          <a:p>
            <a:pPr marL="0" indent="0" algn="l">
              <a:buNone/>
            </a:pPr>
            <a:r>
              <a:rPr lang="en-US" b="0" i="0" dirty="0">
                <a:solidFill>
                  <a:srgbClr val="292929"/>
                </a:solidFill>
                <a:effectLst/>
                <a:latin typeface="Inter"/>
              </a:rPr>
              <a:t>The </a:t>
            </a:r>
            <a:r>
              <a:rPr lang="en-US" b="0" i="0" dirty="0" err="1">
                <a:solidFill>
                  <a:srgbClr val="292929"/>
                </a:solidFill>
                <a:effectLst/>
                <a:latin typeface="Inter"/>
              </a:rPr>
              <a:t>IoU</a:t>
            </a:r>
            <a:r>
              <a:rPr lang="en-US" b="0" i="0" dirty="0">
                <a:solidFill>
                  <a:srgbClr val="292929"/>
                </a:solidFill>
                <a:effectLst/>
                <a:latin typeface="Inter"/>
              </a:rPr>
              <a:t> score ranges from 0 to 1, where 0 indicates no overlap and 1 indicates a perfect match. A higher </a:t>
            </a:r>
            <a:r>
              <a:rPr lang="en-US" b="0" i="0" dirty="0" err="1">
                <a:solidFill>
                  <a:srgbClr val="292929"/>
                </a:solidFill>
                <a:effectLst/>
                <a:latin typeface="Inter"/>
              </a:rPr>
              <a:t>IoU</a:t>
            </a:r>
            <a:r>
              <a:rPr lang="en-US" b="0" i="0" dirty="0">
                <a:solidFill>
                  <a:srgbClr val="292929"/>
                </a:solidFill>
                <a:effectLst/>
                <a:latin typeface="Inter"/>
              </a:rPr>
              <a:t> score indicates a more accurate object detection.</a:t>
            </a:r>
          </a:p>
        </p:txBody>
      </p:sp>
      <p:pic>
        <p:nvPicPr>
          <p:cNvPr id="6" name="Picture 5">
            <a:extLst>
              <a:ext uri="{FF2B5EF4-FFF2-40B4-BE49-F238E27FC236}">
                <a16:creationId xmlns:a16="http://schemas.microsoft.com/office/drawing/2014/main" id="{CA13B5A9-1B3F-8D30-A4D3-FCC3F5E22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386" y="4874146"/>
            <a:ext cx="3678384" cy="1356781"/>
          </a:xfrm>
          <a:prstGeom prst="rect">
            <a:avLst/>
          </a:prstGeom>
        </p:spPr>
      </p:pic>
      <p:pic>
        <p:nvPicPr>
          <p:cNvPr id="8" name="Picture 7">
            <a:extLst>
              <a:ext uri="{FF2B5EF4-FFF2-40B4-BE49-F238E27FC236}">
                <a16:creationId xmlns:a16="http://schemas.microsoft.com/office/drawing/2014/main" id="{F19AA8B4-71B7-D749-6825-6E32D1E3DB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798" y="4460763"/>
            <a:ext cx="5589259" cy="2131156"/>
          </a:xfrm>
          <a:prstGeom prst="rect">
            <a:avLst/>
          </a:prstGeom>
        </p:spPr>
      </p:pic>
    </p:spTree>
    <p:extLst>
      <p:ext uri="{BB962C8B-B14F-4D97-AF65-F5344CB8AC3E}">
        <p14:creationId xmlns:p14="http://schemas.microsoft.com/office/powerpoint/2010/main" val="3597610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2B20C-4EF8-FF3B-8387-6959DB7D404C}"/>
              </a:ext>
            </a:extLst>
          </p:cNvPr>
          <p:cNvSpPr>
            <a:spLocks noGrp="1"/>
          </p:cNvSpPr>
          <p:nvPr>
            <p:ph type="title"/>
          </p:nvPr>
        </p:nvSpPr>
        <p:spPr>
          <a:xfrm>
            <a:off x="838200" y="271816"/>
            <a:ext cx="10515600" cy="567936"/>
          </a:xfrm>
        </p:spPr>
        <p:txBody>
          <a:bodyPr>
            <a:normAutofit fontScale="90000"/>
          </a:bodyPr>
          <a:lstStyle/>
          <a:p>
            <a:r>
              <a:rPr lang="en-US" sz="4000" b="1" i="0" dirty="0">
                <a:effectLst/>
                <a:latin typeface="Manrope"/>
              </a:rPr>
              <a:t>Classification of Object Detection Algorithms(p1)</a:t>
            </a:r>
            <a:endParaRPr lang="en-IN" sz="4000" dirty="0"/>
          </a:p>
        </p:txBody>
      </p:sp>
      <p:sp>
        <p:nvSpPr>
          <p:cNvPr id="3" name="Content Placeholder 2">
            <a:extLst>
              <a:ext uri="{FF2B5EF4-FFF2-40B4-BE49-F238E27FC236}">
                <a16:creationId xmlns:a16="http://schemas.microsoft.com/office/drawing/2014/main" id="{24FB22D9-9F61-FF4C-C3B3-16B804377376}"/>
              </a:ext>
            </a:extLst>
          </p:cNvPr>
          <p:cNvSpPr>
            <a:spLocks noGrp="1"/>
          </p:cNvSpPr>
          <p:nvPr>
            <p:ph idx="1"/>
          </p:nvPr>
        </p:nvSpPr>
        <p:spPr>
          <a:xfrm>
            <a:off x="317241" y="883229"/>
            <a:ext cx="11476653" cy="2158550"/>
          </a:xfrm>
        </p:spPr>
        <p:txBody>
          <a:bodyPr>
            <a:normAutofit fontScale="62500" lnSpcReduction="20000"/>
          </a:bodyPr>
          <a:lstStyle/>
          <a:p>
            <a:pPr marL="0" indent="0" algn="l">
              <a:buNone/>
            </a:pPr>
            <a:r>
              <a:rPr lang="en-US" b="0" i="0" dirty="0">
                <a:solidFill>
                  <a:srgbClr val="292929"/>
                </a:solidFill>
                <a:effectLst/>
                <a:latin typeface="Inter"/>
              </a:rPr>
              <a:t>Object detection algorithms can be broadly classified into two categories: single-shot detectors and two-shot(or multi-shot) detectors. These two types of algorithms have different approaches to the task of object detection.</a:t>
            </a:r>
          </a:p>
          <a:p>
            <a:pPr marL="0" indent="0" algn="l">
              <a:buNone/>
            </a:pPr>
            <a:r>
              <a:rPr lang="en-US" b="1" i="0" dirty="0">
                <a:effectLst/>
                <a:latin typeface="Inter"/>
              </a:rPr>
              <a:t>1. Single-Shot Object Detection</a:t>
            </a:r>
          </a:p>
          <a:p>
            <a:pPr marL="0" indent="0" algn="l">
              <a:buNone/>
            </a:pPr>
            <a:r>
              <a:rPr lang="en-US" b="1" i="0" dirty="0">
                <a:solidFill>
                  <a:srgbClr val="3F2193"/>
                </a:solidFill>
                <a:effectLst/>
                <a:latin typeface="Inter"/>
                <a:hlinkClick r:id="rId2"/>
              </a:rPr>
              <a:t>Single-shot detectors</a:t>
            </a:r>
            <a:r>
              <a:rPr lang="en-US" b="0" i="0" dirty="0">
                <a:solidFill>
                  <a:srgbClr val="292929"/>
                </a:solidFill>
                <a:effectLst/>
                <a:latin typeface="Inter"/>
              </a:rPr>
              <a:t> (SSDs) are a type of object detection algorithm that predict the bounding box and the class of the object in one single shot. This means that in a single forward pass of the network, the presence of an object and the bounding box are predicted simultaneously. This makes SSDs very fast and efficient, suitable for tasks that require </a:t>
            </a:r>
            <a:r>
              <a:rPr lang="en-US" b="1" i="0" dirty="0">
                <a:solidFill>
                  <a:srgbClr val="292929"/>
                </a:solidFill>
                <a:effectLst/>
                <a:latin typeface="Inter"/>
              </a:rPr>
              <a:t>real-time detection</a:t>
            </a:r>
            <a:r>
              <a:rPr lang="en-US" b="0" i="0" dirty="0">
                <a:solidFill>
                  <a:srgbClr val="292929"/>
                </a:solidFill>
                <a:effectLst/>
                <a:latin typeface="Inter"/>
              </a:rPr>
              <a:t>.</a:t>
            </a:r>
            <a:r>
              <a:rPr lang="en-IN" dirty="0">
                <a:solidFill>
                  <a:srgbClr val="E5E5E5"/>
                </a:solidFill>
                <a:latin typeface="Inter"/>
              </a:rPr>
              <a:t> </a:t>
            </a:r>
            <a:r>
              <a:rPr lang="en-IN" b="1" i="0" dirty="0">
                <a:effectLst/>
                <a:latin typeface="Inter"/>
              </a:rPr>
              <a:t>SSD trains faster.</a:t>
            </a:r>
            <a:endParaRPr lang="en-US" b="1" i="0" dirty="0">
              <a:effectLst/>
              <a:latin typeface="Inter"/>
            </a:endParaRPr>
          </a:p>
          <a:p>
            <a:pPr marL="0" indent="0" algn="l">
              <a:buNone/>
            </a:pPr>
            <a:r>
              <a:rPr lang="en-US" b="0" i="0" dirty="0">
                <a:solidFill>
                  <a:srgbClr val="292929"/>
                </a:solidFill>
                <a:effectLst/>
                <a:latin typeface="Inter"/>
              </a:rPr>
              <a:t>Examples: YOLO (You Only Look Once) and SSD (Single Shot </a:t>
            </a:r>
            <a:r>
              <a:rPr lang="en-US" b="0" i="0" dirty="0" err="1">
                <a:solidFill>
                  <a:srgbClr val="292929"/>
                </a:solidFill>
                <a:effectLst/>
                <a:latin typeface="Inter"/>
              </a:rPr>
              <a:t>MultiBox</a:t>
            </a:r>
            <a:r>
              <a:rPr lang="en-US" b="0" i="0" dirty="0">
                <a:solidFill>
                  <a:srgbClr val="292929"/>
                </a:solidFill>
                <a:effectLst/>
                <a:latin typeface="Inter"/>
              </a:rPr>
              <a:t> Detector)</a:t>
            </a:r>
          </a:p>
        </p:txBody>
      </p:sp>
      <p:pic>
        <p:nvPicPr>
          <p:cNvPr id="5" name="Picture 4">
            <a:extLst>
              <a:ext uri="{FF2B5EF4-FFF2-40B4-BE49-F238E27FC236}">
                <a16:creationId xmlns:a16="http://schemas.microsoft.com/office/drawing/2014/main" id="{C7DE2845-9BE1-8418-C2C3-BD3B727BF3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886" y="3163078"/>
            <a:ext cx="6594405" cy="3491595"/>
          </a:xfrm>
          <a:prstGeom prst="rect">
            <a:avLst/>
          </a:prstGeom>
        </p:spPr>
      </p:pic>
      <p:sp>
        <p:nvSpPr>
          <p:cNvPr id="6" name="TextBox 5">
            <a:extLst>
              <a:ext uri="{FF2B5EF4-FFF2-40B4-BE49-F238E27FC236}">
                <a16:creationId xmlns:a16="http://schemas.microsoft.com/office/drawing/2014/main" id="{4F359C0A-2DB3-9ECA-7A7A-9F6D79823C0C}"/>
              </a:ext>
            </a:extLst>
          </p:cNvPr>
          <p:cNvSpPr txBox="1"/>
          <p:nvPr/>
        </p:nvSpPr>
        <p:spPr>
          <a:xfrm>
            <a:off x="485192" y="4254759"/>
            <a:ext cx="3905833" cy="1477328"/>
          </a:xfrm>
          <a:prstGeom prst="rect">
            <a:avLst/>
          </a:prstGeom>
          <a:noFill/>
        </p:spPr>
        <p:txBody>
          <a:bodyPr wrap="square" rtlCol="0">
            <a:spAutoFit/>
          </a:bodyPr>
          <a:lstStyle/>
          <a:p>
            <a:r>
              <a:rPr lang="en-US" b="0" i="0" dirty="0">
                <a:solidFill>
                  <a:srgbClr val="242424"/>
                </a:solidFill>
                <a:effectLst/>
                <a:latin typeface="source-serif-pro"/>
              </a:rPr>
              <a:t>Each prediction composes of a boundary box and scores for each class (one extra class for no object), and we pick the highest score as the class for the bounded object.</a:t>
            </a:r>
            <a:endParaRPr lang="en-IN" dirty="0"/>
          </a:p>
        </p:txBody>
      </p:sp>
    </p:spTree>
    <p:extLst>
      <p:ext uri="{BB962C8B-B14F-4D97-AF65-F5344CB8AC3E}">
        <p14:creationId xmlns:p14="http://schemas.microsoft.com/office/powerpoint/2010/main" val="2551389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454F3-3822-D6FC-621E-43FA29113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45354-67FC-5C0F-469A-FF91DEC6CA64}"/>
              </a:ext>
            </a:extLst>
          </p:cNvPr>
          <p:cNvSpPr>
            <a:spLocks noGrp="1"/>
          </p:cNvSpPr>
          <p:nvPr>
            <p:ph type="title"/>
          </p:nvPr>
        </p:nvSpPr>
        <p:spPr>
          <a:xfrm>
            <a:off x="838200" y="271816"/>
            <a:ext cx="10515600" cy="567936"/>
          </a:xfrm>
        </p:spPr>
        <p:txBody>
          <a:bodyPr>
            <a:normAutofit fontScale="90000"/>
          </a:bodyPr>
          <a:lstStyle/>
          <a:p>
            <a:r>
              <a:rPr lang="en-US" sz="4000" b="1" i="0" dirty="0">
                <a:effectLst/>
                <a:latin typeface="Manrope"/>
              </a:rPr>
              <a:t>Classification of Object Detection Algorithms(p2)</a:t>
            </a:r>
            <a:endParaRPr lang="en-IN" sz="4000" dirty="0"/>
          </a:p>
        </p:txBody>
      </p:sp>
      <p:sp>
        <p:nvSpPr>
          <p:cNvPr id="7" name="Content Placeholder 6">
            <a:extLst>
              <a:ext uri="{FF2B5EF4-FFF2-40B4-BE49-F238E27FC236}">
                <a16:creationId xmlns:a16="http://schemas.microsoft.com/office/drawing/2014/main" id="{E9C8C377-E1A6-9EB3-78D6-14C40EAAE973}"/>
              </a:ext>
            </a:extLst>
          </p:cNvPr>
          <p:cNvSpPr>
            <a:spLocks noGrp="1"/>
          </p:cNvSpPr>
          <p:nvPr>
            <p:ph idx="1"/>
          </p:nvPr>
        </p:nvSpPr>
        <p:spPr>
          <a:xfrm>
            <a:off x="838200" y="1284449"/>
            <a:ext cx="10769082" cy="1122848"/>
          </a:xfrm>
        </p:spPr>
        <p:txBody>
          <a:bodyPr/>
          <a:lstStyle/>
          <a:p>
            <a:pPr marL="0" indent="0">
              <a:buNone/>
            </a:pPr>
            <a:r>
              <a:rPr lang="en-US" b="0" i="0" dirty="0">
                <a:solidFill>
                  <a:srgbClr val="242424"/>
                </a:solidFill>
                <a:effectLst/>
                <a:latin typeface="source-serif-pro"/>
              </a:rPr>
              <a:t>SSD uses lower resolution layers to detect larger scale objects. For example, the 4× 4 feature maps are used for larger scale object.</a:t>
            </a:r>
            <a:endParaRPr lang="en-IN" dirty="0"/>
          </a:p>
        </p:txBody>
      </p:sp>
      <p:pic>
        <p:nvPicPr>
          <p:cNvPr id="9" name="Picture 8">
            <a:extLst>
              <a:ext uri="{FF2B5EF4-FFF2-40B4-BE49-F238E27FC236}">
                <a16:creationId xmlns:a16="http://schemas.microsoft.com/office/drawing/2014/main" id="{531F9E9E-222D-88CA-278B-A796F8780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737" y="3172123"/>
            <a:ext cx="5159187" cy="3033023"/>
          </a:xfrm>
          <a:prstGeom prst="rect">
            <a:avLst/>
          </a:prstGeom>
        </p:spPr>
      </p:pic>
    </p:spTree>
    <p:extLst>
      <p:ext uri="{BB962C8B-B14F-4D97-AF65-F5344CB8AC3E}">
        <p14:creationId xmlns:p14="http://schemas.microsoft.com/office/powerpoint/2010/main" val="11832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471A-6EDE-5465-7364-887BB14B4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E2A16-9CE2-991F-25EF-0DFC9C842447}"/>
              </a:ext>
            </a:extLst>
          </p:cNvPr>
          <p:cNvSpPr>
            <a:spLocks noGrp="1"/>
          </p:cNvSpPr>
          <p:nvPr>
            <p:ph type="title"/>
          </p:nvPr>
        </p:nvSpPr>
        <p:spPr>
          <a:xfrm>
            <a:off x="838200" y="178506"/>
            <a:ext cx="10515600" cy="567936"/>
          </a:xfrm>
        </p:spPr>
        <p:txBody>
          <a:bodyPr>
            <a:normAutofit fontScale="90000"/>
          </a:bodyPr>
          <a:lstStyle/>
          <a:p>
            <a:r>
              <a:rPr lang="en-US" sz="4000" b="1" i="0" dirty="0">
                <a:effectLst/>
                <a:latin typeface="Manrope"/>
              </a:rPr>
              <a:t>Classification of Object Detection Algorithms(p3)</a:t>
            </a:r>
            <a:endParaRPr lang="en-IN" sz="4000" dirty="0"/>
          </a:p>
        </p:txBody>
      </p:sp>
      <p:sp>
        <p:nvSpPr>
          <p:cNvPr id="3" name="Content Placeholder 2">
            <a:extLst>
              <a:ext uri="{FF2B5EF4-FFF2-40B4-BE49-F238E27FC236}">
                <a16:creationId xmlns:a16="http://schemas.microsoft.com/office/drawing/2014/main" id="{F0903D93-AEE1-CD0D-DFB3-2BF7EB6012D3}"/>
              </a:ext>
            </a:extLst>
          </p:cNvPr>
          <p:cNvSpPr>
            <a:spLocks noGrp="1"/>
          </p:cNvSpPr>
          <p:nvPr>
            <p:ph idx="1"/>
          </p:nvPr>
        </p:nvSpPr>
        <p:spPr>
          <a:xfrm>
            <a:off x="345233" y="827241"/>
            <a:ext cx="11607281" cy="2718388"/>
          </a:xfrm>
        </p:spPr>
        <p:txBody>
          <a:bodyPr>
            <a:normAutofit fontScale="62500" lnSpcReduction="20000"/>
          </a:bodyPr>
          <a:lstStyle/>
          <a:p>
            <a:pPr marL="0" indent="0" algn="l">
              <a:buNone/>
            </a:pPr>
            <a:r>
              <a:rPr lang="en-US" b="1" i="0" dirty="0">
                <a:effectLst/>
                <a:latin typeface="Manrope"/>
              </a:rPr>
              <a:t>2. Two-Shot Object Detection</a:t>
            </a:r>
          </a:p>
          <a:p>
            <a:pPr marL="0" indent="0" algn="l">
              <a:buNone/>
            </a:pPr>
            <a:r>
              <a:rPr lang="en-US" b="0" i="0" dirty="0">
                <a:solidFill>
                  <a:srgbClr val="292929"/>
                </a:solidFill>
                <a:effectLst/>
                <a:latin typeface="Inter"/>
              </a:rPr>
              <a:t>Two-shot or multi-shot object detection algorithms, on the other hand, use a two-step process for detecting objects. </a:t>
            </a:r>
            <a:endParaRPr lang="en-US" dirty="0">
              <a:solidFill>
                <a:srgbClr val="292929"/>
              </a:solidFill>
              <a:latin typeface="Inter"/>
            </a:endParaRPr>
          </a:p>
          <a:p>
            <a:pPr marL="0" indent="0" algn="l">
              <a:buNone/>
            </a:pPr>
            <a:r>
              <a:rPr lang="en-US" b="0" i="0" dirty="0">
                <a:solidFill>
                  <a:srgbClr val="292929"/>
                </a:solidFill>
                <a:effectLst/>
                <a:latin typeface="Inter"/>
              </a:rPr>
              <a:t>Step1:  involves proposing a series of bounding boxes that could potentially contain an object. This is often done using a method called </a:t>
            </a:r>
            <a:r>
              <a:rPr lang="en-US" b="1" i="0" dirty="0">
                <a:solidFill>
                  <a:srgbClr val="292929"/>
                </a:solidFill>
                <a:effectLst/>
                <a:latin typeface="Inter"/>
              </a:rPr>
              <a:t>region proposal</a:t>
            </a:r>
            <a:r>
              <a:rPr lang="en-US" b="0" i="0" dirty="0">
                <a:solidFill>
                  <a:srgbClr val="292929"/>
                </a:solidFill>
                <a:effectLst/>
                <a:latin typeface="Inter"/>
              </a:rPr>
              <a:t>.</a:t>
            </a:r>
          </a:p>
          <a:p>
            <a:pPr marL="0" indent="0" algn="l">
              <a:buNone/>
            </a:pPr>
            <a:r>
              <a:rPr lang="en-US" dirty="0">
                <a:solidFill>
                  <a:srgbClr val="292929"/>
                </a:solidFill>
                <a:latin typeface="Inter"/>
              </a:rPr>
              <a:t>S</a:t>
            </a:r>
            <a:r>
              <a:rPr lang="en-US" b="0" i="0" dirty="0">
                <a:solidFill>
                  <a:srgbClr val="292929"/>
                </a:solidFill>
                <a:effectLst/>
                <a:latin typeface="Inter"/>
              </a:rPr>
              <a:t>tep2 :  involves running these proposed regions through a convolutional neural network(</a:t>
            </a:r>
            <a:r>
              <a:rPr lang="en-US" b="1" i="0" dirty="0">
                <a:solidFill>
                  <a:srgbClr val="292929"/>
                </a:solidFill>
                <a:effectLst/>
                <a:latin typeface="Inter"/>
              </a:rPr>
              <a:t>CNN</a:t>
            </a:r>
            <a:r>
              <a:rPr lang="en-US" b="0" i="0" dirty="0">
                <a:solidFill>
                  <a:srgbClr val="292929"/>
                </a:solidFill>
                <a:effectLst/>
                <a:latin typeface="Inter"/>
              </a:rPr>
              <a:t>) to classify the object classes within the box.</a:t>
            </a:r>
          </a:p>
          <a:p>
            <a:pPr marL="0" indent="0" algn="l">
              <a:buNone/>
            </a:pPr>
            <a:r>
              <a:rPr lang="en-US" b="0" i="0" dirty="0">
                <a:solidFill>
                  <a:srgbClr val="292929"/>
                </a:solidFill>
                <a:effectLst/>
                <a:latin typeface="Inter"/>
              </a:rPr>
              <a:t>It is slower and more computationally intensive, tend to be more accurate, as they can afford to spend more computational resources on each potential object</a:t>
            </a:r>
            <a:endParaRPr lang="en-US" dirty="0">
              <a:solidFill>
                <a:srgbClr val="292929"/>
              </a:solidFill>
              <a:latin typeface="Inter"/>
            </a:endParaRPr>
          </a:p>
          <a:p>
            <a:pPr marL="0" indent="0" algn="l">
              <a:buNone/>
            </a:pPr>
            <a:r>
              <a:rPr lang="en-US" dirty="0">
                <a:solidFill>
                  <a:srgbClr val="292929"/>
                </a:solidFill>
                <a:latin typeface="Inter"/>
              </a:rPr>
              <a:t>Examples: </a:t>
            </a:r>
            <a:r>
              <a:rPr lang="en-US" b="0" i="0" dirty="0">
                <a:solidFill>
                  <a:srgbClr val="292929"/>
                </a:solidFill>
                <a:effectLst/>
                <a:latin typeface="Inter"/>
              </a:rPr>
              <a:t>R-CNN (Regions with CNN features), Fast R-CNN, and Faster R-CNN. </a:t>
            </a:r>
          </a:p>
          <a:p>
            <a:pPr marL="0" indent="0" algn="l">
              <a:buNone/>
            </a:pPr>
            <a:endParaRPr lang="en-US" b="0" i="0" dirty="0">
              <a:solidFill>
                <a:srgbClr val="292929"/>
              </a:solidFill>
              <a:effectLst/>
              <a:latin typeface="Inter"/>
            </a:endParaRPr>
          </a:p>
          <a:p>
            <a:endParaRPr lang="en-IN" dirty="0"/>
          </a:p>
        </p:txBody>
      </p:sp>
      <p:pic>
        <p:nvPicPr>
          <p:cNvPr id="5" name="Picture 4">
            <a:extLst>
              <a:ext uri="{FF2B5EF4-FFF2-40B4-BE49-F238E27FC236}">
                <a16:creationId xmlns:a16="http://schemas.microsoft.com/office/drawing/2014/main" id="{A146953D-1126-8547-7DB2-A934C4D44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3540" y="3626428"/>
            <a:ext cx="8264501" cy="3138311"/>
          </a:xfrm>
          <a:prstGeom prst="rect">
            <a:avLst/>
          </a:prstGeom>
        </p:spPr>
      </p:pic>
    </p:spTree>
    <p:extLst>
      <p:ext uri="{BB962C8B-B14F-4D97-AF65-F5344CB8AC3E}">
        <p14:creationId xmlns:p14="http://schemas.microsoft.com/office/powerpoint/2010/main" val="265778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73422-3485-BCD9-9DD0-992F294AE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B4E87-D122-24BF-DD73-30DD8AFBA746}"/>
              </a:ext>
            </a:extLst>
          </p:cNvPr>
          <p:cNvSpPr>
            <a:spLocks noGrp="1"/>
          </p:cNvSpPr>
          <p:nvPr>
            <p:ph type="title"/>
          </p:nvPr>
        </p:nvSpPr>
        <p:spPr>
          <a:xfrm>
            <a:off x="838200" y="178506"/>
            <a:ext cx="10515600" cy="567936"/>
          </a:xfrm>
        </p:spPr>
        <p:txBody>
          <a:bodyPr>
            <a:normAutofit fontScale="90000"/>
          </a:bodyPr>
          <a:lstStyle/>
          <a:p>
            <a:r>
              <a:rPr lang="en-US" sz="4000" b="1" i="0" dirty="0">
                <a:effectLst/>
                <a:latin typeface="Manrope"/>
              </a:rPr>
              <a:t>Classification of Object Detection Algorithms(p4)</a:t>
            </a:r>
            <a:endParaRPr lang="en-IN" sz="4000" dirty="0"/>
          </a:p>
        </p:txBody>
      </p:sp>
      <p:sp>
        <p:nvSpPr>
          <p:cNvPr id="3" name="Content Placeholder 2">
            <a:extLst>
              <a:ext uri="{FF2B5EF4-FFF2-40B4-BE49-F238E27FC236}">
                <a16:creationId xmlns:a16="http://schemas.microsoft.com/office/drawing/2014/main" id="{5A2DCFBC-9CB0-5548-F293-071F1596D9DC}"/>
              </a:ext>
            </a:extLst>
          </p:cNvPr>
          <p:cNvSpPr>
            <a:spLocks noGrp="1"/>
          </p:cNvSpPr>
          <p:nvPr>
            <p:ph idx="1"/>
          </p:nvPr>
        </p:nvSpPr>
        <p:spPr>
          <a:xfrm>
            <a:off x="345233" y="827241"/>
            <a:ext cx="11607281" cy="2321675"/>
          </a:xfrm>
        </p:spPr>
        <p:txBody>
          <a:bodyPr>
            <a:noAutofit/>
          </a:bodyPr>
          <a:lstStyle/>
          <a:p>
            <a:pPr marL="0" indent="0" algn="l">
              <a:buNone/>
            </a:pPr>
            <a:r>
              <a:rPr lang="en-US" sz="1600" b="1" i="0" dirty="0">
                <a:solidFill>
                  <a:srgbClr val="242424"/>
                </a:solidFill>
                <a:effectLst/>
              </a:rPr>
              <a:t>Region proposals</a:t>
            </a:r>
            <a:r>
              <a:rPr lang="en-US" sz="1600" b="0" i="0" dirty="0">
                <a:solidFill>
                  <a:srgbClr val="242424"/>
                </a:solidFill>
                <a:effectLst/>
              </a:rPr>
              <a:t> can be generated using various methods, and </a:t>
            </a:r>
            <a:r>
              <a:rPr lang="en-US" sz="1600" b="1" i="0" dirty="0">
                <a:solidFill>
                  <a:srgbClr val="242424"/>
                </a:solidFill>
                <a:effectLst/>
              </a:rPr>
              <a:t>selective search</a:t>
            </a:r>
            <a:r>
              <a:rPr lang="en-US" sz="1600" b="0" i="0" dirty="0">
                <a:solidFill>
                  <a:srgbClr val="242424"/>
                </a:solidFill>
                <a:effectLst/>
              </a:rPr>
              <a:t> is one of them.</a:t>
            </a:r>
          </a:p>
          <a:p>
            <a:pPr marL="0" indent="0" algn="l">
              <a:buNone/>
            </a:pPr>
            <a:r>
              <a:rPr lang="en-US" sz="1600" b="0" i="0" dirty="0">
                <a:solidFill>
                  <a:srgbClr val="242424"/>
                </a:solidFill>
                <a:effectLst/>
              </a:rPr>
              <a:t>To summarize selective search, a segmentation algorithm is applied to the image, and region proposals (bounding boxes) are drawn based on the segmentation map. The segmentation map is iteratively merged and larger region proposals are drawn from the refined map as depicted in the figure below.</a:t>
            </a:r>
          </a:p>
          <a:p>
            <a:pPr marL="0" indent="0" algn="l">
              <a:lnSpc>
                <a:spcPts val="2175"/>
              </a:lnSpc>
              <a:spcAft>
                <a:spcPts val="2250"/>
              </a:spcAft>
              <a:buNone/>
            </a:pPr>
            <a:r>
              <a:rPr lang="en-US" sz="1600" b="0" i="0" dirty="0">
                <a:solidFill>
                  <a:srgbClr val="1E1E1E"/>
                </a:solidFill>
                <a:effectLst/>
              </a:rPr>
              <a:t>Sel. Search is based on computing hierarchical grouping of similar regions based on color, texture, size and shape compatibility. </a:t>
            </a:r>
            <a:r>
              <a:rPr lang="en-US" sz="1600" dirty="0">
                <a:solidFill>
                  <a:srgbClr val="1E1E1E"/>
                </a:solidFill>
              </a:rPr>
              <a:t>It</a:t>
            </a:r>
            <a:r>
              <a:rPr lang="en-US" sz="1600" b="0" i="0" dirty="0">
                <a:solidFill>
                  <a:srgbClr val="1E1E1E"/>
                </a:solidFill>
                <a:effectLst/>
              </a:rPr>
              <a:t> starts by over-segmenting the image based on intensity of the pixels using a graph-based </a:t>
            </a:r>
            <a:r>
              <a:rPr lang="en-US" sz="1600" b="0" i="0" u="sng" dirty="0">
                <a:solidFill>
                  <a:srgbClr val="006CFF"/>
                </a:solidFill>
                <a:effectLst/>
                <a:hlinkClick r:id="rId2"/>
              </a:rPr>
              <a:t>segmentation method</a:t>
            </a:r>
            <a:r>
              <a:rPr lang="en-US" sz="1600" b="0" i="0" dirty="0">
                <a:solidFill>
                  <a:srgbClr val="1E1E1E"/>
                </a:solidFill>
                <a:effectLst/>
              </a:rPr>
              <a:t> by </a:t>
            </a:r>
            <a:r>
              <a:rPr lang="en-US" sz="1600" b="0" i="0" dirty="0" err="1">
                <a:solidFill>
                  <a:srgbClr val="1E1E1E"/>
                </a:solidFill>
                <a:effectLst/>
              </a:rPr>
              <a:t>Felzenszwalb</a:t>
            </a:r>
            <a:r>
              <a:rPr lang="en-US" sz="1600" b="0" i="0" dirty="0">
                <a:solidFill>
                  <a:srgbClr val="1E1E1E"/>
                </a:solidFill>
                <a:effectLst/>
              </a:rPr>
              <a:t> and </a:t>
            </a:r>
            <a:r>
              <a:rPr lang="en-US" sz="1600" b="0" i="0" dirty="0" err="1">
                <a:solidFill>
                  <a:srgbClr val="1E1E1E"/>
                </a:solidFill>
                <a:effectLst/>
              </a:rPr>
              <a:t>Huttenlocher</a:t>
            </a:r>
            <a:r>
              <a:rPr lang="en-US" sz="1600" b="0" i="0" dirty="0">
                <a:solidFill>
                  <a:srgbClr val="1E1E1E"/>
                </a:solidFill>
                <a:effectLst/>
              </a:rPr>
              <a:t>. The output of the algorithm is shown below. The image on the right contains segmented regions represented using solid colors.</a:t>
            </a:r>
          </a:p>
          <a:p>
            <a:pPr marL="0" indent="0" algn="l">
              <a:lnSpc>
                <a:spcPts val="2175"/>
              </a:lnSpc>
              <a:spcAft>
                <a:spcPts val="2250"/>
              </a:spcAft>
              <a:buNone/>
            </a:pPr>
            <a:endParaRPr lang="en-US" sz="1600" b="0" i="0" dirty="0">
              <a:solidFill>
                <a:srgbClr val="1E1E1E"/>
              </a:solidFill>
              <a:effectLst/>
            </a:endParaRPr>
          </a:p>
          <a:p>
            <a:pPr marL="0" indent="0" algn="l">
              <a:buNone/>
            </a:pPr>
            <a:endParaRPr lang="en-US" sz="1600" b="0" i="0" dirty="0">
              <a:solidFill>
                <a:srgbClr val="292929"/>
              </a:solidFill>
              <a:effectLst/>
            </a:endParaRPr>
          </a:p>
        </p:txBody>
      </p:sp>
      <p:pic>
        <p:nvPicPr>
          <p:cNvPr id="6" name="Picture 5">
            <a:extLst>
              <a:ext uri="{FF2B5EF4-FFF2-40B4-BE49-F238E27FC236}">
                <a16:creationId xmlns:a16="http://schemas.microsoft.com/office/drawing/2014/main" id="{38C61187-54A9-47D8-712C-FD61CCBE9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59" y="2960875"/>
            <a:ext cx="3071024" cy="2091583"/>
          </a:xfrm>
          <a:prstGeom prst="rect">
            <a:avLst/>
          </a:prstGeom>
        </p:spPr>
      </p:pic>
      <p:pic>
        <p:nvPicPr>
          <p:cNvPr id="8" name="Picture 7">
            <a:extLst>
              <a:ext uri="{FF2B5EF4-FFF2-40B4-BE49-F238E27FC236}">
                <a16:creationId xmlns:a16="http://schemas.microsoft.com/office/drawing/2014/main" id="{B83DADB2-1F08-0A20-252B-EEF2B0FDE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4562" y="2930100"/>
            <a:ext cx="2987299" cy="2248095"/>
          </a:xfrm>
          <a:prstGeom prst="rect">
            <a:avLst/>
          </a:prstGeom>
        </p:spPr>
      </p:pic>
      <p:pic>
        <p:nvPicPr>
          <p:cNvPr id="10" name="Picture 9">
            <a:extLst>
              <a:ext uri="{FF2B5EF4-FFF2-40B4-BE49-F238E27FC236}">
                <a16:creationId xmlns:a16="http://schemas.microsoft.com/office/drawing/2014/main" id="{784EC689-D448-6713-4839-9933A44BFC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51101" y="2869628"/>
            <a:ext cx="3086571" cy="2051363"/>
          </a:xfrm>
          <a:prstGeom prst="rect">
            <a:avLst/>
          </a:prstGeom>
        </p:spPr>
      </p:pic>
      <p:sp>
        <p:nvSpPr>
          <p:cNvPr id="11" name="Arrow: Right 10">
            <a:extLst>
              <a:ext uri="{FF2B5EF4-FFF2-40B4-BE49-F238E27FC236}">
                <a16:creationId xmlns:a16="http://schemas.microsoft.com/office/drawing/2014/main" id="{66EF5C22-3100-54AC-8C00-473D20BC8BF6}"/>
              </a:ext>
            </a:extLst>
          </p:cNvPr>
          <p:cNvSpPr/>
          <p:nvPr/>
        </p:nvSpPr>
        <p:spPr>
          <a:xfrm>
            <a:off x="3431804" y="4058812"/>
            <a:ext cx="328433" cy="3825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1E1D33E6-0E92-FC5A-540A-22D01D422661}"/>
              </a:ext>
            </a:extLst>
          </p:cNvPr>
          <p:cNvSpPr/>
          <p:nvPr/>
        </p:nvSpPr>
        <p:spPr>
          <a:xfrm>
            <a:off x="7055192" y="3996607"/>
            <a:ext cx="328433" cy="3825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DABD41B-5FDE-3D4B-3FBE-8A726776B06E}"/>
              </a:ext>
            </a:extLst>
          </p:cNvPr>
          <p:cNvSpPr txBox="1"/>
          <p:nvPr/>
        </p:nvSpPr>
        <p:spPr>
          <a:xfrm>
            <a:off x="239487" y="5274975"/>
            <a:ext cx="11607282" cy="1569660"/>
          </a:xfrm>
          <a:prstGeom prst="rect">
            <a:avLst/>
          </a:prstGeom>
          <a:noFill/>
        </p:spPr>
        <p:txBody>
          <a:bodyPr wrap="square" rtlCol="0">
            <a:spAutoFit/>
          </a:bodyPr>
          <a:lstStyle/>
          <a:p>
            <a:r>
              <a:rPr lang="en-US" sz="1600" b="1" dirty="0"/>
              <a:t>Selective Search algorithm</a:t>
            </a:r>
            <a:r>
              <a:rPr lang="en-US" sz="1600" dirty="0"/>
              <a:t> takes these </a:t>
            </a:r>
            <a:r>
              <a:rPr lang="en-US" sz="1600" dirty="0" err="1"/>
              <a:t>oversegments</a:t>
            </a:r>
            <a:r>
              <a:rPr lang="en-US" sz="1600" dirty="0"/>
              <a:t> as initial input and performs the following steps</a:t>
            </a:r>
          </a:p>
          <a:p>
            <a:r>
              <a:rPr lang="en-US" sz="1600" dirty="0"/>
              <a:t>1. Add all bounding boxes corresponding to segmented parts to the list of regional proposals</a:t>
            </a:r>
          </a:p>
          <a:p>
            <a:r>
              <a:rPr lang="en-US" sz="1600" dirty="0"/>
              <a:t>2. Group adjacent segments based on similarity</a:t>
            </a:r>
          </a:p>
          <a:p>
            <a:r>
              <a:rPr lang="en-US" sz="1600" dirty="0"/>
              <a:t>3. Go to step 1</a:t>
            </a:r>
          </a:p>
          <a:p>
            <a:r>
              <a:rPr lang="en-US" sz="1600" dirty="0"/>
              <a:t> At each iteration, larger segments are formed and added to the list of region proposals. Hence we create region proposals from smaller segments to larger segments in a bottom-up approach.</a:t>
            </a:r>
          </a:p>
        </p:txBody>
      </p:sp>
    </p:spTree>
    <p:extLst>
      <p:ext uri="{BB962C8B-B14F-4D97-AF65-F5344CB8AC3E}">
        <p14:creationId xmlns:p14="http://schemas.microsoft.com/office/powerpoint/2010/main" val="1957982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81204-FE11-72A4-A321-39808B7E27CC}"/>
              </a:ext>
            </a:extLst>
          </p:cNvPr>
          <p:cNvSpPr>
            <a:spLocks noGrp="1"/>
          </p:cNvSpPr>
          <p:nvPr>
            <p:ph type="title"/>
          </p:nvPr>
        </p:nvSpPr>
        <p:spPr>
          <a:xfrm>
            <a:off x="5444454" y="96678"/>
            <a:ext cx="5909345" cy="446638"/>
          </a:xfrm>
        </p:spPr>
        <p:txBody>
          <a:bodyPr>
            <a:normAutofit fontScale="90000"/>
          </a:bodyPr>
          <a:lstStyle/>
          <a:p>
            <a:r>
              <a:rPr lang="en-US" sz="3200" b="1" dirty="0"/>
              <a:t>YOLO Architecture: How It Works(p1)</a:t>
            </a:r>
            <a:endParaRPr lang="en-IN" sz="3200" b="1" dirty="0"/>
          </a:p>
        </p:txBody>
      </p:sp>
      <p:sp>
        <p:nvSpPr>
          <p:cNvPr id="3" name="Content Placeholder 2">
            <a:extLst>
              <a:ext uri="{FF2B5EF4-FFF2-40B4-BE49-F238E27FC236}">
                <a16:creationId xmlns:a16="http://schemas.microsoft.com/office/drawing/2014/main" id="{54A2B1A1-1803-0A02-F814-EC557B7BDBD7}"/>
              </a:ext>
            </a:extLst>
          </p:cNvPr>
          <p:cNvSpPr>
            <a:spLocks noGrp="1"/>
          </p:cNvSpPr>
          <p:nvPr>
            <p:ph idx="1"/>
          </p:nvPr>
        </p:nvSpPr>
        <p:spPr>
          <a:xfrm>
            <a:off x="251669" y="511292"/>
            <a:ext cx="11878811" cy="2223519"/>
          </a:xfrm>
        </p:spPr>
        <p:txBody>
          <a:bodyPr>
            <a:noAutofit/>
          </a:bodyPr>
          <a:lstStyle/>
          <a:p>
            <a:pPr marL="0" indent="0">
              <a:buNone/>
            </a:pPr>
            <a:r>
              <a:rPr lang="en-US" sz="1600" dirty="0"/>
              <a:t>At its core, YOLO transforms object detection into a single regression problem, predicting bounding boxes and class probabilities in one step</a:t>
            </a:r>
          </a:p>
          <a:p>
            <a:pPr marL="0" indent="0">
              <a:buNone/>
            </a:pPr>
            <a:r>
              <a:rPr lang="en-US" sz="1600" dirty="0"/>
              <a:t>Key Steps in YOLO’s Working:</a:t>
            </a:r>
          </a:p>
          <a:p>
            <a:pPr marL="342900" indent="-342900">
              <a:buAutoNum type="arabicPeriod"/>
            </a:pPr>
            <a:r>
              <a:rPr lang="en-US" sz="1600" b="1" dirty="0"/>
              <a:t>Dividing the Image into a Grid</a:t>
            </a:r>
          </a:p>
          <a:p>
            <a:pPr marL="342900" indent="-342900">
              <a:buFont typeface="Arial" panose="020B0604020202020204" pitchFamily="34" charset="0"/>
              <a:buAutoNum type="arabicPeriod"/>
            </a:pPr>
            <a:r>
              <a:rPr lang="en-US" sz="1600" b="1" dirty="0"/>
              <a:t>Bounding Box Prediction</a:t>
            </a:r>
          </a:p>
          <a:p>
            <a:pPr marL="342900" indent="-342900">
              <a:buFont typeface="Arial" panose="020B0604020202020204" pitchFamily="34" charset="0"/>
              <a:buAutoNum type="arabicPeriod"/>
            </a:pPr>
            <a:r>
              <a:rPr lang="en-US" sz="1600" b="1" dirty="0"/>
              <a:t>Class Prediction</a:t>
            </a:r>
          </a:p>
          <a:p>
            <a:pPr marL="342900" indent="-342900">
              <a:buFont typeface="Arial" panose="020B0604020202020204" pitchFamily="34" charset="0"/>
              <a:buAutoNum type="arabicPeriod"/>
            </a:pPr>
            <a:r>
              <a:rPr lang="en-US" sz="1600" b="1" dirty="0"/>
              <a:t>Non-Maximum Suppression (NMS)</a:t>
            </a:r>
          </a:p>
        </p:txBody>
      </p:sp>
      <p:pic>
        <p:nvPicPr>
          <p:cNvPr id="5" name="Picture 4">
            <a:extLst>
              <a:ext uri="{FF2B5EF4-FFF2-40B4-BE49-F238E27FC236}">
                <a16:creationId xmlns:a16="http://schemas.microsoft.com/office/drawing/2014/main" id="{9E137108-D859-47FE-931B-8D6F714C64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8497" y="3022366"/>
            <a:ext cx="6159060" cy="2577809"/>
          </a:xfrm>
          <a:prstGeom prst="rect">
            <a:avLst/>
          </a:prstGeom>
        </p:spPr>
      </p:pic>
      <p:sp>
        <p:nvSpPr>
          <p:cNvPr id="4" name="TextBox 3">
            <a:extLst>
              <a:ext uri="{FF2B5EF4-FFF2-40B4-BE49-F238E27FC236}">
                <a16:creationId xmlns:a16="http://schemas.microsoft.com/office/drawing/2014/main" id="{700861B4-3457-9635-C8E4-7D56CF84FE71}"/>
              </a:ext>
            </a:extLst>
          </p:cNvPr>
          <p:cNvSpPr txBox="1"/>
          <p:nvPr/>
        </p:nvSpPr>
        <p:spPr>
          <a:xfrm>
            <a:off x="184443" y="3017938"/>
            <a:ext cx="5664053" cy="3139321"/>
          </a:xfrm>
          <a:prstGeom prst="rect">
            <a:avLst/>
          </a:prstGeom>
          <a:noFill/>
        </p:spPr>
        <p:txBody>
          <a:bodyPr wrap="square" rtlCol="0">
            <a:spAutoFit/>
          </a:bodyPr>
          <a:lstStyle/>
          <a:p>
            <a:pPr marL="0" indent="0">
              <a:buNone/>
            </a:pPr>
            <a:r>
              <a:rPr lang="en-US" sz="1800" b="1" dirty="0"/>
              <a:t>1. Dividing the Image into a Grid:</a:t>
            </a:r>
          </a:p>
          <a:p>
            <a:r>
              <a:rPr lang="en-US" sz="1800" dirty="0"/>
              <a:t>YOLO splits the input image into an S × S grid (e.g., 7×7).</a:t>
            </a:r>
          </a:p>
          <a:p>
            <a:r>
              <a:rPr lang="en-US" sz="1800" dirty="0"/>
              <a:t>Each grid cell is responsible for detecting objects whose center falls within it.</a:t>
            </a:r>
          </a:p>
          <a:p>
            <a:endParaRPr lang="en-US" sz="1800" dirty="0"/>
          </a:p>
          <a:p>
            <a:pPr marL="0" indent="0">
              <a:buNone/>
            </a:pPr>
            <a:r>
              <a:rPr lang="en-US" sz="1800" b="0" i="0" dirty="0">
                <a:solidFill>
                  <a:srgbClr val="05192D"/>
                </a:solidFill>
                <a:effectLst/>
                <a:latin typeface="Studio-Feixen-Sans"/>
              </a:rPr>
              <a:t>This first step starts by dividing the original image into SXS grid cells of equal shape, where S, in our case, is 4, as shown in the image on the right. Each cell in the grid is responsible for localizing and predicting the class of the object that it covers, along with the probability/confidence value. </a:t>
            </a:r>
            <a:endParaRPr lang="en-US" sz="1800" dirty="0"/>
          </a:p>
        </p:txBody>
      </p:sp>
    </p:spTree>
    <p:extLst>
      <p:ext uri="{BB962C8B-B14F-4D97-AF65-F5344CB8AC3E}">
        <p14:creationId xmlns:p14="http://schemas.microsoft.com/office/powerpoint/2010/main" val="3269975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B8A4-B600-048F-A542-AD2B56688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808B8-7A39-D0DA-4A72-F78EC0D464DE}"/>
              </a:ext>
            </a:extLst>
          </p:cNvPr>
          <p:cNvSpPr>
            <a:spLocks noGrp="1"/>
          </p:cNvSpPr>
          <p:nvPr>
            <p:ph type="title"/>
          </p:nvPr>
        </p:nvSpPr>
        <p:spPr>
          <a:xfrm>
            <a:off x="838200" y="187837"/>
            <a:ext cx="10515600" cy="474630"/>
          </a:xfrm>
        </p:spPr>
        <p:txBody>
          <a:bodyPr>
            <a:normAutofit fontScale="90000"/>
          </a:bodyPr>
          <a:lstStyle/>
          <a:p>
            <a:r>
              <a:rPr lang="en-US" sz="3200" b="1" dirty="0"/>
              <a:t>YOLO Architecture: How It Works(p2)</a:t>
            </a:r>
            <a:endParaRPr lang="en-IN" sz="3200" b="1" dirty="0"/>
          </a:p>
        </p:txBody>
      </p:sp>
      <p:sp>
        <p:nvSpPr>
          <p:cNvPr id="3" name="Content Placeholder 2">
            <a:extLst>
              <a:ext uri="{FF2B5EF4-FFF2-40B4-BE49-F238E27FC236}">
                <a16:creationId xmlns:a16="http://schemas.microsoft.com/office/drawing/2014/main" id="{4099E6EE-8D99-8AC4-CBC1-8D981E85C2E7}"/>
              </a:ext>
            </a:extLst>
          </p:cNvPr>
          <p:cNvSpPr>
            <a:spLocks noGrp="1"/>
          </p:cNvSpPr>
          <p:nvPr>
            <p:ph idx="1"/>
          </p:nvPr>
        </p:nvSpPr>
        <p:spPr>
          <a:xfrm>
            <a:off x="838200" y="461976"/>
            <a:ext cx="10515600" cy="2746375"/>
          </a:xfrm>
        </p:spPr>
        <p:txBody>
          <a:bodyPr>
            <a:noAutofit/>
          </a:bodyPr>
          <a:lstStyle/>
          <a:p>
            <a:endParaRPr lang="en-US" sz="1800" dirty="0"/>
          </a:p>
          <a:p>
            <a:pPr marL="0" indent="0">
              <a:buNone/>
            </a:pPr>
            <a:r>
              <a:rPr lang="en-US" sz="1800" b="1" dirty="0"/>
              <a:t>2. Bounding Box Prediction:</a:t>
            </a:r>
          </a:p>
          <a:p>
            <a:r>
              <a:rPr lang="en-US" sz="1800" dirty="0"/>
              <a:t>Each grid cell predicts B bounding boxes (usually 2-3 per cell).</a:t>
            </a:r>
          </a:p>
          <a:p>
            <a:r>
              <a:rPr lang="en-US" sz="1800" dirty="0"/>
              <a:t>Each bounding box includes:</a:t>
            </a:r>
          </a:p>
          <a:p>
            <a:r>
              <a:rPr lang="en-US" sz="1800" dirty="0"/>
              <a:t>(𝑥,𝑦): Center of the object (relative to the grid cell).</a:t>
            </a:r>
          </a:p>
          <a:p>
            <a:r>
              <a:rPr lang="en-US" sz="1800" dirty="0"/>
              <a:t>(𝑤,ℎ): Width &amp; height (relative to the image size).</a:t>
            </a:r>
          </a:p>
          <a:p>
            <a:r>
              <a:rPr lang="en-US" sz="1800" dirty="0"/>
              <a:t>Confidence Score: Indicates how likely an object is present.</a:t>
            </a:r>
          </a:p>
        </p:txBody>
      </p:sp>
    </p:spTree>
    <p:extLst>
      <p:ext uri="{BB962C8B-B14F-4D97-AF65-F5344CB8AC3E}">
        <p14:creationId xmlns:p14="http://schemas.microsoft.com/office/powerpoint/2010/main" val="1112100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9F92-C42F-CCA8-1E43-0ED56AA71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0F0BB-9A54-E063-F612-8A86884CD5F5}"/>
              </a:ext>
            </a:extLst>
          </p:cNvPr>
          <p:cNvSpPr>
            <a:spLocks noGrp="1"/>
          </p:cNvSpPr>
          <p:nvPr>
            <p:ph type="title"/>
          </p:nvPr>
        </p:nvSpPr>
        <p:spPr>
          <a:xfrm>
            <a:off x="838200" y="187837"/>
            <a:ext cx="10515600" cy="474630"/>
          </a:xfrm>
        </p:spPr>
        <p:txBody>
          <a:bodyPr>
            <a:normAutofit fontScale="90000"/>
          </a:bodyPr>
          <a:lstStyle/>
          <a:p>
            <a:r>
              <a:rPr lang="en-US" sz="3200" b="1" dirty="0"/>
              <a:t>YOLO Architecture: How It Works(p3)</a:t>
            </a:r>
            <a:endParaRPr lang="en-IN" sz="3200" b="1" dirty="0"/>
          </a:p>
        </p:txBody>
      </p:sp>
      <p:sp>
        <p:nvSpPr>
          <p:cNvPr id="5" name="Content Placeholder 4">
            <a:extLst>
              <a:ext uri="{FF2B5EF4-FFF2-40B4-BE49-F238E27FC236}">
                <a16:creationId xmlns:a16="http://schemas.microsoft.com/office/drawing/2014/main" id="{4092E256-FEE9-9AA4-04AC-5F89CAE3F610}"/>
              </a:ext>
            </a:extLst>
          </p:cNvPr>
          <p:cNvSpPr>
            <a:spLocks noGrp="1"/>
          </p:cNvSpPr>
          <p:nvPr>
            <p:ph idx="1"/>
          </p:nvPr>
        </p:nvSpPr>
        <p:spPr>
          <a:xfrm>
            <a:off x="838200" y="771265"/>
            <a:ext cx="10515600" cy="2218425"/>
          </a:xfrm>
        </p:spPr>
        <p:txBody>
          <a:bodyPr>
            <a:normAutofit fontScale="55000" lnSpcReduction="20000"/>
          </a:bodyPr>
          <a:lstStyle/>
          <a:p>
            <a:pPr marL="0" indent="0">
              <a:buNone/>
            </a:pPr>
            <a:r>
              <a:rPr lang="en-US" dirty="0"/>
              <a:t>The next step is to determine the </a:t>
            </a:r>
            <a:r>
              <a:rPr lang="en-US" b="1" dirty="0"/>
              <a:t>bounding boxes corresponding to rectangles</a:t>
            </a:r>
            <a:r>
              <a:rPr lang="en-US" dirty="0"/>
              <a:t>, highlighting all the objects in the image. We can have as many bounding boxes as there are objects within a given image. </a:t>
            </a:r>
          </a:p>
          <a:p>
            <a:pPr marL="0" indent="0">
              <a:buNone/>
            </a:pPr>
            <a:r>
              <a:rPr lang="en-US" dirty="0"/>
              <a:t>YOLO determines the attributes of these bounding boxes using a single regression module in the following format, where Y is the final vector representation for each bounding box. </a:t>
            </a:r>
          </a:p>
          <a:p>
            <a:pPr marL="0" indent="0">
              <a:buNone/>
            </a:pPr>
            <a:r>
              <a:rPr lang="en-US" dirty="0"/>
              <a:t>Y = [pc, bx, by, </a:t>
            </a:r>
            <a:r>
              <a:rPr lang="en-US" dirty="0" err="1"/>
              <a:t>bh</a:t>
            </a:r>
            <a:r>
              <a:rPr lang="en-US" dirty="0"/>
              <a:t>, </a:t>
            </a:r>
            <a:r>
              <a:rPr lang="en-US" dirty="0" err="1"/>
              <a:t>bw</a:t>
            </a:r>
            <a:r>
              <a:rPr lang="en-US" dirty="0"/>
              <a:t>, c1, c2]</a:t>
            </a:r>
          </a:p>
          <a:p>
            <a:pPr marL="0" indent="0">
              <a:buNone/>
            </a:pPr>
            <a:r>
              <a:rPr lang="en-US" dirty="0"/>
              <a:t>This is especially important during the training phase of the model.</a:t>
            </a:r>
          </a:p>
          <a:p>
            <a:pPr marL="171450" indent="-171450">
              <a:buFontTx/>
              <a:buChar char="-"/>
            </a:pPr>
            <a:r>
              <a:rPr lang="en-US" dirty="0"/>
              <a:t>pc corresponds to the probability score of the grid containing an object. For instance, all the grids in red will have a probability score higher than zero. The image on the right is the simplified version since the probability of each yellow cell is zero (insignificant).</a:t>
            </a:r>
          </a:p>
          <a:p>
            <a:pPr marL="0" indent="0">
              <a:buNone/>
            </a:pPr>
            <a:endParaRPr lang="en-IN" dirty="0"/>
          </a:p>
        </p:txBody>
      </p:sp>
      <p:pic>
        <p:nvPicPr>
          <p:cNvPr id="8" name="Picture 7">
            <a:extLst>
              <a:ext uri="{FF2B5EF4-FFF2-40B4-BE49-F238E27FC236}">
                <a16:creationId xmlns:a16="http://schemas.microsoft.com/office/drawing/2014/main" id="{FFA9435B-4B76-C4B0-AB4F-B25555A35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670" y="2910177"/>
            <a:ext cx="8089001" cy="3724957"/>
          </a:xfrm>
          <a:prstGeom prst="rect">
            <a:avLst/>
          </a:prstGeom>
        </p:spPr>
      </p:pic>
    </p:spTree>
    <p:extLst>
      <p:ext uri="{BB962C8B-B14F-4D97-AF65-F5344CB8AC3E}">
        <p14:creationId xmlns:p14="http://schemas.microsoft.com/office/powerpoint/2010/main" val="1262186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69C0-0E83-8B17-9032-491326EE4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CA910-53DE-926C-A6A5-D1C0E7571934}"/>
              </a:ext>
            </a:extLst>
          </p:cNvPr>
          <p:cNvSpPr>
            <a:spLocks noGrp="1"/>
          </p:cNvSpPr>
          <p:nvPr>
            <p:ph type="title"/>
          </p:nvPr>
        </p:nvSpPr>
        <p:spPr>
          <a:xfrm>
            <a:off x="838200" y="187837"/>
            <a:ext cx="10515600" cy="474630"/>
          </a:xfrm>
        </p:spPr>
        <p:txBody>
          <a:bodyPr>
            <a:normAutofit fontScale="90000"/>
          </a:bodyPr>
          <a:lstStyle/>
          <a:p>
            <a:r>
              <a:rPr lang="en-US" sz="3200" b="1" dirty="0"/>
              <a:t>YOLO Architecture: How It Works(p4)</a:t>
            </a:r>
            <a:endParaRPr lang="en-IN" sz="3200" b="1" dirty="0"/>
          </a:p>
        </p:txBody>
      </p:sp>
      <p:sp>
        <p:nvSpPr>
          <p:cNvPr id="5" name="Content Placeholder 4">
            <a:extLst>
              <a:ext uri="{FF2B5EF4-FFF2-40B4-BE49-F238E27FC236}">
                <a16:creationId xmlns:a16="http://schemas.microsoft.com/office/drawing/2014/main" id="{7D573CF2-C8F2-8D91-493D-524BAA207C75}"/>
              </a:ext>
            </a:extLst>
          </p:cNvPr>
          <p:cNvSpPr>
            <a:spLocks noGrp="1"/>
          </p:cNvSpPr>
          <p:nvPr>
            <p:ph idx="1"/>
          </p:nvPr>
        </p:nvSpPr>
        <p:spPr>
          <a:xfrm>
            <a:off x="182879" y="771266"/>
            <a:ext cx="11712271" cy="1789054"/>
          </a:xfrm>
        </p:spPr>
        <p:txBody>
          <a:bodyPr>
            <a:normAutofit fontScale="70000" lnSpcReduction="20000"/>
          </a:bodyPr>
          <a:lstStyle/>
          <a:p>
            <a:pPr marL="171450" indent="-171450">
              <a:buFontTx/>
              <a:buChar char="-"/>
            </a:pPr>
            <a:r>
              <a:rPr lang="en-US" sz="2800" dirty="0"/>
              <a:t>bx, by are the x and y coordinates of the center of the bounding box </a:t>
            </a:r>
            <a:r>
              <a:rPr lang="en-US" sz="2800" b="1" dirty="0"/>
              <a:t>with respect to the enveloping grid cell</a:t>
            </a:r>
            <a:r>
              <a:rPr lang="en-US" sz="2800" dirty="0"/>
              <a:t>. </a:t>
            </a:r>
          </a:p>
          <a:p>
            <a:pPr marL="171450" indent="-171450">
              <a:buFontTx/>
              <a:buChar char="-"/>
            </a:pPr>
            <a:r>
              <a:rPr lang="en-US" sz="2800" dirty="0" err="1"/>
              <a:t>bh</a:t>
            </a:r>
            <a:r>
              <a:rPr lang="en-US" sz="2800" dirty="0"/>
              <a:t>, </a:t>
            </a:r>
            <a:r>
              <a:rPr lang="en-US" sz="2800" dirty="0" err="1"/>
              <a:t>bw</a:t>
            </a:r>
            <a:r>
              <a:rPr lang="en-US" sz="2800" dirty="0"/>
              <a:t> correspond to the height and the width of the bounding box </a:t>
            </a:r>
            <a:r>
              <a:rPr lang="en-US" sz="2800" b="1" dirty="0"/>
              <a:t>with respect to the enveloping grid cell</a:t>
            </a:r>
            <a:r>
              <a:rPr lang="en-US" sz="2800" dirty="0"/>
              <a:t>. </a:t>
            </a:r>
          </a:p>
          <a:p>
            <a:pPr marL="171450" indent="-171450">
              <a:buFontTx/>
              <a:buChar char="-"/>
            </a:pPr>
            <a:r>
              <a:rPr lang="en-US" sz="2800" dirty="0"/>
              <a:t>c1 and c2 correspond to the two classes, Player and Ball. We can have as many classes as your use case requires.</a:t>
            </a:r>
          </a:p>
          <a:p>
            <a:pPr marL="0" indent="0">
              <a:buNone/>
            </a:pPr>
            <a:r>
              <a:rPr lang="en-US" b="0" i="0" dirty="0">
                <a:solidFill>
                  <a:srgbClr val="05192D"/>
                </a:solidFill>
                <a:effectLst/>
                <a:latin typeface="Studio-Feixen-Sans"/>
              </a:rPr>
              <a:t>To understand, let’s pay closer attention to the player on the bottom right.</a:t>
            </a:r>
            <a:endParaRPr lang="en-IN" sz="2800" dirty="0"/>
          </a:p>
          <a:p>
            <a:endParaRPr lang="en-IN" dirty="0"/>
          </a:p>
        </p:txBody>
      </p:sp>
      <p:pic>
        <p:nvPicPr>
          <p:cNvPr id="4" name="Picture 3">
            <a:extLst>
              <a:ext uri="{FF2B5EF4-FFF2-40B4-BE49-F238E27FC236}">
                <a16:creationId xmlns:a16="http://schemas.microsoft.com/office/drawing/2014/main" id="{6117AA7B-4BC1-8E18-28CC-5510C7BAF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0217" y="2685214"/>
            <a:ext cx="8245555" cy="4016088"/>
          </a:xfrm>
          <a:prstGeom prst="rect">
            <a:avLst/>
          </a:prstGeom>
        </p:spPr>
      </p:pic>
    </p:spTree>
    <p:extLst>
      <p:ext uri="{BB962C8B-B14F-4D97-AF65-F5344CB8AC3E}">
        <p14:creationId xmlns:p14="http://schemas.microsoft.com/office/powerpoint/2010/main" val="601983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C3850-8C5F-2912-33BF-1117BD1AC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93750-D839-07AA-B1CA-7A2A8F9C5DA6}"/>
              </a:ext>
            </a:extLst>
          </p:cNvPr>
          <p:cNvSpPr>
            <a:spLocks noGrp="1"/>
          </p:cNvSpPr>
          <p:nvPr>
            <p:ph type="title"/>
          </p:nvPr>
        </p:nvSpPr>
        <p:spPr>
          <a:xfrm>
            <a:off x="4094922" y="92430"/>
            <a:ext cx="7258878" cy="511953"/>
          </a:xfrm>
        </p:spPr>
        <p:txBody>
          <a:bodyPr>
            <a:normAutofit/>
          </a:bodyPr>
          <a:lstStyle/>
          <a:p>
            <a:r>
              <a:rPr lang="en-US" sz="2400" b="1" dirty="0"/>
              <a:t>YOLO Architecture: How It Works(p5)</a:t>
            </a:r>
            <a:endParaRPr lang="en-IN" sz="2400" b="1" dirty="0"/>
          </a:p>
        </p:txBody>
      </p:sp>
      <p:sp>
        <p:nvSpPr>
          <p:cNvPr id="3" name="Content Placeholder 2">
            <a:extLst>
              <a:ext uri="{FF2B5EF4-FFF2-40B4-BE49-F238E27FC236}">
                <a16:creationId xmlns:a16="http://schemas.microsoft.com/office/drawing/2014/main" id="{5E57A4A8-D265-6130-D823-8CA6ADAB638E}"/>
              </a:ext>
            </a:extLst>
          </p:cNvPr>
          <p:cNvSpPr>
            <a:spLocks noGrp="1"/>
          </p:cNvSpPr>
          <p:nvPr>
            <p:ph idx="1"/>
          </p:nvPr>
        </p:nvSpPr>
        <p:spPr>
          <a:xfrm>
            <a:off x="242596" y="478122"/>
            <a:ext cx="11709918" cy="2904831"/>
          </a:xfrm>
        </p:spPr>
        <p:txBody>
          <a:bodyPr>
            <a:noAutofit/>
          </a:bodyPr>
          <a:lstStyle/>
          <a:p>
            <a:pPr marL="0" indent="0">
              <a:lnSpc>
                <a:spcPct val="100000"/>
              </a:lnSpc>
              <a:spcBef>
                <a:spcPts val="0"/>
              </a:spcBef>
              <a:buNone/>
            </a:pPr>
            <a:r>
              <a:rPr lang="en-US" sz="1400" b="1" dirty="0"/>
              <a:t>3. Class Prediction:</a:t>
            </a:r>
          </a:p>
          <a:p>
            <a:pPr>
              <a:lnSpc>
                <a:spcPct val="100000"/>
              </a:lnSpc>
              <a:spcBef>
                <a:spcPts val="0"/>
              </a:spcBef>
            </a:pPr>
            <a:r>
              <a:rPr lang="en-US" sz="1400" dirty="0"/>
              <a:t>Each grid cell also predicts C class probabilities for different object categories.</a:t>
            </a:r>
          </a:p>
          <a:p>
            <a:pPr>
              <a:lnSpc>
                <a:spcPct val="100000"/>
              </a:lnSpc>
              <a:spcBef>
                <a:spcPts val="0"/>
              </a:spcBef>
            </a:pPr>
            <a:r>
              <a:rPr lang="en-US" sz="1400" dirty="0"/>
              <a:t>Final predictions are obtained by multiplying the class score and confidence score.</a:t>
            </a:r>
          </a:p>
          <a:p>
            <a:pPr marL="0" indent="0">
              <a:lnSpc>
                <a:spcPct val="100000"/>
              </a:lnSpc>
              <a:spcBef>
                <a:spcPts val="0"/>
              </a:spcBef>
              <a:buNone/>
            </a:pPr>
            <a:endParaRPr lang="en-US" sz="1400" dirty="0"/>
          </a:p>
          <a:p>
            <a:pPr marL="0" indent="0" algn="l">
              <a:lnSpc>
                <a:spcPct val="100000"/>
              </a:lnSpc>
              <a:spcBef>
                <a:spcPts val="0"/>
              </a:spcBef>
              <a:spcAft>
                <a:spcPts val="1200"/>
              </a:spcAft>
              <a:buNone/>
            </a:pPr>
            <a:r>
              <a:rPr lang="en-US" sz="1400" b="1" i="0" dirty="0">
                <a:solidFill>
                  <a:srgbClr val="05192D"/>
                </a:solidFill>
                <a:effectLst/>
                <a:latin typeface="Studio-Feixen-Sans"/>
              </a:rPr>
              <a:t>Intersection Over Unions or IOU: </a:t>
            </a:r>
            <a:r>
              <a:rPr lang="en-US" sz="1400" b="0" i="0" dirty="0">
                <a:solidFill>
                  <a:srgbClr val="05192D"/>
                </a:solidFill>
                <a:effectLst/>
                <a:latin typeface="Studio-Feixen-Sans"/>
              </a:rPr>
              <a:t>Most of the time, a single object in an image can have multiple grid box candidates for prediction, even though not all are relevant. The goal of the IOU (a value between 0 and 1) is to discard such grid boxes to only keep those that are relevant. Here is the logic behind it: </a:t>
            </a:r>
          </a:p>
          <a:p>
            <a:pPr algn="l">
              <a:lnSpc>
                <a:spcPct val="100000"/>
              </a:lnSpc>
              <a:spcBef>
                <a:spcPts val="0"/>
              </a:spcBef>
              <a:spcAft>
                <a:spcPts val="900"/>
              </a:spcAft>
              <a:buFont typeface="Arial" panose="020B0604020202020204" pitchFamily="34" charset="0"/>
              <a:buChar char="•"/>
            </a:pPr>
            <a:r>
              <a:rPr lang="en-US" sz="1400" b="0" i="0" dirty="0">
                <a:solidFill>
                  <a:srgbClr val="05192D"/>
                </a:solidFill>
                <a:effectLst/>
                <a:latin typeface="Studio-Feixen-Sans"/>
              </a:rPr>
              <a:t>The user defines its IOU selection threshold, which can be, for instance, 0.5. </a:t>
            </a:r>
          </a:p>
          <a:p>
            <a:pPr algn="l">
              <a:lnSpc>
                <a:spcPct val="100000"/>
              </a:lnSpc>
              <a:spcBef>
                <a:spcPts val="0"/>
              </a:spcBef>
              <a:spcAft>
                <a:spcPts val="900"/>
              </a:spcAft>
              <a:buFont typeface="Arial" panose="020B0604020202020204" pitchFamily="34" charset="0"/>
              <a:buChar char="•"/>
            </a:pPr>
            <a:r>
              <a:rPr lang="en-US" sz="1400" b="0" i="0" dirty="0">
                <a:solidFill>
                  <a:srgbClr val="05192D"/>
                </a:solidFill>
                <a:effectLst/>
                <a:latin typeface="Studio-Feixen-Sans"/>
              </a:rPr>
              <a:t>Then, YOLO computes the IOU of each grid cell, which is the Intersection area divided by the Union Area. </a:t>
            </a:r>
          </a:p>
          <a:p>
            <a:pPr algn="l">
              <a:lnSpc>
                <a:spcPct val="100000"/>
              </a:lnSpc>
              <a:spcBef>
                <a:spcPts val="0"/>
              </a:spcBef>
              <a:spcAft>
                <a:spcPts val="900"/>
              </a:spcAft>
              <a:buFont typeface="Arial" panose="020B0604020202020204" pitchFamily="34" charset="0"/>
              <a:buChar char="•"/>
            </a:pPr>
            <a:r>
              <a:rPr lang="en-US" sz="1400" b="0" i="0" dirty="0">
                <a:solidFill>
                  <a:srgbClr val="05192D"/>
                </a:solidFill>
                <a:effectLst/>
                <a:latin typeface="Studio-Feixen-Sans"/>
              </a:rPr>
              <a:t>Finally, it ignores the prediction of the grid cells having an IOU ≤ threshold and considers those with an IOU &gt; threshold. </a:t>
            </a:r>
          </a:p>
          <a:p>
            <a:pPr marL="0" indent="0" algn="l">
              <a:lnSpc>
                <a:spcPct val="100000"/>
              </a:lnSpc>
              <a:spcBef>
                <a:spcPts val="0"/>
              </a:spcBef>
              <a:spcAft>
                <a:spcPts val="900"/>
              </a:spcAft>
              <a:buNone/>
            </a:pPr>
            <a:r>
              <a:rPr lang="en-US" sz="1400" b="0" i="0" dirty="0">
                <a:solidFill>
                  <a:srgbClr val="05192D"/>
                </a:solidFill>
                <a:effectLst/>
                <a:latin typeface="Studio-Feixen-Sans"/>
              </a:rPr>
              <a:t>Below is an illustration of applying the grid selection process to the bottom left object. We </a:t>
            </a:r>
            <a:r>
              <a:rPr lang="en-US" sz="1400" dirty="0">
                <a:solidFill>
                  <a:srgbClr val="05192D"/>
                </a:solidFill>
                <a:latin typeface="Studio-Feixen-Sans"/>
              </a:rPr>
              <a:t>see that t</a:t>
            </a:r>
            <a:r>
              <a:rPr lang="en-US" sz="1400" b="0" i="0" dirty="0">
                <a:solidFill>
                  <a:srgbClr val="05192D"/>
                </a:solidFill>
                <a:effectLst/>
                <a:latin typeface="Studio-Feixen-Sans"/>
              </a:rPr>
              <a:t>he object originally had </a:t>
            </a:r>
            <a:r>
              <a:rPr lang="en-US" sz="1400" dirty="0">
                <a:solidFill>
                  <a:srgbClr val="05192D"/>
                </a:solidFill>
                <a:latin typeface="Studio-Feixen-Sans"/>
              </a:rPr>
              <a:t>2</a:t>
            </a:r>
            <a:r>
              <a:rPr lang="en-US" sz="1400" b="0" i="0" dirty="0">
                <a:solidFill>
                  <a:srgbClr val="05192D"/>
                </a:solidFill>
                <a:effectLst/>
                <a:latin typeface="Studio-Feixen-Sans"/>
              </a:rPr>
              <a:t> grid candidates, and only “Grid 2” was selected at the end. </a:t>
            </a:r>
            <a:endParaRPr lang="en-US" sz="1400" dirty="0"/>
          </a:p>
          <a:p>
            <a:pPr marL="0" indent="0">
              <a:lnSpc>
                <a:spcPct val="100000"/>
              </a:lnSpc>
              <a:spcBef>
                <a:spcPts val="0"/>
              </a:spcBef>
              <a:buNone/>
            </a:pPr>
            <a:endParaRPr lang="en-IN" sz="1400" dirty="0"/>
          </a:p>
        </p:txBody>
      </p:sp>
      <p:pic>
        <p:nvPicPr>
          <p:cNvPr id="5" name="Picture 4">
            <a:extLst>
              <a:ext uri="{FF2B5EF4-FFF2-40B4-BE49-F238E27FC236}">
                <a16:creationId xmlns:a16="http://schemas.microsoft.com/office/drawing/2014/main" id="{65934C16-0CD1-FD0F-DE06-1264B1F0C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786" y="3475046"/>
            <a:ext cx="4324698" cy="3195112"/>
          </a:xfrm>
          <a:prstGeom prst="rect">
            <a:avLst/>
          </a:prstGeom>
        </p:spPr>
      </p:pic>
      <p:pic>
        <p:nvPicPr>
          <p:cNvPr id="7" name="Picture 6">
            <a:extLst>
              <a:ext uri="{FF2B5EF4-FFF2-40B4-BE49-F238E27FC236}">
                <a16:creationId xmlns:a16="http://schemas.microsoft.com/office/drawing/2014/main" id="{126325CF-9A8D-36E0-E892-9E6B39E3BB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6105" y="3514476"/>
            <a:ext cx="1395384" cy="3143069"/>
          </a:xfrm>
          <a:prstGeom prst="rect">
            <a:avLst/>
          </a:prstGeom>
        </p:spPr>
      </p:pic>
    </p:spTree>
    <p:extLst>
      <p:ext uri="{BB962C8B-B14F-4D97-AF65-F5344CB8AC3E}">
        <p14:creationId xmlns:p14="http://schemas.microsoft.com/office/powerpoint/2010/main" val="1984336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9C858-3531-A2D7-5ACB-14727341A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88AE6-8BFB-5A08-A8AC-EA954A8B2C1A}"/>
              </a:ext>
            </a:extLst>
          </p:cNvPr>
          <p:cNvSpPr>
            <a:spLocks noGrp="1"/>
          </p:cNvSpPr>
          <p:nvPr>
            <p:ph type="title"/>
          </p:nvPr>
        </p:nvSpPr>
        <p:spPr>
          <a:xfrm>
            <a:off x="838200" y="187842"/>
            <a:ext cx="10515600" cy="511953"/>
          </a:xfrm>
        </p:spPr>
        <p:txBody>
          <a:bodyPr>
            <a:normAutofit fontScale="90000"/>
          </a:bodyPr>
          <a:lstStyle/>
          <a:p>
            <a:r>
              <a:rPr lang="en-US" sz="3200" b="1" dirty="0"/>
              <a:t>YOLO Architecture: How It Works(p5)</a:t>
            </a:r>
            <a:endParaRPr lang="en-IN" sz="3200" b="1" dirty="0"/>
          </a:p>
        </p:txBody>
      </p:sp>
      <p:sp>
        <p:nvSpPr>
          <p:cNvPr id="3" name="Content Placeholder 2">
            <a:extLst>
              <a:ext uri="{FF2B5EF4-FFF2-40B4-BE49-F238E27FC236}">
                <a16:creationId xmlns:a16="http://schemas.microsoft.com/office/drawing/2014/main" id="{33C7BBB8-B16B-EE25-9B50-730C10F35390}"/>
              </a:ext>
            </a:extLst>
          </p:cNvPr>
          <p:cNvSpPr>
            <a:spLocks noGrp="1"/>
          </p:cNvSpPr>
          <p:nvPr>
            <p:ph idx="1"/>
          </p:nvPr>
        </p:nvSpPr>
        <p:spPr>
          <a:xfrm>
            <a:off x="242596" y="724612"/>
            <a:ext cx="11709918" cy="1288746"/>
          </a:xfrm>
        </p:spPr>
        <p:txBody>
          <a:bodyPr>
            <a:noAutofit/>
          </a:bodyPr>
          <a:lstStyle/>
          <a:p>
            <a:pPr marL="0" indent="0">
              <a:buNone/>
            </a:pPr>
            <a:r>
              <a:rPr lang="en-US" sz="1400" b="1" dirty="0"/>
              <a:t>4. Non-Maximum Suppression (NMS):</a:t>
            </a:r>
          </a:p>
          <a:p>
            <a:pPr marL="0" indent="0">
              <a:buNone/>
            </a:pPr>
            <a:r>
              <a:rPr lang="en-US" sz="1400" dirty="0"/>
              <a:t>Since multiple boxes can predict the same object, NMS removes redundant boxes, keeping only the most confident one.</a:t>
            </a:r>
          </a:p>
          <a:p>
            <a:pPr marL="0" indent="0">
              <a:buNone/>
            </a:pPr>
            <a:r>
              <a:rPr lang="en-US" sz="1400" dirty="0">
                <a:solidFill>
                  <a:srgbClr val="1E1E1E"/>
                </a:solidFill>
              </a:rPr>
              <a:t>NMS</a:t>
            </a:r>
            <a:r>
              <a:rPr lang="en-US" sz="1400" b="0" i="0" dirty="0">
                <a:solidFill>
                  <a:srgbClr val="1E1E1E"/>
                </a:solidFill>
                <a:effectLst/>
              </a:rPr>
              <a:t> is a class of algorithms to select one entity (e.g., bounding boxes) out of many overlapping entities. We can choose the selection criteria to arrive at the desired results. The criteria are most commonly some form of probability number and some form of overlap measure (e.g. Intersection over Union).</a:t>
            </a:r>
            <a:endParaRPr lang="en-US" sz="1400" dirty="0"/>
          </a:p>
          <a:p>
            <a:pPr marL="0" indent="0">
              <a:buNone/>
            </a:pPr>
            <a:endParaRPr lang="en-IN" sz="1400" dirty="0"/>
          </a:p>
        </p:txBody>
      </p:sp>
      <p:pic>
        <p:nvPicPr>
          <p:cNvPr id="5" name="Picture 4">
            <a:extLst>
              <a:ext uri="{FF2B5EF4-FFF2-40B4-BE49-F238E27FC236}">
                <a16:creationId xmlns:a16="http://schemas.microsoft.com/office/drawing/2014/main" id="{B477EE18-EE56-38AD-6795-694340520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533" y="2494825"/>
            <a:ext cx="10674595" cy="3218077"/>
          </a:xfrm>
          <a:prstGeom prst="rect">
            <a:avLst/>
          </a:prstGeom>
        </p:spPr>
      </p:pic>
    </p:spTree>
    <p:extLst>
      <p:ext uri="{BB962C8B-B14F-4D97-AF65-F5344CB8AC3E}">
        <p14:creationId xmlns:p14="http://schemas.microsoft.com/office/powerpoint/2010/main" val="4093952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2E15A-DD8B-BB0F-0F21-0A2823739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24385-6531-D580-1388-47713A7CBD60}"/>
              </a:ext>
            </a:extLst>
          </p:cNvPr>
          <p:cNvSpPr>
            <a:spLocks noGrp="1"/>
          </p:cNvSpPr>
          <p:nvPr>
            <p:ph type="title"/>
          </p:nvPr>
        </p:nvSpPr>
        <p:spPr>
          <a:xfrm>
            <a:off x="3842158" y="187842"/>
            <a:ext cx="7511642" cy="511953"/>
          </a:xfrm>
        </p:spPr>
        <p:txBody>
          <a:bodyPr>
            <a:normAutofit fontScale="90000"/>
          </a:bodyPr>
          <a:lstStyle/>
          <a:p>
            <a:r>
              <a:rPr lang="en-US" sz="3200" b="1" dirty="0"/>
              <a:t>YOLO Architecture: How It Works(p6)</a:t>
            </a:r>
            <a:endParaRPr lang="en-IN" sz="3200" b="1" dirty="0"/>
          </a:p>
        </p:txBody>
      </p:sp>
      <p:sp>
        <p:nvSpPr>
          <p:cNvPr id="3" name="Content Placeholder 2">
            <a:extLst>
              <a:ext uri="{FF2B5EF4-FFF2-40B4-BE49-F238E27FC236}">
                <a16:creationId xmlns:a16="http://schemas.microsoft.com/office/drawing/2014/main" id="{89DDB725-F264-C611-8E51-27F6F38C7255}"/>
              </a:ext>
            </a:extLst>
          </p:cNvPr>
          <p:cNvSpPr>
            <a:spLocks noGrp="1"/>
          </p:cNvSpPr>
          <p:nvPr>
            <p:ph idx="1"/>
          </p:nvPr>
        </p:nvSpPr>
        <p:spPr>
          <a:xfrm>
            <a:off x="141927" y="640722"/>
            <a:ext cx="6068377" cy="4057114"/>
          </a:xfrm>
        </p:spPr>
        <p:txBody>
          <a:bodyPr>
            <a:noAutofit/>
          </a:bodyPr>
          <a:lstStyle/>
          <a:p>
            <a:pPr marL="0" indent="0">
              <a:buNone/>
            </a:pPr>
            <a:r>
              <a:rPr lang="en-US" sz="1600" b="1" dirty="0"/>
              <a:t>NMS Algorithm:</a:t>
            </a:r>
          </a:p>
          <a:p>
            <a:pPr marL="0" indent="0">
              <a:buNone/>
            </a:pPr>
            <a:r>
              <a:rPr lang="en-US" sz="1600" b="1" dirty="0"/>
              <a:t>Input</a:t>
            </a:r>
            <a:r>
              <a:rPr lang="en-US" sz="1600" dirty="0"/>
              <a:t>: We get a list P of prediction </a:t>
            </a:r>
            <a:r>
              <a:rPr lang="en-US" sz="1600" dirty="0" err="1"/>
              <a:t>BBoxes</a:t>
            </a:r>
            <a:r>
              <a:rPr lang="en-US" sz="1600" dirty="0"/>
              <a:t> of the form (x1,y1,x2,y2,c), where (x1,y1) and (x2,y2) are the ends of the </a:t>
            </a:r>
            <a:r>
              <a:rPr lang="en-US" sz="1600" dirty="0" err="1"/>
              <a:t>BBox</a:t>
            </a:r>
            <a:r>
              <a:rPr lang="en-US" sz="1600" dirty="0"/>
              <a:t> and c is the predicted confidence score of the model. We also get overlap threshold </a:t>
            </a:r>
            <a:r>
              <a:rPr lang="en-US" sz="1600" dirty="0" err="1"/>
              <a:t>IoU</a:t>
            </a:r>
            <a:r>
              <a:rPr lang="en-US" sz="1600" dirty="0"/>
              <a:t> </a:t>
            </a:r>
            <a:r>
              <a:rPr lang="en-US" sz="1600" dirty="0" err="1"/>
              <a:t>thresh_iou</a:t>
            </a:r>
            <a:r>
              <a:rPr lang="en-US" sz="1600" dirty="0"/>
              <a:t>.</a:t>
            </a:r>
          </a:p>
          <a:p>
            <a:pPr marL="0" indent="0">
              <a:buNone/>
            </a:pPr>
            <a:r>
              <a:rPr lang="en-US" sz="1600" b="1" dirty="0"/>
              <a:t>Output</a:t>
            </a:r>
            <a:r>
              <a:rPr lang="en-US" sz="1600" dirty="0"/>
              <a:t>: We return a list of filtered prediction </a:t>
            </a:r>
            <a:r>
              <a:rPr lang="en-US" sz="1600" dirty="0" err="1"/>
              <a:t>BBoxes</a:t>
            </a:r>
            <a:r>
              <a:rPr lang="en-US" sz="1600" dirty="0"/>
              <a:t>.</a:t>
            </a:r>
          </a:p>
          <a:p>
            <a:pPr marL="0" indent="0">
              <a:buNone/>
            </a:pPr>
            <a:r>
              <a:rPr lang="en-US" sz="1600" b="1" dirty="0"/>
              <a:t>Step</a:t>
            </a:r>
            <a:r>
              <a:rPr lang="en-US" sz="1600" dirty="0"/>
              <a:t> 1 : Select the prediction S with highest confidence score and remove it from P and add it to the final prediction list </a:t>
            </a:r>
            <a:r>
              <a:rPr lang="en-US" sz="1600" b="1" dirty="0"/>
              <a:t>keep</a:t>
            </a:r>
            <a:r>
              <a:rPr lang="en-US" sz="1600" dirty="0"/>
              <a:t>. (</a:t>
            </a:r>
            <a:r>
              <a:rPr lang="en-US" sz="1600" b="1" dirty="0"/>
              <a:t>keep</a:t>
            </a:r>
            <a:r>
              <a:rPr lang="en-US" sz="1600" dirty="0"/>
              <a:t> is empty initially).</a:t>
            </a:r>
            <a:r>
              <a:rPr lang="en-US" sz="1600" b="1" dirty="0"/>
              <a:t> keep</a:t>
            </a:r>
            <a:endParaRPr lang="en-US" sz="1600" dirty="0"/>
          </a:p>
          <a:p>
            <a:pPr marL="0" indent="0">
              <a:buNone/>
            </a:pPr>
            <a:r>
              <a:rPr lang="en-US" sz="1600" b="1" dirty="0"/>
              <a:t>Step</a:t>
            </a:r>
            <a:r>
              <a:rPr lang="en-US" sz="1600" dirty="0"/>
              <a:t> 2 : Now compare this prediction S with all the predictions present in P. Calculate the </a:t>
            </a:r>
            <a:r>
              <a:rPr lang="en-US" sz="1600" dirty="0" err="1"/>
              <a:t>IoU</a:t>
            </a:r>
            <a:r>
              <a:rPr lang="en-US" sz="1600" dirty="0"/>
              <a:t> of this prediction S with every other predictions in P. If the </a:t>
            </a:r>
            <a:r>
              <a:rPr lang="en-US" sz="1600" dirty="0" err="1"/>
              <a:t>IoU</a:t>
            </a:r>
            <a:r>
              <a:rPr lang="en-US" sz="1600" dirty="0"/>
              <a:t> is greater than the threshold </a:t>
            </a:r>
            <a:r>
              <a:rPr lang="en-US" sz="1600" dirty="0" err="1"/>
              <a:t>thresh_iou</a:t>
            </a:r>
            <a:r>
              <a:rPr lang="en-US" sz="1600" dirty="0"/>
              <a:t> for any prediction T present in P, remove prediction T from P.</a:t>
            </a:r>
          </a:p>
          <a:p>
            <a:pPr marL="0" indent="0">
              <a:buNone/>
            </a:pPr>
            <a:r>
              <a:rPr lang="en-US" sz="1600" b="1" dirty="0"/>
              <a:t>Step</a:t>
            </a:r>
            <a:r>
              <a:rPr lang="en-US" sz="1600" dirty="0"/>
              <a:t> 3 : If there are still predictions left in P, then go to Step 1 again, else return the list </a:t>
            </a:r>
            <a:r>
              <a:rPr lang="en-US" sz="1600" b="1" dirty="0"/>
              <a:t>keep</a:t>
            </a:r>
            <a:r>
              <a:rPr lang="en-US" sz="1600" dirty="0"/>
              <a:t> containing the filtered predictions.</a:t>
            </a:r>
          </a:p>
        </p:txBody>
      </p:sp>
      <p:sp>
        <p:nvSpPr>
          <p:cNvPr id="4" name="TextBox 3">
            <a:extLst>
              <a:ext uri="{FF2B5EF4-FFF2-40B4-BE49-F238E27FC236}">
                <a16:creationId xmlns:a16="http://schemas.microsoft.com/office/drawing/2014/main" id="{54426D94-7C1D-1DCC-5DE7-8C6D6B1190F2}"/>
              </a:ext>
            </a:extLst>
          </p:cNvPr>
          <p:cNvSpPr txBox="1"/>
          <p:nvPr/>
        </p:nvSpPr>
        <p:spPr>
          <a:xfrm>
            <a:off x="159392" y="5117283"/>
            <a:ext cx="11600176" cy="1815882"/>
          </a:xfrm>
          <a:prstGeom prst="rect">
            <a:avLst/>
          </a:prstGeom>
          <a:noFill/>
        </p:spPr>
        <p:txBody>
          <a:bodyPr wrap="square" rtlCol="0">
            <a:spAutoFit/>
          </a:bodyPr>
          <a:lstStyle/>
          <a:p>
            <a:r>
              <a:rPr lang="en-US" sz="1600" dirty="0"/>
              <a:t>In layman terms, we select the predictions with the maximum confidence and suppress all the other predictions having overlap with the selected predictions greater than a threshold. In other words, we take the maximum and suppress the non-maximum ones, hence the name non-maximum suppression.</a:t>
            </a:r>
          </a:p>
          <a:p>
            <a:endParaRPr lang="en-US" sz="1600" dirty="0"/>
          </a:p>
          <a:p>
            <a:r>
              <a:rPr lang="en-US" sz="1600" dirty="0"/>
              <a:t>If you observe the algorithm above, the whole filtering process depends on a single threshold value </a:t>
            </a:r>
            <a:r>
              <a:rPr lang="en-US" sz="1600" dirty="0" err="1"/>
              <a:t>thresh_iou</a:t>
            </a:r>
            <a:r>
              <a:rPr lang="en-US" sz="1600" dirty="0"/>
              <a:t>. So selection of threshold value is vital for the performance of the model. Usually, we take its value as 0.5, but it depends on the experiment you are </a:t>
            </a:r>
            <a:r>
              <a:rPr lang="en-US" sz="1600" dirty="0" err="1"/>
              <a:t>doing.As</a:t>
            </a:r>
            <a:r>
              <a:rPr lang="en-US" sz="1600" dirty="0"/>
              <a:t> discussed in the NMS algorithm above, we extract the </a:t>
            </a:r>
            <a:r>
              <a:rPr lang="en-US" sz="1600" dirty="0" err="1"/>
              <a:t>BBox</a:t>
            </a:r>
            <a:r>
              <a:rPr lang="en-US" sz="1600" dirty="0"/>
              <a:t> of highest confidence score and remove it from P</a:t>
            </a:r>
            <a:endParaRPr lang="en-IN" sz="1600" dirty="0"/>
          </a:p>
        </p:txBody>
      </p:sp>
      <p:pic>
        <p:nvPicPr>
          <p:cNvPr id="7" name="Picture 6">
            <a:extLst>
              <a:ext uri="{FF2B5EF4-FFF2-40B4-BE49-F238E27FC236}">
                <a16:creationId xmlns:a16="http://schemas.microsoft.com/office/drawing/2014/main" id="{289653E9-023C-48B0-9254-DCF0F8D656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0305" y="1740716"/>
            <a:ext cx="5820478" cy="2579613"/>
          </a:xfrm>
          <a:prstGeom prst="rect">
            <a:avLst/>
          </a:prstGeom>
        </p:spPr>
      </p:pic>
    </p:spTree>
    <p:extLst>
      <p:ext uri="{BB962C8B-B14F-4D97-AF65-F5344CB8AC3E}">
        <p14:creationId xmlns:p14="http://schemas.microsoft.com/office/powerpoint/2010/main" val="466465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1009</TotalTime>
  <Words>2499</Words>
  <Application>Microsoft Office PowerPoint</Application>
  <PresentationFormat>Widescreen</PresentationFormat>
  <Paragraphs>115</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Google Sans</vt:lpstr>
      <vt:lpstr>Inter</vt:lpstr>
      <vt:lpstr>Manrope</vt:lpstr>
      <vt:lpstr>source-serif-pro</vt:lpstr>
      <vt:lpstr>Studio-Feixen-Sans</vt:lpstr>
      <vt:lpstr>Office Theme</vt:lpstr>
      <vt:lpstr>AI – CNN YOLO</vt:lpstr>
      <vt:lpstr>Object detection by YOLO</vt:lpstr>
      <vt:lpstr> Evolution of YOLO(p1)</vt:lpstr>
      <vt:lpstr> Evolution of YOLO(p2)</vt:lpstr>
      <vt:lpstr>Why is YOLO popular?(p1)</vt:lpstr>
      <vt:lpstr>Why is YOLO popular?(p2)</vt:lpstr>
      <vt:lpstr>Few useful terms(p1):</vt:lpstr>
      <vt:lpstr>Few useful terms(p2):</vt:lpstr>
      <vt:lpstr>Classification of Object Detection Algorithms(p1)</vt:lpstr>
      <vt:lpstr>Classification of Object Detection Algorithms(p2)</vt:lpstr>
      <vt:lpstr>Classification of Object Detection Algorithms(p3)</vt:lpstr>
      <vt:lpstr>Classification of Object Detection Algorithms(p4)</vt:lpstr>
      <vt:lpstr>YOLO Architecture: How It Works(p1)</vt:lpstr>
      <vt:lpstr>YOLO Architecture: How It Works(p2)</vt:lpstr>
      <vt:lpstr>YOLO Architecture: How It Works(p3)</vt:lpstr>
      <vt:lpstr>YOLO Architecture: How It Works(p4)</vt:lpstr>
      <vt:lpstr>YOLO Architecture: How It Works(p5)</vt:lpstr>
      <vt:lpstr>YOLO Architecture: How It Works(p5)</vt:lpstr>
      <vt:lpstr>YOLO Architecture: How It Works(p6)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 CNN</dc:title>
  <dc:creator>hi</dc:creator>
  <cp:lastModifiedBy>ash322.ash422@gmail.com</cp:lastModifiedBy>
  <cp:revision>163</cp:revision>
  <dcterms:created xsi:type="dcterms:W3CDTF">2025-02-19T14:31:34Z</dcterms:created>
  <dcterms:modified xsi:type="dcterms:W3CDTF">2025-03-05T05:41:10Z</dcterms:modified>
</cp:coreProperties>
</file>