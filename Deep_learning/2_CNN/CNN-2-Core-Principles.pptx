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handoutMasterIdLst>
    <p:handoutMasterId r:id="rId40"/>
  </p:handoutMasterIdLst>
  <p:sldIdLst>
    <p:sldId id="276" r:id="rId2"/>
    <p:sldId id="358" r:id="rId3"/>
    <p:sldId id="359" r:id="rId4"/>
    <p:sldId id="370" r:id="rId5"/>
    <p:sldId id="260" r:id="rId6"/>
    <p:sldId id="371" r:id="rId7"/>
    <p:sldId id="261" r:id="rId8"/>
    <p:sldId id="278" r:id="rId9"/>
    <p:sldId id="262" r:id="rId10"/>
    <p:sldId id="377" r:id="rId11"/>
    <p:sldId id="381" r:id="rId12"/>
    <p:sldId id="372" r:id="rId13"/>
    <p:sldId id="270" r:id="rId14"/>
    <p:sldId id="271" r:id="rId15"/>
    <p:sldId id="279" r:id="rId16"/>
    <p:sldId id="272" r:id="rId17"/>
    <p:sldId id="373" r:id="rId18"/>
    <p:sldId id="273" r:id="rId19"/>
    <p:sldId id="378" r:id="rId20"/>
    <p:sldId id="374" r:id="rId21"/>
    <p:sldId id="277" r:id="rId22"/>
    <p:sldId id="263" r:id="rId23"/>
    <p:sldId id="376" r:id="rId24"/>
    <p:sldId id="264" r:id="rId25"/>
    <p:sldId id="379" r:id="rId26"/>
    <p:sldId id="265" r:id="rId27"/>
    <p:sldId id="380" r:id="rId28"/>
    <p:sldId id="266" r:id="rId29"/>
    <p:sldId id="268" r:id="rId30"/>
    <p:sldId id="258" r:id="rId31"/>
    <p:sldId id="274" r:id="rId32"/>
    <p:sldId id="267" r:id="rId33"/>
    <p:sldId id="269" r:id="rId34"/>
    <p:sldId id="357" r:id="rId35"/>
    <p:sldId id="361" r:id="rId36"/>
    <p:sldId id="360" r:id="rId37"/>
    <p:sldId id="275"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5/8/2026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2T09:43:59.394"/>
    </inkml:context>
    <inkml:brush xml:id="br0">
      <inkml:brushProperty name="width" value="0.2" units="cm"/>
      <inkml:brushProperty name="height" value="0.2" units="cm"/>
      <inkml:brushProperty name="color" value="#FFC114"/>
    </inkml:brush>
  </inkml:definitions>
  <inkml:trace contextRef="#ctx0" brushRef="#br0">25 252 6141 0 0,'-24'13'2416'0'0,"257"-53"-2414"0"0,-149 30-22 0 0,-9 5 14 0 0,158-10 0 0 0,46 10-26 0 0,111 5-43 0 0,-384 1 63 0 0,31 3 12 0 0,57 1 0 0 0,-18-3 9 0 0,-9 1-11 0 0,-33-2 6 0 0,75 11-30 0 0,-67-6 42 0 0,74 0 0 0 0,-112-6-8 0 0,29 5 65 0 0,-31-5 204 0 0,22-1 3050 0 0,-48-20-3189 0 0,-1 2-1 0 0,-1 0 1 0 0,-29-14 0 0 0,-9-7-115 0 0,24 14-94 0 0,-77-34 1 0 0,115 59 66 0 0,-23-13-1713 0 0,305 131 1587 0 0,-206-89 134 0 0,4 6 30 0 0,-76-33-14 0 0,8 6-128 0 0,-16 0 98 0 0,0 0 0 0 0,-1-1 0 0 0,0 0 0 0 0,0 0 0 0 0,0 0 0 0 0,-1-1 0 0 0,0 1 0 0 0,-9 3 1 0 0,-16 13-12 0 0,-28 25 10 0 0,-83 57 4 0 0,93-65 79 0 0,49-37-66 0 0,1-1-44 0 0,0 0 0 0 0,0 0 0 0 0,0 1 0 0 0,0-1 0 0 0,0 0-1 0 0,-1 0 1 0 0,1 0 0 0 0,0 0 0 0 0,-1 0 0 0 0,1-1 0 0 0,0 1-1 0 0,-1 0 1 0 0,1-1 0 0 0,-1 1 0 0 0,1-1 0 0 0,-1 1 0 0 0,-2 0 0 0 0,3-3-369 0 0,0-1 0 0 0,1 1 1 0 0,-1 0-1 0 0,1 0 1 0 0,0 0-1 0 0,-1 0 0 0 0,1 0 1 0 0,0-1-1 0 0,0 1 1 0 0,0 0-1 0 0,1 0 0 0 0,0-3 1 0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5-05-08T16:24:54.976"/>
    </inkml:context>
    <inkml:brush xml:id="br0">
      <inkml:brushProperty name="width" value="0.06667" units="cm"/>
      <inkml:brushProperty name="height" value="0.06667" units="cm"/>
      <inkml:brushProperty name="fitToCurve" value="1"/>
    </inkml:brush>
  </inkml:definitions>
  <inkml:trace contextRef="#ctx0" brushRef="#br0">0 79 0,'0'-23'172,"23"-1"-172,47 24 16,0 0-16,0 0 15,0 0-15,-24 0 16,24 0-16,0 0 16,-47 0-16,47 0 15,0 0-15,-23 0 16,23 0-16,-47-23 15,0 23-15,24 0 16,-1 0-16,-22 0 16,22 0-1,-22 0-15,22 0 16,1 0-16,0 0 16,-24 0-16,23 0 15,-22 0-15,46 0 16,-47 0-16,24 0 15,-24 0-15,23 0 16,-22 0-16,22 23 16,-22-23-1,22 0 1,-22 0-16,22 0 16,1 0-1,-24 0 1,0 0-16,24 0 15,-24 0 1,1 0-16,-1 0 16,0 0-16,24 0 15,-1 0-15,1 0 16,-24 0-16,24 0 16,-24 0-16,1 0 15,-1 0-15,23 0 16,1 24-1,-24-24 1,24 0-16,-24 0 16,24 0-16,-24 0 15,24 0-15,-1 0 16,-22 0-16,-1 0 16,24 0-16,-1 0 15,-23 0-15,47 0 16,-23 0-16,-24 0 15,47 0-15,-46 0 16,45 0-16,-45 0 16,-1 0-16,24 0 15,-1 0 1,1 0 0,-1 0-16,-22 0 15,-1 0-15,24 0 16,-24 0-1,0 0 1,1 0 0,-1 0-16,0 0 15,47 0-15,-47 0 16,1 0 0,-1 0 30,0 0-30,1 0 0,22-24-16,-22 1 78</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5-05-08T16:24:52.067"/>
    </inkml:context>
    <inkml:brush xml:id="br0">
      <inkml:brushProperty name="width" value="0.06667" units="cm"/>
      <inkml:brushProperty name="height" value="0.06667" units="cm"/>
      <inkml:brushProperty name="color" value="#F4B183"/>
      <inkml:brushProperty name="fitToCurve" value="1"/>
    </inkml:brush>
  </inkml:definitions>
  <inkml:trace contextRef="#ctx0" brushRef="#br0">4200 0 0,'23'0'157,"47"0"-142,0 23 1,-23 0-16,-1 1 15,-22-24-15,45 46 16,1-22-16,-23-24 16,0 46-1,-1-46-15,1 0 16,46 0-16,70 24 16,-46-24-16,-24 0 15,0 0-15,-46 0 16,23 0-16,-1 0 15,-45 0-15,-1 0 16,24 0-16,-1 0 16,-22 0-1,22 0 1,-22 0 0,45 0-16,-45 0 15,46 0-15,-24 0 16,24 0-16,-23 0 15,23 23-15,0-23 16,-24 46-16,1-46 16,-24 0-16,24 0 15,-24 0-15,0 24 16,24-1 0,0-23-1,-1 47-15,24-24 16,-47 24-1,24-47-15,-24 23 16,24 0-16,-24 24 16,0-47-1,-23 23-15,24 0 16,-1 1-16,24-1 16,23 24-16,-47-47 15,47 69-15,23 25 16,-46-48-16,46 24 15,-23 23-15,-24-46 16,1 23-16,-24-47 16,1 1-16,-1-1 15,0 23 1,0 1-16,1-24 16,-1 24-1,-23 0 1,0-24-1,0 23-15,47 1 16,-47 46-16,0-23 0,0 0 16,23 0-1,-23-23-15,0 23 16,23-24-16,-23-23 16,0 24-16,0 0 15,0-1 1,0 1-16,0-1 15,0-22-15,0-1 16,0 0-16,0 24 16,0 0-16,0-24 15,-23 47-15,0 0 16,-1-47-16,24 0 16,-70 47-16,47 0 15,-23-47-15,22 1 16,1-1-16,0 24 15,-24-1-15,0 1 16,24-1-16,-24-22 16,1 46-16,-24 0 15,47-47 1,-24 23 0,0 1-1,24-47-15,-23 47 16,-1-1-1,0-22-15,24-1 16,-24-23-16,1 70 16,-1-70-16,24 23 15,-47 47-15,47-70 16,-47 23-16,47 1 16,-24-1-16,0-23 15,-23 70-15,47-70 16,0 23-16,-70 0 15,23 24-15,23-24 16,-46 1-16,23 22 16,-23-22-16,-24 22 15,1 1-15,-24-1 16,47 1-16,-24-24 16,24 1-16,-24 46 15,71-70-15,-1 23 16,-23 0-1,0 24-15,24-47 16,-1 23-16,-23 0 16,0-23-16,0 24 0,-46-1 15,-47 24 1,23-47-16,-93 69 16,47-69-16,22 24 15,25-1-15,22 24 16,1-24-16,46 0 15,23 1-15,-23-24 16,47 23-16,0 0 16,-24-23-16,24 0 15,-1 0 1,1 0-16,-70 47 16,70-24-1,-24 24-15,0-24 16,-23 24-16,24-24 0,-1 23 15,24-22-15,-24 22 16,24-22 0,-24-24-16,24 46 0,0-22 15,-24-24-15,24 46 16,0-46-16,23 24 16,-24-24-16,1 69 15,0-45-15,-24 22 31,0 24-31,24-46 16,0-1 0,0 0-16,23 0 15,-24 1-15,1-1 16,0 24-16,-1-47 16,1 23-16,23 0 15,-23 1 1,-1 22-1,1-23 1,0-23 0,23 24-1,0-1-15,-23 0 16,-1 1 0,24-1-1,-23 0 1,0-23-16,23 24 15,-24-1 1,1 24-16,0-24 16,23 0-1,-24 0 1,1 1 0,0 22-1,0-22 1,-1 22-16,1 1 15,0-47 1,23 23 0,-24 24-16,1-47 15,23 23-15,-23 0 16,23 1 0,-24-24-16,24 46 15,-23-22 1,0-24-1,23 23 1,-24 0 0,24 0 31,-23-23-32,0 24 16,23-1-31,0 0 32,-23-23-17,23 24 17,-24-1-32,1 0 46,0 24 17,23-24-16,-24-23-16,24 47 250,0-24-265,0 24 0,0-24-16,-23-23 15,23 47-15,-23-47 16,23 23-16,0 0 31,-24 1-31,24-1 31,0 0-15,-23 0 0,23 1-16,-23-24 15,23 46 1,-23 1-16,-1-24 15,24 24 1,0-24-16,-23 0 16,23 1-16,-23-1 15,-1 0-15,1 24 16,23-24 0,-23 1-1,-1-1 1,24 0-16,0 0 15,-23 24 1,23 0-16,-23-24 16,0 0-16,23 1 15,0-1 1,-24-23-16,24 23 16,-23 1-1,23-1-15,-23 23 16,23-22-1,-24-1 1,24 0-16,-23 1 16,0-1-1,-1 24-15,24-24 16,-23 0-16,0 24 16,-1-24-1,1 24 1,23-24-16,-23 0 15,23 1 1,-23-24-16,23 23 16,-24-23-1,24 46-15,-23-22 16,23-1-16,-23 0 16,-1 1-1,24-1-15,-23 0 16,0 1-16,23-1 15,0 0 1,-24 1-16,1 22 16,0-23-1,23 1 1,0-1 15,-23 0-31,-1 1 16,1-24 171,23-70-171,-23 23-16,-24-23 16,47 24-1,0 22 1,0 1-1,-23 0-15,23-1 16,0 1 0,0 0-1,-24-1 1,1 24-16,23 47 281,23-24-265,-23 1-16,47 69 15,-24-46 1,-23-24 0,24-23-16,-24 46 31,23-22-15,0-1 46,-23 0-31,24 1 63,-24-1-78,23-23-1,0 0 157,24 0-156,-24 0-16,0 0 15,24-47-15,-24 47 16,24-23-16,-1 0 16,-22-1-16,-1 24 15,0-23-15,1 23 16,-1 0-16,0 0 16,24 0-1,-24 0 1,1 0-16,-1 0 15,0 0 1</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5-05-08T16:24:58.888"/>
    </inkml:context>
    <inkml:brush xml:id="br0">
      <inkml:brushProperty name="width" value="0.06667" units="cm"/>
      <inkml:brushProperty name="height" value="0.06667" units="cm"/>
      <inkml:brushProperty name="color" value="#F4B183"/>
      <inkml:brushProperty name="fitToCurve" value="1"/>
    </inkml:brush>
  </inkml:definitions>
  <inkml:trace contextRef="#ctx0" brushRef="#br0">0 0 0,'23'0'110,"1"93"-110,22-23 15,1 23-15,-1-23 16,1 0-16,-24 0 16,1-24-16,45 48 15,1 22 1,-46-46-16,46 23 0,-47-69 16,-23 22-1,93 47-15,-70-46 16,71 23-16,-48-24 15,-22 1-15,45 0 16,1 23-16,-46-70 16,92 93-16,-93-70 15,47 24-15,-23-24 16,-24 0-16,71 24 16,-48-24-16,1 24 15,-1-24 1,48 0-16,-48 24 15,1-47-15,46 47 16,-70-24-16,47-23 16,-47 47-16,47-47 15,-70 23 1,47 0-16,0 0 16,-24 1-1,0-1-15,47 24 16,-47-24-16,1 0 15,22 1-15,-22-1 16,-1-23-16,0 23 31,-23 0-31,24-23 16,-1 24 0,23 22-16,-22-22 15,-1-1 1,-23 0-1,23-23-15,1 24 16,-1 45-16,0-69 16,-23 24-16,47 22 15,-24-46-15,0 47 16,1-24-16,-1 1 16,0-1-16,-23 0 15,47 1-15,-47-1 16,0 0-16,23 0 15,-23 1 1,0-1-16,24 0 16,-1-23-16,-23 24 15,0-1 1,23-23-16,-23 23 16,0 1-16,0-1 15,47 23 1,-47 1-16,23 0 15,-23-24-15,0 47 16,0-47-16,0 47 16,0-23-1,0-24-15,23 0 16,-23 24-16,0-24 16,24 24-16,-24-24 15,23 24 1,-23-1-16,0-22 15,0-1 1,0 0-16,0 24 16,0-24-1,0 0-15,0 1 16,0-1 0,0 0-16,0 1 31,0-1-31,0 0 15,-47-46 173,1 0-172,22-1-16,1 1 15,-70-47-15,46 24 16,1-1-16,22 24 15,-45-24-15,45 24 16,1-1 0,0 1-16,-1 23 15,24-23 1,-23 0-16,0-1 16,69 24 187,-22 0-188,-1 24-15,0-24 16,1 23 15,-1-23 0,-23 23-15,46 0-16,-22 1 16,22-1-1,-22 0 1,-1-23 62,0 24-78,1-1 31,-24 0-31,23-23 32,0 24 30,0-24-46,-23 23-16,24-23 31,-24 23-15,23-23 30,-23 23-30,23-23-16,1 24 16,-1-1 15,0-23 219,24 0-250,-24-70 16,24-23-16,-1 0 15,1 23-15,0-23 16,-24 69-16,24-69 15,-24 93-15,0-23 16,24-24-16,-24 24 16,24 23-1,-1-47-15,-46 24 16,24 0 0,-1-1-16,0 24 15,-23-23 1,0 0-16,47-1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5/8/2026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5/8/2026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5/8/2026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5/8/2026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5/8/2026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5/8/2026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5/8/2026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5/8/2026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5/8/2026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5/8/2026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5/8/2026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5/8/2026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5/8/2026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en.wikipedia.org/wiki/Seq2seq"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customXml" Target="../ink/ink2.xml"/><Relationship Id="rId7" Type="http://schemas.openxmlformats.org/officeDocument/2006/relationships/customXml" Target="../ink/ink4.xml"/><Relationship Id="rId2" Type="http://schemas.openxmlformats.org/officeDocument/2006/relationships/image" Target="../media/image20.jpg"/><Relationship Id="rId1" Type="http://schemas.openxmlformats.org/officeDocument/2006/relationships/slideLayout" Target="../slideLayouts/slideLayout2.xml"/><Relationship Id="rId6" Type="http://schemas.openxmlformats.org/officeDocument/2006/relationships/image" Target="../media/image190.png"/><Relationship Id="rId5" Type="http://schemas.openxmlformats.org/officeDocument/2006/relationships/customXml" Target="../ink/ink3.xml"/><Relationship Id="rId4" Type="http://schemas.openxmlformats.org/officeDocument/2006/relationships/image" Target="../media/image18.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215DA-3608-60AF-BA74-5CE165D36DFE}"/>
              </a:ext>
            </a:extLst>
          </p:cNvPr>
          <p:cNvSpPr>
            <a:spLocks noGrp="1"/>
          </p:cNvSpPr>
          <p:nvPr>
            <p:ph type="ctrTitle"/>
          </p:nvPr>
        </p:nvSpPr>
        <p:spPr>
          <a:xfrm>
            <a:off x="255639" y="666589"/>
            <a:ext cx="11700387" cy="4041648"/>
          </a:xfrm>
        </p:spPr>
        <p:txBody>
          <a:bodyPr>
            <a:normAutofit/>
          </a:bodyPr>
          <a:lstStyle/>
          <a:p>
            <a:r>
              <a:rPr lang="en-US" dirty="0"/>
              <a:t>(On </a:t>
            </a:r>
            <a:r>
              <a:rPr lang="en-US"/>
              <a:t>Dev com)</a:t>
            </a:r>
            <a:br>
              <a:rPr lang="en-US"/>
            </a:br>
            <a:r>
              <a:rPr lang="en-US"/>
              <a:t>CNN</a:t>
            </a:r>
            <a:endParaRPr lang="en-US" dirty="0"/>
          </a:p>
        </p:txBody>
      </p:sp>
    </p:spTree>
    <p:extLst>
      <p:ext uri="{BB962C8B-B14F-4D97-AF65-F5344CB8AC3E}">
        <p14:creationId xmlns:p14="http://schemas.microsoft.com/office/powerpoint/2010/main" val="2173766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FAF1B6-EF2A-3797-2B6C-CC2976FDB4DF}"/>
              </a:ext>
            </a:extLst>
          </p:cNvPr>
          <p:cNvSpPr txBox="1"/>
          <p:nvPr/>
        </p:nvSpPr>
        <p:spPr>
          <a:xfrm>
            <a:off x="576072" y="177951"/>
            <a:ext cx="10899648" cy="4832092"/>
          </a:xfrm>
          <a:prstGeom prst="rect">
            <a:avLst/>
          </a:prstGeom>
          <a:noFill/>
        </p:spPr>
        <p:txBody>
          <a:bodyPr wrap="square">
            <a:spAutoFit/>
          </a:bodyPr>
          <a:lstStyle/>
          <a:p>
            <a:r>
              <a:rPr lang="en-US" sz="2800" b="1" dirty="0">
                <a:solidFill>
                  <a:schemeClr val="accent6">
                    <a:lumMod val="60000"/>
                    <a:lumOff val="40000"/>
                  </a:schemeClr>
                </a:solidFill>
              </a:rPr>
              <a:t>Convolutional Neural Networks (CNNs)</a:t>
            </a:r>
          </a:p>
          <a:p>
            <a:pPr marL="0" indent="0">
              <a:buNone/>
            </a:pPr>
            <a:endParaRPr lang="en-US" sz="2800" dirty="0">
              <a:solidFill>
                <a:schemeClr val="accent6">
                  <a:lumMod val="60000"/>
                  <a:lumOff val="40000"/>
                </a:schemeClr>
              </a:solidFill>
            </a:endParaRPr>
          </a:p>
          <a:p>
            <a:pPr marL="0" indent="0">
              <a:buNone/>
            </a:pPr>
            <a:r>
              <a:rPr lang="en-US" sz="2800" dirty="0">
                <a:solidFill>
                  <a:schemeClr val="accent6">
                    <a:lumMod val="60000"/>
                    <a:lumOff val="40000"/>
                  </a:schemeClr>
                </a:solidFill>
              </a:rPr>
              <a:t>Learning Objective:</a:t>
            </a:r>
          </a:p>
          <a:p>
            <a:pPr marL="0" indent="0">
              <a:buNone/>
            </a:pPr>
            <a:endParaRPr lang="en-US" sz="2800" dirty="0">
              <a:solidFill>
                <a:schemeClr val="accent6">
                  <a:lumMod val="60000"/>
                  <a:lumOff val="40000"/>
                </a:schemeClr>
              </a:solidFill>
            </a:endParaRPr>
          </a:p>
          <a:p>
            <a:pPr marL="342900" indent="-342900">
              <a:buFont typeface="Arial" panose="020B0604020202020204" pitchFamily="34" charset="0"/>
              <a:buChar char="•"/>
            </a:pPr>
            <a:r>
              <a:rPr lang="en-US" sz="2800" dirty="0">
                <a:solidFill>
                  <a:schemeClr val="accent6">
                    <a:lumMod val="60000"/>
                    <a:lumOff val="40000"/>
                  </a:schemeClr>
                </a:solidFill>
              </a:rPr>
              <a:t>Convolutional layers (and </a:t>
            </a:r>
            <a:r>
              <a:rPr lang="en-US" sz="2800" dirty="0" err="1">
                <a:solidFill>
                  <a:schemeClr val="accent6">
                    <a:lumMod val="60000"/>
                    <a:lumOff val="40000"/>
                  </a:schemeClr>
                </a:solidFill>
              </a:rPr>
              <a:t>ReLU</a:t>
            </a:r>
            <a:r>
              <a:rPr lang="en-US" sz="2800" dirty="0">
                <a:solidFill>
                  <a:schemeClr val="accent6">
                    <a:lumMod val="60000"/>
                    <a:lumOff val="40000"/>
                  </a:schemeClr>
                </a:solidFill>
              </a:rPr>
              <a:t>)</a:t>
            </a:r>
          </a:p>
          <a:p>
            <a:pPr marL="342900" indent="-342900">
              <a:buFont typeface="Arial" panose="020B0604020202020204" pitchFamily="34" charset="0"/>
              <a:buChar char="•"/>
            </a:pPr>
            <a:r>
              <a:rPr lang="en-US" sz="2800" dirty="0">
                <a:solidFill>
                  <a:schemeClr val="accent6">
                    <a:lumMod val="60000"/>
                    <a:lumOff val="40000"/>
                  </a:schemeClr>
                </a:solidFill>
              </a:rPr>
              <a:t>Pooling layers, and </a:t>
            </a:r>
          </a:p>
          <a:p>
            <a:pPr marL="342900" indent="-342900">
              <a:buFont typeface="Arial" panose="020B0604020202020204" pitchFamily="34" charset="0"/>
              <a:buChar char="•"/>
            </a:pPr>
            <a:r>
              <a:rPr lang="en-US" sz="2800" dirty="0">
                <a:solidFill>
                  <a:schemeClr val="accent6">
                    <a:lumMod val="60000"/>
                    <a:lumOff val="40000"/>
                  </a:schemeClr>
                </a:solidFill>
              </a:rPr>
              <a:t>Filters (AKA kernels)</a:t>
            </a:r>
          </a:p>
          <a:p>
            <a:pPr marL="342900" indent="-342900">
              <a:buFont typeface="Arial" panose="020B0604020202020204" pitchFamily="34" charset="0"/>
              <a:buChar char="•"/>
            </a:pPr>
            <a:r>
              <a:rPr lang="en-US" sz="2800" dirty="0">
                <a:solidFill>
                  <a:schemeClr val="accent6">
                    <a:lumMod val="60000"/>
                    <a:lumOff val="40000"/>
                  </a:schemeClr>
                </a:solidFill>
              </a:rPr>
              <a:t>Stride</a:t>
            </a:r>
          </a:p>
          <a:p>
            <a:pPr marL="342900" indent="-342900">
              <a:buFont typeface="Arial" panose="020B0604020202020204" pitchFamily="34" charset="0"/>
              <a:buChar char="•"/>
            </a:pPr>
            <a:r>
              <a:rPr lang="en-US" sz="2800" dirty="0">
                <a:solidFill>
                  <a:schemeClr val="accent6">
                    <a:lumMod val="60000"/>
                    <a:lumOff val="40000"/>
                  </a:schemeClr>
                </a:solidFill>
              </a:rPr>
              <a:t>Padding</a:t>
            </a:r>
          </a:p>
          <a:p>
            <a:pPr marL="342900" indent="-342900">
              <a:buFont typeface="Arial" panose="020B0604020202020204" pitchFamily="34" charset="0"/>
              <a:buChar char="•"/>
            </a:pPr>
            <a:r>
              <a:rPr lang="en-US" sz="2800" dirty="0">
                <a:solidFill>
                  <a:schemeClr val="accent6">
                    <a:lumMod val="60000"/>
                    <a:lumOff val="40000"/>
                  </a:schemeClr>
                </a:solidFill>
              </a:rPr>
              <a:t>Flattening</a:t>
            </a:r>
          </a:p>
          <a:p>
            <a:pPr marL="342900" indent="-342900">
              <a:buFont typeface="Arial" panose="020B0604020202020204" pitchFamily="34" charset="0"/>
              <a:buChar char="•"/>
            </a:pPr>
            <a:r>
              <a:rPr lang="en-US" sz="2800" dirty="0">
                <a:solidFill>
                  <a:schemeClr val="accent6">
                    <a:lumMod val="60000"/>
                    <a:lumOff val="40000"/>
                  </a:schemeClr>
                </a:solidFill>
              </a:rPr>
              <a:t>Fully connected layers</a:t>
            </a:r>
          </a:p>
        </p:txBody>
      </p:sp>
    </p:spTree>
    <p:extLst>
      <p:ext uri="{BB962C8B-B14F-4D97-AF65-F5344CB8AC3E}">
        <p14:creationId xmlns:p14="http://schemas.microsoft.com/office/powerpoint/2010/main" val="1242321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403" y="2441448"/>
            <a:ext cx="9427085" cy="4279391"/>
          </a:xfrm>
          <a:prstGeom prst="rect">
            <a:avLst/>
          </a:prstGeom>
        </p:spPr>
      </p:pic>
      <p:sp>
        <p:nvSpPr>
          <p:cNvPr id="4" name="TextBox 3">
            <a:extLst>
              <a:ext uri="{FF2B5EF4-FFF2-40B4-BE49-F238E27FC236}">
                <a16:creationId xmlns:a16="http://schemas.microsoft.com/office/drawing/2014/main" id="{9B6378A5-E37B-0E29-3F53-1D4B57725022}"/>
              </a:ext>
            </a:extLst>
          </p:cNvPr>
          <p:cNvSpPr txBox="1"/>
          <p:nvPr/>
        </p:nvSpPr>
        <p:spPr>
          <a:xfrm>
            <a:off x="36576" y="-18746"/>
            <a:ext cx="12024360" cy="2308324"/>
          </a:xfrm>
          <a:prstGeom prst="rect">
            <a:avLst/>
          </a:prstGeom>
          <a:noFill/>
        </p:spPr>
        <p:txBody>
          <a:bodyPr wrap="square">
            <a:spAutoFit/>
          </a:bodyPr>
          <a:lstStyle/>
          <a:p>
            <a:pPr marL="0" indent="0">
              <a:buNone/>
            </a:pPr>
            <a:r>
              <a:rPr lang="en-US" sz="2400" b="1" dirty="0">
                <a:solidFill>
                  <a:schemeClr val="accent6">
                    <a:lumMod val="60000"/>
                    <a:lumOff val="40000"/>
                  </a:schemeClr>
                </a:solidFill>
              </a:rPr>
              <a:t>Key Features of Convolutional Neural Networks (CNNs)</a:t>
            </a:r>
          </a:p>
          <a:p>
            <a:pPr marL="0" indent="0">
              <a:buNone/>
            </a:pPr>
            <a:endParaRPr lang="en-US" sz="2400" dirty="0">
              <a:solidFill>
                <a:schemeClr val="accent6">
                  <a:lumMod val="60000"/>
                  <a:lumOff val="40000"/>
                </a:schemeClr>
              </a:solidFill>
            </a:endParaRPr>
          </a:p>
          <a:p>
            <a:pPr marL="0" indent="0">
              <a:buNone/>
            </a:pPr>
            <a:r>
              <a:rPr lang="en-US" sz="2400" dirty="0">
                <a:solidFill>
                  <a:schemeClr val="accent6">
                    <a:lumMod val="60000"/>
                    <a:lumOff val="40000"/>
                  </a:schemeClr>
                </a:solidFill>
              </a:rPr>
              <a:t>CNN has specialized layers like </a:t>
            </a:r>
          </a:p>
          <a:p>
            <a:pPr marL="342900" indent="-342900">
              <a:buFont typeface="Arial" panose="020B0604020202020204" pitchFamily="34" charset="0"/>
              <a:buChar char="•"/>
            </a:pPr>
            <a:r>
              <a:rPr lang="en-US" sz="2400" b="1" dirty="0">
                <a:solidFill>
                  <a:schemeClr val="accent6">
                    <a:lumMod val="60000"/>
                    <a:lumOff val="40000"/>
                  </a:schemeClr>
                </a:solidFill>
              </a:rPr>
              <a:t>Convolutional layers (and </a:t>
            </a:r>
            <a:r>
              <a:rPr lang="en-US" sz="2400" b="1" dirty="0" err="1">
                <a:solidFill>
                  <a:schemeClr val="accent6">
                    <a:lumMod val="60000"/>
                    <a:lumOff val="40000"/>
                  </a:schemeClr>
                </a:solidFill>
              </a:rPr>
              <a:t>ReLU</a:t>
            </a:r>
            <a:r>
              <a:rPr lang="en-US" sz="2400" b="1" dirty="0">
                <a:solidFill>
                  <a:schemeClr val="accent6">
                    <a:lumMod val="60000"/>
                    <a:lumOff val="40000"/>
                  </a:schemeClr>
                </a:solidFill>
              </a:rPr>
              <a:t>)</a:t>
            </a:r>
          </a:p>
          <a:p>
            <a:pPr marL="342900" indent="-342900">
              <a:buFont typeface="Arial" panose="020B0604020202020204" pitchFamily="34" charset="0"/>
              <a:buChar char="•"/>
            </a:pPr>
            <a:r>
              <a:rPr lang="en-US" sz="2400" b="1" dirty="0">
                <a:solidFill>
                  <a:schemeClr val="accent6">
                    <a:lumMod val="60000"/>
                    <a:lumOff val="40000"/>
                  </a:schemeClr>
                </a:solidFill>
              </a:rPr>
              <a:t>Pooling layers, </a:t>
            </a:r>
          </a:p>
          <a:p>
            <a:pPr marL="342900" indent="-342900">
              <a:buFont typeface="Arial" panose="020B0604020202020204" pitchFamily="34" charset="0"/>
              <a:buChar char="•"/>
            </a:pPr>
            <a:r>
              <a:rPr lang="en-US" sz="2400" b="1" dirty="0">
                <a:solidFill>
                  <a:schemeClr val="accent6">
                    <a:lumMod val="60000"/>
                    <a:lumOff val="40000"/>
                  </a:schemeClr>
                </a:solidFill>
              </a:rPr>
              <a:t>Fully connected layers</a:t>
            </a:r>
            <a:r>
              <a:rPr lang="en-US" sz="2400" dirty="0">
                <a:solidFill>
                  <a:schemeClr val="accent6">
                    <a:lumMod val="60000"/>
                    <a:lumOff val="40000"/>
                  </a:schemeClr>
                </a:solidFill>
              </a:rPr>
              <a:t>.</a:t>
            </a:r>
          </a:p>
        </p:txBody>
      </p:sp>
    </p:spTree>
    <p:extLst>
      <p:ext uri="{BB962C8B-B14F-4D97-AF65-F5344CB8AC3E}">
        <p14:creationId xmlns:p14="http://schemas.microsoft.com/office/powerpoint/2010/main" val="3993416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91869-FDC9-3622-77CF-08839A155D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CFE0B31-DABA-F8BB-7E5F-46CEAE43A6B8}"/>
              </a:ext>
            </a:extLst>
          </p:cNvPr>
          <p:cNvSpPr txBox="1"/>
          <p:nvPr/>
        </p:nvSpPr>
        <p:spPr>
          <a:xfrm>
            <a:off x="36576" y="-18746"/>
            <a:ext cx="12024360" cy="1938992"/>
          </a:xfrm>
          <a:prstGeom prst="rect">
            <a:avLst/>
          </a:prstGeom>
          <a:noFill/>
        </p:spPr>
        <p:txBody>
          <a:bodyPr wrap="square">
            <a:spAutoFit/>
          </a:bodyPr>
          <a:lstStyle/>
          <a:p>
            <a:pPr marL="0" indent="0">
              <a:buNone/>
            </a:pPr>
            <a:r>
              <a:rPr lang="en-US" sz="2400" b="1" dirty="0">
                <a:solidFill>
                  <a:schemeClr val="accent6">
                    <a:lumMod val="60000"/>
                    <a:lumOff val="40000"/>
                  </a:schemeClr>
                </a:solidFill>
              </a:rPr>
              <a:t>Key Features of Convolutional Neural Networks (CNNs)</a:t>
            </a:r>
          </a:p>
          <a:p>
            <a:pPr marL="0" indent="0">
              <a:buNone/>
            </a:pPr>
            <a:endParaRPr lang="en-US" sz="2400" b="1" dirty="0">
              <a:solidFill>
                <a:schemeClr val="accent6">
                  <a:lumMod val="60000"/>
                  <a:lumOff val="40000"/>
                </a:schemeClr>
              </a:solidFill>
            </a:endParaRPr>
          </a:p>
          <a:p>
            <a:pPr marL="0" indent="0">
              <a:buNone/>
            </a:pPr>
            <a:r>
              <a:rPr lang="en-US" sz="2400" b="1" dirty="0">
                <a:solidFill>
                  <a:schemeClr val="accent6">
                    <a:lumMod val="60000"/>
                    <a:lumOff val="40000"/>
                  </a:schemeClr>
                </a:solidFill>
              </a:rPr>
              <a:t>Advantages of CNN structure</a:t>
            </a:r>
            <a:r>
              <a:rPr lang="en-US" sz="2400" dirty="0">
                <a:solidFill>
                  <a:schemeClr val="accent6">
                    <a:lumMod val="60000"/>
                    <a:lumOff val="40000"/>
                  </a:schemeClr>
                </a:solidFill>
              </a:rPr>
              <a:t>: </a:t>
            </a:r>
          </a:p>
          <a:p>
            <a:pPr marL="0" indent="0">
              <a:buNone/>
            </a:pPr>
            <a:r>
              <a:rPr lang="en-US" sz="2400" dirty="0">
                <a:solidFill>
                  <a:schemeClr val="accent6">
                    <a:lumMod val="60000"/>
                    <a:lumOff val="40000"/>
                  </a:schemeClr>
                </a:solidFill>
              </a:rPr>
              <a:t>Captures </a:t>
            </a:r>
            <a:r>
              <a:rPr lang="en-US" sz="2400" b="1" dirty="0">
                <a:solidFill>
                  <a:schemeClr val="accent6">
                    <a:lumMod val="60000"/>
                    <a:lumOff val="40000"/>
                  </a:schemeClr>
                </a:solidFill>
              </a:rPr>
              <a:t>spatial hierarchies</a:t>
            </a:r>
            <a:r>
              <a:rPr lang="en-US" sz="2400" dirty="0">
                <a:solidFill>
                  <a:schemeClr val="accent6">
                    <a:lumMod val="60000"/>
                    <a:lumOff val="40000"/>
                  </a:schemeClr>
                </a:solidFill>
              </a:rPr>
              <a:t> (local to global features) and is more efficient for image processing than ANN.</a:t>
            </a:r>
          </a:p>
        </p:txBody>
      </p:sp>
      <p:pic>
        <p:nvPicPr>
          <p:cNvPr id="2" name="Picture 1">
            <a:extLst>
              <a:ext uri="{FF2B5EF4-FFF2-40B4-BE49-F238E27FC236}">
                <a16:creationId xmlns:a16="http://schemas.microsoft.com/office/drawing/2014/main" id="{A7E3BD7B-BC2B-AF50-4C04-0358F1A8C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403" y="2587752"/>
            <a:ext cx="9104791" cy="4133087"/>
          </a:xfrm>
          <a:prstGeom prst="rect">
            <a:avLst/>
          </a:prstGeom>
        </p:spPr>
      </p:pic>
    </p:spTree>
    <p:extLst>
      <p:ext uri="{BB962C8B-B14F-4D97-AF65-F5344CB8AC3E}">
        <p14:creationId xmlns:p14="http://schemas.microsoft.com/office/powerpoint/2010/main" val="934017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48343" y="664026"/>
            <a:ext cx="11571514" cy="3785652"/>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accent6">
                    <a:lumMod val="60000"/>
                    <a:lumOff val="40000"/>
                  </a:schemeClr>
                </a:solidFill>
              </a:rPr>
              <a:t>This is the </a:t>
            </a:r>
            <a:r>
              <a:rPr lang="en-US" sz="2400" b="1" dirty="0">
                <a:solidFill>
                  <a:schemeClr val="accent6">
                    <a:lumMod val="60000"/>
                    <a:lumOff val="40000"/>
                  </a:schemeClr>
                </a:solidFill>
              </a:rPr>
              <a:t>first building block </a:t>
            </a:r>
            <a:r>
              <a:rPr lang="en-US" sz="2400" dirty="0">
                <a:solidFill>
                  <a:schemeClr val="accent6">
                    <a:lumMod val="60000"/>
                    <a:lumOff val="40000"/>
                  </a:schemeClr>
                </a:solidFill>
              </a:rPr>
              <a:t>of a CNN. Main mathematical task performed is called convolution, which is the application of a sliding window function to a matrix of pixels representing an image. </a:t>
            </a:r>
          </a:p>
          <a:p>
            <a:pPr marL="285750" indent="-285750">
              <a:buFont typeface="Arial" panose="020B0604020202020204" pitchFamily="34" charset="0"/>
              <a:buChar char="•"/>
            </a:pPr>
            <a:r>
              <a:rPr lang="en-US" sz="2400" dirty="0">
                <a:solidFill>
                  <a:schemeClr val="accent6">
                    <a:lumMod val="60000"/>
                    <a:lumOff val="40000"/>
                  </a:schemeClr>
                </a:solidFill>
              </a:rPr>
              <a:t>The sliding function applied to the matrix is called </a:t>
            </a:r>
            <a:r>
              <a:rPr lang="en-US" sz="2400" b="1" dirty="0">
                <a:solidFill>
                  <a:schemeClr val="accent6">
                    <a:lumMod val="60000"/>
                    <a:lumOff val="40000"/>
                  </a:schemeClr>
                </a:solidFill>
              </a:rPr>
              <a:t>kernel</a:t>
            </a:r>
            <a:r>
              <a:rPr lang="en-US" sz="2400" dirty="0">
                <a:solidFill>
                  <a:schemeClr val="accent6">
                    <a:lumMod val="60000"/>
                    <a:lumOff val="40000"/>
                  </a:schemeClr>
                </a:solidFill>
              </a:rPr>
              <a:t> aka </a:t>
            </a:r>
            <a:r>
              <a:rPr lang="en-US" sz="2400" b="1" dirty="0">
                <a:solidFill>
                  <a:schemeClr val="accent6">
                    <a:lumMod val="60000"/>
                    <a:lumOff val="40000"/>
                  </a:schemeClr>
                </a:solidFill>
              </a:rPr>
              <a:t>filter </a:t>
            </a:r>
            <a:r>
              <a:rPr lang="en-US" sz="2400" dirty="0">
                <a:solidFill>
                  <a:schemeClr val="accent6">
                    <a:lumMod val="60000"/>
                    <a:lumOff val="40000"/>
                  </a:schemeClr>
                </a:solidFill>
              </a:rPr>
              <a:t>aka </a:t>
            </a:r>
            <a:r>
              <a:rPr lang="en-US" sz="2400" b="1" dirty="0">
                <a:solidFill>
                  <a:schemeClr val="accent6">
                    <a:lumMod val="60000"/>
                    <a:lumOff val="40000"/>
                  </a:schemeClr>
                </a:solidFill>
              </a:rPr>
              <a:t>feature detector. </a:t>
            </a:r>
            <a:r>
              <a:rPr lang="en-US" sz="2400" dirty="0">
                <a:solidFill>
                  <a:schemeClr val="accent6">
                    <a:lumMod val="60000"/>
                    <a:lumOff val="40000"/>
                  </a:schemeClr>
                </a:solidFill>
              </a:rPr>
              <a:t>The kernel move over the image.</a:t>
            </a:r>
          </a:p>
          <a:p>
            <a:pPr marL="285750" indent="-285750">
              <a:buFont typeface="Arial" panose="020B0604020202020204" pitchFamily="34" charset="0"/>
              <a:buChar char="•"/>
            </a:pPr>
            <a:r>
              <a:rPr lang="en-US" sz="2400" dirty="0">
                <a:solidFill>
                  <a:schemeClr val="accent6">
                    <a:lumMod val="60000"/>
                    <a:lumOff val="40000"/>
                  </a:schemeClr>
                </a:solidFill>
              </a:rPr>
              <a:t>In the convolution layer, several filters of equal size are applied, and each filter is used to recognize a specific pattern from the image, such as the curving of the digits, the edges, the whole shape of the digits, and more.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 kernels can be </a:t>
            </a:r>
            <a:r>
              <a:rPr lang="en-US" sz="2400" b="1" dirty="0">
                <a:solidFill>
                  <a:schemeClr val="accent6">
                    <a:lumMod val="60000"/>
                    <a:lumOff val="40000"/>
                  </a:schemeClr>
                </a:solidFill>
              </a:rPr>
              <a:t>square/rectangular matrix</a:t>
            </a:r>
          </a:p>
        </p:txBody>
      </p:sp>
      <p:sp>
        <p:nvSpPr>
          <p:cNvPr id="9" name="TextBox 8">
            <a:extLst>
              <a:ext uri="{FF2B5EF4-FFF2-40B4-BE49-F238E27FC236}">
                <a16:creationId xmlns:a16="http://schemas.microsoft.com/office/drawing/2014/main" id="{D83A7002-6159-3866-40A4-66855C8B84CC}"/>
              </a:ext>
            </a:extLst>
          </p:cNvPr>
          <p:cNvSpPr txBox="1"/>
          <p:nvPr/>
        </p:nvSpPr>
        <p:spPr>
          <a:xfrm>
            <a:off x="306324" y="62222"/>
            <a:ext cx="6190488" cy="461665"/>
          </a:xfrm>
          <a:prstGeom prst="rect">
            <a:avLst/>
          </a:prstGeom>
          <a:noFill/>
        </p:spPr>
        <p:txBody>
          <a:bodyPr wrap="square">
            <a:spAutoFit/>
          </a:bodyPr>
          <a:lstStyle/>
          <a:p>
            <a:r>
              <a:rPr lang="en-US" sz="2400" b="1" dirty="0">
                <a:solidFill>
                  <a:schemeClr val="accent6">
                    <a:lumMod val="60000"/>
                    <a:lumOff val="40000"/>
                  </a:schemeClr>
                </a:solidFill>
              </a:rPr>
              <a:t>Convolution layers</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747477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6844F-B30B-F3BB-0241-5C83FE3FA3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9EB1C06-F137-AEE9-C207-D4F8ED1AE759}"/>
              </a:ext>
            </a:extLst>
          </p:cNvPr>
          <p:cNvSpPr txBox="1"/>
          <p:nvPr/>
        </p:nvSpPr>
        <p:spPr>
          <a:xfrm>
            <a:off x="328614" y="648079"/>
            <a:ext cx="10918506" cy="2677656"/>
          </a:xfrm>
          <a:prstGeom prst="rect">
            <a:avLst/>
          </a:prstGeom>
          <a:noFill/>
        </p:spPr>
        <p:txBody>
          <a:bodyPr wrap="square" rtlCol="0">
            <a:spAutoFit/>
          </a:bodyPr>
          <a:lstStyle/>
          <a:p>
            <a:r>
              <a:rPr lang="en-US" sz="2400" dirty="0">
                <a:solidFill>
                  <a:schemeClr val="accent6">
                    <a:lumMod val="60000"/>
                    <a:lumOff val="40000"/>
                  </a:schemeClr>
                </a:solidFill>
              </a:rPr>
              <a:t>For example, one filter might be good at </a:t>
            </a:r>
          </a:p>
          <a:p>
            <a:pPr marL="342900" indent="-342900">
              <a:buFont typeface="Arial" panose="020B0604020202020204" pitchFamily="34" charset="0"/>
              <a:buChar char="•"/>
            </a:pPr>
            <a:r>
              <a:rPr lang="en-US" sz="2400" b="1" dirty="0">
                <a:solidFill>
                  <a:schemeClr val="accent6">
                    <a:lumMod val="60000"/>
                    <a:lumOff val="40000"/>
                  </a:schemeClr>
                </a:solidFill>
              </a:rPr>
              <a:t>finding straight lines, </a:t>
            </a:r>
          </a:p>
          <a:p>
            <a:pPr marL="342900" indent="-342900">
              <a:buFont typeface="Arial" panose="020B0604020202020204" pitchFamily="34" charset="0"/>
              <a:buChar char="•"/>
            </a:pPr>
            <a:r>
              <a:rPr lang="en-US" sz="2400" b="1" dirty="0">
                <a:solidFill>
                  <a:schemeClr val="accent6">
                    <a:lumMod val="60000"/>
                    <a:lumOff val="40000"/>
                  </a:schemeClr>
                </a:solidFill>
              </a:rPr>
              <a:t>another might find curves, </a:t>
            </a:r>
          </a:p>
          <a:p>
            <a:pPr marL="342900" indent="-342900">
              <a:buFont typeface="Arial" panose="020B0604020202020204" pitchFamily="34" charset="0"/>
              <a:buChar char="•"/>
            </a:pPr>
            <a:r>
              <a:rPr lang="en-US" sz="2400" b="1" dirty="0">
                <a:solidFill>
                  <a:schemeClr val="accent6">
                    <a:lumMod val="60000"/>
                    <a:lumOff val="40000"/>
                  </a:schemeClr>
                </a:solidFill>
              </a:rPr>
              <a:t>Another could finding edges and so on</a:t>
            </a:r>
            <a:r>
              <a:rPr lang="en-US" sz="2400" dirty="0">
                <a:solidFill>
                  <a:schemeClr val="accent6">
                    <a:lumMod val="60000"/>
                    <a:lumOff val="40000"/>
                  </a:schemeClr>
                </a:solidFill>
              </a:rPr>
              <a:t>. </a:t>
            </a:r>
          </a:p>
          <a:p>
            <a:pPr marL="342900" indent="-342900">
              <a:buFont typeface="Arial" panose="020B0604020202020204" pitchFamily="34" charset="0"/>
              <a:buChar char="•"/>
            </a:pPr>
            <a:endParaRPr lang="en-US" sz="2400" dirty="0">
              <a:solidFill>
                <a:schemeClr val="accent6">
                  <a:lumMod val="60000"/>
                  <a:lumOff val="40000"/>
                </a:schemeClr>
              </a:solidFill>
            </a:endParaRPr>
          </a:p>
          <a:p>
            <a:r>
              <a:rPr lang="en-US" sz="2400" dirty="0">
                <a:solidFill>
                  <a:schemeClr val="accent6">
                    <a:lumMod val="60000"/>
                    <a:lumOff val="40000"/>
                  </a:schemeClr>
                </a:solidFill>
              </a:rPr>
              <a:t>By using several different filters, the CNN can get a good idea of all the different patterns that make up the image.</a:t>
            </a:r>
          </a:p>
        </p:txBody>
      </p:sp>
      <p:sp>
        <p:nvSpPr>
          <p:cNvPr id="8" name="TextBox 7">
            <a:extLst>
              <a:ext uri="{FF2B5EF4-FFF2-40B4-BE49-F238E27FC236}">
                <a16:creationId xmlns:a16="http://schemas.microsoft.com/office/drawing/2014/main" id="{40E23D88-3F57-040F-5316-3C8C03FD6CA5}"/>
              </a:ext>
            </a:extLst>
          </p:cNvPr>
          <p:cNvSpPr txBox="1"/>
          <p:nvPr/>
        </p:nvSpPr>
        <p:spPr>
          <a:xfrm>
            <a:off x="306324" y="62222"/>
            <a:ext cx="6190488" cy="461665"/>
          </a:xfrm>
          <a:prstGeom prst="rect">
            <a:avLst/>
          </a:prstGeom>
          <a:noFill/>
        </p:spPr>
        <p:txBody>
          <a:bodyPr wrap="square">
            <a:spAutoFit/>
          </a:bodyPr>
          <a:lstStyle/>
          <a:p>
            <a:r>
              <a:rPr lang="en-US" sz="2400" b="1" dirty="0">
                <a:solidFill>
                  <a:schemeClr val="accent6">
                    <a:lumMod val="60000"/>
                    <a:lumOff val="40000"/>
                  </a:schemeClr>
                </a:solidFill>
              </a:rPr>
              <a:t>Convolution layers</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1025411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48343" y="664025"/>
            <a:ext cx="11324501" cy="830997"/>
          </a:xfrm>
          <a:prstGeom prst="rect">
            <a:avLst/>
          </a:prstGeom>
          <a:noFill/>
        </p:spPr>
        <p:txBody>
          <a:bodyPr wrap="square" rtlCol="0">
            <a:spAutoFit/>
          </a:bodyPr>
          <a:lstStyle/>
          <a:p>
            <a:r>
              <a:rPr lang="en-US" sz="2400" dirty="0">
                <a:solidFill>
                  <a:schemeClr val="accent6">
                    <a:lumMod val="60000"/>
                    <a:lumOff val="40000"/>
                  </a:schemeClr>
                </a:solidFill>
              </a:rPr>
              <a:t>Let’s consider the kernel used for the convolution. Say, it is a matrix with a dimension of 3x3. The </a:t>
            </a:r>
            <a:r>
              <a:rPr lang="en-US" sz="2400" b="1" dirty="0">
                <a:solidFill>
                  <a:schemeClr val="accent6">
                    <a:lumMod val="60000"/>
                    <a:lumOff val="40000"/>
                  </a:schemeClr>
                </a:solidFill>
              </a:rPr>
              <a:t>weights</a:t>
            </a:r>
            <a:r>
              <a:rPr lang="en-US" sz="2400" dirty="0">
                <a:solidFill>
                  <a:schemeClr val="accent6">
                    <a:lumMod val="60000"/>
                    <a:lumOff val="40000"/>
                  </a:schemeClr>
                </a:solidFill>
              </a:rPr>
              <a:t> of each element of the kernel is represented in the grid. </a:t>
            </a:r>
          </a:p>
        </p:txBody>
      </p:sp>
      <p:sp>
        <p:nvSpPr>
          <p:cNvPr id="7" name="TextBox 6"/>
          <p:cNvSpPr txBox="1"/>
          <p:nvPr/>
        </p:nvSpPr>
        <p:spPr>
          <a:xfrm>
            <a:off x="185737" y="1564763"/>
            <a:ext cx="5529261" cy="4893647"/>
          </a:xfrm>
          <a:prstGeom prst="rect">
            <a:avLst/>
          </a:prstGeom>
          <a:noFill/>
        </p:spPr>
        <p:txBody>
          <a:bodyPr wrap="square" rtlCol="0">
            <a:spAutoFit/>
          </a:bodyPr>
          <a:lstStyle/>
          <a:p>
            <a:r>
              <a:rPr lang="en-US" sz="2400" dirty="0">
                <a:solidFill>
                  <a:schemeClr val="accent6">
                    <a:lumMod val="60000"/>
                    <a:lumOff val="40000"/>
                  </a:schemeClr>
                </a:solidFill>
              </a:rPr>
              <a:t>Steps in  convolution operation:</a:t>
            </a:r>
          </a:p>
          <a:p>
            <a:pPr marL="342900" indent="-342900">
              <a:buFont typeface="+mj-lt"/>
              <a:buAutoNum type="arabicPeriod"/>
            </a:pPr>
            <a:r>
              <a:rPr lang="en-US" sz="2400" dirty="0">
                <a:solidFill>
                  <a:schemeClr val="accent6">
                    <a:lumMod val="60000"/>
                    <a:lumOff val="40000"/>
                  </a:schemeClr>
                </a:solidFill>
              </a:rPr>
              <a:t>Apply the kernel matrix from the top-left corner to the right.</a:t>
            </a:r>
          </a:p>
          <a:p>
            <a:pPr marL="342900" indent="-342900">
              <a:buFont typeface="+mj-lt"/>
              <a:buAutoNum type="arabicPeriod"/>
            </a:pPr>
            <a:r>
              <a:rPr lang="en-US" sz="2400" dirty="0">
                <a:solidFill>
                  <a:schemeClr val="accent6">
                    <a:lumMod val="60000"/>
                    <a:lumOff val="40000"/>
                  </a:schemeClr>
                </a:solidFill>
              </a:rPr>
              <a:t>Perform element-wise multiplication.</a:t>
            </a:r>
          </a:p>
          <a:p>
            <a:pPr marL="342900" indent="-342900">
              <a:buFont typeface="+mj-lt"/>
              <a:buAutoNum type="arabicPeriod"/>
            </a:pPr>
            <a:r>
              <a:rPr lang="en-US" sz="2400" dirty="0">
                <a:solidFill>
                  <a:schemeClr val="accent6">
                    <a:lumMod val="60000"/>
                    <a:lumOff val="40000"/>
                  </a:schemeClr>
                </a:solidFill>
              </a:rPr>
              <a:t>Sum the values of the products.</a:t>
            </a:r>
          </a:p>
          <a:p>
            <a:pPr marL="342900" indent="-342900">
              <a:buFont typeface="+mj-lt"/>
              <a:buAutoNum type="arabicPeriod"/>
            </a:pPr>
            <a:r>
              <a:rPr lang="en-US" sz="2400" dirty="0">
                <a:solidFill>
                  <a:schemeClr val="accent6">
                    <a:lumMod val="60000"/>
                    <a:lumOff val="40000"/>
                  </a:schemeClr>
                </a:solidFill>
              </a:rPr>
              <a:t>The resulting value corresponds to the first value (top-left corner) in the convoluted matrix.</a:t>
            </a:r>
          </a:p>
          <a:p>
            <a:pPr marL="342900" indent="-342900">
              <a:buFont typeface="+mj-lt"/>
              <a:buAutoNum type="arabicPeriod"/>
            </a:pPr>
            <a:r>
              <a:rPr lang="en-US" sz="2400" dirty="0">
                <a:solidFill>
                  <a:schemeClr val="accent6">
                    <a:lumMod val="60000"/>
                    <a:lumOff val="40000"/>
                  </a:schemeClr>
                </a:solidFill>
              </a:rPr>
              <a:t>Move the kernel down with respect to the size of the sliding window.</a:t>
            </a:r>
          </a:p>
          <a:p>
            <a:pPr marL="342900" indent="-342900">
              <a:buFont typeface="+mj-lt"/>
              <a:buAutoNum type="arabicPeriod"/>
            </a:pPr>
            <a:endParaRPr lang="en-US" sz="2400" dirty="0">
              <a:solidFill>
                <a:schemeClr val="accent6">
                  <a:lumMod val="60000"/>
                  <a:lumOff val="40000"/>
                </a:schemeClr>
              </a:solidFill>
            </a:endParaRPr>
          </a:p>
          <a:p>
            <a:r>
              <a:rPr lang="en-US" sz="2400" dirty="0">
                <a:solidFill>
                  <a:schemeClr val="accent6">
                    <a:lumMod val="60000"/>
                    <a:lumOff val="40000"/>
                  </a:schemeClr>
                </a:solidFill>
              </a:rPr>
              <a:t>Repeat steps 1 to 5 until the image matrix is fully covered.</a:t>
            </a:r>
          </a:p>
        </p:txBody>
      </p:sp>
      <p:graphicFrame>
        <p:nvGraphicFramePr>
          <p:cNvPr id="8" name="Table 7"/>
          <p:cNvGraphicFramePr>
            <a:graphicFrameLocks noGrp="1"/>
          </p:cNvGraphicFramePr>
          <p:nvPr>
            <p:extLst>
              <p:ext uri="{D42A27DB-BD31-4B8C-83A1-F6EECF244321}">
                <p14:modId xmlns:p14="http://schemas.microsoft.com/office/powerpoint/2010/main" val="2230906952"/>
              </p:ext>
            </p:extLst>
          </p:nvPr>
        </p:nvGraphicFramePr>
        <p:xfrm>
          <a:off x="6208776" y="2991772"/>
          <a:ext cx="1706516" cy="1645948"/>
        </p:xfrm>
        <a:graphic>
          <a:graphicData uri="http://schemas.openxmlformats.org/drawingml/2006/table">
            <a:tbl>
              <a:tblPr firstRow="1" bandRow="1">
                <a:tableStyleId>{5C22544A-7EE6-4342-B048-85BDC9FD1C3A}</a:tableStyleId>
              </a:tblPr>
              <a:tblGrid>
                <a:gridCol w="426629">
                  <a:extLst>
                    <a:ext uri="{9D8B030D-6E8A-4147-A177-3AD203B41FA5}">
                      <a16:colId xmlns:a16="http://schemas.microsoft.com/office/drawing/2014/main" val="1389518616"/>
                    </a:ext>
                  </a:extLst>
                </a:gridCol>
                <a:gridCol w="426629">
                  <a:extLst>
                    <a:ext uri="{9D8B030D-6E8A-4147-A177-3AD203B41FA5}">
                      <a16:colId xmlns:a16="http://schemas.microsoft.com/office/drawing/2014/main" val="1459470418"/>
                    </a:ext>
                  </a:extLst>
                </a:gridCol>
                <a:gridCol w="426629">
                  <a:extLst>
                    <a:ext uri="{9D8B030D-6E8A-4147-A177-3AD203B41FA5}">
                      <a16:colId xmlns:a16="http://schemas.microsoft.com/office/drawing/2014/main" val="2958559927"/>
                    </a:ext>
                  </a:extLst>
                </a:gridCol>
                <a:gridCol w="426629">
                  <a:extLst>
                    <a:ext uri="{9D8B030D-6E8A-4147-A177-3AD203B41FA5}">
                      <a16:colId xmlns:a16="http://schemas.microsoft.com/office/drawing/2014/main" val="2057754161"/>
                    </a:ext>
                  </a:extLst>
                </a:gridCol>
              </a:tblGrid>
              <a:tr h="411487">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884835"/>
                  </a:ext>
                </a:extLst>
              </a:tr>
              <a:tr h="411487">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9202877"/>
                  </a:ext>
                </a:extLst>
              </a:tr>
              <a:tr h="411487">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2148794"/>
                  </a:ext>
                </a:extLst>
              </a:tr>
              <a:tr h="411487">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6644913"/>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433474630"/>
              </p:ext>
            </p:extLst>
          </p:nvPr>
        </p:nvGraphicFramePr>
        <p:xfrm>
          <a:off x="8843940" y="3089708"/>
          <a:ext cx="1428750" cy="1217865"/>
        </p:xfrm>
        <a:graphic>
          <a:graphicData uri="http://schemas.openxmlformats.org/drawingml/2006/table">
            <a:tbl>
              <a:tblPr firstRow="1" bandRow="1">
                <a:tableStyleId>{5C22544A-7EE6-4342-B048-85BDC9FD1C3A}</a:tableStyleId>
              </a:tblPr>
              <a:tblGrid>
                <a:gridCol w="476250">
                  <a:extLst>
                    <a:ext uri="{9D8B030D-6E8A-4147-A177-3AD203B41FA5}">
                      <a16:colId xmlns:a16="http://schemas.microsoft.com/office/drawing/2014/main" val="2688234979"/>
                    </a:ext>
                  </a:extLst>
                </a:gridCol>
                <a:gridCol w="476250">
                  <a:extLst>
                    <a:ext uri="{9D8B030D-6E8A-4147-A177-3AD203B41FA5}">
                      <a16:colId xmlns:a16="http://schemas.microsoft.com/office/drawing/2014/main" val="204007461"/>
                    </a:ext>
                  </a:extLst>
                </a:gridCol>
                <a:gridCol w="476250">
                  <a:extLst>
                    <a:ext uri="{9D8B030D-6E8A-4147-A177-3AD203B41FA5}">
                      <a16:colId xmlns:a16="http://schemas.microsoft.com/office/drawing/2014/main" val="3220544073"/>
                    </a:ext>
                  </a:extLst>
                </a:gridCol>
              </a:tblGrid>
              <a:tr h="40595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294125"/>
                  </a:ext>
                </a:extLst>
              </a:tr>
              <a:tr h="40595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4496929"/>
                  </a:ext>
                </a:extLst>
              </a:tr>
              <a:tr h="40595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9163455"/>
                  </a:ext>
                </a:extLst>
              </a:tr>
            </a:tbl>
          </a:graphicData>
        </a:graphic>
      </p:graphicFrame>
      <p:graphicFrame>
        <p:nvGraphicFramePr>
          <p:cNvPr id="10" name="Table 9"/>
          <p:cNvGraphicFramePr>
            <a:graphicFrameLocks noGrp="1"/>
          </p:cNvGraphicFramePr>
          <p:nvPr/>
        </p:nvGraphicFramePr>
        <p:xfrm>
          <a:off x="11044234" y="3428997"/>
          <a:ext cx="885820" cy="731520"/>
        </p:xfrm>
        <a:graphic>
          <a:graphicData uri="http://schemas.openxmlformats.org/drawingml/2006/table">
            <a:tbl>
              <a:tblPr firstRow="1" bandRow="1">
                <a:tableStyleId>{5C22544A-7EE6-4342-B048-85BDC9FD1C3A}</a:tableStyleId>
              </a:tblPr>
              <a:tblGrid>
                <a:gridCol w="442910">
                  <a:extLst>
                    <a:ext uri="{9D8B030D-6E8A-4147-A177-3AD203B41FA5}">
                      <a16:colId xmlns:a16="http://schemas.microsoft.com/office/drawing/2014/main" val="91243122"/>
                    </a:ext>
                  </a:extLst>
                </a:gridCol>
                <a:gridCol w="442910">
                  <a:extLst>
                    <a:ext uri="{9D8B030D-6E8A-4147-A177-3AD203B41FA5}">
                      <a16:colId xmlns:a16="http://schemas.microsoft.com/office/drawing/2014/main" val="1364105988"/>
                    </a:ext>
                  </a:extLst>
                </a:gridCol>
              </a:tblGrid>
              <a:tr h="301466">
                <a:tc>
                  <a:txBody>
                    <a:bodyPr/>
                    <a:lstStyle/>
                    <a:p>
                      <a:r>
                        <a:rPr lang="en-US"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2192730"/>
                  </a:ext>
                </a:extLst>
              </a:tr>
              <a:tr h="301466">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50524"/>
                  </a:ext>
                </a:extLst>
              </a:tr>
            </a:tbl>
          </a:graphicData>
        </a:graphic>
      </p:graphicFrame>
      <p:sp>
        <p:nvSpPr>
          <p:cNvPr id="11" name="Flowchart: Summing Junction 10"/>
          <p:cNvSpPr/>
          <p:nvPr/>
        </p:nvSpPr>
        <p:spPr>
          <a:xfrm>
            <a:off x="8201897" y="3469007"/>
            <a:ext cx="414346" cy="377194"/>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2" name="Right Arrow 11"/>
          <p:cNvSpPr/>
          <p:nvPr/>
        </p:nvSpPr>
        <p:spPr>
          <a:xfrm>
            <a:off x="10329869" y="3657604"/>
            <a:ext cx="51435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3" name="TextBox 12"/>
          <p:cNvSpPr txBox="1"/>
          <p:nvPr/>
        </p:nvSpPr>
        <p:spPr>
          <a:xfrm>
            <a:off x="7519800" y="5010341"/>
            <a:ext cx="2969083" cy="1569660"/>
          </a:xfrm>
          <a:prstGeom prst="rect">
            <a:avLst/>
          </a:prstGeom>
          <a:noFill/>
        </p:spPr>
        <p:txBody>
          <a:bodyPr wrap="none" rtlCol="0">
            <a:spAutoFit/>
          </a:bodyPr>
          <a:lstStyle/>
          <a:p>
            <a:r>
              <a:rPr lang="en-US" sz="2400" dirty="0">
                <a:solidFill>
                  <a:schemeClr val="accent6">
                    <a:lumMod val="60000"/>
                    <a:lumOff val="40000"/>
                  </a:schemeClr>
                </a:solidFill>
              </a:rPr>
              <a:t>1 x 1 +  2 x 0 +  3 x -1 +</a:t>
            </a:r>
          </a:p>
          <a:p>
            <a:r>
              <a:rPr lang="en-US" sz="2400" dirty="0">
                <a:solidFill>
                  <a:schemeClr val="accent6">
                    <a:lumMod val="60000"/>
                    <a:lumOff val="40000"/>
                  </a:schemeClr>
                </a:solidFill>
              </a:rPr>
              <a:t>4 x 1 +  2 x 0 +  0 x -1 +</a:t>
            </a:r>
          </a:p>
          <a:p>
            <a:r>
              <a:rPr lang="en-US" sz="2400" dirty="0">
                <a:solidFill>
                  <a:schemeClr val="accent6">
                    <a:lumMod val="60000"/>
                    <a:lumOff val="40000"/>
                  </a:schemeClr>
                </a:solidFill>
              </a:rPr>
              <a:t>9 x 1 +  5 x 0 +  0 x -1 </a:t>
            </a:r>
          </a:p>
          <a:p>
            <a:r>
              <a:rPr lang="en-US" sz="2400" dirty="0">
                <a:solidFill>
                  <a:schemeClr val="accent6">
                    <a:lumMod val="60000"/>
                    <a:lumOff val="40000"/>
                  </a:schemeClr>
                </a:solidFill>
              </a:rPr>
              <a:t>= 11</a:t>
            </a:r>
          </a:p>
        </p:txBody>
      </p:sp>
      <p:sp>
        <p:nvSpPr>
          <p:cNvPr id="3" name="TextBox 2">
            <a:extLst>
              <a:ext uri="{FF2B5EF4-FFF2-40B4-BE49-F238E27FC236}">
                <a16:creationId xmlns:a16="http://schemas.microsoft.com/office/drawing/2014/main" id="{55142AD4-1105-83CD-AF88-1E87E6385D43}"/>
              </a:ext>
            </a:extLst>
          </p:cNvPr>
          <p:cNvSpPr txBox="1"/>
          <p:nvPr/>
        </p:nvSpPr>
        <p:spPr>
          <a:xfrm>
            <a:off x="6702950" y="2323373"/>
            <a:ext cx="960391" cy="461665"/>
          </a:xfrm>
          <a:prstGeom prst="rect">
            <a:avLst/>
          </a:prstGeom>
          <a:noFill/>
        </p:spPr>
        <p:txBody>
          <a:bodyPr wrap="none" rtlCol="0">
            <a:spAutoFit/>
          </a:bodyPr>
          <a:lstStyle/>
          <a:p>
            <a:r>
              <a:rPr lang="en-US" sz="2400" b="1" dirty="0">
                <a:solidFill>
                  <a:schemeClr val="accent6">
                    <a:lumMod val="60000"/>
                    <a:lumOff val="40000"/>
                  </a:schemeClr>
                </a:solidFill>
              </a:rPr>
              <a:t>image</a:t>
            </a:r>
            <a:endParaRPr lang="en-IN" sz="2400" b="1" dirty="0">
              <a:solidFill>
                <a:schemeClr val="accent6">
                  <a:lumMod val="60000"/>
                  <a:lumOff val="40000"/>
                </a:schemeClr>
              </a:solidFill>
            </a:endParaRPr>
          </a:p>
        </p:txBody>
      </p:sp>
      <p:sp>
        <p:nvSpPr>
          <p:cNvPr id="5" name="TextBox 4">
            <a:extLst>
              <a:ext uri="{FF2B5EF4-FFF2-40B4-BE49-F238E27FC236}">
                <a16:creationId xmlns:a16="http://schemas.microsoft.com/office/drawing/2014/main" id="{20B4FDC6-C66C-F257-C72A-8AFEC7DF2225}"/>
              </a:ext>
            </a:extLst>
          </p:cNvPr>
          <p:cNvSpPr txBox="1"/>
          <p:nvPr/>
        </p:nvSpPr>
        <p:spPr>
          <a:xfrm>
            <a:off x="8984974" y="2530107"/>
            <a:ext cx="984180" cy="461665"/>
          </a:xfrm>
          <a:prstGeom prst="rect">
            <a:avLst/>
          </a:prstGeom>
          <a:noFill/>
        </p:spPr>
        <p:txBody>
          <a:bodyPr wrap="none" rtlCol="0">
            <a:spAutoFit/>
          </a:bodyPr>
          <a:lstStyle/>
          <a:p>
            <a:r>
              <a:rPr lang="en-US" sz="2400" b="1" dirty="0">
                <a:solidFill>
                  <a:schemeClr val="accent6">
                    <a:lumMod val="60000"/>
                    <a:lumOff val="40000"/>
                  </a:schemeClr>
                </a:solidFill>
              </a:rPr>
              <a:t>kernel</a:t>
            </a:r>
            <a:endParaRPr lang="en-IN" sz="2400" b="1" dirty="0">
              <a:solidFill>
                <a:schemeClr val="accent6">
                  <a:lumMod val="60000"/>
                  <a:lumOff val="40000"/>
                </a:schemeClr>
              </a:solidFill>
            </a:endParaRPr>
          </a:p>
        </p:txBody>
      </p:sp>
      <p:sp>
        <p:nvSpPr>
          <p:cNvPr id="16" name="TextBox 15">
            <a:extLst>
              <a:ext uri="{FF2B5EF4-FFF2-40B4-BE49-F238E27FC236}">
                <a16:creationId xmlns:a16="http://schemas.microsoft.com/office/drawing/2014/main" id="{8A7C717E-14A5-C38C-CF20-6ABD78C66C86}"/>
              </a:ext>
            </a:extLst>
          </p:cNvPr>
          <p:cNvSpPr txBox="1"/>
          <p:nvPr/>
        </p:nvSpPr>
        <p:spPr>
          <a:xfrm>
            <a:off x="306324" y="62222"/>
            <a:ext cx="6190488" cy="461665"/>
          </a:xfrm>
          <a:prstGeom prst="rect">
            <a:avLst/>
          </a:prstGeom>
          <a:noFill/>
        </p:spPr>
        <p:txBody>
          <a:bodyPr wrap="square">
            <a:spAutoFit/>
          </a:bodyPr>
          <a:lstStyle/>
          <a:p>
            <a:r>
              <a:rPr lang="en-US" sz="2400" b="1" dirty="0">
                <a:solidFill>
                  <a:schemeClr val="accent6">
                    <a:lumMod val="60000"/>
                    <a:lumOff val="40000"/>
                  </a:schemeClr>
                </a:solidFill>
              </a:rPr>
              <a:t>Convolution layers</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60468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80982" y="388613"/>
          <a:ext cx="1476380" cy="1463040"/>
        </p:xfrm>
        <a:graphic>
          <a:graphicData uri="http://schemas.openxmlformats.org/drawingml/2006/table">
            <a:tbl>
              <a:tblPr firstRow="1" bandRow="1">
                <a:tableStyleId>{5C22544A-7EE6-4342-B048-85BDC9FD1C3A}</a:tableStyleId>
              </a:tblPr>
              <a:tblGrid>
                <a:gridCol w="369095">
                  <a:extLst>
                    <a:ext uri="{9D8B030D-6E8A-4147-A177-3AD203B41FA5}">
                      <a16:colId xmlns:a16="http://schemas.microsoft.com/office/drawing/2014/main" val="1389518616"/>
                    </a:ext>
                  </a:extLst>
                </a:gridCol>
                <a:gridCol w="369095">
                  <a:extLst>
                    <a:ext uri="{9D8B030D-6E8A-4147-A177-3AD203B41FA5}">
                      <a16:colId xmlns:a16="http://schemas.microsoft.com/office/drawing/2014/main" val="1459470418"/>
                    </a:ext>
                  </a:extLst>
                </a:gridCol>
                <a:gridCol w="369095">
                  <a:extLst>
                    <a:ext uri="{9D8B030D-6E8A-4147-A177-3AD203B41FA5}">
                      <a16:colId xmlns:a16="http://schemas.microsoft.com/office/drawing/2014/main" val="2958559927"/>
                    </a:ext>
                  </a:extLst>
                </a:gridCol>
                <a:gridCol w="369095">
                  <a:extLst>
                    <a:ext uri="{9D8B030D-6E8A-4147-A177-3AD203B41FA5}">
                      <a16:colId xmlns:a16="http://schemas.microsoft.com/office/drawing/2014/main" val="2057754161"/>
                    </a:ext>
                  </a:extLst>
                </a:gridCol>
              </a:tblGrid>
              <a:tr h="34504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884835"/>
                  </a:ext>
                </a:extLst>
              </a:tr>
              <a:tr h="345045">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9202877"/>
                  </a:ext>
                </a:extLst>
              </a:tr>
              <a:tr h="345045">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2148794"/>
                  </a:ext>
                </a:extLst>
              </a:tr>
              <a:tr h="345045">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6644913"/>
                  </a:ext>
                </a:extLst>
              </a:tr>
            </a:tbl>
          </a:graphicData>
        </a:graphic>
      </p:graphicFrame>
      <p:graphicFrame>
        <p:nvGraphicFramePr>
          <p:cNvPr id="5" name="Table 4"/>
          <p:cNvGraphicFramePr>
            <a:graphicFrameLocks noGrp="1"/>
          </p:cNvGraphicFramePr>
          <p:nvPr/>
        </p:nvGraphicFramePr>
        <p:xfrm>
          <a:off x="2657456" y="571496"/>
          <a:ext cx="1343034" cy="1097280"/>
        </p:xfrm>
        <a:graphic>
          <a:graphicData uri="http://schemas.openxmlformats.org/drawingml/2006/table">
            <a:tbl>
              <a:tblPr firstRow="1" bandRow="1">
                <a:tableStyleId>{5C22544A-7EE6-4342-B048-85BDC9FD1C3A}</a:tableStyleId>
              </a:tblPr>
              <a:tblGrid>
                <a:gridCol w="447678">
                  <a:extLst>
                    <a:ext uri="{9D8B030D-6E8A-4147-A177-3AD203B41FA5}">
                      <a16:colId xmlns:a16="http://schemas.microsoft.com/office/drawing/2014/main" val="2688234979"/>
                    </a:ext>
                  </a:extLst>
                </a:gridCol>
                <a:gridCol w="447678">
                  <a:extLst>
                    <a:ext uri="{9D8B030D-6E8A-4147-A177-3AD203B41FA5}">
                      <a16:colId xmlns:a16="http://schemas.microsoft.com/office/drawing/2014/main" val="204007461"/>
                    </a:ext>
                  </a:extLst>
                </a:gridCol>
                <a:gridCol w="447678">
                  <a:extLst>
                    <a:ext uri="{9D8B030D-6E8A-4147-A177-3AD203B41FA5}">
                      <a16:colId xmlns:a16="http://schemas.microsoft.com/office/drawing/2014/main" val="3220544073"/>
                    </a:ext>
                  </a:extLst>
                </a:gridCol>
              </a:tblGrid>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294125"/>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4496929"/>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9163455"/>
                  </a:ext>
                </a:extLst>
              </a:tr>
            </a:tbl>
          </a:graphicData>
        </a:graphic>
      </p:graphicFrame>
      <p:graphicFrame>
        <p:nvGraphicFramePr>
          <p:cNvPr id="6" name="Table 5"/>
          <p:cNvGraphicFramePr>
            <a:graphicFrameLocks noGrp="1"/>
          </p:cNvGraphicFramePr>
          <p:nvPr/>
        </p:nvGraphicFramePr>
        <p:xfrm>
          <a:off x="4886306" y="642931"/>
          <a:ext cx="885820" cy="731520"/>
        </p:xfrm>
        <a:graphic>
          <a:graphicData uri="http://schemas.openxmlformats.org/drawingml/2006/table">
            <a:tbl>
              <a:tblPr firstRow="1" bandRow="1">
                <a:tableStyleId>{5C22544A-7EE6-4342-B048-85BDC9FD1C3A}</a:tableStyleId>
              </a:tblPr>
              <a:tblGrid>
                <a:gridCol w="442910">
                  <a:extLst>
                    <a:ext uri="{9D8B030D-6E8A-4147-A177-3AD203B41FA5}">
                      <a16:colId xmlns:a16="http://schemas.microsoft.com/office/drawing/2014/main" val="91243122"/>
                    </a:ext>
                  </a:extLst>
                </a:gridCol>
                <a:gridCol w="442910">
                  <a:extLst>
                    <a:ext uri="{9D8B030D-6E8A-4147-A177-3AD203B41FA5}">
                      <a16:colId xmlns:a16="http://schemas.microsoft.com/office/drawing/2014/main" val="1364105988"/>
                    </a:ext>
                  </a:extLst>
                </a:gridCol>
              </a:tblGrid>
              <a:tr h="301466">
                <a:tc>
                  <a:txBody>
                    <a:bodyPr/>
                    <a:lstStyle/>
                    <a:p>
                      <a:r>
                        <a:rPr lang="en-US"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2192730"/>
                  </a:ext>
                </a:extLst>
              </a:tr>
              <a:tr h="301466">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50524"/>
                  </a:ext>
                </a:extLst>
              </a:tr>
            </a:tbl>
          </a:graphicData>
        </a:graphic>
      </p:graphicFrame>
      <p:sp>
        <p:nvSpPr>
          <p:cNvPr id="7" name="TextBox 6"/>
          <p:cNvSpPr txBox="1"/>
          <p:nvPr/>
        </p:nvSpPr>
        <p:spPr>
          <a:xfrm>
            <a:off x="7058020" y="671502"/>
            <a:ext cx="2417650" cy="1015663"/>
          </a:xfrm>
          <a:prstGeom prst="rect">
            <a:avLst/>
          </a:prstGeom>
          <a:noFill/>
        </p:spPr>
        <p:txBody>
          <a:bodyPr wrap="none" rtlCol="0">
            <a:spAutoFit/>
          </a:bodyPr>
          <a:lstStyle/>
          <a:p>
            <a:r>
              <a:rPr lang="en-US" sz="2000" dirty="0">
                <a:solidFill>
                  <a:schemeClr val="accent6">
                    <a:lumMod val="60000"/>
                    <a:lumOff val="40000"/>
                  </a:schemeClr>
                </a:solidFill>
              </a:rPr>
              <a:t>1*1 + 2*0 + 3*-1 +</a:t>
            </a:r>
          </a:p>
          <a:p>
            <a:r>
              <a:rPr lang="en-US" sz="2000" dirty="0">
                <a:solidFill>
                  <a:schemeClr val="accent6">
                    <a:lumMod val="60000"/>
                    <a:lumOff val="40000"/>
                  </a:schemeClr>
                </a:solidFill>
              </a:rPr>
              <a:t>4*1 + 2*0 + 0*-1 +</a:t>
            </a:r>
          </a:p>
          <a:p>
            <a:r>
              <a:rPr lang="en-US" sz="2000" dirty="0">
                <a:solidFill>
                  <a:schemeClr val="accent6">
                    <a:lumMod val="60000"/>
                    <a:lumOff val="40000"/>
                  </a:schemeClr>
                </a:solidFill>
              </a:rPr>
              <a:t>9*1 + 5*0 + 0*-1 = 11</a:t>
            </a:r>
          </a:p>
        </p:txBody>
      </p:sp>
      <p:graphicFrame>
        <p:nvGraphicFramePr>
          <p:cNvPr id="8" name="Table 7"/>
          <p:cNvGraphicFramePr>
            <a:graphicFrameLocks noGrp="1"/>
          </p:cNvGraphicFramePr>
          <p:nvPr/>
        </p:nvGraphicFramePr>
        <p:xfrm>
          <a:off x="280984" y="2018333"/>
          <a:ext cx="1476380" cy="1463040"/>
        </p:xfrm>
        <a:graphic>
          <a:graphicData uri="http://schemas.openxmlformats.org/drawingml/2006/table">
            <a:tbl>
              <a:tblPr firstRow="1" bandRow="1">
                <a:tableStyleId>{5C22544A-7EE6-4342-B048-85BDC9FD1C3A}</a:tableStyleId>
              </a:tblPr>
              <a:tblGrid>
                <a:gridCol w="369095">
                  <a:extLst>
                    <a:ext uri="{9D8B030D-6E8A-4147-A177-3AD203B41FA5}">
                      <a16:colId xmlns:a16="http://schemas.microsoft.com/office/drawing/2014/main" val="1389518616"/>
                    </a:ext>
                  </a:extLst>
                </a:gridCol>
                <a:gridCol w="369095">
                  <a:extLst>
                    <a:ext uri="{9D8B030D-6E8A-4147-A177-3AD203B41FA5}">
                      <a16:colId xmlns:a16="http://schemas.microsoft.com/office/drawing/2014/main" val="1459470418"/>
                    </a:ext>
                  </a:extLst>
                </a:gridCol>
                <a:gridCol w="369095">
                  <a:extLst>
                    <a:ext uri="{9D8B030D-6E8A-4147-A177-3AD203B41FA5}">
                      <a16:colId xmlns:a16="http://schemas.microsoft.com/office/drawing/2014/main" val="2958559927"/>
                    </a:ext>
                  </a:extLst>
                </a:gridCol>
                <a:gridCol w="369095">
                  <a:extLst>
                    <a:ext uri="{9D8B030D-6E8A-4147-A177-3AD203B41FA5}">
                      <a16:colId xmlns:a16="http://schemas.microsoft.com/office/drawing/2014/main" val="2057754161"/>
                    </a:ext>
                  </a:extLst>
                </a:gridCol>
              </a:tblGrid>
              <a:tr h="321561">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4047884835"/>
                  </a:ext>
                </a:extLst>
              </a:tr>
              <a:tr h="321561">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4249202877"/>
                  </a:ext>
                </a:extLst>
              </a:tr>
              <a:tr h="321561">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22148794"/>
                  </a:ext>
                </a:extLst>
              </a:tr>
              <a:tr h="321561">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6644913"/>
                  </a:ext>
                </a:extLst>
              </a:tr>
            </a:tbl>
          </a:graphicData>
        </a:graphic>
      </p:graphicFrame>
      <p:graphicFrame>
        <p:nvGraphicFramePr>
          <p:cNvPr id="9" name="Table 8"/>
          <p:cNvGraphicFramePr>
            <a:graphicFrameLocks noGrp="1"/>
          </p:cNvGraphicFramePr>
          <p:nvPr/>
        </p:nvGraphicFramePr>
        <p:xfrm>
          <a:off x="2666979" y="2281227"/>
          <a:ext cx="1343034" cy="1097280"/>
        </p:xfrm>
        <a:graphic>
          <a:graphicData uri="http://schemas.openxmlformats.org/drawingml/2006/table">
            <a:tbl>
              <a:tblPr firstRow="1" bandRow="1">
                <a:tableStyleId>{5C22544A-7EE6-4342-B048-85BDC9FD1C3A}</a:tableStyleId>
              </a:tblPr>
              <a:tblGrid>
                <a:gridCol w="447678">
                  <a:extLst>
                    <a:ext uri="{9D8B030D-6E8A-4147-A177-3AD203B41FA5}">
                      <a16:colId xmlns:a16="http://schemas.microsoft.com/office/drawing/2014/main" val="2688234979"/>
                    </a:ext>
                  </a:extLst>
                </a:gridCol>
                <a:gridCol w="447678">
                  <a:extLst>
                    <a:ext uri="{9D8B030D-6E8A-4147-A177-3AD203B41FA5}">
                      <a16:colId xmlns:a16="http://schemas.microsoft.com/office/drawing/2014/main" val="204007461"/>
                    </a:ext>
                  </a:extLst>
                </a:gridCol>
                <a:gridCol w="447678">
                  <a:extLst>
                    <a:ext uri="{9D8B030D-6E8A-4147-A177-3AD203B41FA5}">
                      <a16:colId xmlns:a16="http://schemas.microsoft.com/office/drawing/2014/main" val="3220544073"/>
                    </a:ext>
                  </a:extLst>
                </a:gridCol>
              </a:tblGrid>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294125"/>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4496929"/>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9163455"/>
                  </a:ext>
                </a:extLst>
              </a:tr>
            </a:tbl>
          </a:graphicData>
        </a:graphic>
      </p:graphicFrame>
      <p:sp>
        <p:nvSpPr>
          <p:cNvPr id="11" name="TextBox 10"/>
          <p:cNvSpPr txBox="1"/>
          <p:nvPr/>
        </p:nvSpPr>
        <p:spPr>
          <a:xfrm>
            <a:off x="6924670" y="2381248"/>
            <a:ext cx="2366353" cy="1015663"/>
          </a:xfrm>
          <a:prstGeom prst="rect">
            <a:avLst/>
          </a:prstGeom>
          <a:noFill/>
        </p:spPr>
        <p:txBody>
          <a:bodyPr wrap="none" rtlCol="0">
            <a:spAutoFit/>
          </a:bodyPr>
          <a:lstStyle/>
          <a:p>
            <a:r>
              <a:rPr lang="en-US" sz="2000" dirty="0">
                <a:solidFill>
                  <a:schemeClr val="accent6">
                    <a:lumMod val="60000"/>
                    <a:lumOff val="40000"/>
                  </a:schemeClr>
                </a:solidFill>
              </a:rPr>
              <a:t>2*1 + 3*0 + 7*-1 +</a:t>
            </a:r>
          </a:p>
          <a:p>
            <a:r>
              <a:rPr lang="en-US" sz="2000" dirty="0">
                <a:solidFill>
                  <a:schemeClr val="accent6">
                    <a:lumMod val="60000"/>
                    <a:lumOff val="40000"/>
                  </a:schemeClr>
                </a:solidFill>
              </a:rPr>
              <a:t>2*1 + 0*0 + 2*-1 +</a:t>
            </a:r>
          </a:p>
          <a:p>
            <a:r>
              <a:rPr lang="en-US" sz="2000" dirty="0">
                <a:solidFill>
                  <a:schemeClr val="accent6">
                    <a:lumMod val="60000"/>
                    <a:lumOff val="40000"/>
                  </a:schemeClr>
                </a:solidFill>
              </a:rPr>
              <a:t>5*1 + 0*0 + 8*-1 = -8</a:t>
            </a:r>
          </a:p>
        </p:txBody>
      </p:sp>
      <p:sp>
        <p:nvSpPr>
          <p:cNvPr id="12" name="Flowchart: Summing Junction 11"/>
          <p:cNvSpPr/>
          <p:nvPr/>
        </p:nvSpPr>
        <p:spPr>
          <a:xfrm>
            <a:off x="2085975" y="871538"/>
            <a:ext cx="285750" cy="285750"/>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3" name="Flowchart: Summing Junction 12"/>
          <p:cNvSpPr/>
          <p:nvPr/>
        </p:nvSpPr>
        <p:spPr>
          <a:xfrm>
            <a:off x="2095498" y="2538422"/>
            <a:ext cx="285750" cy="285750"/>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4" name="Right Arrow 13"/>
          <p:cNvSpPr/>
          <p:nvPr/>
        </p:nvSpPr>
        <p:spPr>
          <a:xfrm>
            <a:off x="4171941" y="871538"/>
            <a:ext cx="51435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5" name="Right Arrow 14"/>
          <p:cNvSpPr/>
          <p:nvPr/>
        </p:nvSpPr>
        <p:spPr>
          <a:xfrm>
            <a:off x="4224325" y="2609862"/>
            <a:ext cx="51435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graphicFrame>
        <p:nvGraphicFramePr>
          <p:cNvPr id="17" name="Table 16"/>
          <p:cNvGraphicFramePr>
            <a:graphicFrameLocks noGrp="1"/>
          </p:cNvGraphicFramePr>
          <p:nvPr/>
        </p:nvGraphicFramePr>
        <p:xfrm>
          <a:off x="2624120" y="3952875"/>
          <a:ext cx="1343034" cy="1097280"/>
        </p:xfrm>
        <a:graphic>
          <a:graphicData uri="http://schemas.openxmlformats.org/drawingml/2006/table">
            <a:tbl>
              <a:tblPr firstRow="1" bandRow="1">
                <a:tableStyleId>{5C22544A-7EE6-4342-B048-85BDC9FD1C3A}</a:tableStyleId>
              </a:tblPr>
              <a:tblGrid>
                <a:gridCol w="447678">
                  <a:extLst>
                    <a:ext uri="{9D8B030D-6E8A-4147-A177-3AD203B41FA5}">
                      <a16:colId xmlns:a16="http://schemas.microsoft.com/office/drawing/2014/main" val="2688234979"/>
                    </a:ext>
                  </a:extLst>
                </a:gridCol>
                <a:gridCol w="447678">
                  <a:extLst>
                    <a:ext uri="{9D8B030D-6E8A-4147-A177-3AD203B41FA5}">
                      <a16:colId xmlns:a16="http://schemas.microsoft.com/office/drawing/2014/main" val="204007461"/>
                    </a:ext>
                  </a:extLst>
                </a:gridCol>
                <a:gridCol w="447678">
                  <a:extLst>
                    <a:ext uri="{9D8B030D-6E8A-4147-A177-3AD203B41FA5}">
                      <a16:colId xmlns:a16="http://schemas.microsoft.com/office/drawing/2014/main" val="3220544073"/>
                    </a:ext>
                  </a:extLst>
                </a:gridCol>
              </a:tblGrid>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294125"/>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4496929"/>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9163455"/>
                  </a:ext>
                </a:extLst>
              </a:tr>
            </a:tbl>
          </a:graphicData>
        </a:graphic>
      </p:graphicFrame>
      <p:sp>
        <p:nvSpPr>
          <p:cNvPr id="19" name="Flowchart: Summing Junction 18"/>
          <p:cNvSpPr/>
          <p:nvPr/>
        </p:nvSpPr>
        <p:spPr>
          <a:xfrm>
            <a:off x="2052639" y="4367220"/>
            <a:ext cx="285750" cy="285750"/>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20" name="Right Arrow 19"/>
          <p:cNvSpPr/>
          <p:nvPr/>
        </p:nvSpPr>
        <p:spPr>
          <a:xfrm>
            <a:off x="4138605" y="4367220"/>
            <a:ext cx="51435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graphicFrame>
        <p:nvGraphicFramePr>
          <p:cNvPr id="21" name="Table 20"/>
          <p:cNvGraphicFramePr>
            <a:graphicFrameLocks noGrp="1"/>
          </p:cNvGraphicFramePr>
          <p:nvPr/>
        </p:nvGraphicFramePr>
        <p:xfrm>
          <a:off x="233354" y="5298757"/>
          <a:ext cx="1476380" cy="1463040"/>
        </p:xfrm>
        <a:graphic>
          <a:graphicData uri="http://schemas.openxmlformats.org/drawingml/2006/table">
            <a:tbl>
              <a:tblPr firstRow="1" bandRow="1">
                <a:tableStyleId>{5C22544A-7EE6-4342-B048-85BDC9FD1C3A}</a:tableStyleId>
              </a:tblPr>
              <a:tblGrid>
                <a:gridCol w="369095">
                  <a:extLst>
                    <a:ext uri="{9D8B030D-6E8A-4147-A177-3AD203B41FA5}">
                      <a16:colId xmlns:a16="http://schemas.microsoft.com/office/drawing/2014/main" val="1389518616"/>
                    </a:ext>
                  </a:extLst>
                </a:gridCol>
                <a:gridCol w="369095">
                  <a:extLst>
                    <a:ext uri="{9D8B030D-6E8A-4147-A177-3AD203B41FA5}">
                      <a16:colId xmlns:a16="http://schemas.microsoft.com/office/drawing/2014/main" val="1459470418"/>
                    </a:ext>
                  </a:extLst>
                </a:gridCol>
                <a:gridCol w="369095">
                  <a:extLst>
                    <a:ext uri="{9D8B030D-6E8A-4147-A177-3AD203B41FA5}">
                      <a16:colId xmlns:a16="http://schemas.microsoft.com/office/drawing/2014/main" val="2958559927"/>
                    </a:ext>
                  </a:extLst>
                </a:gridCol>
                <a:gridCol w="369095">
                  <a:extLst>
                    <a:ext uri="{9D8B030D-6E8A-4147-A177-3AD203B41FA5}">
                      <a16:colId xmlns:a16="http://schemas.microsoft.com/office/drawing/2014/main" val="2057754161"/>
                    </a:ext>
                  </a:extLst>
                </a:gridCol>
              </a:tblGrid>
              <a:tr h="34504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884835"/>
                  </a:ext>
                </a:extLst>
              </a:tr>
              <a:tr h="345045">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49202877"/>
                  </a:ext>
                </a:extLst>
              </a:tr>
              <a:tr h="345045">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22148794"/>
                  </a:ext>
                </a:extLst>
              </a:tr>
              <a:tr h="345045">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76644913"/>
                  </a:ext>
                </a:extLst>
              </a:tr>
            </a:tbl>
          </a:graphicData>
        </a:graphic>
      </p:graphicFrame>
      <p:graphicFrame>
        <p:nvGraphicFramePr>
          <p:cNvPr id="22" name="Table 21"/>
          <p:cNvGraphicFramePr>
            <a:graphicFrameLocks noGrp="1"/>
          </p:cNvGraphicFramePr>
          <p:nvPr/>
        </p:nvGraphicFramePr>
        <p:xfrm>
          <a:off x="2552678" y="5581657"/>
          <a:ext cx="1343034" cy="1097280"/>
        </p:xfrm>
        <a:graphic>
          <a:graphicData uri="http://schemas.openxmlformats.org/drawingml/2006/table">
            <a:tbl>
              <a:tblPr firstRow="1" bandRow="1">
                <a:tableStyleId>{5C22544A-7EE6-4342-B048-85BDC9FD1C3A}</a:tableStyleId>
              </a:tblPr>
              <a:tblGrid>
                <a:gridCol w="447678">
                  <a:extLst>
                    <a:ext uri="{9D8B030D-6E8A-4147-A177-3AD203B41FA5}">
                      <a16:colId xmlns:a16="http://schemas.microsoft.com/office/drawing/2014/main" val="2688234979"/>
                    </a:ext>
                  </a:extLst>
                </a:gridCol>
                <a:gridCol w="447678">
                  <a:extLst>
                    <a:ext uri="{9D8B030D-6E8A-4147-A177-3AD203B41FA5}">
                      <a16:colId xmlns:a16="http://schemas.microsoft.com/office/drawing/2014/main" val="204007461"/>
                    </a:ext>
                  </a:extLst>
                </a:gridCol>
                <a:gridCol w="447678">
                  <a:extLst>
                    <a:ext uri="{9D8B030D-6E8A-4147-A177-3AD203B41FA5}">
                      <a16:colId xmlns:a16="http://schemas.microsoft.com/office/drawing/2014/main" val="3220544073"/>
                    </a:ext>
                  </a:extLst>
                </a:gridCol>
              </a:tblGrid>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294125"/>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4496929"/>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9163455"/>
                  </a:ext>
                </a:extLst>
              </a:tr>
            </a:tbl>
          </a:graphicData>
        </a:graphic>
      </p:graphicFrame>
      <p:sp>
        <p:nvSpPr>
          <p:cNvPr id="24" name="Flowchart: Summing Junction 23"/>
          <p:cNvSpPr/>
          <p:nvPr/>
        </p:nvSpPr>
        <p:spPr>
          <a:xfrm>
            <a:off x="2038347" y="5996002"/>
            <a:ext cx="285750" cy="285750"/>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25" name="Right Arrow 24"/>
          <p:cNvSpPr/>
          <p:nvPr/>
        </p:nvSpPr>
        <p:spPr>
          <a:xfrm>
            <a:off x="4124313" y="5996002"/>
            <a:ext cx="51435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graphicFrame>
        <p:nvGraphicFramePr>
          <p:cNvPr id="26" name="Table 25"/>
          <p:cNvGraphicFramePr>
            <a:graphicFrameLocks noGrp="1"/>
          </p:cNvGraphicFramePr>
          <p:nvPr/>
        </p:nvGraphicFramePr>
        <p:xfrm>
          <a:off x="276219" y="3641396"/>
          <a:ext cx="1476380" cy="1463040"/>
        </p:xfrm>
        <a:graphic>
          <a:graphicData uri="http://schemas.openxmlformats.org/drawingml/2006/table">
            <a:tbl>
              <a:tblPr firstRow="1" bandRow="1">
                <a:tableStyleId>{5C22544A-7EE6-4342-B048-85BDC9FD1C3A}</a:tableStyleId>
              </a:tblPr>
              <a:tblGrid>
                <a:gridCol w="369095">
                  <a:extLst>
                    <a:ext uri="{9D8B030D-6E8A-4147-A177-3AD203B41FA5}">
                      <a16:colId xmlns:a16="http://schemas.microsoft.com/office/drawing/2014/main" val="1389518616"/>
                    </a:ext>
                  </a:extLst>
                </a:gridCol>
                <a:gridCol w="369095">
                  <a:extLst>
                    <a:ext uri="{9D8B030D-6E8A-4147-A177-3AD203B41FA5}">
                      <a16:colId xmlns:a16="http://schemas.microsoft.com/office/drawing/2014/main" val="1459470418"/>
                    </a:ext>
                  </a:extLst>
                </a:gridCol>
                <a:gridCol w="369095">
                  <a:extLst>
                    <a:ext uri="{9D8B030D-6E8A-4147-A177-3AD203B41FA5}">
                      <a16:colId xmlns:a16="http://schemas.microsoft.com/office/drawing/2014/main" val="2958559927"/>
                    </a:ext>
                  </a:extLst>
                </a:gridCol>
                <a:gridCol w="369095">
                  <a:extLst>
                    <a:ext uri="{9D8B030D-6E8A-4147-A177-3AD203B41FA5}">
                      <a16:colId xmlns:a16="http://schemas.microsoft.com/office/drawing/2014/main" val="2057754161"/>
                    </a:ext>
                  </a:extLst>
                </a:gridCol>
              </a:tblGrid>
              <a:tr h="34504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884835"/>
                  </a:ext>
                </a:extLst>
              </a:tr>
              <a:tr h="345045">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9202877"/>
                  </a:ext>
                </a:extLst>
              </a:tr>
              <a:tr h="345045">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2148794"/>
                  </a:ext>
                </a:extLst>
              </a:tr>
              <a:tr h="345045">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6644913"/>
                  </a:ext>
                </a:extLst>
              </a:tr>
            </a:tbl>
          </a:graphicData>
        </a:graphic>
      </p:graphicFrame>
      <p:graphicFrame>
        <p:nvGraphicFramePr>
          <p:cNvPr id="27" name="Table 26"/>
          <p:cNvGraphicFramePr>
            <a:graphicFrameLocks noGrp="1"/>
          </p:cNvGraphicFramePr>
          <p:nvPr/>
        </p:nvGraphicFramePr>
        <p:xfrm>
          <a:off x="4852965" y="2452694"/>
          <a:ext cx="885820" cy="731520"/>
        </p:xfrm>
        <a:graphic>
          <a:graphicData uri="http://schemas.openxmlformats.org/drawingml/2006/table">
            <a:tbl>
              <a:tblPr firstRow="1" bandRow="1">
                <a:tableStyleId>{5C22544A-7EE6-4342-B048-85BDC9FD1C3A}</a:tableStyleId>
              </a:tblPr>
              <a:tblGrid>
                <a:gridCol w="442910">
                  <a:extLst>
                    <a:ext uri="{9D8B030D-6E8A-4147-A177-3AD203B41FA5}">
                      <a16:colId xmlns:a16="http://schemas.microsoft.com/office/drawing/2014/main" val="91243122"/>
                    </a:ext>
                  </a:extLst>
                </a:gridCol>
                <a:gridCol w="442910">
                  <a:extLst>
                    <a:ext uri="{9D8B030D-6E8A-4147-A177-3AD203B41FA5}">
                      <a16:colId xmlns:a16="http://schemas.microsoft.com/office/drawing/2014/main" val="1364105988"/>
                    </a:ext>
                  </a:extLst>
                </a:gridCol>
              </a:tblGrid>
              <a:tr h="301466">
                <a:tc>
                  <a:txBody>
                    <a:bodyPr/>
                    <a:lstStyle/>
                    <a:p>
                      <a:r>
                        <a:rPr lang="en-US"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192192730"/>
                  </a:ext>
                </a:extLst>
              </a:tr>
              <a:tr h="301466">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50524"/>
                  </a:ext>
                </a:extLst>
              </a:tr>
            </a:tbl>
          </a:graphicData>
        </a:graphic>
      </p:graphicFrame>
      <p:graphicFrame>
        <p:nvGraphicFramePr>
          <p:cNvPr id="28" name="Table 27"/>
          <p:cNvGraphicFramePr>
            <a:graphicFrameLocks noGrp="1"/>
          </p:cNvGraphicFramePr>
          <p:nvPr/>
        </p:nvGraphicFramePr>
        <p:xfrm>
          <a:off x="4848200" y="4191014"/>
          <a:ext cx="885820" cy="731520"/>
        </p:xfrm>
        <a:graphic>
          <a:graphicData uri="http://schemas.openxmlformats.org/drawingml/2006/table">
            <a:tbl>
              <a:tblPr firstRow="1" bandRow="1">
                <a:tableStyleId>{5C22544A-7EE6-4342-B048-85BDC9FD1C3A}</a:tableStyleId>
              </a:tblPr>
              <a:tblGrid>
                <a:gridCol w="442910">
                  <a:extLst>
                    <a:ext uri="{9D8B030D-6E8A-4147-A177-3AD203B41FA5}">
                      <a16:colId xmlns:a16="http://schemas.microsoft.com/office/drawing/2014/main" val="91243122"/>
                    </a:ext>
                  </a:extLst>
                </a:gridCol>
                <a:gridCol w="442910">
                  <a:extLst>
                    <a:ext uri="{9D8B030D-6E8A-4147-A177-3AD203B41FA5}">
                      <a16:colId xmlns:a16="http://schemas.microsoft.com/office/drawing/2014/main" val="1364105988"/>
                    </a:ext>
                  </a:extLst>
                </a:gridCol>
              </a:tblGrid>
              <a:tr h="301466">
                <a:tc>
                  <a:txBody>
                    <a:bodyPr/>
                    <a:lstStyle/>
                    <a:p>
                      <a:r>
                        <a:rPr lang="en-US"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192192730"/>
                  </a:ext>
                </a:extLst>
              </a:tr>
              <a:tr h="301466">
                <a:tc>
                  <a:txBody>
                    <a:bodyPr/>
                    <a:lstStyle/>
                    <a:p>
                      <a:r>
                        <a:rPr lang="en-US"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50524"/>
                  </a:ext>
                </a:extLst>
              </a:tr>
            </a:tbl>
          </a:graphicData>
        </a:graphic>
      </p:graphicFrame>
      <p:graphicFrame>
        <p:nvGraphicFramePr>
          <p:cNvPr id="29" name="Table 28"/>
          <p:cNvGraphicFramePr>
            <a:graphicFrameLocks noGrp="1"/>
          </p:cNvGraphicFramePr>
          <p:nvPr/>
        </p:nvGraphicFramePr>
        <p:xfrm>
          <a:off x="4914872" y="5786462"/>
          <a:ext cx="885820" cy="731520"/>
        </p:xfrm>
        <a:graphic>
          <a:graphicData uri="http://schemas.openxmlformats.org/drawingml/2006/table">
            <a:tbl>
              <a:tblPr firstRow="1" bandRow="1">
                <a:tableStyleId>{5C22544A-7EE6-4342-B048-85BDC9FD1C3A}</a:tableStyleId>
              </a:tblPr>
              <a:tblGrid>
                <a:gridCol w="442910">
                  <a:extLst>
                    <a:ext uri="{9D8B030D-6E8A-4147-A177-3AD203B41FA5}">
                      <a16:colId xmlns:a16="http://schemas.microsoft.com/office/drawing/2014/main" val="91243122"/>
                    </a:ext>
                  </a:extLst>
                </a:gridCol>
                <a:gridCol w="442910">
                  <a:extLst>
                    <a:ext uri="{9D8B030D-6E8A-4147-A177-3AD203B41FA5}">
                      <a16:colId xmlns:a16="http://schemas.microsoft.com/office/drawing/2014/main" val="1364105988"/>
                    </a:ext>
                  </a:extLst>
                </a:gridCol>
              </a:tblGrid>
              <a:tr h="301466">
                <a:tc>
                  <a:txBody>
                    <a:bodyPr/>
                    <a:lstStyle/>
                    <a:p>
                      <a:r>
                        <a:rPr lang="en-US"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192192730"/>
                  </a:ext>
                </a:extLst>
              </a:tr>
              <a:tr h="301466">
                <a:tc>
                  <a:txBody>
                    <a:bodyPr/>
                    <a:lstStyle/>
                    <a:p>
                      <a:r>
                        <a:rPr lang="en-US"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6350524"/>
                  </a:ext>
                </a:extLst>
              </a:tr>
            </a:tbl>
          </a:graphicData>
        </a:graphic>
      </p:graphicFrame>
      <p:sp>
        <p:nvSpPr>
          <p:cNvPr id="30" name="TextBox 29"/>
          <p:cNvSpPr txBox="1"/>
          <p:nvPr/>
        </p:nvSpPr>
        <p:spPr>
          <a:xfrm>
            <a:off x="200018" y="42860"/>
            <a:ext cx="1873911" cy="369332"/>
          </a:xfrm>
          <a:prstGeom prst="rect">
            <a:avLst/>
          </a:prstGeom>
          <a:noFill/>
        </p:spPr>
        <p:txBody>
          <a:bodyPr wrap="none" rtlCol="0">
            <a:spAutoFit/>
          </a:bodyPr>
          <a:lstStyle/>
          <a:p>
            <a:r>
              <a:rPr lang="en-US" dirty="0">
                <a:solidFill>
                  <a:schemeClr val="accent6">
                    <a:lumMod val="60000"/>
                    <a:lumOff val="40000"/>
                  </a:schemeClr>
                </a:solidFill>
              </a:rPr>
              <a:t>Input image(4X4)</a:t>
            </a:r>
          </a:p>
        </p:txBody>
      </p:sp>
      <p:sp>
        <p:nvSpPr>
          <p:cNvPr id="31" name="TextBox 30"/>
          <p:cNvSpPr txBox="1"/>
          <p:nvPr/>
        </p:nvSpPr>
        <p:spPr>
          <a:xfrm>
            <a:off x="2566993" y="66668"/>
            <a:ext cx="1281761" cy="369332"/>
          </a:xfrm>
          <a:prstGeom prst="rect">
            <a:avLst/>
          </a:prstGeom>
          <a:noFill/>
        </p:spPr>
        <p:txBody>
          <a:bodyPr wrap="none" rtlCol="0">
            <a:spAutoFit/>
          </a:bodyPr>
          <a:lstStyle/>
          <a:p>
            <a:r>
              <a:rPr lang="en-US" dirty="0">
                <a:solidFill>
                  <a:schemeClr val="accent6">
                    <a:lumMod val="60000"/>
                    <a:lumOff val="40000"/>
                  </a:schemeClr>
                </a:solidFill>
              </a:rPr>
              <a:t>Kernel(3X3)</a:t>
            </a:r>
          </a:p>
        </p:txBody>
      </p:sp>
      <p:sp>
        <p:nvSpPr>
          <p:cNvPr id="2" name="TextBox 1">
            <a:extLst>
              <a:ext uri="{FF2B5EF4-FFF2-40B4-BE49-F238E27FC236}">
                <a16:creationId xmlns:a16="http://schemas.microsoft.com/office/drawing/2014/main" id="{01140EF8-04DF-8C50-92D2-5CC0A3F1EA79}"/>
              </a:ext>
            </a:extLst>
          </p:cNvPr>
          <p:cNvSpPr txBox="1"/>
          <p:nvPr/>
        </p:nvSpPr>
        <p:spPr>
          <a:xfrm>
            <a:off x="7041671" y="4145138"/>
            <a:ext cx="2786147" cy="707886"/>
          </a:xfrm>
          <a:prstGeom prst="rect">
            <a:avLst/>
          </a:prstGeom>
          <a:noFill/>
        </p:spPr>
        <p:txBody>
          <a:bodyPr wrap="none" rtlCol="0">
            <a:spAutoFit/>
          </a:bodyPr>
          <a:lstStyle/>
          <a:p>
            <a:r>
              <a:rPr lang="en-US" sz="2000" dirty="0">
                <a:solidFill>
                  <a:schemeClr val="accent6">
                    <a:lumMod val="60000"/>
                    <a:lumOff val="40000"/>
                  </a:schemeClr>
                </a:solidFill>
              </a:rPr>
              <a:t>Assignment for students:</a:t>
            </a:r>
          </a:p>
          <a:p>
            <a:r>
              <a:rPr lang="en-US" sz="2000" dirty="0">
                <a:solidFill>
                  <a:schemeClr val="accent6">
                    <a:lumMod val="60000"/>
                    <a:lumOff val="40000"/>
                  </a:schemeClr>
                </a:solidFill>
              </a:rPr>
              <a:t>Finish this</a:t>
            </a:r>
          </a:p>
        </p:txBody>
      </p:sp>
      <p:sp>
        <p:nvSpPr>
          <p:cNvPr id="3" name="TextBox 2">
            <a:extLst>
              <a:ext uri="{FF2B5EF4-FFF2-40B4-BE49-F238E27FC236}">
                <a16:creationId xmlns:a16="http://schemas.microsoft.com/office/drawing/2014/main" id="{A455A0B1-4E91-99CC-7500-78B8F1463DF8}"/>
              </a:ext>
            </a:extLst>
          </p:cNvPr>
          <p:cNvSpPr txBox="1"/>
          <p:nvPr/>
        </p:nvSpPr>
        <p:spPr>
          <a:xfrm>
            <a:off x="7058020" y="5642059"/>
            <a:ext cx="2786147" cy="707886"/>
          </a:xfrm>
          <a:prstGeom prst="rect">
            <a:avLst/>
          </a:prstGeom>
          <a:noFill/>
        </p:spPr>
        <p:txBody>
          <a:bodyPr wrap="none" rtlCol="0">
            <a:spAutoFit/>
          </a:bodyPr>
          <a:lstStyle/>
          <a:p>
            <a:r>
              <a:rPr lang="en-US" sz="2000" dirty="0">
                <a:solidFill>
                  <a:schemeClr val="accent6">
                    <a:lumMod val="60000"/>
                    <a:lumOff val="40000"/>
                  </a:schemeClr>
                </a:solidFill>
              </a:rPr>
              <a:t>Assignment for students:</a:t>
            </a:r>
          </a:p>
          <a:p>
            <a:r>
              <a:rPr lang="en-US" sz="2000" dirty="0">
                <a:solidFill>
                  <a:schemeClr val="accent6">
                    <a:lumMod val="60000"/>
                    <a:lumOff val="40000"/>
                  </a:schemeClr>
                </a:solidFill>
              </a:rPr>
              <a:t>Finish this</a:t>
            </a:r>
          </a:p>
        </p:txBody>
      </p:sp>
    </p:spTree>
    <p:extLst>
      <p:ext uri="{BB962C8B-B14F-4D97-AF65-F5344CB8AC3E}">
        <p14:creationId xmlns:p14="http://schemas.microsoft.com/office/powerpoint/2010/main" val="679417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1478" y="662368"/>
            <a:ext cx="7411447" cy="4463820"/>
          </a:xfrm>
          <a:prstGeom prst="rect">
            <a:avLst/>
          </a:prstGeom>
        </p:spPr>
      </p:pic>
      <p:sp>
        <p:nvSpPr>
          <p:cNvPr id="5" name="TextBox 4"/>
          <p:cNvSpPr txBox="1"/>
          <p:nvPr/>
        </p:nvSpPr>
        <p:spPr>
          <a:xfrm>
            <a:off x="100965" y="662368"/>
            <a:ext cx="3959307" cy="3785652"/>
          </a:xfrm>
          <a:prstGeom prst="rect">
            <a:avLst/>
          </a:prstGeom>
          <a:noFill/>
        </p:spPr>
        <p:txBody>
          <a:bodyPr wrap="square" rtlCol="0">
            <a:spAutoFit/>
          </a:bodyPr>
          <a:lstStyle/>
          <a:p>
            <a:r>
              <a:rPr lang="en-US" sz="2400" b="1">
                <a:solidFill>
                  <a:schemeClr val="accent6">
                    <a:lumMod val="60000"/>
                    <a:lumOff val="40000"/>
                  </a:schemeClr>
                </a:solidFill>
              </a:rPr>
              <a:t>Stride: </a:t>
            </a:r>
            <a:endParaRPr lang="en-US" sz="2400" b="1" dirty="0">
              <a:solidFill>
                <a:schemeClr val="accent6">
                  <a:lumMod val="60000"/>
                  <a:lumOff val="40000"/>
                </a:schemeClr>
              </a:solidFill>
            </a:endParaRPr>
          </a:p>
          <a:p>
            <a:r>
              <a:rPr lang="en-US" sz="2400" dirty="0">
                <a:solidFill>
                  <a:schemeClr val="accent6">
                    <a:lumMod val="60000"/>
                    <a:lumOff val="40000"/>
                  </a:schemeClr>
                </a:solidFill>
              </a:rPr>
              <a:t>Controls how many steps does kernel move.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E.g1: Stride of 1 makes kernel slide by one row/column at a time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E.g.2: Stride of 2 moves kernel by 2 rows/columns.</a:t>
            </a:r>
          </a:p>
        </p:txBody>
      </p:sp>
      <p:sp>
        <p:nvSpPr>
          <p:cNvPr id="8" name="TextBox 7">
            <a:extLst>
              <a:ext uri="{FF2B5EF4-FFF2-40B4-BE49-F238E27FC236}">
                <a16:creationId xmlns:a16="http://schemas.microsoft.com/office/drawing/2014/main" id="{5E7224B5-74B2-EB70-BE51-8D5E10DFAD3A}"/>
              </a:ext>
            </a:extLst>
          </p:cNvPr>
          <p:cNvSpPr txBox="1"/>
          <p:nvPr/>
        </p:nvSpPr>
        <p:spPr>
          <a:xfrm>
            <a:off x="306324" y="62222"/>
            <a:ext cx="6190488" cy="461665"/>
          </a:xfrm>
          <a:prstGeom prst="rect">
            <a:avLst/>
          </a:prstGeom>
          <a:noFill/>
        </p:spPr>
        <p:txBody>
          <a:bodyPr wrap="square">
            <a:spAutoFit/>
          </a:bodyPr>
          <a:lstStyle/>
          <a:p>
            <a:r>
              <a:rPr lang="en-US" sz="2400" b="1" dirty="0">
                <a:solidFill>
                  <a:schemeClr val="accent6">
                    <a:lumMod val="60000"/>
                    <a:lumOff val="40000"/>
                  </a:schemeClr>
                </a:solidFill>
              </a:rPr>
              <a:t>Convolution layers</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953562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EAC-0842-FE63-111D-64AD555DE19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19F4508-7F2A-E476-E312-7254A2A0A3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1478" y="662368"/>
            <a:ext cx="7411447" cy="4463820"/>
          </a:xfrm>
          <a:prstGeom prst="rect">
            <a:avLst/>
          </a:prstGeom>
        </p:spPr>
      </p:pic>
      <p:sp>
        <p:nvSpPr>
          <p:cNvPr id="5" name="TextBox 4">
            <a:extLst>
              <a:ext uri="{FF2B5EF4-FFF2-40B4-BE49-F238E27FC236}">
                <a16:creationId xmlns:a16="http://schemas.microsoft.com/office/drawing/2014/main" id="{C2A3F3D1-08FE-1A24-8748-B299C737370F}"/>
              </a:ext>
            </a:extLst>
          </p:cNvPr>
          <p:cNvSpPr txBox="1"/>
          <p:nvPr/>
        </p:nvSpPr>
        <p:spPr>
          <a:xfrm>
            <a:off x="100965" y="662368"/>
            <a:ext cx="4324731" cy="4524315"/>
          </a:xfrm>
          <a:prstGeom prst="rect">
            <a:avLst/>
          </a:prstGeom>
          <a:noFill/>
        </p:spPr>
        <p:txBody>
          <a:bodyPr wrap="square" rtlCol="0">
            <a:spAutoFit/>
          </a:bodyPr>
          <a:lstStyle/>
          <a:p>
            <a:r>
              <a:rPr lang="en-US" sz="2400" dirty="0">
                <a:solidFill>
                  <a:schemeClr val="accent6">
                    <a:lumMod val="60000"/>
                    <a:lumOff val="40000"/>
                  </a:schemeClr>
                </a:solidFill>
              </a:rPr>
              <a:t>Key points about stride: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A stride of 2 or 3 skips pixels, making the filter jump more, which reduces the output size and speeds up computation.</a:t>
            </a:r>
            <a:r>
              <a:rPr lang="en-US" sz="2400" b="1" dirty="0">
                <a:solidFill>
                  <a:schemeClr val="accent6">
                    <a:lumMod val="60000"/>
                    <a:lumOff val="40000"/>
                  </a:schemeClr>
                </a:solidFill>
              </a:rPr>
              <a:t> </a:t>
            </a:r>
          </a:p>
          <a:p>
            <a:pPr>
              <a:buFont typeface="Wingdings" panose="05000000000000000000" pitchFamily="2" charset="2"/>
              <a:buChar char="Ø"/>
            </a:pPr>
            <a:endParaRPr lang="en-US" sz="2400" b="1" dirty="0">
              <a:solidFill>
                <a:schemeClr val="accent6">
                  <a:lumMod val="60000"/>
                  <a:lumOff val="40000"/>
                </a:schemeClr>
              </a:solidFill>
            </a:endParaRPr>
          </a:p>
          <a:p>
            <a:pPr>
              <a:buFont typeface="Wingdings" panose="05000000000000000000" pitchFamily="2" charset="2"/>
              <a:buChar char="Ø"/>
            </a:pPr>
            <a:r>
              <a:rPr lang="en-US" sz="2400" b="1" dirty="0">
                <a:solidFill>
                  <a:schemeClr val="accent6">
                    <a:lumMod val="60000"/>
                    <a:lumOff val="40000"/>
                  </a:schemeClr>
                </a:solidFill>
              </a:rPr>
              <a:t>Effect on output</a:t>
            </a:r>
            <a:r>
              <a:rPr lang="en-US" sz="2400" dirty="0">
                <a:solidFill>
                  <a:schemeClr val="accent6">
                    <a:lumMod val="60000"/>
                    <a:lumOff val="40000"/>
                  </a:schemeClr>
                </a:solidFill>
              </a:rPr>
              <a:t>: Larger strides capture broader patterns but reduce detail and output size; smaller strides give more detail but increase computation.</a:t>
            </a:r>
            <a:endParaRPr lang="en-IN" sz="2400" dirty="0">
              <a:solidFill>
                <a:schemeClr val="accent6">
                  <a:lumMod val="60000"/>
                  <a:lumOff val="40000"/>
                </a:schemeClr>
              </a:solidFill>
            </a:endParaRPr>
          </a:p>
        </p:txBody>
      </p:sp>
      <p:sp>
        <p:nvSpPr>
          <p:cNvPr id="8" name="TextBox 7">
            <a:extLst>
              <a:ext uri="{FF2B5EF4-FFF2-40B4-BE49-F238E27FC236}">
                <a16:creationId xmlns:a16="http://schemas.microsoft.com/office/drawing/2014/main" id="{2B701562-3F2B-1FC2-07D0-43BA4BC3AAC5}"/>
              </a:ext>
            </a:extLst>
          </p:cNvPr>
          <p:cNvSpPr txBox="1"/>
          <p:nvPr/>
        </p:nvSpPr>
        <p:spPr>
          <a:xfrm>
            <a:off x="306324" y="62222"/>
            <a:ext cx="6190488" cy="461665"/>
          </a:xfrm>
          <a:prstGeom prst="rect">
            <a:avLst/>
          </a:prstGeom>
          <a:noFill/>
        </p:spPr>
        <p:txBody>
          <a:bodyPr wrap="square">
            <a:spAutoFit/>
          </a:bodyPr>
          <a:lstStyle/>
          <a:p>
            <a:r>
              <a:rPr lang="en-US" sz="2400" b="1" dirty="0">
                <a:solidFill>
                  <a:schemeClr val="accent6">
                    <a:lumMod val="60000"/>
                    <a:lumOff val="40000"/>
                  </a:schemeClr>
                </a:solidFill>
              </a:rPr>
              <a:t>Convolution layers</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641220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B5F6B-3B4D-68C1-C36E-AB457DD0E4F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63F65DE-F49F-EBCA-229E-2A6B4BE4A004}"/>
              </a:ext>
            </a:extLst>
          </p:cNvPr>
          <p:cNvPicPr>
            <a:picLocks noChangeAspect="1"/>
          </p:cNvPicPr>
          <p:nvPr/>
        </p:nvPicPr>
        <p:blipFill>
          <a:blip r:embed="rId2"/>
          <a:stretch>
            <a:fillRect/>
          </a:stretch>
        </p:blipFill>
        <p:spPr>
          <a:xfrm>
            <a:off x="166970" y="201168"/>
            <a:ext cx="4749353" cy="2505456"/>
          </a:xfrm>
          <a:prstGeom prst="rect">
            <a:avLst/>
          </a:prstGeom>
        </p:spPr>
      </p:pic>
      <p:pic>
        <p:nvPicPr>
          <p:cNvPr id="7" name="Picture 6">
            <a:extLst>
              <a:ext uri="{FF2B5EF4-FFF2-40B4-BE49-F238E27FC236}">
                <a16:creationId xmlns:a16="http://schemas.microsoft.com/office/drawing/2014/main" id="{A44A43DC-EE94-D328-3A9F-02EF1CDB498D}"/>
              </a:ext>
            </a:extLst>
          </p:cNvPr>
          <p:cNvPicPr>
            <a:picLocks noChangeAspect="1"/>
          </p:cNvPicPr>
          <p:nvPr/>
        </p:nvPicPr>
        <p:blipFill>
          <a:blip r:embed="rId3"/>
          <a:stretch>
            <a:fillRect/>
          </a:stretch>
        </p:blipFill>
        <p:spPr>
          <a:xfrm>
            <a:off x="340706" y="3494613"/>
            <a:ext cx="2853517" cy="2733052"/>
          </a:xfrm>
          <a:prstGeom prst="rect">
            <a:avLst/>
          </a:prstGeom>
        </p:spPr>
      </p:pic>
      <p:pic>
        <p:nvPicPr>
          <p:cNvPr id="10" name="Picture 9">
            <a:extLst>
              <a:ext uri="{FF2B5EF4-FFF2-40B4-BE49-F238E27FC236}">
                <a16:creationId xmlns:a16="http://schemas.microsoft.com/office/drawing/2014/main" id="{484B5763-3056-E42B-F309-333EE93E847A}"/>
              </a:ext>
            </a:extLst>
          </p:cNvPr>
          <p:cNvPicPr>
            <a:picLocks noChangeAspect="1"/>
          </p:cNvPicPr>
          <p:nvPr/>
        </p:nvPicPr>
        <p:blipFill>
          <a:blip r:embed="rId4"/>
          <a:stretch>
            <a:fillRect/>
          </a:stretch>
        </p:blipFill>
        <p:spPr>
          <a:xfrm>
            <a:off x="4302981" y="3511295"/>
            <a:ext cx="2853517" cy="2699689"/>
          </a:xfrm>
          <a:prstGeom prst="rect">
            <a:avLst/>
          </a:prstGeom>
        </p:spPr>
      </p:pic>
      <p:pic>
        <p:nvPicPr>
          <p:cNvPr id="12" name="Picture 11">
            <a:extLst>
              <a:ext uri="{FF2B5EF4-FFF2-40B4-BE49-F238E27FC236}">
                <a16:creationId xmlns:a16="http://schemas.microsoft.com/office/drawing/2014/main" id="{125F4B90-27BB-3248-CFF1-55735E217A05}"/>
              </a:ext>
            </a:extLst>
          </p:cNvPr>
          <p:cNvPicPr>
            <a:picLocks noChangeAspect="1"/>
          </p:cNvPicPr>
          <p:nvPr/>
        </p:nvPicPr>
        <p:blipFill>
          <a:blip r:embed="rId5"/>
          <a:stretch>
            <a:fillRect/>
          </a:stretch>
        </p:blipFill>
        <p:spPr>
          <a:xfrm>
            <a:off x="8046720" y="3511295"/>
            <a:ext cx="2853517" cy="2662774"/>
          </a:xfrm>
          <a:prstGeom prst="rect">
            <a:avLst/>
          </a:prstGeom>
        </p:spPr>
      </p:pic>
      <p:sp>
        <p:nvSpPr>
          <p:cNvPr id="13" name="TextBox 12">
            <a:extLst>
              <a:ext uri="{FF2B5EF4-FFF2-40B4-BE49-F238E27FC236}">
                <a16:creationId xmlns:a16="http://schemas.microsoft.com/office/drawing/2014/main" id="{084B55BC-4B12-11DB-1D01-7F4EDA0C3083}"/>
              </a:ext>
            </a:extLst>
          </p:cNvPr>
          <p:cNvSpPr txBox="1"/>
          <p:nvPr/>
        </p:nvSpPr>
        <p:spPr>
          <a:xfrm>
            <a:off x="7156498" y="786384"/>
            <a:ext cx="2060821" cy="369332"/>
          </a:xfrm>
          <a:prstGeom prst="rect">
            <a:avLst/>
          </a:prstGeom>
          <a:noFill/>
        </p:spPr>
        <p:txBody>
          <a:bodyPr wrap="none" rtlCol="0">
            <a:spAutoFit/>
          </a:bodyPr>
          <a:lstStyle/>
          <a:p>
            <a:r>
              <a:rPr lang="en-US" dirty="0">
                <a:solidFill>
                  <a:schemeClr val="accent6">
                    <a:lumMod val="60000"/>
                    <a:lumOff val="40000"/>
                  </a:schemeClr>
                </a:solidFill>
              </a:rPr>
              <a:t>Example: Stride of 2</a:t>
            </a:r>
          </a:p>
        </p:txBody>
      </p:sp>
    </p:spTree>
    <p:extLst>
      <p:ext uri="{BB962C8B-B14F-4D97-AF65-F5344CB8AC3E}">
        <p14:creationId xmlns:p14="http://schemas.microsoft.com/office/powerpoint/2010/main" val="1963036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200A4-A107-536C-1D0C-AB10A7E617F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98442B1-07E0-B557-EF2C-5D0DDE38F0A0}"/>
              </a:ext>
            </a:extLst>
          </p:cNvPr>
          <p:cNvSpPr txBox="1"/>
          <p:nvPr/>
        </p:nvSpPr>
        <p:spPr>
          <a:xfrm>
            <a:off x="100965" y="662368"/>
            <a:ext cx="11777091"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accent6">
                    <a:lumMod val="60000"/>
                    <a:lumOff val="40000"/>
                  </a:schemeClr>
                </a:solidFill>
              </a:rPr>
              <a:t>Another name for </a:t>
            </a:r>
            <a:r>
              <a:rPr lang="en-US" sz="2400" b="1" dirty="0">
                <a:solidFill>
                  <a:schemeClr val="accent6">
                    <a:lumMod val="60000"/>
                    <a:lumOff val="40000"/>
                  </a:schemeClr>
                </a:solidFill>
              </a:rPr>
              <a:t>kernel is feature detector </a:t>
            </a:r>
            <a:r>
              <a:rPr lang="en-US" sz="2400" dirty="0">
                <a:solidFill>
                  <a:schemeClr val="accent6">
                    <a:lumMod val="60000"/>
                    <a:lumOff val="40000"/>
                  </a:schemeClr>
                </a:solidFill>
              </a:rPr>
              <a:t>because the weights can be fine-tuned to detect specific features in the input image. </a:t>
            </a:r>
          </a:p>
          <a:p>
            <a:r>
              <a:rPr lang="en-US" sz="2400" dirty="0">
                <a:solidFill>
                  <a:schemeClr val="accent6">
                    <a:lumMod val="60000"/>
                    <a:lumOff val="40000"/>
                  </a:schemeClr>
                </a:solidFill>
              </a:rPr>
              <a:t>For instance: </a:t>
            </a:r>
          </a:p>
          <a:p>
            <a:r>
              <a:rPr lang="en-US" sz="2400" dirty="0">
                <a:solidFill>
                  <a:schemeClr val="accent6">
                    <a:lumMod val="60000"/>
                    <a:lumOff val="40000"/>
                  </a:schemeClr>
                </a:solidFill>
              </a:rPr>
              <a:t>1) Averaging neighboring pixels kernel can be used to </a:t>
            </a:r>
            <a:r>
              <a:rPr lang="en-US" sz="2400" b="1" dirty="0">
                <a:solidFill>
                  <a:schemeClr val="accent6">
                    <a:lumMod val="60000"/>
                    <a:lumOff val="40000"/>
                  </a:schemeClr>
                </a:solidFill>
              </a:rPr>
              <a:t>blur</a:t>
            </a:r>
            <a:r>
              <a:rPr lang="en-US" sz="2400" dirty="0">
                <a:solidFill>
                  <a:schemeClr val="accent6">
                    <a:lumMod val="60000"/>
                    <a:lumOff val="40000"/>
                  </a:schemeClr>
                </a:solidFill>
              </a:rPr>
              <a:t> the input image.</a:t>
            </a:r>
          </a:p>
          <a:p>
            <a:r>
              <a:rPr lang="en-US" sz="2400" dirty="0">
                <a:solidFill>
                  <a:schemeClr val="accent6">
                    <a:lumMod val="60000"/>
                    <a:lumOff val="40000"/>
                  </a:schemeClr>
                </a:solidFill>
              </a:rPr>
              <a:t>2) Subtracting neighboring kernel is used to perform </a:t>
            </a:r>
            <a:r>
              <a:rPr lang="en-US" sz="2400" b="1" dirty="0">
                <a:solidFill>
                  <a:schemeClr val="accent6">
                    <a:lumMod val="60000"/>
                    <a:lumOff val="40000"/>
                  </a:schemeClr>
                </a:solidFill>
              </a:rPr>
              <a:t>edge detection</a:t>
            </a:r>
            <a:r>
              <a:rPr lang="en-US" sz="2400" dirty="0">
                <a:solidFill>
                  <a:schemeClr val="accent6">
                    <a:lumMod val="60000"/>
                    <a:lumOff val="40000"/>
                  </a:schemeClr>
                </a:solidFill>
              </a:rPr>
              <a:t>.</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Common kernel sizes: 3x3 – most common;  5x5, 7x7 – larger receptive fields</a:t>
            </a:r>
          </a:p>
        </p:txBody>
      </p:sp>
      <p:sp>
        <p:nvSpPr>
          <p:cNvPr id="8" name="TextBox 7">
            <a:extLst>
              <a:ext uri="{FF2B5EF4-FFF2-40B4-BE49-F238E27FC236}">
                <a16:creationId xmlns:a16="http://schemas.microsoft.com/office/drawing/2014/main" id="{7E322558-8FCD-81B4-62E4-4FA0E7B5A62C}"/>
              </a:ext>
            </a:extLst>
          </p:cNvPr>
          <p:cNvSpPr txBox="1"/>
          <p:nvPr/>
        </p:nvSpPr>
        <p:spPr>
          <a:xfrm>
            <a:off x="306324" y="62222"/>
            <a:ext cx="6190488" cy="461665"/>
          </a:xfrm>
          <a:prstGeom prst="rect">
            <a:avLst/>
          </a:prstGeom>
          <a:noFill/>
        </p:spPr>
        <p:txBody>
          <a:bodyPr wrap="square">
            <a:spAutoFit/>
          </a:bodyPr>
          <a:lstStyle/>
          <a:p>
            <a:r>
              <a:rPr lang="en-US" sz="2400" b="1" dirty="0">
                <a:solidFill>
                  <a:schemeClr val="accent6">
                    <a:lumMod val="60000"/>
                    <a:lumOff val="40000"/>
                  </a:schemeClr>
                </a:solidFill>
              </a:rPr>
              <a:t>Convolution layers</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616906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55" y="717423"/>
            <a:ext cx="7097927" cy="3265713"/>
          </a:xfrm>
          <a:prstGeom prst="rect">
            <a:avLst/>
          </a:prstGeom>
        </p:spPr>
      </p:pic>
      <p:sp>
        <p:nvSpPr>
          <p:cNvPr id="6" name="TextBox 5"/>
          <p:cNvSpPr txBox="1"/>
          <p:nvPr/>
        </p:nvSpPr>
        <p:spPr>
          <a:xfrm>
            <a:off x="293912" y="4739204"/>
            <a:ext cx="11669488" cy="1200329"/>
          </a:xfrm>
          <a:prstGeom prst="rect">
            <a:avLst/>
          </a:prstGeom>
          <a:noFill/>
        </p:spPr>
        <p:txBody>
          <a:bodyPr wrap="square" rtlCol="0">
            <a:spAutoFit/>
          </a:bodyPr>
          <a:lstStyle/>
          <a:p>
            <a:r>
              <a:rPr lang="en-US" sz="2400" dirty="0">
                <a:solidFill>
                  <a:schemeClr val="accent6">
                    <a:lumMod val="60000"/>
                    <a:lumOff val="40000"/>
                  </a:schemeClr>
                </a:solidFill>
              </a:rPr>
              <a:t>How we can detect a vertical edge in an image ?</a:t>
            </a:r>
            <a:endParaRPr lang="en-US" sz="2400" b="1" dirty="0">
              <a:solidFill>
                <a:schemeClr val="accent6">
                  <a:lumMod val="60000"/>
                  <a:lumOff val="40000"/>
                </a:schemeClr>
              </a:solidFill>
            </a:endParaRPr>
          </a:p>
          <a:p>
            <a:pPr marL="342900" indent="-342900">
              <a:buFont typeface="Arial" panose="020B0604020202020204" pitchFamily="34" charset="0"/>
              <a:buChar char="•"/>
            </a:pPr>
            <a:r>
              <a:rPr lang="en-US" sz="2400" b="1" dirty="0">
                <a:solidFill>
                  <a:schemeClr val="accent6">
                    <a:lumMod val="60000"/>
                    <a:lumOff val="40000"/>
                  </a:schemeClr>
                </a:solidFill>
              </a:rPr>
              <a:t>Higher pixel values represent the brighter portion </a:t>
            </a:r>
            <a:r>
              <a:rPr lang="en-US" sz="2400" dirty="0">
                <a:solidFill>
                  <a:schemeClr val="accent6">
                    <a:lumMod val="60000"/>
                    <a:lumOff val="40000"/>
                  </a:schemeClr>
                </a:solidFill>
              </a:rPr>
              <a:t>of the image</a:t>
            </a:r>
          </a:p>
          <a:p>
            <a:pPr marL="342900" indent="-342900">
              <a:buFont typeface="Arial" panose="020B0604020202020204" pitchFamily="34" charset="0"/>
              <a:buChar char="•"/>
            </a:pPr>
            <a:r>
              <a:rPr lang="en-US" sz="2400" b="1" dirty="0">
                <a:solidFill>
                  <a:schemeClr val="accent6">
                    <a:lumMod val="60000"/>
                    <a:lumOff val="40000"/>
                  </a:schemeClr>
                </a:solidFill>
              </a:rPr>
              <a:t>Lower pixel values represent the darker portions.</a:t>
            </a:r>
            <a:r>
              <a:rPr lang="en-US" sz="2400" dirty="0">
                <a:solidFill>
                  <a:schemeClr val="accent6">
                    <a:lumMod val="60000"/>
                    <a:lumOff val="40000"/>
                  </a:schemeClr>
                </a:solidFill>
              </a:rPr>
              <a:t> </a:t>
            </a:r>
          </a:p>
        </p:txBody>
      </p:sp>
      <p:sp>
        <p:nvSpPr>
          <p:cNvPr id="7" name="TextBox 6"/>
          <p:cNvSpPr txBox="1"/>
          <p:nvPr/>
        </p:nvSpPr>
        <p:spPr>
          <a:xfrm>
            <a:off x="1363759" y="172430"/>
            <a:ext cx="6701249" cy="461665"/>
          </a:xfrm>
          <a:prstGeom prst="rect">
            <a:avLst/>
          </a:prstGeom>
          <a:noFill/>
        </p:spPr>
        <p:txBody>
          <a:bodyPr wrap="square" rtlCol="0">
            <a:spAutoFit/>
          </a:bodyPr>
          <a:lstStyle/>
          <a:p>
            <a:r>
              <a:rPr lang="en-US" sz="2400" dirty="0">
                <a:solidFill>
                  <a:schemeClr val="accent6">
                    <a:lumMod val="60000"/>
                    <a:lumOff val="40000"/>
                  </a:schemeClr>
                </a:solidFill>
              </a:rPr>
              <a:t>Detecting vertical edges with </a:t>
            </a:r>
            <a:r>
              <a:rPr lang="en-US" sz="2400" b="1" dirty="0">
                <a:solidFill>
                  <a:schemeClr val="accent6">
                    <a:lumMod val="60000"/>
                    <a:lumOff val="40000"/>
                  </a:schemeClr>
                </a:solidFill>
              </a:rPr>
              <a:t>vertical filter</a:t>
            </a:r>
          </a:p>
        </p:txBody>
      </p:sp>
      <p:sp>
        <p:nvSpPr>
          <p:cNvPr id="8" name="TextBox 7"/>
          <p:cNvSpPr txBox="1"/>
          <p:nvPr/>
        </p:nvSpPr>
        <p:spPr>
          <a:xfrm>
            <a:off x="7407944" y="902920"/>
            <a:ext cx="4319901" cy="1323439"/>
          </a:xfrm>
          <a:prstGeom prst="rect">
            <a:avLst/>
          </a:prstGeom>
          <a:noFill/>
        </p:spPr>
        <p:txBody>
          <a:bodyPr wrap="none" rtlCol="0">
            <a:spAutoFit/>
          </a:bodyPr>
          <a:lstStyle/>
          <a:p>
            <a:r>
              <a:rPr lang="en-US" sz="2000" dirty="0">
                <a:solidFill>
                  <a:schemeClr val="accent6">
                    <a:lumMod val="60000"/>
                    <a:lumOff val="40000"/>
                  </a:schemeClr>
                </a:solidFill>
              </a:rPr>
              <a:t>Value for row=1,col=1 is calculated as = </a:t>
            </a:r>
          </a:p>
          <a:p>
            <a:r>
              <a:rPr lang="en-US" sz="2000" dirty="0">
                <a:solidFill>
                  <a:schemeClr val="accent6">
                    <a:lumMod val="60000"/>
                    <a:lumOff val="40000"/>
                  </a:schemeClr>
                </a:solidFill>
              </a:rPr>
              <a:t>10*1 + 10*0 + 10*-1 +</a:t>
            </a:r>
          </a:p>
          <a:p>
            <a:r>
              <a:rPr lang="en-US" sz="2000" dirty="0">
                <a:solidFill>
                  <a:schemeClr val="accent6">
                    <a:lumMod val="60000"/>
                    <a:lumOff val="40000"/>
                  </a:schemeClr>
                </a:solidFill>
              </a:rPr>
              <a:t>10*1 + 10*0 + 10*-1 +</a:t>
            </a:r>
          </a:p>
          <a:p>
            <a:r>
              <a:rPr lang="en-US" sz="2000" dirty="0">
                <a:solidFill>
                  <a:schemeClr val="accent6">
                    <a:lumMod val="60000"/>
                    <a:lumOff val="40000"/>
                  </a:schemeClr>
                </a:solidFill>
              </a:rPr>
              <a:t>10*1 + 10*0 + 10*-1  = 0</a:t>
            </a:r>
          </a:p>
        </p:txBody>
      </p:sp>
      <p:sp>
        <p:nvSpPr>
          <p:cNvPr id="9" name="TextBox 8"/>
          <p:cNvSpPr txBox="1"/>
          <p:nvPr/>
        </p:nvSpPr>
        <p:spPr>
          <a:xfrm>
            <a:off x="7407944" y="2495184"/>
            <a:ext cx="4319901" cy="1323439"/>
          </a:xfrm>
          <a:prstGeom prst="rect">
            <a:avLst/>
          </a:prstGeom>
          <a:noFill/>
        </p:spPr>
        <p:txBody>
          <a:bodyPr wrap="none" rtlCol="0">
            <a:spAutoFit/>
          </a:bodyPr>
          <a:lstStyle/>
          <a:p>
            <a:r>
              <a:rPr lang="en-US" sz="2000" dirty="0">
                <a:solidFill>
                  <a:schemeClr val="accent6">
                    <a:lumMod val="60000"/>
                    <a:lumOff val="40000"/>
                  </a:schemeClr>
                </a:solidFill>
              </a:rPr>
              <a:t>Value for row=1,col=2 is calculated as = </a:t>
            </a:r>
          </a:p>
          <a:p>
            <a:r>
              <a:rPr lang="en-US" sz="2000" dirty="0">
                <a:solidFill>
                  <a:schemeClr val="accent6">
                    <a:lumMod val="60000"/>
                    <a:lumOff val="40000"/>
                  </a:schemeClr>
                </a:solidFill>
              </a:rPr>
              <a:t>10*1 + 10*0 + 0*-1 +</a:t>
            </a:r>
          </a:p>
          <a:p>
            <a:r>
              <a:rPr lang="en-US" sz="2000" dirty="0">
                <a:solidFill>
                  <a:schemeClr val="accent6">
                    <a:lumMod val="60000"/>
                    <a:lumOff val="40000"/>
                  </a:schemeClr>
                </a:solidFill>
              </a:rPr>
              <a:t>10*1 + 10*0 + 0*-1 +</a:t>
            </a:r>
          </a:p>
          <a:p>
            <a:r>
              <a:rPr lang="en-US" sz="2000" dirty="0">
                <a:solidFill>
                  <a:schemeClr val="accent6">
                    <a:lumMod val="60000"/>
                    <a:lumOff val="40000"/>
                  </a:schemeClr>
                </a:solidFill>
              </a:rPr>
              <a:t>10*1 + 10*0 + 0*-1  = 30</a:t>
            </a:r>
          </a:p>
        </p:txBody>
      </p:sp>
    </p:spTree>
    <p:extLst>
      <p:ext uri="{BB962C8B-B14F-4D97-AF65-F5344CB8AC3E}">
        <p14:creationId xmlns:p14="http://schemas.microsoft.com/office/powerpoint/2010/main" val="1179287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93910" y="1077686"/>
            <a:ext cx="5914866" cy="461665"/>
          </a:xfrm>
          <a:prstGeom prst="rect">
            <a:avLst/>
          </a:prstGeom>
          <a:noFill/>
        </p:spPr>
        <p:txBody>
          <a:bodyPr wrap="square" rtlCol="0">
            <a:spAutoFit/>
          </a:bodyPr>
          <a:lstStyle/>
          <a:p>
            <a:r>
              <a:rPr lang="en-US" sz="2400" b="1" dirty="0">
                <a:solidFill>
                  <a:schemeClr val="accent6">
                    <a:lumMod val="60000"/>
                    <a:lumOff val="40000"/>
                  </a:schemeClr>
                </a:solidFill>
              </a:rPr>
              <a:t>Horizontal filter:</a:t>
            </a:r>
            <a:r>
              <a:rPr lang="en-US" sz="2400" dirty="0">
                <a:solidFill>
                  <a:schemeClr val="accent6">
                    <a:lumMod val="60000"/>
                    <a:lumOff val="40000"/>
                  </a:schemeClr>
                </a:solidFill>
              </a:rPr>
              <a:t> Detect horizontal edges</a:t>
            </a:r>
            <a:endParaRPr lang="en-US" sz="2400" b="1" dirty="0">
              <a:solidFill>
                <a:schemeClr val="accent6">
                  <a:lumMod val="60000"/>
                  <a:lumOff val="40000"/>
                </a:schemeClr>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9440" y="809186"/>
            <a:ext cx="1434735" cy="1220783"/>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5950" y="2353740"/>
            <a:ext cx="1725372" cy="1220782"/>
          </a:xfrm>
          <a:prstGeom prst="rect">
            <a:avLst/>
          </a:prstGeom>
        </p:spPr>
      </p:pic>
      <p:sp>
        <p:nvSpPr>
          <p:cNvPr id="10" name="TextBox 9"/>
          <p:cNvSpPr txBox="1"/>
          <p:nvPr/>
        </p:nvSpPr>
        <p:spPr>
          <a:xfrm>
            <a:off x="304798" y="2623457"/>
            <a:ext cx="6397754" cy="830997"/>
          </a:xfrm>
          <a:prstGeom prst="rect">
            <a:avLst/>
          </a:prstGeom>
          <a:noFill/>
        </p:spPr>
        <p:txBody>
          <a:bodyPr wrap="square" rtlCol="0">
            <a:spAutoFit/>
          </a:bodyPr>
          <a:lstStyle/>
          <a:p>
            <a:r>
              <a:rPr lang="en-US" sz="2400" b="1" dirty="0">
                <a:solidFill>
                  <a:schemeClr val="accent6">
                    <a:lumMod val="60000"/>
                    <a:lumOff val="40000"/>
                  </a:schemeClr>
                </a:solidFill>
              </a:rPr>
              <a:t>Sobel filter</a:t>
            </a:r>
            <a:r>
              <a:rPr lang="en-US" sz="2400" dirty="0">
                <a:solidFill>
                  <a:schemeClr val="accent6">
                    <a:lumMod val="60000"/>
                    <a:lumOff val="40000"/>
                  </a:schemeClr>
                </a:solidFill>
              </a:rPr>
              <a:t>: puts a little bit more weight on the central pixels</a:t>
            </a:r>
          </a:p>
        </p:txBody>
      </p:sp>
    </p:spTree>
    <p:extLst>
      <p:ext uri="{BB962C8B-B14F-4D97-AF65-F5344CB8AC3E}">
        <p14:creationId xmlns:p14="http://schemas.microsoft.com/office/powerpoint/2010/main" val="525819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304798" y="544931"/>
            <a:ext cx="11510965" cy="830997"/>
          </a:xfrm>
          <a:prstGeom prst="rect">
            <a:avLst/>
          </a:prstGeom>
          <a:noFill/>
        </p:spPr>
        <p:txBody>
          <a:bodyPr wrap="square" rtlCol="0">
            <a:spAutoFit/>
          </a:bodyPr>
          <a:lstStyle/>
          <a:p>
            <a:r>
              <a:rPr lang="en-US" sz="2400" dirty="0">
                <a:solidFill>
                  <a:schemeClr val="accent6">
                    <a:lumMod val="60000"/>
                    <a:lumOff val="40000"/>
                  </a:schemeClr>
                </a:solidFill>
              </a:rPr>
              <a:t>There is a straightforward formula that connects the input size </a:t>
            </a:r>
            <a:r>
              <a:rPr lang="en-US" sz="2400" dirty="0" err="1">
                <a:solidFill>
                  <a:schemeClr val="accent6">
                    <a:lumMod val="60000"/>
                    <a:lumOff val="40000"/>
                  </a:schemeClr>
                </a:solidFill>
              </a:rPr>
              <a:t>n×n</a:t>
            </a:r>
            <a:r>
              <a:rPr lang="en-US" sz="2400" dirty="0">
                <a:solidFill>
                  <a:schemeClr val="accent6">
                    <a:lumMod val="60000"/>
                    <a:lumOff val="40000"/>
                  </a:schemeClr>
                </a:solidFill>
              </a:rPr>
              <a:t> and the filter size </a:t>
            </a:r>
            <a:r>
              <a:rPr lang="en-US" sz="2400" dirty="0" err="1">
                <a:solidFill>
                  <a:schemeClr val="accent6">
                    <a:lumMod val="60000"/>
                    <a:lumOff val="40000"/>
                  </a:schemeClr>
                </a:solidFill>
              </a:rPr>
              <a:t>f×f</a:t>
            </a:r>
            <a:r>
              <a:rPr lang="en-US" sz="2400" dirty="0">
                <a:solidFill>
                  <a:schemeClr val="accent6">
                    <a:lumMod val="60000"/>
                    <a:lumOff val="40000"/>
                  </a:schemeClr>
                </a:solidFill>
              </a:rPr>
              <a:t>, resulting in an output size of  (n−f+1)×(n−f+1)</a:t>
            </a:r>
          </a:p>
        </p:txBody>
      </p:sp>
      <p:sp>
        <p:nvSpPr>
          <p:cNvPr id="5" name="TextBox 4"/>
          <p:cNvSpPr txBox="1"/>
          <p:nvPr/>
        </p:nvSpPr>
        <p:spPr>
          <a:xfrm>
            <a:off x="175040" y="5186369"/>
            <a:ext cx="11693301" cy="830997"/>
          </a:xfrm>
          <a:prstGeom prst="rect">
            <a:avLst/>
          </a:prstGeom>
          <a:noFill/>
        </p:spPr>
        <p:txBody>
          <a:bodyPr wrap="square" rtlCol="0">
            <a:spAutoFit/>
          </a:bodyPr>
          <a:lstStyle/>
          <a:p>
            <a:r>
              <a:rPr lang="en-US" sz="2400" dirty="0">
                <a:solidFill>
                  <a:schemeClr val="accent6">
                    <a:lumMod val="60000"/>
                    <a:lumOff val="40000"/>
                  </a:schemeClr>
                </a:solidFill>
              </a:rPr>
              <a:t>The dimension of the final convoluted matrix depends on the size of the kernel matrix: </a:t>
            </a:r>
          </a:p>
          <a:p>
            <a:r>
              <a:rPr lang="en-US" sz="2400" b="1" dirty="0">
                <a:solidFill>
                  <a:schemeClr val="accent6">
                    <a:lumMod val="60000"/>
                    <a:lumOff val="40000"/>
                  </a:schemeClr>
                </a:solidFill>
              </a:rPr>
              <a:t>The bigger the sliding window, the smaller the dimension.</a:t>
            </a:r>
          </a:p>
        </p:txBody>
      </p:sp>
      <p:graphicFrame>
        <p:nvGraphicFramePr>
          <p:cNvPr id="8" name="Table 7"/>
          <p:cNvGraphicFramePr>
            <a:graphicFrameLocks noGrp="1"/>
          </p:cNvGraphicFramePr>
          <p:nvPr>
            <p:extLst>
              <p:ext uri="{D42A27DB-BD31-4B8C-83A1-F6EECF244321}">
                <p14:modId xmlns:p14="http://schemas.microsoft.com/office/powerpoint/2010/main" val="1793606067"/>
              </p:ext>
            </p:extLst>
          </p:nvPr>
        </p:nvGraphicFramePr>
        <p:xfrm>
          <a:off x="285742" y="1685924"/>
          <a:ext cx="2414596" cy="1985956"/>
        </p:xfrm>
        <a:graphic>
          <a:graphicData uri="http://schemas.openxmlformats.org/drawingml/2006/table">
            <a:tbl>
              <a:tblPr firstRow="1" bandRow="1">
                <a:tableStyleId>{5C22544A-7EE6-4342-B048-85BDC9FD1C3A}</a:tableStyleId>
              </a:tblPr>
              <a:tblGrid>
                <a:gridCol w="2414596">
                  <a:extLst>
                    <a:ext uri="{9D8B030D-6E8A-4147-A177-3AD203B41FA5}">
                      <a16:colId xmlns:a16="http://schemas.microsoft.com/office/drawing/2014/main" val="3413947893"/>
                    </a:ext>
                  </a:extLst>
                </a:gridCol>
              </a:tblGrid>
              <a:tr h="198595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Input Image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Size:</a:t>
                      </a:r>
                    </a:p>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n X n</a:t>
                      </a:r>
                    </a:p>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429711"/>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859778624"/>
              </p:ext>
            </p:extLst>
          </p:nvPr>
        </p:nvGraphicFramePr>
        <p:xfrm>
          <a:off x="4086223" y="2200410"/>
          <a:ext cx="1228726" cy="1157146"/>
        </p:xfrm>
        <a:graphic>
          <a:graphicData uri="http://schemas.openxmlformats.org/drawingml/2006/table">
            <a:tbl>
              <a:tblPr firstRow="1" bandRow="1">
                <a:tableStyleId>{5C22544A-7EE6-4342-B048-85BDC9FD1C3A}</a:tableStyleId>
              </a:tblPr>
              <a:tblGrid>
                <a:gridCol w="1228726">
                  <a:extLst>
                    <a:ext uri="{9D8B030D-6E8A-4147-A177-3AD203B41FA5}">
                      <a16:colId xmlns:a16="http://schemas.microsoft.com/office/drawing/2014/main" val="3413947893"/>
                    </a:ext>
                  </a:extLst>
                </a:gridCol>
              </a:tblGrid>
              <a:tr h="11571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Filter Size</a:t>
                      </a:r>
                      <a:r>
                        <a:rPr lang="en-US" sz="1800" dirty="0">
                          <a:solidFill>
                            <a:schemeClr val="tx1"/>
                          </a:solidFill>
                        </a:rPr>
                        <a:t>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f X f</a:t>
                      </a:r>
                    </a:p>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429711"/>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2672796788"/>
              </p:ext>
            </p:extLst>
          </p:nvPr>
        </p:nvGraphicFramePr>
        <p:xfrm>
          <a:off x="7096125" y="1624010"/>
          <a:ext cx="2414596" cy="1985956"/>
        </p:xfrm>
        <a:graphic>
          <a:graphicData uri="http://schemas.openxmlformats.org/drawingml/2006/table">
            <a:tbl>
              <a:tblPr firstRow="1" bandRow="1">
                <a:tableStyleId>{5C22544A-7EE6-4342-B048-85BDC9FD1C3A}</a:tableStyleId>
              </a:tblPr>
              <a:tblGrid>
                <a:gridCol w="2414596">
                  <a:extLst>
                    <a:ext uri="{9D8B030D-6E8A-4147-A177-3AD203B41FA5}">
                      <a16:colId xmlns:a16="http://schemas.microsoft.com/office/drawing/2014/main" val="3413947893"/>
                    </a:ext>
                  </a:extLst>
                </a:gridCol>
              </a:tblGrid>
              <a:tr h="198595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Output Image</a:t>
                      </a:r>
                    </a:p>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Size</a:t>
                      </a:r>
                    </a:p>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 (n-f+1) X (n-f+1)</a:t>
                      </a:r>
                    </a:p>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429711"/>
                  </a:ext>
                </a:extLst>
              </a:tr>
            </a:tbl>
          </a:graphicData>
        </a:graphic>
      </p:graphicFrame>
      <p:sp>
        <p:nvSpPr>
          <p:cNvPr id="9" name="Right Arrow 8"/>
          <p:cNvSpPr/>
          <p:nvPr/>
        </p:nvSpPr>
        <p:spPr>
          <a:xfrm>
            <a:off x="5643563" y="2543168"/>
            <a:ext cx="1028700" cy="342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4" name="Flowchart: Summing Junction 13"/>
          <p:cNvSpPr/>
          <p:nvPr/>
        </p:nvSpPr>
        <p:spPr>
          <a:xfrm>
            <a:off x="3200400" y="2571743"/>
            <a:ext cx="342900" cy="300037"/>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7" name="TextBox 6">
            <a:extLst>
              <a:ext uri="{FF2B5EF4-FFF2-40B4-BE49-F238E27FC236}">
                <a16:creationId xmlns:a16="http://schemas.microsoft.com/office/drawing/2014/main" id="{42862291-9AD2-FB2C-734C-1381A3E12F7C}"/>
              </a:ext>
            </a:extLst>
          </p:cNvPr>
          <p:cNvSpPr txBox="1"/>
          <p:nvPr/>
        </p:nvSpPr>
        <p:spPr>
          <a:xfrm>
            <a:off x="146304" y="4029379"/>
            <a:ext cx="11693300" cy="830997"/>
          </a:xfrm>
          <a:prstGeom prst="rect">
            <a:avLst/>
          </a:prstGeom>
          <a:noFill/>
        </p:spPr>
        <p:txBody>
          <a:bodyPr wrap="square">
            <a:spAutoFit/>
          </a:bodyPr>
          <a:lstStyle/>
          <a:p>
            <a:r>
              <a:rPr lang="en-US" sz="2400" b="1" dirty="0">
                <a:solidFill>
                  <a:schemeClr val="accent6">
                    <a:lumMod val="60000"/>
                    <a:lumOff val="40000"/>
                  </a:schemeClr>
                </a:solidFill>
              </a:rPr>
              <a:t>Example: </a:t>
            </a:r>
            <a:r>
              <a:rPr lang="en-US" sz="2400" dirty="0">
                <a:solidFill>
                  <a:schemeClr val="accent6">
                    <a:lumMod val="60000"/>
                    <a:lumOff val="40000"/>
                  </a:schemeClr>
                </a:solidFill>
              </a:rPr>
              <a:t>Convolving an input image of 6 X 6 dimension with a 3 X 3 filter results in 4 X 4 image.</a:t>
            </a:r>
          </a:p>
        </p:txBody>
      </p:sp>
    </p:spTree>
    <p:extLst>
      <p:ext uri="{BB962C8B-B14F-4D97-AF65-F5344CB8AC3E}">
        <p14:creationId xmlns:p14="http://schemas.microsoft.com/office/powerpoint/2010/main" val="988468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5884" y="167203"/>
            <a:ext cx="11484428" cy="2308324"/>
          </a:xfrm>
          <a:prstGeom prst="rect">
            <a:avLst/>
          </a:prstGeom>
          <a:noFill/>
        </p:spPr>
        <p:txBody>
          <a:bodyPr wrap="square" rtlCol="0">
            <a:spAutoFit/>
          </a:bodyPr>
          <a:lstStyle/>
          <a:p>
            <a:r>
              <a:rPr lang="en-US" sz="2400" b="1" dirty="0">
                <a:solidFill>
                  <a:schemeClr val="accent6">
                    <a:lumMod val="60000"/>
                    <a:lumOff val="40000"/>
                  </a:schemeClr>
                </a:solidFill>
              </a:rPr>
              <a:t>2 problems </a:t>
            </a:r>
            <a:r>
              <a:rPr lang="en-US" sz="2400" dirty="0">
                <a:solidFill>
                  <a:schemeClr val="accent6">
                    <a:lumMod val="60000"/>
                    <a:lumOff val="40000"/>
                  </a:schemeClr>
                </a:solidFill>
              </a:rPr>
              <a:t>when applying convolution:</a:t>
            </a:r>
          </a:p>
          <a:p>
            <a:r>
              <a:rPr lang="en-US" sz="2400" dirty="0">
                <a:solidFill>
                  <a:schemeClr val="accent6">
                    <a:lumMod val="60000"/>
                    <a:lumOff val="40000"/>
                  </a:schemeClr>
                </a:solidFill>
              </a:rPr>
              <a:t>1. Every time we apply a convolutional operation, the size of the </a:t>
            </a:r>
            <a:r>
              <a:rPr lang="en-US" sz="2400" b="1" dirty="0">
                <a:solidFill>
                  <a:schemeClr val="accent6">
                    <a:lumMod val="60000"/>
                    <a:lumOff val="40000"/>
                  </a:schemeClr>
                </a:solidFill>
              </a:rPr>
              <a:t>image shrinks</a:t>
            </a:r>
          </a:p>
          <a:p>
            <a:r>
              <a:rPr lang="en-US" sz="2400" dirty="0">
                <a:solidFill>
                  <a:schemeClr val="accent6">
                    <a:lumMod val="60000"/>
                    <a:lumOff val="40000"/>
                  </a:schemeClr>
                </a:solidFill>
              </a:rPr>
              <a:t>2. Pixels present in the </a:t>
            </a:r>
            <a:r>
              <a:rPr lang="en-US" sz="2400" b="1" dirty="0">
                <a:solidFill>
                  <a:schemeClr val="accent6">
                    <a:lumMod val="60000"/>
                    <a:lumOff val="40000"/>
                  </a:schemeClr>
                </a:solidFill>
              </a:rPr>
              <a:t>corner of the image are used only a few number of times</a:t>
            </a:r>
            <a:r>
              <a:rPr lang="en-US" sz="2400" dirty="0">
                <a:solidFill>
                  <a:schemeClr val="accent6">
                    <a:lumMod val="60000"/>
                    <a:lumOff val="40000"/>
                  </a:schemeClr>
                </a:solidFill>
              </a:rPr>
              <a:t> during convolution as compared to the central pixels.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Hence, we do not focus too much on the corners since that can lead to information loss</a:t>
            </a:r>
          </a:p>
        </p:txBody>
      </p:sp>
      <p:sp>
        <p:nvSpPr>
          <p:cNvPr id="3" name="TextBox 2">
            <a:extLst>
              <a:ext uri="{FF2B5EF4-FFF2-40B4-BE49-F238E27FC236}">
                <a16:creationId xmlns:a16="http://schemas.microsoft.com/office/drawing/2014/main" id="{4D62F2D6-DB94-571D-52B5-0ADCD1E0016F}"/>
              </a:ext>
            </a:extLst>
          </p:cNvPr>
          <p:cNvSpPr txBox="1"/>
          <p:nvPr/>
        </p:nvSpPr>
        <p:spPr>
          <a:xfrm>
            <a:off x="10333093" y="-1682"/>
            <a:ext cx="1799403" cy="369332"/>
          </a:xfrm>
          <a:prstGeom prst="rect">
            <a:avLst/>
          </a:prstGeom>
          <a:noFill/>
        </p:spPr>
        <p:txBody>
          <a:bodyPr wrap="none" rtlCol="0">
            <a:spAutoFit/>
          </a:bodyPr>
          <a:lstStyle/>
          <a:p>
            <a:r>
              <a:rPr lang="en-US" dirty="0" err="1">
                <a:solidFill>
                  <a:schemeClr val="accent6">
                    <a:lumMod val="60000"/>
                    <a:lumOff val="40000"/>
                  </a:schemeClr>
                </a:solidFill>
              </a:rPr>
              <a:t>Loxford</a:t>
            </a:r>
            <a:r>
              <a:rPr lang="en-US" dirty="0">
                <a:solidFill>
                  <a:schemeClr val="accent6">
                    <a:lumMod val="60000"/>
                    <a:lumOff val="40000"/>
                  </a:schemeClr>
                </a:solidFill>
              </a:rPr>
              <a:t> Academy</a:t>
            </a:r>
            <a:endParaRPr lang="en-IN" dirty="0">
              <a:solidFill>
                <a:schemeClr val="accent6">
                  <a:lumMod val="60000"/>
                  <a:lumOff val="40000"/>
                </a:schemeClr>
              </a:solidFill>
            </a:endParaRPr>
          </a:p>
        </p:txBody>
      </p:sp>
      <p:graphicFrame>
        <p:nvGraphicFramePr>
          <p:cNvPr id="7" name="Table 6">
            <a:extLst>
              <a:ext uri="{FF2B5EF4-FFF2-40B4-BE49-F238E27FC236}">
                <a16:creationId xmlns:a16="http://schemas.microsoft.com/office/drawing/2014/main" id="{A41CBAFC-7905-B1DB-72C1-24A11EBA829E}"/>
              </a:ext>
            </a:extLst>
          </p:cNvPr>
          <p:cNvGraphicFramePr>
            <a:graphicFrameLocks noGrp="1"/>
          </p:cNvGraphicFramePr>
          <p:nvPr>
            <p:extLst>
              <p:ext uri="{D42A27DB-BD31-4B8C-83A1-F6EECF244321}">
                <p14:modId xmlns:p14="http://schemas.microsoft.com/office/powerpoint/2010/main" val="798932129"/>
              </p:ext>
            </p:extLst>
          </p:nvPr>
        </p:nvGraphicFramePr>
        <p:xfrm>
          <a:off x="3319272" y="3320956"/>
          <a:ext cx="1706516" cy="1645948"/>
        </p:xfrm>
        <a:graphic>
          <a:graphicData uri="http://schemas.openxmlformats.org/drawingml/2006/table">
            <a:tbl>
              <a:tblPr firstRow="1" bandRow="1">
                <a:tableStyleId>{5C22544A-7EE6-4342-B048-85BDC9FD1C3A}</a:tableStyleId>
              </a:tblPr>
              <a:tblGrid>
                <a:gridCol w="426629">
                  <a:extLst>
                    <a:ext uri="{9D8B030D-6E8A-4147-A177-3AD203B41FA5}">
                      <a16:colId xmlns:a16="http://schemas.microsoft.com/office/drawing/2014/main" val="1389518616"/>
                    </a:ext>
                  </a:extLst>
                </a:gridCol>
                <a:gridCol w="426629">
                  <a:extLst>
                    <a:ext uri="{9D8B030D-6E8A-4147-A177-3AD203B41FA5}">
                      <a16:colId xmlns:a16="http://schemas.microsoft.com/office/drawing/2014/main" val="1459470418"/>
                    </a:ext>
                  </a:extLst>
                </a:gridCol>
                <a:gridCol w="426629">
                  <a:extLst>
                    <a:ext uri="{9D8B030D-6E8A-4147-A177-3AD203B41FA5}">
                      <a16:colId xmlns:a16="http://schemas.microsoft.com/office/drawing/2014/main" val="2958559927"/>
                    </a:ext>
                  </a:extLst>
                </a:gridCol>
                <a:gridCol w="426629">
                  <a:extLst>
                    <a:ext uri="{9D8B030D-6E8A-4147-A177-3AD203B41FA5}">
                      <a16:colId xmlns:a16="http://schemas.microsoft.com/office/drawing/2014/main" val="2057754161"/>
                    </a:ext>
                  </a:extLst>
                </a:gridCol>
              </a:tblGrid>
              <a:tr h="411487">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884835"/>
                  </a:ext>
                </a:extLst>
              </a:tr>
              <a:tr h="411487">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9202877"/>
                  </a:ext>
                </a:extLst>
              </a:tr>
              <a:tr h="411487">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2148794"/>
                  </a:ext>
                </a:extLst>
              </a:tr>
              <a:tr h="411487">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6644913"/>
                  </a:ext>
                </a:extLst>
              </a:tr>
            </a:tbl>
          </a:graphicData>
        </a:graphic>
      </p:graphicFrame>
      <p:graphicFrame>
        <p:nvGraphicFramePr>
          <p:cNvPr id="10" name="Table 9">
            <a:extLst>
              <a:ext uri="{FF2B5EF4-FFF2-40B4-BE49-F238E27FC236}">
                <a16:creationId xmlns:a16="http://schemas.microsoft.com/office/drawing/2014/main" id="{4B11EFA1-EBFB-0C80-1F6E-138BBEBABECE}"/>
              </a:ext>
            </a:extLst>
          </p:cNvPr>
          <p:cNvGraphicFramePr>
            <a:graphicFrameLocks noGrp="1"/>
          </p:cNvGraphicFramePr>
          <p:nvPr>
            <p:extLst>
              <p:ext uri="{D42A27DB-BD31-4B8C-83A1-F6EECF244321}">
                <p14:modId xmlns:p14="http://schemas.microsoft.com/office/powerpoint/2010/main" val="1770124436"/>
              </p:ext>
            </p:extLst>
          </p:nvPr>
        </p:nvGraphicFramePr>
        <p:xfrm>
          <a:off x="5954436" y="3418892"/>
          <a:ext cx="1428750" cy="1217865"/>
        </p:xfrm>
        <a:graphic>
          <a:graphicData uri="http://schemas.openxmlformats.org/drawingml/2006/table">
            <a:tbl>
              <a:tblPr firstRow="1" bandRow="1">
                <a:tableStyleId>{5C22544A-7EE6-4342-B048-85BDC9FD1C3A}</a:tableStyleId>
              </a:tblPr>
              <a:tblGrid>
                <a:gridCol w="476250">
                  <a:extLst>
                    <a:ext uri="{9D8B030D-6E8A-4147-A177-3AD203B41FA5}">
                      <a16:colId xmlns:a16="http://schemas.microsoft.com/office/drawing/2014/main" val="2688234979"/>
                    </a:ext>
                  </a:extLst>
                </a:gridCol>
                <a:gridCol w="476250">
                  <a:extLst>
                    <a:ext uri="{9D8B030D-6E8A-4147-A177-3AD203B41FA5}">
                      <a16:colId xmlns:a16="http://schemas.microsoft.com/office/drawing/2014/main" val="204007461"/>
                    </a:ext>
                  </a:extLst>
                </a:gridCol>
                <a:gridCol w="476250">
                  <a:extLst>
                    <a:ext uri="{9D8B030D-6E8A-4147-A177-3AD203B41FA5}">
                      <a16:colId xmlns:a16="http://schemas.microsoft.com/office/drawing/2014/main" val="3220544073"/>
                    </a:ext>
                  </a:extLst>
                </a:gridCol>
              </a:tblGrid>
              <a:tr h="40595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294125"/>
                  </a:ext>
                </a:extLst>
              </a:tr>
              <a:tr h="40595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4496929"/>
                  </a:ext>
                </a:extLst>
              </a:tr>
              <a:tr h="40595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9163455"/>
                  </a:ext>
                </a:extLst>
              </a:tr>
            </a:tbl>
          </a:graphicData>
        </a:graphic>
      </p:graphicFrame>
      <p:graphicFrame>
        <p:nvGraphicFramePr>
          <p:cNvPr id="11" name="Table 10">
            <a:extLst>
              <a:ext uri="{FF2B5EF4-FFF2-40B4-BE49-F238E27FC236}">
                <a16:creationId xmlns:a16="http://schemas.microsoft.com/office/drawing/2014/main" id="{1F1BB49E-F94F-6E94-B3DE-002B0D7F32C7}"/>
              </a:ext>
            </a:extLst>
          </p:cNvPr>
          <p:cNvGraphicFramePr>
            <a:graphicFrameLocks noGrp="1"/>
          </p:cNvGraphicFramePr>
          <p:nvPr>
            <p:extLst>
              <p:ext uri="{D42A27DB-BD31-4B8C-83A1-F6EECF244321}">
                <p14:modId xmlns:p14="http://schemas.microsoft.com/office/powerpoint/2010/main" val="1172559053"/>
              </p:ext>
            </p:extLst>
          </p:nvPr>
        </p:nvGraphicFramePr>
        <p:xfrm>
          <a:off x="8154730" y="3758181"/>
          <a:ext cx="885820" cy="731520"/>
        </p:xfrm>
        <a:graphic>
          <a:graphicData uri="http://schemas.openxmlformats.org/drawingml/2006/table">
            <a:tbl>
              <a:tblPr firstRow="1" bandRow="1">
                <a:tableStyleId>{5C22544A-7EE6-4342-B048-85BDC9FD1C3A}</a:tableStyleId>
              </a:tblPr>
              <a:tblGrid>
                <a:gridCol w="442910">
                  <a:extLst>
                    <a:ext uri="{9D8B030D-6E8A-4147-A177-3AD203B41FA5}">
                      <a16:colId xmlns:a16="http://schemas.microsoft.com/office/drawing/2014/main" val="91243122"/>
                    </a:ext>
                  </a:extLst>
                </a:gridCol>
                <a:gridCol w="442910">
                  <a:extLst>
                    <a:ext uri="{9D8B030D-6E8A-4147-A177-3AD203B41FA5}">
                      <a16:colId xmlns:a16="http://schemas.microsoft.com/office/drawing/2014/main" val="1364105988"/>
                    </a:ext>
                  </a:extLst>
                </a:gridCol>
              </a:tblGrid>
              <a:tr h="301466">
                <a:tc>
                  <a:txBody>
                    <a:bodyPr/>
                    <a:lstStyle/>
                    <a:p>
                      <a:r>
                        <a:rPr lang="en-US"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2192730"/>
                  </a:ext>
                </a:extLst>
              </a:tr>
              <a:tr h="301466">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50524"/>
                  </a:ext>
                </a:extLst>
              </a:tr>
            </a:tbl>
          </a:graphicData>
        </a:graphic>
      </p:graphicFrame>
      <p:sp>
        <p:nvSpPr>
          <p:cNvPr id="14" name="Flowchart: Summing Junction 13">
            <a:extLst>
              <a:ext uri="{FF2B5EF4-FFF2-40B4-BE49-F238E27FC236}">
                <a16:creationId xmlns:a16="http://schemas.microsoft.com/office/drawing/2014/main" id="{AC704B48-D247-2CFA-0627-6DFC42EAF25C}"/>
              </a:ext>
            </a:extLst>
          </p:cNvPr>
          <p:cNvSpPr/>
          <p:nvPr/>
        </p:nvSpPr>
        <p:spPr>
          <a:xfrm>
            <a:off x="5312393" y="3798191"/>
            <a:ext cx="414346" cy="377194"/>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5" name="Right Arrow 11">
            <a:extLst>
              <a:ext uri="{FF2B5EF4-FFF2-40B4-BE49-F238E27FC236}">
                <a16:creationId xmlns:a16="http://schemas.microsoft.com/office/drawing/2014/main" id="{3849BE4E-44C7-B87C-0772-53E1F8439CC1}"/>
              </a:ext>
            </a:extLst>
          </p:cNvPr>
          <p:cNvSpPr/>
          <p:nvPr/>
        </p:nvSpPr>
        <p:spPr>
          <a:xfrm>
            <a:off x="7440365" y="3986788"/>
            <a:ext cx="51435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lumMod val="60000"/>
                  <a:lumOff val="40000"/>
                </a:schemeClr>
              </a:solidFill>
            </a:endParaRPr>
          </a:p>
        </p:txBody>
      </p:sp>
      <p:sp>
        <p:nvSpPr>
          <p:cNvPr id="16" name="TextBox 15">
            <a:extLst>
              <a:ext uri="{FF2B5EF4-FFF2-40B4-BE49-F238E27FC236}">
                <a16:creationId xmlns:a16="http://schemas.microsoft.com/office/drawing/2014/main" id="{125593E8-F098-D396-5066-9D7796D67729}"/>
              </a:ext>
            </a:extLst>
          </p:cNvPr>
          <p:cNvSpPr txBox="1"/>
          <p:nvPr/>
        </p:nvSpPr>
        <p:spPr>
          <a:xfrm>
            <a:off x="3813446" y="2652557"/>
            <a:ext cx="966803" cy="461665"/>
          </a:xfrm>
          <a:prstGeom prst="rect">
            <a:avLst/>
          </a:prstGeom>
          <a:noFill/>
        </p:spPr>
        <p:txBody>
          <a:bodyPr wrap="none" rtlCol="0">
            <a:spAutoFit/>
          </a:bodyPr>
          <a:lstStyle/>
          <a:p>
            <a:r>
              <a:rPr lang="en-US" sz="2400" b="1" dirty="0">
                <a:solidFill>
                  <a:schemeClr val="accent6">
                    <a:lumMod val="60000"/>
                    <a:lumOff val="40000"/>
                  </a:schemeClr>
                </a:solidFill>
              </a:rPr>
              <a:t>Image</a:t>
            </a:r>
            <a:endParaRPr lang="en-IN" sz="2400" b="1" dirty="0">
              <a:solidFill>
                <a:schemeClr val="accent6">
                  <a:lumMod val="60000"/>
                  <a:lumOff val="40000"/>
                </a:schemeClr>
              </a:solidFill>
            </a:endParaRPr>
          </a:p>
        </p:txBody>
      </p:sp>
      <p:sp>
        <p:nvSpPr>
          <p:cNvPr id="17" name="TextBox 16">
            <a:extLst>
              <a:ext uri="{FF2B5EF4-FFF2-40B4-BE49-F238E27FC236}">
                <a16:creationId xmlns:a16="http://schemas.microsoft.com/office/drawing/2014/main" id="{37D9BD38-E7BF-4238-01C4-C04D0E5DE24A}"/>
              </a:ext>
            </a:extLst>
          </p:cNvPr>
          <p:cNvSpPr txBox="1"/>
          <p:nvPr/>
        </p:nvSpPr>
        <p:spPr>
          <a:xfrm>
            <a:off x="6095470" y="2859291"/>
            <a:ext cx="1007840" cy="461665"/>
          </a:xfrm>
          <a:prstGeom prst="rect">
            <a:avLst/>
          </a:prstGeom>
          <a:noFill/>
        </p:spPr>
        <p:txBody>
          <a:bodyPr wrap="none" rtlCol="0">
            <a:spAutoFit/>
          </a:bodyPr>
          <a:lstStyle/>
          <a:p>
            <a:r>
              <a:rPr lang="en-US" sz="2400" b="1" dirty="0">
                <a:solidFill>
                  <a:schemeClr val="accent6">
                    <a:lumMod val="60000"/>
                    <a:lumOff val="40000"/>
                  </a:schemeClr>
                </a:solidFill>
              </a:rPr>
              <a:t>Kernel</a:t>
            </a:r>
            <a:endParaRPr lang="en-IN" sz="2400" b="1" dirty="0">
              <a:solidFill>
                <a:schemeClr val="accent6">
                  <a:lumMod val="60000"/>
                  <a:lumOff val="40000"/>
                </a:schemeClr>
              </a:solidFill>
            </a:endParaRPr>
          </a:p>
        </p:txBody>
      </p:sp>
      <p:sp>
        <p:nvSpPr>
          <p:cNvPr id="18" name="TextBox 17">
            <a:extLst>
              <a:ext uri="{FF2B5EF4-FFF2-40B4-BE49-F238E27FC236}">
                <a16:creationId xmlns:a16="http://schemas.microsoft.com/office/drawing/2014/main" id="{470559BB-6B20-3294-9501-E9640B7BA565}"/>
              </a:ext>
            </a:extLst>
          </p:cNvPr>
          <p:cNvSpPr txBox="1"/>
          <p:nvPr/>
        </p:nvSpPr>
        <p:spPr>
          <a:xfrm>
            <a:off x="7964528" y="2815659"/>
            <a:ext cx="1954253" cy="461665"/>
          </a:xfrm>
          <a:prstGeom prst="rect">
            <a:avLst/>
          </a:prstGeom>
          <a:noFill/>
        </p:spPr>
        <p:txBody>
          <a:bodyPr wrap="none" rtlCol="0">
            <a:spAutoFit/>
          </a:bodyPr>
          <a:lstStyle/>
          <a:p>
            <a:r>
              <a:rPr lang="en-US" sz="2400" b="1" dirty="0">
                <a:solidFill>
                  <a:schemeClr val="accent6">
                    <a:lumMod val="60000"/>
                    <a:lumOff val="40000"/>
                  </a:schemeClr>
                </a:solidFill>
              </a:rPr>
              <a:t>Output Image</a:t>
            </a:r>
            <a:endParaRPr lang="en-IN" sz="2400" b="1" dirty="0">
              <a:solidFill>
                <a:schemeClr val="accent6">
                  <a:lumMod val="60000"/>
                  <a:lumOff val="40000"/>
                </a:schemeClr>
              </a:solidFill>
            </a:endParaRPr>
          </a:p>
        </p:txBody>
      </p:sp>
    </p:spTree>
    <p:extLst>
      <p:ext uri="{BB962C8B-B14F-4D97-AF65-F5344CB8AC3E}">
        <p14:creationId xmlns:p14="http://schemas.microsoft.com/office/powerpoint/2010/main" val="1001247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D570D-24CE-D1AE-1EFE-835F178C9BA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1F38EF2-EFE3-5F0C-296F-16BA253FBDA0}"/>
              </a:ext>
            </a:extLst>
          </p:cNvPr>
          <p:cNvSpPr txBox="1"/>
          <p:nvPr/>
        </p:nvSpPr>
        <p:spPr>
          <a:xfrm>
            <a:off x="155884" y="167203"/>
            <a:ext cx="11484428" cy="3046988"/>
          </a:xfrm>
          <a:prstGeom prst="rect">
            <a:avLst/>
          </a:prstGeom>
          <a:noFill/>
        </p:spPr>
        <p:txBody>
          <a:bodyPr wrap="square" rtlCol="0">
            <a:spAutoFit/>
          </a:bodyPr>
          <a:lstStyle/>
          <a:p>
            <a:r>
              <a:rPr lang="en-US" sz="2400" b="1" dirty="0">
                <a:solidFill>
                  <a:schemeClr val="accent6">
                    <a:lumMod val="60000"/>
                    <a:lumOff val="40000"/>
                  </a:schemeClr>
                </a:solidFill>
              </a:rPr>
              <a:t>SOLUTION: Apply padding</a:t>
            </a:r>
          </a:p>
          <a:p>
            <a:r>
              <a:rPr lang="en-US" sz="2400" dirty="0">
                <a:solidFill>
                  <a:schemeClr val="accent6">
                    <a:lumMod val="60000"/>
                    <a:lumOff val="40000"/>
                  </a:schemeClr>
                </a:solidFill>
              </a:rPr>
              <a:t>We pad the image with an additional border, i.e., we add one pixel all around the edges. This means that the original image of size 6x6 will result in 8 X 8 matrix. </a:t>
            </a:r>
          </a:p>
          <a:p>
            <a:r>
              <a:rPr lang="en-US" sz="2400" dirty="0">
                <a:solidFill>
                  <a:schemeClr val="accent6">
                    <a:lumMod val="60000"/>
                    <a:lumOff val="40000"/>
                  </a:schemeClr>
                </a:solidFill>
              </a:rPr>
              <a:t>Applying convolution of 3 X 3 on 8 X 8 image will result in a 6 X 6 image which is the original shape of the image. </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Padding formula:</a:t>
            </a:r>
          </a:p>
          <a:p>
            <a:r>
              <a:rPr lang="en-US" sz="2400" b="1" dirty="0">
                <a:solidFill>
                  <a:schemeClr val="accent6">
                    <a:lumMod val="60000"/>
                    <a:lumOff val="40000"/>
                  </a:schemeClr>
                </a:solidFill>
              </a:rPr>
              <a:t>Input:</a:t>
            </a:r>
            <a:r>
              <a:rPr lang="en-US" sz="2400" dirty="0">
                <a:solidFill>
                  <a:schemeClr val="accent6">
                    <a:lumMod val="60000"/>
                    <a:lumOff val="40000"/>
                  </a:schemeClr>
                </a:solidFill>
              </a:rPr>
              <a:t> n X n,   </a:t>
            </a:r>
            <a:r>
              <a:rPr lang="en-US" sz="2400" b="1" dirty="0">
                <a:solidFill>
                  <a:schemeClr val="accent6">
                    <a:lumMod val="60000"/>
                    <a:lumOff val="40000"/>
                  </a:schemeClr>
                </a:solidFill>
              </a:rPr>
              <a:t>Padding:</a:t>
            </a:r>
            <a:r>
              <a:rPr lang="en-US" sz="2400" dirty="0">
                <a:solidFill>
                  <a:schemeClr val="accent6">
                    <a:lumMod val="60000"/>
                    <a:lumOff val="40000"/>
                  </a:schemeClr>
                </a:solidFill>
              </a:rPr>
              <a:t> p,    </a:t>
            </a:r>
            <a:r>
              <a:rPr lang="en-US" sz="2400" b="1" dirty="0">
                <a:solidFill>
                  <a:schemeClr val="accent6">
                    <a:lumMod val="60000"/>
                    <a:lumOff val="40000"/>
                  </a:schemeClr>
                </a:solidFill>
              </a:rPr>
              <a:t>Filter size:</a:t>
            </a:r>
            <a:r>
              <a:rPr lang="en-US" sz="2400" dirty="0">
                <a:solidFill>
                  <a:schemeClr val="accent6">
                    <a:lumMod val="60000"/>
                    <a:lumOff val="40000"/>
                  </a:schemeClr>
                </a:solidFill>
              </a:rPr>
              <a:t> f X f,  </a:t>
            </a:r>
            <a:r>
              <a:rPr lang="en-US" sz="2400" dirty="0">
                <a:solidFill>
                  <a:schemeClr val="accent6">
                    <a:lumMod val="60000"/>
                    <a:lumOff val="40000"/>
                  </a:schemeClr>
                </a:solidFill>
                <a:sym typeface="Wingdings" panose="05000000000000000000" pitchFamily="2" charset="2"/>
              </a:rPr>
              <a:t></a:t>
            </a:r>
            <a:r>
              <a:rPr lang="en-US" sz="2400" dirty="0">
                <a:solidFill>
                  <a:schemeClr val="accent6">
                    <a:lumMod val="60000"/>
                    <a:lumOff val="40000"/>
                  </a:schemeClr>
                </a:solidFill>
              </a:rPr>
              <a:t>  </a:t>
            </a:r>
            <a:r>
              <a:rPr lang="en-US" sz="2400" b="1" dirty="0">
                <a:solidFill>
                  <a:schemeClr val="accent6">
                    <a:lumMod val="60000"/>
                    <a:lumOff val="40000"/>
                  </a:schemeClr>
                </a:solidFill>
              </a:rPr>
              <a:t>Output size:</a:t>
            </a:r>
            <a:r>
              <a:rPr lang="en-US" sz="2400" dirty="0">
                <a:solidFill>
                  <a:schemeClr val="accent6">
                    <a:lumMod val="60000"/>
                    <a:lumOff val="40000"/>
                  </a:schemeClr>
                </a:solidFill>
              </a:rPr>
              <a:t> (n+2p-f+1) X (n+2p-f+1)</a:t>
            </a:r>
          </a:p>
        </p:txBody>
      </p:sp>
      <p:graphicFrame>
        <p:nvGraphicFramePr>
          <p:cNvPr id="8" name="Table 7">
            <a:extLst>
              <a:ext uri="{FF2B5EF4-FFF2-40B4-BE49-F238E27FC236}">
                <a16:creationId xmlns:a16="http://schemas.microsoft.com/office/drawing/2014/main" id="{9626BBEE-A465-112E-B702-1F6D29EAC6FB}"/>
              </a:ext>
            </a:extLst>
          </p:cNvPr>
          <p:cNvGraphicFramePr>
            <a:graphicFrameLocks noGrp="1"/>
          </p:cNvGraphicFramePr>
          <p:nvPr>
            <p:extLst>
              <p:ext uri="{D42A27DB-BD31-4B8C-83A1-F6EECF244321}">
                <p14:modId xmlns:p14="http://schemas.microsoft.com/office/powerpoint/2010/main" val="2057990425"/>
              </p:ext>
            </p:extLst>
          </p:nvPr>
        </p:nvGraphicFramePr>
        <p:xfrm>
          <a:off x="1198585" y="3643810"/>
          <a:ext cx="3069774" cy="2201883"/>
        </p:xfrm>
        <a:graphic>
          <a:graphicData uri="http://schemas.openxmlformats.org/drawingml/2006/table">
            <a:tbl>
              <a:tblPr firstRow="1" bandRow="1">
                <a:tableStyleId>{5C22544A-7EE6-4342-B048-85BDC9FD1C3A}</a:tableStyleId>
              </a:tblPr>
              <a:tblGrid>
                <a:gridCol w="511629">
                  <a:extLst>
                    <a:ext uri="{9D8B030D-6E8A-4147-A177-3AD203B41FA5}">
                      <a16:colId xmlns:a16="http://schemas.microsoft.com/office/drawing/2014/main" val="70799869"/>
                    </a:ext>
                  </a:extLst>
                </a:gridCol>
                <a:gridCol w="511629">
                  <a:extLst>
                    <a:ext uri="{9D8B030D-6E8A-4147-A177-3AD203B41FA5}">
                      <a16:colId xmlns:a16="http://schemas.microsoft.com/office/drawing/2014/main" val="130520658"/>
                    </a:ext>
                  </a:extLst>
                </a:gridCol>
                <a:gridCol w="511629">
                  <a:extLst>
                    <a:ext uri="{9D8B030D-6E8A-4147-A177-3AD203B41FA5}">
                      <a16:colId xmlns:a16="http://schemas.microsoft.com/office/drawing/2014/main" val="3633071172"/>
                    </a:ext>
                  </a:extLst>
                </a:gridCol>
                <a:gridCol w="511629">
                  <a:extLst>
                    <a:ext uri="{9D8B030D-6E8A-4147-A177-3AD203B41FA5}">
                      <a16:colId xmlns:a16="http://schemas.microsoft.com/office/drawing/2014/main" val="3490065771"/>
                    </a:ext>
                  </a:extLst>
                </a:gridCol>
                <a:gridCol w="511629">
                  <a:extLst>
                    <a:ext uri="{9D8B030D-6E8A-4147-A177-3AD203B41FA5}">
                      <a16:colId xmlns:a16="http://schemas.microsoft.com/office/drawing/2014/main" val="1847604308"/>
                    </a:ext>
                  </a:extLst>
                </a:gridCol>
                <a:gridCol w="511629">
                  <a:extLst>
                    <a:ext uri="{9D8B030D-6E8A-4147-A177-3AD203B41FA5}">
                      <a16:colId xmlns:a16="http://schemas.microsoft.com/office/drawing/2014/main" val="3012201742"/>
                    </a:ext>
                  </a:extLst>
                </a:gridCol>
              </a:tblGrid>
              <a:tr h="373083">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34544419"/>
                  </a:ext>
                </a:extLst>
              </a:tr>
              <a:tr h="363946">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473554637"/>
                  </a:ext>
                </a:extLst>
              </a:tr>
              <a:tr h="363946">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525478095"/>
                  </a:ext>
                </a:extLst>
              </a:tr>
              <a:tr h="363946">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354674428"/>
                  </a:ext>
                </a:extLst>
              </a:tr>
              <a:tr h="363946">
                <a:tc>
                  <a:txBody>
                    <a:bodyPr/>
                    <a:lstStyle/>
                    <a:p>
                      <a:r>
                        <a:rPr lang="en-US" dirty="0">
                          <a:solidFill>
                            <a:schemeClr val="bg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241284739"/>
                  </a:ext>
                </a:extLst>
              </a:tr>
              <a:tr h="363946">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658973273"/>
                  </a:ext>
                </a:extLst>
              </a:tr>
            </a:tbl>
          </a:graphicData>
        </a:graphic>
      </p:graphicFrame>
      <p:graphicFrame>
        <p:nvGraphicFramePr>
          <p:cNvPr id="9" name="Table 8">
            <a:extLst>
              <a:ext uri="{FF2B5EF4-FFF2-40B4-BE49-F238E27FC236}">
                <a16:creationId xmlns:a16="http://schemas.microsoft.com/office/drawing/2014/main" id="{CF80F2B3-A775-E746-A7B4-9A8329285289}"/>
              </a:ext>
            </a:extLst>
          </p:cNvPr>
          <p:cNvGraphicFramePr>
            <a:graphicFrameLocks noGrp="1"/>
          </p:cNvGraphicFramePr>
          <p:nvPr>
            <p:extLst>
              <p:ext uri="{D42A27DB-BD31-4B8C-83A1-F6EECF244321}">
                <p14:modId xmlns:p14="http://schemas.microsoft.com/office/powerpoint/2010/main" val="2473555114"/>
              </p:ext>
            </p:extLst>
          </p:nvPr>
        </p:nvGraphicFramePr>
        <p:xfrm>
          <a:off x="5394087" y="3343966"/>
          <a:ext cx="4401464" cy="2966720"/>
        </p:xfrm>
        <a:graphic>
          <a:graphicData uri="http://schemas.openxmlformats.org/drawingml/2006/table">
            <a:tbl>
              <a:tblPr firstRow="1" bandRow="1">
                <a:tableStyleId>{5C22544A-7EE6-4342-B048-85BDC9FD1C3A}</a:tableStyleId>
              </a:tblPr>
              <a:tblGrid>
                <a:gridCol w="550183">
                  <a:extLst>
                    <a:ext uri="{9D8B030D-6E8A-4147-A177-3AD203B41FA5}">
                      <a16:colId xmlns:a16="http://schemas.microsoft.com/office/drawing/2014/main" val="2832307689"/>
                    </a:ext>
                  </a:extLst>
                </a:gridCol>
                <a:gridCol w="550183">
                  <a:extLst>
                    <a:ext uri="{9D8B030D-6E8A-4147-A177-3AD203B41FA5}">
                      <a16:colId xmlns:a16="http://schemas.microsoft.com/office/drawing/2014/main" val="3251695324"/>
                    </a:ext>
                  </a:extLst>
                </a:gridCol>
                <a:gridCol w="550183">
                  <a:extLst>
                    <a:ext uri="{9D8B030D-6E8A-4147-A177-3AD203B41FA5}">
                      <a16:colId xmlns:a16="http://schemas.microsoft.com/office/drawing/2014/main" val="1011478440"/>
                    </a:ext>
                  </a:extLst>
                </a:gridCol>
                <a:gridCol w="550183">
                  <a:extLst>
                    <a:ext uri="{9D8B030D-6E8A-4147-A177-3AD203B41FA5}">
                      <a16:colId xmlns:a16="http://schemas.microsoft.com/office/drawing/2014/main" val="1879859260"/>
                    </a:ext>
                  </a:extLst>
                </a:gridCol>
                <a:gridCol w="550183">
                  <a:extLst>
                    <a:ext uri="{9D8B030D-6E8A-4147-A177-3AD203B41FA5}">
                      <a16:colId xmlns:a16="http://schemas.microsoft.com/office/drawing/2014/main" val="1114575029"/>
                    </a:ext>
                  </a:extLst>
                </a:gridCol>
                <a:gridCol w="550183">
                  <a:extLst>
                    <a:ext uri="{9D8B030D-6E8A-4147-A177-3AD203B41FA5}">
                      <a16:colId xmlns:a16="http://schemas.microsoft.com/office/drawing/2014/main" val="3759471387"/>
                    </a:ext>
                  </a:extLst>
                </a:gridCol>
                <a:gridCol w="550183">
                  <a:extLst>
                    <a:ext uri="{9D8B030D-6E8A-4147-A177-3AD203B41FA5}">
                      <a16:colId xmlns:a16="http://schemas.microsoft.com/office/drawing/2014/main" val="750792995"/>
                    </a:ext>
                  </a:extLst>
                </a:gridCol>
                <a:gridCol w="550183">
                  <a:extLst>
                    <a:ext uri="{9D8B030D-6E8A-4147-A177-3AD203B41FA5}">
                      <a16:colId xmlns:a16="http://schemas.microsoft.com/office/drawing/2014/main" val="3573411931"/>
                    </a:ext>
                  </a:extLst>
                </a:gridCol>
              </a:tblGrid>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624985788"/>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4008448368"/>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284556763"/>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797943795"/>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571270400"/>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668692868"/>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20849321"/>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280431063"/>
                  </a:ext>
                </a:extLst>
              </a:tr>
            </a:tbl>
          </a:graphicData>
        </a:graphic>
      </p:graphicFrame>
      <p:sp>
        <p:nvSpPr>
          <p:cNvPr id="12" name="TextBox 11">
            <a:extLst>
              <a:ext uri="{FF2B5EF4-FFF2-40B4-BE49-F238E27FC236}">
                <a16:creationId xmlns:a16="http://schemas.microsoft.com/office/drawing/2014/main" id="{36C29708-2ABE-77C3-3806-DE7F5014E235}"/>
              </a:ext>
            </a:extLst>
          </p:cNvPr>
          <p:cNvSpPr txBox="1"/>
          <p:nvPr/>
        </p:nvSpPr>
        <p:spPr>
          <a:xfrm>
            <a:off x="1443760" y="6149207"/>
            <a:ext cx="2133148" cy="461665"/>
          </a:xfrm>
          <a:prstGeom prst="rect">
            <a:avLst/>
          </a:prstGeom>
          <a:noFill/>
        </p:spPr>
        <p:txBody>
          <a:bodyPr wrap="none" rtlCol="0">
            <a:spAutoFit/>
          </a:bodyPr>
          <a:lstStyle/>
          <a:p>
            <a:r>
              <a:rPr lang="en-US" sz="2400" b="1" dirty="0">
                <a:solidFill>
                  <a:schemeClr val="accent6">
                    <a:lumMod val="60000"/>
                    <a:lumOff val="40000"/>
                  </a:schemeClr>
                </a:solidFill>
              </a:rPr>
              <a:t>Before padding</a:t>
            </a:r>
          </a:p>
        </p:txBody>
      </p:sp>
      <p:sp>
        <p:nvSpPr>
          <p:cNvPr id="13" name="TextBox 12">
            <a:extLst>
              <a:ext uri="{FF2B5EF4-FFF2-40B4-BE49-F238E27FC236}">
                <a16:creationId xmlns:a16="http://schemas.microsoft.com/office/drawing/2014/main" id="{074AC25E-5D6F-C94A-577D-864F508C8C69}"/>
              </a:ext>
            </a:extLst>
          </p:cNvPr>
          <p:cNvSpPr txBox="1"/>
          <p:nvPr/>
        </p:nvSpPr>
        <p:spPr>
          <a:xfrm>
            <a:off x="6635870" y="6378542"/>
            <a:ext cx="2495620" cy="461665"/>
          </a:xfrm>
          <a:prstGeom prst="rect">
            <a:avLst/>
          </a:prstGeom>
          <a:noFill/>
        </p:spPr>
        <p:txBody>
          <a:bodyPr wrap="none" rtlCol="0">
            <a:spAutoFit/>
          </a:bodyPr>
          <a:lstStyle/>
          <a:p>
            <a:r>
              <a:rPr lang="en-US" sz="2400" b="1" dirty="0">
                <a:solidFill>
                  <a:schemeClr val="accent6">
                    <a:lumMod val="60000"/>
                    <a:lumOff val="40000"/>
                  </a:schemeClr>
                </a:solidFill>
              </a:rPr>
              <a:t>After padding of 1</a:t>
            </a:r>
          </a:p>
        </p:txBody>
      </p:sp>
      <p:sp>
        <p:nvSpPr>
          <p:cNvPr id="3" name="TextBox 2">
            <a:extLst>
              <a:ext uri="{FF2B5EF4-FFF2-40B4-BE49-F238E27FC236}">
                <a16:creationId xmlns:a16="http://schemas.microsoft.com/office/drawing/2014/main" id="{DF47150A-32F9-1C82-B613-A90462810470}"/>
              </a:ext>
            </a:extLst>
          </p:cNvPr>
          <p:cNvSpPr txBox="1"/>
          <p:nvPr/>
        </p:nvSpPr>
        <p:spPr>
          <a:xfrm>
            <a:off x="10333093" y="-1682"/>
            <a:ext cx="1799403" cy="369332"/>
          </a:xfrm>
          <a:prstGeom prst="rect">
            <a:avLst/>
          </a:prstGeom>
          <a:noFill/>
        </p:spPr>
        <p:txBody>
          <a:bodyPr wrap="none" rtlCol="0">
            <a:spAutoFit/>
          </a:bodyPr>
          <a:lstStyle/>
          <a:p>
            <a:r>
              <a:rPr lang="en-US" dirty="0" err="1">
                <a:solidFill>
                  <a:schemeClr val="accent6">
                    <a:lumMod val="60000"/>
                    <a:lumOff val="40000"/>
                  </a:schemeClr>
                </a:solidFill>
              </a:rPr>
              <a:t>Loxford</a:t>
            </a:r>
            <a:r>
              <a:rPr lang="en-US" dirty="0">
                <a:solidFill>
                  <a:schemeClr val="accent6">
                    <a:lumMod val="60000"/>
                    <a:lumOff val="40000"/>
                  </a:schemeClr>
                </a:solidFill>
              </a:rPr>
              <a:t> Academy</a:t>
            </a:r>
            <a:endParaRPr lang="en-IN" dirty="0">
              <a:solidFill>
                <a:schemeClr val="accent6">
                  <a:lumMod val="60000"/>
                  <a:lumOff val="40000"/>
                </a:schemeClr>
              </a:solidFill>
            </a:endParaRPr>
          </a:p>
        </p:txBody>
      </p:sp>
    </p:spTree>
    <p:extLst>
      <p:ext uri="{BB962C8B-B14F-4D97-AF65-F5344CB8AC3E}">
        <p14:creationId xmlns:p14="http://schemas.microsoft.com/office/powerpoint/2010/main" val="1273373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2296" y="57475"/>
            <a:ext cx="12109704" cy="1200329"/>
          </a:xfrm>
          <a:prstGeom prst="rect">
            <a:avLst/>
          </a:prstGeom>
          <a:noFill/>
        </p:spPr>
        <p:txBody>
          <a:bodyPr wrap="square" rtlCol="0">
            <a:spAutoFit/>
          </a:bodyPr>
          <a:lstStyle/>
          <a:p>
            <a:r>
              <a:rPr lang="en-US" sz="2400" dirty="0">
                <a:solidFill>
                  <a:schemeClr val="accent6">
                    <a:lumMod val="60000"/>
                    <a:lumOff val="40000"/>
                  </a:schemeClr>
                </a:solidFill>
              </a:rPr>
              <a:t>Common choices for padding:</a:t>
            </a:r>
          </a:p>
          <a:p>
            <a:pPr marL="457200" indent="-457200">
              <a:buAutoNum type="arabicPeriod"/>
            </a:pPr>
            <a:r>
              <a:rPr lang="en-US" sz="2400" b="1" dirty="0">
                <a:solidFill>
                  <a:schemeClr val="accent6">
                    <a:lumMod val="60000"/>
                    <a:lumOff val="40000"/>
                  </a:schemeClr>
                </a:solidFill>
              </a:rPr>
              <a:t>Valid</a:t>
            </a:r>
            <a:r>
              <a:rPr lang="en-US" sz="2400" dirty="0">
                <a:solidFill>
                  <a:schemeClr val="accent6">
                    <a:lumMod val="60000"/>
                    <a:lumOff val="40000"/>
                  </a:schemeClr>
                </a:solidFill>
              </a:rPr>
              <a:t> </a:t>
            </a:r>
            <a:r>
              <a:rPr lang="en-US" sz="2400" b="1" dirty="0">
                <a:solidFill>
                  <a:schemeClr val="accent6">
                    <a:lumMod val="60000"/>
                    <a:lumOff val="40000"/>
                  </a:schemeClr>
                </a:solidFill>
              </a:rPr>
              <a:t>Padding</a:t>
            </a:r>
            <a:r>
              <a:rPr lang="en-US" sz="2400" dirty="0">
                <a:solidFill>
                  <a:schemeClr val="accent6">
                    <a:lumMod val="60000"/>
                    <a:lumOff val="40000"/>
                  </a:schemeClr>
                </a:solidFill>
              </a:rPr>
              <a:t> </a:t>
            </a:r>
            <a:r>
              <a:rPr lang="en-US" sz="2400" b="1" dirty="0">
                <a:solidFill>
                  <a:schemeClr val="accent6">
                    <a:lumMod val="60000"/>
                    <a:lumOff val="40000"/>
                  </a:schemeClr>
                </a:solidFill>
              </a:rPr>
              <a:t>:</a:t>
            </a:r>
            <a:r>
              <a:rPr lang="en-US" sz="2400" dirty="0">
                <a:solidFill>
                  <a:schemeClr val="accent6">
                    <a:lumMod val="60000"/>
                    <a:lumOff val="40000"/>
                  </a:schemeClr>
                </a:solidFill>
              </a:rPr>
              <a:t> </a:t>
            </a:r>
          </a:p>
          <a:p>
            <a:r>
              <a:rPr lang="en-US" sz="2400" dirty="0">
                <a:solidFill>
                  <a:schemeClr val="accent6">
                    <a:lumMod val="60000"/>
                    <a:lumOff val="40000"/>
                  </a:schemeClr>
                </a:solidFill>
              </a:rPr>
              <a:t>It means </a:t>
            </a:r>
            <a:r>
              <a:rPr lang="en-US" sz="2400" b="1" dirty="0">
                <a:solidFill>
                  <a:schemeClr val="accent6">
                    <a:lumMod val="60000"/>
                    <a:lumOff val="40000"/>
                  </a:schemeClr>
                </a:solidFill>
              </a:rPr>
              <a:t>no padding</a:t>
            </a:r>
            <a:r>
              <a:rPr lang="en-US" sz="2400" dirty="0">
                <a:solidFill>
                  <a:schemeClr val="accent6">
                    <a:lumMod val="60000"/>
                    <a:lumOff val="40000"/>
                  </a:schemeClr>
                </a:solidFill>
              </a:rPr>
              <a:t>. If we are using valid padding, the output will be (n-f+1) X (n-f+1)</a:t>
            </a:r>
          </a:p>
        </p:txBody>
      </p:sp>
      <p:sp>
        <p:nvSpPr>
          <p:cNvPr id="4" name="TextBox 3">
            <a:extLst>
              <a:ext uri="{FF2B5EF4-FFF2-40B4-BE49-F238E27FC236}">
                <a16:creationId xmlns:a16="http://schemas.microsoft.com/office/drawing/2014/main" id="{C5EF2AAF-09E6-F111-63BC-41941E408C86}"/>
              </a:ext>
            </a:extLst>
          </p:cNvPr>
          <p:cNvSpPr txBox="1"/>
          <p:nvPr/>
        </p:nvSpPr>
        <p:spPr>
          <a:xfrm>
            <a:off x="9619861" y="44038"/>
            <a:ext cx="1799403" cy="369332"/>
          </a:xfrm>
          <a:prstGeom prst="rect">
            <a:avLst/>
          </a:prstGeom>
          <a:noFill/>
        </p:spPr>
        <p:txBody>
          <a:bodyPr wrap="none" rtlCol="0">
            <a:spAutoFit/>
          </a:bodyPr>
          <a:lstStyle/>
          <a:p>
            <a:r>
              <a:rPr lang="en-US" dirty="0" err="1">
                <a:solidFill>
                  <a:schemeClr val="accent6">
                    <a:lumMod val="60000"/>
                    <a:lumOff val="40000"/>
                  </a:schemeClr>
                </a:solidFill>
              </a:rPr>
              <a:t>Loxford</a:t>
            </a:r>
            <a:r>
              <a:rPr lang="en-US" dirty="0">
                <a:solidFill>
                  <a:schemeClr val="accent6">
                    <a:lumMod val="60000"/>
                    <a:lumOff val="40000"/>
                  </a:schemeClr>
                </a:solidFill>
              </a:rPr>
              <a:t> Academy</a:t>
            </a:r>
            <a:endParaRPr lang="en-IN" dirty="0">
              <a:solidFill>
                <a:schemeClr val="accent6">
                  <a:lumMod val="60000"/>
                  <a:lumOff val="40000"/>
                </a:schemeClr>
              </a:solidFill>
            </a:endParaRPr>
          </a:p>
        </p:txBody>
      </p:sp>
      <p:sp>
        <p:nvSpPr>
          <p:cNvPr id="12" name="TextBox 11">
            <a:extLst>
              <a:ext uri="{FF2B5EF4-FFF2-40B4-BE49-F238E27FC236}">
                <a16:creationId xmlns:a16="http://schemas.microsoft.com/office/drawing/2014/main" id="{48F18792-8B72-A914-D1A7-F8E8AB8FD03B}"/>
              </a:ext>
            </a:extLst>
          </p:cNvPr>
          <p:cNvSpPr txBox="1"/>
          <p:nvPr/>
        </p:nvSpPr>
        <p:spPr>
          <a:xfrm>
            <a:off x="959128" y="6149207"/>
            <a:ext cx="2133148" cy="461665"/>
          </a:xfrm>
          <a:prstGeom prst="rect">
            <a:avLst/>
          </a:prstGeom>
          <a:noFill/>
        </p:spPr>
        <p:txBody>
          <a:bodyPr wrap="none" rtlCol="0">
            <a:spAutoFit/>
          </a:bodyPr>
          <a:lstStyle/>
          <a:p>
            <a:r>
              <a:rPr lang="en-US" sz="2400" b="1" dirty="0">
                <a:solidFill>
                  <a:schemeClr val="accent6">
                    <a:lumMod val="60000"/>
                    <a:lumOff val="40000"/>
                  </a:schemeClr>
                </a:solidFill>
              </a:rPr>
              <a:t>Before padding</a:t>
            </a:r>
          </a:p>
        </p:txBody>
      </p:sp>
      <p:sp>
        <p:nvSpPr>
          <p:cNvPr id="13" name="TextBox 12">
            <a:extLst>
              <a:ext uri="{FF2B5EF4-FFF2-40B4-BE49-F238E27FC236}">
                <a16:creationId xmlns:a16="http://schemas.microsoft.com/office/drawing/2014/main" id="{72EAA48E-728B-5576-49EB-64190CC2E3AC}"/>
              </a:ext>
            </a:extLst>
          </p:cNvPr>
          <p:cNvSpPr txBox="1"/>
          <p:nvPr/>
        </p:nvSpPr>
        <p:spPr>
          <a:xfrm>
            <a:off x="5620886" y="6058502"/>
            <a:ext cx="2375394" cy="461665"/>
          </a:xfrm>
          <a:prstGeom prst="rect">
            <a:avLst/>
          </a:prstGeom>
          <a:noFill/>
        </p:spPr>
        <p:txBody>
          <a:bodyPr wrap="none" rtlCol="0">
            <a:spAutoFit/>
          </a:bodyPr>
          <a:lstStyle/>
          <a:p>
            <a:r>
              <a:rPr lang="en-US" sz="2400" b="1" dirty="0">
                <a:solidFill>
                  <a:schemeClr val="accent6">
                    <a:lumMod val="60000"/>
                    <a:lumOff val="40000"/>
                  </a:schemeClr>
                </a:solidFill>
              </a:rPr>
              <a:t>After No padding</a:t>
            </a:r>
          </a:p>
        </p:txBody>
      </p:sp>
      <p:graphicFrame>
        <p:nvGraphicFramePr>
          <p:cNvPr id="14" name="Table 13">
            <a:extLst>
              <a:ext uri="{FF2B5EF4-FFF2-40B4-BE49-F238E27FC236}">
                <a16:creationId xmlns:a16="http://schemas.microsoft.com/office/drawing/2014/main" id="{7EC7AA1E-3234-7141-7BAF-25BD79DA6261}"/>
              </a:ext>
            </a:extLst>
          </p:cNvPr>
          <p:cNvGraphicFramePr>
            <a:graphicFrameLocks noGrp="1"/>
          </p:cNvGraphicFramePr>
          <p:nvPr>
            <p:extLst>
              <p:ext uri="{D42A27DB-BD31-4B8C-83A1-F6EECF244321}">
                <p14:modId xmlns:p14="http://schemas.microsoft.com/office/powerpoint/2010/main" val="299792931"/>
              </p:ext>
            </p:extLst>
          </p:nvPr>
        </p:nvGraphicFramePr>
        <p:xfrm>
          <a:off x="531073" y="2994586"/>
          <a:ext cx="3069774" cy="2201883"/>
        </p:xfrm>
        <a:graphic>
          <a:graphicData uri="http://schemas.openxmlformats.org/drawingml/2006/table">
            <a:tbl>
              <a:tblPr firstRow="1" bandRow="1">
                <a:tableStyleId>{5C22544A-7EE6-4342-B048-85BDC9FD1C3A}</a:tableStyleId>
              </a:tblPr>
              <a:tblGrid>
                <a:gridCol w="511629">
                  <a:extLst>
                    <a:ext uri="{9D8B030D-6E8A-4147-A177-3AD203B41FA5}">
                      <a16:colId xmlns:a16="http://schemas.microsoft.com/office/drawing/2014/main" val="70799869"/>
                    </a:ext>
                  </a:extLst>
                </a:gridCol>
                <a:gridCol w="511629">
                  <a:extLst>
                    <a:ext uri="{9D8B030D-6E8A-4147-A177-3AD203B41FA5}">
                      <a16:colId xmlns:a16="http://schemas.microsoft.com/office/drawing/2014/main" val="130520658"/>
                    </a:ext>
                  </a:extLst>
                </a:gridCol>
                <a:gridCol w="511629">
                  <a:extLst>
                    <a:ext uri="{9D8B030D-6E8A-4147-A177-3AD203B41FA5}">
                      <a16:colId xmlns:a16="http://schemas.microsoft.com/office/drawing/2014/main" val="3633071172"/>
                    </a:ext>
                  </a:extLst>
                </a:gridCol>
                <a:gridCol w="511629">
                  <a:extLst>
                    <a:ext uri="{9D8B030D-6E8A-4147-A177-3AD203B41FA5}">
                      <a16:colId xmlns:a16="http://schemas.microsoft.com/office/drawing/2014/main" val="3490065771"/>
                    </a:ext>
                  </a:extLst>
                </a:gridCol>
                <a:gridCol w="511629">
                  <a:extLst>
                    <a:ext uri="{9D8B030D-6E8A-4147-A177-3AD203B41FA5}">
                      <a16:colId xmlns:a16="http://schemas.microsoft.com/office/drawing/2014/main" val="1847604308"/>
                    </a:ext>
                  </a:extLst>
                </a:gridCol>
                <a:gridCol w="511629">
                  <a:extLst>
                    <a:ext uri="{9D8B030D-6E8A-4147-A177-3AD203B41FA5}">
                      <a16:colId xmlns:a16="http://schemas.microsoft.com/office/drawing/2014/main" val="3012201742"/>
                    </a:ext>
                  </a:extLst>
                </a:gridCol>
              </a:tblGrid>
              <a:tr h="373083">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34544419"/>
                  </a:ext>
                </a:extLst>
              </a:tr>
              <a:tr h="363946">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473554637"/>
                  </a:ext>
                </a:extLst>
              </a:tr>
              <a:tr h="363946">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525478095"/>
                  </a:ext>
                </a:extLst>
              </a:tr>
              <a:tr h="363946">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354674428"/>
                  </a:ext>
                </a:extLst>
              </a:tr>
              <a:tr h="363946">
                <a:tc>
                  <a:txBody>
                    <a:bodyPr/>
                    <a:lstStyle/>
                    <a:p>
                      <a:r>
                        <a:rPr lang="en-US" dirty="0">
                          <a:solidFill>
                            <a:schemeClr val="bg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241284739"/>
                  </a:ext>
                </a:extLst>
              </a:tr>
              <a:tr h="363946">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658973273"/>
                  </a:ext>
                </a:extLst>
              </a:tr>
            </a:tbl>
          </a:graphicData>
        </a:graphic>
      </p:graphicFrame>
      <p:graphicFrame>
        <p:nvGraphicFramePr>
          <p:cNvPr id="2" name="Table 1">
            <a:extLst>
              <a:ext uri="{FF2B5EF4-FFF2-40B4-BE49-F238E27FC236}">
                <a16:creationId xmlns:a16="http://schemas.microsoft.com/office/drawing/2014/main" id="{652C3C36-2A5B-01BA-2496-5229C88EECEB}"/>
              </a:ext>
            </a:extLst>
          </p:cNvPr>
          <p:cNvGraphicFramePr>
            <a:graphicFrameLocks noGrp="1"/>
          </p:cNvGraphicFramePr>
          <p:nvPr>
            <p:extLst>
              <p:ext uri="{D42A27DB-BD31-4B8C-83A1-F6EECF244321}">
                <p14:modId xmlns:p14="http://schemas.microsoft.com/office/powerpoint/2010/main" val="1787541004"/>
              </p:ext>
            </p:extLst>
          </p:nvPr>
        </p:nvGraphicFramePr>
        <p:xfrm>
          <a:off x="4908001" y="3037258"/>
          <a:ext cx="3069774" cy="2201883"/>
        </p:xfrm>
        <a:graphic>
          <a:graphicData uri="http://schemas.openxmlformats.org/drawingml/2006/table">
            <a:tbl>
              <a:tblPr firstRow="1" bandRow="1">
                <a:tableStyleId>{5C22544A-7EE6-4342-B048-85BDC9FD1C3A}</a:tableStyleId>
              </a:tblPr>
              <a:tblGrid>
                <a:gridCol w="511629">
                  <a:extLst>
                    <a:ext uri="{9D8B030D-6E8A-4147-A177-3AD203B41FA5}">
                      <a16:colId xmlns:a16="http://schemas.microsoft.com/office/drawing/2014/main" val="70799869"/>
                    </a:ext>
                  </a:extLst>
                </a:gridCol>
                <a:gridCol w="511629">
                  <a:extLst>
                    <a:ext uri="{9D8B030D-6E8A-4147-A177-3AD203B41FA5}">
                      <a16:colId xmlns:a16="http://schemas.microsoft.com/office/drawing/2014/main" val="130520658"/>
                    </a:ext>
                  </a:extLst>
                </a:gridCol>
                <a:gridCol w="511629">
                  <a:extLst>
                    <a:ext uri="{9D8B030D-6E8A-4147-A177-3AD203B41FA5}">
                      <a16:colId xmlns:a16="http://schemas.microsoft.com/office/drawing/2014/main" val="3633071172"/>
                    </a:ext>
                  </a:extLst>
                </a:gridCol>
                <a:gridCol w="511629">
                  <a:extLst>
                    <a:ext uri="{9D8B030D-6E8A-4147-A177-3AD203B41FA5}">
                      <a16:colId xmlns:a16="http://schemas.microsoft.com/office/drawing/2014/main" val="3490065771"/>
                    </a:ext>
                  </a:extLst>
                </a:gridCol>
                <a:gridCol w="511629">
                  <a:extLst>
                    <a:ext uri="{9D8B030D-6E8A-4147-A177-3AD203B41FA5}">
                      <a16:colId xmlns:a16="http://schemas.microsoft.com/office/drawing/2014/main" val="1847604308"/>
                    </a:ext>
                  </a:extLst>
                </a:gridCol>
                <a:gridCol w="511629">
                  <a:extLst>
                    <a:ext uri="{9D8B030D-6E8A-4147-A177-3AD203B41FA5}">
                      <a16:colId xmlns:a16="http://schemas.microsoft.com/office/drawing/2014/main" val="3012201742"/>
                    </a:ext>
                  </a:extLst>
                </a:gridCol>
              </a:tblGrid>
              <a:tr h="373083">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34544419"/>
                  </a:ext>
                </a:extLst>
              </a:tr>
              <a:tr h="363946">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473554637"/>
                  </a:ext>
                </a:extLst>
              </a:tr>
              <a:tr h="363946">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525478095"/>
                  </a:ext>
                </a:extLst>
              </a:tr>
              <a:tr h="363946">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354674428"/>
                  </a:ext>
                </a:extLst>
              </a:tr>
              <a:tr h="363946">
                <a:tc>
                  <a:txBody>
                    <a:bodyPr/>
                    <a:lstStyle/>
                    <a:p>
                      <a:r>
                        <a:rPr lang="en-US" dirty="0">
                          <a:solidFill>
                            <a:schemeClr val="bg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241284739"/>
                  </a:ext>
                </a:extLst>
              </a:tr>
              <a:tr h="363946">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658973273"/>
                  </a:ext>
                </a:extLst>
              </a:tr>
            </a:tbl>
          </a:graphicData>
        </a:graphic>
      </p:graphicFrame>
    </p:spTree>
    <p:extLst>
      <p:ext uri="{BB962C8B-B14F-4D97-AF65-F5344CB8AC3E}">
        <p14:creationId xmlns:p14="http://schemas.microsoft.com/office/powerpoint/2010/main" val="1406443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0F1D6-293E-8004-C01E-B1B8CF05A0D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4BF6B44-DE4F-611D-9B5F-4C02F9AFC0FE}"/>
              </a:ext>
            </a:extLst>
          </p:cNvPr>
          <p:cNvSpPr txBox="1"/>
          <p:nvPr/>
        </p:nvSpPr>
        <p:spPr>
          <a:xfrm>
            <a:off x="82296" y="57475"/>
            <a:ext cx="12109704" cy="2677656"/>
          </a:xfrm>
          <a:prstGeom prst="rect">
            <a:avLst/>
          </a:prstGeom>
          <a:noFill/>
        </p:spPr>
        <p:txBody>
          <a:bodyPr wrap="square" rtlCol="0">
            <a:spAutoFit/>
          </a:bodyPr>
          <a:lstStyle/>
          <a:p>
            <a:r>
              <a:rPr lang="en-US" sz="2400" dirty="0">
                <a:solidFill>
                  <a:schemeClr val="accent6">
                    <a:lumMod val="60000"/>
                    <a:lumOff val="40000"/>
                  </a:schemeClr>
                </a:solidFill>
              </a:rPr>
              <a:t>Common choices for padding:</a:t>
            </a:r>
          </a:p>
          <a:p>
            <a:r>
              <a:rPr lang="en-US" sz="2400" b="1" dirty="0">
                <a:solidFill>
                  <a:schemeClr val="accent6">
                    <a:lumMod val="60000"/>
                    <a:lumOff val="40000"/>
                  </a:schemeClr>
                </a:solidFill>
              </a:rPr>
              <a:t>2. Same</a:t>
            </a:r>
            <a:r>
              <a:rPr lang="en-US" sz="2400" dirty="0">
                <a:solidFill>
                  <a:schemeClr val="accent6">
                    <a:lumMod val="60000"/>
                    <a:lumOff val="40000"/>
                  </a:schemeClr>
                </a:solidFill>
              </a:rPr>
              <a:t> </a:t>
            </a:r>
            <a:r>
              <a:rPr lang="en-US" sz="2400" b="1" dirty="0">
                <a:solidFill>
                  <a:schemeClr val="accent6">
                    <a:lumMod val="60000"/>
                    <a:lumOff val="40000"/>
                  </a:schemeClr>
                </a:solidFill>
              </a:rPr>
              <a:t>Padding :</a:t>
            </a:r>
            <a:r>
              <a:rPr lang="en-US" sz="2400" dirty="0">
                <a:solidFill>
                  <a:schemeClr val="accent6">
                    <a:lumMod val="60000"/>
                    <a:lumOff val="40000"/>
                  </a:schemeClr>
                </a:solidFill>
              </a:rPr>
              <a:t> </a:t>
            </a:r>
          </a:p>
          <a:p>
            <a:r>
              <a:rPr lang="en-US" sz="2400" dirty="0">
                <a:solidFill>
                  <a:schemeClr val="accent6">
                    <a:lumMod val="60000"/>
                    <a:lumOff val="40000"/>
                  </a:schemeClr>
                </a:solidFill>
              </a:rPr>
              <a:t>Here, we apply padding in such a manner so that the </a:t>
            </a:r>
            <a:r>
              <a:rPr lang="en-US" sz="2400" b="1" dirty="0">
                <a:solidFill>
                  <a:schemeClr val="accent6">
                    <a:lumMod val="60000"/>
                    <a:lumOff val="40000"/>
                  </a:schemeClr>
                </a:solidFill>
              </a:rPr>
              <a:t>output size is the same as the input size.</a:t>
            </a:r>
            <a:br>
              <a:rPr lang="en-US" sz="2400" dirty="0">
                <a:solidFill>
                  <a:schemeClr val="accent6">
                    <a:lumMod val="60000"/>
                    <a:lumOff val="40000"/>
                  </a:schemeClr>
                </a:solidFill>
              </a:rPr>
            </a:br>
            <a:r>
              <a:rPr lang="en-US" sz="2400" dirty="0">
                <a:solidFill>
                  <a:schemeClr val="accent6">
                    <a:lumMod val="60000"/>
                    <a:lumOff val="40000"/>
                  </a:schemeClr>
                </a:solidFill>
              </a:rPr>
              <a:t>Solve -&gt;   n+2p-f+1 = n.   -&gt; We get, p = (f-1)/2.  </a:t>
            </a:r>
          </a:p>
          <a:p>
            <a:r>
              <a:rPr lang="en-US" sz="2400" dirty="0">
                <a:solidFill>
                  <a:schemeClr val="accent6">
                    <a:lumMod val="60000"/>
                    <a:lumOff val="40000"/>
                  </a:schemeClr>
                </a:solidFill>
              </a:rPr>
              <a:t>By using this p padding, we don’t lose a lot of information and the image does not shrink either.</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Example: If we have an image of 6X6, and a filter of size 4X4, then we would apply 2 padding </a:t>
            </a:r>
          </a:p>
        </p:txBody>
      </p:sp>
      <p:sp>
        <p:nvSpPr>
          <p:cNvPr id="4" name="TextBox 3">
            <a:extLst>
              <a:ext uri="{FF2B5EF4-FFF2-40B4-BE49-F238E27FC236}">
                <a16:creationId xmlns:a16="http://schemas.microsoft.com/office/drawing/2014/main" id="{F6925ACF-E538-C856-C49E-C25C7F6E48ED}"/>
              </a:ext>
            </a:extLst>
          </p:cNvPr>
          <p:cNvSpPr txBox="1"/>
          <p:nvPr/>
        </p:nvSpPr>
        <p:spPr>
          <a:xfrm>
            <a:off x="9619861" y="44038"/>
            <a:ext cx="1799403" cy="369332"/>
          </a:xfrm>
          <a:prstGeom prst="rect">
            <a:avLst/>
          </a:prstGeom>
          <a:noFill/>
        </p:spPr>
        <p:txBody>
          <a:bodyPr wrap="none" rtlCol="0">
            <a:spAutoFit/>
          </a:bodyPr>
          <a:lstStyle/>
          <a:p>
            <a:r>
              <a:rPr lang="en-US" dirty="0" err="1">
                <a:solidFill>
                  <a:schemeClr val="accent6">
                    <a:lumMod val="60000"/>
                    <a:lumOff val="40000"/>
                  </a:schemeClr>
                </a:solidFill>
              </a:rPr>
              <a:t>Loxford</a:t>
            </a:r>
            <a:r>
              <a:rPr lang="en-US" dirty="0">
                <a:solidFill>
                  <a:schemeClr val="accent6">
                    <a:lumMod val="60000"/>
                    <a:lumOff val="40000"/>
                  </a:schemeClr>
                </a:solidFill>
              </a:rPr>
              <a:t> Academy</a:t>
            </a:r>
            <a:endParaRPr lang="en-IN" dirty="0">
              <a:solidFill>
                <a:schemeClr val="accent6">
                  <a:lumMod val="60000"/>
                  <a:lumOff val="40000"/>
                </a:schemeClr>
              </a:solidFill>
            </a:endParaRPr>
          </a:p>
        </p:txBody>
      </p:sp>
      <p:sp>
        <p:nvSpPr>
          <p:cNvPr id="12" name="TextBox 11">
            <a:extLst>
              <a:ext uri="{FF2B5EF4-FFF2-40B4-BE49-F238E27FC236}">
                <a16:creationId xmlns:a16="http://schemas.microsoft.com/office/drawing/2014/main" id="{68B8A6BB-7DE6-7718-B710-29925111A6FD}"/>
              </a:ext>
            </a:extLst>
          </p:cNvPr>
          <p:cNvSpPr txBox="1"/>
          <p:nvPr/>
        </p:nvSpPr>
        <p:spPr>
          <a:xfrm>
            <a:off x="959128" y="6149207"/>
            <a:ext cx="2133148" cy="461665"/>
          </a:xfrm>
          <a:prstGeom prst="rect">
            <a:avLst/>
          </a:prstGeom>
          <a:noFill/>
        </p:spPr>
        <p:txBody>
          <a:bodyPr wrap="none" rtlCol="0">
            <a:spAutoFit/>
          </a:bodyPr>
          <a:lstStyle/>
          <a:p>
            <a:r>
              <a:rPr lang="en-US" sz="2400" b="1" dirty="0">
                <a:solidFill>
                  <a:schemeClr val="accent6">
                    <a:lumMod val="60000"/>
                    <a:lumOff val="40000"/>
                  </a:schemeClr>
                </a:solidFill>
              </a:rPr>
              <a:t>Before padding</a:t>
            </a:r>
          </a:p>
        </p:txBody>
      </p:sp>
      <p:sp>
        <p:nvSpPr>
          <p:cNvPr id="13" name="TextBox 12">
            <a:extLst>
              <a:ext uri="{FF2B5EF4-FFF2-40B4-BE49-F238E27FC236}">
                <a16:creationId xmlns:a16="http://schemas.microsoft.com/office/drawing/2014/main" id="{43D76CDF-0FFB-C8AE-6F78-6AFCF49404FB}"/>
              </a:ext>
            </a:extLst>
          </p:cNvPr>
          <p:cNvSpPr txBox="1"/>
          <p:nvPr/>
        </p:nvSpPr>
        <p:spPr>
          <a:xfrm>
            <a:off x="6151238" y="6378542"/>
            <a:ext cx="2495620" cy="461665"/>
          </a:xfrm>
          <a:prstGeom prst="rect">
            <a:avLst/>
          </a:prstGeom>
          <a:noFill/>
        </p:spPr>
        <p:txBody>
          <a:bodyPr wrap="none" rtlCol="0">
            <a:spAutoFit/>
          </a:bodyPr>
          <a:lstStyle/>
          <a:p>
            <a:r>
              <a:rPr lang="en-US" sz="2400" b="1" dirty="0">
                <a:solidFill>
                  <a:schemeClr val="accent6">
                    <a:lumMod val="60000"/>
                    <a:lumOff val="40000"/>
                  </a:schemeClr>
                </a:solidFill>
              </a:rPr>
              <a:t>After padding of 2</a:t>
            </a:r>
          </a:p>
        </p:txBody>
      </p:sp>
      <p:graphicFrame>
        <p:nvGraphicFramePr>
          <p:cNvPr id="14" name="Table 13">
            <a:extLst>
              <a:ext uri="{FF2B5EF4-FFF2-40B4-BE49-F238E27FC236}">
                <a16:creationId xmlns:a16="http://schemas.microsoft.com/office/drawing/2014/main" id="{ADE287B3-D194-DBED-373F-4BFC25489401}"/>
              </a:ext>
            </a:extLst>
          </p:cNvPr>
          <p:cNvGraphicFramePr>
            <a:graphicFrameLocks noGrp="1"/>
          </p:cNvGraphicFramePr>
          <p:nvPr>
            <p:extLst>
              <p:ext uri="{D42A27DB-BD31-4B8C-83A1-F6EECF244321}">
                <p14:modId xmlns:p14="http://schemas.microsoft.com/office/powerpoint/2010/main" val="1211792897"/>
              </p:ext>
            </p:extLst>
          </p:nvPr>
        </p:nvGraphicFramePr>
        <p:xfrm>
          <a:off x="284185" y="3470074"/>
          <a:ext cx="3069774" cy="2201883"/>
        </p:xfrm>
        <a:graphic>
          <a:graphicData uri="http://schemas.openxmlformats.org/drawingml/2006/table">
            <a:tbl>
              <a:tblPr firstRow="1" bandRow="1">
                <a:tableStyleId>{5C22544A-7EE6-4342-B048-85BDC9FD1C3A}</a:tableStyleId>
              </a:tblPr>
              <a:tblGrid>
                <a:gridCol w="511629">
                  <a:extLst>
                    <a:ext uri="{9D8B030D-6E8A-4147-A177-3AD203B41FA5}">
                      <a16:colId xmlns:a16="http://schemas.microsoft.com/office/drawing/2014/main" val="70799869"/>
                    </a:ext>
                  </a:extLst>
                </a:gridCol>
                <a:gridCol w="511629">
                  <a:extLst>
                    <a:ext uri="{9D8B030D-6E8A-4147-A177-3AD203B41FA5}">
                      <a16:colId xmlns:a16="http://schemas.microsoft.com/office/drawing/2014/main" val="130520658"/>
                    </a:ext>
                  </a:extLst>
                </a:gridCol>
                <a:gridCol w="511629">
                  <a:extLst>
                    <a:ext uri="{9D8B030D-6E8A-4147-A177-3AD203B41FA5}">
                      <a16:colId xmlns:a16="http://schemas.microsoft.com/office/drawing/2014/main" val="3633071172"/>
                    </a:ext>
                  </a:extLst>
                </a:gridCol>
                <a:gridCol w="511629">
                  <a:extLst>
                    <a:ext uri="{9D8B030D-6E8A-4147-A177-3AD203B41FA5}">
                      <a16:colId xmlns:a16="http://schemas.microsoft.com/office/drawing/2014/main" val="3490065771"/>
                    </a:ext>
                  </a:extLst>
                </a:gridCol>
                <a:gridCol w="511629">
                  <a:extLst>
                    <a:ext uri="{9D8B030D-6E8A-4147-A177-3AD203B41FA5}">
                      <a16:colId xmlns:a16="http://schemas.microsoft.com/office/drawing/2014/main" val="1847604308"/>
                    </a:ext>
                  </a:extLst>
                </a:gridCol>
                <a:gridCol w="511629">
                  <a:extLst>
                    <a:ext uri="{9D8B030D-6E8A-4147-A177-3AD203B41FA5}">
                      <a16:colId xmlns:a16="http://schemas.microsoft.com/office/drawing/2014/main" val="3012201742"/>
                    </a:ext>
                  </a:extLst>
                </a:gridCol>
              </a:tblGrid>
              <a:tr h="373083">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34544419"/>
                  </a:ext>
                </a:extLst>
              </a:tr>
              <a:tr h="363946">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473554637"/>
                  </a:ext>
                </a:extLst>
              </a:tr>
              <a:tr h="363946">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525478095"/>
                  </a:ext>
                </a:extLst>
              </a:tr>
              <a:tr h="363946">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354674428"/>
                  </a:ext>
                </a:extLst>
              </a:tr>
              <a:tr h="363946">
                <a:tc>
                  <a:txBody>
                    <a:bodyPr/>
                    <a:lstStyle/>
                    <a:p>
                      <a:r>
                        <a:rPr lang="en-US" dirty="0">
                          <a:solidFill>
                            <a:schemeClr val="bg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241284739"/>
                  </a:ext>
                </a:extLst>
              </a:tr>
              <a:tr h="363946">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658973273"/>
                  </a:ext>
                </a:extLst>
              </a:tr>
            </a:tbl>
          </a:graphicData>
        </a:graphic>
      </p:graphicFrame>
      <p:graphicFrame>
        <p:nvGraphicFramePr>
          <p:cNvPr id="15" name="Table 14">
            <a:extLst>
              <a:ext uri="{FF2B5EF4-FFF2-40B4-BE49-F238E27FC236}">
                <a16:creationId xmlns:a16="http://schemas.microsoft.com/office/drawing/2014/main" id="{3F9C9D64-D46F-EECE-FFBC-9423FC7E6D4E}"/>
              </a:ext>
            </a:extLst>
          </p:cNvPr>
          <p:cNvGraphicFramePr>
            <a:graphicFrameLocks noGrp="1"/>
          </p:cNvGraphicFramePr>
          <p:nvPr>
            <p:extLst>
              <p:ext uri="{D42A27DB-BD31-4B8C-83A1-F6EECF244321}">
                <p14:modId xmlns:p14="http://schemas.microsoft.com/office/powerpoint/2010/main" val="3963303605"/>
              </p:ext>
            </p:extLst>
          </p:nvPr>
        </p:nvGraphicFramePr>
        <p:xfrm>
          <a:off x="4726575" y="2740462"/>
          <a:ext cx="4401470" cy="3708400"/>
        </p:xfrm>
        <a:graphic>
          <a:graphicData uri="http://schemas.openxmlformats.org/drawingml/2006/table">
            <a:tbl>
              <a:tblPr firstRow="1" bandRow="1">
                <a:tableStyleId>{5C22544A-7EE6-4342-B048-85BDC9FD1C3A}</a:tableStyleId>
              </a:tblPr>
              <a:tblGrid>
                <a:gridCol w="440147">
                  <a:extLst>
                    <a:ext uri="{9D8B030D-6E8A-4147-A177-3AD203B41FA5}">
                      <a16:colId xmlns:a16="http://schemas.microsoft.com/office/drawing/2014/main" val="2593457803"/>
                    </a:ext>
                  </a:extLst>
                </a:gridCol>
                <a:gridCol w="440147">
                  <a:extLst>
                    <a:ext uri="{9D8B030D-6E8A-4147-A177-3AD203B41FA5}">
                      <a16:colId xmlns:a16="http://schemas.microsoft.com/office/drawing/2014/main" val="2832307689"/>
                    </a:ext>
                  </a:extLst>
                </a:gridCol>
                <a:gridCol w="440147">
                  <a:extLst>
                    <a:ext uri="{9D8B030D-6E8A-4147-A177-3AD203B41FA5}">
                      <a16:colId xmlns:a16="http://schemas.microsoft.com/office/drawing/2014/main" val="3251695324"/>
                    </a:ext>
                  </a:extLst>
                </a:gridCol>
                <a:gridCol w="440147">
                  <a:extLst>
                    <a:ext uri="{9D8B030D-6E8A-4147-A177-3AD203B41FA5}">
                      <a16:colId xmlns:a16="http://schemas.microsoft.com/office/drawing/2014/main" val="1011478440"/>
                    </a:ext>
                  </a:extLst>
                </a:gridCol>
                <a:gridCol w="440147">
                  <a:extLst>
                    <a:ext uri="{9D8B030D-6E8A-4147-A177-3AD203B41FA5}">
                      <a16:colId xmlns:a16="http://schemas.microsoft.com/office/drawing/2014/main" val="1879859260"/>
                    </a:ext>
                  </a:extLst>
                </a:gridCol>
                <a:gridCol w="440147">
                  <a:extLst>
                    <a:ext uri="{9D8B030D-6E8A-4147-A177-3AD203B41FA5}">
                      <a16:colId xmlns:a16="http://schemas.microsoft.com/office/drawing/2014/main" val="1114575029"/>
                    </a:ext>
                  </a:extLst>
                </a:gridCol>
                <a:gridCol w="440147">
                  <a:extLst>
                    <a:ext uri="{9D8B030D-6E8A-4147-A177-3AD203B41FA5}">
                      <a16:colId xmlns:a16="http://schemas.microsoft.com/office/drawing/2014/main" val="3759471387"/>
                    </a:ext>
                  </a:extLst>
                </a:gridCol>
                <a:gridCol w="440147">
                  <a:extLst>
                    <a:ext uri="{9D8B030D-6E8A-4147-A177-3AD203B41FA5}">
                      <a16:colId xmlns:a16="http://schemas.microsoft.com/office/drawing/2014/main" val="750792995"/>
                    </a:ext>
                  </a:extLst>
                </a:gridCol>
                <a:gridCol w="440147">
                  <a:extLst>
                    <a:ext uri="{9D8B030D-6E8A-4147-A177-3AD203B41FA5}">
                      <a16:colId xmlns:a16="http://schemas.microsoft.com/office/drawing/2014/main" val="3573411931"/>
                    </a:ext>
                  </a:extLst>
                </a:gridCol>
                <a:gridCol w="440147">
                  <a:extLst>
                    <a:ext uri="{9D8B030D-6E8A-4147-A177-3AD203B41FA5}">
                      <a16:colId xmlns:a16="http://schemas.microsoft.com/office/drawing/2014/main" val="2240414722"/>
                    </a:ext>
                  </a:extLst>
                </a:gridCol>
              </a:tblGrid>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805057034"/>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624985788"/>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4008448368"/>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284556763"/>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797943795"/>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571270400"/>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668692868"/>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20849321"/>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280431063"/>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618508372"/>
                  </a:ext>
                </a:extLst>
              </a:tr>
            </a:tbl>
          </a:graphicData>
        </a:graphic>
      </p:graphicFrame>
    </p:spTree>
    <p:extLst>
      <p:ext uri="{BB962C8B-B14F-4D97-AF65-F5344CB8AC3E}">
        <p14:creationId xmlns:p14="http://schemas.microsoft.com/office/powerpoint/2010/main" val="2948462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EBFC2-67FA-889E-4486-F996639F48D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93CC246-6B66-8A3E-0A2B-63BE79BFC71A}"/>
              </a:ext>
            </a:extLst>
          </p:cNvPr>
          <p:cNvSpPr txBox="1"/>
          <p:nvPr/>
        </p:nvSpPr>
        <p:spPr>
          <a:xfrm>
            <a:off x="82296" y="57475"/>
            <a:ext cx="12109704" cy="4524315"/>
          </a:xfrm>
          <a:prstGeom prst="rect">
            <a:avLst/>
          </a:prstGeom>
          <a:noFill/>
        </p:spPr>
        <p:txBody>
          <a:bodyPr wrap="square" rtlCol="0">
            <a:spAutoFit/>
          </a:bodyPr>
          <a:lstStyle/>
          <a:p>
            <a:r>
              <a:rPr lang="en-US" sz="2400" dirty="0">
                <a:solidFill>
                  <a:schemeClr val="accent6">
                    <a:lumMod val="60000"/>
                    <a:lumOff val="40000"/>
                  </a:schemeClr>
                </a:solidFill>
              </a:rPr>
              <a:t>Common choices for padding:</a:t>
            </a:r>
          </a:p>
          <a:p>
            <a:endParaRPr lang="en-US" sz="2400" b="1" dirty="0">
              <a:solidFill>
                <a:schemeClr val="accent6">
                  <a:lumMod val="60000"/>
                  <a:lumOff val="40000"/>
                </a:schemeClr>
              </a:solidFill>
            </a:endParaRPr>
          </a:p>
          <a:p>
            <a:r>
              <a:rPr lang="en-US" sz="2400" b="1" dirty="0">
                <a:solidFill>
                  <a:schemeClr val="accent6">
                    <a:lumMod val="60000"/>
                    <a:lumOff val="40000"/>
                  </a:schemeClr>
                </a:solidFill>
              </a:rPr>
              <a:t>3. Causal Padding:</a:t>
            </a:r>
            <a:r>
              <a:rPr lang="en-US" sz="2400" dirty="0">
                <a:solidFill>
                  <a:schemeClr val="accent6">
                    <a:lumMod val="60000"/>
                    <a:lumOff val="40000"/>
                  </a:schemeClr>
                </a:solidFill>
              </a:rPr>
              <a:t> </a:t>
            </a:r>
          </a:p>
          <a:p>
            <a:r>
              <a:rPr lang="en-US" sz="2400" dirty="0">
                <a:solidFill>
                  <a:schemeClr val="accent6">
                    <a:lumMod val="60000"/>
                    <a:lumOff val="40000"/>
                  </a:schemeClr>
                </a:solidFill>
              </a:rPr>
              <a:t>This type of padding is used in </a:t>
            </a:r>
            <a:r>
              <a:rPr lang="en-US" sz="2400" dirty="0">
                <a:solidFill>
                  <a:schemeClr val="accent6">
                    <a:lumMod val="60000"/>
                    <a:lumOff val="40000"/>
                  </a:schemeClr>
                </a:solidFill>
                <a:hlinkClick r:id="rId2">
                  <a:extLst>
                    <a:ext uri="{A12FA001-AC4F-418D-AE19-62706E023703}">
                      <ahyp:hlinkClr xmlns:ahyp="http://schemas.microsoft.com/office/drawing/2018/hyperlinkcolor" val="tx"/>
                    </a:ext>
                  </a:extLst>
                </a:hlinkClick>
              </a:rPr>
              <a:t>sequence-to-sequence models</a:t>
            </a:r>
            <a:r>
              <a:rPr lang="en-US" sz="2400" dirty="0">
                <a:solidFill>
                  <a:schemeClr val="accent6">
                    <a:lumMod val="60000"/>
                    <a:lumOff val="40000"/>
                  </a:schemeClr>
                </a:solidFill>
              </a:rPr>
              <a:t> and time series forecasting and basically works with the one-dimensional convolutional layers. Causal padding </a:t>
            </a:r>
            <a:r>
              <a:rPr lang="en-US" sz="2400" b="1" dirty="0">
                <a:solidFill>
                  <a:schemeClr val="accent6">
                    <a:lumMod val="60000"/>
                    <a:lumOff val="40000"/>
                  </a:schemeClr>
                </a:solidFill>
              </a:rPr>
              <a:t>adds elements to the start of the data</a:t>
            </a:r>
            <a:r>
              <a:rPr lang="en-US" sz="2400" dirty="0">
                <a:solidFill>
                  <a:schemeClr val="accent6">
                    <a:lumMod val="60000"/>
                    <a:lumOff val="40000"/>
                  </a:schemeClr>
                </a:solidFill>
              </a:rPr>
              <a:t>, which also aids in forecasting the values of early time steps.</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dirty="0">
                <a:solidFill>
                  <a:schemeClr val="accent6">
                    <a:lumMod val="60000"/>
                    <a:lumOff val="40000"/>
                  </a:schemeClr>
                </a:solidFill>
              </a:rPr>
              <a:t>(3, 4, 2, 9)           -&gt;  (0, 0, 0, 0, 3, 4, 2, 9)</a:t>
            </a:r>
          </a:p>
          <a:p>
            <a:r>
              <a:rPr lang="en-US" sz="2400" dirty="0">
                <a:solidFill>
                  <a:schemeClr val="accent6">
                    <a:lumMod val="60000"/>
                    <a:lumOff val="40000"/>
                  </a:schemeClr>
                </a:solidFill>
              </a:rPr>
              <a:t>(3, 4, 2, 9, 2, 1)   -&gt; ( 0, 0, 3, 4, 2, 9, 2, 1)</a:t>
            </a:r>
          </a:p>
          <a:p>
            <a:r>
              <a:rPr lang="en-US" sz="2400" dirty="0">
                <a:solidFill>
                  <a:schemeClr val="accent6">
                    <a:lumMod val="60000"/>
                    <a:lumOff val="40000"/>
                  </a:schemeClr>
                </a:solidFill>
              </a:rPr>
              <a:t>(5)                         -&gt; (0, 0, 0, 0, 0, 0, 0, 5)</a:t>
            </a:r>
          </a:p>
          <a:p>
            <a:endParaRPr lang="en-US" sz="2400" dirty="0">
              <a:solidFill>
                <a:schemeClr val="accent6">
                  <a:lumMod val="60000"/>
                  <a:lumOff val="40000"/>
                </a:schemeClr>
              </a:solidFill>
            </a:endParaRPr>
          </a:p>
        </p:txBody>
      </p:sp>
      <p:sp>
        <p:nvSpPr>
          <p:cNvPr id="4" name="TextBox 3">
            <a:extLst>
              <a:ext uri="{FF2B5EF4-FFF2-40B4-BE49-F238E27FC236}">
                <a16:creationId xmlns:a16="http://schemas.microsoft.com/office/drawing/2014/main" id="{59046DCF-4CE6-E208-8B79-3457BCB7E88A}"/>
              </a:ext>
            </a:extLst>
          </p:cNvPr>
          <p:cNvSpPr txBox="1"/>
          <p:nvPr/>
        </p:nvSpPr>
        <p:spPr>
          <a:xfrm>
            <a:off x="9619861" y="44038"/>
            <a:ext cx="1799403" cy="369332"/>
          </a:xfrm>
          <a:prstGeom prst="rect">
            <a:avLst/>
          </a:prstGeom>
          <a:noFill/>
        </p:spPr>
        <p:txBody>
          <a:bodyPr wrap="none" rtlCol="0">
            <a:spAutoFit/>
          </a:bodyPr>
          <a:lstStyle/>
          <a:p>
            <a:r>
              <a:rPr lang="en-US" dirty="0" err="1">
                <a:solidFill>
                  <a:schemeClr val="accent6">
                    <a:lumMod val="60000"/>
                    <a:lumOff val="40000"/>
                  </a:schemeClr>
                </a:solidFill>
              </a:rPr>
              <a:t>Loxford</a:t>
            </a:r>
            <a:r>
              <a:rPr lang="en-US" dirty="0">
                <a:solidFill>
                  <a:schemeClr val="accent6">
                    <a:lumMod val="60000"/>
                    <a:lumOff val="40000"/>
                  </a:schemeClr>
                </a:solidFill>
              </a:rPr>
              <a:t> Academy</a:t>
            </a:r>
            <a:endParaRPr lang="en-IN" dirty="0">
              <a:solidFill>
                <a:schemeClr val="accent6">
                  <a:lumMod val="60000"/>
                  <a:lumOff val="40000"/>
                </a:schemeClr>
              </a:solidFill>
            </a:endParaRPr>
          </a:p>
        </p:txBody>
      </p:sp>
    </p:spTree>
    <p:extLst>
      <p:ext uri="{BB962C8B-B14F-4D97-AF65-F5344CB8AC3E}">
        <p14:creationId xmlns:p14="http://schemas.microsoft.com/office/powerpoint/2010/main" val="27794179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6033" y="1200150"/>
            <a:ext cx="11722608" cy="2308324"/>
          </a:xfrm>
          <a:prstGeom prst="rect">
            <a:avLst/>
          </a:prstGeom>
          <a:noFill/>
        </p:spPr>
        <p:txBody>
          <a:bodyPr wrap="square" rtlCol="0">
            <a:spAutoFit/>
          </a:bodyPr>
          <a:lstStyle/>
          <a:p>
            <a:r>
              <a:rPr lang="en-US" sz="2400" dirty="0">
                <a:solidFill>
                  <a:schemeClr val="accent6">
                    <a:lumMod val="60000"/>
                    <a:lumOff val="40000"/>
                  </a:schemeClr>
                </a:solidFill>
              </a:rPr>
              <a:t>Some key points about convolution layers:</a:t>
            </a:r>
          </a:p>
          <a:p>
            <a:endParaRPr lang="en-US" sz="2400" dirty="0">
              <a:solidFill>
                <a:schemeClr val="accent6">
                  <a:lumMod val="60000"/>
                  <a:lumOff val="40000"/>
                </a:schemeClr>
              </a:solidFill>
            </a:endParaRPr>
          </a:p>
          <a:p>
            <a:pPr marL="285750" indent="-285750">
              <a:buFont typeface="Arial" panose="020B0604020202020204" pitchFamily="34" charset="0"/>
              <a:buChar char="•"/>
            </a:pPr>
            <a:r>
              <a:rPr lang="en-US" sz="2400" dirty="0">
                <a:solidFill>
                  <a:schemeClr val="accent6">
                    <a:lumMod val="60000"/>
                    <a:lumOff val="40000"/>
                  </a:schemeClr>
                </a:solidFill>
              </a:rPr>
              <a:t>The more convolution layers the network has, the better the layer is at detecting more abstract features.</a:t>
            </a:r>
          </a:p>
          <a:p>
            <a:pPr marL="285750" indent="-285750">
              <a:buFont typeface="Arial" panose="020B0604020202020204" pitchFamily="34" charset="0"/>
              <a:buChar char="•"/>
            </a:pPr>
            <a:r>
              <a:rPr lang="en-US" sz="2400" dirty="0">
                <a:solidFill>
                  <a:schemeClr val="accent6">
                    <a:lumMod val="60000"/>
                    <a:lumOff val="40000"/>
                  </a:schemeClr>
                </a:solidFill>
              </a:rPr>
              <a:t>Output of kernel operation obtained is of lower dimensions and therefore less computation going forward.</a:t>
            </a:r>
          </a:p>
        </p:txBody>
      </p:sp>
    </p:spTree>
    <p:extLst>
      <p:ext uri="{BB962C8B-B14F-4D97-AF65-F5344CB8AC3E}">
        <p14:creationId xmlns:p14="http://schemas.microsoft.com/office/powerpoint/2010/main" val="2243199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7655" y="115822"/>
            <a:ext cx="11936716" cy="2677656"/>
          </a:xfrm>
          <a:prstGeom prst="rect">
            <a:avLst/>
          </a:prstGeom>
          <a:noFill/>
        </p:spPr>
        <p:txBody>
          <a:bodyPr wrap="square" rtlCol="0">
            <a:spAutoFit/>
          </a:bodyPr>
          <a:lstStyle/>
          <a:p>
            <a:r>
              <a:rPr lang="en-US" sz="2400" b="1" dirty="0">
                <a:solidFill>
                  <a:schemeClr val="accent6">
                    <a:lumMod val="60000"/>
                    <a:lumOff val="40000"/>
                  </a:schemeClr>
                </a:solidFill>
              </a:rPr>
              <a:t>Activation function</a:t>
            </a:r>
          </a:p>
          <a:p>
            <a:r>
              <a:rPr lang="en-US" sz="2400" dirty="0">
                <a:solidFill>
                  <a:schemeClr val="accent6">
                    <a:lumMod val="60000"/>
                    <a:lumOff val="40000"/>
                  </a:schemeClr>
                </a:solidFill>
              </a:rPr>
              <a:t>A </a:t>
            </a:r>
            <a:r>
              <a:rPr lang="en-US" sz="2400" dirty="0" err="1">
                <a:solidFill>
                  <a:schemeClr val="accent6">
                    <a:lumMod val="60000"/>
                    <a:lumOff val="40000"/>
                  </a:schemeClr>
                </a:solidFill>
              </a:rPr>
              <a:t>ReLU</a:t>
            </a:r>
            <a:r>
              <a:rPr lang="en-US" sz="2400" dirty="0">
                <a:solidFill>
                  <a:schemeClr val="accent6">
                    <a:lumMod val="60000"/>
                    <a:lumOff val="40000"/>
                  </a:schemeClr>
                </a:solidFill>
              </a:rPr>
              <a:t> activation function is applied after each convolution operation. </a:t>
            </a:r>
          </a:p>
          <a:p>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It helps network learn </a:t>
            </a:r>
            <a:r>
              <a:rPr lang="en-US" sz="2400" b="1" dirty="0">
                <a:solidFill>
                  <a:schemeClr val="accent6">
                    <a:lumMod val="60000"/>
                    <a:lumOff val="40000"/>
                  </a:schemeClr>
                </a:solidFill>
              </a:rPr>
              <a:t>non-linear </a:t>
            </a:r>
            <a:r>
              <a:rPr lang="en-US" sz="2400" dirty="0">
                <a:solidFill>
                  <a:schemeClr val="accent6">
                    <a:lumMod val="60000"/>
                    <a:lumOff val="40000"/>
                  </a:schemeClr>
                </a:solidFill>
              </a:rPr>
              <a:t>relationships between the features in the image</a:t>
            </a:r>
          </a:p>
          <a:p>
            <a:pPr marL="342900" indent="-342900">
              <a:buFont typeface="Wingdings" panose="05000000000000000000" pitchFamily="2" charset="2"/>
              <a:buChar char="è"/>
            </a:pPr>
            <a:r>
              <a:rPr lang="en-US" sz="2400" dirty="0">
                <a:solidFill>
                  <a:schemeClr val="accent6">
                    <a:lumMod val="60000"/>
                    <a:lumOff val="40000"/>
                  </a:schemeClr>
                </a:solidFill>
              </a:rPr>
              <a:t>Makes NN more robust for identifying different patterns. </a:t>
            </a:r>
          </a:p>
          <a:p>
            <a:pPr marL="342900" indent="-342900">
              <a:buFont typeface="Wingdings" panose="05000000000000000000" pitchFamily="2" charset="2"/>
              <a:buChar char="è"/>
            </a:pPr>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It also helps to mitigate the vanishing gradient problems.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7924" y="3332962"/>
            <a:ext cx="7205101" cy="3233058"/>
          </a:xfrm>
          <a:prstGeom prst="rect">
            <a:avLst/>
          </a:prstGeom>
        </p:spPr>
      </p:pic>
    </p:spTree>
    <p:extLst>
      <p:ext uri="{BB962C8B-B14F-4D97-AF65-F5344CB8AC3E}">
        <p14:creationId xmlns:p14="http://schemas.microsoft.com/office/powerpoint/2010/main" val="4052685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377E4-4C63-3677-874C-F4121BFDF4D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4B7C578-9F59-F072-5AFE-7D9D0C9F5D1E}"/>
              </a:ext>
            </a:extLst>
          </p:cNvPr>
          <p:cNvSpPr txBox="1"/>
          <p:nvPr/>
        </p:nvSpPr>
        <p:spPr>
          <a:xfrm>
            <a:off x="177655" y="591310"/>
            <a:ext cx="11936716" cy="461665"/>
          </a:xfrm>
          <a:prstGeom prst="rect">
            <a:avLst/>
          </a:prstGeom>
          <a:noFill/>
        </p:spPr>
        <p:txBody>
          <a:bodyPr wrap="square" rtlCol="0">
            <a:spAutoFit/>
          </a:bodyPr>
          <a:lstStyle/>
          <a:p>
            <a:r>
              <a:rPr lang="en-US" sz="2400" b="1" dirty="0">
                <a:solidFill>
                  <a:schemeClr val="accent6">
                    <a:lumMod val="60000"/>
                    <a:lumOff val="40000"/>
                  </a:schemeClr>
                </a:solidFill>
              </a:rPr>
              <a:t>Example of </a:t>
            </a:r>
            <a:r>
              <a:rPr lang="en-US" sz="2400" b="1" dirty="0" err="1">
                <a:solidFill>
                  <a:schemeClr val="accent6">
                    <a:lumMod val="60000"/>
                    <a:lumOff val="40000"/>
                  </a:schemeClr>
                </a:solidFill>
              </a:rPr>
              <a:t>ReLU</a:t>
            </a:r>
            <a:r>
              <a:rPr lang="en-US" sz="2400" b="1" dirty="0">
                <a:solidFill>
                  <a:schemeClr val="accent6">
                    <a:lumMod val="60000"/>
                    <a:lumOff val="40000"/>
                  </a:schemeClr>
                </a:solidFill>
              </a:rPr>
              <a:t> on an image</a:t>
            </a:r>
            <a:endParaRPr lang="en-US" sz="2400" dirty="0">
              <a:solidFill>
                <a:schemeClr val="accent6">
                  <a:lumMod val="60000"/>
                  <a:lumOff val="40000"/>
                </a:schemeClr>
              </a:solidFill>
            </a:endParaRPr>
          </a:p>
        </p:txBody>
      </p:sp>
      <p:graphicFrame>
        <p:nvGraphicFramePr>
          <p:cNvPr id="11" name="Table 10">
            <a:extLst>
              <a:ext uri="{FF2B5EF4-FFF2-40B4-BE49-F238E27FC236}">
                <a16:creationId xmlns:a16="http://schemas.microsoft.com/office/drawing/2014/main" id="{B21EF5EC-9210-7A46-4602-D0476AD4E88B}"/>
              </a:ext>
            </a:extLst>
          </p:cNvPr>
          <p:cNvGraphicFramePr>
            <a:graphicFrameLocks noGrp="1"/>
          </p:cNvGraphicFramePr>
          <p:nvPr>
            <p:extLst>
              <p:ext uri="{D42A27DB-BD31-4B8C-83A1-F6EECF244321}">
                <p14:modId xmlns:p14="http://schemas.microsoft.com/office/powerpoint/2010/main" val="1473303758"/>
              </p:ext>
            </p:extLst>
          </p:nvPr>
        </p:nvGraphicFramePr>
        <p:xfrm>
          <a:off x="377711" y="1988746"/>
          <a:ext cx="2046516" cy="1828800"/>
        </p:xfrm>
        <a:graphic>
          <a:graphicData uri="http://schemas.openxmlformats.org/drawingml/2006/table">
            <a:tbl>
              <a:tblPr firstRow="1" bandRow="1">
                <a:tableStyleId>{5C22544A-7EE6-4342-B048-85BDC9FD1C3A}</a:tableStyleId>
              </a:tblPr>
              <a:tblGrid>
                <a:gridCol w="511629">
                  <a:extLst>
                    <a:ext uri="{9D8B030D-6E8A-4147-A177-3AD203B41FA5}">
                      <a16:colId xmlns:a16="http://schemas.microsoft.com/office/drawing/2014/main" val="3633071172"/>
                    </a:ext>
                  </a:extLst>
                </a:gridCol>
                <a:gridCol w="511629">
                  <a:extLst>
                    <a:ext uri="{9D8B030D-6E8A-4147-A177-3AD203B41FA5}">
                      <a16:colId xmlns:a16="http://schemas.microsoft.com/office/drawing/2014/main" val="3490065771"/>
                    </a:ext>
                  </a:extLst>
                </a:gridCol>
                <a:gridCol w="511629">
                  <a:extLst>
                    <a:ext uri="{9D8B030D-6E8A-4147-A177-3AD203B41FA5}">
                      <a16:colId xmlns:a16="http://schemas.microsoft.com/office/drawing/2014/main" val="1847604308"/>
                    </a:ext>
                  </a:extLst>
                </a:gridCol>
                <a:gridCol w="511629">
                  <a:extLst>
                    <a:ext uri="{9D8B030D-6E8A-4147-A177-3AD203B41FA5}">
                      <a16:colId xmlns:a16="http://schemas.microsoft.com/office/drawing/2014/main" val="3012201742"/>
                    </a:ext>
                  </a:extLst>
                </a:gridCol>
              </a:tblGrid>
              <a:tr h="363946">
                <a:tc>
                  <a:txBody>
                    <a:bodyPr/>
                    <a:lstStyle/>
                    <a:p>
                      <a:r>
                        <a:rPr lang="en-US" b="0"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473554637"/>
                  </a:ext>
                </a:extLst>
              </a:tr>
              <a:tr h="363946">
                <a:tc>
                  <a:txBody>
                    <a:bodyPr/>
                    <a:lstStyle/>
                    <a:p>
                      <a:r>
                        <a:rPr lang="en-US" b="0" dirty="0">
                          <a:solidFill>
                            <a:schemeClr val="bg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525478095"/>
                  </a:ext>
                </a:extLst>
              </a:tr>
              <a:tr h="363946">
                <a:tc>
                  <a:txBody>
                    <a:bodyPr/>
                    <a:lstStyle/>
                    <a:p>
                      <a:r>
                        <a:rPr lang="en-US" b="0" dirty="0">
                          <a:solidFill>
                            <a:schemeClr val="bg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354674428"/>
                  </a:ext>
                </a:extLst>
              </a:tr>
              <a:tr h="363946">
                <a:tc>
                  <a:txBody>
                    <a:bodyPr/>
                    <a:lstStyle/>
                    <a:p>
                      <a:r>
                        <a:rPr lang="en-US" b="0"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241284739"/>
                  </a:ext>
                </a:extLst>
              </a:tr>
              <a:tr h="363946">
                <a:tc>
                  <a:txBody>
                    <a:bodyPr/>
                    <a:lstStyle/>
                    <a:p>
                      <a:r>
                        <a:rPr lang="en-US" b="0"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b="0"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658973273"/>
                  </a:ext>
                </a:extLst>
              </a:tr>
            </a:tbl>
          </a:graphicData>
        </a:graphic>
      </p:graphicFrame>
      <p:graphicFrame>
        <p:nvGraphicFramePr>
          <p:cNvPr id="12" name="Table 11">
            <a:extLst>
              <a:ext uri="{FF2B5EF4-FFF2-40B4-BE49-F238E27FC236}">
                <a16:creationId xmlns:a16="http://schemas.microsoft.com/office/drawing/2014/main" id="{C7D097B1-D0D3-9273-E4FC-8BE6DCE01406}"/>
              </a:ext>
            </a:extLst>
          </p:cNvPr>
          <p:cNvGraphicFramePr>
            <a:graphicFrameLocks noGrp="1"/>
          </p:cNvGraphicFramePr>
          <p:nvPr>
            <p:extLst>
              <p:ext uri="{D42A27DB-BD31-4B8C-83A1-F6EECF244321}">
                <p14:modId xmlns:p14="http://schemas.microsoft.com/office/powerpoint/2010/main" val="850884108"/>
              </p:ext>
            </p:extLst>
          </p:nvPr>
        </p:nvGraphicFramePr>
        <p:xfrm>
          <a:off x="3746713" y="2071042"/>
          <a:ext cx="2046516" cy="1828800"/>
        </p:xfrm>
        <a:graphic>
          <a:graphicData uri="http://schemas.openxmlformats.org/drawingml/2006/table">
            <a:tbl>
              <a:tblPr firstRow="1" bandRow="1">
                <a:tableStyleId>{5C22544A-7EE6-4342-B048-85BDC9FD1C3A}</a:tableStyleId>
              </a:tblPr>
              <a:tblGrid>
                <a:gridCol w="511629">
                  <a:extLst>
                    <a:ext uri="{9D8B030D-6E8A-4147-A177-3AD203B41FA5}">
                      <a16:colId xmlns:a16="http://schemas.microsoft.com/office/drawing/2014/main" val="3633071172"/>
                    </a:ext>
                  </a:extLst>
                </a:gridCol>
                <a:gridCol w="511629">
                  <a:extLst>
                    <a:ext uri="{9D8B030D-6E8A-4147-A177-3AD203B41FA5}">
                      <a16:colId xmlns:a16="http://schemas.microsoft.com/office/drawing/2014/main" val="3490065771"/>
                    </a:ext>
                  </a:extLst>
                </a:gridCol>
                <a:gridCol w="511629">
                  <a:extLst>
                    <a:ext uri="{9D8B030D-6E8A-4147-A177-3AD203B41FA5}">
                      <a16:colId xmlns:a16="http://schemas.microsoft.com/office/drawing/2014/main" val="1847604308"/>
                    </a:ext>
                  </a:extLst>
                </a:gridCol>
                <a:gridCol w="511629">
                  <a:extLst>
                    <a:ext uri="{9D8B030D-6E8A-4147-A177-3AD203B41FA5}">
                      <a16:colId xmlns:a16="http://schemas.microsoft.com/office/drawing/2014/main" val="3012201742"/>
                    </a:ext>
                  </a:extLst>
                </a:gridCol>
              </a:tblGrid>
              <a:tr h="363946">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473554637"/>
                  </a:ext>
                </a:extLst>
              </a:tr>
              <a:tr h="363946">
                <a:tc>
                  <a:txBody>
                    <a:bodyPr/>
                    <a:lstStyle/>
                    <a:p>
                      <a:r>
                        <a:rPr lang="en-US" dirty="0">
                          <a:solidFill>
                            <a:schemeClr val="bg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525478095"/>
                  </a:ext>
                </a:extLst>
              </a:tr>
              <a:tr h="363946">
                <a:tc>
                  <a:txBody>
                    <a:bodyPr/>
                    <a:lstStyle/>
                    <a:p>
                      <a:r>
                        <a:rPr lang="en-US" dirty="0">
                          <a:solidFill>
                            <a:schemeClr val="bg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354674428"/>
                  </a:ext>
                </a:extLst>
              </a:tr>
              <a:tr h="363946">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241284739"/>
                  </a:ext>
                </a:extLst>
              </a:tr>
              <a:tr h="363946">
                <a:tc>
                  <a:txBody>
                    <a:bodyPr/>
                    <a:lstStyle/>
                    <a:p>
                      <a:r>
                        <a:rPr lang="en-US"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658973273"/>
                  </a:ext>
                </a:extLst>
              </a:tr>
            </a:tbl>
          </a:graphicData>
        </a:graphic>
      </p:graphicFrame>
      <mc:AlternateContent xmlns:mc="http://schemas.openxmlformats.org/markup-compatibility/2006" xmlns:p14="http://schemas.microsoft.com/office/powerpoint/2010/main">
        <mc:Choice Requires="p14">
          <p:contentPart p14:bwMode="auto" r:id="rId2">
            <p14:nvContentPartPr>
              <p14:cNvPr id="13" name="Ink 12">
                <a:extLst>
                  <a:ext uri="{FF2B5EF4-FFF2-40B4-BE49-F238E27FC236}">
                    <a16:creationId xmlns:a16="http://schemas.microsoft.com/office/drawing/2014/main" id="{8400FFAB-2AD8-ECCA-10F9-E47E142CDB09}"/>
                  </a:ext>
                </a:extLst>
              </p14:cNvPr>
              <p14:cNvContentPartPr/>
              <p14:nvPr/>
            </p14:nvContentPartPr>
            <p14:xfrm>
              <a:off x="2646144" y="2761056"/>
              <a:ext cx="721800" cy="171360"/>
            </p14:xfrm>
          </p:contentPart>
        </mc:Choice>
        <mc:Fallback xmlns="">
          <p:pic>
            <p:nvPicPr>
              <p:cNvPr id="13" name="Ink 12">
                <a:extLst>
                  <a:ext uri="{FF2B5EF4-FFF2-40B4-BE49-F238E27FC236}">
                    <a16:creationId xmlns:a16="http://schemas.microsoft.com/office/drawing/2014/main" id="{8400FFAB-2AD8-ECCA-10F9-E47E142CDB09}"/>
                  </a:ext>
                </a:extLst>
              </p:cNvPr>
              <p:cNvPicPr/>
              <p:nvPr/>
            </p:nvPicPr>
            <p:blipFill>
              <a:blip r:embed="rId3"/>
              <a:stretch>
                <a:fillRect/>
              </a:stretch>
            </p:blipFill>
            <p:spPr>
              <a:xfrm>
                <a:off x="2610504" y="2725416"/>
                <a:ext cx="793440" cy="243000"/>
              </a:xfrm>
              <a:prstGeom prst="rect">
                <a:avLst/>
              </a:prstGeom>
            </p:spPr>
          </p:pic>
        </mc:Fallback>
      </mc:AlternateContent>
      <p:sp>
        <p:nvSpPr>
          <p:cNvPr id="14" name="TextBox 13">
            <a:extLst>
              <a:ext uri="{FF2B5EF4-FFF2-40B4-BE49-F238E27FC236}">
                <a16:creationId xmlns:a16="http://schemas.microsoft.com/office/drawing/2014/main" id="{4BA6E9CB-0B7C-5485-F9D8-0E5F6A7650D4}"/>
              </a:ext>
            </a:extLst>
          </p:cNvPr>
          <p:cNvSpPr txBox="1"/>
          <p:nvPr/>
        </p:nvSpPr>
        <p:spPr>
          <a:xfrm>
            <a:off x="4251960" y="1627632"/>
            <a:ext cx="820289" cy="461665"/>
          </a:xfrm>
          <a:prstGeom prst="rect">
            <a:avLst/>
          </a:prstGeom>
          <a:noFill/>
        </p:spPr>
        <p:txBody>
          <a:bodyPr wrap="none" rtlCol="0">
            <a:spAutoFit/>
          </a:bodyPr>
          <a:lstStyle/>
          <a:p>
            <a:r>
              <a:rPr lang="en-US" sz="2400" dirty="0" err="1">
                <a:solidFill>
                  <a:schemeClr val="accent6">
                    <a:lumMod val="60000"/>
                    <a:lumOff val="40000"/>
                  </a:schemeClr>
                </a:solidFill>
              </a:rPr>
              <a:t>ReLU</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1550205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9892" y="430637"/>
            <a:ext cx="11629394" cy="4154984"/>
          </a:xfrm>
          <a:prstGeom prst="rect">
            <a:avLst/>
          </a:prstGeom>
          <a:noFill/>
        </p:spPr>
        <p:txBody>
          <a:bodyPr wrap="square" rtlCol="0">
            <a:spAutoFit/>
          </a:bodyPr>
          <a:lstStyle/>
          <a:p>
            <a:r>
              <a:rPr lang="en-US" sz="2400" b="1" dirty="0">
                <a:solidFill>
                  <a:schemeClr val="accent6">
                    <a:lumMod val="60000"/>
                    <a:lumOff val="40000"/>
                  </a:schemeClr>
                </a:solidFill>
              </a:rPr>
              <a:t>Pooling layer</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The goal of the pooling layer is to </a:t>
            </a:r>
            <a:r>
              <a:rPr lang="en-US" sz="2400" b="1" dirty="0">
                <a:solidFill>
                  <a:schemeClr val="accent6">
                    <a:lumMod val="60000"/>
                    <a:lumOff val="40000"/>
                  </a:schemeClr>
                </a:solidFill>
              </a:rPr>
              <a:t>pull the most significant features </a:t>
            </a:r>
            <a:r>
              <a:rPr lang="en-US" sz="2400" dirty="0">
                <a:solidFill>
                  <a:schemeClr val="accent6">
                    <a:lumMod val="60000"/>
                    <a:lumOff val="40000"/>
                  </a:schemeClr>
                </a:solidFill>
              </a:rPr>
              <a:t>from the convoluted matrix. This is done by applying some aggregation operations, which </a:t>
            </a:r>
            <a:r>
              <a:rPr lang="en-US" sz="2400" b="1" dirty="0">
                <a:solidFill>
                  <a:schemeClr val="accent6">
                    <a:lumMod val="60000"/>
                    <a:lumOff val="40000"/>
                  </a:schemeClr>
                </a:solidFill>
              </a:rPr>
              <a:t>reduce the dimension of the feature </a:t>
            </a:r>
            <a:r>
              <a:rPr lang="en-US" sz="2400" dirty="0">
                <a:solidFill>
                  <a:schemeClr val="accent6">
                    <a:lumMod val="60000"/>
                    <a:lumOff val="40000"/>
                  </a:schemeClr>
                </a:solidFill>
              </a:rPr>
              <a:t>map (convoluted matrix), hence reducing the memory used while training the network. </a:t>
            </a:r>
          </a:p>
          <a:p>
            <a:r>
              <a:rPr lang="en-US" sz="2400" dirty="0">
                <a:solidFill>
                  <a:schemeClr val="accent6">
                    <a:lumMod val="60000"/>
                    <a:lumOff val="40000"/>
                  </a:schemeClr>
                </a:solidFill>
              </a:rPr>
              <a:t>Pooling is also relevant for mitigating overfitting.</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 2 most common aggregation functions that can be applied are:</a:t>
            </a:r>
          </a:p>
          <a:p>
            <a:pPr marL="285750" indent="-285750">
              <a:buFont typeface="Arial" panose="020B0604020202020204" pitchFamily="34" charset="0"/>
              <a:buChar char="•"/>
            </a:pPr>
            <a:r>
              <a:rPr lang="en-US" sz="2400" b="1" dirty="0">
                <a:solidFill>
                  <a:schemeClr val="accent6">
                    <a:lumMod val="60000"/>
                    <a:lumOff val="40000"/>
                  </a:schemeClr>
                </a:solidFill>
              </a:rPr>
              <a:t>Max pooling</a:t>
            </a:r>
          </a:p>
          <a:p>
            <a:pPr marL="285750" indent="-285750">
              <a:buFont typeface="Arial" panose="020B0604020202020204" pitchFamily="34" charset="0"/>
              <a:buChar char="•"/>
            </a:pPr>
            <a:r>
              <a:rPr lang="en-US" sz="2400" b="1" dirty="0">
                <a:solidFill>
                  <a:schemeClr val="accent6">
                    <a:lumMod val="60000"/>
                    <a:lumOff val="40000"/>
                  </a:schemeClr>
                </a:solidFill>
              </a:rPr>
              <a:t>Average pooling</a:t>
            </a:r>
          </a:p>
        </p:txBody>
      </p:sp>
    </p:spTree>
    <p:extLst>
      <p:ext uri="{BB962C8B-B14F-4D97-AF65-F5344CB8AC3E}">
        <p14:creationId xmlns:p14="http://schemas.microsoft.com/office/powerpoint/2010/main" val="3778243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7854E-7098-E7E7-ED1F-06B8A69E7BA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8FA0B54-64EC-FBA7-C3CF-BA5499E5E7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2032" y="3090672"/>
            <a:ext cx="7596621" cy="3521056"/>
          </a:xfrm>
          <a:prstGeom prst="rect">
            <a:avLst/>
          </a:prstGeom>
        </p:spPr>
      </p:pic>
      <p:sp>
        <p:nvSpPr>
          <p:cNvPr id="7" name="TextBox 6">
            <a:extLst>
              <a:ext uri="{FF2B5EF4-FFF2-40B4-BE49-F238E27FC236}">
                <a16:creationId xmlns:a16="http://schemas.microsoft.com/office/drawing/2014/main" id="{30B4CF30-07F0-1393-5DAF-242CB2E30445}"/>
              </a:ext>
            </a:extLst>
          </p:cNvPr>
          <p:cNvSpPr txBox="1"/>
          <p:nvPr/>
        </p:nvSpPr>
        <p:spPr>
          <a:xfrm>
            <a:off x="466344" y="321345"/>
            <a:ext cx="10890504" cy="2308324"/>
          </a:xfrm>
          <a:prstGeom prst="rect">
            <a:avLst/>
          </a:prstGeom>
          <a:noFill/>
        </p:spPr>
        <p:txBody>
          <a:bodyPr wrap="square" rtlCol="0">
            <a:spAutoFit/>
          </a:bodyPr>
          <a:lstStyle/>
          <a:p>
            <a:r>
              <a:rPr lang="en-US" sz="2400" b="1" dirty="0">
                <a:solidFill>
                  <a:schemeClr val="accent6">
                    <a:lumMod val="60000"/>
                    <a:lumOff val="40000"/>
                  </a:schemeClr>
                </a:solidFill>
              </a:rPr>
              <a:t>Max pooling</a:t>
            </a:r>
          </a:p>
          <a:p>
            <a:r>
              <a:rPr lang="en-US" sz="2400" dirty="0">
                <a:solidFill>
                  <a:schemeClr val="accent6">
                    <a:lumMod val="60000"/>
                    <a:lumOff val="40000"/>
                  </a:schemeClr>
                </a:solidFill>
              </a:rPr>
              <a:t>This gives the maximum value of the feature map</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This </a:t>
            </a:r>
            <a:r>
              <a:rPr lang="en-US" sz="2400" b="1" dirty="0">
                <a:solidFill>
                  <a:schemeClr val="accent6">
                    <a:lumMod val="60000"/>
                    <a:lumOff val="40000"/>
                  </a:schemeClr>
                </a:solidFill>
              </a:rPr>
              <a:t>removes any unnecessary features: </a:t>
            </a:r>
            <a:r>
              <a:rPr lang="en-US" sz="2400" dirty="0">
                <a:solidFill>
                  <a:schemeClr val="accent6">
                    <a:lumMod val="60000"/>
                    <a:lumOff val="40000"/>
                  </a:schemeClr>
                </a:solidFill>
              </a:rPr>
              <a:t>When you take the highest values from that block of matrix while applying max pool, it accounts for only </a:t>
            </a:r>
            <a:r>
              <a:rPr lang="en-US" sz="2400" b="1" dirty="0">
                <a:solidFill>
                  <a:schemeClr val="accent6">
                    <a:lumMod val="60000"/>
                    <a:lumOff val="40000"/>
                  </a:schemeClr>
                </a:solidFill>
              </a:rPr>
              <a:t>important features</a:t>
            </a:r>
            <a:r>
              <a:rPr lang="en-US" sz="2400" dirty="0">
                <a:solidFill>
                  <a:schemeClr val="accent6">
                    <a:lumMod val="60000"/>
                    <a:lumOff val="40000"/>
                  </a:schemeClr>
                </a:solidFill>
              </a:rPr>
              <a:t> in the output</a:t>
            </a:r>
          </a:p>
        </p:txBody>
      </p:sp>
    </p:spTree>
    <p:extLst>
      <p:ext uri="{BB962C8B-B14F-4D97-AF65-F5344CB8AC3E}">
        <p14:creationId xmlns:p14="http://schemas.microsoft.com/office/powerpoint/2010/main" val="473757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3287" y="202908"/>
            <a:ext cx="11902334" cy="1938992"/>
          </a:xfrm>
          <a:prstGeom prst="rect">
            <a:avLst/>
          </a:prstGeom>
          <a:noFill/>
        </p:spPr>
        <p:txBody>
          <a:bodyPr wrap="square" rtlCol="0">
            <a:spAutoFit/>
          </a:bodyPr>
          <a:lstStyle/>
          <a:p>
            <a:pPr fontAlgn="base"/>
            <a:r>
              <a:rPr lang="en-US" sz="2400" b="1" dirty="0">
                <a:solidFill>
                  <a:schemeClr val="accent6">
                    <a:lumMod val="60000"/>
                    <a:lumOff val="40000"/>
                  </a:schemeClr>
                </a:solidFill>
              </a:rPr>
              <a:t>Average pooling </a:t>
            </a:r>
          </a:p>
          <a:p>
            <a:pPr fontAlgn="base"/>
            <a:r>
              <a:rPr lang="en-US" sz="2400" dirty="0">
                <a:solidFill>
                  <a:schemeClr val="accent6">
                    <a:lumMod val="60000"/>
                    <a:lumOff val="40000"/>
                  </a:schemeClr>
                </a:solidFill>
              </a:rPr>
              <a:t>It computes the average of the elements present in the region of feature map covered by the filter. </a:t>
            </a:r>
          </a:p>
          <a:p>
            <a:pPr fontAlgn="base"/>
            <a:r>
              <a:rPr lang="en-US" sz="2400" dirty="0">
                <a:solidFill>
                  <a:schemeClr val="accent6">
                    <a:lumMod val="60000"/>
                    <a:lumOff val="40000"/>
                  </a:schemeClr>
                </a:solidFill>
              </a:rPr>
              <a:t>Average pooling provides a more </a:t>
            </a:r>
            <a:r>
              <a:rPr lang="en-US" sz="2400" b="1" dirty="0">
                <a:solidFill>
                  <a:schemeClr val="accent6">
                    <a:lumMod val="60000"/>
                    <a:lumOff val="40000"/>
                  </a:schemeClr>
                </a:solidFill>
              </a:rPr>
              <a:t>generalized representation</a:t>
            </a:r>
            <a:r>
              <a:rPr lang="en-US" sz="2400" dirty="0">
                <a:solidFill>
                  <a:schemeClr val="accent6">
                    <a:lumMod val="60000"/>
                    <a:lumOff val="40000"/>
                  </a:schemeClr>
                </a:solidFill>
              </a:rPr>
              <a:t> of the input. </a:t>
            </a:r>
          </a:p>
          <a:p>
            <a:pPr fontAlgn="base"/>
            <a:r>
              <a:rPr lang="en-US" sz="2400" dirty="0">
                <a:solidFill>
                  <a:schemeClr val="accent6">
                    <a:lumMod val="60000"/>
                    <a:lumOff val="40000"/>
                  </a:schemeClr>
                </a:solidFill>
              </a:rPr>
              <a:t>It is useful in the cases where </a:t>
            </a:r>
            <a:r>
              <a:rPr lang="en-US" sz="2400" b="1" dirty="0">
                <a:solidFill>
                  <a:schemeClr val="accent6">
                    <a:lumMod val="60000"/>
                    <a:lumOff val="40000"/>
                  </a:schemeClr>
                </a:solidFill>
              </a:rPr>
              <a:t>preserving the overall context </a:t>
            </a:r>
            <a:r>
              <a:rPr lang="en-US" sz="2400" dirty="0">
                <a:solidFill>
                  <a:schemeClr val="accent6">
                    <a:lumMod val="60000"/>
                    <a:lumOff val="40000"/>
                  </a:schemeClr>
                </a:solidFill>
              </a:rPr>
              <a:t>is important</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7425" y="2968398"/>
            <a:ext cx="9038547" cy="3236459"/>
          </a:xfrm>
          <a:prstGeom prst="rect">
            <a:avLst/>
          </a:prstGeom>
        </p:spPr>
      </p:pic>
    </p:spTree>
    <p:extLst>
      <p:ext uri="{BB962C8B-B14F-4D97-AF65-F5344CB8AC3E}">
        <p14:creationId xmlns:p14="http://schemas.microsoft.com/office/powerpoint/2010/main" val="23395356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6E8A3-4820-2489-89F0-AFD94500063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53DE370-2ACD-6832-F20F-AED615722F45}"/>
              </a:ext>
            </a:extLst>
          </p:cNvPr>
          <p:cNvSpPr txBox="1"/>
          <p:nvPr/>
        </p:nvSpPr>
        <p:spPr>
          <a:xfrm>
            <a:off x="163287" y="4976076"/>
            <a:ext cx="11902334" cy="1569660"/>
          </a:xfrm>
          <a:prstGeom prst="rect">
            <a:avLst/>
          </a:prstGeom>
          <a:noFill/>
        </p:spPr>
        <p:txBody>
          <a:bodyPr wrap="square" rtlCol="0">
            <a:spAutoFit/>
          </a:bodyPr>
          <a:lstStyle/>
          <a:p>
            <a:pPr fontAlgn="base"/>
            <a:r>
              <a:rPr lang="en-US" sz="2400" b="1" dirty="0">
                <a:solidFill>
                  <a:schemeClr val="accent6">
                    <a:lumMod val="60000"/>
                    <a:lumOff val="40000"/>
                  </a:schemeClr>
                </a:solidFill>
              </a:rPr>
              <a:t>Advantage of Pooling:</a:t>
            </a:r>
          </a:p>
          <a:p>
            <a:r>
              <a:rPr lang="en-US" sz="2400" b="1" dirty="0">
                <a:solidFill>
                  <a:schemeClr val="accent6">
                    <a:lumMod val="60000"/>
                    <a:lumOff val="40000"/>
                  </a:schemeClr>
                </a:solidFill>
              </a:rPr>
              <a:t>1. Size Reduction:  </a:t>
            </a:r>
            <a:r>
              <a:rPr lang="en-US" sz="2400" dirty="0">
                <a:solidFill>
                  <a:schemeClr val="accent6">
                    <a:lumMod val="60000"/>
                    <a:lumOff val="40000"/>
                  </a:schemeClr>
                </a:solidFill>
              </a:rPr>
              <a:t>28×28 → 14×14</a:t>
            </a:r>
          </a:p>
          <a:p>
            <a:r>
              <a:rPr lang="en-US" sz="2400" b="1" dirty="0">
                <a:solidFill>
                  <a:schemeClr val="accent6">
                    <a:lumMod val="60000"/>
                    <a:lumOff val="40000"/>
                  </a:schemeClr>
                </a:solidFill>
              </a:rPr>
              <a:t>2. Computation Reduction: </a:t>
            </a:r>
            <a:r>
              <a:rPr lang="en-US" sz="2400" dirty="0">
                <a:solidFill>
                  <a:schemeClr val="accent6">
                    <a:lumMod val="60000"/>
                    <a:lumOff val="40000"/>
                  </a:schemeClr>
                </a:solidFill>
              </a:rPr>
              <a:t>Fewer pixels → faster training </a:t>
            </a:r>
          </a:p>
          <a:p>
            <a:r>
              <a:rPr lang="en-US" sz="2400" b="1" dirty="0">
                <a:solidFill>
                  <a:schemeClr val="accent6">
                    <a:lumMod val="60000"/>
                    <a:lumOff val="40000"/>
                  </a:schemeClr>
                </a:solidFill>
              </a:rPr>
              <a:t>3. Feature Retention: </a:t>
            </a:r>
            <a:r>
              <a:rPr lang="en-US" sz="2400" dirty="0">
                <a:solidFill>
                  <a:schemeClr val="accent6">
                    <a:lumMod val="60000"/>
                    <a:lumOff val="40000"/>
                  </a:schemeClr>
                </a:solidFill>
              </a:rPr>
              <a:t>Important structures still visible</a:t>
            </a:r>
          </a:p>
        </p:txBody>
      </p:sp>
      <p:pic>
        <p:nvPicPr>
          <p:cNvPr id="3" name="Picture 2">
            <a:extLst>
              <a:ext uri="{FF2B5EF4-FFF2-40B4-BE49-F238E27FC236}">
                <a16:creationId xmlns:a16="http://schemas.microsoft.com/office/drawing/2014/main" id="{6CBF2DDD-69A0-B12F-0B7E-95BDF226ADFC}"/>
              </a:ext>
            </a:extLst>
          </p:cNvPr>
          <p:cNvPicPr>
            <a:picLocks noChangeAspect="1"/>
          </p:cNvPicPr>
          <p:nvPr/>
        </p:nvPicPr>
        <p:blipFill>
          <a:blip r:embed="rId2"/>
          <a:stretch>
            <a:fillRect/>
          </a:stretch>
        </p:blipFill>
        <p:spPr>
          <a:xfrm>
            <a:off x="163287" y="521475"/>
            <a:ext cx="7640116" cy="4001058"/>
          </a:xfrm>
          <a:prstGeom prst="rect">
            <a:avLst/>
          </a:prstGeom>
        </p:spPr>
      </p:pic>
      <p:pic>
        <p:nvPicPr>
          <p:cNvPr id="9" name="Picture 8">
            <a:extLst>
              <a:ext uri="{FF2B5EF4-FFF2-40B4-BE49-F238E27FC236}">
                <a16:creationId xmlns:a16="http://schemas.microsoft.com/office/drawing/2014/main" id="{DCB59F3A-85F2-BF05-D798-D021BAAED158}"/>
              </a:ext>
            </a:extLst>
          </p:cNvPr>
          <p:cNvPicPr>
            <a:picLocks noChangeAspect="1"/>
          </p:cNvPicPr>
          <p:nvPr/>
        </p:nvPicPr>
        <p:blipFill>
          <a:blip r:embed="rId3"/>
          <a:stretch>
            <a:fillRect/>
          </a:stretch>
        </p:blipFill>
        <p:spPr>
          <a:xfrm>
            <a:off x="7806556" y="535092"/>
            <a:ext cx="3768978" cy="4001058"/>
          </a:xfrm>
          <a:prstGeom prst="rect">
            <a:avLst/>
          </a:prstGeom>
        </p:spPr>
      </p:pic>
      <p:sp>
        <p:nvSpPr>
          <p:cNvPr id="10" name="TextBox 9">
            <a:extLst>
              <a:ext uri="{FF2B5EF4-FFF2-40B4-BE49-F238E27FC236}">
                <a16:creationId xmlns:a16="http://schemas.microsoft.com/office/drawing/2014/main" id="{A1F16477-E29A-D2D5-4CA7-5805C54A3CE7}"/>
              </a:ext>
            </a:extLst>
          </p:cNvPr>
          <p:cNvSpPr txBox="1"/>
          <p:nvPr/>
        </p:nvSpPr>
        <p:spPr>
          <a:xfrm>
            <a:off x="402336" y="64008"/>
            <a:ext cx="4214295" cy="369332"/>
          </a:xfrm>
          <a:prstGeom prst="rect">
            <a:avLst/>
          </a:prstGeom>
          <a:noFill/>
        </p:spPr>
        <p:txBody>
          <a:bodyPr wrap="none" rtlCol="0">
            <a:spAutoFit/>
          </a:bodyPr>
          <a:lstStyle/>
          <a:p>
            <a:r>
              <a:rPr lang="en-US" dirty="0">
                <a:solidFill>
                  <a:schemeClr val="accent6">
                    <a:lumMod val="60000"/>
                    <a:lumOff val="40000"/>
                  </a:schemeClr>
                </a:solidFill>
              </a:rPr>
              <a:t>Pooling on 28 X 28 pixel image from MNIST</a:t>
            </a:r>
          </a:p>
        </p:txBody>
      </p:sp>
    </p:spTree>
    <p:extLst>
      <p:ext uri="{BB962C8B-B14F-4D97-AF65-F5344CB8AC3E}">
        <p14:creationId xmlns:p14="http://schemas.microsoft.com/office/powerpoint/2010/main" val="18178892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3287" y="166332"/>
            <a:ext cx="11902334" cy="3046988"/>
          </a:xfrm>
          <a:prstGeom prst="rect">
            <a:avLst/>
          </a:prstGeom>
          <a:noFill/>
        </p:spPr>
        <p:txBody>
          <a:bodyPr wrap="square" rtlCol="0">
            <a:spAutoFit/>
          </a:bodyPr>
          <a:lstStyle/>
          <a:p>
            <a:r>
              <a:rPr lang="en-US" sz="2400" b="1" dirty="0">
                <a:solidFill>
                  <a:schemeClr val="accent6">
                    <a:lumMod val="60000"/>
                    <a:lumOff val="40000"/>
                  </a:schemeClr>
                </a:solidFill>
              </a:rPr>
              <a:t>Fully connected layers</a:t>
            </a:r>
          </a:p>
          <a:p>
            <a:pPr marL="285750" indent="-285750">
              <a:buFont typeface="Arial" panose="020B0604020202020204" pitchFamily="34" charset="0"/>
              <a:buChar char="•"/>
            </a:pPr>
            <a:r>
              <a:rPr lang="en-US" sz="2400" dirty="0">
                <a:solidFill>
                  <a:schemeClr val="accent6">
                    <a:lumMod val="60000"/>
                    <a:lumOff val="40000"/>
                  </a:schemeClr>
                </a:solidFill>
              </a:rPr>
              <a:t>A fully connected layer, aka </a:t>
            </a:r>
            <a:r>
              <a:rPr lang="en-US" sz="2400" b="1" dirty="0">
                <a:solidFill>
                  <a:schemeClr val="accent6">
                    <a:lumMod val="60000"/>
                    <a:lumOff val="40000"/>
                  </a:schemeClr>
                </a:solidFill>
              </a:rPr>
              <a:t>dense layer,</a:t>
            </a:r>
            <a:r>
              <a:rPr lang="en-US" sz="2400" dirty="0">
                <a:solidFill>
                  <a:schemeClr val="accent6">
                    <a:lumMod val="60000"/>
                    <a:lumOff val="40000"/>
                  </a:schemeClr>
                </a:solidFill>
              </a:rPr>
              <a:t> in a convolutional neural network (CNN) connects </a:t>
            </a:r>
            <a:r>
              <a:rPr lang="en-US" sz="2400" b="1" dirty="0">
                <a:solidFill>
                  <a:schemeClr val="accent6">
                    <a:lumMod val="60000"/>
                    <a:lumOff val="40000"/>
                  </a:schemeClr>
                </a:solidFill>
              </a:rPr>
              <a:t>every input node to every output node</a:t>
            </a:r>
            <a:r>
              <a:rPr lang="en-US" sz="2400" dirty="0">
                <a:solidFill>
                  <a:schemeClr val="accent6">
                    <a:lumMod val="60000"/>
                    <a:lumOff val="40000"/>
                  </a:schemeClr>
                </a:solidFill>
              </a:rPr>
              <a:t>.</a:t>
            </a:r>
          </a:p>
          <a:p>
            <a:pPr marL="285750" indent="-285750">
              <a:buFont typeface="Arial" panose="020B0604020202020204" pitchFamily="34" charset="0"/>
              <a:buChar char="•"/>
            </a:pPr>
            <a:r>
              <a:rPr lang="en-US" sz="2400" dirty="0">
                <a:solidFill>
                  <a:schemeClr val="accent6">
                    <a:lumMod val="60000"/>
                    <a:lumOff val="40000"/>
                  </a:schemeClr>
                </a:solidFill>
              </a:rPr>
              <a:t>These layers are in the </a:t>
            </a:r>
            <a:r>
              <a:rPr lang="en-US" sz="2400" b="1" dirty="0">
                <a:solidFill>
                  <a:schemeClr val="accent6">
                    <a:lumMod val="60000"/>
                    <a:lumOff val="40000"/>
                  </a:schemeClr>
                </a:solidFill>
              </a:rPr>
              <a:t>last layer</a:t>
            </a:r>
            <a:r>
              <a:rPr lang="en-US" sz="2400" dirty="0">
                <a:solidFill>
                  <a:schemeClr val="accent6">
                    <a:lumMod val="60000"/>
                    <a:lumOff val="40000"/>
                  </a:schemeClr>
                </a:solidFill>
              </a:rPr>
              <a:t> of the convolutional neural network, and their inputs correspond to the flattened one-dimensional matrix generated by the last pooling layer. </a:t>
            </a:r>
            <a:r>
              <a:rPr lang="en-US" sz="2400" dirty="0" err="1">
                <a:solidFill>
                  <a:schemeClr val="accent6">
                    <a:lumMod val="60000"/>
                    <a:lumOff val="40000"/>
                  </a:schemeClr>
                </a:solidFill>
              </a:rPr>
              <a:t>ReLU</a:t>
            </a:r>
            <a:r>
              <a:rPr lang="en-US" sz="2400" dirty="0">
                <a:solidFill>
                  <a:schemeClr val="accent6">
                    <a:lumMod val="60000"/>
                    <a:lumOff val="40000"/>
                  </a:schemeClr>
                </a:solidFill>
              </a:rPr>
              <a:t> activations functions are applied to them for non-linearity.</a:t>
            </a:r>
          </a:p>
          <a:p>
            <a:pPr marL="285750" indent="-285750">
              <a:buFont typeface="Arial" panose="020B0604020202020204" pitchFamily="34" charset="0"/>
              <a:buChar char="•"/>
            </a:pPr>
            <a:r>
              <a:rPr lang="en-US" sz="2400" dirty="0">
                <a:solidFill>
                  <a:schemeClr val="accent6">
                    <a:lumMod val="60000"/>
                    <a:lumOff val="40000"/>
                  </a:schemeClr>
                </a:solidFill>
              </a:rPr>
              <a:t>Finally, a </a:t>
            </a:r>
            <a:r>
              <a:rPr lang="en-US" sz="2400" b="1" dirty="0" err="1">
                <a:solidFill>
                  <a:schemeClr val="accent6">
                    <a:lumMod val="60000"/>
                    <a:lumOff val="40000"/>
                  </a:schemeClr>
                </a:solidFill>
              </a:rPr>
              <a:t>softmax</a:t>
            </a:r>
            <a:r>
              <a:rPr lang="en-US" sz="2400" dirty="0">
                <a:solidFill>
                  <a:schemeClr val="accent6">
                    <a:lumMod val="60000"/>
                    <a:lumOff val="40000"/>
                  </a:schemeClr>
                </a:solidFill>
              </a:rPr>
              <a:t> prediction layer is used to generate probability values for each of the possible output labels. The final label predicted is the one with the highest probability score.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9515" y="3416320"/>
            <a:ext cx="3921334" cy="3275348"/>
          </a:xfrm>
          <a:prstGeom prst="rect">
            <a:avLst/>
          </a:prstGeom>
        </p:spPr>
      </p:pic>
    </p:spTree>
    <p:extLst>
      <p:ext uri="{BB962C8B-B14F-4D97-AF65-F5344CB8AC3E}">
        <p14:creationId xmlns:p14="http://schemas.microsoft.com/office/powerpoint/2010/main" val="29597189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3287" y="413220"/>
            <a:ext cx="11902334" cy="1569660"/>
          </a:xfrm>
          <a:prstGeom prst="rect">
            <a:avLst/>
          </a:prstGeom>
          <a:noFill/>
        </p:spPr>
        <p:txBody>
          <a:bodyPr wrap="square" rtlCol="0">
            <a:spAutoFit/>
          </a:bodyPr>
          <a:lstStyle/>
          <a:p>
            <a:r>
              <a:rPr lang="en-US" sz="2400" b="1" dirty="0">
                <a:solidFill>
                  <a:schemeClr val="accent6">
                    <a:lumMod val="60000"/>
                    <a:lumOff val="40000"/>
                  </a:schemeClr>
                </a:solidFill>
              </a:rPr>
              <a:t>Flatten</a:t>
            </a:r>
          </a:p>
          <a:p>
            <a:r>
              <a:rPr lang="en-US" sz="2400" dirty="0">
                <a:solidFill>
                  <a:schemeClr val="accent6">
                    <a:lumMod val="60000"/>
                    <a:lumOff val="40000"/>
                  </a:schemeClr>
                </a:solidFill>
              </a:rPr>
              <a:t>Flattening is used to convert all the resultant 2-Dimensional arrays from pooled feature maps into a 1D array. </a:t>
            </a:r>
          </a:p>
          <a:p>
            <a:r>
              <a:rPr lang="en-US" sz="2400" dirty="0">
                <a:solidFill>
                  <a:schemeClr val="accent6">
                    <a:lumMod val="60000"/>
                    <a:lumOff val="40000"/>
                  </a:schemeClr>
                </a:solidFill>
              </a:rPr>
              <a:t>The flattened matrix is fed as input to the fully connected layer to classify the image.</a:t>
            </a:r>
          </a:p>
        </p:txBody>
      </p:sp>
      <p:sp>
        <p:nvSpPr>
          <p:cNvPr id="5" name="TextBox 4">
            <a:extLst>
              <a:ext uri="{FF2B5EF4-FFF2-40B4-BE49-F238E27FC236}">
                <a16:creationId xmlns:a16="http://schemas.microsoft.com/office/drawing/2014/main" id="{0019EE25-589E-4208-5896-8EA60827DE58}"/>
              </a:ext>
            </a:extLst>
          </p:cNvPr>
          <p:cNvSpPr txBox="1"/>
          <p:nvPr/>
        </p:nvSpPr>
        <p:spPr>
          <a:xfrm>
            <a:off x="256838" y="3839912"/>
            <a:ext cx="2364622" cy="400110"/>
          </a:xfrm>
          <a:prstGeom prst="rect">
            <a:avLst/>
          </a:prstGeom>
          <a:noFill/>
        </p:spPr>
        <p:txBody>
          <a:bodyPr wrap="none" rtlCol="0">
            <a:spAutoFit/>
          </a:bodyPr>
          <a:lstStyle/>
          <a:p>
            <a:r>
              <a:rPr lang="en-US" sz="2000" dirty="0">
                <a:solidFill>
                  <a:schemeClr val="accent6">
                    <a:lumMod val="60000"/>
                    <a:lumOff val="40000"/>
                  </a:schemeClr>
                </a:solidFill>
              </a:rPr>
              <a:t>2D matrix of size 3X3</a:t>
            </a:r>
            <a:endParaRPr lang="en-IN" sz="2000" dirty="0">
              <a:solidFill>
                <a:schemeClr val="accent6">
                  <a:lumMod val="60000"/>
                  <a:lumOff val="40000"/>
                </a:schemeClr>
              </a:solidFill>
            </a:endParaRPr>
          </a:p>
        </p:txBody>
      </p:sp>
      <p:sp>
        <p:nvSpPr>
          <p:cNvPr id="6" name="TextBox 5">
            <a:extLst>
              <a:ext uri="{FF2B5EF4-FFF2-40B4-BE49-F238E27FC236}">
                <a16:creationId xmlns:a16="http://schemas.microsoft.com/office/drawing/2014/main" id="{CBC057DB-4C79-239E-1F81-8EBCC37C7D7D}"/>
              </a:ext>
            </a:extLst>
          </p:cNvPr>
          <p:cNvSpPr txBox="1"/>
          <p:nvPr/>
        </p:nvSpPr>
        <p:spPr>
          <a:xfrm>
            <a:off x="4342970" y="3686024"/>
            <a:ext cx="1961050" cy="707886"/>
          </a:xfrm>
          <a:prstGeom prst="rect">
            <a:avLst/>
          </a:prstGeom>
          <a:noFill/>
        </p:spPr>
        <p:txBody>
          <a:bodyPr wrap="none" rtlCol="0">
            <a:spAutoFit/>
          </a:bodyPr>
          <a:lstStyle/>
          <a:p>
            <a:r>
              <a:rPr lang="en-US" sz="2000" dirty="0">
                <a:solidFill>
                  <a:schemeClr val="accent6">
                    <a:lumMod val="60000"/>
                    <a:lumOff val="40000"/>
                  </a:schemeClr>
                </a:solidFill>
              </a:rPr>
              <a:t>After flattening</a:t>
            </a:r>
          </a:p>
          <a:p>
            <a:r>
              <a:rPr lang="en-US" sz="2000" dirty="0">
                <a:solidFill>
                  <a:schemeClr val="accent6">
                    <a:lumMod val="60000"/>
                    <a:lumOff val="40000"/>
                  </a:schemeClr>
                </a:solidFill>
              </a:rPr>
              <a:t>1D array of size 9</a:t>
            </a:r>
            <a:endParaRPr lang="en-IN" sz="2000" dirty="0">
              <a:solidFill>
                <a:schemeClr val="accent6">
                  <a:lumMod val="60000"/>
                  <a:lumOff val="40000"/>
                </a:schemeClr>
              </a:solidFill>
            </a:endParaRPr>
          </a:p>
        </p:txBody>
      </p:sp>
      <p:graphicFrame>
        <p:nvGraphicFramePr>
          <p:cNvPr id="2" name="Table 1">
            <a:extLst>
              <a:ext uri="{FF2B5EF4-FFF2-40B4-BE49-F238E27FC236}">
                <a16:creationId xmlns:a16="http://schemas.microsoft.com/office/drawing/2014/main" id="{DD8DC15F-049E-9D8B-A0BC-B6549B4F84C2}"/>
              </a:ext>
            </a:extLst>
          </p:cNvPr>
          <p:cNvGraphicFramePr>
            <a:graphicFrameLocks noGrp="1"/>
          </p:cNvGraphicFramePr>
          <p:nvPr>
            <p:extLst>
              <p:ext uri="{D42A27DB-BD31-4B8C-83A1-F6EECF244321}">
                <p14:modId xmlns:p14="http://schemas.microsoft.com/office/powerpoint/2010/main" val="1048666491"/>
              </p:ext>
            </p:extLst>
          </p:nvPr>
        </p:nvGraphicFramePr>
        <p:xfrm>
          <a:off x="544342" y="2514600"/>
          <a:ext cx="1534887" cy="1097280"/>
        </p:xfrm>
        <a:graphic>
          <a:graphicData uri="http://schemas.openxmlformats.org/drawingml/2006/table">
            <a:tbl>
              <a:tblPr firstRow="1" bandRow="1">
                <a:tableStyleId>{5C22544A-7EE6-4342-B048-85BDC9FD1C3A}</a:tableStyleId>
              </a:tblPr>
              <a:tblGrid>
                <a:gridCol w="511629">
                  <a:extLst>
                    <a:ext uri="{9D8B030D-6E8A-4147-A177-3AD203B41FA5}">
                      <a16:colId xmlns:a16="http://schemas.microsoft.com/office/drawing/2014/main" val="3490065771"/>
                    </a:ext>
                  </a:extLst>
                </a:gridCol>
                <a:gridCol w="511629">
                  <a:extLst>
                    <a:ext uri="{9D8B030D-6E8A-4147-A177-3AD203B41FA5}">
                      <a16:colId xmlns:a16="http://schemas.microsoft.com/office/drawing/2014/main" val="1847604308"/>
                    </a:ext>
                  </a:extLst>
                </a:gridCol>
                <a:gridCol w="511629">
                  <a:extLst>
                    <a:ext uri="{9D8B030D-6E8A-4147-A177-3AD203B41FA5}">
                      <a16:colId xmlns:a16="http://schemas.microsoft.com/office/drawing/2014/main" val="3012201742"/>
                    </a:ext>
                  </a:extLst>
                </a:gridCol>
              </a:tblGrid>
              <a:tr h="363946">
                <a:tc>
                  <a:txBody>
                    <a:bodyPr/>
                    <a:lstStyle/>
                    <a:p>
                      <a:pPr algn="ctr"/>
                      <a:r>
                        <a:rPr lang="en-US" b="0"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473554637"/>
                  </a:ext>
                </a:extLst>
              </a:tr>
              <a:tr h="363946">
                <a:tc>
                  <a:txBody>
                    <a:bodyPr/>
                    <a:lstStyle/>
                    <a:p>
                      <a:pPr algn="ctr"/>
                      <a:r>
                        <a:rPr lang="en-US" b="0"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525478095"/>
                  </a:ext>
                </a:extLst>
              </a:tr>
              <a:tr h="363946">
                <a:tc>
                  <a:txBody>
                    <a:bodyPr/>
                    <a:lstStyle/>
                    <a:p>
                      <a:pPr algn="ctr"/>
                      <a:r>
                        <a:rPr lang="en-US" b="0"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354674428"/>
                  </a:ext>
                </a:extLst>
              </a:tr>
            </a:tbl>
          </a:graphicData>
        </a:graphic>
      </p:graphicFrame>
      <p:graphicFrame>
        <p:nvGraphicFramePr>
          <p:cNvPr id="7" name="Table 6">
            <a:extLst>
              <a:ext uri="{FF2B5EF4-FFF2-40B4-BE49-F238E27FC236}">
                <a16:creationId xmlns:a16="http://schemas.microsoft.com/office/drawing/2014/main" id="{41108AA8-FC24-CFA1-35CA-A67176DB55CF}"/>
              </a:ext>
            </a:extLst>
          </p:cNvPr>
          <p:cNvGraphicFramePr>
            <a:graphicFrameLocks noGrp="1"/>
          </p:cNvGraphicFramePr>
          <p:nvPr>
            <p:extLst>
              <p:ext uri="{D42A27DB-BD31-4B8C-83A1-F6EECF244321}">
                <p14:modId xmlns:p14="http://schemas.microsoft.com/office/powerpoint/2010/main" val="2988290770"/>
              </p:ext>
            </p:extLst>
          </p:nvPr>
        </p:nvGraphicFramePr>
        <p:xfrm>
          <a:off x="3403328" y="2955326"/>
          <a:ext cx="3143772" cy="365760"/>
        </p:xfrm>
        <a:graphic>
          <a:graphicData uri="http://schemas.openxmlformats.org/drawingml/2006/table">
            <a:tbl>
              <a:tblPr firstRow="1" bandRow="1">
                <a:tableStyleId>{5C22544A-7EE6-4342-B048-85BDC9FD1C3A}</a:tableStyleId>
              </a:tblPr>
              <a:tblGrid>
                <a:gridCol w="349308">
                  <a:extLst>
                    <a:ext uri="{9D8B030D-6E8A-4147-A177-3AD203B41FA5}">
                      <a16:colId xmlns:a16="http://schemas.microsoft.com/office/drawing/2014/main" val="3490065771"/>
                    </a:ext>
                  </a:extLst>
                </a:gridCol>
                <a:gridCol w="349308">
                  <a:extLst>
                    <a:ext uri="{9D8B030D-6E8A-4147-A177-3AD203B41FA5}">
                      <a16:colId xmlns:a16="http://schemas.microsoft.com/office/drawing/2014/main" val="1847604308"/>
                    </a:ext>
                  </a:extLst>
                </a:gridCol>
                <a:gridCol w="349308">
                  <a:extLst>
                    <a:ext uri="{9D8B030D-6E8A-4147-A177-3AD203B41FA5}">
                      <a16:colId xmlns:a16="http://schemas.microsoft.com/office/drawing/2014/main" val="3012201742"/>
                    </a:ext>
                  </a:extLst>
                </a:gridCol>
                <a:gridCol w="349308">
                  <a:extLst>
                    <a:ext uri="{9D8B030D-6E8A-4147-A177-3AD203B41FA5}">
                      <a16:colId xmlns:a16="http://schemas.microsoft.com/office/drawing/2014/main" val="3135469360"/>
                    </a:ext>
                  </a:extLst>
                </a:gridCol>
                <a:gridCol w="349308">
                  <a:extLst>
                    <a:ext uri="{9D8B030D-6E8A-4147-A177-3AD203B41FA5}">
                      <a16:colId xmlns:a16="http://schemas.microsoft.com/office/drawing/2014/main" val="863872961"/>
                    </a:ext>
                  </a:extLst>
                </a:gridCol>
                <a:gridCol w="349308">
                  <a:extLst>
                    <a:ext uri="{9D8B030D-6E8A-4147-A177-3AD203B41FA5}">
                      <a16:colId xmlns:a16="http://schemas.microsoft.com/office/drawing/2014/main" val="2456381439"/>
                    </a:ext>
                  </a:extLst>
                </a:gridCol>
                <a:gridCol w="349308">
                  <a:extLst>
                    <a:ext uri="{9D8B030D-6E8A-4147-A177-3AD203B41FA5}">
                      <a16:colId xmlns:a16="http://schemas.microsoft.com/office/drawing/2014/main" val="976092071"/>
                    </a:ext>
                  </a:extLst>
                </a:gridCol>
                <a:gridCol w="349308">
                  <a:extLst>
                    <a:ext uri="{9D8B030D-6E8A-4147-A177-3AD203B41FA5}">
                      <a16:colId xmlns:a16="http://schemas.microsoft.com/office/drawing/2014/main" val="2557237267"/>
                    </a:ext>
                  </a:extLst>
                </a:gridCol>
                <a:gridCol w="349308">
                  <a:extLst>
                    <a:ext uri="{9D8B030D-6E8A-4147-A177-3AD203B41FA5}">
                      <a16:colId xmlns:a16="http://schemas.microsoft.com/office/drawing/2014/main" val="748417354"/>
                    </a:ext>
                  </a:extLst>
                </a:gridCol>
              </a:tblGrid>
              <a:tr h="190210">
                <a:tc>
                  <a:txBody>
                    <a:bodyPr/>
                    <a:lstStyle/>
                    <a:p>
                      <a:pPr algn="ctr"/>
                      <a:r>
                        <a:rPr lang="en-US" b="0"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b="0"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473554637"/>
                  </a:ext>
                </a:extLst>
              </a:tr>
            </a:tbl>
          </a:graphicData>
        </a:graphic>
      </p:graphicFrame>
      <p:sp>
        <p:nvSpPr>
          <p:cNvPr id="8" name="Arrow: Right 7">
            <a:extLst>
              <a:ext uri="{FF2B5EF4-FFF2-40B4-BE49-F238E27FC236}">
                <a16:creationId xmlns:a16="http://schemas.microsoft.com/office/drawing/2014/main" id="{48A1DCD5-7B27-C3C6-F74A-A99EA3873FBA}"/>
              </a:ext>
            </a:extLst>
          </p:cNvPr>
          <p:cNvSpPr/>
          <p:nvPr/>
        </p:nvSpPr>
        <p:spPr>
          <a:xfrm>
            <a:off x="2318733" y="2920976"/>
            <a:ext cx="768096" cy="4001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45406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8744" y="1415143"/>
            <a:ext cx="8742428" cy="4090745"/>
          </a:xfrm>
          <a:prstGeom prst="rect">
            <a:avLst/>
          </a:prstGeom>
        </p:spPr>
      </p:pic>
      <p:sp>
        <p:nvSpPr>
          <p:cNvPr id="5" name="TextBox 4"/>
          <p:cNvSpPr txBox="1"/>
          <p:nvPr/>
        </p:nvSpPr>
        <p:spPr>
          <a:xfrm>
            <a:off x="2068286" y="587829"/>
            <a:ext cx="5178212" cy="523220"/>
          </a:xfrm>
          <a:prstGeom prst="rect">
            <a:avLst/>
          </a:prstGeom>
          <a:noFill/>
        </p:spPr>
        <p:txBody>
          <a:bodyPr wrap="none" rtlCol="0">
            <a:spAutoFit/>
          </a:bodyPr>
          <a:lstStyle/>
          <a:p>
            <a:r>
              <a:rPr lang="en-US" sz="2800" dirty="0"/>
              <a:t>Difference between ANN and CNN</a:t>
            </a:r>
          </a:p>
        </p:txBody>
      </p:sp>
    </p:spTree>
    <p:extLst>
      <p:ext uri="{BB962C8B-B14F-4D97-AF65-F5344CB8AC3E}">
        <p14:creationId xmlns:p14="http://schemas.microsoft.com/office/powerpoint/2010/main" val="3589805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170" y="114754"/>
            <a:ext cx="4288971" cy="483961"/>
          </a:xfrm>
        </p:spPr>
        <p:txBody>
          <a:bodyPr>
            <a:normAutofit fontScale="90000"/>
          </a:bodyPr>
          <a:lstStyle/>
          <a:p>
            <a:r>
              <a:rPr lang="en-US" dirty="0"/>
              <a:t>Examples of CNN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0180" y="598715"/>
            <a:ext cx="8363614" cy="6117767"/>
          </a:xfrm>
          <a:prstGeom prst="rect">
            <a:avLst/>
          </a:prstGeom>
        </p:spPr>
      </p:pic>
      <p:sp>
        <p:nvSpPr>
          <p:cNvPr id="5" name="TextBox 4"/>
          <p:cNvSpPr txBox="1"/>
          <p:nvPr/>
        </p:nvSpPr>
        <p:spPr>
          <a:xfrm>
            <a:off x="108855" y="6422570"/>
            <a:ext cx="1469248" cy="307777"/>
          </a:xfrm>
          <a:prstGeom prst="rect">
            <a:avLst/>
          </a:prstGeom>
          <a:noFill/>
        </p:spPr>
        <p:txBody>
          <a:bodyPr wrap="none" rtlCol="0">
            <a:spAutoFit/>
          </a:bodyPr>
          <a:lstStyle/>
          <a:p>
            <a:r>
              <a:rPr lang="en-US" sz="1400" dirty="0">
                <a:solidFill>
                  <a:schemeClr val="accent6">
                    <a:lumMod val="60000"/>
                    <a:lumOff val="40000"/>
                  </a:schemeClr>
                </a:solidFill>
              </a:rPr>
              <a:t>Source: </a:t>
            </a:r>
            <a:r>
              <a:rPr lang="en-US" sz="1400" dirty="0" err="1">
                <a:solidFill>
                  <a:schemeClr val="accent6">
                    <a:lumMod val="60000"/>
                    <a:lumOff val="40000"/>
                  </a:schemeClr>
                </a:solidFill>
              </a:rPr>
              <a:t>wikipedia</a:t>
            </a:r>
            <a:endParaRPr lang="en-US" sz="1400" dirty="0">
              <a:solidFill>
                <a:schemeClr val="accent6">
                  <a:lumMod val="60000"/>
                  <a:lumOff val="40000"/>
                </a:schemeClr>
              </a:solidFill>
            </a:endParaRPr>
          </a:p>
        </p:txBody>
      </p:sp>
    </p:spTree>
    <p:extLst>
      <p:ext uri="{BB962C8B-B14F-4D97-AF65-F5344CB8AC3E}">
        <p14:creationId xmlns:p14="http://schemas.microsoft.com/office/powerpoint/2010/main" val="17168385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286863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4324" y="2902773"/>
            <a:ext cx="8265548" cy="3758184"/>
          </a:xfrm>
          <a:prstGeom prst="rect">
            <a:avLst/>
          </a:prstGeom>
        </p:spPr>
      </p:pic>
      <p:sp>
        <p:nvSpPr>
          <p:cNvPr id="6" name="TextBox 5"/>
          <p:cNvSpPr txBox="1"/>
          <p:nvPr/>
        </p:nvSpPr>
        <p:spPr>
          <a:xfrm>
            <a:off x="114952" y="225117"/>
            <a:ext cx="11790536" cy="2677656"/>
          </a:xfrm>
          <a:prstGeom prst="rect">
            <a:avLst/>
          </a:prstGeom>
          <a:noFill/>
        </p:spPr>
        <p:txBody>
          <a:bodyPr wrap="square" rtlCol="0">
            <a:spAutoFit/>
          </a:bodyPr>
          <a:lstStyle/>
          <a:p>
            <a:r>
              <a:rPr lang="en-US" sz="2400" b="1" dirty="0">
                <a:solidFill>
                  <a:schemeClr val="accent6">
                    <a:lumMod val="60000"/>
                    <a:lumOff val="40000"/>
                  </a:schemeClr>
                </a:solidFill>
              </a:rPr>
              <a:t>Drop Out (Core Idea):</a:t>
            </a:r>
          </a:p>
          <a:p>
            <a:pPr marL="342900" indent="-342900">
              <a:buFont typeface="Arial" panose="020B0604020202020204" pitchFamily="34" charset="0"/>
              <a:buChar char="•"/>
            </a:pPr>
            <a:r>
              <a:rPr lang="en-US" sz="2400" dirty="0">
                <a:solidFill>
                  <a:schemeClr val="accent6">
                    <a:lumMod val="60000"/>
                    <a:lumOff val="40000"/>
                  </a:schemeClr>
                </a:solidFill>
              </a:rPr>
              <a:t>During training, a fraction of neurons are </a:t>
            </a:r>
            <a:r>
              <a:rPr lang="en-US" sz="2400" b="1" dirty="0">
                <a:solidFill>
                  <a:schemeClr val="accent6">
                    <a:lumMod val="60000"/>
                    <a:lumOff val="40000"/>
                  </a:schemeClr>
                </a:solidFill>
              </a:rPr>
              <a:t>randomly deactivated</a:t>
            </a:r>
            <a:r>
              <a:rPr lang="en-US" sz="2400" dirty="0">
                <a:solidFill>
                  <a:schemeClr val="accent6">
                    <a:lumMod val="60000"/>
                    <a:lumOff val="40000"/>
                  </a:schemeClr>
                </a:solidFill>
              </a:rPr>
              <a:t> </a:t>
            </a:r>
          </a:p>
          <a:p>
            <a:pPr marL="342900" indent="-342900">
              <a:buFont typeface="Arial" panose="020B0604020202020204" pitchFamily="34" charset="0"/>
              <a:buChar char="•"/>
            </a:pPr>
            <a:r>
              <a:rPr lang="en-US" sz="2400" dirty="0">
                <a:solidFill>
                  <a:schemeClr val="accent6">
                    <a:lumMod val="60000"/>
                    <a:lumOff val="40000"/>
                  </a:schemeClr>
                </a:solidFill>
              </a:rPr>
              <a:t>Each training step uses a </a:t>
            </a:r>
            <a:r>
              <a:rPr lang="en-US" sz="2400" b="1" dirty="0">
                <a:solidFill>
                  <a:schemeClr val="accent6">
                    <a:lumMod val="60000"/>
                    <a:lumOff val="40000"/>
                  </a:schemeClr>
                </a:solidFill>
              </a:rPr>
              <a:t>slightly different network</a:t>
            </a:r>
            <a:r>
              <a:rPr lang="en-US" sz="2400" dirty="0">
                <a:solidFill>
                  <a:schemeClr val="accent6">
                    <a:lumMod val="60000"/>
                    <a:lumOff val="40000"/>
                  </a:schemeClr>
                </a:solidFill>
              </a:rPr>
              <a:t> </a:t>
            </a:r>
          </a:p>
          <a:p>
            <a:pPr marL="342900" indent="-342900">
              <a:buFont typeface="Arial" panose="020B0604020202020204" pitchFamily="34" charset="0"/>
              <a:buChar char="•"/>
            </a:pPr>
            <a:r>
              <a:rPr lang="en-US" sz="2400" dirty="0">
                <a:solidFill>
                  <a:schemeClr val="accent6">
                    <a:lumMod val="60000"/>
                    <a:lumOff val="40000"/>
                  </a:schemeClr>
                </a:solidFill>
              </a:rPr>
              <a:t>During testing, </a:t>
            </a:r>
            <a:r>
              <a:rPr lang="en-US" sz="2400" b="1" dirty="0">
                <a:solidFill>
                  <a:schemeClr val="accent6">
                    <a:lumMod val="60000"/>
                    <a:lumOff val="40000"/>
                  </a:schemeClr>
                </a:solidFill>
              </a:rPr>
              <a:t>all neurons are used</a:t>
            </a:r>
          </a:p>
          <a:p>
            <a:r>
              <a:rPr lang="en-US" sz="2400" dirty="0">
                <a:solidFill>
                  <a:schemeClr val="accent6">
                    <a:lumMod val="60000"/>
                    <a:lumOff val="40000"/>
                  </a:schemeClr>
                </a:solidFill>
              </a:rPr>
              <a:t>Example : Dropout = 0.5 → 50% neurons turned off randomly</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Advantage: Prevents overfitting </a:t>
            </a:r>
            <a:r>
              <a:rPr lang="en-US" sz="2400" dirty="0">
                <a:solidFill>
                  <a:schemeClr val="accent6">
                    <a:lumMod val="60000"/>
                    <a:lumOff val="40000"/>
                  </a:schemeClr>
                </a:solidFill>
              </a:rPr>
              <a:t>in neural networks, especially in complex architectures.</a:t>
            </a:r>
          </a:p>
        </p:txBody>
      </p:sp>
    </p:spTree>
    <p:extLst>
      <p:ext uri="{BB962C8B-B14F-4D97-AF65-F5344CB8AC3E}">
        <p14:creationId xmlns:p14="http://schemas.microsoft.com/office/powerpoint/2010/main" val="40111463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Few facts about CNN(p1)</a:t>
            </a:r>
          </a:p>
        </p:txBody>
      </p:sp>
      <p:sp>
        <p:nvSpPr>
          <p:cNvPr id="3" name="Content Placeholder 2"/>
          <p:cNvSpPr>
            <a:spLocks noGrp="1"/>
          </p:cNvSpPr>
          <p:nvPr>
            <p:ph idx="1"/>
          </p:nvPr>
        </p:nvSpPr>
        <p:spPr/>
        <p:txBody>
          <a:bodyPr>
            <a:normAutofit lnSpcReduction="10000"/>
          </a:bodyPr>
          <a:lstStyle/>
          <a:p>
            <a:r>
              <a:rPr lang="en-US" b="1" dirty="0"/>
              <a:t>Feedforward networks (MLPs, CNNs)</a:t>
            </a:r>
            <a:r>
              <a:rPr lang="en-US" dirty="0"/>
              <a:t> process inputs </a:t>
            </a:r>
            <a:r>
              <a:rPr lang="en-US" b="1" dirty="0"/>
              <a:t>all at once</a:t>
            </a:r>
            <a:r>
              <a:rPr lang="en-US" dirty="0"/>
              <a:t> — they don't depend on previous steps.</a:t>
            </a:r>
          </a:p>
          <a:p>
            <a:pPr marL="0" indent="0">
              <a:buNone/>
            </a:pPr>
            <a:r>
              <a:rPr lang="en-US" dirty="0"/>
              <a:t>Suppose you have 1000 words or pixels.</a:t>
            </a:r>
          </a:p>
          <a:p>
            <a:pPr marL="0" indent="0">
              <a:buNone/>
            </a:pPr>
            <a:r>
              <a:rPr lang="en-US" dirty="0"/>
              <a:t>A feedforward network </a:t>
            </a:r>
            <a:r>
              <a:rPr lang="en-US" b="1" dirty="0"/>
              <a:t>takes all 1000 together</a:t>
            </a:r>
            <a:r>
              <a:rPr lang="en-US" dirty="0"/>
              <a:t>, passes them </a:t>
            </a:r>
            <a:r>
              <a:rPr lang="en-US" b="1" dirty="0"/>
              <a:t>through layers at the same time</a:t>
            </a:r>
            <a:r>
              <a:rPr lang="en-US" dirty="0"/>
              <a:t> (matrix multiplication).</a:t>
            </a:r>
          </a:p>
          <a:p>
            <a:pPr marL="0" indent="0">
              <a:buNone/>
            </a:pPr>
            <a:r>
              <a:rPr lang="en-US" dirty="0"/>
              <a:t>In math terms: </a:t>
            </a:r>
            <a:r>
              <a:rPr lang="en-US" b="1" dirty="0"/>
              <a:t>matrix × vector</a:t>
            </a:r>
            <a:r>
              <a:rPr lang="en-US" dirty="0"/>
              <a:t> — super fast because modern hardware (like GPUs) is </a:t>
            </a:r>
            <a:r>
              <a:rPr lang="en-US" b="1" dirty="0"/>
              <a:t>built for parallel matrix operations</a:t>
            </a:r>
            <a:r>
              <a:rPr lang="en-US" dirty="0"/>
              <a:t>.</a:t>
            </a:r>
          </a:p>
          <a:p>
            <a:pPr marL="0" indent="0">
              <a:buNone/>
            </a:pPr>
            <a:r>
              <a:rPr lang="en-US" dirty="0"/>
              <a:t>No waiting for "previous word" or "previous pixel" — </a:t>
            </a:r>
            <a:r>
              <a:rPr lang="en-US" b="1" dirty="0"/>
              <a:t>everything is independent</a:t>
            </a:r>
            <a:r>
              <a:rPr lang="en-US" dirty="0"/>
              <a:t> at each layer.</a:t>
            </a:r>
          </a:p>
          <a:p>
            <a:pPr marL="0" indent="0">
              <a:buNone/>
            </a:pPr>
            <a:r>
              <a:rPr lang="en-US" dirty="0"/>
              <a:t>This is called </a:t>
            </a:r>
            <a:r>
              <a:rPr lang="en-US" b="1" dirty="0"/>
              <a:t>parallelism</a:t>
            </a:r>
            <a:r>
              <a:rPr lang="en-US" dirty="0"/>
              <a:t>.</a:t>
            </a:r>
          </a:p>
        </p:txBody>
      </p:sp>
    </p:spTree>
    <p:extLst>
      <p:ext uri="{BB962C8B-B14F-4D97-AF65-F5344CB8AC3E}">
        <p14:creationId xmlns:p14="http://schemas.microsoft.com/office/powerpoint/2010/main" val="13235517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38" y="172179"/>
            <a:ext cx="6284053" cy="540886"/>
          </a:xfrm>
        </p:spPr>
        <p:txBody>
          <a:bodyPr>
            <a:normAutofit fontScale="90000"/>
          </a:bodyPr>
          <a:lstStyle/>
          <a:p>
            <a:r>
              <a:rPr lang="en-US" dirty="0"/>
              <a:t>Few facts about CNN(p2)</a:t>
            </a:r>
          </a:p>
        </p:txBody>
      </p:sp>
      <p:sp>
        <p:nvSpPr>
          <p:cNvPr id="3" name="Content Placeholder 2"/>
          <p:cNvSpPr>
            <a:spLocks noGrp="1"/>
          </p:cNvSpPr>
          <p:nvPr>
            <p:ph idx="1"/>
          </p:nvPr>
        </p:nvSpPr>
        <p:spPr>
          <a:xfrm>
            <a:off x="419449" y="844112"/>
            <a:ext cx="11660697" cy="2922545"/>
          </a:xfrm>
        </p:spPr>
        <p:txBody>
          <a:bodyPr>
            <a:normAutofit fontScale="55000" lnSpcReduction="20000"/>
          </a:bodyPr>
          <a:lstStyle/>
          <a:p>
            <a:r>
              <a:rPr lang="en-US" dirty="0"/>
              <a:t>CNN has sparse interactions</a:t>
            </a:r>
          </a:p>
          <a:p>
            <a:pPr marL="0" indent="0">
              <a:buNone/>
            </a:pPr>
            <a:r>
              <a:rPr lang="en-US" dirty="0"/>
              <a:t>In a </a:t>
            </a:r>
            <a:r>
              <a:rPr lang="en-US" b="1" dirty="0"/>
              <a:t>fully connected layer</a:t>
            </a:r>
            <a:r>
              <a:rPr lang="en-US" dirty="0"/>
              <a:t>, every output neuron is connected to every input neuron — this results in </a:t>
            </a:r>
            <a:r>
              <a:rPr lang="en-US" b="1" dirty="0"/>
              <a:t>dense interactions</a:t>
            </a:r>
            <a:r>
              <a:rPr lang="en-US" dirty="0"/>
              <a:t>.</a:t>
            </a:r>
          </a:p>
          <a:p>
            <a:pPr marL="0" indent="0">
              <a:buNone/>
            </a:pPr>
            <a:r>
              <a:rPr lang="en-US" dirty="0"/>
              <a:t>In contrast, in </a:t>
            </a:r>
            <a:r>
              <a:rPr lang="en-US" b="1" dirty="0"/>
              <a:t>CNNs</a:t>
            </a:r>
            <a:r>
              <a:rPr lang="en-US" dirty="0"/>
              <a:t>:</a:t>
            </a:r>
          </a:p>
          <a:p>
            <a:r>
              <a:rPr lang="en-US" dirty="0"/>
              <a:t>Each convolutional filter (or kernel) only interacts with a </a:t>
            </a:r>
            <a:r>
              <a:rPr lang="en-US" b="1" dirty="0"/>
              <a:t>small local region</a:t>
            </a:r>
            <a:r>
              <a:rPr lang="en-US" dirty="0"/>
              <a:t> of the input (called the </a:t>
            </a:r>
            <a:r>
              <a:rPr lang="en-US" b="1" dirty="0"/>
              <a:t>receptive field</a:t>
            </a:r>
            <a:r>
              <a:rPr lang="en-US" dirty="0"/>
              <a:t>).</a:t>
            </a:r>
          </a:p>
          <a:p>
            <a:r>
              <a:rPr lang="en-US" dirty="0"/>
              <a:t>This means a single output value is computed based only on a subset of the input values.</a:t>
            </a:r>
          </a:p>
          <a:p>
            <a:r>
              <a:rPr lang="en-US" dirty="0"/>
              <a:t>Therefore, </a:t>
            </a:r>
            <a:r>
              <a:rPr lang="en-US" b="1" dirty="0"/>
              <a:t>not all input features contribute to every output</a:t>
            </a:r>
            <a:r>
              <a:rPr lang="en-US" dirty="0"/>
              <a:t>, resulting in </a:t>
            </a:r>
            <a:r>
              <a:rPr lang="en-US" b="1" dirty="0"/>
              <a:t>sparse connectivity</a:t>
            </a:r>
            <a:r>
              <a:rPr lang="en-US" dirty="0"/>
              <a:t> or </a:t>
            </a:r>
            <a:r>
              <a:rPr lang="en-US" b="1" dirty="0"/>
              <a:t>sparse interactions</a:t>
            </a:r>
            <a:r>
              <a:rPr lang="en-US" dirty="0"/>
              <a:t>.</a:t>
            </a:r>
          </a:p>
          <a:p>
            <a:pPr marL="0" indent="0">
              <a:buNone/>
            </a:pPr>
            <a:endParaRPr lang="en-US" b="1" dirty="0"/>
          </a:p>
          <a:p>
            <a:pPr marL="0" indent="0">
              <a:buNone/>
            </a:pPr>
            <a:r>
              <a:rPr lang="en-US" b="1" dirty="0"/>
              <a:t>Benefits of Sparse Interactions:</a:t>
            </a:r>
          </a:p>
          <a:p>
            <a:r>
              <a:rPr lang="en-US" dirty="0"/>
              <a:t>Reduced computational cost</a:t>
            </a:r>
          </a:p>
          <a:p>
            <a:r>
              <a:rPr lang="en-US" dirty="0"/>
              <a:t>Parameter efficiency</a:t>
            </a:r>
          </a:p>
          <a:p>
            <a:endParaRPr lang="en-US" dirty="0"/>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8442" y="4009938"/>
            <a:ext cx="6924785" cy="2703701"/>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p14:cNvContentPartPr/>
              <p14:nvPr/>
            </p14:nvContentPartPr>
            <p14:xfrm>
              <a:off x="8196160" y="2521780"/>
              <a:ext cx="1325880" cy="41400"/>
            </p14:xfrm>
          </p:contentPart>
        </mc:Choice>
        <mc:Fallback xmlns="">
          <p:pic>
            <p:nvPicPr>
              <p:cNvPr id="9" name="Ink 8"/>
              <p:cNvPicPr/>
              <p:nvPr/>
            </p:nvPicPr>
            <p:blipFill>
              <a:blip r:embed="rId4"/>
              <a:stretch>
                <a:fillRect/>
              </a:stretch>
            </p:blipFill>
            <p:spPr>
              <a:xfrm>
                <a:off x="8184280" y="2509900"/>
                <a:ext cx="134964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p14:cNvContentPartPr/>
              <p14:nvPr/>
            </p14:nvContentPartPr>
            <p14:xfrm>
              <a:off x="7439080" y="1350700"/>
              <a:ext cx="2798280" cy="3162960"/>
            </p14:xfrm>
          </p:contentPart>
        </mc:Choice>
        <mc:Fallback xmlns="">
          <p:pic>
            <p:nvPicPr>
              <p:cNvPr id="11" name="Ink 10"/>
              <p:cNvPicPr/>
              <p:nvPr/>
            </p:nvPicPr>
            <p:blipFill>
              <a:blip r:embed="rId6"/>
              <a:stretch>
                <a:fillRect/>
              </a:stretch>
            </p:blipFill>
            <p:spPr>
              <a:xfrm>
                <a:off x="7427200" y="1338820"/>
                <a:ext cx="2822040" cy="3186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p14:cNvContentPartPr/>
              <p14:nvPr/>
            </p14:nvContentPartPr>
            <p14:xfrm>
              <a:off x="9034960" y="2567140"/>
              <a:ext cx="1325880" cy="1401120"/>
            </p14:xfrm>
          </p:contentPart>
        </mc:Choice>
        <mc:Fallback xmlns="">
          <p:pic>
            <p:nvPicPr>
              <p:cNvPr id="12" name="Ink 11"/>
              <p:cNvPicPr/>
              <p:nvPr/>
            </p:nvPicPr>
            <p:blipFill>
              <a:blip r:embed="rId8"/>
              <a:stretch>
                <a:fillRect/>
              </a:stretch>
            </p:blipFill>
            <p:spPr>
              <a:xfrm>
                <a:off x="9023080" y="2555260"/>
                <a:ext cx="1349640" cy="1424880"/>
              </a:xfrm>
              <a:prstGeom prst="rect">
                <a:avLst/>
              </a:prstGeom>
            </p:spPr>
          </p:pic>
        </mc:Fallback>
      </mc:AlternateContent>
    </p:spTree>
    <p:extLst>
      <p:ext uri="{BB962C8B-B14F-4D97-AF65-F5344CB8AC3E}">
        <p14:creationId xmlns:p14="http://schemas.microsoft.com/office/powerpoint/2010/main" val="23771211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456" y="82097"/>
            <a:ext cx="2351315" cy="603704"/>
          </a:xfrm>
        </p:spPr>
        <p:txBody>
          <a:bodyPr>
            <a:normAutofit fontScale="90000"/>
          </a:bodyPr>
          <a:lstStyle/>
          <a:p>
            <a:r>
              <a:rPr lang="en-US" dirty="0" err="1"/>
              <a:t>LeNet</a:t>
            </a:r>
            <a:endParaRPr lang="en-US" dirty="0"/>
          </a:p>
        </p:txBody>
      </p:sp>
      <p:sp>
        <p:nvSpPr>
          <p:cNvPr id="3" name="Content Placeholder 2"/>
          <p:cNvSpPr>
            <a:spLocks noGrp="1"/>
          </p:cNvSpPr>
          <p:nvPr>
            <p:ph idx="1"/>
          </p:nvPr>
        </p:nvSpPr>
        <p:spPr>
          <a:xfrm>
            <a:off x="413657" y="606417"/>
            <a:ext cx="11462657" cy="1309466"/>
          </a:xfrm>
        </p:spPr>
        <p:txBody>
          <a:bodyPr>
            <a:normAutofit/>
          </a:bodyPr>
          <a:lstStyle/>
          <a:p>
            <a:r>
              <a:rPr lang="en-US" sz="1800" dirty="0" err="1"/>
              <a:t>LeNet</a:t>
            </a:r>
            <a:r>
              <a:rPr lang="en-US" sz="1800" dirty="0"/>
              <a:t> and LeNet-5 are often used interchangeably, but </a:t>
            </a:r>
            <a:r>
              <a:rPr lang="en-US" sz="1800" b="1" dirty="0" err="1"/>
              <a:t>LeNet</a:t>
            </a:r>
            <a:r>
              <a:rPr lang="en-US" sz="1800" dirty="0"/>
              <a:t> refers to </a:t>
            </a:r>
            <a:r>
              <a:rPr lang="en-US" sz="1800" b="1" dirty="0"/>
              <a:t>a family of early Convolutional Neural Networks (CNNs)</a:t>
            </a:r>
            <a:r>
              <a:rPr lang="en-US" sz="1800" dirty="0"/>
              <a:t>, while </a:t>
            </a:r>
            <a:r>
              <a:rPr lang="en-US" sz="1800" b="1" dirty="0"/>
              <a:t>LeNet-5</a:t>
            </a:r>
            <a:r>
              <a:rPr lang="en-US" sz="1800" dirty="0"/>
              <a:t> is a </a:t>
            </a:r>
            <a:r>
              <a:rPr lang="en-US" sz="1800" b="1" dirty="0"/>
              <a:t>specific architecture</a:t>
            </a:r>
            <a:r>
              <a:rPr lang="en-US" sz="1800" dirty="0"/>
              <a:t> developed by </a:t>
            </a:r>
            <a:r>
              <a:rPr lang="en-US" sz="1800" b="1" dirty="0"/>
              <a:t>Yann </a:t>
            </a:r>
            <a:r>
              <a:rPr lang="en-US" sz="1800" b="1" dirty="0" err="1"/>
              <a:t>LeCun</a:t>
            </a:r>
            <a:r>
              <a:rPr lang="en-US" sz="1800" b="1" dirty="0"/>
              <a:t> in 1989</a:t>
            </a:r>
            <a:r>
              <a:rPr lang="en-US" sz="1800" dirty="0"/>
              <a:t> for handwritten digit recognition.</a:t>
            </a:r>
          </a:p>
          <a:p>
            <a:r>
              <a:rPr lang="en-US" sz="1800" dirty="0"/>
              <a:t>LeNet-5 is </a:t>
            </a:r>
            <a:r>
              <a:rPr lang="en-US" sz="1800" b="1" dirty="0"/>
              <a:t>outdated today</a:t>
            </a:r>
            <a:r>
              <a:rPr lang="en-US" sz="1800" dirty="0"/>
              <a:t>, replaced by </a:t>
            </a:r>
            <a:r>
              <a:rPr lang="en-US" sz="1800" b="1" dirty="0"/>
              <a:t>modern </a:t>
            </a:r>
            <a:r>
              <a:rPr lang="en-US" sz="1800" b="1"/>
              <a:t>CNNs like </a:t>
            </a:r>
            <a:r>
              <a:rPr lang="en-US" sz="1800" b="1" dirty="0"/>
              <a:t>VGG, and </a:t>
            </a:r>
            <a:r>
              <a:rPr lang="en-US" sz="1800" b="1" dirty="0" err="1"/>
              <a:t>ResNet</a:t>
            </a:r>
            <a:r>
              <a:rPr lang="en-US" sz="1800" dirty="0"/>
              <a:t>.</a:t>
            </a:r>
          </a:p>
        </p:txBody>
      </p:sp>
      <p:sp>
        <p:nvSpPr>
          <p:cNvPr id="4" name="TextBox 3"/>
          <p:cNvSpPr txBox="1"/>
          <p:nvPr/>
        </p:nvSpPr>
        <p:spPr>
          <a:xfrm>
            <a:off x="130629" y="1981197"/>
            <a:ext cx="11941628" cy="4524315"/>
          </a:xfrm>
          <a:prstGeom prst="rect">
            <a:avLst/>
          </a:prstGeom>
          <a:noFill/>
        </p:spPr>
        <p:txBody>
          <a:bodyPr wrap="square" rtlCol="0">
            <a:spAutoFit/>
          </a:bodyPr>
          <a:lstStyle/>
          <a:p>
            <a:r>
              <a:rPr lang="en-US" b="1" dirty="0">
                <a:solidFill>
                  <a:schemeClr val="accent6">
                    <a:lumMod val="60000"/>
                    <a:lumOff val="40000"/>
                  </a:schemeClr>
                </a:solidFill>
              </a:rPr>
              <a:t>Application of </a:t>
            </a:r>
            <a:r>
              <a:rPr lang="en-US" b="1" dirty="0" err="1">
                <a:solidFill>
                  <a:schemeClr val="accent6">
                    <a:lumMod val="60000"/>
                    <a:lumOff val="40000"/>
                  </a:schemeClr>
                </a:solidFill>
              </a:rPr>
              <a:t>LeNet</a:t>
            </a:r>
            <a:endParaRPr lang="en-US" b="1" dirty="0">
              <a:solidFill>
                <a:schemeClr val="accent6">
                  <a:lumMod val="60000"/>
                  <a:lumOff val="40000"/>
                </a:schemeClr>
              </a:solidFill>
            </a:endParaRPr>
          </a:p>
          <a:p>
            <a:pPr marL="285750" indent="-285750">
              <a:buFont typeface="Arial" panose="020B0604020202020204" pitchFamily="34" charset="0"/>
              <a:buChar char="•"/>
            </a:pPr>
            <a:r>
              <a:rPr lang="en-US" b="1" dirty="0">
                <a:solidFill>
                  <a:schemeClr val="accent6">
                    <a:lumMod val="60000"/>
                    <a:lumOff val="40000"/>
                  </a:schemeClr>
                </a:solidFill>
              </a:rPr>
              <a:t>Document Processing:</a:t>
            </a:r>
            <a:r>
              <a:rPr lang="en-US" dirty="0">
                <a:solidFill>
                  <a:schemeClr val="accent6">
                    <a:lumMod val="60000"/>
                    <a:lumOff val="40000"/>
                  </a:schemeClr>
                </a:solidFill>
              </a:rPr>
              <a:t> </a:t>
            </a:r>
            <a:r>
              <a:rPr lang="en-US" dirty="0" err="1">
                <a:solidFill>
                  <a:schemeClr val="accent6">
                    <a:lumMod val="60000"/>
                    <a:lumOff val="40000"/>
                  </a:schemeClr>
                </a:solidFill>
              </a:rPr>
              <a:t>LeNet’s</a:t>
            </a:r>
            <a:r>
              <a:rPr lang="en-US" dirty="0">
                <a:solidFill>
                  <a:schemeClr val="accent6">
                    <a:lumMod val="60000"/>
                    <a:lumOff val="40000"/>
                  </a:schemeClr>
                </a:solidFill>
              </a:rPr>
              <a:t> model are used in scanning and analyzing documents, parsing and processing different types of information, extracting data from documents, and automating data entry tasks.</a:t>
            </a:r>
          </a:p>
          <a:p>
            <a:endParaRPr lang="en-US" dirty="0">
              <a:solidFill>
                <a:schemeClr val="accent6">
                  <a:lumMod val="60000"/>
                  <a:lumOff val="40000"/>
                </a:schemeClr>
              </a:solidFill>
            </a:endParaRPr>
          </a:p>
          <a:p>
            <a:pPr marL="285750" indent="-285750">
              <a:buFont typeface="Arial" panose="020B0604020202020204" pitchFamily="34" charset="0"/>
              <a:buChar char="•"/>
            </a:pPr>
            <a:r>
              <a:rPr lang="en-US" b="1" dirty="0">
                <a:solidFill>
                  <a:schemeClr val="accent6">
                    <a:lumMod val="60000"/>
                    <a:lumOff val="40000"/>
                  </a:schemeClr>
                </a:solidFill>
              </a:rPr>
              <a:t>Handwriting Recognition:</a:t>
            </a:r>
            <a:r>
              <a:rPr lang="en-US" dirty="0">
                <a:solidFill>
                  <a:schemeClr val="accent6">
                    <a:lumMod val="60000"/>
                    <a:lumOff val="40000"/>
                  </a:schemeClr>
                </a:solidFill>
              </a:rPr>
              <a:t> </a:t>
            </a:r>
            <a:r>
              <a:rPr lang="en-US" dirty="0" err="1">
                <a:solidFill>
                  <a:schemeClr val="accent6">
                    <a:lumMod val="60000"/>
                    <a:lumOff val="40000"/>
                  </a:schemeClr>
                </a:solidFill>
              </a:rPr>
              <a:t>LeNet’s</a:t>
            </a:r>
            <a:r>
              <a:rPr lang="en-US" dirty="0">
                <a:solidFill>
                  <a:schemeClr val="accent6">
                    <a:lumMod val="60000"/>
                    <a:lumOff val="40000"/>
                  </a:schemeClr>
                </a:solidFill>
              </a:rPr>
              <a:t> success in recognizing handwritten characters and digits remains fundamental in Optical Character Recognition (OCR) systems used in processing handwritten text</a:t>
            </a:r>
          </a:p>
          <a:p>
            <a:endParaRPr lang="en-US" dirty="0">
              <a:solidFill>
                <a:schemeClr val="accent6">
                  <a:lumMod val="60000"/>
                  <a:lumOff val="40000"/>
                </a:schemeClr>
              </a:solidFill>
            </a:endParaRPr>
          </a:p>
          <a:p>
            <a:pPr marL="285750" indent="-285750">
              <a:buFont typeface="Arial" panose="020B0604020202020204" pitchFamily="34" charset="0"/>
              <a:buChar char="•"/>
            </a:pPr>
            <a:r>
              <a:rPr lang="en-US" b="1" dirty="0">
                <a:solidFill>
                  <a:schemeClr val="accent6">
                    <a:lumMod val="60000"/>
                    <a:lumOff val="40000"/>
                  </a:schemeClr>
                </a:solidFill>
              </a:rPr>
              <a:t>Biometric Authentication: </a:t>
            </a:r>
            <a:r>
              <a:rPr lang="en-US" dirty="0">
                <a:solidFill>
                  <a:schemeClr val="accent6">
                    <a:lumMod val="60000"/>
                    <a:lumOff val="40000"/>
                  </a:schemeClr>
                </a:solidFill>
              </a:rPr>
              <a:t>Handwriting recognition capabilities of </a:t>
            </a:r>
            <a:r>
              <a:rPr lang="en-US" dirty="0" err="1">
                <a:solidFill>
                  <a:schemeClr val="accent6">
                    <a:lumMod val="60000"/>
                    <a:lumOff val="40000"/>
                  </a:schemeClr>
                </a:solidFill>
              </a:rPr>
              <a:t>LeNet</a:t>
            </a:r>
            <a:r>
              <a:rPr lang="en-US" dirty="0">
                <a:solidFill>
                  <a:schemeClr val="accent6">
                    <a:lumMod val="60000"/>
                    <a:lumOff val="40000"/>
                  </a:schemeClr>
                </a:solidFill>
              </a:rPr>
              <a:t> have been applied to signature and fingerprint analysis, enabling biometric authentication methods and enhancing security systems.</a:t>
            </a:r>
          </a:p>
          <a:p>
            <a:endParaRPr lang="en-US" dirty="0">
              <a:solidFill>
                <a:schemeClr val="accent6">
                  <a:lumMod val="60000"/>
                  <a:lumOff val="40000"/>
                </a:schemeClr>
              </a:solidFill>
            </a:endParaRPr>
          </a:p>
          <a:p>
            <a:pPr marL="285750" indent="-285750">
              <a:buFont typeface="Arial" panose="020B0604020202020204" pitchFamily="34" charset="0"/>
              <a:buChar char="•"/>
            </a:pPr>
            <a:r>
              <a:rPr lang="en-US" b="1" dirty="0">
                <a:solidFill>
                  <a:schemeClr val="accent6">
                    <a:lumMod val="60000"/>
                    <a:lumOff val="40000"/>
                  </a:schemeClr>
                </a:solidFill>
              </a:rPr>
              <a:t>Real-time Video Analysis</a:t>
            </a:r>
            <a:r>
              <a:rPr lang="en-US" dirty="0">
                <a:solidFill>
                  <a:schemeClr val="accent6">
                    <a:lumMod val="60000"/>
                    <a:lumOff val="40000"/>
                  </a:schemeClr>
                </a:solidFill>
              </a:rPr>
              <a:t>: The foundational concepts in </a:t>
            </a:r>
            <a:r>
              <a:rPr lang="en-US" dirty="0" err="1">
                <a:solidFill>
                  <a:schemeClr val="accent6">
                    <a:lumMod val="60000"/>
                    <a:lumOff val="40000"/>
                  </a:schemeClr>
                </a:solidFill>
              </a:rPr>
              <a:t>LeNet</a:t>
            </a:r>
            <a:r>
              <a:rPr lang="en-US" dirty="0">
                <a:solidFill>
                  <a:schemeClr val="accent6">
                    <a:lumMod val="60000"/>
                    <a:lumOff val="40000"/>
                  </a:schemeClr>
                </a:solidFill>
              </a:rPr>
              <a:t> serve as a basis for real-time video analysis, such as object tracking, surveillance systems, facial recognition, and autonomous vehicles.</a:t>
            </a:r>
          </a:p>
          <a:p>
            <a:endParaRPr lang="en-US" dirty="0">
              <a:solidFill>
                <a:schemeClr val="accent6">
                  <a:lumMod val="60000"/>
                  <a:lumOff val="40000"/>
                </a:schemeClr>
              </a:solidFill>
            </a:endParaRPr>
          </a:p>
          <a:p>
            <a:pPr marL="285750" indent="-285750">
              <a:buFont typeface="Arial" panose="020B0604020202020204" pitchFamily="34" charset="0"/>
              <a:buChar char="•"/>
            </a:pPr>
            <a:r>
              <a:rPr lang="en-US" b="1" dirty="0">
                <a:solidFill>
                  <a:schemeClr val="accent6">
                    <a:lumMod val="60000"/>
                    <a:lumOff val="40000"/>
                  </a:schemeClr>
                </a:solidFill>
              </a:rPr>
              <a:t>Image Classification:</a:t>
            </a:r>
            <a:r>
              <a:rPr lang="en-US" dirty="0">
                <a:solidFill>
                  <a:schemeClr val="accent6">
                    <a:lumMod val="60000"/>
                    <a:lumOff val="40000"/>
                  </a:schemeClr>
                </a:solidFill>
              </a:rPr>
              <a:t> </a:t>
            </a:r>
            <a:r>
              <a:rPr lang="en-US" dirty="0" err="1">
                <a:solidFill>
                  <a:schemeClr val="accent6">
                    <a:lumMod val="60000"/>
                    <a:lumOff val="40000"/>
                  </a:schemeClr>
                </a:solidFill>
              </a:rPr>
              <a:t>LeNet’s</a:t>
            </a:r>
            <a:r>
              <a:rPr lang="en-US" dirty="0">
                <a:solidFill>
                  <a:schemeClr val="accent6">
                    <a:lumMod val="60000"/>
                    <a:lumOff val="40000"/>
                  </a:schemeClr>
                </a:solidFill>
              </a:rPr>
              <a:t> principles influence modern image classification systems. Applications include classifying and categorizing objects in images for numerous domains, such as identifying objects in photographs, quality control in manufacturing, medical imaging analysis, and security systems for object identification.</a:t>
            </a:r>
          </a:p>
        </p:txBody>
      </p:sp>
    </p:spTree>
    <p:extLst>
      <p:ext uri="{BB962C8B-B14F-4D97-AF65-F5344CB8AC3E}">
        <p14:creationId xmlns:p14="http://schemas.microsoft.com/office/powerpoint/2010/main" val="12980454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E1B75-886E-0812-B2FD-DD250C225521}"/>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902F8BE4-9CEA-0DAD-0357-E0A8215F169D}"/>
              </a:ext>
            </a:extLst>
          </p:cNvPr>
          <p:cNvSpPr txBox="1"/>
          <p:nvPr/>
        </p:nvSpPr>
        <p:spPr>
          <a:xfrm>
            <a:off x="274320" y="933117"/>
            <a:ext cx="11658600" cy="646331"/>
          </a:xfrm>
          <a:prstGeom prst="rect">
            <a:avLst/>
          </a:prstGeom>
          <a:noFill/>
        </p:spPr>
        <p:txBody>
          <a:bodyPr wrap="square">
            <a:spAutoFit/>
          </a:bodyPr>
          <a:lstStyle/>
          <a:p>
            <a:pPr marL="0" indent="0">
              <a:buNone/>
            </a:pPr>
            <a:r>
              <a:rPr lang="en-US" dirty="0" err="1">
                <a:solidFill>
                  <a:schemeClr val="accent6">
                    <a:lumMod val="60000"/>
                    <a:lumOff val="40000"/>
                  </a:schemeClr>
                </a:solidFill>
              </a:rPr>
              <a:t>Xxxxxxxxxxx</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xxxxxxxxxxxx</a:t>
            </a:r>
            <a:endParaRPr lang="en-US" dirty="0">
              <a:solidFill>
                <a:schemeClr val="accent6">
                  <a:lumMod val="60000"/>
                  <a:lumOff val="40000"/>
                </a:schemeClr>
              </a:solidFill>
            </a:endParaRPr>
          </a:p>
        </p:txBody>
      </p:sp>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1413</TotalTime>
  <Words>2895</Words>
  <Application>Microsoft Office PowerPoint</Application>
  <PresentationFormat>Widescreen</PresentationFormat>
  <Paragraphs>769</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Calibri Light</vt:lpstr>
      <vt:lpstr>Wingdings</vt:lpstr>
      <vt:lpstr>Office Theme</vt:lpstr>
      <vt:lpstr>(On Dev com) CNN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Examples of CNN</vt:lpstr>
      <vt:lpstr>PowerPoint Presentation</vt:lpstr>
      <vt:lpstr>PowerPoint Presentation</vt:lpstr>
      <vt:lpstr>Few facts about CNN(p1)</vt:lpstr>
      <vt:lpstr>Few facts about CNN(p2)</vt:lpstr>
      <vt:lpstr>LeNet</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291</cp:revision>
  <dcterms:created xsi:type="dcterms:W3CDTF">2025-09-22T02:44:38Z</dcterms:created>
  <dcterms:modified xsi:type="dcterms:W3CDTF">2026-05-08T15:05:45Z</dcterms:modified>
</cp:coreProperties>
</file>