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358" r:id="rId3"/>
    <p:sldId id="257" r:id="rId4"/>
    <p:sldId id="259" r:id="rId5"/>
    <p:sldId id="355" r:id="rId6"/>
    <p:sldId id="356" r:id="rId7"/>
    <p:sldId id="260" r:id="rId8"/>
    <p:sldId id="261" r:id="rId9"/>
    <p:sldId id="278" r:id="rId10"/>
    <p:sldId id="262" r:id="rId11"/>
    <p:sldId id="270" r:id="rId12"/>
    <p:sldId id="271" r:id="rId13"/>
    <p:sldId id="279" r:id="rId14"/>
    <p:sldId id="272" r:id="rId15"/>
    <p:sldId id="273" r:id="rId16"/>
    <p:sldId id="277" r:id="rId17"/>
    <p:sldId id="263" r:id="rId18"/>
    <p:sldId id="264" r:id="rId19"/>
    <p:sldId id="265" r:id="rId20"/>
    <p:sldId id="266" r:id="rId21"/>
    <p:sldId id="268" r:id="rId22"/>
    <p:sldId id="269" r:id="rId23"/>
    <p:sldId id="274" r:id="rId24"/>
    <p:sldId id="275" r:id="rId25"/>
    <p:sldId id="357" r:id="rId26"/>
    <p:sldId id="359" r:id="rId27"/>
    <p:sldId id="267" r:id="rId28"/>
    <p:sldId id="25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7"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5-05-08T16:24:54.976"/>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C20CBF47-51C9-4B5D-A65F-C091A845A9AE}" emma:medium="tactile" emma:mode="ink">
          <msink:context xmlns:msink="http://schemas.microsoft.com/ink/2010/main" type="inkDrawing" rotatedBoundingBox="22767,6974 26449,7013 26447,7121 22766,7082" semanticType="strikethrough" shapeName="Other">
            <msink:destinationLink direction="with" ref="{BFB07626-82B7-459A-AFB5-39CAD2E804E8}"/>
            <msink:destinationLink direction="with" ref="{9324BAEA-1EBE-4AF5-A481-94D10B1AA09F}"/>
          </msink:context>
        </emma:interpretation>
      </emma:emma>
    </inkml:annotationXML>
    <inkml:trace contextRef="#ctx0" brushRef="#br0">0 79 0,'0'-23'172,"23"-1"-172,47 24 16,0 0-16,0 0 15,0 0-15,-24 0 16,24 0-16,0 0 16,-47 0-16,47 0 15,0 0-15,-23 0 16,23 0-16,-47-23 15,0 23-15,24 0 16,-1 0-16,-22 0 16,22 0-1,-22 0-15,22 0 16,1 0-16,0 0 16,-24 0-16,23 0 15,-22 0-15,46 0 16,-47 0-16,24 0 15,-24 0-15,23 0 16,-22 0-16,22 23 16,-22-23-1,22 0 1,-22 0-16,22 0 16,1 0-1,-24 0 1,0 0-16,24 0 15,-24 0 1,1 0-16,-1 0 16,0 0-16,24 0 15,-1 0-15,1 0 16,-24 0-16,24 0 16,-24 0-16,1 0 15,-1 0-15,23 0 16,1 24-1,-24-24 1,24 0-16,-24 0 16,24 0-16,-24 0 15,24 0-15,-1 0 16,-22 0-16,-1 0 16,24 0-16,-1 0 15,-23 0-15,47 0 16,-23 0-16,-24 0 15,47 0-15,-46 0 16,45 0-16,-45 0 16,-1 0-16,24 0 15,-1 0 1,1 0 0,-1 0-16,-22 0 15,-1 0-15,24 0 16,-24 0-1,0 0 1,1 0 0,-1 0-16,0 0 15,47 0-15,-47 0 16,1 0 0,-1 0 30,0 0-30,1 0 0,22-24-16,-22 1 78</inkml:trace>
  </inkml:traceGroup>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5-05-08T16:24:52.067"/>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BFB07626-82B7-459A-AFB5-39CAD2E804E8}" emma:medium="tactile" emma:mode="ink">
          <msink:context xmlns:msink="http://schemas.microsoft.com/ink/2010/main" type="inkDrawing" rotatedBoundingBox="18543,10372 25886,2679 29069,5717 21726,13410" semanticType="callout" shapeName="Other">
            <msink:sourceLink direction="with" ref="{C20CBF47-51C9-4B5D-A65F-C091A845A9AE}"/>
          </msink:context>
        </emma:interpretation>
      </emma:emma>
    </inkml:annotationXML>
    <inkml:trace contextRef="#ctx0" brushRef="#br0">4200 0 0,'23'0'157,"47"0"-142,0 23 1,-23 0-16,-1 1 15,-22-24-15,45 46 16,1-22-16,-23-24 16,0 46-1,-1-46-15,1 0 16,46 0-16,70 24 16,-46-24-16,-24 0 15,0 0-15,-46 0 16,23 0-16,-1 0 15,-45 0-15,-1 0 16,24 0-16,-1 0 16,-22 0-1,22 0 1,-22 0 0,45 0-16,-45 0 15,46 0-15,-24 0 16,24 0-16,-23 0 15,23 23-15,0-23 16,-24 46-16,1-46 16,-24 0-16,24 0 15,-24 0-15,0 24 16,24-1 0,0-23-1,-1 47-15,24-24 16,-47 24-1,24-47-15,-24 23 16,24 0-16,-24 24 16,0-47-1,-23 23-15,24 0 16,-1 1-16,24-1 16,23 24-16,-47-47 15,47 69-15,23 25 16,-46-48-16,46 24 15,-23 23-15,-24-46 16,1 23-16,-24-47 16,1 1-16,-1-1 15,0 23 1,0 1-16,1-24 16,-1 24-1,-23 0 1,0-24-1,0 23-15,47 1 16,-47 46-16,0-23 0,0 0 16,23 0-1,-23-23-15,0 23 16,23-24-16,-23-23 16,0 24-16,0 0 15,0-1 1,0 1-16,0-1 15,0-22-15,0-1 16,0 0-16,0 24 16,0 0-16,0-24 15,-23 47-15,0 0 16,-1-47-16,24 0 16,-70 47-16,47 0 15,-23-47-15,22 1 16,1-1-16,0 24 15,-24-1-15,0 1 16,24-1-16,-24-22 16,1 46-16,-24 0 15,47-47 1,-24 23 0,0 1-1,24-47-15,-23 47 16,-1-1-1,0-22-15,24-1 16,-24-23-16,1 70 16,-1-70-16,24 23 15,-47 47-15,47-70 16,-47 23-16,47 1 16,-24-1-16,0-23 15,-23 70-15,47-70 16,0 23-16,-70 0 15,23 24-15,23-24 16,-46 1-16,23 22 16,-23-22-16,-24 22 15,1 1-15,-24-1 16,47 1-16,-24-24 16,24 1-16,-24 46 15,71-70-15,-1 23 16,-23 0-1,0 24-15,24-47 16,-1 23-16,-23 0 16,0-23-16,0 24 0,-46-1 15,-47 24 1,23-47-16,-93 69 16,47-69-16,22 24 15,25-1-15,22 24 16,1-24-16,46 0 15,23 1-15,-23-24 16,47 23-16,0 0 16,-24-23-16,24 0 15,-1 0 1,1 0-16,-70 47 16,70-24-1,-24 24-15,0-24 16,-23 24-16,24-24 0,-1 23 15,24-22-15,-24 22 16,24-22 0,-24-24-16,24 46 0,0-22 15,-24-24-15,24 46 16,0-46-16,23 24 16,-24-24-16,1 69 15,0-45-15,-24 22 31,0 24-31,24-46 16,0-1 0,0 0-16,23 0 15,-24 1-15,1-1 16,0 24-16,-1-47 16,1 23-16,23 0 15,-23 1 1,-1 22-1,1-23 1,0-23 0,23 24-1,0-1-15,-23 0 16,-1 1 0,24-1-1,-23 0 1,0-23-16,23 24 15,-24-1 1,1 24-16,0-24 16,23 0-1,-24 0 1,1 1 0,0 22-1,0-22 1,-1 22-16,1 1 15,0-47 1,23 23 0,-24 24-16,1-47 15,23 23-15,-23 0 16,23 1 0,-24-24-16,24 46 15,-23-22 1,0-24-1,23 23 1,-24 0 0,24 0 31,-23-23-32,0 24 16,23-1-31,0 0 32,-23-23-17,23 24 17,-24-1-32,1 0 46,0 24 17,23-24-16,-24-23-16,24 47 250,0-24-265,0 24 0,0-24-16,-23-23 15,23 47-15,-23-47 16,23 23-16,0 0 31,-24 1-31,24-1 31,0 0-15,-23 0 0,23 1-16,-23-24 15,23 46 1,-23 1-16,-1-24 15,24 24 1,0-24-16,-23 0 16,23 1-16,-23-1 15,-1 0-15,1 24 16,23-24 0,-23 1-1,-1-1 1,24 0-16,0 0 15,-23 24 1,23 0-16,-23-24 16,0 0-16,23 1 15,0-1 1,-24-23-16,24 23 16,-23 1-1,23-1-15,-23 23 16,23-22-1,-24-1 1,24 0-16,-23 1 16,0-1-1,-1 24-15,24-24 16,-23 0-16,0 24 16,-1-24-1,1 24 1,23-24-16,-23 0 15,23 1 1,-23-24-16,23 23 16,-24-23-1,24 46-15,-23-22 16,23-1-16,-23 0 16,-1 1-1,24-1-15,-23 0 16,0 1-16,23-1 15,0 0 1,-24 1-16,1 22 16,0-23-1,23 1 1,0-1 15,-23 0-31,-1 1 16,1-24 171,23-70-171,-23 23-16,-24-23 16,47 24-1,0 22 1,0 1-1,-23 0-15,23-1 16,0 1 0,0 0-1,-24-1 1,1 24-16,23 47 281,23-24-265,-23 1-16,47 69 15,-24-46 1,-23-24 0,24-23-16,-24 46 31,23-22-15,0-1 46,-23 0-31,24 1 63,-24-1-78,23-23-1,0 0 157,24 0-156,-24 0-16,0 0 15,24-47-15,-24 47 16,24-23-16,-1 0 16,-22-1-16,-1 24 15,0-23-15,1 23 16,-1 0-16,0 0 16,24 0-1,-24 0 1,1 0-16,-1 0 15,0 0 1</inkml:trace>
  </inkml:traceGroup>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5-05-08T16:24:58.888"/>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9324BAEA-1EBE-4AF5-A481-94D10B1AA09F}" emma:medium="tactile" emma:mode="ink">
          <msink:context xmlns:msink="http://schemas.microsoft.com/ink/2010/main" type="inkDrawing" rotatedBoundingBox="25683,6611 28933,10286 28011,11101 24761,7426" semanticType="callout" shapeName="Other">
            <msink:sourceLink direction="with" ref="{C20CBF47-51C9-4B5D-A65F-C091A845A9AE}"/>
          </msink:context>
        </emma:interpretation>
      </emma:emma>
    </inkml:annotationXML>
    <inkml:trace contextRef="#ctx0" brushRef="#br0">0 0 0,'23'0'110,"1"93"-110,22-23 15,1 23-15,-1-23 16,1 0-16,-24 0 16,1-24-16,45 48 15,1 22 1,-46-46-16,46 23 0,-47-69 16,-23 22-1,93 47-15,-70-46 16,71 23-16,-48-24 15,-22 1-15,45 0 16,1 23-16,-46-70 16,92 93-16,-93-70 15,47 24-15,-23-24 16,-24 0-16,71 24 16,-48-24-16,1 24 15,-1-24 1,48 0-16,-48 24 15,1-47-15,46 47 16,-70-24-16,47-23 16,-47 47-16,47-47 15,-70 23 1,47 0-16,0 0 16,-24 1-1,0-1-15,47 24 16,-47-24-16,1 0 15,22 1-15,-22-1 16,-1-23-16,0 23 31,-23 0-31,24-23 16,-1 24 0,23 22-16,-22-22 15,-1-1 1,-23 0-1,23-23-15,1 24 16,-1 45-16,0-69 16,-23 24-16,47 22 15,-24-46-15,0 47 16,1-24-16,-1 1 16,0-1-16,-23 0 15,47 1-15,-47-1 16,0 0-16,23 0 15,-23 1 1,0-1-16,24 0 16,-1-23-16,-23 24 15,0-1 1,23-23-16,-23 23 16,0 1-16,0-1 15,47 23 1,-47 1-16,23 0 15,-23-24-15,0 47 16,0-47-16,0 47 16,0-23-1,0-24-15,23 0 16,-23 24-16,0-24 16,24 24-16,-24-24 15,23 24 1,-23-1-16,0-22 15,0-1 1,0 0-16,0 24 16,0-24-1,0 0-15,0 1 16,0-1 0,0 0-16,0 1 31,0-1-31,0 0 15,-47-46 173,1 0-172,22-1-16,1 1 15,-70-47-15,46 24 16,1-1-16,22 24 15,-45-24-15,45 24 16,1-1 0,0 1-16,-1 23 15,24-23 1,-23 0-16,0-1 16,69 24 187,-22 0-188,-1 24-15,0-24 16,1 23 15,-1-23 0,-23 23-15,46 0-16,-22 1 16,22-1-1,-22 0 1,-1-23 62,0 24-78,1-1 31,-24 0-31,23-23 32,0 24 30,0-24-46,-23 23-16,24-23 31,-24 23-15,23-23 30,-23 23-30,23-23-16,1 24 16,-1-1 15,0-23 219,24 0-250,-24-70 16,24-23-16,-1 0 15,1 23-15,0-23 16,-24 69-16,24-69 15,-24 93-15,0-23 16,24-24-16,-24 24 16,24 23-1,-1-47-15,-46 24 16,24 0 0,-1-1-16,0 24 15,-23-23 1,0 0-16,47-1 15</inkml:trace>
  </inkml:traceGroup>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7C343C-3F91-44AE-9C2B-98E041508789}" type="datetimeFigureOut">
              <a:rPr lang="en-US" smtClean="0"/>
              <a:t>9/2/2025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84CCFB-00AE-456E-B3EF-47F219EECEC6}" type="slidenum">
              <a:rPr lang="en-US" smtClean="0"/>
              <a:t>‹#›</a:t>
            </a:fld>
            <a:endParaRPr lang="en-US"/>
          </a:p>
        </p:txBody>
      </p:sp>
    </p:spTree>
    <p:extLst>
      <p:ext uri="{BB962C8B-B14F-4D97-AF65-F5344CB8AC3E}">
        <p14:creationId xmlns:p14="http://schemas.microsoft.com/office/powerpoint/2010/main" val="4038338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A68D787-6B45-4334-957C-CB5558ED73BB}"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425576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68D787-6B45-4334-957C-CB5558ED73BB}"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869434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68D787-6B45-4334-957C-CB5558ED73BB}"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1461534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A68D787-6B45-4334-957C-CB5558ED73BB}" type="datetimeFigureOut">
              <a:rPr lang="en-US" smtClean="0"/>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3133386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A68D787-6B45-4334-957C-CB5558ED73BB}" type="datetimeFigureOut">
              <a:rPr lang="en-US" smtClean="0"/>
              <a:t>9/2/2025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2896946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A68D787-6B45-4334-957C-CB5558ED73BB}" type="datetimeFigureOut">
              <a:rPr lang="en-US" smtClean="0"/>
              <a:t>9/2/2025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4112768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68D787-6B45-4334-957C-CB5558ED73BB}" type="datetimeFigureOut">
              <a:rPr lang="en-US" smtClean="0"/>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1604715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A68D787-6B45-4334-957C-CB5558ED73BB}" type="datetimeFigureOut">
              <a:rPr lang="en-US" smtClean="0"/>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2177338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A68D787-6B45-4334-957C-CB5558ED73BB}" type="datetimeFigureOut">
              <a:rPr lang="en-US" smtClean="0"/>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2158802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68D787-6B45-4334-957C-CB5558ED73BB}"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2210904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68D787-6B45-4334-957C-CB5558ED73BB}"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7205EF-3857-4FFD-83B0-90058D738BF6}" type="slidenum">
              <a:rPr lang="en-US" smtClean="0"/>
              <a:t>‹#›</a:t>
            </a:fld>
            <a:endParaRPr lang="en-US"/>
          </a:p>
        </p:txBody>
      </p:sp>
    </p:spTree>
    <p:extLst>
      <p:ext uri="{BB962C8B-B14F-4D97-AF65-F5344CB8AC3E}">
        <p14:creationId xmlns:p14="http://schemas.microsoft.com/office/powerpoint/2010/main" val="4086974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68D787-6B45-4334-957C-CB5558ED73BB}" type="datetimeFigureOut">
              <a:rPr lang="en-US" smtClean="0"/>
              <a:t>9/2/2025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7205EF-3857-4FFD-83B0-90058D738BF6}" type="slidenum">
              <a:rPr lang="en-US" smtClean="0"/>
              <a:t>‹#›</a:t>
            </a:fld>
            <a:endParaRPr lang="en-US"/>
          </a:p>
        </p:txBody>
      </p:sp>
    </p:spTree>
    <p:extLst>
      <p:ext uri="{BB962C8B-B14F-4D97-AF65-F5344CB8AC3E}">
        <p14:creationId xmlns:p14="http://schemas.microsoft.com/office/powerpoint/2010/main" val="1716846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hyperlink" Target="https://en.wikipedia.org/wiki/Seq2seq"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7.jpg"/><Relationship Id="rId1" Type="http://schemas.openxmlformats.org/officeDocument/2006/relationships/slideLayout" Target="../slideLayouts/slideLayout2.xml"/><Relationship Id="rId6" Type="http://schemas.openxmlformats.org/officeDocument/2006/relationships/image" Target="../media/image19.emf"/><Relationship Id="rId5" Type="http://schemas.openxmlformats.org/officeDocument/2006/relationships/customXml" Target="../ink/ink2.xml"/><Relationship Id="rId4" Type="http://schemas.openxmlformats.org/officeDocument/2006/relationships/image" Target="../media/image18.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(On Dev com) AI - CNN</a:t>
            </a:r>
          </a:p>
        </p:txBody>
      </p:sp>
      <p:sp>
        <p:nvSpPr>
          <p:cNvPr id="3" name="Subtitle 2"/>
          <p:cNvSpPr>
            <a:spLocks noGrp="1"/>
          </p:cNvSpPr>
          <p:nvPr>
            <p:ph type="subTitle" idx="1"/>
          </p:nvPr>
        </p:nvSpPr>
        <p:spPr/>
        <p:txBody>
          <a:bodyPr/>
          <a:lstStyle/>
          <a:p>
            <a:r>
              <a:rPr lang="en-US" dirty="0"/>
              <a:t>Convolution Neural Network</a:t>
            </a:r>
          </a:p>
        </p:txBody>
      </p:sp>
    </p:spTree>
    <p:extLst>
      <p:ext uri="{BB962C8B-B14F-4D97-AF65-F5344CB8AC3E}">
        <p14:creationId xmlns:p14="http://schemas.microsoft.com/office/powerpoint/2010/main" val="934375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3165"/>
          </a:xfrm>
        </p:spPr>
        <p:txBody>
          <a:bodyPr>
            <a:normAutofit fontScale="90000"/>
          </a:bodyPr>
          <a:lstStyle/>
          <a:p>
            <a:r>
              <a:rPr lang="en-US" dirty="0"/>
              <a:t>Why do we need CNN?</a:t>
            </a:r>
          </a:p>
        </p:txBody>
      </p:sp>
      <p:sp>
        <p:nvSpPr>
          <p:cNvPr id="3" name="Content Placeholder 2"/>
          <p:cNvSpPr>
            <a:spLocks noGrp="1"/>
          </p:cNvSpPr>
          <p:nvPr>
            <p:ph idx="1"/>
          </p:nvPr>
        </p:nvSpPr>
        <p:spPr/>
        <p:txBody>
          <a:bodyPr>
            <a:normAutofit fontScale="77500" lnSpcReduction="20000"/>
          </a:bodyPr>
          <a:lstStyle/>
          <a:p>
            <a:pPr marL="0" indent="0">
              <a:buNone/>
            </a:pPr>
            <a:r>
              <a:rPr lang="en-US" dirty="0"/>
              <a:t>why we cannot use ANN for image classification or computer vision </a:t>
            </a:r>
            <a:r>
              <a:rPr lang="en-US" dirty="0" err="1"/>
              <a:t>relatd</a:t>
            </a:r>
            <a:r>
              <a:rPr lang="en-US" dirty="0"/>
              <a:t> task?</a:t>
            </a:r>
          </a:p>
          <a:p>
            <a:pPr marL="0" indent="0">
              <a:buNone/>
            </a:pPr>
            <a:r>
              <a:rPr lang="en-US" dirty="0"/>
              <a:t>1. ANNs Don't Exploit Image Structure</a:t>
            </a:r>
          </a:p>
          <a:p>
            <a:r>
              <a:rPr lang="en-US" dirty="0"/>
              <a:t>Images have spatial structure: nearby pixels are more related than distant ones.</a:t>
            </a:r>
          </a:p>
          <a:p>
            <a:r>
              <a:rPr lang="en-US" dirty="0"/>
              <a:t>ANN treats all input pixels as independent flat numbers (1D vector).</a:t>
            </a:r>
          </a:p>
          <a:p>
            <a:r>
              <a:rPr lang="en-US" dirty="0"/>
              <a:t>It ignores the 2D spatial layout of images (width × height × channels).</a:t>
            </a:r>
          </a:p>
          <a:p>
            <a:pPr marL="0" indent="0">
              <a:buNone/>
            </a:pPr>
            <a:endParaRPr lang="en-US" dirty="0"/>
          </a:p>
          <a:p>
            <a:pPr marL="0" indent="0">
              <a:buNone/>
            </a:pPr>
            <a:r>
              <a:rPr lang="en-US" dirty="0"/>
              <a:t>2. Too Many Parameters for Images</a:t>
            </a:r>
          </a:p>
          <a:p>
            <a:pPr marL="0" indent="0">
              <a:buNone/>
            </a:pPr>
            <a:r>
              <a:rPr lang="en-US" dirty="0"/>
              <a:t>Suppose you have a 100×100 RGB image → 30,000 inputs.</a:t>
            </a:r>
          </a:p>
          <a:p>
            <a:pPr marL="0" indent="0">
              <a:buNone/>
            </a:pPr>
            <a:endParaRPr lang="en-US" dirty="0"/>
          </a:p>
          <a:p>
            <a:pPr marL="0" indent="0">
              <a:buNone/>
            </a:pPr>
            <a:r>
              <a:rPr lang="en-US" dirty="0"/>
              <a:t>If the first layer of ANN has 1,000 neurons:</a:t>
            </a:r>
          </a:p>
          <a:p>
            <a:pPr marL="0" indent="0">
              <a:buNone/>
            </a:pPr>
            <a:r>
              <a:rPr lang="en-US" dirty="0"/>
              <a:t>Weights=30,000×1,000=30 million parameters!</a:t>
            </a:r>
          </a:p>
          <a:p>
            <a:pPr marL="0" indent="0">
              <a:buNone/>
            </a:pPr>
            <a:r>
              <a:rPr lang="en-US" dirty="0"/>
              <a:t>That’s just for one layer — it's inefficient, slow, and needs a lot of memory and data.</a:t>
            </a:r>
          </a:p>
        </p:txBody>
      </p:sp>
    </p:spTree>
    <p:extLst>
      <p:ext uri="{BB962C8B-B14F-4D97-AF65-F5344CB8AC3E}">
        <p14:creationId xmlns:p14="http://schemas.microsoft.com/office/powerpoint/2010/main" val="1242321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829" y="149225"/>
            <a:ext cx="11876314" cy="2289175"/>
          </a:xfrm>
        </p:spPr>
        <p:txBody>
          <a:bodyPr>
            <a:normAutofit/>
          </a:bodyPr>
          <a:lstStyle/>
          <a:p>
            <a:pPr marL="0" indent="0">
              <a:buNone/>
            </a:pPr>
            <a:r>
              <a:rPr lang="en-US" sz="2000" b="1" dirty="0"/>
              <a:t>Key Features of Convolutional Neural Networks (CNNs)</a:t>
            </a:r>
          </a:p>
          <a:p>
            <a:pPr marL="0" indent="0">
              <a:buNone/>
            </a:pPr>
            <a:r>
              <a:rPr lang="en-US" sz="1800" b="1" dirty="0"/>
              <a:t>Structure</a:t>
            </a:r>
            <a:r>
              <a:rPr lang="en-US" sz="1800" dirty="0"/>
              <a:t>: CNN has specialized layers like convolutional layers, pooling layers, and fully connected layers.</a:t>
            </a:r>
          </a:p>
          <a:p>
            <a:pPr marL="0" indent="0">
              <a:buNone/>
            </a:pPr>
            <a:r>
              <a:rPr lang="en-US" sz="1800" b="1" dirty="0"/>
              <a:t>Data Type</a:t>
            </a:r>
            <a:r>
              <a:rPr lang="en-US" sz="1800" dirty="0"/>
              <a:t>: Designed for image and spatial data, making it ideal for tasks like object detection and image classification.</a:t>
            </a:r>
          </a:p>
          <a:p>
            <a:pPr marL="0" indent="0">
              <a:buNone/>
            </a:pPr>
            <a:r>
              <a:rPr lang="en-US" sz="1800" b="1" dirty="0"/>
              <a:t>Operations</a:t>
            </a:r>
            <a:r>
              <a:rPr lang="en-US" sz="1800" dirty="0"/>
              <a:t>: Uses convolutional filters to detect patterns (edges, textures, objects) and pooling layers to reduce dimensionality.</a:t>
            </a:r>
          </a:p>
          <a:p>
            <a:pPr marL="0" indent="0">
              <a:buNone/>
            </a:pPr>
            <a:r>
              <a:rPr lang="en-US" sz="1800" b="1" dirty="0"/>
              <a:t>Advantages</a:t>
            </a:r>
            <a:r>
              <a:rPr lang="en-US" sz="1800" dirty="0"/>
              <a:t>: Captures spatial hierarchies (local to global features) and is more efficient for image processing than ANN.</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2336643"/>
            <a:ext cx="9786258" cy="4442436"/>
          </a:xfrm>
          <a:prstGeom prst="rect">
            <a:avLst/>
          </a:prstGeom>
        </p:spPr>
      </p:pic>
    </p:spTree>
    <p:extLst>
      <p:ext uri="{BB962C8B-B14F-4D97-AF65-F5344CB8AC3E}">
        <p14:creationId xmlns:p14="http://schemas.microsoft.com/office/powerpoint/2010/main" val="3993416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0955"/>
            <a:ext cx="10515600" cy="832304"/>
          </a:xfrm>
        </p:spPr>
        <p:txBody>
          <a:bodyPr/>
          <a:lstStyle/>
          <a:p>
            <a:r>
              <a:rPr lang="en-US" b="1" dirty="0"/>
              <a:t>Key Components of a CNN(p1)</a:t>
            </a:r>
            <a:endParaRPr lang="en-US" dirty="0"/>
          </a:p>
        </p:txBody>
      </p:sp>
      <p:sp>
        <p:nvSpPr>
          <p:cNvPr id="3" name="Content Placeholder 2"/>
          <p:cNvSpPr>
            <a:spLocks noGrp="1"/>
          </p:cNvSpPr>
          <p:nvPr>
            <p:ph idx="1"/>
          </p:nvPr>
        </p:nvSpPr>
        <p:spPr>
          <a:xfrm>
            <a:off x="446314" y="1052739"/>
            <a:ext cx="2906486" cy="3040290"/>
          </a:xfrm>
        </p:spPr>
        <p:txBody>
          <a:bodyPr>
            <a:normAutofit/>
          </a:bodyPr>
          <a:lstStyle/>
          <a:p>
            <a:pPr marL="0" indent="0">
              <a:buNone/>
            </a:pPr>
            <a:r>
              <a:rPr lang="en-US" sz="2000" dirty="0"/>
              <a:t>The convolutional neural network is made of four main parts.</a:t>
            </a:r>
          </a:p>
          <a:p>
            <a:r>
              <a:rPr lang="en-US" sz="2000" b="1" dirty="0"/>
              <a:t>Convolutional layers</a:t>
            </a:r>
          </a:p>
          <a:p>
            <a:r>
              <a:rPr lang="en-US" sz="2000" b="1" dirty="0"/>
              <a:t>Rectified Linear Unit </a:t>
            </a:r>
            <a:r>
              <a:rPr lang="en-US" sz="2000" dirty="0"/>
              <a:t>(</a:t>
            </a:r>
            <a:r>
              <a:rPr lang="en-US" sz="2000" dirty="0" err="1"/>
              <a:t>ReLU</a:t>
            </a:r>
            <a:r>
              <a:rPr lang="en-US" sz="2000" dirty="0"/>
              <a:t> for short)</a:t>
            </a:r>
          </a:p>
          <a:p>
            <a:r>
              <a:rPr lang="en-US" sz="2000" b="1" dirty="0"/>
              <a:t>Pooling layers</a:t>
            </a:r>
          </a:p>
          <a:p>
            <a:r>
              <a:rPr lang="en-US" sz="2000" b="1" dirty="0"/>
              <a:t>Fully connected layers</a:t>
            </a:r>
          </a:p>
          <a:p>
            <a:endParaRPr lang="en-US"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0663" y="1894114"/>
            <a:ext cx="8367229" cy="4674735"/>
          </a:xfrm>
          <a:prstGeom prst="rect">
            <a:avLst/>
          </a:prstGeom>
        </p:spPr>
      </p:pic>
    </p:spTree>
    <p:extLst>
      <p:ext uri="{BB962C8B-B14F-4D97-AF65-F5344CB8AC3E}">
        <p14:creationId xmlns:p14="http://schemas.microsoft.com/office/powerpoint/2010/main" val="2743336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37"/>
            <a:ext cx="10515600" cy="404814"/>
          </a:xfrm>
        </p:spPr>
        <p:txBody>
          <a:bodyPr>
            <a:normAutofit fontScale="90000"/>
          </a:bodyPr>
          <a:lstStyle/>
          <a:p>
            <a:r>
              <a:rPr lang="en-US" sz="2800" dirty="0"/>
              <a:t>Convert image into 1D array</a:t>
            </a:r>
          </a:p>
        </p:txBody>
      </p:sp>
      <p:graphicFrame>
        <p:nvGraphicFramePr>
          <p:cNvPr id="4" name="Content Placeholder 3"/>
          <p:cNvGraphicFramePr>
            <a:graphicFrameLocks noGrp="1"/>
          </p:cNvGraphicFramePr>
          <p:nvPr>
            <p:ph idx="1"/>
          </p:nvPr>
        </p:nvGraphicFramePr>
        <p:xfrm>
          <a:off x="6096000" y="1281357"/>
          <a:ext cx="2495552" cy="1669276"/>
        </p:xfrm>
        <a:graphic>
          <a:graphicData uri="http://schemas.openxmlformats.org/drawingml/2006/table">
            <a:tbl>
              <a:tblPr firstRow="1" bandRow="1">
                <a:tableStyleId>{5C22544A-7EE6-4342-B048-85BDC9FD1C3A}</a:tableStyleId>
              </a:tblPr>
              <a:tblGrid>
                <a:gridCol w="623888">
                  <a:extLst>
                    <a:ext uri="{9D8B030D-6E8A-4147-A177-3AD203B41FA5}">
                      <a16:colId xmlns:a16="http://schemas.microsoft.com/office/drawing/2014/main" val="2315518423"/>
                    </a:ext>
                  </a:extLst>
                </a:gridCol>
                <a:gridCol w="623888">
                  <a:extLst>
                    <a:ext uri="{9D8B030D-6E8A-4147-A177-3AD203B41FA5}">
                      <a16:colId xmlns:a16="http://schemas.microsoft.com/office/drawing/2014/main" val="3066608265"/>
                    </a:ext>
                  </a:extLst>
                </a:gridCol>
                <a:gridCol w="623888">
                  <a:extLst>
                    <a:ext uri="{9D8B030D-6E8A-4147-A177-3AD203B41FA5}">
                      <a16:colId xmlns:a16="http://schemas.microsoft.com/office/drawing/2014/main" val="2486217613"/>
                    </a:ext>
                  </a:extLst>
                </a:gridCol>
                <a:gridCol w="623888">
                  <a:extLst>
                    <a:ext uri="{9D8B030D-6E8A-4147-A177-3AD203B41FA5}">
                      <a16:colId xmlns:a16="http://schemas.microsoft.com/office/drawing/2014/main" val="1138623776"/>
                    </a:ext>
                  </a:extLst>
                </a:gridCol>
              </a:tblGrid>
              <a:tr h="417319">
                <a:tc>
                  <a:txBody>
                    <a:bodyPr/>
                    <a:lstStyle/>
                    <a:p>
                      <a:r>
                        <a:rPr lang="en-US" b="0" baseline="0" dirty="0">
                          <a:solidFill>
                            <a:schemeClr val="tx1"/>
                          </a:solidFill>
                        </a:rPr>
                        <a:t>203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63474"/>
                  </a:ext>
                </a:extLst>
              </a:tr>
              <a:tr h="417319">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258561"/>
                  </a:ext>
                </a:extLst>
              </a:tr>
              <a:tr h="417319">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10968482"/>
                  </a:ext>
                </a:extLst>
              </a:tr>
              <a:tr h="417319">
                <a:tc>
                  <a:txBody>
                    <a:bodyPr/>
                    <a:lstStyle/>
                    <a:p>
                      <a:r>
                        <a:rPr lang="en-US" b="0" baseline="0" dirty="0">
                          <a:solidFill>
                            <a:schemeClr val="tx1"/>
                          </a:solidFill>
                        </a:rPr>
                        <a:t>205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03711874"/>
                  </a:ext>
                </a:extLst>
              </a:tr>
            </a:tbl>
          </a:graphicData>
        </a:graphic>
      </p:graphicFrame>
      <p:sp>
        <p:nvSpPr>
          <p:cNvPr id="25" name="TextBox 24"/>
          <p:cNvSpPr txBox="1"/>
          <p:nvPr/>
        </p:nvSpPr>
        <p:spPr>
          <a:xfrm>
            <a:off x="885453" y="3106974"/>
            <a:ext cx="1715213" cy="369332"/>
          </a:xfrm>
          <a:prstGeom prst="rect">
            <a:avLst/>
          </a:prstGeom>
          <a:noFill/>
        </p:spPr>
        <p:txBody>
          <a:bodyPr wrap="none" rtlCol="0">
            <a:spAutoFit/>
          </a:bodyPr>
          <a:lstStyle/>
          <a:p>
            <a:r>
              <a:rPr lang="en-US" dirty="0"/>
              <a:t>Input 4X4 image</a:t>
            </a:r>
          </a:p>
        </p:txBody>
      </p:sp>
      <p:sp>
        <p:nvSpPr>
          <p:cNvPr id="26" name="TextBox 25"/>
          <p:cNvSpPr txBox="1"/>
          <p:nvPr/>
        </p:nvSpPr>
        <p:spPr>
          <a:xfrm>
            <a:off x="5946209" y="3116161"/>
            <a:ext cx="5260671" cy="369332"/>
          </a:xfrm>
          <a:prstGeom prst="rect">
            <a:avLst/>
          </a:prstGeom>
          <a:noFill/>
        </p:spPr>
        <p:txBody>
          <a:bodyPr wrap="none" rtlCol="0">
            <a:spAutoFit/>
          </a:bodyPr>
          <a:lstStyle/>
          <a:p>
            <a:r>
              <a:rPr lang="en-US" dirty="0"/>
              <a:t>Pixel representation in 2D (not normalized), Size = 4X4</a:t>
            </a:r>
          </a:p>
        </p:txBody>
      </p:sp>
      <p:sp>
        <p:nvSpPr>
          <p:cNvPr id="27" name="Right Arrow 26"/>
          <p:cNvSpPr/>
          <p:nvPr/>
        </p:nvSpPr>
        <p:spPr>
          <a:xfrm>
            <a:off x="3958010" y="2158584"/>
            <a:ext cx="885825" cy="404814"/>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graphicFrame>
        <p:nvGraphicFramePr>
          <p:cNvPr id="23" name="Table 22">
            <a:extLst>
              <a:ext uri="{FF2B5EF4-FFF2-40B4-BE49-F238E27FC236}">
                <a16:creationId xmlns:a16="http://schemas.microsoft.com/office/drawing/2014/main" id="{39075EEB-1BDA-DE30-0E03-F6863B42EF9A}"/>
              </a:ext>
            </a:extLst>
          </p:cNvPr>
          <p:cNvGraphicFramePr>
            <a:graphicFrameLocks noGrp="1"/>
          </p:cNvGraphicFramePr>
          <p:nvPr/>
        </p:nvGraphicFramePr>
        <p:xfrm>
          <a:off x="258857" y="5236009"/>
          <a:ext cx="11609376" cy="741680"/>
        </p:xfrm>
        <a:graphic>
          <a:graphicData uri="http://schemas.openxmlformats.org/drawingml/2006/table">
            <a:tbl>
              <a:tblPr firstRow="1" bandRow="1">
                <a:tableStyleId>{5C22544A-7EE6-4342-B048-85BDC9FD1C3A}</a:tableStyleId>
              </a:tblPr>
              <a:tblGrid>
                <a:gridCol w="725586">
                  <a:extLst>
                    <a:ext uri="{9D8B030D-6E8A-4147-A177-3AD203B41FA5}">
                      <a16:colId xmlns:a16="http://schemas.microsoft.com/office/drawing/2014/main" val="612898043"/>
                    </a:ext>
                  </a:extLst>
                </a:gridCol>
                <a:gridCol w="725586">
                  <a:extLst>
                    <a:ext uri="{9D8B030D-6E8A-4147-A177-3AD203B41FA5}">
                      <a16:colId xmlns:a16="http://schemas.microsoft.com/office/drawing/2014/main" val="3150071181"/>
                    </a:ext>
                  </a:extLst>
                </a:gridCol>
                <a:gridCol w="725586">
                  <a:extLst>
                    <a:ext uri="{9D8B030D-6E8A-4147-A177-3AD203B41FA5}">
                      <a16:colId xmlns:a16="http://schemas.microsoft.com/office/drawing/2014/main" val="3195070411"/>
                    </a:ext>
                  </a:extLst>
                </a:gridCol>
                <a:gridCol w="725586">
                  <a:extLst>
                    <a:ext uri="{9D8B030D-6E8A-4147-A177-3AD203B41FA5}">
                      <a16:colId xmlns:a16="http://schemas.microsoft.com/office/drawing/2014/main" val="3019618445"/>
                    </a:ext>
                  </a:extLst>
                </a:gridCol>
                <a:gridCol w="725586">
                  <a:extLst>
                    <a:ext uri="{9D8B030D-6E8A-4147-A177-3AD203B41FA5}">
                      <a16:colId xmlns:a16="http://schemas.microsoft.com/office/drawing/2014/main" val="125201631"/>
                    </a:ext>
                  </a:extLst>
                </a:gridCol>
                <a:gridCol w="725586">
                  <a:extLst>
                    <a:ext uri="{9D8B030D-6E8A-4147-A177-3AD203B41FA5}">
                      <a16:colId xmlns:a16="http://schemas.microsoft.com/office/drawing/2014/main" val="2447133606"/>
                    </a:ext>
                  </a:extLst>
                </a:gridCol>
                <a:gridCol w="725586">
                  <a:extLst>
                    <a:ext uri="{9D8B030D-6E8A-4147-A177-3AD203B41FA5}">
                      <a16:colId xmlns:a16="http://schemas.microsoft.com/office/drawing/2014/main" val="1241187053"/>
                    </a:ext>
                  </a:extLst>
                </a:gridCol>
                <a:gridCol w="725586">
                  <a:extLst>
                    <a:ext uri="{9D8B030D-6E8A-4147-A177-3AD203B41FA5}">
                      <a16:colId xmlns:a16="http://schemas.microsoft.com/office/drawing/2014/main" val="919965212"/>
                    </a:ext>
                  </a:extLst>
                </a:gridCol>
                <a:gridCol w="725586">
                  <a:extLst>
                    <a:ext uri="{9D8B030D-6E8A-4147-A177-3AD203B41FA5}">
                      <a16:colId xmlns:a16="http://schemas.microsoft.com/office/drawing/2014/main" val="1683702547"/>
                    </a:ext>
                  </a:extLst>
                </a:gridCol>
                <a:gridCol w="725586">
                  <a:extLst>
                    <a:ext uri="{9D8B030D-6E8A-4147-A177-3AD203B41FA5}">
                      <a16:colId xmlns:a16="http://schemas.microsoft.com/office/drawing/2014/main" val="3352773765"/>
                    </a:ext>
                  </a:extLst>
                </a:gridCol>
                <a:gridCol w="725586">
                  <a:extLst>
                    <a:ext uri="{9D8B030D-6E8A-4147-A177-3AD203B41FA5}">
                      <a16:colId xmlns:a16="http://schemas.microsoft.com/office/drawing/2014/main" val="3544401652"/>
                    </a:ext>
                  </a:extLst>
                </a:gridCol>
                <a:gridCol w="725586">
                  <a:extLst>
                    <a:ext uri="{9D8B030D-6E8A-4147-A177-3AD203B41FA5}">
                      <a16:colId xmlns:a16="http://schemas.microsoft.com/office/drawing/2014/main" val="2379737401"/>
                    </a:ext>
                  </a:extLst>
                </a:gridCol>
                <a:gridCol w="725586">
                  <a:extLst>
                    <a:ext uri="{9D8B030D-6E8A-4147-A177-3AD203B41FA5}">
                      <a16:colId xmlns:a16="http://schemas.microsoft.com/office/drawing/2014/main" val="2344027355"/>
                    </a:ext>
                  </a:extLst>
                </a:gridCol>
                <a:gridCol w="725586">
                  <a:extLst>
                    <a:ext uri="{9D8B030D-6E8A-4147-A177-3AD203B41FA5}">
                      <a16:colId xmlns:a16="http://schemas.microsoft.com/office/drawing/2014/main" val="1384872851"/>
                    </a:ext>
                  </a:extLst>
                </a:gridCol>
                <a:gridCol w="725586">
                  <a:extLst>
                    <a:ext uri="{9D8B030D-6E8A-4147-A177-3AD203B41FA5}">
                      <a16:colId xmlns:a16="http://schemas.microsoft.com/office/drawing/2014/main" val="3207941490"/>
                    </a:ext>
                  </a:extLst>
                </a:gridCol>
                <a:gridCol w="725586">
                  <a:extLst>
                    <a:ext uri="{9D8B030D-6E8A-4147-A177-3AD203B41FA5}">
                      <a16:colId xmlns:a16="http://schemas.microsoft.com/office/drawing/2014/main" val="2349654623"/>
                    </a:ext>
                  </a:extLst>
                </a:gridCol>
              </a:tblGrid>
              <a:tr h="370840">
                <a:tc>
                  <a:txBody>
                    <a:bodyPr/>
                    <a:lstStyle/>
                    <a:p>
                      <a:r>
                        <a:rPr lang="en-US" sz="1600" dirty="0">
                          <a:solidFill>
                            <a:schemeClr val="tx1"/>
                          </a:solidFill>
                        </a:rPr>
                        <a:t>feat1</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feat2</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feat3</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feat4</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feat5</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feat6</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feat7</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feat8</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feat9</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feat10</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feat11</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feat12</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feat13</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feat14</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feat15</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feat16</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0749074"/>
                  </a:ext>
                </a:extLst>
              </a:tr>
              <a:tr h="370840">
                <a:tc>
                  <a:txBody>
                    <a:bodyPr/>
                    <a:lstStyle/>
                    <a:p>
                      <a:r>
                        <a:rPr lang="en-US" sz="1600" dirty="0">
                          <a:solidFill>
                            <a:schemeClr val="tx1"/>
                          </a:solidFill>
                        </a:rPr>
                        <a:t>203</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0</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0</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200</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0</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0</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30</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0</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0</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32</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0</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0</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205</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0</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0</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solidFill>
                            <a:schemeClr val="tx1"/>
                          </a:solidFill>
                        </a:rPr>
                        <a:t>49</a:t>
                      </a:r>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1365758"/>
                  </a:ext>
                </a:extLst>
              </a:tr>
            </a:tbl>
          </a:graphicData>
        </a:graphic>
      </p:graphicFrame>
      <p:sp>
        <p:nvSpPr>
          <p:cNvPr id="32" name="TextBox 31">
            <a:extLst>
              <a:ext uri="{FF2B5EF4-FFF2-40B4-BE49-F238E27FC236}">
                <a16:creationId xmlns:a16="http://schemas.microsoft.com/office/drawing/2014/main" id="{A2CADA20-FD83-64CA-B885-DD0F964C8631}"/>
              </a:ext>
            </a:extLst>
          </p:cNvPr>
          <p:cNvSpPr txBox="1"/>
          <p:nvPr/>
        </p:nvSpPr>
        <p:spPr>
          <a:xfrm>
            <a:off x="803042" y="6202593"/>
            <a:ext cx="5594096" cy="369332"/>
          </a:xfrm>
          <a:prstGeom prst="rect">
            <a:avLst/>
          </a:prstGeom>
          <a:noFill/>
        </p:spPr>
        <p:txBody>
          <a:bodyPr wrap="none" rtlCol="0">
            <a:spAutoFit/>
          </a:bodyPr>
          <a:lstStyle/>
          <a:p>
            <a:r>
              <a:rPr lang="en-US" dirty="0"/>
              <a:t>Pixel representation in 1D (not </a:t>
            </a:r>
            <a:r>
              <a:rPr lang="en-US"/>
              <a:t>normalized), </a:t>
            </a:r>
            <a:r>
              <a:rPr lang="en-US" dirty="0"/>
              <a:t>size = 4X4=16</a:t>
            </a:r>
          </a:p>
        </p:txBody>
      </p:sp>
      <p:sp>
        <p:nvSpPr>
          <p:cNvPr id="33" name="Right Arrow 26">
            <a:extLst>
              <a:ext uri="{FF2B5EF4-FFF2-40B4-BE49-F238E27FC236}">
                <a16:creationId xmlns:a16="http://schemas.microsoft.com/office/drawing/2014/main" id="{151B155B-5BC4-D8C0-1AAA-E26100FA5E99}"/>
              </a:ext>
            </a:extLst>
          </p:cNvPr>
          <p:cNvSpPr/>
          <p:nvPr/>
        </p:nvSpPr>
        <p:spPr>
          <a:xfrm rot="8705280">
            <a:off x="4036654" y="4166199"/>
            <a:ext cx="1793825" cy="404814"/>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7335EFB-3ADE-F990-154C-F3C7AD4E83C2}"/>
              </a:ext>
            </a:extLst>
          </p:cNvPr>
          <p:cNvSpPr/>
          <p:nvPr/>
        </p:nvSpPr>
        <p:spPr>
          <a:xfrm>
            <a:off x="1065475" y="1281357"/>
            <a:ext cx="2007249" cy="166927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9">
            <a:extLst>
              <a:ext uri="{FF2B5EF4-FFF2-40B4-BE49-F238E27FC236}">
                <a16:creationId xmlns:a16="http://schemas.microsoft.com/office/drawing/2014/main" id="{DB984A07-575A-A85F-54A4-9D839EA94F4F}"/>
              </a:ext>
            </a:extLst>
          </p:cNvPr>
          <p:cNvSpPr/>
          <p:nvPr/>
        </p:nvSpPr>
        <p:spPr>
          <a:xfrm>
            <a:off x="1091028" y="1306469"/>
            <a:ext cx="457200" cy="38576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D1ED35A-75D0-2F80-BDCD-C50965D90978}"/>
              </a:ext>
            </a:extLst>
          </p:cNvPr>
          <p:cNvSpPr/>
          <p:nvPr/>
        </p:nvSpPr>
        <p:spPr>
          <a:xfrm>
            <a:off x="2577920" y="1314418"/>
            <a:ext cx="457200" cy="38576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139C109-0DE2-9366-DC41-9824AD4AA963}"/>
              </a:ext>
            </a:extLst>
          </p:cNvPr>
          <p:cNvSpPr/>
          <p:nvPr/>
        </p:nvSpPr>
        <p:spPr>
          <a:xfrm>
            <a:off x="2068209" y="1718501"/>
            <a:ext cx="457200" cy="38576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7EF6DD-ECF0-C8DD-1693-4E8189283B6B}"/>
              </a:ext>
            </a:extLst>
          </p:cNvPr>
          <p:cNvSpPr/>
          <p:nvPr/>
        </p:nvSpPr>
        <p:spPr>
          <a:xfrm>
            <a:off x="2585045" y="2537474"/>
            <a:ext cx="457200" cy="385762"/>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87E2E25-8ED1-713F-4790-2BD3F9423325}"/>
              </a:ext>
            </a:extLst>
          </p:cNvPr>
          <p:cNvSpPr/>
          <p:nvPr/>
        </p:nvSpPr>
        <p:spPr>
          <a:xfrm>
            <a:off x="1076449" y="2556150"/>
            <a:ext cx="457200" cy="38576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98A1787-030C-69CE-97E4-F81BE874048B}"/>
              </a:ext>
            </a:extLst>
          </p:cNvPr>
          <p:cNvSpPr/>
          <p:nvPr/>
        </p:nvSpPr>
        <p:spPr>
          <a:xfrm>
            <a:off x="1560645" y="2133292"/>
            <a:ext cx="457200" cy="38576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5DD2E55-F873-2F72-DFA0-7AA9CA1F9BB2}"/>
              </a:ext>
            </a:extLst>
          </p:cNvPr>
          <p:cNvSpPr txBox="1"/>
          <p:nvPr/>
        </p:nvSpPr>
        <p:spPr>
          <a:xfrm>
            <a:off x="328450" y="370555"/>
            <a:ext cx="11577711" cy="584775"/>
          </a:xfrm>
          <a:prstGeom prst="rect">
            <a:avLst/>
          </a:prstGeom>
          <a:noFill/>
        </p:spPr>
        <p:txBody>
          <a:bodyPr wrap="square" rtlCol="0">
            <a:spAutoFit/>
          </a:bodyPr>
          <a:lstStyle/>
          <a:p>
            <a:pPr marL="342900" indent="-342900">
              <a:buAutoNum type="arabicParenR"/>
            </a:pPr>
            <a:r>
              <a:rPr lang="en-US" sz="1600" dirty="0"/>
              <a:t>Convert 4 X 4 image into a 4 X 4 matrix, where each cell has numbers in range 0-255 indicating the darkness-brightness</a:t>
            </a:r>
          </a:p>
          <a:p>
            <a:pPr marL="342900" indent="-342900">
              <a:buAutoNum type="arabicParenR"/>
            </a:pPr>
            <a:r>
              <a:rPr lang="en-US" sz="1600" dirty="0"/>
              <a:t>Convert 4X4 matrix into 1D array of size 4*4=16 features, that would represent one image</a:t>
            </a:r>
          </a:p>
        </p:txBody>
      </p:sp>
    </p:spTree>
    <p:extLst>
      <p:ext uri="{BB962C8B-B14F-4D97-AF65-F5344CB8AC3E}">
        <p14:creationId xmlns:p14="http://schemas.microsoft.com/office/powerpoint/2010/main" val="2377775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2C2E0-B93E-65A8-22E1-3E12A7DC61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A5306-65CD-35A3-7EB7-3570C2373782}"/>
              </a:ext>
            </a:extLst>
          </p:cNvPr>
          <p:cNvSpPr>
            <a:spLocks noGrp="1"/>
          </p:cNvSpPr>
          <p:nvPr>
            <p:ph type="title"/>
          </p:nvPr>
        </p:nvSpPr>
        <p:spPr>
          <a:xfrm>
            <a:off x="838200" y="365125"/>
            <a:ext cx="10515600" cy="906445"/>
          </a:xfrm>
        </p:spPr>
        <p:txBody>
          <a:bodyPr/>
          <a:lstStyle/>
          <a:p>
            <a:r>
              <a:rPr lang="en-US" dirty="0"/>
              <a:t>Images are represented as matrix</a:t>
            </a:r>
          </a:p>
        </p:txBody>
      </p:sp>
      <p:graphicFrame>
        <p:nvGraphicFramePr>
          <p:cNvPr id="4" name="Content Placeholder 3">
            <a:extLst>
              <a:ext uri="{FF2B5EF4-FFF2-40B4-BE49-F238E27FC236}">
                <a16:creationId xmlns:a16="http://schemas.microsoft.com/office/drawing/2014/main" id="{A499C89C-8CFE-F47D-FD61-50336F30ACFD}"/>
              </a:ext>
            </a:extLst>
          </p:cNvPr>
          <p:cNvGraphicFramePr>
            <a:graphicFrameLocks noGrp="1"/>
          </p:cNvGraphicFramePr>
          <p:nvPr>
            <p:ph idx="1"/>
            <p:extLst>
              <p:ext uri="{D42A27DB-BD31-4B8C-83A1-F6EECF244321}">
                <p14:modId xmlns:p14="http://schemas.microsoft.com/office/powerpoint/2010/main" val="2543541500"/>
              </p:ext>
            </p:extLst>
          </p:nvPr>
        </p:nvGraphicFramePr>
        <p:xfrm>
          <a:off x="6265628" y="1825621"/>
          <a:ext cx="4821472" cy="3197176"/>
        </p:xfrm>
        <a:graphic>
          <a:graphicData uri="http://schemas.openxmlformats.org/drawingml/2006/table">
            <a:tbl>
              <a:tblPr firstRow="1" bandRow="1">
                <a:tableStyleId>{5C22544A-7EE6-4342-B048-85BDC9FD1C3A}</a:tableStyleId>
              </a:tblPr>
              <a:tblGrid>
                <a:gridCol w="602684">
                  <a:extLst>
                    <a:ext uri="{9D8B030D-6E8A-4147-A177-3AD203B41FA5}">
                      <a16:colId xmlns:a16="http://schemas.microsoft.com/office/drawing/2014/main" val="2315518423"/>
                    </a:ext>
                  </a:extLst>
                </a:gridCol>
                <a:gridCol w="602684">
                  <a:extLst>
                    <a:ext uri="{9D8B030D-6E8A-4147-A177-3AD203B41FA5}">
                      <a16:colId xmlns:a16="http://schemas.microsoft.com/office/drawing/2014/main" val="3066608265"/>
                    </a:ext>
                  </a:extLst>
                </a:gridCol>
                <a:gridCol w="602684">
                  <a:extLst>
                    <a:ext uri="{9D8B030D-6E8A-4147-A177-3AD203B41FA5}">
                      <a16:colId xmlns:a16="http://schemas.microsoft.com/office/drawing/2014/main" val="2486217613"/>
                    </a:ext>
                  </a:extLst>
                </a:gridCol>
                <a:gridCol w="602684">
                  <a:extLst>
                    <a:ext uri="{9D8B030D-6E8A-4147-A177-3AD203B41FA5}">
                      <a16:colId xmlns:a16="http://schemas.microsoft.com/office/drawing/2014/main" val="1138623776"/>
                    </a:ext>
                  </a:extLst>
                </a:gridCol>
                <a:gridCol w="602684">
                  <a:extLst>
                    <a:ext uri="{9D8B030D-6E8A-4147-A177-3AD203B41FA5}">
                      <a16:colId xmlns:a16="http://schemas.microsoft.com/office/drawing/2014/main" val="2549362556"/>
                    </a:ext>
                  </a:extLst>
                </a:gridCol>
                <a:gridCol w="602684">
                  <a:extLst>
                    <a:ext uri="{9D8B030D-6E8A-4147-A177-3AD203B41FA5}">
                      <a16:colId xmlns:a16="http://schemas.microsoft.com/office/drawing/2014/main" val="1850703460"/>
                    </a:ext>
                  </a:extLst>
                </a:gridCol>
                <a:gridCol w="602684">
                  <a:extLst>
                    <a:ext uri="{9D8B030D-6E8A-4147-A177-3AD203B41FA5}">
                      <a16:colId xmlns:a16="http://schemas.microsoft.com/office/drawing/2014/main" val="1151250704"/>
                    </a:ext>
                  </a:extLst>
                </a:gridCol>
                <a:gridCol w="602684">
                  <a:extLst>
                    <a:ext uri="{9D8B030D-6E8A-4147-A177-3AD203B41FA5}">
                      <a16:colId xmlns:a16="http://schemas.microsoft.com/office/drawing/2014/main" val="2935161655"/>
                    </a:ext>
                  </a:extLst>
                </a:gridCol>
              </a:tblGrid>
              <a:tr h="399647">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63474"/>
                  </a:ext>
                </a:extLst>
              </a:tr>
              <a:tr h="399647">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258561"/>
                  </a:ext>
                </a:extLst>
              </a:tr>
              <a:tr h="399647">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10968482"/>
                  </a:ext>
                </a:extLst>
              </a:tr>
              <a:tr h="399647">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03711874"/>
                  </a:ext>
                </a:extLst>
              </a:tr>
              <a:tr h="399647">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250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1547982"/>
                  </a:ext>
                </a:extLst>
              </a:tr>
              <a:tr h="399647">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250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9375843"/>
                  </a:ext>
                </a:extLst>
              </a:tr>
              <a:tr h="399647">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1983287"/>
                  </a:ext>
                </a:extLst>
              </a:tr>
              <a:tr h="399647">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baseline="0" dirty="0">
                          <a:solidFill>
                            <a:schemeClr val="tx1"/>
                          </a:solidFill>
                        </a:rPr>
                        <a:t>255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7129695"/>
                  </a:ext>
                </a:extLst>
              </a:tr>
            </a:tbl>
          </a:graphicData>
        </a:graphic>
      </p:graphicFrame>
      <p:sp>
        <p:nvSpPr>
          <p:cNvPr id="8" name="Rectangle 7">
            <a:extLst>
              <a:ext uri="{FF2B5EF4-FFF2-40B4-BE49-F238E27FC236}">
                <a16:creationId xmlns:a16="http://schemas.microsoft.com/office/drawing/2014/main" id="{E1223BD0-55DC-5F83-AA7A-E173E9B7BEBB}"/>
              </a:ext>
            </a:extLst>
          </p:cNvPr>
          <p:cNvSpPr/>
          <p:nvPr/>
        </p:nvSpPr>
        <p:spPr>
          <a:xfrm>
            <a:off x="1860155" y="2225609"/>
            <a:ext cx="457200" cy="38576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F23CB21-B0C6-9254-6854-4BA16D1E661B}"/>
              </a:ext>
            </a:extLst>
          </p:cNvPr>
          <p:cNvSpPr/>
          <p:nvPr/>
        </p:nvSpPr>
        <p:spPr>
          <a:xfrm>
            <a:off x="2769675" y="3026360"/>
            <a:ext cx="457200" cy="38576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7AA9F81-507C-D954-FDE3-3D2A6B8F14C7}"/>
              </a:ext>
            </a:extLst>
          </p:cNvPr>
          <p:cNvSpPr/>
          <p:nvPr/>
        </p:nvSpPr>
        <p:spPr>
          <a:xfrm>
            <a:off x="2310189" y="2636180"/>
            <a:ext cx="457200" cy="38576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8B296E69-31DE-5CE4-D1B1-422B2F47A449}"/>
              </a:ext>
            </a:extLst>
          </p:cNvPr>
          <p:cNvSpPr txBox="1"/>
          <p:nvPr/>
        </p:nvSpPr>
        <p:spPr>
          <a:xfrm>
            <a:off x="1100138" y="5715000"/>
            <a:ext cx="1715213" cy="369332"/>
          </a:xfrm>
          <a:prstGeom prst="rect">
            <a:avLst/>
          </a:prstGeom>
          <a:noFill/>
        </p:spPr>
        <p:txBody>
          <a:bodyPr wrap="none" rtlCol="0">
            <a:spAutoFit/>
          </a:bodyPr>
          <a:lstStyle/>
          <a:p>
            <a:r>
              <a:rPr lang="en-US" dirty="0"/>
              <a:t>Input 8X8 image</a:t>
            </a:r>
          </a:p>
        </p:txBody>
      </p:sp>
      <p:sp>
        <p:nvSpPr>
          <p:cNvPr id="26" name="TextBox 25">
            <a:extLst>
              <a:ext uri="{FF2B5EF4-FFF2-40B4-BE49-F238E27FC236}">
                <a16:creationId xmlns:a16="http://schemas.microsoft.com/office/drawing/2014/main" id="{20723DF4-5065-C99F-61F1-2F2BDAB069E1}"/>
              </a:ext>
            </a:extLst>
          </p:cNvPr>
          <p:cNvSpPr txBox="1"/>
          <p:nvPr/>
        </p:nvSpPr>
        <p:spPr>
          <a:xfrm>
            <a:off x="7186613" y="5915025"/>
            <a:ext cx="3621184" cy="369332"/>
          </a:xfrm>
          <a:prstGeom prst="rect">
            <a:avLst/>
          </a:prstGeom>
          <a:noFill/>
        </p:spPr>
        <p:txBody>
          <a:bodyPr wrap="none" rtlCol="0">
            <a:spAutoFit/>
          </a:bodyPr>
          <a:lstStyle/>
          <a:p>
            <a:r>
              <a:rPr lang="en-US" dirty="0"/>
              <a:t>Pixel representation(not normalized)</a:t>
            </a:r>
          </a:p>
        </p:txBody>
      </p:sp>
      <p:sp>
        <p:nvSpPr>
          <p:cNvPr id="27" name="Right Arrow 26">
            <a:extLst>
              <a:ext uri="{FF2B5EF4-FFF2-40B4-BE49-F238E27FC236}">
                <a16:creationId xmlns:a16="http://schemas.microsoft.com/office/drawing/2014/main" id="{585743C6-6EF7-9AEC-DD7C-145B2A11280E}"/>
              </a:ext>
            </a:extLst>
          </p:cNvPr>
          <p:cNvSpPr/>
          <p:nvPr/>
        </p:nvSpPr>
        <p:spPr>
          <a:xfrm>
            <a:off x="4876023" y="3319475"/>
            <a:ext cx="1050349" cy="404814"/>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9F1E2D-643F-1915-7575-47CAC8EE881B}"/>
              </a:ext>
            </a:extLst>
          </p:cNvPr>
          <p:cNvSpPr/>
          <p:nvPr/>
        </p:nvSpPr>
        <p:spPr>
          <a:xfrm>
            <a:off x="880241" y="1815649"/>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B622637-B050-FA09-8E3B-CACE58B52283}"/>
              </a:ext>
            </a:extLst>
          </p:cNvPr>
          <p:cNvSpPr/>
          <p:nvPr/>
        </p:nvSpPr>
        <p:spPr>
          <a:xfrm>
            <a:off x="1357316" y="1815652"/>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87FC559-0A26-0B8F-115D-9A074789E34D}"/>
              </a:ext>
            </a:extLst>
          </p:cNvPr>
          <p:cNvSpPr/>
          <p:nvPr/>
        </p:nvSpPr>
        <p:spPr>
          <a:xfrm>
            <a:off x="1846372" y="1821156"/>
            <a:ext cx="457200" cy="385762"/>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018066E-D9F9-D3A4-1D58-F6AFEF8E9415}"/>
              </a:ext>
            </a:extLst>
          </p:cNvPr>
          <p:cNvSpPr/>
          <p:nvPr/>
        </p:nvSpPr>
        <p:spPr>
          <a:xfrm>
            <a:off x="2340676" y="1822487"/>
            <a:ext cx="457200" cy="385762"/>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11EC2F7-07D9-5B42-2D41-84ED1A9A12AA}"/>
              </a:ext>
            </a:extLst>
          </p:cNvPr>
          <p:cNvSpPr/>
          <p:nvPr/>
        </p:nvSpPr>
        <p:spPr>
          <a:xfrm>
            <a:off x="2829636" y="1816974"/>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F6B9982-88F9-CBC9-2C5B-5A857FE26850}"/>
              </a:ext>
            </a:extLst>
          </p:cNvPr>
          <p:cNvSpPr/>
          <p:nvPr/>
        </p:nvSpPr>
        <p:spPr>
          <a:xfrm>
            <a:off x="3306711" y="1816977"/>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84F8B89-CC27-7B2D-D02D-F4FC32564FC2}"/>
              </a:ext>
            </a:extLst>
          </p:cNvPr>
          <p:cNvSpPr/>
          <p:nvPr/>
        </p:nvSpPr>
        <p:spPr>
          <a:xfrm>
            <a:off x="3783794" y="1816974"/>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4D41DBE-3740-73E0-BF66-044A6773D58C}"/>
              </a:ext>
            </a:extLst>
          </p:cNvPr>
          <p:cNvSpPr/>
          <p:nvPr/>
        </p:nvSpPr>
        <p:spPr>
          <a:xfrm>
            <a:off x="4260869" y="1816977"/>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254A8CA-8801-B812-AA16-63C12C1DB9E0}"/>
              </a:ext>
            </a:extLst>
          </p:cNvPr>
          <p:cNvSpPr/>
          <p:nvPr/>
        </p:nvSpPr>
        <p:spPr>
          <a:xfrm>
            <a:off x="3240126" y="3409345"/>
            <a:ext cx="457200" cy="38576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EA58E63-7B9D-17C3-E4F8-7A881FE4AFAF}"/>
              </a:ext>
            </a:extLst>
          </p:cNvPr>
          <p:cNvSpPr/>
          <p:nvPr/>
        </p:nvSpPr>
        <p:spPr>
          <a:xfrm>
            <a:off x="3710581" y="3776429"/>
            <a:ext cx="457200" cy="38576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01C35FD-37E9-F04B-4172-51E8D34401E0}"/>
              </a:ext>
            </a:extLst>
          </p:cNvPr>
          <p:cNvSpPr/>
          <p:nvPr/>
        </p:nvSpPr>
        <p:spPr>
          <a:xfrm>
            <a:off x="4195608" y="4158088"/>
            <a:ext cx="457200" cy="385762"/>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4DC0862-E18E-2409-9555-BE192ED916E1}"/>
              </a:ext>
            </a:extLst>
          </p:cNvPr>
          <p:cNvSpPr/>
          <p:nvPr/>
        </p:nvSpPr>
        <p:spPr>
          <a:xfrm>
            <a:off x="2345930" y="2231770"/>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FFD2C884-E503-AB63-C0A7-FC7361286037}"/>
              </a:ext>
            </a:extLst>
          </p:cNvPr>
          <p:cNvSpPr/>
          <p:nvPr/>
        </p:nvSpPr>
        <p:spPr>
          <a:xfrm>
            <a:off x="2823005" y="2231773"/>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DF5EC181-8AF2-A22A-F1F6-F1F02B6ADFE7}"/>
              </a:ext>
            </a:extLst>
          </p:cNvPr>
          <p:cNvSpPr/>
          <p:nvPr/>
        </p:nvSpPr>
        <p:spPr>
          <a:xfrm>
            <a:off x="3300088" y="2231770"/>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C1D3EC9-F710-A6D9-E69E-78892B5E8508}"/>
              </a:ext>
            </a:extLst>
          </p:cNvPr>
          <p:cNvSpPr/>
          <p:nvPr/>
        </p:nvSpPr>
        <p:spPr>
          <a:xfrm>
            <a:off x="3777163" y="2231773"/>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AA318B5-7188-F7A1-0321-18C9E49B9F70}"/>
              </a:ext>
            </a:extLst>
          </p:cNvPr>
          <p:cNvSpPr/>
          <p:nvPr/>
        </p:nvSpPr>
        <p:spPr>
          <a:xfrm>
            <a:off x="4246296" y="2223815"/>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DBCA019-9C2E-0975-576A-07480856F72F}"/>
              </a:ext>
            </a:extLst>
          </p:cNvPr>
          <p:cNvSpPr/>
          <p:nvPr/>
        </p:nvSpPr>
        <p:spPr>
          <a:xfrm>
            <a:off x="2807106" y="2629335"/>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19069DC1-F6BD-91B5-BC4F-0AE6E2590D5D}"/>
              </a:ext>
            </a:extLst>
          </p:cNvPr>
          <p:cNvSpPr/>
          <p:nvPr/>
        </p:nvSpPr>
        <p:spPr>
          <a:xfrm>
            <a:off x="3284181" y="2629338"/>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1658D86-5BB4-22A2-26CB-5AA938717B97}"/>
              </a:ext>
            </a:extLst>
          </p:cNvPr>
          <p:cNvSpPr/>
          <p:nvPr/>
        </p:nvSpPr>
        <p:spPr>
          <a:xfrm>
            <a:off x="3761264" y="2629335"/>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E0E58600-F60B-4C9C-510B-FD4468BDA460}"/>
              </a:ext>
            </a:extLst>
          </p:cNvPr>
          <p:cNvSpPr/>
          <p:nvPr/>
        </p:nvSpPr>
        <p:spPr>
          <a:xfrm>
            <a:off x="4238339" y="2629338"/>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43A01BC8-B62E-716B-9E05-0FC584F0B2EC}"/>
              </a:ext>
            </a:extLst>
          </p:cNvPr>
          <p:cNvSpPr/>
          <p:nvPr/>
        </p:nvSpPr>
        <p:spPr>
          <a:xfrm>
            <a:off x="897467" y="2222490"/>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5EA80197-1E0F-DABF-54AB-222563FA73E7}"/>
              </a:ext>
            </a:extLst>
          </p:cNvPr>
          <p:cNvSpPr/>
          <p:nvPr/>
        </p:nvSpPr>
        <p:spPr>
          <a:xfrm>
            <a:off x="1374542" y="2222493"/>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80E5B7D1-364A-851D-D71E-0E16272ED468}"/>
              </a:ext>
            </a:extLst>
          </p:cNvPr>
          <p:cNvSpPr/>
          <p:nvPr/>
        </p:nvSpPr>
        <p:spPr>
          <a:xfrm>
            <a:off x="868313" y="2622713"/>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F209F5A-0491-FE2E-E8E0-64D5E0622BE1}"/>
              </a:ext>
            </a:extLst>
          </p:cNvPr>
          <p:cNvSpPr/>
          <p:nvPr/>
        </p:nvSpPr>
        <p:spPr>
          <a:xfrm>
            <a:off x="1345396" y="2622710"/>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2AA63FD-CD2A-A1AC-A677-96B1887FDD11}"/>
              </a:ext>
            </a:extLst>
          </p:cNvPr>
          <p:cNvSpPr/>
          <p:nvPr/>
        </p:nvSpPr>
        <p:spPr>
          <a:xfrm>
            <a:off x="1822471" y="2622713"/>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76A74F02-D5AB-3D6D-C203-3E090822776A}"/>
              </a:ext>
            </a:extLst>
          </p:cNvPr>
          <p:cNvSpPr/>
          <p:nvPr/>
        </p:nvSpPr>
        <p:spPr>
          <a:xfrm>
            <a:off x="841810" y="3017623"/>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8E8938AC-E369-AA0C-991B-86408C038D4D}"/>
              </a:ext>
            </a:extLst>
          </p:cNvPr>
          <p:cNvSpPr/>
          <p:nvPr/>
        </p:nvSpPr>
        <p:spPr>
          <a:xfrm>
            <a:off x="859036" y="3424464"/>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2BA048EC-7922-A0AE-0B51-F17A052FA120}"/>
              </a:ext>
            </a:extLst>
          </p:cNvPr>
          <p:cNvSpPr/>
          <p:nvPr/>
        </p:nvSpPr>
        <p:spPr>
          <a:xfrm>
            <a:off x="829882" y="3824687"/>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A6F9296F-16E0-2F2F-2EE3-2640A1ED39B4}"/>
              </a:ext>
            </a:extLst>
          </p:cNvPr>
          <p:cNvSpPr/>
          <p:nvPr/>
        </p:nvSpPr>
        <p:spPr>
          <a:xfrm>
            <a:off x="1318887" y="3017626"/>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55853B34-31A9-ED4D-7881-85B1AC334891}"/>
              </a:ext>
            </a:extLst>
          </p:cNvPr>
          <p:cNvSpPr/>
          <p:nvPr/>
        </p:nvSpPr>
        <p:spPr>
          <a:xfrm>
            <a:off x="1336113" y="3424467"/>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A784B8A7-3C0C-E4BB-E82E-13EA641B4B56}"/>
              </a:ext>
            </a:extLst>
          </p:cNvPr>
          <p:cNvSpPr/>
          <p:nvPr/>
        </p:nvSpPr>
        <p:spPr>
          <a:xfrm>
            <a:off x="1306967" y="3824684"/>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45184E96-474F-3DEC-BE97-2E2C5AB6F66D}"/>
              </a:ext>
            </a:extLst>
          </p:cNvPr>
          <p:cNvSpPr/>
          <p:nvPr/>
        </p:nvSpPr>
        <p:spPr>
          <a:xfrm>
            <a:off x="1795967" y="3025574"/>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2E2C682-8008-9E69-3256-2FFA87C009CC}"/>
              </a:ext>
            </a:extLst>
          </p:cNvPr>
          <p:cNvSpPr/>
          <p:nvPr/>
        </p:nvSpPr>
        <p:spPr>
          <a:xfrm>
            <a:off x="1813193" y="3432415"/>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FE1CEC1B-C5A2-FCBB-0E0A-C9D4D241170E}"/>
              </a:ext>
            </a:extLst>
          </p:cNvPr>
          <p:cNvSpPr/>
          <p:nvPr/>
        </p:nvSpPr>
        <p:spPr>
          <a:xfrm>
            <a:off x="1784047" y="3832632"/>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26A2F4AC-7EF9-05CA-889A-EF142988FA02}"/>
              </a:ext>
            </a:extLst>
          </p:cNvPr>
          <p:cNvSpPr/>
          <p:nvPr/>
        </p:nvSpPr>
        <p:spPr>
          <a:xfrm>
            <a:off x="2277024" y="3045459"/>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E4D6D788-44EF-6E8C-6630-7256F78DA8F9}"/>
              </a:ext>
            </a:extLst>
          </p:cNvPr>
          <p:cNvSpPr/>
          <p:nvPr/>
        </p:nvSpPr>
        <p:spPr>
          <a:xfrm>
            <a:off x="2266422" y="3448320"/>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6CFF533C-8543-0517-7CDC-82B0ED5FC9FD}"/>
              </a:ext>
            </a:extLst>
          </p:cNvPr>
          <p:cNvSpPr/>
          <p:nvPr/>
        </p:nvSpPr>
        <p:spPr>
          <a:xfrm>
            <a:off x="2267746" y="3831308"/>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45B0CBCA-72DF-F01A-6F23-06166C5AE7D2}"/>
              </a:ext>
            </a:extLst>
          </p:cNvPr>
          <p:cNvSpPr/>
          <p:nvPr/>
        </p:nvSpPr>
        <p:spPr>
          <a:xfrm>
            <a:off x="2238600" y="4223574"/>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7C399D05-D555-8B4A-E782-FC09DB9CA153}"/>
              </a:ext>
            </a:extLst>
          </p:cNvPr>
          <p:cNvSpPr/>
          <p:nvPr/>
        </p:nvSpPr>
        <p:spPr>
          <a:xfrm>
            <a:off x="4196938" y="4589225"/>
            <a:ext cx="457200" cy="38576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EB1E0928-749E-C51C-FD5B-9DB6789087AF}"/>
              </a:ext>
            </a:extLst>
          </p:cNvPr>
          <p:cNvSpPr/>
          <p:nvPr/>
        </p:nvSpPr>
        <p:spPr>
          <a:xfrm>
            <a:off x="2224024" y="4622464"/>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7AF4D8BD-ED14-80B9-82E1-E05F30B13466}"/>
              </a:ext>
            </a:extLst>
          </p:cNvPr>
          <p:cNvSpPr/>
          <p:nvPr/>
        </p:nvSpPr>
        <p:spPr>
          <a:xfrm>
            <a:off x="812650" y="4228867"/>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A0990B6F-A783-CEE5-00A6-C337F08DFBF8}"/>
              </a:ext>
            </a:extLst>
          </p:cNvPr>
          <p:cNvSpPr/>
          <p:nvPr/>
        </p:nvSpPr>
        <p:spPr>
          <a:xfrm>
            <a:off x="783496" y="4629090"/>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DE208D52-35D3-BE0C-92AE-4E5273503B69}"/>
              </a:ext>
            </a:extLst>
          </p:cNvPr>
          <p:cNvSpPr/>
          <p:nvPr/>
        </p:nvSpPr>
        <p:spPr>
          <a:xfrm>
            <a:off x="1289727" y="4228870"/>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25B25170-165D-29FE-A938-CF66234D386C}"/>
              </a:ext>
            </a:extLst>
          </p:cNvPr>
          <p:cNvSpPr/>
          <p:nvPr/>
        </p:nvSpPr>
        <p:spPr>
          <a:xfrm>
            <a:off x="1260581" y="4629087"/>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20E7D82D-EBE0-2A3F-AB5C-480CCD330593}"/>
              </a:ext>
            </a:extLst>
          </p:cNvPr>
          <p:cNvSpPr/>
          <p:nvPr/>
        </p:nvSpPr>
        <p:spPr>
          <a:xfrm>
            <a:off x="1766807" y="4236818"/>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D46C75A5-318E-7A26-3C2A-E2D6C44FCA96}"/>
              </a:ext>
            </a:extLst>
          </p:cNvPr>
          <p:cNvSpPr/>
          <p:nvPr/>
        </p:nvSpPr>
        <p:spPr>
          <a:xfrm>
            <a:off x="1737661" y="4637035"/>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1D836BA8-0F01-17B0-0CD6-034D75BBF49B}"/>
              </a:ext>
            </a:extLst>
          </p:cNvPr>
          <p:cNvSpPr/>
          <p:nvPr/>
        </p:nvSpPr>
        <p:spPr>
          <a:xfrm>
            <a:off x="2744826" y="3425792"/>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22F4A0D0-31B5-F223-1FA3-B8CCBB772619}"/>
              </a:ext>
            </a:extLst>
          </p:cNvPr>
          <p:cNvSpPr/>
          <p:nvPr/>
        </p:nvSpPr>
        <p:spPr>
          <a:xfrm>
            <a:off x="2746150" y="3808780"/>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685C850D-C987-DB98-8711-483C88192139}"/>
              </a:ext>
            </a:extLst>
          </p:cNvPr>
          <p:cNvSpPr/>
          <p:nvPr/>
        </p:nvSpPr>
        <p:spPr>
          <a:xfrm>
            <a:off x="2717004" y="4201046"/>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56385284-01BD-6A26-E029-D2FD5E51BB24}"/>
              </a:ext>
            </a:extLst>
          </p:cNvPr>
          <p:cNvSpPr/>
          <p:nvPr/>
        </p:nvSpPr>
        <p:spPr>
          <a:xfrm>
            <a:off x="2702428" y="4608325"/>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AF8E6799-DE82-A382-86DA-E218583C6188}"/>
              </a:ext>
            </a:extLst>
          </p:cNvPr>
          <p:cNvSpPr/>
          <p:nvPr/>
        </p:nvSpPr>
        <p:spPr>
          <a:xfrm>
            <a:off x="3224556" y="3802154"/>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3AE4E794-9FA4-F242-E94A-D011BF60DAAB}"/>
              </a:ext>
            </a:extLst>
          </p:cNvPr>
          <p:cNvSpPr/>
          <p:nvPr/>
        </p:nvSpPr>
        <p:spPr>
          <a:xfrm>
            <a:off x="3195410" y="4194420"/>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C6860BE7-6AF5-9B8E-1F42-1F49FF1AFF55}"/>
              </a:ext>
            </a:extLst>
          </p:cNvPr>
          <p:cNvSpPr/>
          <p:nvPr/>
        </p:nvSpPr>
        <p:spPr>
          <a:xfrm>
            <a:off x="3180834" y="4610088"/>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B3513413-D9C4-EAD9-A357-E3773A2B9FE6}"/>
              </a:ext>
            </a:extLst>
          </p:cNvPr>
          <p:cNvSpPr/>
          <p:nvPr/>
        </p:nvSpPr>
        <p:spPr>
          <a:xfrm>
            <a:off x="3253704" y="3028230"/>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FA68E8C2-0E05-0BAD-F452-DC82954DFDDE}"/>
              </a:ext>
            </a:extLst>
          </p:cNvPr>
          <p:cNvSpPr/>
          <p:nvPr/>
        </p:nvSpPr>
        <p:spPr>
          <a:xfrm>
            <a:off x="3730787" y="3028227"/>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B8ED8C1E-3E90-1B48-CCE0-92F5B566CA00}"/>
              </a:ext>
            </a:extLst>
          </p:cNvPr>
          <p:cNvSpPr/>
          <p:nvPr/>
        </p:nvSpPr>
        <p:spPr>
          <a:xfrm>
            <a:off x="4207862" y="3028230"/>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71E90C4A-F20D-66B2-4C4E-DB05D9587AEB}"/>
              </a:ext>
            </a:extLst>
          </p:cNvPr>
          <p:cNvSpPr/>
          <p:nvPr/>
        </p:nvSpPr>
        <p:spPr>
          <a:xfrm>
            <a:off x="3717085" y="3387360"/>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42EEB1A4-C65E-0CE7-38C2-011D8215ED64}"/>
              </a:ext>
            </a:extLst>
          </p:cNvPr>
          <p:cNvSpPr/>
          <p:nvPr/>
        </p:nvSpPr>
        <p:spPr>
          <a:xfrm>
            <a:off x="4202549" y="3387363"/>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1B253877-8783-2A19-5A03-F98EE7D8D9A5}"/>
              </a:ext>
            </a:extLst>
          </p:cNvPr>
          <p:cNvSpPr/>
          <p:nvPr/>
        </p:nvSpPr>
        <p:spPr>
          <a:xfrm>
            <a:off x="4194609" y="3786252"/>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BC7E5CA6-316B-460A-A722-E15F6089DF1C}"/>
              </a:ext>
            </a:extLst>
          </p:cNvPr>
          <p:cNvSpPr/>
          <p:nvPr/>
        </p:nvSpPr>
        <p:spPr>
          <a:xfrm>
            <a:off x="3705618" y="4179845"/>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5DCF687A-95F5-1742-A911-3A7CF097F44F}"/>
              </a:ext>
            </a:extLst>
          </p:cNvPr>
          <p:cNvSpPr/>
          <p:nvPr/>
        </p:nvSpPr>
        <p:spPr>
          <a:xfrm>
            <a:off x="3691042" y="4595513"/>
            <a:ext cx="457200" cy="385762"/>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1844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1514"/>
            <a:ext cx="10515600" cy="489857"/>
          </a:xfrm>
        </p:spPr>
        <p:txBody>
          <a:bodyPr>
            <a:normAutofit/>
          </a:bodyPr>
          <a:lstStyle/>
          <a:p>
            <a:r>
              <a:rPr lang="en-US" sz="2800" b="1" dirty="0"/>
              <a:t>Key Components of a CNN(p2): Convolution layers</a:t>
            </a:r>
            <a:endParaRPr lang="en-US" sz="2800" dirty="0"/>
          </a:p>
        </p:txBody>
      </p:sp>
      <p:sp>
        <p:nvSpPr>
          <p:cNvPr id="6" name="TextBox 5"/>
          <p:cNvSpPr txBox="1"/>
          <p:nvPr/>
        </p:nvSpPr>
        <p:spPr>
          <a:xfrm>
            <a:off x="348343" y="664026"/>
            <a:ext cx="11571514" cy="2862322"/>
          </a:xfrm>
          <a:prstGeom prst="rect">
            <a:avLst/>
          </a:prstGeom>
          <a:noFill/>
        </p:spPr>
        <p:txBody>
          <a:bodyPr wrap="square" rtlCol="0">
            <a:spAutoFit/>
          </a:bodyPr>
          <a:lstStyle/>
          <a:p>
            <a:r>
              <a:rPr lang="en-US" b="1" dirty="0"/>
              <a:t>Convolution layers</a:t>
            </a:r>
          </a:p>
          <a:p>
            <a:pPr marL="285750" indent="-285750">
              <a:buFont typeface="Arial" panose="020B0604020202020204" pitchFamily="34" charset="0"/>
              <a:buChar char="•"/>
            </a:pPr>
            <a:r>
              <a:rPr lang="en-US" dirty="0"/>
              <a:t>This is the </a:t>
            </a:r>
            <a:r>
              <a:rPr lang="en-US" b="1" dirty="0"/>
              <a:t>first building block </a:t>
            </a:r>
            <a:r>
              <a:rPr lang="en-US" dirty="0"/>
              <a:t>of a CNN. Main mathematical task performed is called convolution, which is the application of a sliding window function to a matrix of pixels representing an image. The sliding function applied to the matrix is called </a:t>
            </a:r>
            <a:r>
              <a:rPr lang="en-US" b="1" dirty="0"/>
              <a:t>kernel</a:t>
            </a:r>
            <a:r>
              <a:rPr lang="en-US" dirty="0"/>
              <a:t> aka </a:t>
            </a:r>
            <a:r>
              <a:rPr lang="en-US" b="1" dirty="0"/>
              <a:t>filter </a:t>
            </a:r>
            <a:r>
              <a:rPr lang="en-US" dirty="0"/>
              <a:t>aka </a:t>
            </a:r>
            <a:r>
              <a:rPr lang="en-US" b="1" dirty="0"/>
              <a:t>feature detector. </a:t>
            </a:r>
            <a:endParaRPr lang="en-US" dirty="0"/>
          </a:p>
          <a:p>
            <a:pPr marL="285750" indent="-285750">
              <a:buFont typeface="Arial" panose="020B0604020202020204" pitchFamily="34" charset="0"/>
              <a:buChar char="•"/>
            </a:pPr>
            <a:r>
              <a:rPr lang="en-US" b="1" dirty="0"/>
              <a:t>In the convolution layer, several filters of equal size are applied, and each filter is used to recognize a specific pattern from the image, such as the curving of the digits, the edges, the whole shape of the digits, and more</a:t>
            </a:r>
            <a:r>
              <a:rPr lang="en-US" dirty="0"/>
              <a:t>.</a:t>
            </a:r>
          </a:p>
          <a:p>
            <a:r>
              <a:rPr lang="en-US" dirty="0"/>
              <a:t>In other words, in the convolution layer, we use small grids (called </a:t>
            </a:r>
            <a:r>
              <a:rPr lang="en-US" b="1" dirty="0"/>
              <a:t>filters or kernels</a:t>
            </a:r>
            <a:r>
              <a:rPr lang="en-US" dirty="0"/>
              <a:t>) that move over the image. Each small grid is like a mini magnifying glass that looks for specific patterns in the photo, like lines, curves, or shapes. As it moves across the photo, it creates a new grid that highlights where it found these patterns.</a:t>
            </a:r>
          </a:p>
          <a:p>
            <a:pPr marL="285750" indent="-285750">
              <a:buFont typeface="Arial" panose="020B0604020202020204" pitchFamily="34" charset="0"/>
              <a:buChar char="•"/>
            </a:pPr>
            <a:r>
              <a:rPr lang="en-US" dirty="0"/>
              <a:t>The kernels can be </a:t>
            </a:r>
            <a:r>
              <a:rPr lang="en-US" b="1" dirty="0"/>
              <a:t>square/rectangular matrix</a:t>
            </a:r>
          </a:p>
        </p:txBody>
      </p:sp>
      <p:sp>
        <p:nvSpPr>
          <p:cNvPr id="3" name="TextBox 2"/>
          <p:cNvSpPr txBox="1"/>
          <p:nvPr/>
        </p:nvSpPr>
        <p:spPr>
          <a:xfrm>
            <a:off x="328614" y="3629023"/>
            <a:ext cx="5186362" cy="2862322"/>
          </a:xfrm>
          <a:prstGeom prst="rect">
            <a:avLst/>
          </a:prstGeom>
          <a:noFill/>
        </p:spPr>
        <p:txBody>
          <a:bodyPr wrap="square" rtlCol="0">
            <a:spAutoFit/>
          </a:bodyPr>
          <a:lstStyle/>
          <a:p>
            <a:endParaRPr lang="en-US" dirty="0"/>
          </a:p>
          <a:p>
            <a:r>
              <a:rPr lang="en-US" dirty="0"/>
              <a:t>For example, one filter might be good at </a:t>
            </a:r>
            <a:r>
              <a:rPr lang="en-US" b="1" dirty="0"/>
              <a:t>finding straight lines, another might find curves, and so on</a:t>
            </a:r>
            <a:r>
              <a:rPr lang="en-US" dirty="0"/>
              <a:t>. By using several different filters, the CNN can get a good idea of all the different patterns that make up the image.</a:t>
            </a:r>
          </a:p>
          <a:p>
            <a:endParaRPr lang="en-US" dirty="0"/>
          </a:p>
          <a:p>
            <a:r>
              <a:rPr lang="en-US" dirty="0"/>
              <a:t>Let’s consider this 8X8 grayscale image. The values in the matrix are given for illustration purposes.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p:blipFill>
        <p:spPr>
          <a:xfrm>
            <a:off x="5400675" y="4084449"/>
            <a:ext cx="6162683" cy="2046405"/>
          </a:xfrm>
          <a:prstGeom prst="rect">
            <a:avLst/>
          </a:prstGeom>
        </p:spPr>
      </p:pic>
    </p:spTree>
    <p:extLst>
      <p:ext uri="{BB962C8B-B14F-4D97-AF65-F5344CB8AC3E}">
        <p14:creationId xmlns:p14="http://schemas.microsoft.com/office/powerpoint/2010/main" val="2747477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1514"/>
            <a:ext cx="10515600" cy="489857"/>
          </a:xfrm>
        </p:spPr>
        <p:txBody>
          <a:bodyPr>
            <a:normAutofit/>
          </a:bodyPr>
          <a:lstStyle/>
          <a:p>
            <a:r>
              <a:rPr lang="en-US" sz="2800" b="1" dirty="0"/>
              <a:t>Key Components of a CNN(p3): Convolution layers</a:t>
            </a:r>
            <a:endParaRPr lang="en-US" sz="2800" dirty="0"/>
          </a:p>
        </p:txBody>
      </p:sp>
      <p:sp>
        <p:nvSpPr>
          <p:cNvPr id="6" name="TextBox 5"/>
          <p:cNvSpPr txBox="1"/>
          <p:nvPr/>
        </p:nvSpPr>
        <p:spPr>
          <a:xfrm>
            <a:off x="348343" y="664025"/>
            <a:ext cx="11324501" cy="707886"/>
          </a:xfrm>
          <a:prstGeom prst="rect">
            <a:avLst/>
          </a:prstGeom>
          <a:noFill/>
        </p:spPr>
        <p:txBody>
          <a:bodyPr wrap="square" rtlCol="0">
            <a:spAutoFit/>
          </a:bodyPr>
          <a:lstStyle/>
          <a:p>
            <a:r>
              <a:rPr lang="en-US" sz="2000" dirty="0"/>
              <a:t>Let’s consider the kernel used for the convolution. Say, it is a matrix with a dimension of 3x3. The weights of each element of the kernel is represented in the grid. </a:t>
            </a:r>
          </a:p>
        </p:txBody>
      </p:sp>
      <p:sp>
        <p:nvSpPr>
          <p:cNvPr id="4" name="TextBox 3"/>
          <p:cNvSpPr txBox="1"/>
          <p:nvPr/>
        </p:nvSpPr>
        <p:spPr>
          <a:xfrm>
            <a:off x="10959220" y="6530726"/>
            <a:ext cx="1180067" cy="307777"/>
          </a:xfrm>
          <a:prstGeom prst="rect">
            <a:avLst/>
          </a:prstGeom>
          <a:noFill/>
        </p:spPr>
        <p:txBody>
          <a:bodyPr wrap="none" rtlCol="0">
            <a:spAutoFit/>
          </a:bodyPr>
          <a:lstStyle/>
          <a:p>
            <a:r>
              <a:rPr lang="en-US" sz="1400" b="1" dirty="0"/>
              <a:t>Continued…..</a:t>
            </a:r>
          </a:p>
        </p:txBody>
      </p:sp>
      <p:sp>
        <p:nvSpPr>
          <p:cNvPr id="7" name="TextBox 6"/>
          <p:cNvSpPr txBox="1"/>
          <p:nvPr/>
        </p:nvSpPr>
        <p:spPr>
          <a:xfrm>
            <a:off x="185737" y="1628771"/>
            <a:ext cx="5529261" cy="5078313"/>
          </a:xfrm>
          <a:prstGeom prst="rect">
            <a:avLst/>
          </a:prstGeom>
          <a:noFill/>
        </p:spPr>
        <p:txBody>
          <a:bodyPr wrap="square" rtlCol="0">
            <a:spAutoFit/>
          </a:bodyPr>
          <a:lstStyle/>
          <a:p>
            <a:r>
              <a:rPr lang="en-US" dirty="0"/>
              <a:t>Using these two matrices (image and kernel), we perform the convolution operation by applying the dot product, and work as follows:</a:t>
            </a:r>
          </a:p>
          <a:p>
            <a:pPr marL="342900" indent="-342900">
              <a:buFont typeface="+mj-lt"/>
              <a:buAutoNum type="arabicPeriod"/>
            </a:pPr>
            <a:r>
              <a:rPr lang="en-US" dirty="0"/>
              <a:t>Apply the kernel matrix from the top-left corner to the right.</a:t>
            </a:r>
          </a:p>
          <a:p>
            <a:pPr marL="342900" indent="-342900">
              <a:buFont typeface="+mj-lt"/>
              <a:buAutoNum type="arabicPeriod"/>
            </a:pPr>
            <a:endParaRPr lang="en-US" dirty="0"/>
          </a:p>
          <a:p>
            <a:pPr marL="342900" indent="-342900">
              <a:buFont typeface="+mj-lt"/>
              <a:buAutoNum type="arabicPeriod"/>
            </a:pPr>
            <a:r>
              <a:rPr lang="en-US" dirty="0"/>
              <a:t>Perform element-wise multiplication.</a:t>
            </a:r>
          </a:p>
          <a:p>
            <a:pPr marL="342900" indent="-342900">
              <a:buFont typeface="+mj-lt"/>
              <a:buAutoNum type="arabicPeriod"/>
            </a:pPr>
            <a:endParaRPr lang="en-US" dirty="0"/>
          </a:p>
          <a:p>
            <a:pPr marL="342900" indent="-342900">
              <a:buFont typeface="+mj-lt"/>
              <a:buAutoNum type="arabicPeriod"/>
            </a:pPr>
            <a:r>
              <a:rPr lang="en-US" dirty="0"/>
              <a:t>Sum the values of the products.</a:t>
            </a:r>
          </a:p>
          <a:p>
            <a:pPr marL="342900" indent="-342900">
              <a:buFont typeface="+mj-lt"/>
              <a:buAutoNum type="arabicPeriod"/>
            </a:pPr>
            <a:endParaRPr lang="en-US" dirty="0"/>
          </a:p>
          <a:p>
            <a:pPr marL="342900" indent="-342900">
              <a:buFont typeface="+mj-lt"/>
              <a:buAutoNum type="arabicPeriod"/>
            </a:pPr>
            <a:r>
              <a:rPr lang="en-US" dirty="0"/>
              <a:t>The resulting value corresponds to the first value (top-left corner) in the convoluted matrix.</a:t>
            </a:r>
          </a:p>
          <a:p>
            <a:pPr marL="342900" indent="-342900">
              <a:buFont typeface="+mj-lt"/>
              <a:buAutoNum type="arabicPeriod"/>
            </a:pPr>
            <a:endParaRPr lang="en-US" dirty="0"/>
          </a:p>
          <a:p>
            <a:pPr marL="342900" indent="-342900">
              <a:buFont typeface="+mj-lt"/>
              <a:buAutoNum type="arabicPeriod"/>
            </a:pPr>
            <a:r>
              <a:rPr lang="en-US" dirty="0"/>
              <a:t>Move the kernel down with respect to the size of the sliding window.</a:t>
            </a:r>
          </a:p>
          <a:p>
            <a:r>
              <a:rPr lang="en-US" dirty="0"/>
              <a:t>Repeat steps 1 to 5 until the image matrix is fully covered.</a:t>
            </a:r>
          </a:p>
          <a:p>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3317276153"/>
              </p:ext>
            </p:extLst>
          </p:nvPr>
        </p:nvGraphicFramePr>
        <p:xfrm>
          <a:off x="6438910" y="3174679"/>
          <a:ext cx="1476380" cy="1463040"/>
        </p:xfrm>
        <a:graphic>
          <a:graphicData uri="http://schemas.openxmlformats.org/drawingml/2006/table">
            <a:tbl>
              <a:tblPr firstRow="1" bandRow="1">
                <a:tableStyleId>{5C22544A-7EE6-4342-B048-85BDC9FD1C3A}</a:tableStyleId>
              </a:tblPr>
              <a:tblGrid>
                <a:gridCol w="369095">
                  <a:extLst>
                    <a:ext uri="{9D8B030D-6E8A-4147-A177-3AD203B41FA5}">
                      <a16:colId xmlns:a16="http://schemas.microsoft.com/office/drawing/2014/main" val="1389518616"/>
                    </a:ext>
                  </a:extLst>
                </a:gridCol>
                <a:gridCol w="369095">
                  <a:extLst>
                    <a:ext uri="{9D8B030D-6E8A-4147-A177-3AD203B41FA5}">
                      <a16:colId xmlns:a16="http://schemas.microsoft.com/office/drawing/2014/main" val="1459470418"/>
                    </a:ext>
                  </a:extLst>
                </a:gridCol>
                <a:gridCol w="369095">
                  <a:extLst>
                    <a:ext uri="{9D8B030D-6E8A-4147-A177-3AD203B41FA5}">
                      <a16:colId xmlns:a16="http://schemas.microsoft.com/office/drawing/2014/main" val="2958559927"/>
                    </a:ext>
                  </a:extLst>
                </a:gridCol>
                <a:gridCol w="369095">
                  <a:extLst>
                    <a:ext uri="{9D8B030D-6E8A-4147-A177-3AD203B41FA5}">
                      <a16:colId xmlns:a16="http://schemas.microsoft.com/office/drawing/2014/main" val="2057754161"/>
                    </a:ext>
                  </a:extLst>
                </a:gridCol>
              </a:tblGrid>
              <a:tr h="34504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884835"/>
                  </a:ext>
                </a:extLst>
              </a:tr>
              <a:tr h="345045">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9202877"/>
                  </a:ext>
                </a:extLst>
              </a:tr>
              <a:tr h="345045">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2148794"/>
                  </a:ext>
                </a:extLst>
              </a:tr>
              <a:tr h="345045">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6644913"/>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4143114280"/>
              </p:ext>
            </p:extLst>
          </p:nvPr>
        </p:nvGraphicFramePr>
        <p:xfrm>
          <a:off x="8815384" y="3357562"/>
          <a:ext cx="1343034" cy="1097280"/>
        </p:xfrm>
        <a:graphic>
          <a:graphicData uri="http://schemas.openxmlformats.org/drawingml/2006/table">
            <a:tbl>
              <a:tblPr firstRow="1" bandRow="1">
                <a:tableStyleId>{5C22544A-7EE6-4342-B048-85BDC9FD1C3A}</a:tableStyleId>
              </a:tblPr>
              <a:tblGrid>
                <a:gridCol w="447678">
                  <a:extLst>
                    <a:ext uri="{9D8B030D-6E8A-4147-A177-3AD203B41FA5}">
                      <a16:colId xmlns:a16="http://schemas.microsoft.com/office/drawing/2014/main" val="2688234979"/>
                    </a:ext>
                  </a:extLst>
                </a:gridCol>
                <a:gridCol w="447678">
                  <a:extLst>
                    <a:ext uri="{9D8B030D-6E8A-4147-A177-3AD203B41FA5}">
                      <a16:colId xmlns:a16="http://schemas.microsoft.com/office/drawing/2014/main" val="204007461"/>
                    </a:ext>
                  </a:extLst>
                </a:gridCol>
                <a:gridCol w="447678">
                  <a:extLst>
                    <a:ext uri="{9D8B030D-6E8A-4147-A177-3AD203B41FA5}">
                      <a16:colId xmlns:a16="http://schemas.microsoft.com/office/drawing/2014/main" val="3220544073"/>
                    </a:ext>
                  </a:extLst>
                </a:gridCol>
              </a:tblGrid>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125"/>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4496929"/>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63455"/>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809725339"/>
              </p:ext>
            </p:extLst>
          </p:nvPr>
        </p:nvGraphicFramePr>
        <p:xfrm>
          <a:off x="11044234" y="3428997"/>
          <a:ext cx="885820" cy="731520"/>
        </p:xfrm>
        <a:graphic>
          <a:graphicData uri="http://schemas.openxmlformats.org/drawingml/2006/table">
            <a:tbl>
              <a:tblPr firstRow="1" bandRow="1">
                <a:tableStyleId>{5C22544A-7EE6-4342-B048-85BDC9FD1C3A}</a:tableStyleId>
              </a:tblPr>
              <a:tblGrid>
                <a:gridCol w="442910">
                  <a:extLst>
                    <a:ext uri="{9D8B030D-6E8A-4147-A177-3AD203B41FA5}">
                      <a16:colId xmlns:a16="http://schemas.microsoft.com/office/drawing/2014/main" val="91243122"/>
                    </a:ext>
                  </a:extLst>
                </a:gridCol>
                <a:gridCol w="442910">
                  <a:extLst>
                    <a:ext uri="{9D8B030D-6E8A-4147-A177-3AD203B41FA5}">
                      <a16:colId xmlns:a16="http://schemas.microsoft.com/office/drawing/2014/main" val="1364105988"/>
                    </a:ext>
                  </a:extLst>
                </a:gridCol>
              </a:tblGrid>
              <a:tr h="301466">
                <a:tc>
                  <a:txBody>
                    <a:bodyPr/>
                    <a:lstStyle/>
                    <a:p>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2192730"/>
                  </a:ext>
                </a:extLst>
              </a:tr>
              <a:tr h="301466">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50524"/>
                  </a:ext>
                </a:extLst>
              </a:tr>
            </a:tbl>
          </a:graphicData>
        </a:graphic>
      </p:graphicFrame>
      <p:sp>
        <p:nvSpPr>
          <p:cNvPr id="11" name="Flowchart: Summing Junction 10"/>
          <p:cNvSpPr/>
          <p:nvPr/>
        </p:nvSpPr>
        <p:spPr>
          <a:xfrm>
            <a:off x="8243903" y="3657604"/>
            <a:ext cx="285750" cy="285750"/>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10329869" y="3657604"/>
            <a:ext cx="5143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0144128" y="5129213"/>
            <a:ext cx="1914307" cy="1200329"/>
          </a:xfrm>
          <a:prstGeom prst="rect">
            <a:avLst/>
          </a:prstGeom>
          <a:noFill/>
        </p:spPr>
        <p:txBody>
          <a:bodyPr wrap="none" rtlCol="0">
            <a:spAutoFit/>
          </a:bodyPr>
          <a:lstStyle/>
          <a:p>
            <a:r>
              <a:rPr lang="en-US" dirty="0"/>
              <a:t>1*1 + 2*0 + 3*-1 +</a:t>
            </a:r>
          </a:p>
          <a:p>
            <a:r>
              <a:rPr lang="en-US" dirty="0"/>
              <a:t>4*1 + 2*0 + 0*-1 +</a:t>
            </a:r>
          </a:p>
          <a:p>
            <a:r>
              <a:rPr lang="en-US" dirty="0"/>
              <a:t>9*1 + 5*0 + 0*-1 </a:t>
            </a:r>
          </a:p>
          <a:p>
            <a:r>
              <a:rPr lang="en-US" dirty="0"/>
              <a:t>= 11</a:t>
            </a:r>
          </a:p>
        </p:txBody>
      </p:sp>
      <p:sp>
        <p:nvSpPr>
          <p:cNvPr id="3" name="TextBox 2">
            <a:extLst>
              <a:ext uri="{FF2B5EF4-FFF2-40B4-BE49-F238E27FC236}">
                <a16:creationId xmlns:a16="http://schemas.microsoft.com/office/drawing/2014/main" id="{55142AD4-1105-83CD-AF88-1E87E6385D43}"/>
              </a:ext>
            </a:extLst>
          </p:cNvPr>
          <p:cNvSpPr txBox="1"/>
          <p:nvPr/>
        </p:nvSpPr>
        <p:spPr>
          <a:xfrm>
            <a:off x="6702950" y="2798861"/>
            <a:ext cx="764055" cy="369332"/>
          </a:xfrm>
          <a:prstGeom prst="rect">
            <a:avLst/>
          </a:prstGeom>
          <a:noFill/>
        </p:spPr>
        <p:txBody>
          <a:bodyPr wrap="none" rtlCol="0">
            <a:spAutoFit/>
          </a:bodyPr>
          <a:lstStyle/>
          <a:p>
            <a:r>
              <a:rPr lang="en-US" b="1" dirty="0"/>
              <a:t>image</a:t>
            </a:r>
            <a:endParaRPr lang="en-IN" b="1" dirty="0"/>
          </a:p>
        </p:txBody>
      </p:sp>
      <p:sp>
        <p:nvSpPr>
          <p:cNvPr id="5" name="TextBox 4">
            <a:extLst>
              <a:ext uri="{FF2B5EF4-FFF2-40B4-BE49-F238E27FC236}">
                <a16:creationId xmlns:a16="http://schemas.microsoft.com/office/drawing/2014/main" id="{20B4FDC6-C66C-F257-C72A-8AFEC7DF2225}"/>
              </a:ext>
            </a:extLst>
          </p:cNvPr>
          <p:cNvSpPr txBox="1"/>
          <p:nvPr/>
        </p:nvSpPr>
        <p:spPr>
          <a:xfrm>
            <a:off x="8984974" y="3005595"/>
            <a:ext cx="781111" cy="369332"/>
          </a:xfrm>
          <a:prstGeom prst="rect">
            <a:avLst/>
          </a:prstGeom>
          <a:noFill/>
        </p:spPr>
        <p:txBody>
          <a:bodyPr wrap="none" rtlCol="0">
            <a:spAutoFit/>
          </a:bodyPr>
          <a:lstStyle/>
          <a:p>
            <a:r>
              <a:rPr lang="en-US" b="1" dirty="0"/>
              <a:t>kernel</a:t>
            </a:r>
            <a:endParaRPr lang="en-IN" b="1" dirty="0"/>
          </a:p>
        </p:txBody>
      </p:sp>
    </p:spTree>
    <p:extLst>
      <p:ext uri="{BB962C8B-B14F-4D97-AF65-F5344CB8AC3E}">
        <p14:creationId xmlns:p14="http://schemas.microsoft.com/office/powerpoint/2010/main" val="60468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228610650"/>
              </p:ext>
            </p:extLst>
          </p:nvPr>
        </p:nvGraphicFramePr>
        <p:xfrm>
          <a:off x="280982" y="388613"/>
          <a:ext cx="1476380" cy="1463040"/>
        </p:xfrm>
        <a:graphic>
          <a:graphicData uri="http://schemas.openxmlformats.org/drawingml/2006/table">
            <a:tbl>
              <a:tblPr firstRow="1" bandRow="1">
                <a:tableStyleId>{5C22544A-7EE6-4342-B048-85BDC9FD1C3A}</a:tableStyleId>
              </a:tblPr>
              <a:tblGrid>
                <a:gridCol w="369095">
                  <a:extLst>
                    <a:ext uri="{9D8B030D-6E8A-4147-A177-3AD203B41FA5}">
                      <a16:colId xmlns:a16="http://schemas.microsoft.com/office/drawing/2014/main" val="1389518616"/>
                    </a:ext>
                  </a:extLst>
                </a:gridCol>
                <a:gridCol w="369095">
                  <a:extLst>
                    <a:ext uri="{9D8B030D-6E8A-4147-A177-3AD203B41FA5}">
                      <a16:colId xmlns:a16="http://schemas.microsoft.com/office/drawing/2014/main" val="1459470418"/>
                    </a:ext>
                  </a:extLst>
                </a:gridCol>
                <a:gridCol w="369095">
                  <a:extLst>
                    <a:ext uri="{9D8B030D-6E8A-4147-A177-3AD203B41FA5}">
                      <a16:colId xmlns:a16="http://schemas.microsoft.com/office/drawing/2014/main" val="2958559927"/>
                    </a:ext>
                  </a:extLst>
                </a:gridCol>
                <a:gridCol w="369095">
                  <a:extLst>
                    <a:ext uri="{9D8B030D-6E8A-4147-A177-3AD203B41FA5}">
                      <a16:colId xmlns:a16="http://schemas.microsoft.com/office/drawing/2014/main" val="2057754161"/>
                    </a:ext>
                  </a:extLst>
                </a:gridCol>
              </a:tblGrid>
              <a:tr h="34504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884835"/>
                  </a:ext>
                </a:extLst>
              </a:tr>
              <a:tr h="345045">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9202877"/>
                  </a:ext>
                </a:extLst>
              </a:tr>
              <a:tr h="345045">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2148794"/>
                  </a:ext>
                </a:extLst>
              </a:tr>
              <a:tr h="345045">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6644913"/>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679111867"/>
              </p:ext>
            </p:extLst>
          </p:nvPr>
        </p:nvGraphicFramePr>
        <p:xfrm>
          <a:off x="2657456" y="571496"/>
          <a:ext cx="1343034" cy="1097280"/>
        </p:xfrm>
        <a:graphic>
          <a:graphicData uri="http://schemas.openxmlformats.org/drawingml/2006/table">
            <a:tbl>
              <a:tblPr firstRow="1" bandRow="1">
                <a:tableStyleId>{5C22544A-7EE6-4342-B048-85BDC9FD1C3A}</a:tableStyleId>
              </a:tblPr>
              <a:tblGrid>
                <a:gridCol w="447678">
                  <a:extLst>
                    <a:ext uri="{9D8B030D-6E8A-4147-A177-3AD203B41FA5}">
                      <a16:colId xmlns:a16="http://schemas.microsoft.com/office/drawing/2014/main" val="2688234979"/>
                    </a:ext>
                  </a:extLst>
                </a:gridCol>
                <a:gridCol w="447678">
                  <a:extLst>
                    <a:ext uri="{9D8B030D-6E8A-4147-A177-3AD203B41FA5}">
                      <a16:colId xmlns:a16="http://schemas.microsoft.com/office/drawing/2014/main" val="204007461"/>
                    </a:ext>
                  </a:extLst>
                </a:gridCol>
                <a:gridCol w="447678">
                  <a:extLst>
                    <a:ext uri="{9D8B030D-6E8A-4147-A177-3AD203B41FA5}">
                      <a16:colId xmlns:a16="http://schemas.microsoft.com/office/drawing/2014/main" val="3220544073"/>
                    </a:ext>
                  </a:extLst>
                </a:gridCol>
              </a:tblGrid>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125"/>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4496929"/>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63455"/>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295711511"/>
              </p:ext>
            </p:extLst>
          </p:nvPr>
        </p:nvGraphicFramePr>
        <p:xfrm>
          <a:off x="4886306" y="642931"/>
          <a:ext cx="885820" cy="731520"/>
        </p:xfrm>
        <a:graphic>
          <a:graphicData uri="http://schemas.openxmlformats.org/drawingml/2006/table">
            <a:tbl>
              <a:tblPr firstRow="1" bandRow="1">
                <a:tableStyleId>{5C22544A-7EE6-4342-B048-85BDC9FD1C3A}</a:tableStyleId>
              </a:tblPr>
              <a:tblGrid>
                <a:gridCol w="442910">
                  <a:extLst>
                    <a:ext uri="{9D8B030D-6E8A-4147-A177-3AD203B41FA5}">
                      <a16:colId xmlns:a16="http://schemas.microsoft.com/office/drawing/2014/main" val="91243122"/>
                    </a:ext>
                  </a:extLst>
                </a:gridCol>
                <a:gridCol w="442910">
                  <a:extLst>
                    <a:ext uri="{9D8B030D-6E8A-4147-A177-3AD203B41FA5}">
                      <a16:colId xmlns:a16="http://schemas.microsoft.com/office/drawing/2014/main" val="1364105988"/>
                    </a:ext>
                  </a:extLst>
                </a:gridCol>
              </a:tblGrid>
              <a:tr h="301466">
                <a:tc>
                  <a:txBody>
                    <a:bodyPr/>
                    <a:lstStyle/>
                    <a:p>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2192730"/>
                  </a:ext>
                </a:extLst>
              </a:tr>
              <a:tr h="301466">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50524"/>
                  </a:ext>
                </a:extLst>
              </a:tr>
            </a:tbl>
          </a:graphicData>
        </a:graphic>
      </p:graphicFrame>
      <p:sp>
        <p:nvSpPr>
          <p:cNvPr id="7" name="TextBox 6"/>
          <p:cNvSpPr txBox="1"/>
          <p:nvPr/>
        </p:nvSpPr>
        <p:spPr>
          <a:xfrm>
            <a:off x="7058020" y="671502"/>
            <a:ext cx="2201244" cy="923330"/>
          </a:xfrm>
          <a:prstGeom prst="rect">
            <a:avLst/>
          </a:prstGeom>
          <a:noFill/>
        </p:spPr>
        <p:txBody>
          <a:bodyPr wrap="none" rtlCol="0">
            <a:spAutoFit/>
          </a:bodyPr>
          <a:lstStyle/>
          <a:p>
            <a:r>
              <a:rPr lang="en-US" dirty="0"/>
              <a:t>1*1 + 2*0 + 3*-1 +</a:t>
            </a:r>
          </a:p>
          <a:p>
            <a:r>
              <a:rPr lang="en-US" dirty="0"/>
              <a:t>4*1 + 2*0 + 0*-1 +</a:t>
            </a:r>
          </a:p>
          <a:p>
            <a:r>
              <a:rPr lang="en-US" dirty="0"/>
              <a:t>9*1 + 5*0 + 0*-1 = 11</a:t>
            </a:r>
          </a:p>
        </p:txBody>
      </p:sp>
      <p:graphicFrame>
        <p:nvGraphicFramePr>
          <p:cNvPr id="8" name="Table 7"/>
          <p:cNvGraphicFramePr>
            <a:graphicFrameLocks noGrp="1"/>
          </p:cNvGraphicFramePr>
          <p:nvPr>
            <p:extLst>
              <p:ext uri="{D42A27DB-BD31-4B8C-83A1-F6EECF244321}">
                <p14:modId xmlns:p14="http://schemas.microsoft.com/office/powerpoint/2010/main" val="3791548830"/>
              </p:ext>
            </p:extLst>
          </p:nvPr>
        </p:nvGraphicFramePr>
        <p:xfrm>
          <a:off x="280984" y="2018333"/>
          <a:ext cx="1476380" cy="1463040"/>
        </p:xfrm>
        <a:graphic>
          <a:graphicData uri="http://schemas.openxmlformats.org/drawingml/2006/table">
            <a:tbl>
              <a:tblPr firstRow="1" bandRow="1">
                <a:tableStyleId>{5C22544A-7EE6-4342-B048-85BDC9FD1C3A}</a:tableStyleId>
              </a:tblPr>
              <a:tblGrid>
                <a:gridCol w="369095">
                  <a:extLst>
                    <a:ext uri="{9D8B030D-6E8A-4147-A177-3AD203B41FA5}">
                      <a16:colId xmlns:a16="http://schemas.microsoft.com/office/drawing/2014/main" val="1389518616"/>
                    </a:ext>
                  </a:extLst>
                </a:gridCol>
                <a:gridCol w="369095">
                  <a:extLst>
                    <a:ext uri="{9D8B030D-6E8A-4147-A177-3AD203B41FA5}">
                      <a16:colId xmlns:a16="http://schemas.microsoft.com/office/drawing/2014/main" val="1459470418"/>
                    </a:ext>
                  </a:extLst>
                </a:gridCol>
                <a:gridCol w="369095">
                  <a:extLst>
                    <a:ext uri="{9D8B030D-6E8A-4147-A177-3AD203B41FA5}">
                      <a16:colId xmlns:a16="http://schemas.microsoft.com/office/drawing/2014/main" val="2958559927"/>
                    </a:ext>
                  </a:extLst>
                </a:gridCol>
                <a:gridCol w="369095">
                  <a:extLst>
                    <a:ext uri="{9D8B030D-6E8A-4147-A177-3AD203B41FA5}">
                      <a16:colId xmlns:a16="http://schemas.microsoft.com/office/drawing/2014/main" val="2057754161"/>
                    </a:ext>
                  </a:extLst>
                </a:gridCol>
              </a:tblGrid>
              <a:tr h="321561">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4047884835"/>
                  </a:ext>
                </a:extLst>
              </a:tr>
              <a:tr h="321561">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4249202877"/>
                  </a:ext>
                </a:extLst>
              </a:tr>
              <a:tr h="321561">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tc>
                  <a:txBody>
                    <a:bodyPr/>
                    <a:lstStyle/>
                    <a:p>
                      <a:r>
                        <a:rPr lang="en-US"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22148794"/>
                  </a:ext>
                </a:extLst>
              </a:tr>
              <a:tr h="321561">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6644913"/>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690678701"/>
              </p:ext>
            </p:extLst>
          </p:nvPr>
        </p:nvGraphicFramePr>
        <p:xfrm>
          <a:off x="2666979" y="2281227"/>
          <a:ext cx="1343034" cy="1097280"/>
        </p:xfrm>
        <a:graphic>
          <a:graphicData uri="http://schemas.openxmlformats.org/drawingml/2006/table">
            <a:tbl>
              <a:tblPr firstRow="1" bandRow="1">
                <a:tableStyleId>{5C22544A-7EE6-4342-B048-85BDC9FD1C3A}</a:tableStyleId>
              </a:tblPr>
              <a:tblGrid>
                <a:gridCol w="447678">
                  <a:extLst>
                    <a:ext uri="{9D8B030D-6E8A-4147-A177-3AD203B41FA5}">
                      <a16:colId xmlns:a16="http://schemas.microsoft.com/office/drawing/2014/main" val="2688234979"/>
                    </a:ext>
                  </a:extLst>
                </a:gridCol>
                <a:gridCol w="447678">
                  <a:extLst>
                    <a:ext uri="{9D8B030D-6E8A-4147-A177-3AD203B41FA5}">
                      <a16:colId xmlns:a16="http://schemas.microsoft.com/office/drawing/2014/main" val="204007461"/>
                    </a:ext>
                  </a:extLst>
                </a:gridCol>
                <a:gridCol w="447678">
                  <a:extLst>
                    <a:ext uri="{9D8B030D-6E8A-4147-A177-3AD203B41FA5}">
                      <a16:colId xmlns:a16="http://schemas.microsoft.com/office/drawing/2014/main" val="3220544073"/>
                    </a:ext>
                  </a:extLst>
                </a:gridCol>
              </a:tblGrid>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125"/>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4496929"/>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63455"/>
                  </a:ext>
                </a:extLst>
              </a:tr>
            </a:tbl>
          </a:graphicData>
        </a:graphic>
      </p:graphicFrame>
      <p:sp>
        <p:nvSpPr>
          <p:cNvPr id="11" name="TextBox 10"/>
          <p:cNvSpPr txBox="1"/>
          <p:nvPr/>
        </p:nvSpPr>
        <p:spPr>
          <a:xfrm>
            <a:off x="6924670" y="2381248"/>
            <a:ext cx="2154757" cy="923330"/>
          </a:xfrm>
          <a:prstGeom prst="rect">
            <a:avLst/>
          </a:prstGeom>
          <a:noFill/>
        </p:spPr>
        <p:txBody>
          <a:bodyPr wrap="none" rtlCol="0">
            <a:spAutoFit/>
          </a:bodyPr>
          <a:lstStyle/>
          <a:p>
            <a:r>
              <a:rPr lang="en-US" dirty="0"/>
              <a:t>2*1 + 3*0 + 7*-1 +</a:t>
            </a:r>
          </a:p>
          <a:p>
            <a:r>
              <a:rPr lang="en-US" dirty="0"/>
              <a:t>2*1 + 0*0 + 2*-1 +</a:t>
            </a:r>
          </a:p>
          <a:p>
            <a:r>
              <a:rPr lang="en-US" dirty="0"/>
              <a:t>5*1 + 0*0 + 8*-1 = -8</a:t>
            </a:r>
          </a:p>
        </p:txBody>
      </p:sp>
      <p:sp>
        <p:nvSpPr>
          <p:cNvPr id="12" name="Flowchart: Summing Junction 11"/>
          <p:cNvSpPr/>
          <p:nvPr/>
        </p:nvSpPr>
        <p:spPr>
          <a:xfrm>
            <a:off x="2085975" y="871538"/>
            <a:ext cx="285750" cy="285750"/>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Summing Junction 12"/>
          <p:cNvSpPr/>
          <p:nvPr/>
        </p:nvSpPr>
        <p:spPr>
          <a:xfrm>
            <a:off x="2095498" y="2538422"/>
            <a:ext cx="285750" cy="285750"/>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p:cNvSpPr/>
          <p:nvPr/>
        </p:nvSpPr>
        <p:spPr>
          <a:xfrm>
            <a:off x="4171941" y="871538"/>
            <a:ext cx="5143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a:off x="4224325" y="2609862"/>
            <a:ext cx="5143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7" name="Table 16"/>
          <p:cNvGraphicFramePr>
            <a:graphicFrameLocks noGrp="1"/>
          </p:cNvGraphicFramePr>
          <p:nvPr>
            <p:extLst>
              <p:ext uri="{D42A27DB-BD31-4B8C-83A1-F6EECF244321}">
                <p14:modId xmlns:p14="http://schemas.microsoft.com/office/powerpoint/2010/main" val="942893832"/>
              </p:ext>
            </p:extLst>
          </p:nvPr>
        </p:nvGraphicFramePr>
        <p:xfrm>
          <a:off x="2624120" y="3952875"/>
          <a:ext cx="1343034" cy="1097280"/>
        </p:xfrm>
        <a:graphic>
          <a:graphicData uri="http://schemas.openxmlformats.org/drawingml/2006/table">
            <a:tbl>
              <a:tblPr firstRow="1" bandRow="1">
                <a:tableStyleId>{5C22544A-7EE6-4342-B048-85BDC9FD1C3A}</a:tableStyleId>
              </a:tblPr>
              <a:tblGrid>
                <a:gridCol w="447678">
                  <a:extLst>
                    <a:ext uri="{9D8B030D-6E8A-4147-A177-3AD203B41FA5}">
                      <a16:colId xmlns:a16="http://schemas.microsoft.com/office/drawing/2014/main" val="2688234979"/>
                    </a:ext>
                  </a:extLst>
                </a:gridCol>
                <a:gridCol w="447678">
                  <a:extLst>
                    <a:ext uri="{9D8B030D-6E8A-4147-A177-3AD203B41FA5}">
                      <a16:colId xmlns:a16="http://schemas.microsoft.com/office/drawing/2014/main" val="204007461"/>
                    </a:ext>
                  </a:extLst>
                </a:gridCol>
                <a:gridCol w="447678">
                  <a:extLst>
                    <a:ext uri="{9D8B030D-6E8A-4147-A177-3AD203B41FA5}">
                      <a16:colId xmlns:a16="http://schemas.microsoft.com/office/drawing/2014/main" val="3220544073"/>
                    </a:ext>
                  </a:extLst>
                </a:gridCol>
              </a:tblGrid>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125"/>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4496929"/>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63455"/>
                  </a:ext>
                </a:extLst>
              </a:tr>
            </a:tbl>
          </a:graphicData>
        </a:graphic>
      </p:graphicFrame>
      <p:sp>
        <p:nvSpPr>
          <p:cNvPr id="19" name="Flowchart: Summing Junction 18"/>
          <p:cNvSpPr/>
          <p:nvPr/>
        </p:nvSpPr>
        <p:spPr>
          <a:xfrm>
            <a:off x="2052639" y="4367220"/>
            <a:ext cx="285750" cy="285750"/>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4138605" y="4367220"/>
            <a:ext cx="5143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Table 20"/>
          <p:cNvGraphicFramePr>
            <a:graphicFrameLocks noGrp="1"/>
          </p:cNvGraphicFramePr>
          <p:nvPr>
            <p:extLst>
              <p:ext uri="{D42A27DB-BD31-4B8C-83A1-F6EECF244321}">
                <p14:modId xmlns:p14="http://schemas.microsoft.com/office/powerpoint/2010/main" val="510113309"/>
              </p:ext>
            </p:extLst>
          </p:nvPr>
        </p:nvGraphicFramePr>
        <p:xfrm>
          <a:off x="233354" y="5298757"/>
          <a:ext cx="1476380" cy="1463040"/>
        </p:xfrm>
        <a:graphic>
          <a:graphicData uri="http://schemas.openxmlformats.org/drawingml/2006/table">
            <a:tbl>
              <a:tblPr firstRow="1" bandRow="1">
                <a:tableStyleId>{5C22544A-7EE6-4342-B048-85BDC9FD1C3A}</a:tableStyleId>
              </a:tblPr>
              <a:tblGrid>
                <a:gridCol w="369095">
                  <a:extLst>
                    <a:ext uri="{9D8B030D-6E8A-4147-A177-3AD203B41FA5}">
                      <a16:colId xmlns:a16="http://schemas.microsoft.com/office/drawing/2014/main" val="1389518616"/>
                    </a:ext>
                  </a:extLst>
                </a:gridCol>
                <a:gridCol w="369095">
                  <a:extLst>
                    <a:ext uri="{9D8B030D-6E8A-4147-A177-3AD203B41FA5}">
                      <a16:colId xmlns:a16="http://schemas.microsoft.com/office/drawing/2014/main" val="1459470418"/>
                    </a:ext>
                  </a:extLst>
                </a:gridCol>
                <a:gridCol w="369095">
                  <a:extLst>
                    <a:ext uri="{9D8B030D-6E8A-4147-A177-3AD203B41FA5}">
                      <a16:colId xmlns:a16="http://schemas.microsoft.com/office/drawing/2014/main" val="2958559927"/>
                    </a:ext>
                  </a:extLst>
                </a:gridCol>
                <a:gridCol w="369095">
                  <a:extLst>
                    <a:ext uri="{9D8B030D-6E8A-4147-A177-3AD203B41FA5}">
                      <a16:colId xmlns:a16="http://schemas.microsoft.com/office/drawing/2014/main" val="2057754161"/>
                    </a:ext>
                  </a:extLst>
                </a:gridCol>
              </a:tblGrid>
              <a:tr h="34504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884835"/>
                  </a:ext>
                </a:extLst>
              </a:tr>
              <a:tr h="345045">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49202877"/>
                  </a:ext>
                </a:extLst>
              </a:tr>
              <a:tr h="345045">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22148794"/>
                  </a:ext>
                </a:extLst>
              </a:tr>
              <a:tr h="345045">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776644913"/>
                  </a:ext>
                </a:extLst>
              </a:tr>
            </a:tbl>
          </a:graphicData>
        </a:graphic>
      </p:graphicFrame>
      <p:graphicFrame>
        <p:nvGraphicFramePr>
          <p:cNvPr id="22" name="Table 21"/>
          <p:cNvGraphicFramePr>
            <a:graphicFrameLocks noGrp="1"/>
          </p:cNvGraphicFramePr>
          <p:nvPr>
            <p:extLst>
              <p:ext uri="{D42A27DB-BD31-4B8C-83A1-F6EECF244321}">
                <p14:modId xmlns:p14="http://schemas.microsoft.com/office/powerpoint/2010/main" val="2201765607"/>
              </p:ext>
            </p:extLst>
          </p:nvPr>
        </p:nvGraphicFramePr>
        <p:xfrm>
          <a:off x="2552678" y="5581657"/>
          <a:ext cx="1343034" cy="1097280"/>
        </p:xfrm>
        <a:graphic>
          <a:graphicData uri="http://schemas.openxmlformats.org/drawingml/2006/table">
            <a:tbl>
              <a:tblPr firstRow="1" bandRow="1">
                <a:tableStyleId>{5C22544A-7EE6-4342-B048-85BDC9FD1C3A}</a:tableStyleId>
              </a:tblPr>
              <a:tblGrid>
                <a:gridCol w="447678">
                  <a:extLst>
                    <a:ext uri="{9D8B030D-6E8A-4147-A177-3AD203B41FA5}">
                      <a16:colId xmlns:a16="http://schemas.microsoft.com/office/drawing/2014/main" val="2688234979"/>
                    </a:ext>
                  </a:extLst>
                </a:gridCol>
                <a:gridCol w="447678">
                  <a:extLst>
                    <a:ext uri="{9D8B030D-6E8A-4147-A177-3AD203B41FA5}">
                      <a16:colId xmlns:a16="http://schemas.microsoft.com/office/drawing/2014/main" val="204007461"/>
                    </a:ext>
                  </a:extLst>
                </a:gridCol>
                <a:gridCol w="447678">
                  <a:extLst>
                    <a:ext uri="{9D8B030D-6E8A-4147-A177-3AD203B41FA5}">
                      <a16:colId xmlns:a16="http://schemas.microsoft.com/office/drawing/2014/main" val="3220544073"/>
                    </a:ext>
                  </a:extLst>
                </a:gridCol>
              </a:tblGrid>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294125"/>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34496929"/>
                  </a:ext>
                </a:extLst>
              </a:tr>
              <a:tr h="357189">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9163455"/>
                  </a:ext>
                </a:extLst>
              </a:tr>
            </a:tbl>
          </a:graphicData>
        </a:graphic>
      </p:graphicFrame>
      <p:sp>
        <p:nvSpPr>
          <p:cNvPr id="24" name="Flowchart: Summing Junction 23"/>
          <p:cNvSpPr/>
          <p:nvPr/>
        </p:nvSpPr>
        <p:spPr>
          <a:xfrm>
            <a:off x="2038347" y="5996002"/>
            <a:ext cx="285750" cy="285750"/>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4"/>
          <p:cNvSpPr/>
          <p:nvPr/>
        </p:nvSpPr>
        <p:spPr>
          <a:xfrm>
            <a:off x="4124313" y="5996002"/>
            <a:ext cx="514350"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6" name="Table 25"/>
          <p:cNvGraphicFramePr>
            <a:graphicFrameLocks noGrp="1"/>
          </p:cNvGraphicFramePr>
          <p:nvPr>
            <p:extLst>
              <p:ext uri="{D42A27DB-BD31-4B8C-83A1-F6EECF244321}">
                <p14:modId xmlns:p14="http://schemas.microsoft.com/office/powerpoint/2010/main" val="67138165"/>
              </p:ext>
            </p:extLst>
          </p:nvPr>
        </p:nvGraphicFramePr>
        <p:xfrm>
          <a:off x="276219" y="3641396"/>
          <a:ext cx="1476380" cy="1463040"/>
        </p:xfrm>
        <a:graphic>
          <a:graphicData uri="http://schemas.openxmlformats.org/drawingml/2006/table">
            <a:tbl>
              <a:tblPr firstRow="1" bandRow="1">
                <a:tableStyleId>{5C22544A-7EE6-4342-B048-85BDC9FD1C3A}</a:tableStyleId>
              </a:tblPr>
              <a:tblGrid>
                <a:gridCol w="369095">
                  <a:extLst>
                    <a:ext uri="{9D8B030D-6E8A-4147-A177-3AD203B41FA5}">
                      <a16:colId xmlns:a16="http://schemas.microsoft.com/office/drawing/2014/main" val="1389518616"/>
                    </a:ext>
                  </a:extLst>
                </a:gridCol>
                <a:gridCol w="369095">
                  <a:extLst>
                    <a:ext uri="{9D8B030D-6E8A-4147-A177-3AD203B41FA5}">
                      <a16:colId xmlns:a16="http://schemas.microsoft.com/office/drawing/2014/main" val="1459470418"/>
                    </a:ext>
                  </a:extLst>
                </a:gridCol>
                <a:gridCol w="369095">
                  <a:extLst>
                    <a:ext uri="{9D8B030D-6E8A-4147-A177-3AD203B41FA5}">
                      <a16:colId xmlns:a16="http://schemas.microsoft.com/office/drawing/2014/main" val="2958559927"/>
                    </a:ext>
                  </a:extLst>
                </a:gridCol>
                <a:gridCol w="369095">
                  <a:extLst>
                    <a:ext uri="{9D8B030D-6E8A-4147-A177-3AD203B41FA5}">
                      <a16:colId xmlns:a16="http://schemas.microsoft.com/office/drawing/2014/main" val="2057754161"/>
                    </a:ext>
                  </a:extLst>
                </a:gridCol>
              </a:tblGrid>
              <a:tr h="345045">
                <a:tc>
                  <a:txBody>
                    <a:bodyPr/>
                    <a:lstStyle/>
                    <a:p>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7884835"/>
                  </a:ext>
                </a:extLst>
              </a:tr>
              <a:tr h="345045">
                <a:tc>
                  <a:txBody>
                    <a:bodyPr/>
                    <a:lstStyle/>
                    <a:p>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9202877"/>
                  </a:ext>
                </a:extLst>
              </a:tr>
              <a:tr h="345045">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22148794"/>
                  </a:ext>
                </a:extLst>
              </a:tr>
              <a:tr h="345045">
                <a:tc>
                  <a:txBody>
                    <a:bodyPr/>
                    <a:lstStyle/>
                    <a:p>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6644913"/>
                  </a:ext>
                </a:extLst>
              </a:tr>
            </a:tbl>
          </a:graphicData>
        </a:graphic>
      </p:graphicFrame>
      <p:graphicFrame>
        <p:nvGraphicFramePr>
          <p:cNvPr id="27" name="Table 26"/>
          <p:cNvGraphicFramePr>
            <a:graphicFrameLocks noGrp="1"/>
          </p:cNvGraphicFramePr>
          <p:nvPr>
            <p:extLst>
              <p:ext uri="{D42A27DB-BD31-4B8C-83A1-F6EECF244321}">
                <p14:modId xmlns:p14="http://schemas.microsoft.com/office/powerpoint/2010/main" val="1596053634"/>
              </p:ext>
            </p:extLst>
          </p:nvPr>
        </p:nvGraphicFramePr>
        <p:xfrm>
          <a:off x="4852965" y="2452694"/>
          <a:ext cx="885820" cy="731520"/>
        </p:xfrm>
        <a:graphic>
          <a:graphicData uri="http://schemas.openxmlformats.org/drawingml/2006/table">
            <a:tbl>
              <a:tblPr firstRow="1" bandRow="1">
                <a:tableStyleId>{5C22544A-7EE6-4342-B048-85BDC9FD1C3A}</a:tableStyleId>
              </a:tblPr>
              <a:tblGrid>
                <a:gridCol w="442910">
                  <a:extLst>
                    <a:ext uri="{9D8B030D-6E8A-4147-A177-3AD203B41FA5}">
                      <a16:colId xmlns:a16="http://schemas.microsoft.com/office/drawing/2014/main" val="91243122"/>
                    </a:ext>
                  </a:extLst>
                </a:gridCol>
                <a:gridCol w="442910">
                  <a:extLst>
                    <a:ext uri="{9D8B030D-6E8A-4147-A177-3AD203B41FA5}">
                      <a16:colId xmlns:a16="http://schemas.microsoft.com/office/drawing/2014/main" val="1364105988"/>
                    </a:ext>
                  </a:extLst>
                </a:gridCol>
              </a:tblGrid>
              <a:tr h="301466">
                <a:tc>
                  <a:txBody>
                    <a:bodyPr/>
                    <a:lstStyle/>
                    <a:p>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192192730"/>
                  </a:ext>
                </a:extLst>
              </a:tr>
              <a:tr h="301466">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50524"/>
                  </a:ext>
                </a:extLst>
              </a:tr>
            </a:tbl>
          </a:graphicData>
        </a:graphic>
      </p:graphicFrame>
      <p:graphicFrame>
        <p:nvGraphicFramePr>
          <p:cNvPr id="28" name="Table 27"/>
          <p:cNvGraphicFramePr>
            <a:graphicFrameLocks noGrp="1"/>
          </p:cNvGraphicFramePr>
          <p:nvPr>
            <p:extLst>
              <p:ext uri="{D42A27DB-BD31-4B8C-83A1-F6EECF244321}">
                <p14:modId xmlns:p14="http://schemas.microsoft.com/office/powerpoint/2010/main" val="307752816"/>
              </p:ext>
            </p:extLst>
          </p:nvPr>
        </p:nvGraphicFramePr>
        <p:xfrm>
          <a:off x="4848200" y="4191014"/>
          <a:ext cx="885820" cy="731520"/>
        </p:xfrm>
        <a:graphic>
          <a:graphicData uri="http://schemas.openxmlformats.org/drawingml/2006/table">
            <a:tbl>
              <a:tblPr firstRow="1" bandRow="1">
                <a:tableStyleId>{5C22544A-7EE6-4342-B048-85BDC9FD1C3A}</a:tableStyleId>
              </a:tblPr>
              <a:tblGrid>
                <a:gridCol w="442910">
                  <a:extLst>
                    <a:ext uri="{9D8B030D-6E8A-4147-A177-3AD203B41FA5}">
                      <a16:colId xmlns:a16="http://schemas.microsoft.com/office/drawing/2014/main" val="91243122"/>
                    </a:ext>
                  </a:extLst>
                </a:gridCol>
                <a:gridCol w="442910">
                  <a:extLst>
                    <a:ext uri="{9D8B030D-6E8A-4147-A177-3AD203B41FA5}">
                      <a16:colId xmlns:a16="http://schemas.microsoft.com/office/drawing/2014/main" val="1364105988"/>
                    </a:ext>
                  </a:extLst>
                </a:gridCol>
              </a:tblGrid>
              <a:tr h="301466">
                <a:tc>
                  <a:txBody>
                    <a:bodyPr/>
                    <a:lstStyle/>
                    <a:p>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192192730"/>
                  </a:ext>
                </a:extLst>
              </a:tr>
              <a:tr h="301466">
                <a:tc>
                  <a:txBody>
                    <a:bodyPr/>
                    <a:lstStyle/>
                    <a:p>
                      <a:r>
                        <a:rPr lang="en-US"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350524"/>
                  </a:ext>
                </a:extLst>
              </a:tr>
            </a:tbl>
          </a:graphicData>
        </a:graphic>
      </p:graphicFrame>
      <p:graphicFrame>
        <p:nvGraphicFramePr>
          <p:cNvPr id="29" name="Table 28"/>
          <p:cNvGraphicFramePr>
            <a:graphicFrameLocks noGrp="1"/>
          </p:cNvGraphicFramePr>
          <p:nvPr>
            <p:extLst>
              <p:ext uri="{D42A27DB-BD31-4B8C-83A1-F6EECF244321}">
                <p14:modId xmlns:p14="http://schemas.microsoft.com/office/powerpoint/2010/main" val="1088308992"/>
              </p:ext>
            </p:extLst>
          </p:nvPr>
        </p:nvGraphicFramePr>
        <p:xfrm>
          <a:off x="4914872" y="5786462"/>
          <a:ext cx="885820" cy="731520"/>
        </p:xfrm>
        <a:graphic>
          <a:graphicData uri="http://schemas.openxmlformats.org/drawingml/2006/table">
            <a:tbl>
              <a:tblPr firstRow="1" bandRow="1">
                <a:tableStyleId>{5C22544A-7EE6-4342-B048-85BDC9FD1C3A}</a:tableStyleId>
              </a:tblPr>
              <a:tblGrid>
                <a:gridCol w="442910">
                  <a:extLst>
                    <a:ext uri="{9D8B030D-6E8A-4147-A177-3AD203B41FA5}">
                      <a16:colId xmlns:a16="http://schemas.microsoft.com/office/drawing/2014/main" val="91243122"/>
                    </a:ext>
                  </a:extLst>
                </a:gridCol>
                <a:gridCol w="442910">
                  <a:extLst>
                    <a:ext uri="{9D8B030D-6E8A-4147-A177-3AD203B41FA5}">
                      <a16:colId xmlns:a16="http://schemas.microsoft.com/office/drawing/2014/main" val="1364105988"/>
                    </a:ext>
                  </a:extLst>
                </a:gridCol>
              </a:tblGrid>
              <a:tr h="301466">
                <a:tc>
                  <a:txBody>
                    <a:bodyPr/>
                    <a:lstStyle/>
                    <a:p>
                      <a:r>
                        <a:rPr lang="en-US"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192192730"/>
                  </a:ext>
                </a:extLst>
              </a:tr>
              <a:tr h="301466">
                <a:tc>
                  <a:txBody>
                    <a:bodyPr/>
                    <a:lstStyle/>
                    <a:p>
                      <a:r>
                        <a:rPr lang="en-US"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r>
                        <a:rPr lang="en-US"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6350524"/>
                  </a:ext>
                </a:extLst>
              </a:tr>
            </a:tbl>
          </a:graphicData>
        </a:graphic>
      </p:graphicFrame>
      <p:sp>
        <p:nvSpPr>
          <p:cNvPr id="30" name="TextBox 29"/>
          <p:cNvSpPr txBox="1"/>
          <p:nvPr/>
        </p:nvSpPr>
        <p:spPr>
          <a:xfrm>
            <a:off x="200018" y="42860"/>
            <a:ext cx="1873911" cy="369332"/>
          </a:xfrm>
          <a:prstGeom prst="rect">
            <a:avLst/>
          </a:prstGeom>
          <a:noFill/>
        </p:spPr>
        <p:txBody>
          <a:bodyPr wrap="none" rtlCol="0">
            <a:spAutoFit/>
          </a:bodyPr>
          <a:lstStyle/>
          <a:p>
            <a:r>
              <a:rPr lang="en-US" dirty="0"/>
              <a:t>Input image(4X4)</a:t>
            </a:r>
          </a:p>
        </p:txBody>
      </p:sp>
      <p:sp>
        <p:nvSpPr>
          <p:cNvPr id="31" name="TextBox 30"/>
          <p:cNvSpPr txBox="1"/>
          <p:nvPr/>
        </p:nvSpPr>
        <p:spPr>
          <a:xfrm>
            <a:off x="2566993" y="66668"/>
            <a:ext cx="1281761" cy="369332"/>
          </a:xfrm>
          <a:prstGeom prst="rect">
            <a:avLst/>
          </a:prstGeom>
          <a:noFill/>
        </p:spPr>
        <p:txBody>
          <a:bodyPr wrap="none" rtlCol="0">
            <a:spAutoFit/>
          </a:bodyPr>
          <a:lstStyle/>
          <a:p>
            <a:r>
              <a:rPr lang="en-US" dirty="0"/>
              <a:t>Kernel(3X3)</a:t>
            </a:r>
          </a:p>
        </p:txBody>
      </p:sp>
      <p:sp>
        <p:nvSpPr>
          <p:cNvPr id="32" name="TextBox 31"/>
          <p:cNvSpPr txBox="1"/>
          <p:nvPr/>
        </p:nvSpPr>
        <p:spPr>
          <a:xfrm>
            <a:off x="-30370" y="-71417"/>
            <a:ext cx="982385" cy="276999"/>
          </a:xfrm>
          <a:prstGeom prst="rect">
            <a:avLst/>
          </a:prstGeom>
          <a:noFill/>
        </p:spPr>
        <p:txBody>
          <a:bodyPr wrap="none" rtlCol="0">
            <a:spAutoFit/>
          </a:bodyPr>
          <a:lstStyle/>
          <a:p>
            <a:r>
              <a:rPr lang="en-US" sz="1200" b="1" dirty="0"/>
              <a:t>….continued</a:t>
            </a:r>
          </a:p>
        </p:txBody>
      </p:sp>
    </p:spTree>
    <p:extLst>
      <p:ext uri="{BB962C8B-B14F-4D97-AF65-F5344CB8AC3E}">
        <p14:creationId xmlns:p14="http://schemas.microsoft.com/office/powerpoint/2010/main" val="679417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912" y="87084"/>
            <a:ext cx="7358743" cy="489857"/>
          </a:xfrm>
        </p:spPr>
        <p:txBody>
          <a:bodyPr>
            <a:normAutofit/>
          </a:bodyPr>
          <a:lstStyle/>
          <a:p>
            <a:r>
              <a:rPr lang="en-US" sz="2800" b="1" dirty="0"/>
              <a:t>Key Components of a CNN(p4): Convolution layers</a:t>
            </a:r>
            <a:endParaRPr lang="en-US" sz="28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0272" y="610823"/>
            <a:ext cx="7763666" cy="4675957"/>
          </a:xfrm>
          <a:prstGeom prst="rect">
            <a:avLst/>
          </a:prstGeom>
        </p:spPr>
      </p:pic>
      <p:sp>
        <p:nvSpPr>
          <p:cNvPr id="4" name="TextBox 3"/>
          <p:cNvSpPr txBox="1"/>
          <p:nvPr/>
        </p:nvSpPr>
        <p:spPr>
          <a:xfrm>
            <a:off x="128588" y="5427673"/>
            <a:ext cx="11844337"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t>Another name for </a:t>
            </a:r>
            <a:r>
              <a:rPr lang="en-US" sz="1600" b="1" dirty="0"/>
              <a:t>kernel is feature detector </a:t>
            </a:r>
            <a:r>
              <a:rPr lang="en-US" sz="1600" dirty="0"/>
              <a:t>because the weights can be fine-tuned to detect specific features in the input image. For instance: </a:t>
            </a:r>
          </a:p>
          <a:p>
            <a:r>
              <a:rPr lang="en-US" sz="1600" dirty="0"/>
              <a:t>1) Averaging neighboring pixels kernel can be used to </a:t>
            </a:r>
            <a:r>
              <a:rPr lang="en-US" sz="1600" b="1" dirty="0"/>
              <a:t>blur</a:t>
            </a:r>
            <a:r>
              <a:rPr lang="en-US" sz="1600" dirty="0"/>
              <a:t> the input image.</a:t>
            </a:r>
          </a:p>
          <a:p>
            <a:r>
              <a:rPr lang="en-US" sz="1600" dirty="0"/>
              <a:t>2) Subtracting neighboring kernel is used to perform </a:t>
            </a:r>
            <a:r>
              <a:rPr lang="en-US" sz="1600" b="1" dirty="0"/>
              <a:t>edge detection</a:t>
            </a:r>
            <a:r>
              <a:rPr lang="en-US" sz="1600" dirty="0"/>
              <a:t>.</a:t>
            </a:r>
          </a:p>
          <a:p>
            <a:r>
              <a:rPr lang="en-US" sz="1600" dirty="0"/>
              <a:t>3) Common kernel sizes: 3x3 – most common;  5x5, 7x7 – larger receptive fields</a:t>
            </a:r>
          </a:p>
        </p:txBody>
      </p:sp>
      <p:sp>
        <p:nvSpPr>
          <p:cNvPr id="5" name="TextBox 4"/>
          <p:cNvSpPr txBox="1"/>
          <p:nvPr/>
        </p:nvSpPr>
        <p:spPr>
          <a:xfrm>
            <a:off x="100965" y="1585912"/>
            <a:ext cx="2935063" cy="1754326"/>
          </a:xfrm>
          <a:prstGeom prst="rect">
            <a:avLst/>
          </a:prstGeom>
          <a:noFill/>
        </p:spPr>
        <p:txBody>
          <a:bodyPr wrap="square" rtlCol="0">
            <a:spAutoFit/>
          </a:bodyPr>
          <a:lstStyle/>
          <a:p>
            <a:r>
              <a:rPr lang="en-US" b="1" dirty="0"/>
              <a:t>Stride : </a:t>
            </a:r>
            <a:r>
              <a:rPr lang="en-US" dirty="0"/>
              <a:t>Controls how many steps does kernel move. E.g.: stride of 1 makes kernel slide by one row/column at a time and stride of 2 moves kernel by 2 rows/columns.</a:t>
            </a:r>
          </a:p>
        </p:txBody>
      </p:sp>
    </p:spTree>
    <p:extLst>
      <p:ext uri="{BB962C8B-B14F-4D97-AF65-F5344CB8AC3E}">
        <p14:creationId xmlns:p14="http://schemas.microsoft.com/office/powerpoint/2010/main" val="2953562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912" y="87084"/>
            <a:ext cx="7358743" cy="489857"/>
          </a:xfrm>
        </p:spPr>
        <p:txBody>
          <a:bodyPr>
            <a:normAutofit fontScale="90000"/>
          </a:bodyPr>
          <a:lstStyle/>
          <a:p>
            <a:r>
              <a:rPr lang="en-US" sz="2800" b="1" dirty="0"/>
              <a:t>Key Components of a CNN(p4.1): Convolution layers</a:t>
            </a:r>
            <a:endParaRPr lang="en-US" sz="28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2761" y="653143"/>
            <a:ext cx="7097927" cy="3265713"/>
          </a:xfrm>
          <a:prstGeom prst="rect">
            <a:avLst/>
          </a:prstGeom>
        </p:spPr>
      </p:pic>
      <p:sp>
        <p:nvSpPr>
          <p:cNvPr id="6" name="TextBox 5"/>
          <p:cNvSpPr txBox="1"/>
          <p:nvPr/>
        </p:nvSpPr>
        <p:spPr>
          <a:xfrm>
            <a:off x="293912" y="6074228"/>
            <a:ext cx="11669488" cy="584775"/>
          </a:xfrm>
          <a:prstGeom prst="rect">
            <a:avLst/>
          </a:prstGeom>
          <a:noFill/>
        </p:spPr>
        <p:txBody>
          <a:bodyPr wrap="square" rtlCol="0">
            <a:spAutoFit/>
          </a:bodyPr>
          <a:lstStyle/>
          <a:p>
            <a:r>
              <a:rPr lang="en-US" sz="1600" b="1" dirty="0"/>
              <a:t>Higher pixel values represent the brighter portion </a:t>
            </a:r>
            <a:r>
              <a:rPr lang="en-US" sz="1600" dirty="0"/>
              <a:t>of the image and the lower pixel values represent the darker portions. This is how we can detect a vertical edge in an image</a:t>
            </a:r>
          </a:p>
        </p:txBody>
      </p:sp>
      <p:sp>
        <p:nvSpPr>
          <p:cNvPr id="7" name="TextBox 6"/>
          <p:cNvSpPr txBox="1"/>
          <p:nvPr/>
        </p:nvSpPr>
        <p:spPr>
          <a:xfrm>
            <a:off x="293911" y="1077686"/>
            <a:ext cx="2906489" cy="707886"/>
          </a:xfrm>
          <a:prstGeom prst="rect">
            <a:avLst/>
          </a:prstGeom>
          <a:noFill/>
        </p:spPr>
        <p:txBody>
          <a:bodyPr wrap="square" rtlCol="0">
            <a:spAutoFit/>
          </a:bodyPr>
          <a:lstStyle/>
          <a:p>
            <a:r>
              <a:rPr lang="en-US" sz="2000" dirty="0"/>
              <a:t>Detecting vertical edges with </a:t>
            </a:r>
            <a:r>
              <a:rPr lang="en-US" sz="2000" b="1" dirty="0"/>
              <a:t>vertical filter</a:t>
            </a:r>
          </a:p>
        </p:txBody>
      </p:sp>
      <p:sp>
        <p:nvSpPr>
          <p:cNvPr id="8" name="TextBox 7"/>
          <p:cNvSpPr txBox="1"/>
          <p:nvPr/>
        </p:nvSpPr>
        <p:spPr>
          <a:xfrm>
            <a:off x="293912" y="4419601"/>
            <a:ext cx="3488263" cy="1077218"/>
          </a:xfrm>
          <a:prstGeom prst="rect">
            <a:avLst/>
          </a:prstGeom>
          <a:noFill/>
        </p:spPr>
        <p:txBody>
          <a:bodyPr wrap="none" rtlCol="0">
            <a:spAutoFit/>
          </a:bodyPr>
          <a:lstStyle/>
          <a:p>
            <a:r>
              <a:rPr lang="en-US" sz="1600" dirty="0"/>
              <a:t>Value for row=1,col=1 is calculated as = </a:t>
            </a:r>
          </a:p>
          <a:p>
            <a:r>
              <a:rPr lang="en-US" sz="1600" dirty="0"/>
              <a:t>10*1 + 10*0 + 10*-1 +</a:t>
            </a:r>
          </a:p>
          <a:p>
            <a:r>
              <a:rPr lang="en-US" sz="1600" dirty="0"/>
              <a:t>10*1 + 10*0 + 10*-1 +</a:t>
            </a:r>
          </a:p>
          <a:p>
            <a:r>
              <a:rPr lang="en-US" sz="1600" dirty="0"/>
              <a:t>10*1 + 10*0 + 10*-1  = 0</a:t>
            </a:r>
          </a:p>
        </p:txBody>
      </p:sp>
      <p:sp>
        <p:nvSpPr>
          <p:cNvPr id="9" name="TextBox 8"/>
          <p:cNvSpPr txBox="1"/>
          <p:nvPr/>
        </p:nvSpPr>
        <p:spPr>
          <a:xfrm>
            <a:off x="4071250" y="4441369"/>
            <a:ext cx="3488263" cy="1077218"/>
          </a:xfrm>
          <a:prstGeom prst="rect">
            <a:avLst/>
          </a:prstGeom>
          <a:noFill/>
        </p:spPr>
        <p:txBody>
          <a:bodyPr wrap="none" rtlCol="0">
            <a:spAutoFit/>
          </a:bodyPr>
          <a:lstStyle/>
          <a:p>
            <a:r>
              <a:rPr lang="en-US" sz="1600" dirty="0"/>
              <a:t>Value for row=1,col=2 is calculated as = </a:t>
            </a:r>
          </a:p>
          <a:p>
            <a:r>
              <a:rPr lang="en-US" sz="1600" dirty="0"/>
              <a:t>10*1 + 10*0 + 0*-1 +</a:t>
            </a:r>
          </a:p>
          <a:p>
            <a:r>
              <a:rPr lang="en-US" sz="1600" dirty="0"/>
              <a:t>10*1 + 10*0 + 0*-1 +</a:t>
            </a:r>
          </a:p>
          <a:p>
            <a:r>
              <a:rPr lang="en-US" sz="1600" dirty="0"/>
              <a:t>10*1 + 10*0 + 0*-1  = 30</a:t>
            </a:r>
          </a:p>
        </p:txBody>
      </p:sp>
    </p:spTree>
    <p:extLst>
      <p:ext uri="{BB962C8B-B14F-4D97-AF65-F5344CB8AC3E}">
        <p14:creationId xmlns:p14="http://schemas.microsoft.com/office/powerpoint/2010/main" val="1179287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912" y="87084"/>
            <a:ext cx="7358743" cy="489857"/>
          </a:xfrm>
        </p:spPr>
        <p:txBody>
          <a:bodyPr>
            <a:normAutofit fontScale="90000"/>
          </a:bodyPr>
          <a:lstStyle/>
          <a:p>
            <a:r>
              <a:rPr lang="en-US" sz="2800" b="1" dirty="0"/>
              <a:t>Key Components of a CNN(p4.2): Convolution layers</a:t>
            </a:r>
            <a:endParaRPr lang="en-US" sz="2800" dirty="0"/>
          </a:p>
        </p:txBody>
      </p:sp>
      <p:sp>
        <p:nvSpPr>
          <p:cNvPr id="7" name="TextBox 6"/>
          <p:cNvSpPr txBox="1"/>
          <p:nvPr/>
        </p:nvSpPr>
        <p:spPr>
          <a:xfrm>
            <a:off x="293911" y="1077686"/>
            <a:ext cx="4147459" cy="369332"/>
          </a:xfrm>
          <a:prstGeom prst="rect">
            <a:avLst/>
          </a:prstGeom>
          <a:noFill/>
        </p:spPr>
        <p:txBody>
          <a:bodyPr wrap="square" rtlCol="0">
            <a:spAutoFit/>
          </a:bodyPr>
          <a:lstStyle/>
          <a:p>
            <a:r>
              <a:rPr lang="en-US" b="1" dirty="0"/>
              <a:t>horizontal filter:</a:t>
            </a:r>
            <a:r>
              <a:rPr lang="en-US" dirty="0"/>
              <a:t> Detect horizontal edges</a:t>
            </a:r>
            <a:endParaRPr lang="en-US"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8531" y="789893"/>
            <a:ext cx="1085850" cy="923925"/>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5118" y="2320697"/>
            <a:ext cx="1341382" cy="949091"/>
          </a:xfrm>
          <a:prstGeom prst="rect">
            <a:avLst/>
          </a:prstGeom>
        </p:spPr>
      </p:pic>
      <p:sp>
        <p:nvSpPr>
          <p:cNvPr id="10" name="TextBox 9"/>
          <p:cNvSpPr txBox="1"/>
          <p:nvPr/>
        </p:nvSpPr>
        <p:spPr>
          <a:xfrm>
            <a:off x="304798" y="2623457"/>
            <a:ext cx="4136572" cy="646331"/>
          </a:xfrm>
          <a:prstGeom prst="rect">
            <a:avLst/>
          </a:prstGeom>
          <a:noFill/>
        </p:spPr>
        <p:txBody>
          <a:bodyPr wrap="square" rtlCol="0">
            <a:spAutoFit/>
          </a:bodyPr>
          <a:lstStyle/>
          <a:p>
            <a:r>
              <a:rPr lang="en-US" b="1" dirty="0"/>
              <a:t>Sobel filter</a:t>
            </a:r>
            <a:r>
              <a:rPr lang="en-US" dirty="0"/>
              <a:t>: puts a little bit more weight on the central pixels</a:t>
            </a:r>
          </a:p>
        </p:txBody>
      </p:sp>
    </p:spTree>
    <p:extLst>
      <p:ext uri="{BB962C8B-B14F-4D97-AF65-F5344CB8AC3E}">
        <p14:creationId xmlns:p14="http://schemas.microsoft.com/office/powerpoint/2010/main" val="525819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912" y="87084"/>
            <a:ext cx="7358743" cy="489857"/>
          </a:xfrm>
        </p:spPr>
        <p:txBody>
          <a:bodyPr>
            <a:normAutofit fontScale="90000"/>
          </a:bodyPr>
          <a:lstStyle/>
          <a:p>
            <a:r>
              <a:rPr lang="en-US" sz="2800" b="1" dirty="0"/>
              <a:t>Key Components of a CNN(p4.3): Convolution layers</a:t>
            </a:r>
            <a:endParaRPr lang="en-US" sz="2800" dirty="0"/>
          </a:p>
        </p:txBody>
      </p:sp>
      <p:sp>
        <p:nvSpPr>
          <p:cNvPr id="11" name="TextBox 10"/>
          <p:cNvSpPr txBox="1"/>
          <p:nvPr/>
        </p:nvSpPr>
        <p:spPr>
          <a:xfrm>
            <a:off x="304798" y="919835"/>
            <a:ext cx="11510965" cy="584775"/>
          </a:xfrm>
          <a:prstGeom prst="rect">
            <a:avLst/>
          </a:prstGeom>
          <a:noFill/>
        </p:spPr>
        <p:txBody>
          <a:bodyPr wrap="square" rtlCol="0">
            <a:spAutoFit/>
          </a:bodyPr>
          <a:lstStyle/>
          <a:p>
            <a:r>
              <a:rPr lang="en-US" sz="1600" dirty="0"/>
              <a:t>We have seen that convolving an input of 6 X 6 dimension with a 3 X 3 filter results in 4 X 4 output.</a:t>
            </a:r>
          </a:p>
          <a:p>
            <a:r>
              <a:rPr lang="en-US" sz="1600" dirty="0"/>
              <a:t>There is a straightforward formula that connects the input size </a:t>
            </a:r>
            <a:r>
              <a:rPr lang="en-US" sz="1600" dirty="0" err="1"/>
              <a:t>n×n</a:t>
            </a:r>
            <a:r>
              <a:rPr lang="en-US" sz="1600" dirty="0"/>
              <a:t> and the filter size </a:t>
            </a:r>
            <a:r>
              <a:rPr lang="en-US" sz="1600" dirty="0" err="1"/>
              <a:t>f×f</a:t>
            </a:r>
            <a:r>
              <a:rPr lang="en-US" sz="1600" dirty="0"/>
              <a:t>, resulting in an output size of  (n−f+1)×(n−f+1)</a:t>
            </a:r>
          </a:p>
        </p:txBody>
      </p:sp>
      <p:sp>
        <p:nvSpPr>
          <p:cNvPr id="5" name="TextBox 4"/>
          <p:cNvSpPr txBox="1"/>
          <p:nvPr/>
        </p:nvSpPr>
        <p:spPr>
          <a:xfrm>
            <a:off x="293912" y="4957769"/>
            <a:ext cx="11693301" cy="1200329"/>
          </a:xfrm>
          <a:prstGeom prst="rect">
            <a:avLst/>
          </a:prstGeom>
          <a:noFill/>
        </p:spPr>
        <p:txBody>
          <a:bodyPr wrap="square" rtlCol="0">
            <a:spAutoFit/>
          </a:bodyPr>
          <a:lstStyle/>
          <a:p>
            <a:endParaRPr lang="en-US" dirty="0"/>
          </a:p>
          <a:p>
            <a:r>
              <a:rPr lang="en-US" dirty="0"/>
              <a:t>The dimension of the final convoluted matrix depends on the size of the sliding window(kernel matrix). The bigger the sliding window, the smaller the dimension.</a:t>
            </a:r>
          </a:p>
          <a:p>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4002369911"/>
              </p:ext>
            </p:extLst>
          </p:nvPr>
        </p:nvGraphicFramePr>
        <p:xfrm>
          <a:off x="285742" y="1685924"/>
          <a:ext cx="2414596" cy="1985956"/>
        </p:xfrm>
        <a:graphic>
          <a:graphicData uri="http://schemas.openxmlformats.org/drawingml/2006/table">
            <a:tbl>
              <a:tblPr firstRow="1" bandRow="1">
                <a:tableStyleId>{5C22544A-7EE6-4342-B048-85BDC9FD1C3A}</a:tableStyleId>
              </a:tblPr>
              <a:tblGrid>
                <a:gridCol w="2414596">
                  <a:extLst>
                    <a:ext uri="{9D8B030D-6E8A-4147-A177-3AD203B41FA5}">
                      <a16:colId xmlns:a16="http://schemas.microsoft.com/office/drawing/2014/main" val="3413947893"/>
                    </a:ext>
                  </a:extLst>
                </a:gridCol>
              </a:tblGrid>
              <a:tr h="198595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Input image size</a:t>
                      </a:r>
                    </a:p>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 n X n</a:t>
                      </a:r>
                    </a:p>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429711"/>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430075389"/>
              </p:ext>
            </p:extLst>
          </p:nvPr>
        </p:nvGraphicFramePr>
        <p:xfrm>
          <a:off x="4086223" y="2200410"/>
          <a:ext cx="1228726" cy="1157146"/>
        </p:xfrm>
        <a:graphic>
          <a:graphicData uri="http://schemas.openxmlformats.org/drawingml/2006/table">
            <a:tbl>
              <a:tblPr firstRow="1" bandRow="1">
                <a:tableStyleId>{5C22544A-7EE6-4342-B048-85BDC9FD1C3A}</a:tableStyleId>
              </a:tblPr>
              <a:tblGrid>
                <a:gridCol w="1228726">
                  <a:extLst>
                    <a:ext uri="{9D8B030D-6E8A-4147-A177-3AD203B41FA5}">
                      <a16:colId xmlns:a16="http://schemas.microsoft.com/office/drawing/2014/main" val="3413947893"/>
                    </a:ext>
                  </a:extLst>
                </a:gridCol>
              </a:tblGrid>
              <a:tr h="115714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Filter size</a:t>
                      </a:r>
                      <a:r>
                        <a:rPr lang="en-US" sz="1800" dirty="0">
                          <a:solidFill>
                            <a:schemeClr val="tx1"/>
                          </a:solidFill>
                        </a:rPr>
                        <a:t>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f X f</a:t>
                      </a:r>
                    </a:p>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429711"/>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2773554168"/>
              </p:ext>
            </p:extLst>
          </p:nvPr>
        </p:nvGraphicFramePr>
        <p:xfrm>
          <a:off x="7096125" y="1624010"/>
          <a:ext cx="2414596" cy="1985956"/>
        </p:xfrm>
        <a:graphic>
          <a:graphicData uri="http://schemas.openxmlformats.org/drawingml/2006/table">
            <a:tbl>
              <a:tblPr firstRow="1" bandRow="1">
                <a:tableStyleId>{5C22544A-7EE6-4342-B048-85BDC9FD1C3A}</a:tableStyleId>
              </a:tblPr>
              <a:tblGrid>
                <a:gridCol w="2414596">
                  <a:extLst>
                    <a:ext uri="{9D8B030D-6E8A-4147-A177-3AD203B41FA5}">
                      <a16:colId xmlns:a16="http://schemas.microsoft.com/office/drawing/2014/main" val="3413947893"/>
                    </a:ext>
                  </a:extLst>
                </a:gridCol>
              </a:tblGrid>
              <a:tr h="198595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Output size</a:t>
                      </a:r>
                    </a:p>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 (n-f+1) X (n-f+1)</a:t>
                      </a:r>
                    </a:p>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429711"/>
                  </a:ext>
                </a:extLst>
              </a:tr>
            </a:tbl>
          </a:graphicData>
        </a:graphic>
      </p:graphicFrame>
      <p:sp>
        <p:nvSpPr>
          <p:cNvPr id="9" name="Right Arrow 8"/>
          <p:cNvSpPr/>
          <p:nvPr/>
        </p:nvSpPr>
        <p:spPr>
          <a:xfrm>
            <a:off x="5643563" y="2543168"/>
            <a:ext cx="1028700" cy="342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Summing Junction 13"/>
          <p:cNvSpPr/>
          <p:nvPr/>
        </p:nvSpPr>
        <p:spPr>
          <a:xfrm>
            <a:off x="3200400" y="2571743"/>
            <a:ext cx="342900" cy="300037"/>
          </a:xfrm>
          <a:prstGeom prst="flowChartSummingJunction">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8468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912" y="87084"/>
            <a:ext cx="7358743" cy="489857"/>
          </a:xfrm>
        </p:spPr>
        <p:txBody>
          <a:bodyPr>
            <a:normAutofit fontScale="90000"/>
          </a:bodyPr>
          <a:lstStyle/>
          <a:p>
            <a:r>
              <a:rPr lang="en-US" sz="2800" b="1" dirty="0"/>
              <a:t>Key Components of a CNN(p4.3): Convolution layers</a:t>
            </a:r>
            <a:endParaRPr lang="en-US" sz="2800" dirty="0"/>
          </a:p>
        </p:txBody>
      </p:sp>
      <p:sp>
        <p:nvSpPr>
          <p:cNvPr id="5" name="TextBox 4"/>
          <p:cNvSpPr txBox="1"/>
          <p:nvPr/>
        </p:nvSpPr>
        <p:spPr>
          <a:xfrm>
            <a:off x="402772" y="587827"/>
            <a:ext cx="11484428" cy="3970318"/>
          </a:xfrm>
          <a:prstGeom prst="rect">
            <a:avLst/>
          </a:prstGeom>
          <a:noFill/>
        </p:spPr>
        <p:txBody>
          <a:bodyPr wrap="square" rtlCol="0">
            <a:spAutoFit/>
          </a:bodyPr>
          <a:lstStyle/>
          <a:p>
            <a:r>
              <a:rPr lang="en-US" dirty="0"/>
              <a:t>There are </a:t>
            </a:r>
            <a:r>
              <a:rPr lang="en-US" b="1" dirty="0"/>
              <a:t>2 problems </a:t>
            </a:r>
            <a:r>
              <a:rPr lang="en-US" dirty="0"/>
              <a:t>when applying convolution:</a:t>
            </a:r>
          </a:p>
          <a:p>
            <a:r>
              <a:rPr lang="en-US" dirty="0"/>
              <a:t>1. Every time we apply a convolutional operation, the size of the </a:t>
            </a:r>
            <a:r>
              <a:rPr lang="en-US" b="1" dirty="0"/>
              <a:t>image shrinks</a:t>
            </a:r>
          </a:p>
          <a:p>
            <a:r>
              <a:rPr lang="en-US" dirty="0"/>
              <a:t>2. Pixels present in the </a:t>
            </a:r>
            <a:r>
              <a:rPr lang="en-US" b="1" dirty="0"/>
              <a:t>corner of the image are used only a few number of times</a:t>
            </a:r>
            <a:r>
              <a:rPr lang="en-US" dirty="0"/>
              <a:t> during convolution as compared to the central pixels. </a:t>
            </a:r>
          </a:p>
          <a:p>
            <a:r>
              <a:rPr lang="en-US" dirty="0"/>
              <a:t>Hence, we do not focus too much on the corners since that can lead to information loss</a:t>
            </a:r>
          </a:p>
          <a:p>
            <a:endParaRPr lang="en-US" dirty="0"/>
          </a:p>
          <a:p>
            <a:r>
              <a:rPr lang="en-US" b="1" dirty="0"/>
              <a:t>SOLUTION:</a:t>
            </a:r>
          </a:p>
          <a:p>
            <a:r>
              <a:rPr lang="en-US" dirty="0"/>
              <a:t>To overcome these issues, we can pad the image with an additional border, i.e., we add one pixel all around the edges. This means that the input will be an 8 X 8 matrix (instead of a 6 X 6 matrix). Applying convolution of 3 X 3 on it will result in a 6 X 6 matrix which is the original shape of the image. This is where padding comes to the formula:</a:t>
            </a:r>
          </a:p>
          <a:p>
            <a:r>
              <a:rPr lang="en-US" b="1" dirty="0"/>
              <a:t>Input:</a:t>
            </a:r>
            <a:r>
              <a:rPr lang="en-US" dirty="0"/>
              <a:t> n X n</a:t>
            </a:r>
          </a:p>
          <a:p>
            <a:r>
              <a:rPr lang="en-US" b="1" dirty="0"/>
              <a:t>Padding:</a:t>
            </a:r>
            <a:r>
              <a:rPr lang="en-US" dirty="0"/>
              <a:t> p</a:t>
            </a:r>
          </a:p>
          <a:p>
            <a:r>
              <a:rPr lang="en-US" b="1" dirty="0"/>
              <a:t>Filter size:</a:t>
            </a:r>
            <a:r>
              <a:rPr lang="en-US" dirty="0"/>
              <a:t> f X f</a:t>
            </a:r>
          </a:p>
          <a:p>
            <a:r>
              <a:rPr lang="en-US" b="1" dirty="0"/>
              <a:t>Output size:</a:t>
            </a:r>
            <a:r>
              <a:rPr lang="en-US" dirty="0"/>
              <a:t> (n+2p-f+1) X (n+2p-f+1)</a:t>
            </a:r>
          </a:p>
        </p:txBody>
      </p:sp>
      <p:graphicFrame>
        <p:nvGraphicFramePr>
          <p:cNvPr id="8" name="Table 7"/>
          <p:cNvGraphicFramePr>
            <a:graphicFrameLocks noGrp="1"/>
          </p:cNvGraphicFramePr>
          <p:nvPr>
            <p:extLst>
              <p:ext uri="{D42A27DB-BD31-4B8C-83A1-F6EECF244321}">
                <p14:modId xmlns:p14="http://schemas.microsoft.com/office/powerpoint/2010/main" val="4211679456"/>
              </p:ext>
            </p:extLst>
          </p:nvPr>
        </p:nvGraphicFramePr>
        <p:xfrm>
          <a:off x="4136574" y="4013853"/>
          <a:ext cx="3069774" cy="2201883"/>
        </p:xfrm>
        <a:graphic>
          <a:graphicData uri="http://schemas.openxmlformats.org/drawingml/2006/table">
            <a:tbl>
              <a:tblPr firstRow="1" bandRow="1">
                <a:tableStyleId>{5C22544A-7EE6-4342-B048-85BDC9FD1C3A}</a:tableStyleId>
              </a:tblPr>
              <a:tblGrid>
                <a:gridCol w="511629">
                  <a:extLst>
                    <a:ext uri="{9D8B030D-6E8A-4147-A177-3AD203B41FA5}">
                      <a16:colId xmlns:a16="http://schemas.microsoft.com/office/drawing/2014/main" val="70799869"/>
                    </a:ext>
                  </a:extLst>
                </a:gridCol>
                <a:gridCol w="511629">
                  <a:extLst>
                    <a:ext uri="{9D8B030D-6E8A-4147-A177-3AD203B41FA5}">
                      <a16:colId xmlns:a16="http://schemas.microsoft.com/office/drawing/2014/main" val="130520658"/>
                    </a:ext>
                  </a:extLst>
                </a:gridCol>
                <a:gridCol w="511629">
                  <a:extLst>
                    <a:ext uri="{9D8B030D-6E8A-4147-A177-3AD203B41FA5}">
                      <a16:colId xmlns:a16="http://schemas.microsoft.com/office/drawing/2014/main" val="3633071172"/>
                    </a:ext>
                  </a:extLst>
                </a:gridCol>
                <a:gridCol w="511629">
                  <a:extLst>
                    <a:ext uri="{9D8B030D-6E8A-4147-A177-3AD203B41FA5}">
                      <a16:colId xmlns:a16="http://schemas.microsoft.com/office/drawing/2014/main" val="3490065771"/>
                    </a:ext>
                  </a:extLst>
                </a:gridCol>
                <a:gridCol w="511629">
                  <a:extLst>
                    <a:ext uri="{9D8B030D-6E8A-4147-A177-3AD203B41FA5}">
                      <a16:colId xmlns:a16="http://schemas.microsoft.com/office/drawing/2014/main" val="1847604308"/>
                    </a:ext>
                  </a:extLst>
                </a:gridCol>
                <a:gridCol w="511629">
                  <a:extLst>
                    <a:ext uri="{9D8B030D-6E8A-4147-A177-3AD203B41FA5}">
                      <a16:colId xmlns:a16="http://schemas.microsoft.com/office/drawing/2014/main" val="3012201742"/>
                    </a:ext>
                  </a:extLst>
                </a:gridCol>
              </a:tblGrid>
              <a:tr h="373083">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34544419"/>
                  </a:ext>
                </a:extLst>
              </a:tr>
              <a:tr h="363946">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473554637"/>
                  </a:ext>
                </a:extLst>
              </a:tr>
              <a:tr h="363946">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525478095"/>
                  </a:ext>
                </a:extLst>
              </a:tr>
              <a:tr h="363946">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354674428"/>
                  </a:ext>
                </a:extLst>
              </a:tr>
              <a:tr h="363946">
                <a:tc>
                  <a:txBody>
                    <a:bodyPr/>
                    <a:lstStyle/>
                    <a:p>
                      <a:r>
                        <a:rPr lang="en-US" dirty="0">
                          <a:solidFill>
                            <a:schemeClr val="bg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241284739"/>
                  </a:ext>
                </a:extLst>
              </a:tr>
              <a:tr h="363946">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658973273"/>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660385224"/>
              </p:ext>
            </p:extLst>
          </p:nvPr>
        </p:nvGraphicFramePr>
        <p:xfrm>
          <a:off x="7652655" y="3549943"/>
          <a:ext cx="4401464" cy="2966720"/>
        </p:xfrm>
        <a:graphic>
          <a:graphicData uri="http://schemas.openxmlformats.org/drawingml/2006/table">
            <a:tbl>
              <a:tblPr firstRow="1" bandRow="1">
                <a:tableStyleId>{5C22544A-7EE6-4342-B048-85BDC9FD1C3A}</a:tableStyleId>
              </a:tblPr>
              <a:tblGrid>
                <a:gridCol w="550183">
                  <a:extLst>
                    <a:ext uri="{9D8B030D-6E8A-4147-A177-3AD203B41FA5}">
                      <a16:colId xmlns:a16="http://schemas.microsoft.com/office/drawing/2014/main" val="2832307689"/>
                    </a:ext>
                  </a:extLst>
                </a:gridCol>
                <a:gridCol w="550183">
                  <a:extLst>
                    <a:ext uri="{9D8B030D-6E8A-4147-A177-3AD203B41FA5}">
                      <a16:colId xmlns:a16="http://schemas.microsoft.com/office/drawing/2014/main" val="3251695324"/>
                    </a:ext>
                  </a:extLst>
                </a:gridCol>
                <a:gridCol w="550183">
                  <a:extLst>
                    <a:ext uri="{9D8B030D-6E8A-4147-A177-3AD203B41FA5}">
                      <a16:colId xmlns:a16="http://schemas.microsoft.com/office/drawing/2014/main" val="1011478440"/>
                    </a:ext>
                  </a:extLst>
                </a:gridCol>
                <a:gridCol w="550183">
                  <a:extLst>
                    <a:ext uri="{9D8B030D-6E8A-4147-A177-3AD203B41FA5}">
                      <a16:colId xmlns:a16="http://schemas.microsoft.com/office/drawing/2014/main" val="1879859260"/>
                    </a:ext>
                  </a:extLst>
                </a:gridCol>
                <a:gridCol w="550183">
                  <a:extLst>
                    <a:ext uri="{9D8B030D-6E8A-4147-A177-3AD203B41FA5}">
                      <a16:colId xmlns:a16="http://schemas.microsoft.com/office/drawing/2014/main" val="1114575029"/>
                    </a:ext>
                  </a:extLst>
                </a:gridCol>
                <a:gridCol w="550183">
                  <a:extLst>
                    <a:ext uri="{9D8B030D-6E8A-4147-A177-3AD203B41FA5}">
                      <a16:colId xmlns:a16="http://schemas.microsoft.com/office/drawing/2014/main" val="3759471387"/>
                    </a:ext>
                  </a:extLst>
                </a:gridCol>
                <a:gridCol w="550183">
                  <a:extLst>
                    <a:ext uri="{9D8B030D-6E8A-4147-A177-3AD203B41FA5}">
                      <a16:colId xmlns:a16="http://schemas.microsoft.com/office/drawing/2014/main" val="750792995"/>
                    </a:ext>
                  </a:extLst>
                </a:gridCol>
                <a:gridCol w="550183">
                  <a:extLst>
                    <a:ext uri="{9D8B030D-6E8A-4147-A177-3AD203B41FA5}">
                      <a16:colId xmlns:a16="http://schemas.microsoft.com/office/drawing/2014/main" val="3573411931"/>
                    </a:ext>
                  </a:extLst>
                </a:gridCol>
              </a:tblGrid>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624985788"/>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4008448368"/>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84556763"/>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797943795"/>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571270400"/>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668692868"/>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0849321"/>
                  </a:ext>
                </a:extLst>
              </a:tr>
              <a:tr h="370840">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280431063"/>
                  </a:ext>
                </a:extLst>
              </a:tr>
            </a:tbl>
          </a:graphicData>
        </a:graphic>
      </p:graphicFrame>
      <p:sp>
        <p:nvSpPr>
          <p:cNvPr id="12" name="TextBox 11"/>
          <p:cNvSpPr txBox="1"/>
          <p:nvPr/>
        </p:nvSpPr>
        <p:spPr>
          <a:xfrm>
            <a:off x="4082143" y="6440461"/>
            <a:ext cx="1318374" cy="307777"/>
          </a:xfrm>
          <a:prstGeom prst="rect">
            <a:avLst/>
          </a:prstGeom>
          <a:noFill/>
        </p:spPr>
        <p:txBody>
          <a:bodyPr wrap="none" rtlCol="0">
            <a:spAutoFit/>
          </a:bodyPr>
          <a:lstStyle/>
          <a:p>
            <a:r>
              <a:rPr lang="en-US" sz="1400" b="1" dirty="0"/>
              <a:t>Before padding</a:t>
            </a:r>
          </a:p>
        </p:txBody>
      </p:sp>
      <p:sp>
        <p:nvSpPr>
          <p:cNvPr id="13" name="TextBox 12"/>
          <p:cNvSpPr txBox="1"/>
          <p:nvPr/>
        </p:nvSpPr>
        <p:spPr>
          <a:xfrm>
            <a:off x="8937168" y="6549317"/>
            <a:ext cx="1530612" cy="307777"/>
          </a:xfrm>
          <a:prstGeom prst="rect">
            <a:avLst/>
          </a:prstGeom>
          <a:noFill/>
        </p:spPr>
        <p:txBody>
          <a:bodyPr wrap="none" rtlCol="0">
            <a:spAutoFit/>
          </a:bodyPr>
          <a:lstStyle/>
          <a:p>
            <a:r>
              <a:rPr lang="en-US" sz="1400" b="1" dirty="0"/>
              <a:t>After padding of 1</a:t>
            </a:r>
          </a:p>
        </p:txBody>
      </p:sp>
      <p:sp>
        <p:nvSpPr>
          <p:cNvPr id="3" name="TextBox 2">
            <a:extLst>
              <a:ext uri="{FF2B5EF4-FFF2-40B4-BE49-F238E27FC236}">
                <a16:creationId xmlns:a16="http://schemas.microsoft.com/office/drawing/2014/main" id="{4D62F2D6-DB94-571D-52B5-0ADCD1E0016F}"/>
              </a:ext>
            </a:extLst>
          </p:cNvPr>
          <p:cNvSpPr txBox="1"/>
          <p:nvPr/>
        </p:nvSpPr>
        <p:spPr>
          <a:xfrm>
            <a:off x="9619861" y="373222"/>
            <a:ext cx="1373838" cy="369332"/>
          </a:xfrm>
          <a:prstGeom prst="rect">
            <a:avLst/>
          </a:prstGeom>
          <a:noFill/>
        </p:spPr>
        <p:txBody>
          <a:bodyPr wrap="none" rtlCol="0">
            <a:spAutoFit/>
          </a:bodyPr>
          <a:lstStyle/>
          <a:p>
            <a:r>
              <a:rPr lang="en-US" dirty="0" err="1"/>
              <a:t>shamlodhiya</a:t>
            </a:r>
            <a:endParaRPr lang="en-IN" dirty="0"/>
          </a:p>
        </p:txBody>
      </p:sp>
    </p:spTree>
    <p:extLst>
      <p:ext uri="{BB962C8B-B14F-4D97-AF65-F5344CB8AC3E}">
        <p14:creationId xmlns:p14="http://schemas.microsoft.com/office/powerpoint/2010/main" val="1001247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912" y="87084"/>
            <a:ext cx="7358743" cy="489857"/>
          </a:xfrm>
        </p:spPr>
        <p:txBody>
          <a:bodyPr>
            <a:normAutofit fontScale="90000"/>
          </a:bodyPr>
          <a:lstStyle/>
          <a:p>
            <a:r>
              <a:rPr lang="en-US" sz="2800" b="1" dirty="0"/>
              <a:t>Key Components of a CNN(p4.4): Convolution layers</a:t>
            </a:r>
            <a:endParaRPr lang="en-US" sz="2800" dirty="0"/>
          </a:p>
        </p:txBody>
      </p:sp>
      <p:sp>
        <p:nvSpPr>
          <p:cNvPr id="5" name="TextBox 4"/>
          <p:cNvSpPr txBox="1"/>
          <p:nvPr/>
        </p:nvSpPr>
        <p:spPr>
          <a:xfrm>
            <a:off x="402772" y="587827"/>
            <a:ext cx="11484428" cy="2585323"/>
          </a:xfrm>
          <a:prstGeom prst="rect">
            <a:avLst/>
          </a:prstGeom>
          <a:noFill/>
        </p:spPr>
        <p:txBody>
          <a:bodyPr wrap="square" rtlCol="0">
            <a:spAutoFit/>
          </a:bodyPr>
          <a:lstStyle/>
          <a:p>
            <a:r>
              <a:rPr lang="en-US" dirty="0"/>
              <a:t>There are two common choices for padding:</a:t>
            </a:r>
          </a:p>
          <a:p>
            <a:r>
              <a:rPr lang="en-US" b="1" dirty="0"/>
              <a:t>1. Valid</a:t>
            </a:r>
            <a:r>
              <a:rPr lang="en-US" dirty="0"/>
              <a:t> </a:t>
            </a:r>
            <a:r>
              <a:rPr lang="en-US" b="1" dirty="0"/>
              <a:t>Padding</a:t>
            </a:r>
            <a:r>
              <a:rPr lang="en-US" dirty="0"/>
              <a:t> </a:t>
            </a:r>
            <a:r>
              <a:rPr lang="en-US" b="1" dirty="0"/>
              <a:t>:</a:t>
            </a:r>
            <a:r>
              <a:rPr lang="en-US" dirty="0"/>
              <a:t> It means </a:t>
            </a:r>
            <a:r>
              <a:rPr lang="en-US" b="1" dirty="0"/>
              <a:t>no padding</a:t>
            </a:r>
            <a:r>
              <a:rPr lang="en-US" dirty="0"/>
              <a:t>. If we are using valid padding, the output will be (n-f+1) X (n-f+1)</a:t>
            </a:r>
          </a:p>
          <a:p>
            <a:r>
              <a:rPr lang="en-US" b="1" dirty="0"/>
              <a:t>2. Same</a:t>
            </a:r>
            <a:r>
              <a:rPr lang="en-US" dirty="0"/>
              <a:t> </a:t>
            </a:r>
            <a:r>
              <a:rPr lang="en-US" b="1" dirty="0"/>
              <a:t>Padding :</a:t>
            </a:r>
            <a:r>
              <a:rPr lang="en-US" dirty="0"/>
              <a:t> Here, we apply padding in such a manner so that the </a:t>
            </a:r>
            <a:r>
              <a:rPr lang="en-US" b="1" dirty="0"/>
              <a:t>output size is the same as the input size</a:t>
            </a:r>
            <a:r>
              <a:rPr lang="en-US" dirty="0"/>
              <a:t>, i.e.,</a:t>
            </a:r>
            <a:br>
              <a:rPr lang="en-US" dirty="0"/>
            </a:br>
            <a:r>
              <a:rPr lang="en-US" dirty="0"/>
              <a:t>n+2p-f+1 = n</a:t>
            </a:r>
            <a:br>
              <a:rPr lang="en-US" dirty="0"/>
            </a:br>
            <a:r>
              <a:rPr lang="en-US" dirty="0"/>
              <a:t>So, p = (f-1)/2</a:t>
            </a:r>
          </a:p>
          <a:p>
            <a:r>
              <a:rPr lang="en-US" dirty="0"/>
              <a:t>So by using padded convolution, we don’t lose a lot of information and the image does not shrink either.</a:t>
            </a:r>
          </a:p>
          <a:p>
            <a:r>
              <a:rPr lang="en-US" b="1" dirty="0"/>
              <a:t>3. Causal Padding:</a:t>
            </a:r>
            <a:r>
              <a:rPr lang="en-US" dirty="0"/>
              <a:t> This type of padding is used in </a:t>
            </a:r>
            <a:r>
              <a:rPr lang="en-US" dirty="0">
                <a:hlinkClick r:id="rId2"/>
              </a:rPr>
              <a:t>sequence-to-sequence models</a:t>
            </a:r>
            <a:r>
              <a:rPr lang="en-US" dirty="0"/>
              <a:t> and time series forecasting and basically works with the one-dimensional convolutional layers. Causal padding </a:t>
            </a:r>
            <a:r>
              <a:rPr lang="en-US" b="1" dirty="0"/>
              <a:t>adds elements to the start of the data</a:t>
            </a:r>
            <a:r>
              <a:rPr lang="en-US" dirty="0"/>
              <a:t>, which also aids in forecasting the values of early time steps.</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8828" y="3167743"/>
            <a:ext cx="7003328" cy="2990851"/>
          </a:xfrm>
          <a:prstGeom prst="rect">
            <a:avLst/>
          </a:prstGeom>
        </p:spPr>
      </p:pic>
      <p:sp>
        <p:nvSpPr>
          <p:cNvPr id="3" name="TextBox 2"/>
          <p:cNvSpPr txBox="1"/>
          <p:nvPr/>
        </p:nvSpPr>
        <p:spPr>
          <a:xfrm>
            <a:off x="5704114" y="6389913"/>
            <a:ext cx="2230098" cy="369332"/>
          </a:xfrm>
          <a:prstGeom prst="rect">
            <a:avLst/>
          </a:prstGeom>
          <a:noFill/>
        </p:spPr>
        <p:txBody>
          <a:bodyPr wrap="none" rtlCol="0">
            <a:spAutoFit/>
          </a:bodyPr>
          <a:lstStyle/>
          <a:p>
            <a:r>
              <a:rPr lang="en-US" dirty="0"/>
              <a:t>Applying padding of 2</a:t>
            </a:r>
          </a:p>
        </p:txBody>
      </p:sp>
      <p:sp>
        <p:nvSpPr>
          <p:cNvPr id="4" name="TextBox 3">
            <a:extLst>
              <a:ext uri="{FF2B5EF4-FFF2-40B4-BE49-F238E27FC236}">
                <a16:creationId xmlns:a16="http://schemas.microsoft.com/office/drawing/2014/main" id="{C5EF2AAF-09E6-F111-63BC-41941E408C86}"/>
              </a:ext>
            </a:extLst>
          </p:cNvPr>
          <p:cNvSpPr txBox="1"/>
          <p:nvPr/>
        </p:nvSpPr>
        <p:spPr>
          <a:xfrm>
            <a:off x="9619861" y="373222"/>
            <a:ext cx="1373838" cy="369332"/>
          </a:xfrm>
          <a:prstGeom prst="rect">
            <a:avLst/>
          </a:prstGeom>
          <a:noFill/>
        </p:spPr>
        <p:txBody>
          <a:bodyPr wrap="none" rtlCol="0">
            <a:spAutoFit/>
          </a:bodyPr>
          <a:lstStyle/>
          <a:p>
            <a:r>
              <a:rPr lang="en-US" dirty="0" err="1"/>
              <a:t>shamlodhiya</a:t>
            </a:r>
            <a:endParaRPr lang="en-IN" dirty="0"/>
          </a:p>
        </p:txBody>
      </p:sp>
    </p:spTree>
    <p:extLst>
      <p:ext uri="{BB962C8B-B14F-4D97-AF65-F5344CB8AC3E}">
        <p14:creationId xmlns:p14="http://schemas.microsoft.com/office/powerpoint/2010/main" val="1406443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912" y="87084"/>
            <a:ext cx="7358743" cy="489857"/>
          </a:xfrm>
        </p:spPr>
        <p:txBody>
          <a:bodyPr>
            <a:normAutofit fontScale="90000"/>
          </a:bodyPr>
          <a:lstStyle/>
          <a:p>
            <a:r>
              <a:rPr lang="en-US" sz="2800" b="1" dirty="0"/>
              <a:t>Key Components of a CNN(p4.5): Convolution layers</a:t>
            </a:r>
            <a:endParaRPr lang="en-US" sz="2800" dirty="0"/>
          </a:p>
        </p:txBody>
      </p:sp>
      <p:sp>
        <p:nvSpPr>
          <p:cNvPr id="4" name="TextBox 3"/>
          <p:cNvSpPr txBox="1"/>
          <p:nvPr/>
        </p:nvSpPr>
        <p:spPr>
          <a:xfrm>
            <a:off x="500063" y="1200150"/>
            <a:ext cx="10252807" cy="923330"/>
          </a:xfrm>
          <a:prstGeom prst="rect">
            <a:avLst/>
          </a:prstGeom>
          <a:noFill/>
        </p:spPr>
        <p:txBody>
          <a:bodyPr wrap="none" rtlCol="0">
            <a:spAutoFit/>
          </a:bodyPr>
          <a:lstStyle/>
          <a:p>
            <a:r>
              <a:rPr lang="en-US" dirty="0"/>
              <a:t>Some key points about convolution layers:</a:t>
            </a:r>
          </a:p>
          <a:p>
            <a:pPr marL="285750" indent="-285750">
              <a:buFont typeface="Arial" panose="020B0604020202020204" pitchFamily="34" charset="0"/>
              <a:buChar char="•"/>
            </a:pPr>
            <a:r>
              <a:rPr lang="en-US" dirty="0"/>
              <a:t>The more convolution layers the network has, the better the layer is at detecting more abstract features.</a:t>
            </a:r>
          </a:p>
          <a:p>
            <a:pPr marL="285750" indent="-285750">
              <a:buFont typeface="Arial" panose="020B0604020202020204" pitchFamily="34" charset="0"/>
              <a:buChar char="•"/>
            </a:pPr>
            <a:r>
              <a:rPr lang="en-US" dirty="0"/>
              <a:t>Output of kernel operation obtained is of lower dimensions and therefore easier to work with.</a:t>
            </a:r>
          </a:p>
        </p:txBody>
      </p:sp>
    </p:spTree>
    <p:extLst>
      <p:ext uri="{BB962C8B-B14F-4D97-AF65-F5344CB8AC3E}">
        <p14:creationId xmlns:p14="http://schemas.microsoft.com/office/powerpoint/2010/main" val="2243199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912" y="87084"/>
            <a:ext cx="7358743" cy="489857"/>
          </a:xfrm>
        </p:spPr>
        <p:txBody>
          <a:bodyPr>
            <a:normAutofit/>
          </a:bodyPr>
          <a:lstStyle/>
          <a:p>
            <a:r>
              <a:rPr lang="en-US" sz="2800" b="1" dirty="0"/>
              <a:t>Key Components of a CNN(p5): Activation function</a:t>
            </a:r>
            <a:endParaRPr lang="en-US" sz="2800" dirty="0"/>
          </a:p>
        </p:txBody>
      </p:sp>
      <p:sp>
        <p:nvSpPr>
          <p:cNvPr id="5" name="TextBox 4"/>
          <p:cNvSpPr txBox="1"/>
          <p:nvPr/>
        </p:nvSpPr>
        <p:spPr>
          <a:xfrm>
            <a:off x="424543" y="838198"/>
            <a:ext cx="11551867" cy="1477328"/>
          </a:xfrm>
          <a:prstGeom prst="rect">
            <a:avLst/>
          </a:prstGeom>
          <a:noFill/>
        </p:spPr>
        <p:txBody>
          <a:bodyPr wrap="square" rtlCol="0">
            <a:spAutoFit/>
          </a:bodyPr>
          <a:lstStyle/>
          <a:p>
            <a:r>
              <a:rPr lang="en-US" b="1" dirty="0"/>
              <a:t>Activation function</a:t>
            </a:r>
          </a:p>
          <a:p>
            <a:r>
              <a:rPr lang="en-US" dirty="0"/>
              <a:t>A </a:t>
            </a:r>
            <a:r>
              <a:rPr lang="en-US" dirty="0" err="1"/>
              <a:t>ReLU</a:t>
            </a:r>
            <a:r>
              <a:rPr lang="en-US" dirty="0"/>
              <a:t> activation function is applied after each convolution operation. This function helps the network learn </a:t>
            </a:r>
            <a:r>
              <a:rPr lang="en-US" b="1" dirty="0"/>
              <a:t>non-linear </a:t>
            </a:r>
            <a:r>
              <a:rPr lang="en-US" dirty="0"/>
              <a:t>relationships between the features in the image, hence making the network more robust for identifying different patterns. It also helps to mitigate the vanishing gradient problems.</a:t>
            </a:r>
          </a:p>
          <a:p>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752" y="2122713"/>
            <a:ext cx="7205101" cy="3233058"/>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4797" y="2808513"/>
            <a:ext cx="4195838" cy="2068287"/>
          </a:xfrm>
          <a:prstGeom prst="rect">
            <a:avLst/>
          </a:prstGeom>
        </p:spPr>
      </p:pic>
      <p:sp>
        <p:nvSpPr>
          <p:cNvPr id="8" name="TextBox 7"/>
          <p:cNvSpPr txBox="1"/>
          <p:nvPr/>
        </p:nvSpPr>
        <p:spPr>
          <a:xfrm>
            <a:off x="8697686" y="2536373"/>
            <a:ext cx="1814599" cy="369332"/>
          </a:xfrm>
          <a:prstGeom prst="rect">
            <a:avLst/>
          </a:prstGeom>
          <a:noFill/>
        </p:spPr>
        <p:txBody>
          <a:bodyPr wrap="none" rtlCol="0">
            <a:spAutoFit/>
          </a:bodyPr>
          <a:lstStyle/>
          <a:p>
            <a:r>
              <a:rPr lang="en-US" dirty="0"/>
              <a:t>Example of </a:t>
            </a:r>
            <a:r>
              <a:rPr lang="en-US" dirty="0" err="1"/>
              <a:t>ReLU</a:t>
            </a:r>
            <a:r>
              <a:rPr lang="en-US" dirty="0"/>
              <a:t>:</a:t>
            </a:r>
          </a:p>
        </p:txBody>
      </p:sp>
      <p:sp>
        <p:nvSpPr>
          <p:cNvPr id="3" name="Right Arrow 2"/>
          <p:cNvSpPr/>
          <p:nvPr/>
        </p:nvSpPr>
        <p:spPr>
          <a:xfrm>
            <a:off x="7361853" y="3614738"/>
            <a:ext cx="382944" cy="5143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268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912" y="87084"/>
            <a:ext cx="7358743" cy="489857"/>
          </a:xfrm>
        </p:spPr>
        <p:txBody>
          <a:bodyPr>
            <a:normAutofit/>
          </a:bodyPr>
          <a:lstStyle/>
          <a:p>
            <a:r>
              <a:rPr lang="en-US" sz="2800" b="1" dirty="0"/>
              <a:t>Key Components of a CNN(p6): Pooling layer</a:t>
            </a:r>
            <a:endParaRPr lang="en-US" sz="2800" dirty="0"/>
          </a:p>
        </p:txBody>
      </p:sp>
      <p:sp>
        <p:nvSpPr>
          <p:cNvPr id="3" name="TextBox 2"/>
          <p:cNvSpPr txBox="1"/>
          <p:nvPr/>
        </p:nvSpPr>
        <p:spPr>
          <a:xfrm>
            <a:off x="402772" y="805541"/>
            <a:ext cx="11629394" cy="2308324"/>
          </a:xfrm>
          <a:prstGeom prst="rect">
            <a:avLst/>
          </a:prstGeom>
          <a:noFill/>
        </p:spPr>
        <p:txBody>
          <a:bodyPr wrap="square" rtlCol="0">
            <a:spAutoFit/>
          </a:bodyPr>
          <a:lstStyle/>
          <a:p>
            <a:r>
              <a:rPr lang="en-US" b="1" dirty="0"/>
              <a:t>Pooling layer</a:t>
            </a:r>
          </a:p>
          <a:p>
            <a:r>
              <a:rPr lang="en-US" dirty="0"/>
              <a:t>The goal of the pooling layer is to </a:t>
            </a:r>
            <a:r>
              <a:rPr lang="en-US" b="1" dirty="0"/>
              <a:t>pull the most significant features </a:t>
            </a:r>
            <a:r>
              <a:rPr lang="en-US" dirty="0"/>
              <a:t>from the convoluted matrix. This is done by applying some aggregation operations, which </a:t>
            </a:r>
            <a:r>
              <a:rPr lang="en-US" b="1" dirty="0"/>
              <a:t>reduce the dimension of the feature </a:t>
            </a:r>
            <a:r>
              <a:rPr lang="en-US" dirty="0"/>
              <a:t>map (convoluted matrix), hence reducing the memory used while training the network. Pooling is also relevant for mitigating overfitting.</a:t>
            </a:r>
          </a:p>
          <a:p>
            <a:r>
              <a:rPr lang="en-US" dirty="0"/>
              <a:t>The most common aggregation functions that can be applied are:</a:t>
            </a:r>
          </a:p>
          <a:p>
            <a:pPr marL="285750" indent="-285750">
              <a:buFont typeface="Arial" panose="020B0604020202020204" pitchFamily="34" charset="0"/>
              <a:buChar char="•"/>
            </a:pPr>
            <a:r>
              <a:rPr lang="en-US" b="1" dirty="0"/>
              <a:t>Max pooling</a:t>
            </a:r>
            <a:r>
              <a:rPr lang="en-US" dirty="0"/>
              <a:t>, which is the maximum value of the feature map</a:t>
            </a:r>
          </a:p>
          <a:p>
            <a:pPr marL="285750" indent="-285750">
              <a:buFont typeface="Arial" panose="020B0604020202020204" pitchFamily="34" charset="0"/>
              <a:buChar char="•"/>
            </a:pPr>
            <a:r>
              <a:rPr lang="en-US" b="1" dirty="0"/>
              <a:t>Sum pooling </a:t>
            </a:r>
            <a:r>
              <a:rPr lang="en-US" dirty="0"/>
              <a:t>corresponds to the sum of all the values of the feature map</a:t>
            </a:r>
          </a:p>
          <a:p>
            <a:pPr marL="285750" indent="-285750">
              <a:buFont typeface="Arial" panose="020B0604020202020204" pitchFamily="34" charset="0"/>
              <a:buChar char="•"/>
            </a:pPr>
            <a:r>
              <a:rPr lang="en-US" b="1" dirty="0"/>
              <a:t>Average pooling </a:t>
            </a:r>
            <a:r>
              <a:rPr lang="en-US" dirty="0"/>
              <a:t>is the average of all the values.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0714" y="3037114"/>
            <a:ext cx="6485843" cy="3358244"/>
          </a:xfrm>
          <a:prstGeom prst="rect">
            <a:avLst/>
          </a:prstGeom>
        </p:spPr>
      </p:pic>
      <p:sp>
        <p:nvSpPr>
          <p:cNvPr id="7" name="TextBox 6"/>
          <p:cNvSpPr txBox="1"/>
          <p:nvPr/>
        </p:nvSpPr>
        <p:spPr>
          <a:xfrm>
            <a:off x="402772" y="4180113"/>
            <a:ext cx="2895599" cy="1815882"/>
          </a:xfrm>
          <a:prstGeom prst="rect">
            <a:avLst/>
          </a:prstGeom>
          <a:noFill/>
        </p:spPr>
        <p:txBody>
          <a:bodyPr wrap="square" rtlCol="0">
            <a:spAutoFit/>
          </a:bodyPr>
          <a:lstStyle/>
          <a:p>
            <a:r>
              <a:rPr lang="en-US" sz="1600" dirty="0"/>
              <a:t>This step helps in </a:t>
            </a:r>
            <a:r>
              <a:rPr lang="en-US" sz="1600" b="1" dirty="0"/>
              <a:t>removing any unnecessary features</a:t>
            </a:r>
            <a:r>
              <a:rPr lang="en-US" sz="1600" dirty="0"/>
              <a:t>. When you take the highest values from that block of matrix while applying max pool, it accounts for only important features in the output</a:t>
            </a:r>
          </a:p>
        </p:txBody>
      </p:sp>
    </p:spTree>
    <p:extLst>
      <p:ext uri="{BB962C8B-B14F-4D97-AF65-F5344CB8AC3E}">
        <p14:creationId xmlns:p14="http://schemas.microsoft.com/office/powerpoint/2010/main" val="3778243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912" y="87084"/>
            <a:ext cx="7358743" cy="489857"/>
          </a:xfrm>
        </p:spPr>
        <p:txBody>
          <a:bodyPr>
            <a:normAutofit/>
          </a:bodyPr>
          <a:lstStyle/>
          <a:p>
            <a:r>
              <a:rPr lang="en-US" sz="2800" b="1" dirty="0"/>
              <a:t>Key Components of a CNN(p7): Pooling layer</a:t>
            </a:r>
            <a:endParaRPr lang="en-US" sz="2800" dirty="0"/>
          </a:p>
        </p:txBody>
      </p:sp>
      <p:sp>
        <p:nvSpPr>
          <p:cNvPr id="4" name="TextBox 3"/>
          <p:cNvSpPr txBox="1"/>
          <p:nvPr/>
        </p:nvSpPr>
        <p:spPr>
          <a:xfrm>
            <a:off x="163287" y="696684"/>
            <a:ext cx="11902334" cy="1477328"/>
          </a:xfrm>
          <a:prstGeom prst="rect">
            <a:avLst/>
          </a:prstGeom>
          <a:noFill/>
        </p:spPr>
        <p:txBody>
          <a:bodyPr wrap="square" rtlCol="0">
            <a:spAutoFit/>
          </a:bodyPr>
          <a:lstStyle/>
          <a:p>
            <a:pPr fontAlgn="base"/>
            <a:r>
              <a:rPr lang="en-US" b="1" dirty="0"/>
              <a:t>Average pooling </a:t>
            </a:r>
            <a:r>
              <a:rPr lang="en-US" dirty="0"/>
              <a:t>computes the average of the elements present in the region of feature map covered by the filter. Average pooling gives the average of features present in a patch. </a:t>
            </a:r>
          </a:p>
          <a:p>
            <a:pPr fontAlgn="base"/>
            <a:r>
              <a:rPr lang="en-US" dirty="0"/>
              <a:t>Average pooling provides a more generalized representation of the input. It is useful in the cases where </a:t>
            </a:r>
            <a:r>
              <a:rPr lang="en-US" b="1" dirty="0"/>
              <a:t>preserving the overall context </a:t>
            </a:r>
            <a:r>
              <a:rPr lang="en-US" dirty="0"/>
              <a:t>is important</a:t>
            </a: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7425" y="2968398"/>
            <a:ext cx="9038547" cy="3236459"/>
          </a:xfrm>
          <a:prstGeom prst="rect">
            <a:avLst/>
          </a:prstGeom>
        </p:spPr>
      </p:pic>
    </p:spTree>
    <p:extLst>
      <p:ext uri="{BB962C8B-B14F-4D97-AF65-F5344CB8AC3E}">
        <p14:creationId xmlns:p14="http://schemas.microsoft.com/office/powerpoint/2010/main" val="23395356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912" y="87084"/>
            <a:ext cx="7358743" cy="489857"/>
          </a:xfrm>
        </p:spPr>
        <p:txBody>
          <a:bodyPr>
            <a:normAutofit fontScale="90000"/>
          </a:bodyPr>
          <a:lstStyle/>
          <a:p>
            <a:r>
              <a:rPr lang="en-US" sz="2800" b="1" dirty="0"/>
              <a:t>Key Components of a CNN(p8): Fully connected layers</a:t>
            </a:r>
            <a:endParaRPr lang="en-US" sz="2800" dirty="0"/>
          </a:p>
        </p:txBody>
      </p:sp>
      <p:sp>
        <p:nvSpPr>
          <p:cNvPr id="4" name="TextBox 3"/>
          <p:cNvSpPr txBox="1"/>
          <p:nvPr/>
        </p:nvSpPr>
        <p:spPr>
          <a:xfrm>
            <a:off x="163287" y="696684"/>
            <a:ext cx="11902334" cy="2031325"/>
          </a:xfrm>
          <a:prstGeom prst="rect">
            <a:avLst/>
          </a:prstGeom>
          <a:noFill/>
        </p:spPr>
        <p:txBody>
          <a:bodyPr wrap="square" rtlCol="0">
            <a:spAutoFit/>
          </a:bodyPr>
          <a:lstStyle/>
          <a:p>
            <a:r>
              <a:rPr lang="en-US" b="1" dirty="0"/>
              <a:t>Fully connected layers</a:t>
            </a:r>
          </a:p>
          <a:p>
            <a:pPr marL="285750" indent="-285750">
              <a:buFont typeface="Arial" panose="020B0604020202020204" pitchFamily="34" charset="0"/>
              <a:buChar char="•"/>
            </a:pPr>
            <a:r>
              <a:rPr lang="en-US" dirty="0"/>
              <a:t>A fully connected layer, aka </a:t>
            </a:r>
            <a:r>
              <a:rPr lang="en-US" b="1" dirty="0"/>
              <a:t>dense layer,</a:t>
            </a:r>
            <a:r>
              <a:rPr lang="en-US" dirty="0"/>
              <a:t> in a convolutional neural network (CNN) connects </a:t>
            </a:r>
            <a:r>
              <a:rPr lang="en-US" b="1" dirty="0"/>
              <a:t>every input node to every output node</a:t>
            </a:r>
            <a:r>
              <a:rPr lang="en-US" dirty="0"/>
              <a:t>.</a:t>
            </a:r>
          </a:p>
          <a:p>
            <a:pPr marL="285750" indent="-285750">
              <a:buFont typeface="Arial" panose="020B0604020202020204" pitchFamily="34" charset="0"/>
              <a:buChar char="•"/>
            </a:pPr>
            <a:r>
              <a:rPr lang="en-US" dirty="0"/>
              <a:t>These layers are in the </a:t>
            </a:r>
            <a:r>
              <a:rPr lang="en-US" b="1" dirty="0"/>
              <a:t>last layer</a:t>
            </a:r>
            <a:r>
              <a:rPr lang="en-US" dirty="0"/>
              <a:t> of the convolutional neural network, and their inputs correspond to the flattened one-dimensional matrix generated by the last pooling layer. </a:t>
            </a:r>
            <a:r>
              <a:rPr lang="en-US" dirty="0" err="1"/>
              <a:t>ReLU</a:t>
            </a:r>
            <a:r>
              <a:rPr lang="en-US" dirty="0"/>
              <a:t> activations functions are applied to them for non-linearity.</a:t>
            </a:r>
          </a:p>
          <a:p>
            <a:pPr marL="285750" indent="-285750">
              <a:buFont typeface="Arial" panose="020B0604020202020204" pitchFamily="34" charset="0"/>
              <a:buChar char="•"/>
            </a:pPr>
            <a:r>
              <a:rPr lang="en-US" dirty="0"/>
              <a:t>Finally, a </a:t>
            </a:r>
            <a:r>
              <a:rPr lang="en-US" b="1" dirty="0" err="1"/>
              <a:t>softmax</a:t>
            </a:r>
            <a:r>
              <a:rPr lang="en-US" dirty="0"/>
              <a:t> prediction layer is used to generate probability values for each of the possible output labels, and the final label predicted is the one with the highest probability score.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3751" y="2885728"/>
            <a:ext cx="4350882" cy="3634134"/>
          </a:xfrm>
          <a:prstGeom prst="rect">
            <a:avLst/>
          </a:prstGeom>
        </p:spPr>
      </p:pic>
    </p:spTree>
    <p:extLst>
      <p:ext uri="{BB962C8B-B14F-4D97-AF65-F5344CB8AC3E}">
        <p14:creationId xmlns:p14="http://schemas.microsoft.com/office/powerpoint/2010/main" val="2959718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912" y="87084"/>
            <a:ext cx="7358743" cy="489857"/>
          </a:xfrm>
        </p:spPr>
        <p:txBody>
          <a:bodyPr>
            <a:normAutofit/>
          </a:bodyPr>
          <a:lstStyle/>
          <a:p>
            <a:r>
              <a:rPr lang="en-US" sz="2800" b="1" dirty="0"/>
              <a:t>Key Components of a CNN(p9): Flattening</a:t>
            </a:r>
          </a:p>
        </p:txBody>
      </p:sp>
      <p:sp>
        <p:nvSpPr>
          <p:cNvPr id="4" name="TextBox 3"/>
          <p:cNvSpPr txBox="1"/>
          <p:nvPr/>
        </p:nvSpPr>
        <p:spPr>
          <a:xfrm>
            <a:off x="163287" y="696684"/>
            <a:ext cx="11902334" cy="923330"/>
          </a:xfrm>
          <a:prstGeom prst="rect">
            <a:avLst/>
          </a:prstGeom>
          <a:noFill/>
        </p:spPr>
        <p:txBody>
          <a:bodyPr wrap="square" rtlCol="0">
            <a:spAutoFit/>
          </a:bodyPr>
          <a:lstStyle/>
          <a:p>
            <a:r>
              <a:rPr lang="en-US" b="1" dirty="0"/>
              <a:t>Flatten</a:t>
            </a:r>
          </a:p>
          <a:p>
            <a:r>
              <a:rPr lang="en-US" dirty="0"/>
              <a:t>Flattening is used to convert all the resultant 2-Dimensional arrays from pooled feature maps into a single long continuous linear vector. The flattened matrix is fed as input to the fully connected layer to classify the image.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2771" y="1898980"/>
            <a:ext cx="6672943" cy="3829802"/>
          </a:xfrm>
          <a:prstGeom prst="rect">
            <a:avLst/>
          </a:prstGeom>
        </p:spPr>
      </p:pic>
      <p:sp>
        <p:nvSpPr>
          <p:cNvPr id="5" name="TextBox 4">
            <a:extLst>
              <a:ext uri="{FF2B5EF4-FFF2-40B4-BE49-F238E27FC236}">
                <a16:creationId xmlns:a16="http://schemas.microsoft.com/office/drawing/2014/main" id="{0019EE25-589E-4208-5896-8EA60827DE58}"/>
              </a:ext>
            </a:extLst>
          </p:cNvPr>
          <p:cNvSpPr txBox="1"/>
          <p:nvPr/>
        </p:nvSpPr>
        <p:spPr>
          <a:xfrm>
            <a:off x="4850296" y="5788550"/>
            <a:ext cx="2149050" cy="369332"/>
          </a:xfrm>
          <a:prstGeom prst="rect">
            <a:avLst/>
          </a:prstGeom>
          <a:noFill/>
        </p:spPr>
        <p:txBody>
          <a:bodyPr wrap="none" rtlCol="0">
            <a:spAutoFit/>
          </a:bodyPr>
          <a:lstStyle/>
          <a:p>
            <a:r>
              <a:rPr lang="en-US" dirty="0"/>
              <a:t>2D matrix of size 3X3</a:t>
            </a:r>
            <a:endParaRPr lang="en-IN" dirty="0"/>
          </a:p>
        </p:txBody>
      </p:sp>
      <p:sp>
        <p:nvSpPr>
          <p:cNvPr id="6" name="TextBox 5">
            <a:extLst>
              <a:ext uri="{FF2B5EF4-FFF2-40B4-BE49-F238E27FC236}">
                <a16:creationId xmlns:a16="http://schemas.microsoft.com/office/drawing/2014/main" id="{CBC057DB-4C79-239E-1F81-8EBCC37C7D7D}"/>
              </a:ext>
            </a:extLst>
          </p:cNvPr>
          <p:cNvSpPr txBox="1"/>
          <p:nvPr/>
        </p:nvSpPr>
        <p:spPr>
          <a:xfrm>
            <a:off x="9829137" y="5750118"/>
            <a:ext cx="1786258" cy="369332"/>
          </a:xfrm>
          <a:prstGeom prst="rect">
            <a:avLst/>
          </a:prstGeom>
          <a:noFill/>
        </p:spPr>
        <p:txBody>
          <a:bodyPr wrap="none" rtlCol="0">
            <a:spAutoFit/>
          </a:bodyPr>
          <a:lstStyle/>
          <a:p>
            <a:r>
              <a:rPr lang="en-US"/>
              <a:t>1D array of size 9</a:t>
            </a:r>
            <a:endParaRPr lang="en-IN" dirty="0"/>
          </a:p>
        </p:txBody>
      </p:sp>
    </p:spTree>
    <p:extLst>
      <p:ext uri="{BB962C8B-B14F-4D97-AF65-F5344CB8AC3E}">
        <p14:creationId xmlns:p14="http://schemas.microsoft.com/office/powerpoint/2010/main" val="3274540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912" y="87084"/>
            <a:ext cx="7358743" cy="489857"/>
          </a:xfrm>
        </p:spPr>
        <p:txBody>
          <a:bodyPr>
            <a:normAutofit/>
          </a:bodyPr>
          <a:lstStyle/>
          <a:p>
            <a:r>
              <a:rPr lang="en-US" sz="2800" b="1" dirty="0"/>
              <a:t>Key Components of a CNN(p10): Dropout Layer</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4825" y="1698172"/>
            <a:ext cx="9046879" cy="4113440"/>
          </a:xfrm>
          <a:prstGeom prst="rect">
            <a:avLst/>
          </a:prstGeom>
        </p:spPr>
      </p:pic>
      <p:sp>
        <p:nvSpPr>
          <p:cNvPr id="6" name="TextBox 5"/>
          <p:cNvSpPr txBox="1"/>
          <p:nvPr/>
        </p:nvSpPr>
        <p:spPr>
          <a:xfrm>
            <a:off x="489857" y="664029"/>
            <a:ext cx="10537372" cy="646331"/>
          </a:xfrm>
          <a:prstGeom prst="rect">
            <a:avLst/>
          </a:prstGeom>
          <a:noFill/>
        </p:spPr>
        <p:txBody>
          <a:bodyPr wrap="square" rtlCol="0">
            <a:spAutoFit/>
          </a:bodyPr>
          <a:lstStyle/>
          <a:p>
            <a:r>
              <a:rPr lang="en-US" dirty="0"/>
              <a:t>Drop out is a way to </a:t>
            </a:r>
            <a:r>
              <a:rPr lang="en-US" b="1" dirty="0"/>
              <a:t>prevent overfitting </a:t>
            </a:r>
            <a:r>
              <a:rPr lang="en-US" dirty="0"/>
              <a:t>in neural networks, especially in complex architectures that have a tendency to memorize the training data rather than generalize from it</a:t>
            </a:r>
          </a:p>
        </p:txBody>
      </p:sp>
    </p:spTree>
    <p:extLst>
      <p:ext uri="{BB962C8B-B14F-4D97-AF65-F5344CB8AC3E}">
        <p14:creationId xmlns:p14="http://schemas.microsoft.com/office/powerpoint/2010/main" val="4011146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170" y="114754"/>
            <a:ext cx="4288971" cy="483961"/>
          </a:xfrm>
        </p:spPr>
        <p:txBody>
          <a:bodyPr>
            <a:normAutofit fontScale="90000"/>
          </a:bodyPr>
          <a:lstStyle/>
          <a:p>
            <a:r>
              <a:rPr lang="en-US" dirty="0"/>
              <a:t>Examples of CNN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0180" y="598715"/>
            <a:ext cx="8363614" cy="6117767"/>
          </a:xfrm>
          <a:prstGeom prst="rect">
            <a:avLst/>
          </a:prstGeom>
        </p:spPr>
      </p:pic>
      <p:sp>
        <p:nvSpPr>
          <p:cNvPr id="5" name="TextBox 4"/>
          <p:cNvSpPr txBox="1"/>
          <p:nvPr/>
        </p:nvSpPr>
        <p:spPr>
          <a:xfrm>
            <a:off x="108855" y="6422570"/>
            <a:ext cx="1469248" cy="307777"/>
          </a:xfrm>
          <a:prstGeom prst="rect">
            <a:avLst/>
          </a:prstGeom>
          <a:noFill/>
        </p:spPr>
        <p:txBody>
          <a:bodyPr wrap="none" rtlCol="0">
            <a:spAutoFit/>
          </a:bodyPr>
          <a:lstStyle/>
          <a:p>
            <a:r>
              <a:rPr lang="en-US" sz="1400" dirty="0"/>
              <a:t>Source: </a:t>
            </a:r>
            <a:r>
              <a:rPr lang="en-US" sz="1400" dirty="0" err="1"/>
              <a:t>wikipedia</a:t>
            </a:r>
            <a:endParaRPr lang="en-US" sz="1400" dirty="0"/>
          </a:p>
        </p:txBody>
      </p:sp>
    </p:spTree>
    <p:extLst>
      <p:ext uri="{BB962C8B-B14F-4D97-AF65-F5344CB8AC3E}">
        <p14:creationId xmlns:p14="http://schemas.microsoft.com/office/powerpoint/2010/main" val="1716838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456" y="82097"/>
            <a:ext cx="2351315" cy="603704"/>
          </a:xfrm>
        </p:spPr>
        <p:txBody>
          <a:bodyPr>
            <a:normAutofit fontScale="90000"/>
          </a:bodyPr>
          <a:lstStyle/>
          <a:p>
            <a:r>
              <a:rPr lang="en-US" dirty="0" err="1"/>
              <a:t>LeNet</a:t>
            </a:r>
            <a:endParaRPr lang="en-US" dirty="0"/>
          </a:p>
        </p:txBody>
      </p:sp>
      <p:sp>
        <p:nvSpPr>
          <p:cNvPr id="3" name="Content Placeholder 2"/>
          <p:cNvSpPr>
            <a:spLocks noGrp="1"/>
          </p:cNvSpPr>
          <p:nvPr>
            <p:ph idx="1"/>
          </p:nvPr>
        </p:nvSpPr>
        <p:spPr>
          <a:xfrm>
            <a:off x="413657" y="606417"/>
            <a:ext cx="11462657" cy="1309466"/>
          </a:xfrm>
        </p:spPr>
        <p:txBody>
          <a:bodyPr>
            <a:normAutofit/>
          </a:bodyPr>
          <a:lstStyle/>
          <a:p>
            <a:r>
              <a:rPr lang="en-US" sz="1800" dirty="0" err="1"/>
              <a:t>LeNet</a:t>
            </a:r>
            <a:r>
              <a:rPr lang="en-US" sz="1800" dirty="0"/>
              <a:t> and LeNet-5 are often used interchangeably, but </a:t>
            </a:r>
            <a:r>
              <a:rPr lang="en-US" sz="1800" b="1" dirty="0" err="1"/>
              <a:t>LeNet</a:t>
            </a:r>
            <a:r>
              <a:rPr lang="en-US" sz="1800" dirty="0"/>
              <a:t> refers to </a:t>
            </a:r>
            <a:r>
              <a:rPr lang="en-US" sz="1800" b="1" dirty="0"/>
              <a:t>a family of early Convolutional Neural Networks (CNNs)</a:t>
            </a:r>
            <a:r>
              <a:rPr lang="en-US" sz="1800" dirty="0"/>
              <a:t>, while </a:t>
            </a:r>
            <a:r>
              <a:rPr lang="en-US" sz="1800" b="1" dirty="0"/>
              <a:t>LeNet-5</a:t>
            </a:r>
            <a:r>
              <a:rPr lang="en-US" sz="1800" dirty="0"/>
              <a:t> is a </a:t>
            </a:r>
            <a:r>
              <a:rPr lang="en-US" sz="1800" b="1" dirty="0"/>
              <a:t>specific architecture</a:t>
            </a:r>
            <a:r>
              <a:rPr lang="en-US" sz="1800" dirty="0"/>
              <a:t> developed by </a:t>
            </a:r>
            <a:r>
              <a:rPr lang="en-US" sz="1800" b="1" dirty="0"/>
              <a:t>Yann </a:t>
            </a:r>
            <a:r>
              <a:rPr lang="en-US" sz="1800" b="1" dirty="0" err="1"/>
              <a:t>LeCun</a:t>
            </a:r>
            <a:r>
              <a:rPr lang="en-US" sz="1800" b="1" dirty="0"/>
              <a:t> in 1989</a:t>
            </a:r>
            <a:r>
              <a:rPr lang="en-US" sz="1800" dirty="0"/>
              <a:t> for handwritten digit recognition.</a:t>
            </a:r>
          </a:p>
          <a:p>
            <a:r>
              <a:rPr lang="en-US" sz="1800" dirty="0"/>
              <a:t>LeNet-5 is </a:t>
            </a:r>
            <a:r>
              <a:rPr lang="en-US" sz="1800" b="1" dirty="0"/>
              <a:t>outdated today</a:t>
            </a:r>
            <a:r>
              <a:rPr lang="en-US" sz="1800" dirty="0"/>
              <a:t>, replaced by </a:t>
            </a:r>
            <a:r>
              <a:rPr lang="en-US" sz="1800" b="1" dirty="0"/>
              <a:t>modern </a:t>
            </a:r>
            <a:r>
              <a:rPr lang="en-US" sz="1800" b="1"/>
              <a:t>CNNs like </a:t>
            </a:r>
            <a:r>
              <a:rPr lang="en-US" sz="1800" b="1" dirty="0"/>
              <a:t>VGG, and </a:t>
            </a:r>
            <a:r>
              <a:rPr lang="en-US" sz="1800" b="1" dirty="0" err="1"/>
              <a:t>ResNet</a:t>
            </a:r>
            <a:r>
              <a:rPr lang="en-US" sz="1800" dirty="0"/>
              <a:t>.</a:t>
            </a:r>
          </a:p>
        </p:txBody>
      </p:sp>
      <p:sp>
        <p:nvSpPr>
          <p:cNvPr id="4" name="TextBox 3"/>
          <p:cNvSpPr txBox="1"/>
          <p:nvPr/>
        </p:nvSpPr>
        <p:spPr>
          <a:xfrm>
            <a:off x="130629" y="1981197"/>
            <a:ext cx="11941628" cy="4524315"/>
          </a:xfrm>
          <a:prstGeom prst="rect">
            <a:avLst/>
          </a:prstGeom>
          <a:noFill/>
        </p:spPr>
        <p:txBody>
          <a:bodyPr wrap="square" rtlCol="0">
            <a:spAutoFit/>
          </a:bodyPr>
          <a:lstStyle/>
          <a:p>
            <a:r>
              <a:rPr lang="en-US" b="1" dirty="0"/>
              <a:t>Application of </a:t>
            </a:r>
            <a:r>
              <a:rPr lang="en-US" b="1" dirty="0" err="1"/>
              <a:t>LeNet</a:t>
            </a:r>
            <a:endParaRPr lang="en-US" b="1" dirty="0"/>
          </a:p>
          <a:p>
            <a:pPr marL="285750" indent="-285750">
              <a:buFont typeface="Arial" panose="020B0604020202020204" pitchFamily="34" charset="0"/>
              <a:buChar char="•"/>
            </a:pPr>
            <a:r>
              <a:rPr lang="en-US" b="1" dirty="0"/>
              <a:t>Document Processing:</a:t>
            </a:r>
            <a:r>
              <a:rPr lang="en-US" dirty="0"/>
              <a:t> </a:t>
            </a:r>
            <a:r>
              <a:rPr lang="en-US" dirty="0" err="1"/>
              <a:t>LeNet’s</a:t>
            </a:r>
            <a:r>
              <a:rPr lang="en-US" dirty="0"/>
              <a:t> model are used in scanning and analyzing documents, parsing and processing different types of information, extracting data from documents, and automating data entry tasks.</a:t>
            </a:r>
          </a:p>
          <a:p>
            <a:endParaRPr lang="en-US" dirty="0"/>
          </a:p>
          <a:p>
            <a:pPr marL="285750" indent="-285750">
              <a:buFont typeface="Arial" panose="020B0604020202020204" pitchFamily="34" charset="0"/>
              <a:buChar char="•"/>
            </a:pPr>
            <a:r>
              <a:rPr lang="en-US" b="1" dirty="0"/>
              <a:t>Handwriting Recognition:</a:t>
            </a:r>
            <a:r>
              <a:rPr lang="en-US" dirty="0"/>
              <a:t> </a:t>
            </a:r>
            <a:r>
              <a:rPr lang="en-US" dirty="0" err="1"/>
              <a:t>LeNet’s</a:t>
            </a:r>
            <a:r>
              <a:rPr lang="en-US" dirty="0"/>
              <a:t> success in recognizing handwritten characters and digits remains fundamental in Optical Character Recognition (OCR) systems used in processing handwritten text</a:t>
            </a:r>
          </a:p>
          <a:p>
            <a:endParaRPr lang="en-US" dirty="0"/>
          </a:p>
          <a:p>
            <a:pPr marL="285750" indent="-285750">
              <a:buFont typeface="Arial" panose="020B0604020202020204" pitchFamily="34" charset="0"/>
              <a:buChar char="•"/>
            </a:pPr>
            <a:r>
              <a:rPr lang="en-US" b="1" dirty="0"/>
              <a:t>Biometric Authentication: </a:t>
            </a:r>
            <a:r>
              <a:rPr lang="en-US" dirty="0"/>
              <a:t>Handwriting recognition capabilities of </a:t>
            </a:r>
            <a:r>
              <a:rPr lang="en-US" dirty="0" err="1"/>
              <a:t>LeNet</a:t>
            </a:r>
            <a:r>
              <a:rPr lang="en-US" dirty="0"/>
              <a:t> have been applied to signature and fingerprint analysis, enabling biometric authentication methods and enhancing security systems.</a:t>
            </a:r>
          </a:p>
          <a:p>
            <a:endParaRPr lang="en-US" dirty="0"/>
          </a:p>
          <a:p>
            <a:pPr marL="285750" indent="-285750">
              <a:buFont typeface="Arial" panose="020B0604020202020204" pitchFamily="34" charset="0"/>
              <a:buChar char="•"/>
            </a:pPr>
            <a:r>
              <a:rPr lang="en-US" b="1" dirty="0"/>
              <a:t>Real-time Video Analysis</a:t>
            </a:r>
            <a:r>
              <a:rPr lang="en-US" dirty="0"/>
              <a:t>: The foundational concepts in </a:t>
            </a:r>
            <a:r>
              <a:rPr lang="en-US" dirty="0" err="1"/>
              <a:t>LeNet</a:t>
            </a:r>
            <a:r>
              <a:rPr lang="en-US" dirty="0"/>
              <a:t> serve as a basis for real-time video analysis, such as object tracking, surveillance systems, facial recognition, and autonomous vehicles.</a:t>
            </a:r>
          </a:p>
          <a:p>
            <a:endParaRPr lang="en-US" dirty="0"/>
          </a:p>
          <a:p>
            <a:pPr marL="285750" indent="-285750">
              <a:buFont typeface="Arial" panose="020B0604020202020204" pitchFamily="34" charset="0"/>
              <a:buChar char="•"/>
            </a:pPr>
            <a:r>
              <a:rPr lang="en-US" b="1" dirty="0"/>
              <a:t>Image Classification:</a:t>
            </a:r>
            <a:r>
              <a:rPr lang="en-US" dirty="0"/>
              <a:t> </a:t>
            </a:r>
            <a:r>
              <a:rPr lang="en-US" dirty="0" err="1"/>
              <a:t>LeNet’s</a:t>
            </a:r>
            <a:r>
              <a:rPr lang="en-US" dirty="0"/>
              <a:t> principles influence modern image classification systems. Applications include classifying and categorizing objects in images for numerous domains, such as identifying objects in photographs, quality control in manufacturing, medical imaging analysis, and security systems for object identification.</a:t>
            </a:r>
          </a:p>
        </p:txBody>
      </p:sp>
    </p:spTree>
    <p:extLst>
      <p:ext uri="{BB962C8B-B14F-4D97-AF65-F5344CB8AC3E}">
        <p14:creationId xmlns:p14="http://schemas.microsoft.com/office/powerpoint/2010/main" val="12980454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Few facts about CNN(p1)</a:t>
            </a:r>
          </a:p>
        </p:txBody>
      </p:sp>
      <p:sp>
        <p:nvSpPr>
          <p:cNvPr id="3" name="Content Placeholder 2"/>
          <p:cNvSpPr>
            <a:spLocks noGrp="1"/>
          </p:cNvSpPr>
          <p:nvPr>
            <p:ph idx="1"/>
          </p:nvPr>
        </p:nvSpPr>
        <p:spPr/>
        <p:txBody>
          <a:bodyPr>
            <a:normAutofit lnSpcReduction="10000"/>
          </a:bodyPr>
          <a:lstStyle/>
          <a:p>
            <a:r>
              <a:rPr lang="en-US" b="1" dirty="0"/>
              <a:t>Feedforward networks (MLPs, CNNs)</a:t>
            </a:r>
            <a:r>
              <a:rPr lang="en-US" dirty="0"/>
              <a:t> process inputs </a:t>
            </a:r>
            <a:r>
              <a:rPr lang="en-US" b="1" dirty="0"/>
              <a:t>all at once</a:t>
            </a:r>
            <a:r>
              <a:rPr lang="en-US" dirty="0"/>
              <a:t> — they don't depend on previous steps.</a:t>
            </a:r>
          </a:p>
          <a:p>
            <a:pPr marL="0" indent="0">
              <a:buNone/>
            </a:pPr>
            <a:r>
              <a:rPr lang="en-US" dirty="0"/>
              <a:t>Suppose you have 1000 words or pixels.</a:t>
            </a:r>
          </a:p>
          <a:p>
            <a:pPr marL="0" indent="0">
              <a:buNone/>
            </a:pPr>
            <a:r>
              <a:rPr lang="en-US" dirty="0"/>
              <a:t>A feedforward network </a:t>
            </a:r>
            <a:r>
              <a:rPr lang="en-US" b="1" dirty="0"/>
              <a:t>takes all 1000 together</a:t>
            </a:r>
            <a:r>
              <a:rPr lang="en-US" dirty="0"/>
              <a:t>, passes them </a:t>
            </a:r>
            <a:r>
              <a:rPr lang="en-US" b="1" dirty="0"/>
              <a:t>through layers at the same time</a:t>
            </a:r>
            <a:r>
              <a:rPr lang="en-US" dirty="0"/>
              <a:t> (matrix multiplication).</a:t>
            </a:r>
          </a:p>
          <a:p>
            <a:pPr marL="0" indent="0">
              <a:buNone/>
            </a:pPr>
            <a:r>
              <a:rPr lang="en-US" dirty="0"/>
              <a:t>In math terms: </a:t>
            </a:r>
            <a:r>
              <a:rPr lang="en-US" b="1" dirty="0"/>
              <a:t>matrix × vector</a:t>
            </a:r>
            <a:r>
              <a:rPr lang="en-US" dirty="0"/>
              <a:t> — super fast because modern hardware (like GPUs) is </a:t>
            </a:r>
            <a:r>
              <a:rPr lang="en-US" b="1" dirty="0"/>
              <a:t>built for parallel matrix operations</a:t>
            </a:r>
            <a:r>
              <a:rPr lang="en-US" dirty="0"/>
              <a:t>.</a:t>
            </a:r>
          </a:p>
          <a:p>
            <a:pPr marL="0" indent="0">
              <a:buNone/>
            </a:pPr>
            <a:r>
              <a:rPr lang="en-US" dirty="0"/>
              <a:t>No waiting for "previous word" or "previous pixel" — </a:t>
            </a:r>
            <a:r>
              <a:rPr lang="en-US" b="1" dirty="0"/>
              <a:t>everything is independent</a:t>
            </a:r>
            <a:r>
              <a:rPr lang="en-US" dirty="0"/>
              <a:t> at each layer.</a:t>
            </a:r>
          </a:p>
          <a:p>
            <a:pPr marL="0" indent="0">
              <a:buNone/>
            </a:pPr>
            <a:r>
              <a:rPr lang="en-US" dirty="0"/>
              <a:t>This is called </a:t>
            </a:r>
            <a:r>
              <a:rPr lang="en-US" b="1" dirty="0"/>
              <a:t>parallelism</a:t>
            </a:r>
            <a:r>
              <a:rPr lang="en-US" dirty="0"/>
              <a:t>.</a:t>
            </a:r>
          </a:p>
          <a:p>
            <a:endParaRPr lang="en-US" dirty="0"/>
          </a:p>
          <a:p>
            <a:endParaRPr lang="en-US" dirty="0"/>
          </a:p>
        </p:txBody>
      </p:sp>
    </p:spTree>
    <p:extLst>
      <p:ext uri="{BB962C8B-B14F-4D97-AF65-F5344CB8AC3E}">
        <p14:creationId xmlns:p14="http://schemas.microsoft.com/office/powerpoint/2010/main" val="1323551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38" y="172179"/>
            <a:ext cx="6284053" cy="540886"/>
          </a:xfrm>
        </p:spPr>
        <p:txBody>
          <a:bodyPr>
            <a:normAutofit fontScale="90000"/>
          </a:bodyPr>
          <a:lstStyle/>
          <a:p>
            <a:r>
              <a:rPr lang="en-US" dirty="0"/>
              <a:t>Few facts about CNN(p2)</a:t>
            </a:r>
          </a:p>
        </p:txBody>
      </p:sp>
      <p:sp>
        <p:nvSpPr>
          <p:cNvPr id="3" name="Content Placeholder 2"/>
          <p:cNvSpPr>
            <a:spLocks noGrp="1"/>
          </p:cNvSpPr>
          <p:nvPr>
            <p:ph idx="1"/>
          </p:nvPr>
        </p:nvSpPr>
        <p:spPr>
          <a:xfrm>
            <a:off x="419449" y="844112"/>
            <a:ext cx="11660697" cy="2922545"/>
          </a:xfrm>
        </p:spPr>
        <p:txBody>
          <a:bodyPr>
            <a:normAutofit fontScale="55000" lnSpcReduction="20000"/>
          </a:bodyPr>
          <a:lstStyle/>
          <a:p>
            <a:r>
              <a:rPr lang="en-US" dirty="0"/>
              <a:t>CNN has sparse interactions</a:t>
            </a:r>
          </a:p>
          <a:p>
            <a:pPr marL="0" indent="0">
              <a:buNone/>
            </a:pPr>
            <a:r>
              <a:rPr lang="en-US" dirty="0"/>
              <a:t>In a </a:t>
            </a:r>
            <a:r>
              <a:rPr lang="en-US" b="1" dirty="0"/>
              <a:t>fully connected layer</a:t>
            </a:r>
            <a:r>
              <a:rPr lang="en-US" dirty="0"/>
              <a:t>, every output neuron is connected to every input neuron — this results in </a:t>
            </a:r>
            <a:r>
              <a:rPr lang="en-US" b="1" dirty="0"/>
              <a:t>dense interactions</a:t>
            </a:r>
            <a:r>
              <a:rPr lang="en-US" dirty="0"/>
              <a:t>.</a:t>
            </a:r>
          </a:p>
          <a:p>
            <a:pPr marL="0" indent="0">
              <a:buNone/>
            </a:pPr>
            <a:r>
              <a:rPr lang="en-US" dirty="0"/>
              <a:t>In contrast, in </a:t>
            </a:r>
            <a:r>
              <a:rPr lang="en-US" b="1" dirty="0"/>
              <a:t>CNNs</a:t>
            </a:r>
            <a:r>
              <a:rPr lang="en-US" dirty="0"/>
              <a:t>:</a:t>
            </a:r>
          </a:p>
          <a:p>
            <a:r>
              <a:rPr lang="en-US" dirty="0"/>
              <a:t>Each convolutional filter (or kernel) only interacts with a </a:t>
            </a:r>
            <a:r>
              <a:rPr lang="en-US" b="1" dirty="0"/>
              <a:t>small local region</a:t>
            </a:r>
            <a:r>
              <a:rPr lang="en-US" dirty="0"/>
              <a:t> of the input (called the </a:t>
            </a:r>
            <a:r>
              <a:rPr lang="en-US" b="1" dirty="0"/>
              <a:t>receptive field</a:t>
            </a:r>
            <a:r>
              <a:rPr lang="en-US" dirty="0"/>
              <a:t>).</a:t>
            </a:r>
          </a:p>
          <a:p>
            <a:r>
              <a:rPr lang="en-US" dirty="0"/>
              <a:t>This means a single output value is computed based only on a subset of the input values.</a:t>
            </a:r>
          </a:p>
          <a:p>
            <a:r>
              <a:rPr lang="en-US" dirty="0"/>
              <a:t>Therefore, </a:t>
            </a:r>
            <a:r>
              <a:rPr lang="en-US" b="1" dirty="0"/>
              <a:t>not all input features contribute to every output</a:t>
            </a:r>
            <a:r>
              <a:rPr lang="en-US" dirty="0"/>
              <a:t>, resulting in </a:t>
            </a:r>
            <a:r>
              <a:rPr lang="en-US" b="1" dirty="0"/>
              <a:t>sparse connectivity</a:t>
            </a:r>
            <a:r>
              <a:rPr lang="en-US" dirty="0"/>
              <a:t> or </a:t>
            </a:r>
            <a:r>
              <a:rPr lang="en-US" b="1" dirty="0"/>
              <a:t>sparse interactions</a:t>
            </a:r>
            <a:r>
              <a:rPr lang="en-US" dirty="0"/>
              <a:t>.</a:t>
            </a:r>
          </a:p>
          <a:p>
            <a:pPr marL="0" indent="0">
              <a:buNone/>
            </a:pPr>
            <a:endParaRPr lang="en-US" b="1" dirty="0"/>
          </a:p>
          <a:p>
            <a:pPr marL="0" indent="0">
              <a:buNone/>
            </a:pPr>
            <a:r>
              <a:rPr lang="en-US" b="1" dirty="0"/>
              <a:t>Benefits of Sparse Interactions:</a:t>
            </a:r>
          </a:p>
          <a:p>
            <a:r>
              <a:rPr lang="en-US" dirty="0"/>
              <a:t>Reduced computational cost</a:t>
            </a:r>
          </a:p>
          <a:p>
            <a:r>
              <a:rPr lang="en-US" dirty="0"/>
              <a:t>Parameter efficiency</a:t>
            </a:r>
          </a:p>
          <a:p>
            <a:endParaRPr lang="en-US" dirty="0"/>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8442" y="4009938"/>
            <a:ext cx="6924785" cy="2703701"/>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p14:cNvContentPartPr/>
              <p14:nvPr/>
            </p14:nvContentPartPr>
            <p14:xfrm>
              <a:off x="8196160" y="2521780"/>
              <a:ext cx="1325880" cy="41400"/>
            </p14:xfrm>
          </p:contentPart>
        </mc:Choice>
        <mc:Fallback xmlns="">
          <p:pic>
            <p:nvPicPr>
              <p:cNvPr id="9" name="Ink 8"/>
              <p:cNvPicPr/>
              <p:nvPr/>
            </p:nvPicPr>
            <p:blipFill>
              <a:blip r:embed="rId4"/>
              <a:stretch>
                <a:fillRect/>
              </a:stretch>
            </p:blipFill>
            <p:spPr>
              <a:xfrm>
                <a:off x="8184280" y="2509900"/>
                <a:ext cx="134964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p14:cNvContentPartPr/>
              <p14:nvPr/>
            </p14:nvContentPartPr>
            <p14:xfrm>
              <a:off x="7439080" y="1350700"/>
              <a:ext cx="2798280" cy="3162960"/>
            </p14:xfrm>
          </p:contentPart>
        </mc:Choice>
        <mc:Fallback xmlns="">
          <p:pic>
            <p:nvPicPr>
              <p:cNvPr id="11" name="Ink 10"/>
              <p:cNvPicPr/>
              <p:nvPr/>
            </p:nvPicPr>
            <p:blipFill>
              <a:blip r:embed="rId6"/>
              <a:stretch>
                <a:fillRect/>
              </a:stretch>
            </p:blipFill>
            <p:spPr>
              <a:xfrm>
                <a:off x="7427200" y="1338820"/>
                <a:ext cx="2822040" cy="3186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p14:cNvContentPartPr/>
              <p14:nvPr/>
            </p14:nvContentPartPr>
            <p14:xfrm>
              <a:off x="9034960" y="2567140"/>
              <a:ext cx="1325880" cy="1401120"/>
            </p14:xfrm>
          </p:contentPart>
        </mc:Choice>
        <mc:Fallback xmlns="">
          <p:pic>
            <p:nvPicPr>
              <p:cNvPr id="12" name="Ink 11"/>
              <p:cNvPicPr/>
              <p:nvPr/>
            </p:nvPicPr>
            <p:blipFill>
              <a:blip r:embed="rId8"/>
              <a:stretch>
                <a:fillRect/>
              </a:stretch>
            </p:blipFill>
            <p:spPr>
              <a:xfrm>
                <a:off x="9023080" y="2555260"/>
                <a:ext cx="1349640" cy="1424880"/>
              </a:xfrm>
              <a:prstGeom prst="rect">
                <a:avLst/>
              </a:prstGeom>
            </p:spPr>
          </p:pic>
        </mc:Fallback>
      </mc:AlternateContent>
    </p:spTree>
    <p:extLst>
      <p:ext uri="{BB962C8B-B14F-4D97-AF65-F5344CB8AC3E}">
        <p14:creationId xmlns:p14="http://schemas.microsoft.com/office/powerpoint/2010/main" val="23771211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CNN</a:t>
            </a:r>
          </a:p>
        </p:txBody>
      </p:sp>
      <p:sp>
        <p:nvSpPr>
          <p:cNvPr id="3" name="Content Placeholder 2"/>
          <p:cNvSpPr>
            <a:spLocks noGrp="1"/>
          </p:cNvSpPr>
          <p:nvPr>
            <p:ph idx="1"/>
          </p:nvPr>
        </p:nvSpPr>
        <p:spPr/>
        <p:txBody>
          <a:bodyPr>
            <a:normAutofit/>
          </a:bodyPr>
          <a:lstStyle/>
          <a:p>
            <a:r>
              <a:rPr lang="en-US" b="1" dirty="0"/>
              <a:t>Image classification: </a:t>
            </a:r>
            <a:r>
              <a:rPr lang="en-US" dirty="0"/>
              <a:t>Used for image categorization, where images are assigned to predefined categories. One use of such a scenario is automatic photo organization in social media platforms.</a:t>
            </a:r>
          </a:p>
          <a:p>
            <a:r>
              <a:rPr lang="en-US" b="1" dirty="0"/>
              <a:t>Object detection:</a:t>
            </a:r>
            <a:r>
              <a:rPr lang="en-US" dirty="0"/>
              <a:t> Are able to identify and locate multiple objects within an image. This capability is crucial in multiple scenarios of shelf scanning in retail to identify out-of-stock items.</a:t>
            </a:r>
          </a:p>
          <a:p>
            <a:r>
              <a:rPr lang="en-US" b="1" dirty="0"/>
              <a:t>Facial recognition: </a:t>
            </a:r>
            <a:r>
              <a:rPr lang="en-US" dirty="0"/>
              <a:t>One of the main applications of CNNs. For instance, this technology can be embedded into security systems for efficient control of access based on facial features.</a:t>
            </a:r>
          </a:p>
          <a:p>
            <a:endParaRPr lang="en-US" dirty="0"/>
          </a:p>
        </p:txBody>
      </p:sp>
    </p:spTree>
    <p:extLst>
      <p:ext uri="{BB962C8B-B14F-4D97-AF65-F5344CB8AC3E}">
        <p14:creationId xmlns:p14="http://schemas.microsoft.com/office/powerpoint/2010/main" val="9286863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8744" y="1415143"/>
            <a:ext cx="8742428" cy="4090745"/>
          </a:xfrm>
          <a:prstGeom prst="rect">
            <a:avLst/>
          </a:prstGeom>
        </p:spPr>
      </p:pic>
      <p:sp>
        <p:nvSpPr>
          <p:cNvPr id="5" name="TextBox 4"/>
          <p:cNvSpPr txBox="1"/>
          <p:nvPr/>
        </p:nvSpPr>
        <p:spPr>
          <a:xfrm>
            <a:off x="2068286" y="587829"/>
            <a:ext cx="5178212" cy="523220"/>
          </a:xfrm>
          <a:prstGeom prst="rect">
            <a:avLst/>
          </a:prstGeom>
          <a:noFill/>
        </p:spPr>
        <p:txBody>
          <a:bodyPr wrap="none" rtlCol="0">
            <a:spAutoFit/>
          </a:bodyPr>
          <a:lstStyle/>
          <a:p>
            <a:r>
              <a:rPr lang="en-US" sz="2800" dirty="0"/>
              <a:t>Difference between ANN and CNN</a:t>
            </a:r>
          </a:p>
        </p:txBody>
      </p:sp>
    </p:spTree>
    <p:extLst>
      <p:ext uri="{BB962C8B-B14F-4D97-AF65-F5344CB8AC3E}">
        <p14:creationId xmlns:p14="http://schemas.microsoft.com/office/powerpoint/2010/main" val="35898054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1488</TotalTime>
  <Words>3059</Words>
  <Application>Microsoft Office PowerPoint</Application>
  <PresentationFormat>Widescreen</PresentationFormat>
  <Paragraphs>545</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Calibri Light</vt:lpstr>
      <vt:lpstr>Office Theme</vt:lpstr>
      <vt:lpstr>(On Dev com) AI - CNN</vt:lpstr>
      <vt:lpstr>Why do we need CNN?</vt:lpstr>
      <vt:lpstr>PowerPoint Presentation</vt:lpstr>
      <vt:lpstr>Key Components of a CNN(p1)</vt:lpstr>
      <vt:lpstr>Convert image into 1D array</vt:lpstr>
      <vt:lpstr>Images are represented as matrix</vt:lpstr>
      <vt:lpstr>Key Components of a CNN(p2): Convolution layers</vt:lpstr>
      <vt:lpstr>Key Components of a CNN(p3): Convolution layers</vt:lpstr>
      <vt:lpstr>PowerPoint Presentation</vt:lpstr>
      <vt:lpstr>Key Components of a CNN(p4): Convolution layers</vt:lpstr>
      <vt:lpstr>Key Components of a CNN(p4.1): Convolution layers</vt:lpstr>
      <vt:lpstr>Key Components of a CNN(p4.2): Convolution layers</vt:lpstr>
      <vt:lpstr>Key Components of a CNN(p4.3): Convolution layers</vt:lpstr>
      <vt:lpstr>Key Components of a CNN(p4.3): Convolution layers</vt:lpstr>
      <vt:lpstr>Key Components of a CNN(p4.4): Convolution layers</vt:lpstr>
      <vt:lpstr>Key Components of a CNN(p4.5): Convolution layers</vt:lpstr>
      <vt:lpstr>Key Components of a CNN(p5): Activation function</vt:lpstr>
      <vt:lpstr>Key Components of a CNN(p6): Pooling layer</vt:lpstr>
      <vt:lpstr>Key Components of a CNN(p7): Pooling layer</vt:lpstr>
      <vt:lpstr>Key Components of a CNN(p8): Fully connected layers</vt:lpstr>
      <vt:lpstr>Key Components of a CNN(p9): Flattening</vt:lpstr>
      <vt:lpstr>Key Components of a CNN(p10): Dropout Layer</vt:lpstr>
      <vt:lpstr>Examples of CNN</vt:lpstr>
      <vt:lpstr>LeNet</vt:lpstr>
      <vt:lpstr>Few facts about CNN(p1)</vt:lpstr>
      <vt:lpstr>Few facts about CNN(p2)</vt:lpstr>
      <vt:lpstr>Application of CNN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 CNN</dc:title>
  <dc:creator>hi</dc:creator>
  <cp:lastModifiedBy>UCT</cp:lastModifiedBy>
  <cp:revision>156</cp:revision>
  <dcterms:created xsi:type="dcterms:W3CDTF">2025-02-19T14:31:34Z</dcterms:created>
  <dcterms:modified xsi:type="dcterms:W3CDTF">2025-09-02T04:08:46Z</dcterms:modified>
</cp:coreProperties>
</file>