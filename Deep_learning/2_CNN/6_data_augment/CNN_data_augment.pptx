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handoutMasterIdLst>
    <p:handoutMasterId r:id="rId8"/>
  </p:handoutMasterIdLst>
  <p:sldIdLst>
    <p:sldId id="276" r:id="rId2"/>
    <p:sldId id="277" r:id="rId3"/>
    <p:sldId id="279" r:id="rId4"/>
    <p:sldId id="278" r:id="rId5"/>
    <p:sldId id="27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4/11/2026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4/11/2026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4/11/2026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15DA-3608-60AF-BA74-5CE165D36DFE}"/>
              </a:ext>
            </a:extLst>
          </p:cNvPr>
          <p:cNvSpPr>
            <a:spLocks noGrp="1"/>
          </p:cNvSpPr>
          <p:nvPr>
            <p:ph type="ctrTitle"/>
          </p:nvPr>
        </p:nvSpPr>
        <p:spPr>
          <a:xfrm>
            <a:off x="255639" y="666589"/>
            <a:ext cx="11700387" cy="4041648"/>
          </a:xfrm>
        </p:spPr>
        <p:txBody>
          <a:bodyPr>
            <a:normAutofit/>
          </a:bodyPr>
          <a:lstStyle/>
          <a:p>
            <a:r>
              <a:rPr lang="en-US" dirty="0"/>
              <a:t>(On </a:t>
            </a:r>
            <a:r>
              <a:rPr lang="en-US"/>
              <a:t>Dev com)</a:t>
            </a:r>
            <a:br>
              <a:rPr lang="en-US"/>
            </a:br>
            <a:r>
              <a:rPr lang="en-US"/>
              <a:t>CNN</a:t>
            </a:r>
            <a:endParaRPr lang="en-US" dirty="0"/>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EBAB4-18CD-68FD-BFF4-B919636FE34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E3D97D1-5BAB-F889-6DA3-383ABC514747}"/>
              </a:ext>
            </a:extLst>
          </p:cNvPr>
          <p:cNvSpPr txBox="1"/>
          <p:nvPr/>
        </p:nvSpPr>
        <p:spPr>
          <a:xfrm>
            <a:off x="329184" y="335846"/>
            <a:ext cx="11667744" cy="3785652"/>
          </a:xfrm>
          <a:prstGeom prst="rect">
            <a:avLst/>
          </a:prstGeom>
          <a:noFill/>
        </p:spPr>
        <p:txBody>
          <a:bodyPr wrap="square">
            <a:spAutoFit/>
          </a:bodyPr>
          <a:lstStyle/>
          <a:p>
            <a:pPr algn="just">
              <a:buFont typeface="Wingdings" panose="05000000000000000000" pitchFamily="2" charset="2"/>
              <a:buChar char="Ø"/>
            </a:pPr>
            <a:r>
              <a:rPr lang="en-US" sz="2400" b="0" i="0" dirty="0">
                <a:solidFill>
                  <a:schemeClr val="accent6">
                    <a:lumMod val="60000"/>
                    <a:lumOff val="40000"/>
                  </a:schemeClr>
                </a:solidFill>
                <a:effectLst/>
                <a:latin typeface="source-serif-pro"/>
              </a:rPr>
              <a:t>The quantity and diversity of data are important factors in the effectiveness of most machine learning and deep learning models.</a:t>
            </a:r>
          </a:p>
          <a:p>
            <a:pPr algn="just">
              <a:buFont typeface="Wingdings" panose="05000000000000000000" pitchFamily="2" charset="2"/>
              <a:buChar char="Ø"/>
            </a:pPr>
            <a:endParaRPr lang="en-US" sz="2400" b="0" i="0" dirty="0">
              <a:solidFill>
                <a:schemeClr val="accent6">
                  <a:lumMod val="60000"/>
                  <a:lumOff val="40000"/>
                </a:schemeClr>
              </a:solidFill>
              <a:effectLst/>
              <a:latin typeface="source-serif-pro"/>
            </a:endParaRPr>
          </a:p>
          <a:p>
            <a:pPr algn="just">
              <a:buFont typeface="Wingdings" panose="05000000000000000000" pitchFamily="2" charset="2"/>
              <a:buChar char="Ø"/>
            </a:pPr>
            <a:r>
              <a:rPr lang="en-US" sz="2400" b="0" i="0" dirty="0">
                <a:solidFill>
                  <a:schemeClr val="accent6">
                    <a:lumMod val="60000"/>
                    <a:lumOff val="40000"/>
                  </a:schemeClr>
                </a:solidFill>
                <a:effectLst/>
                <a:latin typeface="source-serif-pro"/>
              </a:rPr>
              <a:t>The amount and diversity of data supplied during training heavily influence the prediction accuracy of these models.</a:t>
            </a:r>
          </a:p>
          <a:p>
            <a:pPr algn="just">
              <a:buFont typeface="Wingdings" panose="05000000000000000000" pitchFamily="2" charset="2"/>
              <a:buChar char="Ø"/>
            </a:pPr>
            <a:endParaRPr lang="en-US" sz="2400" b="0" i="0" dirty="0">
              <a:solidFill>
                <a:schemeClr val="accent6">
                  <a:lumMod val="60000"/>
                  <a:lumOff val="40000"/>
                </a:schemeClr>
              </a:solidFill>
              <a:effectLst/>
              <a:latin typeface="source-serif-pro"/>
            </a:endParaRPr>
          </a:p>
          <a:p>
            <a:pPr algn="just">
              <a:buFont typeface="Wingdings" panose="05000000000000000000" pitchFamily="2" charset="2"/>
              <a:buChar char="Ø"/>
            </a:pPr>
            <a:r>
              <a:rPr lang="en-US" sz="2400" b="0" i="0" dirty="0">
                <a:solidFill>
                  <a:schemeClr val="accent6">
                    <a:lumMod val="60000"/>
                    <a:lumOff val="40000"/>
                  </a:schemeClr>
                </a:solidFill>
                <a:effectLst/>
                <a:latin typeface="source-serif-pro"/>
              </a:rPr>
              <a:t>Data augmentation is the process of creating new training data from existing training data by applying a set of transformations. This technique is commonly used in deep learning to increase the amount of training data available for a model, which can lead to better performance.</a:t>
            </a:r>
          </a:p>
        </p:txBody>
      </p:sp>
      <p:pic>
        <p:nvPicPr>
          <p:cNvPr id="7" name="Picture 2">
            <a:extLst>
              <a:ext uri="{FF2B5EF4-FFF2-40B4-BE49-F238E27FC236}">
                <a16:creationId xmlns:a16="http://schemas.microsoft.com/office/drawing/2014/main" id="{99770668-7266-FCE0-7224-55BBB503F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427" y="3950208"/>
            <a:ext cx="8406678" cy="2761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856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66443-76DD-C53B-0307-581B2C4E4DE6}"/>
            </a:ext>
          </a:extLst>
        </p:cNvPr>
        <p:cNvGrpSpPr/>
        <p:nvPr/>
      </p:nvGrpSpPr>
      <p:grpSpPr>
        <a:xfrm>
          <a:off x="0" y="0"/>
          <a:ext cx="0" cy="0"/>
          <a:chOff x="0" y="0"/>
          <a:chExt cx="0" cy="0"/>
        </a:xfrm>
      </p:grpSpPr>
      <p:pic>
        <p:nvPicPr>
          <p:cNvPr id="7" name="Picture 2">
            <a:extLst>
              <a:ext uri="{FF2B5EF4-FFF2-40B4-BE49-F238E27FC236}">
                <a16:creationId xmlns:a16="http://schemas.microsoft.com/office/drawing/2014/main" id="{1CB91C79-8468-4E53-FB79-6B7E04484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27" y="1947672"/>
            <a:ext cx="11858382" cy="3895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374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E493C-AE78-4EDE-10A1-DC3AC14E9F6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130EBEF-775F-E690-66E7-4E33CF3F191D}"/>
              </a:ext>
            </a:extLst>
          </p:cNvPr>
          <p:cNvSpPr txBox="1"/>
          <p:nvPr/>
        </p:nvSpPr>
        <p:spPr>
          <a:xfrm>
            <a:off x="228600" y="235262"/>
            <a:ext cx="11722608" cy="3785652"/>
          </a:xfrm>
          <a:prstGeom prst="rect">
            <a:avLst/>
          </a:prstGeom>
          <a:noFill/>
        </p:spPr>
        <p:txBody>
          <a:bodyPr wrap="square">
            <a:spAutoFit/>
          </a:bodyPr>
          <a:lstStyle/>
          <a:p>
            <a:pPr algn="just">
              <a:buFont typeface="Wingdings" panose="05000000000000000000" pitchFamily="2" charset="2"/>
              <a:buChar char="Ø"/>
            </a:pPr>
            <a:r>
              <a:rPr lang="en-US" sz="2400" b="0" i="0" dirty="0">
                <a:solidFill>
                  <a:schemeClr val="accent6">
                    <a:lumMod val="60000"/>
                    <a:lumOff val="40000"/>
                  </a:schemeClr>
                </a:solidFill>
                <a:effectLst/>
                <a:latin typeface="source-serif-pro"/>
              </a:rPr>
              <a:t>Data augmentation is an important technique because it can help to reduce overfitting, which occurs when a model is too complex and is trained on too little data. Overfitting can lead to poor performance on new, unseen data, a common problem in deep learning.</a:t>
            </a:r>
          </a:p>
          <a:p>
            <a:pPr algn="just">
              <a:buFont typeface="Wingdings" panose="05000000000000000000" pitchFamily="2" charset="2"/>
              <a:buChar char="Ø"/>
            </a:pPr>
            <a:endParaRPr lang="en-US" sz="2400" b="0" i="0" dirty="0">
              <a:solidFill>
                <a:schemeClr val="accent6">
                  <a:lumMod val="60000"/>
                  <a:lumOff val="40000"/>
                </a:schemeClr>
              </a:solidFill>
              <a:effectLst/>
              <a:latin typeface="source-serif-pro"/>
            </a:endParaRPr>
          </a:p>
          <a:p>
            <a:pPr algn="just">
              <a:buFont typeface="Wingdings" panose="05000000000000000000" pitchFamily="2" charset="2"/>
              <a:buChar char="Ø"/>
            </a:pPr>
            <a:r>
              <a:rPr lang="en-US" sz="2400" b="0" i="0" dirty="0">
                <a:solidFill>
                  <a:schemeClr val="accent6">
                    <a:lumMod val="60000"/>
                    <a:lumOff val="40000"/>
                  </a:schemeClr>
                </a:solidFill>
                <a:effectLst/>
                <a:latin typeface="source-serif-pro"/>
              </a:rPr>
              <a:t>Data augmentation can be applied during both training and testing. During training, the augmented data is used to train the model, while during testing, the original data is used to evaluate the model’s performance.</a:t>
            </a:r>
          </a:p>
          <a:p>
            <a:pPr algn="just">
              <a:buFont typeface="Wingdings" panose="05000000000000000000" pitchFamily="2" charset="2"/>
              <a:buChar char="Ø"/>
            </a:pPr>
            <a:endParaRPr lang="en-US" sz="2400" b="0" i="0" dirty="0">
              <a:solidFill>
                <a:schemeClr val="accent6">
                  <a:lumMod val="60000"/>
                  <a:lumOff val="40000"/>
                </a:schemeClr>
              </a:solidFill>
              <a:effectLst/>
              <a:latin typeface="source-serif-pro"/>
            </a:endParaRPr>
          </a:p>
          <a:p>
            <a:pPr algn="just">
              <a:buFont typeface="Wingdings" panose="05000000000000000000" pitchFamily="2" charset="2"/>
              <a:buChar char="Ø"/>
            </a:pPr>
            <a:r>
              <a:rPr lang="en-US" sz="2400" b="1" i="0" dirty="0">
                <a:solidFill>
                  <a:schemeClr val="accent6">
                    <a:lumMod val="60000"/>
                    <a:lumOff val="40000"/>
                  </a:schemeClr>
                </a:solidFill>
                <a:effectLst/>
                <a:latin typeface="source-serif-pro"/>
              </a:rPr>
              <a:t>One important consideration when using data augmentation is to ensure that the augmented data is still representative of the original data.</a:t>
            </a:r>
            <a:endParaRPr lang="en-IN" sz="2400" b="1" dirty="0">
              <a:solidFill>
                <a:schemeClr val="accent6">
                  <a:lumMod val="60000"/>
                  <a:lumOff val="40000"/>
                </a:schemeClr>
              </a:solidFill>
            </a:endParaRPr>
          </a:p>
        </p:txBody>
      </p:sp>
      <p:pic>
        <p:nvPicPr>
          <p:cNvPr id="2" name="Picture 2">
            <a:extLst>
              <a:ext uri="{FF2B5EF4-FFF2-40B4-BE49-F238E27FC236}">
                <a16:creationId xmlns:a16="http://schemas.microsoft.com/office/drawing/2014/main" id="{8D3FB67A-70F4-F978-239A-BFE0605F5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31" y="3950208"/>
            <a:ext cx="8406678" cy="2761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0330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646331"/>
          </a:xfrm>
          <a:prstGeom prst="rect">
            <a:avLst/>
          </a:prstGeom>
          <a:noFill/>
        </p:spPr>
        <p:txBody>
          <a:bodyPr wrap="square">
            <a:spAutoFit/>
          </a:bodyPr>
          <a:lstStyle/>
          <a:p>
            <a:pPr marL="0" indent="0">
              <a:buNone/>
            </a:pPr>
            <a:r>
              <a:rPr lang="en-US" dirty="0" err="1">
                <a:solidFill>
                  <a:schemeClr val="accent6">
                    <a:lumMod val="60000"/>
                    <a:lumOff val="40000"/>
                  </a:schemeClr>
                </a:solidFill>
              </a:rPr>
              <a:t>Xxxxxxxxxxx</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xxxxxxxxxxxx</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1290</TotalTime>
  <Words>207</Words>
  <Application>Microsoft Office PowerPoint</Application>
  <PresentationFormat>Widescreen</PresentationFormat>
  <Paragraphs>14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source-serif-pro</vt:lpstr>
      <vt:lpstr>Wingdings</vt:lpstr>
      <vt:lpstr>Office Theme</vt:lpstr>
      <vt:lpstr>(On Dev com) CNN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263</cp:revision>
  <dcterms:created xsi:type="dcterms:W3CDTF">2025-09-22T02:44:38Z</dcterms:created>
  <dcterms:modified xsi:type="dcterms:W3CDTF">2026-04-11T12:14:56Z</dcterms:modified>
</cp:coreProperties>
</file>