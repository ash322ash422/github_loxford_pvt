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76" r:id="rId2"/>
    <p:sldId id="277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83" r:id="rId11"/>
    <p:sldId id="278" r:id="rId12"/>
    <p:sldId id="292" r:id="rId13"/>
    <p:sldId id="293" r:id="rId14"/>
    <p:sldId id="291" r:id="rId15"/>
    <p:sldId id="279" r:id="rId16"/>
    <p:sldId id="280" r:id="rId17"/>
    <p:sldId id="281" r:id="rId18"/>
    <p:sldId id="282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36118-4231-3100-E767-0EBBABC0E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922357-3E3B-026F-4FC8-D0D466B1A88C}"/>
              </a:ext>
            </a:extLst>
          </p:cNvPr>
          <p:cNvSpPr txBox="1"/>
          <p:nvPr/>
        </p:nvSpPr>
        <p:spPr>
          <a:xfrm>
            <a:off x="292608" y="261819"/>
            <a:ext cx="95829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🎯 1. Why NLP in Finance?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markets are driven by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+ sentiment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Two major text sources: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📞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Earnings Calls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(structured, formal)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🐦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Tweets / Social Media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(unstructured, noisy) 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Real-world examples: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Tesla CEO tweets → stock moves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Analyst tone in earnings call → stock reaction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News sentiment → trading signals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War sentiment -&gt; stock prices moves</a:t>
            </a:r>
          </a:p>
        </p:txBody>
      </p:sp>
    </p:spTree>
    <p:extLst>
      <p:ext uri="{BB962C8B-B14F-4D97-AF65-F5344CB8AC3E}">
        <p14:creationId xmlns:p14="http://schemas.microsoft.com/office/powerpoint/2010/main" val="38522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CBF6B-EFAE-57C3-6E29-A9FD1EB8F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CF0B46-5C82-F08F-EA19-7B64C7C2E1E2}"/>
              </a:ext>
            </a:extLst>
          </p:cNvPr>
          <p:cNvSpPr txBox="1"/>
          <p:nvPr/>
        </p:nvSpPr>
        <p:spPr>
          <a:xfrm>
            <a:off x="292608" y="261819"/>
            <a:ext cx="95829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2. What is NLP doing here?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NLP helps answer: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sentiment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positive or negative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topics are being discussed?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executives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confident or uncertain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Are tweets causing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market hype or fear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036129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91137-1550-6857-3239-11AEEC911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858B81-9B51-124A-0286-1000524148CA}"/>
              </a:ext>
            </a:extLst>
          </p:cNvPr>
          <p:cNvSpPr txBox="1"/>
          <p:nvPr/>
        </p:nvSpPr>
        <p:spPr>
          <a:xfrm>
            <a:off x="576072" y="2236923"/>
            <a:ext cx="9582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1: Earnings Call Analysis</a:t>
            </a:r>
          </a:p>
        </p:txBody>
      </p:sp>
    </p:spTree>
    <p:extLst>
      <p:ext uri="{BB962C8B-B14F-4D97-AF65-F5344CB8AC3E}">
        <p14:creationId xmlns:p14="http://schemas.microsoft.com/office/powerpoint/2010/main" val="76560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05E4E-49B0-DE6A-7DCB-2CD698928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886690-9EA6-B249-306C-00C6D65FB98F}"/>
              </a:ext>
            </a:extLst>
          </p:cNvPr>
          <p:cNvSpPr txBox="1"/>
          <p:nvPr/>
        </p:nvSpPr>
        <p:spPr>
          <a:xfrm>
            <a:off x="292608" y="261819"/>
            <a:ext cx="95829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🔍 What is an Earnings Call?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Quarterly call where companies like Apple Inc. or Amazon discuss: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Revenue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Future outlook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Risks </a:t>
            </a:r>
          </a:p>
        </p:txBody>
      </p:sp>
    </p:spTree>
    <p:extLst>
      <p:ext uri="{BB962C8B-B14F-4D97-AF65-F5344CB8AC3E}">
        <p14:creationId xmlns:p14="http://schemas.microsoft.com/office/powerpoint/2010/main" val="1654014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3961C-B6DE-A4C6-85AB-E44DD2386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634E69-6F18-3FB0-4FCA-545AF2FE012A}"/>
              </a:ext>
            </a:extLst>
          </p:cNvPr>
          <p:cNvSpPr txBox="1"/>
          <p:nvPr/>
        </p:nvSpPr>
        <p:spPr>
          <a:xfrm>
            <a:off x="42672" y="307539"/>
            <a:ext cx="60533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📊 NLP Tasks for Earnings Calls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Sentiment Analysis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“We are seeing strong growth in AI products.”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Positive sentiment → bullish signal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36A88F-E916-9443-1D06-5407DBD23AFB}"/>
              </a:ext>
            </a:extLst>
          </p:cNvPr>
          <p:cNvSpPr txBox="1"/>
          <p:nvPr/>
        </p:nvSpPr>
        <p:spPr>
          <a:xfrm>
            <a:off x="42672" y="3429000"/>
            <a:ext cx="60533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Tone Detection (Very Important in Finance)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Confident vs uncertain language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“We expect strong growth” ✅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“We hope to see improvement” ⚠️ (uncertain)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CE92E-4131-1CF1-660F-C9894D79D9DB}"/>
              </a:ext>
            </a:extLst>
          </p:cNvPr>
          <p:cNvSpPr txBox="1"/>
          <p:nvPr/>
        </p:nvSpPr>
        <p:spPr>
          <a:xfrm>
            <a:off x="7155180" y="1016984"/>
            <a:ext cx="41468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Keyword / Phrase Analysis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Look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“recession”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“inflation”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“cost pressure”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386BA8-8426-FB4C-B1EE-8BB86FB85442}"/>
              </a:ext>
            </a:extLst>
          </p:cNvPr>
          <p:cNvSpPr txBox="1"/>
          <p:nvPr/>
        </p:nvSpPr>
        <p:spPr>
          <a:xfrm>
            <a:off x="7203186" y="3429000"/>
            <a:ext cx="35798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Topic Modeling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Identify themes: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supply chain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revenue growth</a:t>
            </a:r>
          </a:p>
        </p:txBody>
      </p:sp>
    </p:spTree>
    <p:extLst>
      <p:ext uri="{BB962C8B-B14F-4D97-AF65-F5344CB8AC3E}">
        <p14:creationId xmlns:p14="http://schemas.microsoft.com/office/powerpoint/2010/main" val="243594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90C92-7009-7DC5-E657-E5631E75E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F3A591-6213-7FFD-A9C6-35E6192C3598}"/>
              </a:ext>
            </a:extLst>
          </p:cNvPr>
          <p:cNvSpPr txBox="1"/>
          <p:nvPr/>
        </p:nvSpPr>
        <p:spPr>
          <a:xfrm>
            <a:off x="42672" y="307539"/>
            <a:ext cx="112867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🧑‍🏫 Classroom Example (Earnings Text)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"Our revenue increased by 20%, but we are cautious about macroeconomic uncertainty.“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Positive words?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Negative words?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sentiment?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 -&gt; Mixed sentiment (real-world case!)</a:t>
            </a:r>
          </a:p>
        </p:txBody>
      </p:sp>
    </p:spTree>
    <p:extLst>
      <p:ext uri="{BB962C8B-B14F-4D97-AF65-F5344CB8AC3E}">
        <p14:creationId xmlns:p14="http://schemas.microsoft.com/office/powerpoint/2010/main" val="1576569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D436F-AEA4-A777-6555-00C83F7BF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D342CC-F5C4-55AF-43B0-6D2C374AC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31" y="192024"/>
            <a:ext cx="7410357" cy="21855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3F334D-9340-E400-82F8-24840CCE5408}"/>
              </a:ext>
            </a:extLst>
          </p:cNvPr>
          <p:cNvSpPr txBox="1"/>
          <p:nvPr/>
        </p:nvSpPr>
        <p:spPr>
          <a:xfrm>
            <a:off x="452628" y="2960057"/>
            <a:ext cx="9258300" cy="3529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89"/>
              </a:spcBef>
              <a:spcAft>
                <a:spcPts val="1451"/>
              </a:spcAft>
              <a:buNone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Polarity = 0.0 (Neutral Sentiment)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Polarity measures the emotional weight of a sentence on a scale from -1.0 (highly negative) to 1.0 (highly positive).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A score of 0.0 indicates that the sentence is strictly neutral.</a:t>
            </a:r>
          </a:p>
          <a:p>
            <a:pPr algn="l">
              <a:buNone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In your specific text, "Revenue increased" (positive) is balanced out by "cautious about future growth" (negative). </a:t>
            </a:r>
            <a:r>
              <a:rPr lang="en-US" b="0" i="0" dirty="0" err="1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TextBlob</a:t>
            </a: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 often averages these opposing sentiments, resulting in a net neutral score of zero.</a:t>
            </a:r>
          </a:p>
          <a:p>
            <a:pPr algn="l">
              <a:spcBef>
                <a:spcPts val="2177"/>
              </a:spcBef>
              <a:spcAft>
                <a:spcPts val="1451"/>
              </a:spcAft>
              <a:buNone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Subjectivity = 0.125 (Mostly Objective)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Subjectivity measures how much of the text is based on </a:t>
            </a: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personal opinion versus factual information,</a:t>
            </a: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system-ui"/>
              </a:rPr>
              <a:t> ranging from 0.0 (very objective/factual) to 1.0 (very subjective/opinionated)</a:t>
            </a:r>
          </a:p>
        </p:txBody>
      </p:sp>
    </p:spTree>
    <p:extLst>
      <p:ext uri="{BB962C8B-B14F-4D97-AF65-F5344CB8AC3E}">
        <p14:creationId xmlns:p14="http://schemas.microsoft.com/office/powerpoint/2010/main" val="2644165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0E82B-CB3F-7EB4-9353-32D479D08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9B1121A-89D3-A1F5-E9DE-94AF73E050FB}"/>
              </a:ext>
            </a:extLst>
          </p:cNvPr>
          <p:cNvSpPr txBox="1"/>
          <p:nvPr/>
        </p:nvSpPr>
        <p:spPr>
          <a:xfrm>
            <a:off x="452628" y="2960057"/>
            <a:ext cx="9258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89"/>
              </a:spcBef>
              <a:spcAft>
                <a:spcPts val="1451"/>
              </a:spcAft>
            </a:pPr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PART 2: Twitter / Social Media Analysis</a:t>
            </a:r>
            <a:endParaRPr lang="en-US" sz="3600" b="1" i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2791742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CF920-93A5-B31C-0AD4-B783F4885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D3E7D2-A390-A4F0-45E8-5AE930C19FB6}"/>
              </a:ext>
            </a:extLst>
          </p:cNvPr>
          <p:cNvSpPr txBox="1"/>
          <p:nvPr/>
        </p:nvSpPr>
        <p:spPr>
          <a:xfrm>
            <a:off x="288036" y="485293"/>
            <a:ext cx="6190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🔥 Why Tweets Matter?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Faster than news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Retail investor sentiment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Can cause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short-term volatility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Elon Musk tweets → crypto/stock moves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B74808-6568-5572-313E-2713860F9302}"/>
              </a:ext>
            </a:extLst>
          </p:cNvPr>
          <p:cNvSpPr txBox="1"/>
          <p:nvPr/>
        </p:nvSpPr>
        <p:spPr>
          <a:xfrm>
            <a:off x="669036" y="4208240"/>
            <a:ext cx="111450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⚠️ Challenges in Tweets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Slang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 “You said Apple is doing good. Yeah right !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Only if Pigs can fly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Short text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– “OMG. Watch out for Tesla stocks.”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Noise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“I am going to swimming. BTW, Tesla went up. So, you  </a:t>
            </a: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coming tomorrow.”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Sarcasm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“You said Apple is doing good.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Yeah right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 Only if Pigs can fly”</a:t>
            </a:r>
          </a:p>
        </p:txBody>
      </p:sp>
    </p:spTree>
    <p:extLst>
      <p:ext uri="{BB962C8B-B14F-4D97-AF65-F5344CB8AC3E}">
        <p14:creationId xmlns:p14="http://schemas.microsoft.com/office/powerpoint/2010/main" val="2888697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EABF1-B3E8-A307-E8FE-9C648D1F4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F79521-902A-24CC-E92A-7A912E9F712A}"/>
              </a:ext>
            </a:extLst>
          </p:cNvPr>
          <p:cNvSpPr txBox="1"/>
          <p:nvPr/>
        </p:nvSpPr>
        <p:spPr>
          <a:xfrm>
            <a:off x="489204" y="336542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NLP Tasks for Tweets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E7739B-6F74-62EC-0CEC-62FD75EE0480}"/>
              </a:ext>
            </a:extLst>
          </p:cNvPr>
          <p:cNvSpPr txBox="1"/>
          <p:nvPr/>
        </p:nvSpPr>
        <p:spPr>
          <a:xfrm>
            <a:off x="278892" y="1103067"/>
            <a:ext cx="61904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Sentiment Analysis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“This stock is going to the moon 🚀”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Very positive</a:t>
            </a:r>
          </a:p>
          <a:p>
            <a:pPr>
              <a:buNone/>
            </a:pP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Emotion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Fear 😨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Greed 🤑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0AB6F8-A19E-D271-C10B-4276C5F4B0FD}"/>
              </a:ext>
            </a:extLst>
          </p:cNvPr>
          <p:cNvSpPr txBox="1"/>
          <p:nvPr/>
        </p:nvSpPr>
        <p:spPr>
          <a:xfrm>
            <a:off x="187452" y="5086315"/>
            <a:ext cx="61904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Trend Detection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Find trending stocks: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$TSLA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$AAPL</a:t>
            </a:r>
          </a:p>
        </p:txBody>
      </p:sp>
    </p:spTree>
    <p:extLst>
      <p:ext uri="{BB962C8B-B14F-4D97-AF65-F5344CB8AC3E}">
        <p14:creationId xmlns:p14="http://schemas.microsoft.com/office/powerpoint/2010/main" val="674290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F3F73-45B3-4F2F-F78B-FBF7194F4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45EEFD-19AE-B846-92AD-E585E7ED5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248657"/>
              </p:ext>
            </p:extLst>
          </p:nvPr>
        </p:nvGraphicFramePr>
        <p:xfrm>
          <a:off x="435864" y="1276382"/>
          <a:ext cx="10515600" cy="2743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44478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3987073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473627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Earnings Calls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Tweets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88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Informal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608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Short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62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Medium/Low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801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62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Long-term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Short-term signals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5295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35BFA76-88C1-D5AF-D80C-A5C64925DD52}"/>
              </a:ext>
            </a:extLst>
          </p:cNvPr>
          <p:cNvSpPr txBox="1"/>
          <p:nvPr/>
        </p:nvSpPr>
        <p:spPr>
          <a:xfrm>
            <a:off x="1577340" y="391406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Earnings Calls vs Tweets</a:t>
            </a:r>
          </a:p>
        </p:txBody>
      </p:sp>
    </p:spTree>
    <p:extLst>
      <p:ext uri="{BB962C8B-B14F-4D97-AF65-F5344CB8AC3E}">
        <p14:creationId xmlns:p14="http://schemas.microsoft.com/office/powerpoint/2010/main" val="3790837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B8E3B-8897-3E37-59C8-C66DA3C6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EEF993-0492-51EC-DFA0-C47477507107}"/>
              </a:ext>
            </a:extLst>
          </p:cNvPr>
          <p:cNvSpPr txBox="1"/>
          <p:nvPr/>
        </p:nvSpPr>
        <p:spPr>
          <a:xfrm>
            <a:off x="621792" y="1865376"/>
            <a:ext cx="1120531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Show students the whole preprocessing steps in NLP for </a:t>
            </a:r>
            <a:r>
              <a:rPr lang="en-US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 analysis: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→ Cleaning → Feature Extraction → Model → Prediction</a:t>
            </a:r>
          </a:p>
        </p:txBody>
      </p:sp>
    </p:spTree>
    <p:extLst>
      <p:ext uri="{BB962C8B-B14F-4D97-AF65-F5344CB8AC3E}">
        <p14:creationId xmlns:p14="http://schemas.microsoft.com/office/powerpoint/2010/main" val="524564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8B353-E870-00B2-A35F-F8BD35FD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3CE65C-DE47-7BE5-5932-6BFCCA6C51EE}"/>
              </a:ext>
            </a:extLst>
          </p:cNvPr>
          <p:cNvSpPr txBox="1"/>
          <p:nvPr/>
        </p:nvSpPr>
        <p:spPr>
          <a:xfrm>
            <a:off x="557784" y="1080992"/>
            <a:ext cx="959205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In Natural Language Processing (NLP) for finance, practitioners use a combination of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traditional machine learning (ML)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,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deep learning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Large Language Models (LLMs)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Google Sans"/>
            </a:endParaRPr>
          </a:p>
          <a:p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</a:rPr>
              <a:t>The choice depends on the specific task, such as sentiment analysis, risk assessment, or automated customer support.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911AF7-F907-6E25-82CF-7753C1AD1773}"/>
              </a:ext>
            </a:extLst>
          </p:cNvPr>
          <p:cNvSpPr txBox="1"/>
          <p:nvPr/>
        </p:nvSpPr>
        <p:spPr>
          <a:xfrm>
            <a:off x="411480" y="182880"/>
            <a:ext cx="8114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AI models are used in  NLP tasks related with Finance ? </a:t>
            </a:r>
          </a:p>
        </p:txBody>
      </p:sp>
    </p:spTree>
    <p:extLst>
      <p:ext uri="{BB962C8B-B14F-4D97-AF65-F5344CB8AC3E}">
        <p14:creationId xmlns:p14="http://schemas.microsoft.com/office/powerpoint/2010/main" val="1982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AA84F-56A3-0CB8-F8ED-BC27E7229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DE2891-7520-F673-DA8A-4F946EA34167}"/>
              </a:ext>
            </a:extLst>
          </p:cNvPr>
          <p:cNvSpPr txBox="1"/>
          <p:nvPr/>
        </p:nvSpPr>
        <p:spPr>
          <a:xfrm>
            <a:off x="411480" y="182880"/>
            <a:ext cx="8114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AI models are used in  NLP tasks related with Finance 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BBC942-FA43-EDEC-3654-0EC350E97BE9}"/>
              </a:ext>
            </a:extLst>
          </p:cNvPr>
          <p:cNvSpPr txBox="1"/>
          <p:nvPr/>
        </p:nvSpPr>
        <p:spPr>
          <a:xfrm>
            <a:off x="338328" y="1051989"/>
            <a:ext cx="116128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Models:</a:t>
            </a: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Language Models (LLMs) &amp; Transformers: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are currently the "state-of-the-art" for complex reasoning and understanding context.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FinBERT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specialized version of the BERT model trained specifically on financial text like Reuters news and earnings call transcripts.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GPT Family: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Models like GPT-4 and GPT-5 are used for generating high-quality financial summaries and powering advanced chatbots.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Open-Source Finance Models: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Examples include 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FinGPT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and 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InvestLM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are fine-tuned for financial advice and market analysis.</a:t>
            </a:r>
          </a:p>
        </p:txBody>
      </p:sp>
    </p:spTree>
    <p:extLst>
      <p:ext uri="{BB962C8B-B14F-4D97-AF65-F5344CB8AC3E}">
        <p14:creationId xmlns:p14="http://schemas.microsoft.com/office/powerpoint/2010/main" val="879875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389D8-465B-487B-46C1-B20567007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A93A02-7086-E8E2-188E-B5581C3080A2}"/>
              </a:ext>
            </a:extLst>
          </p:cNvPr>
          <p:cNvSpPr txBox="1"/>
          <p:nvPr/>
        </p:nvSpPr>
        <p:spPr>
          <a:xfrm>
            <a:off x="411480" y="182880"/>
            <a:ext cx="8114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AI models are used in  NLP tasks related with Finance 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87D93-99FD-278F-9CAF-29322E8E6C22}"/>
              </a:ext>
            </a:extLst>
          </p:cNvPr>
          <p:cNvSpPr txBox="1"/>
          <p:nvPr/>
        </p:nvSpPr>
        <p:spPr>
          <a:xfrm>
            <a:off x="338328" y="1051989"/>
            <a:ext cx="116128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Models:</a:t>
            </a: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Learning (RNNs &amp; CNNs):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Long Short-Term Memory (LSTM):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type of Recurrent Neural Network (RNN) that excels at processing sequential data, often used to predict stock movements by analyzing patterns in historical price text and news over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Gated Recurrent Units (GRU):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Simpler, faster versions of LSTMs used for real-time risk assessment and high-frequency trading data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Convolutional Neural Networks (CNNs):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While primarily for images, they are used in finance for pattern recognition in time-series data or detecting fraud in structured documents.</a:t>
            </a:r>
          </a:p>
        </p:txBody>
      </p:sp>
    </p:spTree>
    <p:extLst>
      <p:ext uri="{BB962C8B-B14F-4D97-AF65-F5344CB8AC3E}">
        <p14:creationId xmlns:p14="http://schemas.microsoft.com/office/powerpoint/2010/main" val="1843202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803A1-20F9-37D7-7ED1-33A3CDB07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D19887-D2ED-433F-E54F-821BD4580E17}"/>
              </a:ext>
            </a:extLst>
          </p:cNvPr>
          <p:cNvSpPr txBox="1"/>
          <p:nvPr/>
        </p:nvSpPr>
        <p:spPr>
          <a:xfrm>
            <a:off x="411480" y="182880"/>
            <a:ext cx="8114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AI models are used in  NLP tasks related with Finance 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719E1-96CF-F961-D016-F1555E199D74}"/>
              </a:ext>
            </a:extLst>
          </p:cNvPr>
          <p:cNvSpPr txBox="1"/>
          <p:nvPr/>
        </p:nvSpPr>
        <p:spPr>
          <a:xfrm>
            <a:off x="338328" y="1051989"/>
            <a:ext cx="116128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Models: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Machine Learning (Regular ML):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Random Forest &amp;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XGBoost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Frequently used for credit scoring and churn prediction where data is more structured.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Naive Bayes &amp; SVM: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Common for basic sentiment classification (tagging news as "positive" or "negative") because they are computationally fast and interpretable.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Latent Dirichlet Allocation (LDA):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popular "regular" ML model for topic modeling, used to automatically categorize themes in thousands of annual reports or SEC filings. </a:t>
            </a:r>
          </a:p>
        </p:txBody>
      </p:sp>
    </p:spTree>
    <p:extLst>
      <p:ext uri="{BB962C8B-B14F-4D97-AF65-F5344CB8AC3E}">
        <p14:creationId xmlns:p14="http://schemas.microsoft.com/office/powerpoint/2010/main" val="2104106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AB1B3-EC14-7D4A-8C80-911BEFF76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7860C3-1A47-20EA-7C6C-4BBF282E3820}"/>
              </a:ext>
            </a:extLst>
          </p:cNvPr>
          <p:cNvSpPr txBox="1"/>
          <p:nvPr/>
        </p:nvSpPr>
        <p:spPr>
          <a:xfrm>
            <a:off x="411480" y="182880"/>
            <a:ext cx="8114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AI models are used in  NLP tasks related with Finance 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E4FFB5-31CE-A550-20D1-0C542D4979E1}"/>
              </a:ext>
            </a:extLst>
          </p:cNvPr>
          <p:cNvSpPr txBox="1"/>
          <p:nvPr/>
        </p:nvSpPr>
        <p:spPr>
          <a:xfrm>
            <a:off x="338328" y="1051989"/>
            <a:ext cx="11612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Summary of Model Usage by Task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336438-D586-C6C0-ACC9-3CD95881A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860099"/>
              </p:ext>
            </p:extLst>
          </p:nvPr>
        </p:nvGraphicFramePr>
        <p:xfrm>
          <a:off x="996696" y="2543175"/>
          <a:ext cx="10067544" cy="1885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67677">
                  <a:extLst>
                    <a:ext uri="{9D8B030D-6E8A-4147-A177-3AD203B41FA5}">
                      <a16:colId xmlns:a16="http://schemas.microsoft.com/office/drawing/2014/main" val="3498909632"/>
                    </a:ext>
                  </a:extLst>
                </a:gridCol>
                <a:gridCol w="2833137">
                  <a:extLst>
                    <a:ext uri="{9D8B030D-6E8A-4147-A177-3AD203B41FA5}">
                      <a16:colId xmlns:a16="http://schemas.microsoft.com/office/drawing/2014/main" val="3916560047"/>
                    </a:ext>
                  </a:extLst>
                </a:gridCol>
                <a:gridCol w="4066730">
                  <a:extLst>
                    <a:ext uri="{9D8B030D-6E8A-4147-A177-3AD203B41FA5}">
                      <a16:colId xmlns:a16="http://schemas.microsoft.com/office/drawing/2014/main" val="997356180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Task 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Preferred Model Type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Examples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453353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Market Sentiment Analysis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Transformers / LLMs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 dirty="0" err="1">
                          <a:effectLst/>
                        </a:rPr>
                        <a:t>FinBERT</a:t>
                      </a:r>
                      <a:r>
                        <a:rPr lang="en-US" sz="2000" u="none" strike="noStrike" dirty="0">
                          <a:effectLst/>
                        </a:rPr>
                        <a:t>, GPT-4, </a:t>
                      </a:r>
                      <a:r>
                        <a:rPr lang="en-US" sz="2000" u="none" strike="noStrike" dirty="0" err="1">
                          <a:effectLst/>
                        </a:rPr>
                        <a:t>FinMA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473175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Fraud Detection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RNNs / Ensemble ML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LSTM, XGBoost, Random Forest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177613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Document Summarization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LLMs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GPT-5, BART, Claude Opus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2203551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Stock Price Forecasting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RNNs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LSTM, GRU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542412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Risk Assessment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Ensemble ML / RNNs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Random Forest, </a:t>
                      </a:r>
                      <a:r>
                        <a:rPr lang="en-US" sz="2000" u="none" strike="noStrike" dirty="0" err="1">
                          <a:effectLst/>
                        </a:rPr>
                        <a:t>XGBoost</a:t>
                      </a:r>
                      <a:r>
                        <a:rPr lang="en-US" sz="2000" u="none" strike="noStrike" dirty="0">
                          <a:effectLst/>
                        </a:rPr>
                        <a:t>, GRU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65766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361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1379</TotalTime>
  <Words>1054</Words>
  <Application>Microsoft Office PowerPoint</Application>
  <PresentationFormat>Widescreen</PresentationFormat>
  <Paragraphs>172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Google Sans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279</cp:revision>
  <dcterms:created xsi:type="dcterms:W3CDTF">2025-09-22T02:44:38Z</dcterms:created>
  <dcterms:modified xsi:type="dcterms:W3CDTF">2026-07-19T06:39:13Z</dcterms:modified>
</cp:coreProperties>
</file>