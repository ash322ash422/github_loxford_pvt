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76" r:id="rId3"/>
    <p:sldId id="299" r:id="rId4"/>
    <p:sldId id="287" r:id="rId5"/>
    <p:sldId id="288" r:id="rId6"/>
    <p:sldId id="296" r:id="rId7"/>
    <p:sldId id="297" r:id="rId8"/>
    <p:sldId id="277" r:id="rId9"/>
    <p:sldId id="278" r:id="rId10"/>
    <p:sldId id="279" r:id="rId11"/>
    <p:sldId id="292" r:id="rId12"/>
    <p:sldId id="290" r:id="rId13"/>
    <p:sldId id="293" r:id="rId14"/>
    <p:sldId id="285" r:id="rId15"/>
    <p:sldId id="280" r:id="rId16"/>
    <p:sldId id="284" r:id="rId17"/>
    <p:sldId id="282" r:id="rId18"/>
    <p:sldId id="269" r:id="rId19"/>
    <p:sldId id="294" r:id="rId20"/>
    <p:sldId id="298" r:id="rId21"/>
    <p:sldId id="286" r:id="rId22"/>
    <p:sldId id="295" r:id="rId23"/>
    <p:sldId id="283" r:id="rId24"/>
    <p:sldId id="27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215DA-3608-60AF-BA74-5CE165D36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9745" y="1664207"/>
            <a:ext cx="10991273" cy="977485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Multi-Layer Perceptron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42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B552A-70F8-CB4B-0929-BF5D12FBA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9AD4872-4647-476A-7845-F06D5ADEF29A}"/>
              </a:ext>
            </a:extLst>
          </p:cNvPr>
          <p:cNvSpPr txBox="1"/>
          <p:nvPr/>
        </p:nvSpPr>
        <p:spPr>
          <a:xfrm>
            <a:off x="502920" y="170854"/>
            <a:ext cx="10268712" cy="1444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Multi-layer Feedforward Networks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Multi-layer feedforward networks, also called </a:t>
            </a:r>
            <a:r>
              <a:rPr lang="en-IN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Multi-Layer Perceptron’s (MLPs)</a:t>
            </a:r>
            <a:r>
              <a:rPr lang="en-IN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are a fundamental type of artificial neural network.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172049-52F8-B881-1887-56920E68A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2925615"/>
            <a:ext cx="6191184" cy="358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557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EAE5C-B03A-837D-0E24-DC5DB5A39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0974069-D27A-3C8B-8485-29F6EE2E5B23}"/>
              </a:ext>
            </a:extLst>
          </p:cNvPr>
          <p:cNvSpPr txBox="1"/>
          <p:nvPr/>
        </p:nvSpPr>
        <p:spPr>
          <a:xfrm>
            <a:off x="502920" y="170854"/>
            <a:ext cx="10268712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terms:</a:t>
            </a:r>
            <a:endParaRPr lang="en-IN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A1111C-8EEA-2B34-D203-67CCD8012E78}"/>
              </a:ext>
            </a:extLst>
          </p:cNvPr>
          <p:cNvSpPr txBox="1"/>
          <p:nvPr/>
        </p:nvSpPr>
        <p:spPr>
          <a:xfrm>
            <a:off x="98298" y="1018521"/>
            <a:ext cx="547954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Structural Components (Architecture):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Neurons/Nodes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Hidden Layers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35D752-85E4-5DE5-BCA5-54FBC403D87C}"/>
              </a:ext>
            </a:extLst>
          </p:cNvPr>
          <p:cNvSpPr txBox="1"/>
          <p:nvPr/>
        </p:nvSpPr>
        <p:spPr>
          <a:xfrm>
            <a:off x="5893308" y="1011395"/>
            <a:ext cx="61904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Operational Terms (Forward &amp; Backward Pass):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Forward Propagation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Activation Function: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ReLU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(Rectified Linear Unit), Sigmoid, Tanh, SoftMax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Function (Cost Function)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Backpropagation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Gradient Descent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5CA305-2099-B24B-498E-26E27AFD54AF}"/>
              </a:ext>
            </a:extLst>
          </p:cNvPr>
          <p:cNvSpPr txBox="1"/>
          <p:nvPr/>
        </p:nvSpPr>
        <p:spPr>
          <a:xfrm>
            <a:off x="2510028" y="4277374"/>
            <a:ext cx="61904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Training &amp; Hyperparameters: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Learning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Optimizer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Epoch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Batch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Batch Normalization</a:t>
            </a:r>
          </a:p>
        </p:txBody>
      </p:sp>
    </p:spTree>
    <p:extLst>
      <p:ext uri="{BB962C8B-B14F-4D97-AF65-F5344CB8AC3E}">
        <p14:creationId xmlns:p14="http://schemas.microsoft.com/office/powerpoint/2010/main" val="1429021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BCBB6-F4F2-AF49-2074-367E3AAC5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89EFED-3B40-4AFD-CCFC-D80675A8B59A}"/>
              </a:ext>
            </a:extLst>
          </p:cNvPr>
          <p:cNvSpPr txBox="1"/>
          <p:nvPr/>
        </p:nvSpPr>
        <p:spPr>
          <a:xfrm>
            <a:off x="502920" y="170854"/>
            <a:ext cx="10579608" cy="3026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Basic Structure</a:t>
            </a: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a</a:t>
            </a:r>
            <a:r>
              <a:rPr lang="en-IN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feedforward network:</a:t>
            </a:r>
          </a:p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 Layer</a:t>
            </a:r>
            <a:r>
              <a:rPr lang="en-IN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Receives the raw data/features</a:t>
            </a:r>
          </a:p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Hidden Layer(s)</a:t>
            </a:r>
            <a:r>
              <a:rPr lang="en-IN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One or more layers that process information</a:t>
            </a:r>
          </a:p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 Layer</a:t>
            </a:r>
            <a:r>
              <a:rPr lang="en-IN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Produces the final prediction or classification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term "multi-layer" means there's at least one hidden layer between input and output.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877D9D-BFB9-75B4-A547-AB0137651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2925615"/>
            <a:ext cx="6191184" cy="358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095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7F39A-A4B6-CE36-6E5D-1AACD7DD0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30437A-FAA4-43D5-1D7B-4835741E0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76" y="1261872"/>
            <a:ext cx="9449407" cy="55686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5E7519-9F73-F27F-6E3A-5C91B3F40C9E}"/>
              </a:ext>
            </a:extLst>
          </p:cNvPr>
          <p:cNvSpPr txBox="1"/>
          <p:nvPr/>
        </p:nvSpPr>
        <p:spPr>
          <a:xfrm>
            <a:off x="1655064" y="510278"/>
            <a:ext cx="7548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MLP are consists of multiple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fully connected layers.</a:t>
            </a:r>
          </a:p>
        </p:txBody>
      </p:sp>
    </p:spTree>
    <p:extLst>
      <p:ext uri="{BB962C8B-B14F-4D97-AF65-F5344CB8AC3E}">
        <p14:creationId xmlns:p14="http://schemas.microsoft.com/office/powerpoint/2010/main" val="3647700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C92EF-4837-52D3-1013-FCD6A27EC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FE9637-B14F-4DCA-7689-07255B598D36}"/>
              </a:ext>
            </a:extLst>
          </p:cNvPr>
          <p:cNvSpPr txBox="1"/>
          <p:nvPr/>
        </p:nvSpPr>
        <p:spPr>
          <a:xfrm>
            <a:off x="301752" y="245102"/>
            <a:ext cx="104058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number of neurons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layer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number of input features.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regression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problem, output layer has 1 neuron.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binary classification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output layer has 1 neuron: value -&gt; 0/1</a:t>
            </a:r>
          </a:p>
        </p:txBody>
      </p:sp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5D51115F-127F-B175-39AC-5AE44F10F6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43424" y="997208"/>
            <a:ext cx="4252853" cy="56704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71B65B-0673-07BF-CA74-815D3433C979}"/>
              </a:ext>
            </a:extLst>
          </p:cNvPr>
          <p:cNvSpPr txBox="1"/>
          <p:nvPr/>
        </p:nvSpPr>
        <p:spPr>
          <a:xfrm>
            <a:off x="128016" y="2670048"/>
            <a:ext cx="45079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the number of features = 3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Age, Experience, Skillset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 Salary (Regression)</a:t>
            </a:r>
          </a:p>
        </p:txBody>
      </p:sp>
    </p:spTree>
    <p:extLst>
      <p:ext uri="{BB962C8B-B14F-4D97-AF65-F5344CB8AC3E}">
        <p14:creationId xmlns:p14="http://schemas.microsoft.com/office/powerpoint/2010/main" val="2674023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3AF92-D8D7-9A98-F31A-EF18D8A24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C03C33-BA2B-2DD8-F429-BFC9238DE8F6}"/>
              </a:ext>
            </a:extLst>
          </p:cNvPr>
          <p:cNvSpPr txBox="1"/>
          <p:nvPr/>
        </p:nvSpPr>
        <p:spPr>
          <a:xfrm>
            <a:off x="128016" y="-9144"/>
            <a:ext cx="115031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multi-classification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output layer has number of classes neurons.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a MLP predicts the size of shirt based on age and height of a customer: Here the number of features = 2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Age, Height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 Size of shirt -&gt; S, M or L                    Here,  S = [1, 0, 0]    M = [0, 1, 0]      L = [0, 0, 1]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6EECB5-8157-6271-6667-8CFFEFB93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301" y="2825960"/>
            <a:ext cx="9316751" cy="398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187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8BACD-845A-37CD-78E9-822FDCDDF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175CF1E-B9B4-B4C3-D88A-B61649862C9F}"/>
              </a:ext>
            </a:extLst>
          </p:cNvPr>
          <p:cNvSpPr txBox="1"/>
          <p:nvPr/>
        </p:nvSpPr>
        <p:spPr>
          <a:xfrm>
            <a:off x="201168" y="97702"/>
            <a:ext cx="117134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"Feedforward" Works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Information flows in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 direction only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enters through the input layer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Passes through hidden layers sequentially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Exits through the output layer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cycles or loops (unlike recurrent networks)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Think of it like a assembly line where each station processes the product and passes it forward — never backward.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F10F71-6A3E-B501-97F0-CE65AB493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094" y="3316546"/>
            <a:ext cx="5463166" cy="341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959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8C319-223B-CAAA-19B4-27C6BDA26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A1C8304-5A05-AF24-965A-EDAA73EE321F}"/>
              </a:ext>
            </a:extLst>
          </p:cNvPr>
          <p:cNvSpPr txBox="1"/>
          <p:nvPr/>
        </p:nvSpPr>
        <p:spPr>
          <a:xfrm>
            <a:off x="201168" y="42838"/>
            <a:ext cx="112288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Components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Neurons (Nodes)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Each layer contains multiple neurons that perform computations.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05E543-B70E-79E1-DA0A-C6F525221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365" y="1302603"/>
            <a:ext cx="6665109" cy="27157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BFA693-1003-DE90-511D-2EB0815CE5AD}"/>
              </a:ext>
            </a:extLst>
          </p:cNvPr>
          <p:cNvSpPr txBox="1"/>
          <p:nvPr/>
        </p:nvSpPr>
        <p:spPr>
          <a:xfrm>
            <a:off x="137160" y="5531020"/>
            <a:ext cx="872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 -&gt;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07C93F-2CC8-998A-B014-C5E9995E1D90}"/>
              </a:ext>
            </a:extLst>
          </p:cNvPr>
          <p:cNvSpPr txBox="1"/>
          <p:nvPr/>
        </p:nvSpPr>
        <p:spPr>
          <a:xfrm>
            <a:off x="24384" y="2519596"/>
            <a:ext cx="16673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 Neuron -&gt;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57A3E62-6327-97B1-6508-645F55EB1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296" y="4159767"/>
            <a:ext cx="4224777" cy="25743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A5A458-BE35-18EF-5826-E655CCF29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1537" y="2660487"/>
            <a:ext cx="3700463" cy="237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962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B7A8B-4B7C-9CB3-BEDC-B7194BAA0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2F4960-A2C1-266F-5F11-F3F693A037F5}"/>
              </a:ext>
            </a:extLst>
          </p:cNvPr>
          <p:cNvSpPr txBox="1"/>
          <p:nvPr/>
        </p:nvSpPr>
        <p:spPr>
          <a:xfrm>
            <a:off x="201167" y="79414"/>
            <a:ext cx="1180795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Components: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Weights represent the importance of inputs: A higher absolute value = more influence.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Positive weights amplify input; negative weights can invert 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connection between two neurons has a weight.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Weights can be (–inf to +inf).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are learned during training.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A784CC-C654-E91F-D2FA-727EBBC15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59087"/>
            <a:ext cx="8044422" cy="380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306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1175-7605-424B-9EA9-F944575EA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7F016F4-F6D8-06AA-7234-8C34E6A69248}"/>
              </a:ext>
            </a:extLst>
          </p:cNvPr>
          <p:cNvSpPr txBox="1"/>
          <p:nvPr/>
        </p:nvSpPr>
        <p:spPr>
          <a:xfrm>
            <a:off x="201168" y="225718"/>
            <a:ext cx="10058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Bias allows the network to shift the activation function.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a bias, the neuron output would always pass through the origin (zero input = zero output).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398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5355D-154C-8CFD-8B31-7A4AD26D7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00E6FB7-3D30-4577-96A6-8ABFE08615AA}"/>
              </a:ext>
            </a:extLst>
          </p:cNvPr>
          <p:cNvSpPr txBox="1"/>
          <p:nvPr/>
        </p:nvSpPr>
        <p:spPr>
          <a:xfrm>
            <a:off x="201168" y="97702"/>
            <a:ext cx="112288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Components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Activation Functions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Each neuron applies a non-linear function (like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ReLU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sigmoid, or tanh) to enable the network to learn non-linear patterns.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2B3993-757F-90BF-BD22-ED1B2B6F4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975" y="2066544"/>
            <a:ext cx="4650084" cy="28868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C291DA-B3B3-4F92-006D-10FC2A6B5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84" y="1755647"/>
            <a:ext cx="5683260" cy="393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945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2770C-8221-7C87-CB0F-85E5F4D12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0698A5E-847D-1E67-5CBA-6ABC219AB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190"/>
            <a:ext cx="8191147" cy="38708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4DC717-CAF7-5028-0C64-F67B523C6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2418" y="4597646"/>
            <a:ext cx="3306332" cy="21700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DADA06-EFD7-207B-C6E7-D8A43DF4D33B}"/>
              </a:ext>
            </a:extLst>
          </p:cNvPr>
          <p:cNvSpPr txBox="1"/>
          <p:nvPr/>
        </p:nvSpPr>
        <p:spPr>
          <a:xfrm>
            <a:off x="7968996" y="4597646"/>
            <a:ext cx="422300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Pass result to next neurons, i.e. next layer</a:t>
            </a:r>
          </a:p>
          <a:p>
            <a:pPr lvl="0"/>
            <a:r>
              <a:rPr lang="en-IN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becomes input to next neuron</a:t>
            </a:r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480B5D-B556-6C6A-C0FD-9FF73E6DCCB1}"/>
              </a:ext>
            </a:extLst>
          </p:cNvPr>
          <p:cNvSpPr txBox="1"/>
          <p:nvPr/>
        </p:nvSpPr>
        <p:spPr>
          <a:xfrm>
            <a:off x="201168" y="-12026"/>
            <a:ext cx="112288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each neuron, the process is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 weighted sum of inputs and add a bias term,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Apply activation function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Pass result to next neurons (next layer)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063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35D9F-2EBD-7061-6943-4561857F3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6461CB-DF24-BCB9-258A-679D5722A059}"/>
              </a:ext>
            </a:extLst>
          </p:cNvPr>
          <p:cNvSpPr txBox="1"/>
          <p:nvPr/>
        </p:nvSpPr>
        <p:spPr>
          <a:xfrm>
            <a:off x="192024" y="298870"/>
            <a:ext cx="1077338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free parameters (bias + weights) of the neural network are changed as a result of training. </a:t>
            </a:r>
          </a:p>
          <a:p>
            <a:pPr fontAlgn="base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fontAlgn="base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WHOLE GAME OF NEURAL NETWORK IS FINDING WEIGHTS, BIAS, etc.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68E837-29BE-2482-DC6C-BFC4269E3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909" y="1740514"/>
            <a:ext cx="10170500" cy="511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722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5DB19-DA99-847D-2765-CDAA738FE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90F8E2B-25F6-757D-81D6-ECFE7577C940}"/>
              </a:ext>
            </a:extLst>
          </p:cNvPr>
          <p:cNvSpPr txBox="1"/>
          <p:nvPr/>
        </p:nvSpPr>
        <p:spPr>
          <a:xfrm>
            <a:off x="201168" y="15406"/>
            <a:ext cx="115763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"Multi-layer" Matters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Multiple layers allow the network to learn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hierarchical representations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Early layers detect simple patterns (edges, basic features)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Deeper layers combine these into complex patterns (shapes, objects, abstract concepts)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FEC73F-B8D0-B078-0C8D-9324F7B15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893" y="2139696"/>
            <a:ext cx="8913311" cy="4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56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9B630-D9AC-25CE-2677-AF6177688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BEDAEF-D167-F599-DE17-CBED55FFB6D8}"/>
              </a:ext>
            </a:extLst>
          </p:cNvPr>
          <p:cNvSpPr txBox="1"/>
          <p:nvPr/>
        </p:nvSpPr>
        <p:spPr>
          <a:xfrm>
            <a:off x="201168" y="570733"/>
            <a:ext cx="112288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Difference between perceptron and neuron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Perceptron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fundamental,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binary-output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artificial linear classifier.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Neuron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(specifically an artificial neuron or node) is a more advanced,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continuous-output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unit used in modern deep learning. Neurons utilize non-linear activation functions. </a:t>
            </a:r>
          </a:p>
        </p:txBody>
      </p:sp>
    </p:spTree>
    <p:extLst>
      <p:ext uri="{BB962C8B-B14F-4D97-AF65-F5344CB8AC3E}">
        <p14:creationId xmlns:p14="http://schemas.microsoft.com/office/powerpoint/2010/main" val="3721958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E60DF-2FA3-6479-9DEE-2AAADBBBE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B9739B-A25C-6C06-8C8F-6DDB97B1DB0E}"/>
              </a:ext>
            </a:extLst>
          </p:cNvPr>
          <p:cNvSpPr txBox="1"/>
          <p:nvPr/>
        </p:nvSpPr>
        <p:spPr>
          <a:xfrm>
            <a:off x="201168" y="2685454"/>
            <a:ext cx="112288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894445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204036" y="3241761"/>
            <a:ext cx="21813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Prediction target y`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4340" y="5605113"/>
            <a:ext cx="15019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True target y</a:t>
            </a:r>
          </a:p>
        </p:txBody>
      </p:sp>
      <p:sp>
        <p:nvSpPr>
          <p:cNvPr id="7" name="Oval 6"/>
          <p:cNvSpPr/>
          <p:nvPr/>
        </p:nvSpPr>
        <p:spPr>
          <a:xfrm>
            <a:off x="4441371" y="4945162"/>
            <a:ext cx="1861458" cy="66402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Loss 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7295" y="4830205"/>
            <a:ext cx="12435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score</a:t>
            </a:r>
          </a:p>
        </p:txBody>
      </p:sp>
      <p:cxnSp>
        <p:nvCxnSpPr>
          <p:cNvPr id="10" name="Straight Arrow Connector 9"/>
          <p:cNvCxnSpPr>
            <a:cxnSpLocks/>
          </p:cNvCxnSpPr>
          <p:nvPr/>
        </p:nvCxnSpPr>
        <p:spPr>
          <a:xfrm flipH="1" flipV="1">
            <a:off x="2286000" y="5202883"/>
            <a:ext cx="2074111" cy="321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06979" y="4737462"/>
            <a:ext cx="1861458" cy="66402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Optimizer</a:t>
            </a:r>
          </a:p>
        </p:txBody>
      </p:sp>
      <p:cxnSp>
        <p:nvCxnSpPr>
          <p:cNvPr id="15" name="Straight Arrow Connector 14"/>
          <p:cNvCxnSpPr>
            <a:cxnSpLocks/>
          </p:cNvCxnSpPr>
          <p:nvPr/>
        </p:nvCxnSpPr>
        <p:spPr>
          <a:xfrm flipV="1">
            <a:off x="1429629" y="3611093"/>
            <a:ext cx="10797" cy="10066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387275" y="4019006"/>
            <a:ext cx="25810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Updates weights + bias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6150430" y="3028426"/>
            <a:ext cx="1542074" cy="2511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cxnSpLocks/>
          </p:cNvCxnSpPr>
          <p:nvPr/>
        </p:nvCxnSpPr>
        <p:spPr>
          <a:xfrm flipH="1" flipV="1">
            <a:off x="6265712" y="5577787"/>
            <a:ext cx="766795" cy="1442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02830" y="465350"/>
            <a:ext cx="57489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function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defines the feedback signal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which is used for learning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Optimizer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Algorithm that adjusts the attributes of the neural network, such as weights and learning rates.</a:t>
            </a:r>
          </a:p>
        </p:txBody>
      </p:sp>
      <p:cxnSp>
        <p:nvCxnSpPr>
          <p:cNvPr id="9" name="Straight Arrow Connector 8"/>
          <p:cNvCxnSpPr>
            <a:cxnSpLocks/>
          </p:cNvCxnSpPr>
          <p:nvPr/>
        </p:nvCxnSpPr>
        <p:spPr>
          <a:xfrm>
            <a:off x="6105665" y="2619552"/>
            <a:ext cx="1008675" cy="6951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348113" y="57660"/>
            <a:ext cx="3797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flow of info. when NN are trained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03186" y="5946927"/>
            <a:ext cx="32893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 : Mean Squared Error, Cross-Entropy, etc.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338" y="5746654"/>
            <a:ext cx="35598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E.g.: Gradient Descent, Stochastic GD,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AdamOptimzer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RMSProp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AdaGrad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etc.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C75E66E-BEE3-2752-4B09-DF95BF639914}"/>
              </a:ext>
            </a:extLst>
          </p:cNvPr>
          <p:cNvCxnSpPr>
            <a:cxnSpLocks/>
          </p:cNvCxnSpPr>
          <p:nvPr/>
        </p:nvCxnSpPr>
        <p:spPr>
          <a:xfrm flipH="1">
            <a:off x="6265712" y="3713406"/>
            <a:ext cx="995058" cy="12317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FB20D79F-AC97-D0A9-9628-66D2AD793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27" y="57660"/>
            <a:ext cx="5966465" cy="348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3488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D275C-53AC-ECD2-2D44-8BBB70F6A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E840EC-9949-F3A9-40B2-C1E53D5A5FE6}"/>
              </a:ext>
            </a:extLst>
          </p:cNvPr>
          <p:cNvSpPr txBox="1"/>
          <p:nvPr/>
        </p:nvSpPr>
        <p:spPr>
          <a:xfrm>
            <a:off x="7204036" y="3241761"/>
            <a:ext cx="21813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Prediction target y`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9A5D70-5EFD-BFFD-3E70-DF81B1DA62A3}"/>
              </a:ext>
            </a:extLst>
          </p:cNvPr>
          <p:cNvSpPr txBox="1"/>
          <p:nvPr/>
        </p:nvSpPr>
        <p:spPr>
          <a:xfrm>
            <a:off x="7114340" y="5605113"/>
            <a:ext cx="22544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True/Actual target 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BFBCB8A-1C00-19B1-9257-94E1A96505D1}"/>
              </a:ext>
            </a:extLst>
          </p:cNvPr>
          <p:cNvSpPr/>
          <p:nvPr/>
        </p:nvSpPr>
        <p:spPr>
          <a:xfrm>
            <a:off x="4441371" y="4945162"/>
            <a:ext cx="1861458" cy="66402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Loss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2DBE4B-1976-328B-759F-B5158880AF10}"/>
              </a:ext>
            </a:extLst>
          </p:cNvPr>
          <p:cNvSpPr txBox="1"/>
          <p:nvPr/>
        </p:nvSpPr>
        <p:spPr>
          <a:xfrm>
            <a:off x="3157295" y="4830205"/>
            <a:ext cx="12435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score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9F23F9-661E-6397-CCA3-4EB04F402A2E}"/>
              </a:ext>
            </a:extLst>
          </p:cNvPr>
          <p:cNvCxnSpPr>
            <a:cxnSpLocks/>
          </p:cNvCxnSpPr>
          <p:nvPr/>
        </p:nvCxnSpPr>
        <p:spPr>
          <a:xfrm flipH="1" flipV="1">
            <a:off x="2286000" y="5202883"/>
            <a:ext cx="2074111" cy="321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F46EF84F-B0D6-7197-7A91-78CB9C8E2C2C}"/>
              </a:ext>
            </a:extLst>
          </p:cNvPr>
          <p:cNvSpPr/>
          <p:nvPr/>
        </p:nvSpPr>
        <p:spPr>
          <a:xfrm>
            <a:off x="306979" y="4737462"/>
            <a:ext cx="1861458" cy="66402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Optimizer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07F0AD-018A-8983-4A53-F4BED9B76188}"/>
              </a:ext>
            </a:extLst>
          </p:cNvPr>
          <p:cNvCxnSpPr>
            <a:cxnSpLocks/>
          </p:cNvCxnSpPr>
          <p:nvPr/>
        </p:nvCxnSpPr>
        <p:spPr>
          <a:xfrm flipV="1">
            <a:off x="1429629" y="3611093"/>
            <a:ext cx="10797" cy="10066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B97C318-A27F-BF1B-2A7B-01A05E2C197A}"/>
              </a:ext>
            </a:extLst>
          </p:cNvPr>
          <p:cNvSpPr txBox="1"/>
          <p:nvPr/>
        </p:nvSpPr>
        <p:spPr>
          <a:xfrm>
            <a:off x="1387275" y="4019006"/>
            <a:ext cx="25810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Updates weights + bias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D7211A-F133-0F56-29BC-129D83088DE6}"/>
              </a:ext>
            </a:extLst>
          </p:cNvPr>
          <p:cNvCxnSpPr/>
          <p:nvPr/>
        </p:nvCxnSpPr>
        <p:spPr>
          <a:xfrm flipH="1">
            <a:off x="6150430" y="3028426"/>
            <a:ext cx="1542074" cy="2511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6AF5BA9-3577-0CF3-3DD9-04E77A243959}"/>
              </a:ext>
            </a:extLst>
          </p:cNvPr>
          <p:cNvCxnSpPr>
            <a:cxnSpLocks/>
          </p:cNvCxnSpPr>
          <p:nvPr/>
        </p:nvCxnSpPr>
        <p:spPr>
          <a:xfrm flipH="1" flipV="1">
            <a:off x="6265712" y="5577787"/>
            <a:ext cx="766795" cy="1442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AB75D07-9BAA-1018-2B16-FB8ADE3BDCB7}"/>
              </a:ext>
            </a:extLst>
          </p:cNvPr>
          <p:cNvSpPr txBox="1"/>
          <p:nvPr/>
        </p:nvSpPr>
        <p:spPr>
          <a:xfrm>
            <a:off x="6302829" y="218462"/>
            <a:ext cx="588917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networks typically learn through </a:t>
            </a: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backpropagation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Make predictions (forward pass)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Calculate error between predictions and actual values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Propagate error backward through the network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Update weights using gradient descent to minimize error/loss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D0B032-D310-B216-94B5-01C414E92EF1}"/>
              </a:ext>
            </a:extLst>
          </p:cNvPr>
          <p:cNvCxnSpPr>
            <a:cxnSpLocks/>
          </p:cNvCxnSpPr>
          <p:nvPr/>
        </p:nvCxnSpPr>
        <p:spPr>
          <a:xfrm>
            <a:off x="6105665" y="2619552"/>
            <a:ext cx="1008675" cy="6951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A59A3F3-4F8B-A8D6-0A54-9EAA9BA639DD}"/>
              </a:ext>
            </a:extLst>
          </p:cNvPr>
          <p:cNvSpPr txBox="1"/>
          <p:nvPr/>
        </p:nvSpPr>
        <p:spPr>
          <a:xfrm>
            <a:off x="4403186" y="5946927"/>
            <a:ext cx="32893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 : Mean Squared Error, Cross-Entropy, etc.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03A733-B7FE-2C7C-5D21-6B9706987580}"/>
              </a:ext>
            </a:extLst>
          </p:cNvPr>
          <p:cNvSpPr txBox="1"/>
          <p:nvPr/>
        </p:nvSpPr>
        <p:spPr>
          <a:xfrm>
            <a:off x="70338" y="5746654"/>
            <a:ext cx="2928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E.g.: SGD,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AdamOptimzer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RMSProp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AdaGrad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etc.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C87751B-CB10-5AA3-61D1-3A6935DD58BC}"/>
              </a:ext>
            </a:extLst>
          </p:cNvPr>
          <p:cNvCxnSpPr>
            <a:cxnSpLocks/>
          </p:cNvCxnSpPr>
          <p:nvPr/>
        </p:nvCxnSpPr>
        <p:spPr>
          <a:xfrm flipH="1">
            <a:off x="6265712" y="3713406"/>
            <a:ext cx="995058" cy="12317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81C23037-F056-770F-3687-8F4DB740A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27" y="57660"/>
            <a:ext cx="5966465" cy="348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129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8A2CF-B50B-58C5-8AF8-940250EAC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B27C33-2FD4-788B-A5CA-D80B0B261676}"/>
                  </a:ext>
                </a:extLst>
              </p:cNvPr>
              <p:cNvSpPr txBox="1"/>
              <p:nvPr/>
            </p:nvSpPr>
            <p:spPr>
              <a:xfrm>
                <a:off x="334106" y="716559"/>
                <a:ext cx="10455814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 example of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Loss Function: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 </a:t>
                </a:r>
                <a:r>
                  <a:rPr lang="en-US" sz="240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=3</a:t>
                </a:r>
                <a:r>
                  <a:rPr lang="en-US" sz="2400" baseline="30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rd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sample, if actual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4 and predicted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9, then loss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dirty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dirty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sz="2400" i="0" dirty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−9</m:t>
                            </m:r>
                          </m:e>
                        </m:d>
                      </m:e>
                      <m:sup>
                        <m:r>
                          <a:rPr lang="en-US" sz="2400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25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Cost Function: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(Mean Squared Error)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It is the average of loss for all </a:t>
                </a:r>
                <a:r>
                  <a:rPr lang="en-US" sz="2400" i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samples.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NOTE: Some authors use the term Loss Function and Cost Function to mean the same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B27C33-2FD4-788B-A5CA-D80B0B261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106" y="716559"/>
                <a:ext cx="10455814" cy="4154984"/>
              </a:xfrm>
              <a:prstGeom prst="rect">
                <a:avLst/>
              </a:prstGeom>
              <a:blipFill>
                <a:blip r:embed="rId2"/>
                <a:stretch>
                  <a:fillRect l="-933" t="-1175" b="-2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94815A7-AB2C-D994-C9E1-C9C95A6DE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841" y="1992356"/>
            <a:ext cx="3000794" cy="9240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EE8D1C1-1DDF-EDAE-2DCB-D1690BB57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886" y="789710"/>
            <a:ext cx="1308727" cy="38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576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95B97-322F-46FF-4966-95020C30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E76B968-B7AD-11F2-4945-F7CEB46503C5}"/>
              </a:ext>
            </a:extLst>
          </p:cNvPr>
          <p:cNvSpPr txBox="1"/>
          <p:nvPr/>
        </p:nvSpPr>
        <p:spPr>
          <a:xfrm>
            <a:off x="201168" y="595412"/>
            <a:ext cx="1122883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Initializing weights and bias: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Weights and biases are usually initialized with small random values.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Weights: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Uniform Initialization: W∼U(−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a,a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), where a is typically small (e.g., 0.01, or based on input size).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 Initialization: W∼N(0,σ^2) with small standard deviation.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Biases are often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Initialized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zero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Initialized with small values like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0.01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5218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DE2BD-8AE5-8200-9022-F037DC0D2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30575E9-E616-F6A9-BFDB-A98F2B6FAE4B}"/>
              </a:ext>
            </a:extLst>
          </p:cNvPr>
          <p:cNvSpPr txBox="1"/>
          <p:nvPr/>
        </p:nvSpPr>
        <p:spPr>
          <a:xfrm>
            <a:off x="201168" y="1445804"/>
            <a:ext cx="112288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Updating weights and bias is computationally expensive. </a:t>
            </a:r>
          </a:p>
          <a:p>
            <a:pPr fontAlgn="base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fontAlgn="base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Emergence of GPU(Graphical Processing Unit) and TPU(Tensor Processing unit) has helped.</a:t>
            </a:r>
          </a:p>
        </p:txBody>
      </p:sp>
    </p:spTree>
    <p:extLst>
      <p:ext uri="{BB962C8B-B14F-4D97-AF65-F5344CB8AC3E}">
        <p14:creationId xmlns:p14="http://schemas.microsoft.com/office/powerpoint/2010/main" val="2713072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6EAA2-835E-1B4A-C4A2-86B19E65A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FEE99C5-627B-C078-8326-A6BE04624C5F}"/>
              </a:ext>
            </a:extLst>
          </p:cNvPr>
          <p:cNvSpPr txBox="1"/>
          <p:nvPr/>
        </p:nvSpPr>
        <p:spPr>
          <a:xfrm>
            <a:off x="201168" y="344590"/>
            <a:ext cx="1122883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Applications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Image classification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Speech recognition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Natural language processing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Regression problems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Function approximation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63260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1948</TotalTime>
  <Words>1004</Words>
  <Application>Microsoft Office PowerPoint</Application>
  <PresentationFormat>Widescreen</PresentationFormat>
  <Paragraphs>148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Office Theme</vt:lpstr>
      <vt:lpstr>Multi-Layer Perceptron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218</cp:revision>
  <dcterms:created xsi:type="dcterms:W3CDTF">2025-09-22T02:44:38Z</dcterms:created>
  <dcterms:modified xsi:type="dcterms:W3CDTF">2026-04-04T12:24:04Z</dcterms:modified>
</cp:coreProperties>
</file>