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8" r:id="rId2"/>
    <p:sldId id="298" r:id="rId3"/>
    <p:sldId id="299" r:id="rId4"/>
    <p:sldId id="297" r:id="rId5"/>
    <p:sldId id="301" r:id="rId6"/>
    <p:sldId id="300" r:id="rId7"/>
    <p:sldId id="296" r:id="rId8"/>
    <p:sldId id="261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86983"/>
              </p:ext>
            </p:extLst>
          </p:nvPr>
        </p:nvGraphicFramePr>
        <p:xfrm>
          <a:off x="544584" y="1487498"/>
          <a:ext cx="2015736" cy="1920240"/>
        </p:xfrm>
        <a:graphic>
          <a:graphicData uri="http://schemas.openxmlformats.org/drawingml/2006/table">
            <a:tbl>
              <a:tblPr/>
              <a:tblGrid>
                <a:gridCol w="673060">
                  <a:extLst>
                    <a:ext uri="{9D8B030D-6E8A-4147-A177-3AD203B41FA5}">
                      <a16:colId xmlns:a16="http://schemas.microsoft.com/office/drawing/2014/main" val="2936474594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2231850024"/>
                    </a:ext>
                  </a:extLst>
                </a:gridCol>
                <a:gridCol w="706353">
                  <a:extLst>
                    <a:ext uri="{9D8B030D-6E8A-4147-A177-3AD203B41FA5}">
                      <a16:colId xmlns:a16="http://schemas.microsoft.com/office/drawing/2014/main" val="3964797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x₁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x₂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09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347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345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95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987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C7ED2A-19C3-A64B-FB15-C3F41BB2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fld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3FD51-6E5F-CB58-4DC7-76A3367A8CD4}"/>
              </a:ext>
            </a:extLst>
          </p:cNvPr>
          <p:cNvSpPr txBox="1"/>
          <p:nvPr/>
        </p:nvSpPr>
        <p:spPr>
          <a:xfrm>
            <a:off x="132588" y="33451"/>
            <a:ext cx="83713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problems that perceptron can solve: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a perceptron that can simulate following AND operation: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B7ED76-6873-6EBC-E06A-3D9C8501B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3611880"/>
            <a:ext cx="2885475" cy="26300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073418-A167-5D36-BFD8-FC74843D1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86129"/>
            <a:ext cx="6022849" cy="204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77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E42B-68EC-200E-9A4B-00020B48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8C92086-5433-67ED-BCE6-17BFDE4AADAC}"/>
              </a:ext>
            </a:extLst>
          </p:cNvPr>
          <p:cNvSpPr txBox="1"/>
          <p:nvPr/>
        </p:nvSpPr>
        <p:spPr>
          <a:xfrm>
            <a:off x="244166" y="670988"/>
            <a:ext cx="4730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Here is a perceptron with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W1=1.0, W2=1.0 and b=-1.5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417B292-A096-B271-D309-D777579D8538}"/>
              </a:ext>
            </a:extLst>
          </p:cNvPr>
          <p:cNvCxnSpPr/>
          <p:nvPr/>
        </p:nvCxnSpPr>
        <p:spPr>
          <a:xfrm>
            <a:off x="2608976" y="4093828"/>
            <a:ext cx="2709644" cy="2077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D214C15-A8CB-3D80-46C2-8ADA19A8C6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0540352"/>
                  </p:ext>
                </p:extLst>
              </p:nvPr>
            </p:nvGraphicFramePr>
            <p:xfrm>
              <a:off x="32520" y="1789250"/>
              <a:ext cx="5892792" cy="1859280"/>
            </p:xfrm>
            <a:graphic>
              <a:graphicData uri="http://schemas.openxmlformats.org/drawingml/2006/table">
                <a:tbl>
                  <a:tblPr/>
                  <a:tblGrid>
                    <a:gridCol w="673060">
                      <a:extLst>
                        <a:ext uri="{9D8B030D-6E8A-4147-A177-3AD203B41FA5}">
                          <a16:colId xmlns:a16="http://schemas.microsoft.com/office/drawing/2014/main" val="2936474594"/>
                        </a:ext>
                      </a:extLst>
                    </a:gridCol>
                    <a:gridCol w="636323">
                      <a:extLst>
                        <a:ext uri="{9D8B030D-6E8A-4147-A177-3AD203B41FA5}">
                          <a16:colId xmlns:a16="http://schemas.microsoft.com/office/drawing/2014/main" val="2231850024"/>
                        </a:ext>
                      </a:extLst>
                    </a:gridCol>
                    <a:gridCol w="2059665">
                      <a:extLst>
                        <a:ext uri="{9D8B030D-6E8A-4147-A177-3AD203B41FA5}">
                          <a16:colId xmlns:a16="http://schemas.microsoft.com/office/drawing/2014/main" val="2357229934"/>
                        </a:ext>
                      </a:extLst>
                    </a:gridCol>
                    <a:gridCol w="2523744">
                      <a:extLst>
                        <a:ext uri="{9D8B030D-6E8A-4147-A177-3AD203B41FA5}">
                          <a16:colId xmlns:a16="http://schemas.microsoft.com/office/drawing/2014/main" val="396479707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/>
                            <a:t>x₁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/>
                            <a:t>x₂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b="1" i="1" u="sng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sz="2000" b="1" i="1" u="sng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b="1" u="sng" dirty="0"/>
                            <a:t> x₁ + x₂ - 1.5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/>
                            <a:t>Output: f(z)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10940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-1.5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934776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34528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-0.5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95616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7298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D214C15-A8CB-3D80-46C2-8ADA19A8C6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0540352"/>
                  </p:ext>
                </p:extLst>
              </p:nvPr>
            </p:nvGraphicFramePr>
            <p:xfrm>
              <a:off x="32520" y="1789250"/>
              <a:ext cx="5892792" cy="1859280"/>
            </p:xfrm>
            <a:graphic>
              <a:graphicData uri="http://schemas.openxmlformats.org/drawingml/2006/table">
                <a:tbl>
                  <a:tblPr/>
                  <a:tblGrid>
                    <a:gridCol w="673060">
                      <a:extLst>
                        <a:ext uri="{9D8B030D-6E8A-4147-A177-3AD203B41FA5}">
                          <a16:colId xmlns:a16="http://schemas.microsoft.com/office/drawing/2014/main" val="2936474594"/>
                        </a:ext>
                      </a:extLst>
                    </a:gridCol>
                    <a:gridCol w="636323">
                      <a:extLst>
                        <a:ext uri="{9D8B030D-6E8A-4147-A177-3AD203B41FA5}">
                          <a16:colId xmlns:a16="http://schemas.microsoft.com/office/drawing/2014/main" val="2231850024"/>
                        </a:ext>
                      </a:extLst>
                    </a:gridCol>
                    <a:gridCol w="2059665">
                      <a:extLst>
                        <a:ext uri="{9D8B030D-6E8A-4147-A177-3AD203B41FA5}">
                          <a16:colId xmlns:a16="http://schemas.microsoft.com/office/drawing/2014/main" val="2357229934"/>
                        </a:ext>
                      </a:extLst>
                    </a:gridCol>
                    <a:gridCol w="2523744">
                      <a:extLst>
                        <a:ext uri="{9D8B030D-6E8A-4147-A177-3AD203B41FA5}">
                          <a16:colId xmlns:a16="http://schemas.microsoft.com/office/drawing/2014/main" val="396479707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/>
                            <a:t>x₁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/>
                            <a:t>x₂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905" t="-7692" r="-123373" b="-39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/>
                            <a:t>Output: f(z)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109409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-1.5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93477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-0.5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34528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-0.5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49561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7298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EB6140B-35B0-E647-8C65-CFD995D7B390}"/>
              </a:ext>
            </a:extLst>
          </p:cNvPr>
          <p:cNvSpPr txBox="1"/>
          <p:nvPr/>
        </p:nvSpPr>
        <p:spPr>
          <a:xfrm>
            <a:off x="408759" y="4321756"/>
            <a:ext cx="4258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simulates AND operation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4B213B-D88C-D258-20C6-F7E3E10F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fld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50F6C-0497-78F2-5816-FF148074BD0D}"/>
              </a:ext>
            </a:extLst>
          </p:cNvPr>
          <p:cNvSpPr txBox="1"/>
          <p:nvPr/>
        </p:nvSpPr>
        <p:spPr>
          <a:xfrm>
            <a:off x="132588" y="33451"/>
            <a:ext cx="83713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problems that perceptron can solve: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1B60D-49F3-16AD-6DBF-8ED6170A6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4194487"/>
            <a:ext cx="2885475" cy="2630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770A16-9E91-71B8-E133-E09D0BE2E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151" y="1905585"/>
            <a:ext cx="6022849" cy="204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02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51A34-A372-3269-8EA0-0F9924A3E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D200D8-48A1-AD12-645D-F25252EE9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231999"/>
              </p:ext>
            </p:extLst>
          </p:nvPr>
        </p:nvGraphicFramePr>
        <p:xfrm>
          <a:off x="544584" y="1487498"/>
          <a:ext cx="2015736" cy="1920240"/>
        </p:xfrm>
        <a:graphic>
          <a:graphicData uri="http://schemas.openxmlformats.org/drawingml/2006/table">
            <a:tbl>
              <a:tblPr/>
              <a:tblGrid>
                <a:gridCol w="673060">
                  <a:extLst>
                    <a:ext uri="{9D8B030D-6E8A-4147-A177-3AD203B41FA5}">
                      <a16:colId xmlns:a16="http://schemas.microsoft.com/office/drawing/2014/main" val="2936474594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2231850024"/>
                    </a:ext>
                  </a:extLst>
                </a:gridCol>
                <a:gridCol w="706353">
                  <a:extLst>
                    <a:ext uri="{9D8B030D-6E8A-4147-A177-3AD203B41FA5}">
                      <a16:colId xmlns:a16="http://schemas.microsoft.com/office/drawing/2014/main" val="3964797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x₁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x₂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09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347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345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95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987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8DF0FF-C8B3-4C63-1049-3AE7F8B9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fld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7AB3A-C43E-B126-C9F5-4B5BFBA54C95}"/>
              </a:ext>
            </a:extLst>
          </p:cNvPr>
          <p:cNvSpPr txBox="1"/>
          <p:nvPr/>
        </p:nvSpPr>
        <p:spPr>
          <a:xfrm>
            <a:off x="132588" y="33451"/>
            <a:ext cx="83713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problems that perceptron can solve: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a perceptron that can simulate following operation: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5C81A7-1EC8-45D4-D05A-7D3BBA3C3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871" y="4120785"/>
            <a:ext cx="3045584" cy="22909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A5D95D-E7B9-AF06-EE41-6D728136D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151" y="1905585"/>
            <a:ext cx="6022849" cy="204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01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6517994"/>
                  </p:ext>
                </p:extLst>
              </p:nvPr>
            </p:nvGraphicFramePr>
            <p:xfrm>
              <a:off x="81168" y="1445084"/>
              <a:ext cx="5533248" cy="2177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224">
                      <a:extLst>
                        <a:ext uri="{9D8B030D-6E8A-4147-A177-3AD203B41FA5}">
                          <a16:colId xmlns:a16="http://schemas.microsoft.com/office/drawing/2014/main" val="2975006013"/>
                        </a:ext>
                      </a:extLst>
                    </a:gridCol>
                    <a:gridCol w="768096">
                      <a:extLst>
                        <a:ext uri="{9D8B030D-6E8A-4147-A177-3AD203B41FA5}">
                          <a16:colId xmlns:a16="http://schemas.microsoft.com/office/drawing/2014/main" val="509962645"/>
                        </a:ext>
                      </a:extLst>
                    </a:gridCol>
                    <a:gridCol w="2523744">
                      <a:extLst>
                        <a:ext uri="{9D8B030D-6E8A-4147-A177-3AD203B41FA5}">
                          <a16:colId xmlns:a16="http://schemas.microsoft.com/office/drawing/2014/main" val="3080677174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8776137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>
                              <a:solidFill>
                                <a:schemeClr val="tx1"/>
                              </a:solidFill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>
                              <a:solidFill>
                                <a:schemeClr val="tx1"/>
                              </a:solidFill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2000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u="sng" dirty="0">
                                    <a:solidFill>
                                      <a:schemeClr val="tx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i="0" u="sng" dirty="0" smtClean="0">
                                    <a:solidFill>
                                      <a:schemeClr val="tx1"/>
                                    </a:solidFill>
                                  </a:rPr>
                                  <m:t>0.2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u="sng" dirty="0">
                                    <a:solidFill>
                                      <a:schemeClr val="tx1"/>
                                    </a:solidFill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u="sng" dirty="0">
                                    <a:solidFill>
                                      <a:schemeClr val="tx1"/>
                                    </a:solidFill>
                                  </a:rPr>
                                  <m:t>₁ + 0.5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u="sng" dirty="0">
                                    <a:solidFill>
                                      <a:schemeClr val="tx1"/>
                                    </a:solidFill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u="sng" dirty="0">
                                    <a:solidFill>
                                      <a:schemeClr val="tx1"/>
                                    </a:solidFill>
                                  </a:rPr>
                                  <m:t>₂ − 0.5</m:t>
                                </m:r>
                              </m:oMath>
                            </m:oMathPara>
                          </a14:m>
                          <a:endParaRPr lang="en-US" sz="2000" b="1" u="sng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>
                              <a:solidFill>
                                <a:schemeClr val="tx1"/>
                              </a:solidFill>
                            </a:rPr>
                            <a:t>Output: f(z)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14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 + 0 - 0.5 = - 0.5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409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 + 0.5 - 0.5 = 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3571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0.2 + 0 - 0.5 = - 0.3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673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0.2 + 0.5 - 0.5= 0.2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35353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6517994"/>
                  </p:ext>
                </p:extLst>
              </p:nvPr>
            </p:nvGraphicFramePr>
            <p:xfrm>
              <a:off x="81168" y="1445084"/>
              <a:ext cx="5533248" cy="1879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9224">
                      <a:extLst>
                        <a:ext uri="{9D8B030D-6E8A-4147-A177-3AD203B41FA5}">
                          <a16:colId xmlns:a16="http://schemas.microsoft.com/office/drawing/2014/main" val="2975006013"/>
                        </a:ext>
                      </a:extLst>
                    </a:gridCol>
                    <a:gridCol w="768096">
                      <a:extLst>
                        <a:ext uri="{9D8B030D-6E8A-4147-A177-3AD203B41FA5}">
                          <a16:colId xmlns:a16="http://schemas.microsoft.com/office/drawing/2014/main" val="509962645"/>
                        </a:ext>
                      </a:extLst>
                    </a:gridCol>
                    <a:gridCol w="2523744">
                      <a:extLst>
                        <a:ext uri="{9D8B030D-6E8A-4147-A177-3AD203B41FA5}">
                          <a16:colId xmlns:a16="http://schemas.microsoft.com/office/drawing/2014/main" val="3080677174"/>
                        </a:ext>
                      </a:extLst>
                    </a:gridCol>
                    <a:gridCol w="1472184">
                      <a:extLst>
                        <a:ext uri="{9D8B030D-6E8A-4147-A177-3AD203B41FA5}">
                          <a16:colId xmlns:a16="http://schemas.microsoft.com/office/drawing/2014/main" val="287761372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>
                              <a:solidFill>
                                <a:schemeClr val="tx1"/>
                              </a:solidFill>
                            </a:rPr>
                            <a:t>x1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>
                              <a:solidFill>
                                <a:schemeClr val="tx1"/>
                              </a:solidFill>
                            </a:rPr>
                            <a:t>x2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1111" t="-7692" r="-59179" b="-39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u="sng" dirty="0">
                              <a:solidFill>
                                <a:schemeClr val="tx1"/>
                              </a:solidFill>
                            </a:rPr>
                            <a:t>Output: f(z)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14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 + 0 - 0.5 = - 0.5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409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 + 0.5 - 0.5 = 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3571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0.2 + 0 - 0.5 = - 0.3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B05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673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0.2 + 0.5 - 0.5= 0.2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35353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504226" y="405812"/>
            <a:ext cx="5375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Here is a perceptron with </a:t>
            </a:r>
          </a:p>
          <a:p>
            <a:r>
              <a:rPr lang="en-US" sz="2400" dirty="0">
                <a:solidFill>
                  <a:srgbClr val="92D050"/>
                </a:solidFill>
              </a:rPr>
              <a:t>W1 = 0.2, W2 = 0.5 and b = -0.5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2362201" y="4267201"/>
            <a:ext cx="174172" cy="174172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17" name="5-Point Star 16"/>
          <p:cNvSpPr/>
          <p:nvPr/>
        </p:nvSpPr>
        <p:spPr>
          <a:xfrm>
            <a:off x="3820892" y="4278083"/>
            <a:ext cx="174172" cy="174172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18" name="5-Point Star 17"/>
          <p:cNvSpPr/>
          <p:nvPr/>
        </p:nvSpPr>
        <p:spPr>
          <a:xfrm>
            <a:off x="2340430" y="5758551"/>
            <a:ext cx="174172" cy="174172"/>
          </a:xfrm>
          <a:prstGeom prst="star5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19" name="5-Point Star 18"/>
          <p:cNvSpPr/>
          <p:nvPr/>
        </p:nvSpPr>
        <p:spPr>
          <a:xfrm>
            <a:off x="3842663" y="5758547"/>
            <a:ext cx="174172" cy="174172"/>
          </a:xfrm>
          <a:prstGeom prst="star5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32511" y="580208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x1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3602" y="3951508"/>
            <a:ext cx="394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92D050"/>
                </a:solidFill>
              </a:rPr>
              <a:t>X2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4A054-1886-E487-37F1-5C2CF7FD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>
                <a:solidFill>
                  <a:srgbClr val="92D050"/>
                </a:solidFill>
              </a:rPr>
              <a:t>4</a:t>
            </a:fld>
            <a:endParaRPr lang="en-US" dirty="0">
              <a:solidFill>
                <a:srgbClr val="92D05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EC9C14-FA9F-63FA-7C4A-AB0D31088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871" y="4120785"/>
            <a:ext cx="3045584" cy="22909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5870AB-8550-EAD4-613A-3418DFCDD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151" y="1905585"/>
            <a:ext cx="6022849" cy="204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56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086A0-B54D-09F8-C29D-5BDCE66F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30D568-AD09-F698-AB6A-93C363480144}"/>
              </a:ext>
            </a:extLst>
          </p:cNvPr>
          <p:cNvSpPr txBox="1"/>
          <p:nvPr/>
        </p:nvSpPr>
        <p:spPr>
          <a:xfrm>
            <a:off x="256032" y="405812"/>
            <a:ext cx="65653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tiny realistic scenario(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n/b):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want the neuron to fire (output = 1) only if: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temperature &gt; 50, and pressure &gt; 100</a:t>
            </a:r>
          </a:p>
        </p:txBody>
      </p:sp>
      <p:sp>
        <p:nvSpPr>
          <p:cNvPr id="16" name="5-Point Star 15">
            <a:extLst>
              <a:ext uri="{FF2B5EF4-FFF2-40B4-BE49-F238E27FC236}">
                <a16:creationId xmlns:a16="http://schemas.microsoft.com/office/drawing/2014/main" id="{FDE7122C-DF18-673D-B435-6C4FD7C8DEA7}"/>
              </a:ext>
            </a:extLst>
          </p:cNvPr>
          <p:cNvSpPr/>
          <p:nvPr/>
        </p:nvSpPr>
        <p:spPr>
          <a:xfrm>
            <a:off x="2362201" y="4267201"/>
            <a:ext cx="174172" cy="174172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17" name="5-Point Star 16">
            <a:extLst>
              <a:ext uri="{FF2B5EF4-FFF2-40B4-BE49-F238E27FC236}">
                <a16:creationId xmlns:a16="http://schemas.microsoft.com/office/drawing/2014/main" id="{731A9CC8-4485-9270-094D-0B6183EE4E94}"/>
              </a:ext>
            </a:extLst>
          </p:cNvPr>
          <p:cNvSpPr/>
          <p:nvPr/>
        </p:nvSpPr>
        <p:spPr>
          <a:xfrm>
            <a:off x="3820892" y="4278083"/>
            <a:ext cx="174172" cy="174172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6BAB25-6340-98B5-F5D5-016962F293CF}"/>
              </a:ext>
            </a:extLst>
          </p:cNvPr>
          <p:cNvSpPr txBox="1"/>
          <p:nvPr/>
        </p:nvSpPr>
        <p:spPr>
          <a:xfrm>
            <a:off x="2133602" y="3951508"/>
            <a:ext cx="394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92D050"/>
                </a:solidFill>
              </a:rPr>
              <a:t>X2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5A180-32E5-787D-F5F8-AD285C515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>
                <a:solidFill>
                  <a:srgbClr val="92D050"/>
                </a:solidFill>
              </a:rPr>
              <a:t>5</a:t>
            </a:fld>
            <a:endParaRPr lang="en-US" dirty="0">
              <a:solidFill>
                <a:srgbClr val="92D05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23738C-1D19-AA83-60FC-4AF77F8DB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151" y="1905585"/>
            <a:ext cx="6022849" cy="20432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FB3B8D7-EB74-682E-241C-7DDAC54318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2892130"/>
                  </p:ext>
                </p:extLst>
              </p:nvPr>
            </p:nvGraphicFramePr>
            <p:xfrm>
              <a:off x="26415" y="3682934"/>
              <a:ext cx="6731000" cy="255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2572">
                      <a:extLst>
                        <a:ext uri="{9D8B030D-6E8A-4147-A177-3AD203B41FA5}">
                          <a16:colId xmlns:a16="http://schemas.microsoft.com/office/drawing/2014/main" val="2975006013"/>
                        </a:ext>
                      </a:extLst>
                    </a:gridCol>
                    <a:gridCol w="1404258">
                      <a:extLst>
                        <a:ext uri="{9D8B030D-6E8A-4147-A177-3AD203B41FA5}">
                          <a16:colId xmlns:a16="http://schemas.microsoft.com/office/drawing/2014/main" val="509962645"/>
                        </a:ext>
                      </a:extLst>
                    </a:gridCol>
                    <a:gridCol w="2457123">
                      <a:extLst>
                        <a:ext uri="{9D8B030D-6E8A-4147-A177-3AD203B41FA5}">
                          <a16:colId xmlns:a16="http://schemas.microsoft.com/office/drawing/2014/main" val="3080677174"/>
                        </a:ext>
                      </a:extLst>
                    </a:gridCol>
                    <a:gridCol w="1527047">
                      <a:extLst>
                        <a:ext uri="{9D8B030D-6E8A-4147-A177-3AD203B41FA5}">
                          <a16:colId xmlns:a16="http://schemas.microsoft.com/office/drawing/2014/main" val="28776137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b="1" u="sng" dirty="0" smtClean="0">
                                    <a:solidFill>
                                      <a:schemeClr val="tx1"/>
                                    </a:solidFill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u="sng" dirty="0" smtClean="0">
                                    <a:solidFill>
                                      <a:schemeClr val="tx1"/>
                                    </a:solidFill>
                                  </a:rPr>
                                  <m:t>₁</m:t>
                                </m:r>
                              </m:oMath>
                            </m:oMathPara>
                          </a14:m>
                          <a:endParaRPr lang="en-US" sz="2000" b="1" u="sng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(temp)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b="1" u="sng" dirty="0" smtClean="0">
                                    <a:solidFill>
                                      <a:schemeClr val="tx1"/>
                                    </a:solidFill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1" u="sng" dirty="0" smtClean="0">
                                    <a:solidFill>
                                      <a:schemeClr val="tx1"/>
                                    </a:solidFill>
                                  </a:rPr>
                                  <m:t>₂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(pressure)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sz="1800" b="1" i="1" u="sng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1" u="sng" dirty="0">
                                    <a:solidFill>
                                      <a:schemeClr val="tx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1" u="sng" dirty="0">
                                    <a:solidFill>
                                      <a:schemeClr val="tx1"/>
                                    </a:solidFill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1" u="sng" dirty="0">
                                    <a:solidFill>
                                      <a:schemeClr val="tx1"/>
                                    </a:solidFill>
                                  </a:rPr>
                                  <m:t>₁ +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1" u="sng" dirty="0">
                                    <a:solidFill>
                                      <a:schemeClr val="tx1"/>
                                    </a:solidFill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sz="1800" b="1" u="sng" dirty="0">
                                    <a:solidFill>
                                      <a:schemeClr val="tx1"/>
                                    </a:solidFill>
                                  </a:rPr>
                                  <m:t>₂ − 151</m:t>
                                </m:r>
                              </m:oMath>
                            </m:oMathPara>
                          </a14:m>
                          <a:endParaRPr lang="en-US" sz="1800" b="1" u="sng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Output: f(x)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14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 + 100 - 151 = - 1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409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53 + 105 - 151 = 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 + 7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3571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 + 120 - 151 = 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 +29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673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45 + 90 - 151= -16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35353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 + 90 - 151= -21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3246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8FB3B8D7-EB74-682E-241C-7DDAC54318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2892130"/>
                  </p:ext>
                </p:extLst>
              </p:nvPr>
            </p:nvGraphicFramePr>
            <p:xfrm>
              <a:off x="26415" y="3682934"/>
              <a:ext cx="6731000" cy="255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2572">
                      <a:extLst>
                        <a:ext uri="{9D8B030D-6E8A-4147-A177-3AD203B41FA5}">
                          <a16:colId xmlns:a16="http://schemas.microsoft.com/office/drawing/2014/main" val="2975006013"/>
                        </a:ext>
                      </a:extLst>
                    </a:gridCol>
                    <a:gridCol w="1404258">
                      <a:extLst>
                        <a:ext uri="{9D8B030D-6E8A-4147-A177-3AD203B41FA5}">
                          <a16:colId xmlns:a16="http://schemas.microsoft.com/office/drawing/2014/main" val="509962645"/>
                        </a:ext>
                      </a:extLst>
                    </a:gridCol>
                    <a:gridCol w="2457123">
                      <a:extLst>
                        <a:ext uri="{9D8B030D-6E8A-4147-A177-3AD203B41FA5}">
                          <a16:colId xmlns:a16="http://schemas.microsoft.com/office/drawing/2014/main" val="3080677174"/>
                        </a:ext>
                      </a:extLst>
                    </a:gridCol>
                    <a:gridCol w="1527047">
                      <a:extLst>
                        <a:ext uri="{9D8B030D-6E8A-4147-A177-3AD203B41FA5}">
                          <a16:colId xmlns:a16="http://schemas.microsoft.com/office/drawing/2014/main" val="2877613723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5" t="-4348" r="-403182" b="-27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671" t="-4348" r="-283983" b="-27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2159" t="-4348" r="-62779" b="-27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Output: f(x)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514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50 + 100 - 151 = - 1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409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105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53 + 105 - 151 = 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 + 7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35712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120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60 + 120 - 151 = 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 +29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36737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45 + 90 - 151= -16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35353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40 + 90 - 151= -21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32468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BC293D7-5A19-A0FF-9830-94FE0F85E071}"/>
              </a:ext>
            </a:extLst>
          </p:cNvPr>
          <p:cNvSpPr txBox="1"/>
          <p:nvPr/>
        </p:nvSpPr>
        <p:spPr>
          <a:xfrm>
            <a:off x="229906" y="2415062"/>
            <a:ext cx="37080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is a perceptron with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W1 = 1, W2 = 1 and b = -151</a:t>
            </a:r>
          </a:p>
        </p:txBody>
      </p:sp>
    </p:spTree>
    <p:extLst>
      <p:ext uri="{BB962C8B-B14F-4D97-AF65-F5344CB8AC3E}">
        <p14:creationId xmlns:p14="http://schemas.microsoft.com/office/powerpoint/2010/main" val="770493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77A32-5AF4-9C64-FE20-3AB0FB65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370A1B-A2ED-B1C5-C5B8-4EE5F6BEE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223143"/>
              </p:ext>
            </p:extLst>
          </p:nvPr>
        </p:nvGraphicFramePr>
        <p:xfrm>
          <a:off x="544584" y="1487498"/>
          <a:ext cx="2015736" cy="1920240"/>
        </p:xfrm>
        <a:graphic>
          <a:graphicData uri="http://schemas.openxmlformats.org/drawingml/2006/table">
            <a:tbl>
              <a:tblPr/>
              <a:tblGrid>
                <a:gridCol w="673060">
                  <a:extLst>
                    <a:ext uri="{9D8B030D-6E8A-4147-A177-3AD203B41FA5}">
                      <a16:colId xmlns:a16="http://schemas.microsoft.com/office/drawing/2014/main" val="2936474594"/>
                    </a:ext>
                  </a:extLst>
                </a:gridCol>
                <a:gridCol w="636323">
                  <a:extLst>
                    <a:ext uri="{9D8B030D-6E8A-4147-A177-3AD203B41FA5}">
                      <a16:colId xmlns:a16="http://schemas.microsoft.com/office/drawing/2014/main" val="2231850024"/>
                    </a:ext>
                  </a:extLst>
                </a:gridCol>
                <a:gridCol w="706353">
                  <a:extLst>
                    <a:ext uri="{9D8B030D-6E8A-4147-A177-3AD203B41FA5}">
                      <a16:colId xmlns:a16="http://schemas.microsoft.com/office/drawing/2014/main" val="3964797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x₁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x₂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09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347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345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95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987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5FD6E2-417B-359F-1F43-39F12A51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6</a:t>
            </a:fld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B7C10-D79D-BEE7-011E-574F62A9792E}"/>
              </a:ext>
            </a:extLst>
          </p:cNvPr>
          <p:cNvSpPr txBox="1"/>
          <p:nvPr/>
        </p:nvSpPr>
        <p:spPr>
          <a:xfrm>
            <a:off x="132588" y="33451"/>
            <a:ext cx="9121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problems that perceptron cannot solve: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cannot find a perceptron that can simulate following XOR operation: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79ED0-D69B-BC42-E738-9C7F42FC3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151" y="1905585"/>
            <a:ext cx="6022849" cy="2043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4BD2F3-C7CE-4366-DD64-C4EF61C82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38" y="3694494"/>
            <a:ext cx="2990763" cy="2661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9878E3-144C-2F3F-8E3B-D36303B4BFE8}"/>
              </a:ext>
            </a:extLst>
          </p:cNvPr>
          <p:cNvSpPr txBox="1"/>
          <p:nvPr/>
        </p:nvSpPr>
        <p:spPr>
          <a:xfrm>
            <a:off x="4910329" y="4800600"/>
            <a:ext cx="59137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Possible to find weights and bias that would simulate this XOR output.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non-linearly separable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limitations of Perceptron.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we need Multi Layer Perceptron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981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F7C67-EE97-3DFD-4533-07658B1C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3BCD94-3801-9F0A-2DA8-7ADAE6A115ED}"/>
              </a:ext>
            </a:extLst>
          </p:cNvPr>
          <p:cNvSpPr txBox="1"/>
          <p:nvPr/>
        </p:nvSpPr>
        <p:spPr>
          <a:xfrm>
            <a:off x="726948" y="171950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Points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BC8F83-26F7-E7AD-09AB-63017D954E7E}"/>
              </a:ext>
            </a:extLst>
          </p:cNvPr>
          <p:cNvSpPr txBox="1"/>
          <p:nvPr/>
        </p:nvSpPr>
        <p:spPr>
          <a:xfrm>
            <a:off x="576072" y="1390549"/>
            <a:ext cx="102687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only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linearly separable problems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Cannot model XOR-like problems — for that, we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multi-layer perceptron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nonlinear activation functions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4936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8B50C-7798-C7A2-8632-160FC79E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3601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1664</TotalTime>
  <Words>465</Words>
  <Application>Microsoft Office PowerPoint</Application>
  <PresentationFormat>Widescreen</PresentationFormat>
  <Paragraphs>150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185</cp:revision>
  <dcterms:created xsi:type="dcterms:W3CDTF">2025-09-22T02:44:38Z</dcterms:created>
  <dcterms:modified xsi:type="dcterms:W3CDTF">2026-03-08T06:59:09Z</dcterms:modified>
</cp:coreProperties>
</file>