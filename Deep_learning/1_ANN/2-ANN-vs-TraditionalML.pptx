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56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57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15DA-3608-60AF-BA74-5CE165D36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66589"/>
            <a:ext cx="11700387" cy="404164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ANN-vs-Traditional ML</a:t>
            </a:r>
          </a:p>
        </p:txBody>
      </p:sp>
    </p:spTree>
    <p:extLst>
      <p:ext uri="{BB962C8B-B14F-4D97-AF65-F5344CB8AC3E}">
        <p14:creationId xmlns:p14="http://schemas.microsoft.com/office/powerpoint/2010/main" val="2226549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CEDF5B-6DEE-C38D-EE97-F43EF6D8F72A}"/>
              </a:ext>
            </a:extLst>
          </p:cNvPr>
          <p:cNvSpPr txBox="1"/>
          <p:nvPr/>
        </p:nvSpPr>
        <p:spPr>
          <a:xfrm>
            <a:off x="1005840" y="1997839"/>
            <a:ext cx="104881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Choosing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Neural Networks (ANNs)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Machine Learning (ML) Models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depends on factors like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complexity,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Interpretability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computational resources.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comparison of applications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help you decide which type of model to use for different AI/ML problems.</a:t>
            </a:r>
          </a:p>
        </p:txBody>
      </p:sp>
    </p:spTree>
    <p:extLst>
      <p:ext uri="{BB962C8B-B14F-4D97-AF65-F5344CB8AC3E}">
        <p14:creationId xmlns:p14="http://schemas.microsoft.com/office/powerpoint/2010/main" val="4047447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118"/>
          </a:xfrm>
        </p:spPr>
        <p:txBody>
          <a:bodyPr/>
          <a:lstStyle/>
          <a:p>
            <a:r>
              <a:rPr lang="en-US" dirty="0"/>
              <a:t>1. Data Complexity &amp; Structure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7631513"/>
              </p:ext>
            </p:extLst>
          </p:nvPr>
        </p:nvGraphicFramePr>
        <p:xfrm>
          <a:off x="524656" y="1690686"/>
          <a:ext cx="11122701" cy="49649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3613">
                  <a:extLst>
                    <a:ext uri="{9D8B030D-6E8A-4147-A177-3AD203B41FA5}">
                      <a16:colId xmlns:a16="http://schemas.microsoft.com/office/drawing/2014/main" val="1329448220"/>
                    </a:ext>
                  </a:extLst>
                </a:gridCol>
                <a:gridCol w="3906406">
                  <a:extLst>
                    <a:ext uri="{9D8B030D-6E8A-4147-A177-3AD203B41FA5}">
                      <a16:colId xmlns:a16="http://schemas.microsoft.com/office/drawing/2014/main" val="2455929627"/>
                    </a:ext>
                  </a:extLst>
                </a:gridCol>
                <a:gridCol w="5102682">
                  <a:extLst>
                    <a:ext uri="{9D8B030D-6E8A-4147-A177-3AD203B41FA5}">
                      <a16:colId xmlns:a16="http://schemas.microsoft.com/office/drawing/2014/main" val="3200757118"/>
                    </a:ext>
                  </a:extLst>
                </a:gridCol>
              </a:tblGrid>
              <a:tr h="3331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Factor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Traditional ML Models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Artificial Neural Networks (ANNs)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1799058066"/>
                  </a:ext>
                </a:extLst>
              </a:tr>
              <a:tr h="13327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Structured Data (Tabular, Numerical, Categorical)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✅ Best suited for tabular data with structured features (e.g., decision trees, SVMs, random forests, </a:t>
                      </a:r>
                      <a:r>
                        <a:rPr lang="en-US" sz="1600" u="none" strike="noStrike" dirty="0" err="1">
                          <a:effectLst/>
                        </a:rPr>
                        <a:t>XGBoost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❌ Not ideal; requires heavy feature engineering to work well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3359489696"/>
                  </a:ext>
                </a:extLst>
              </a:tr>
              <a:tr h="12681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Unstructured Data (Images, Text, Audio, Video)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❌ Struggles without manual feature extraction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✅ Excellent at learning representations from raw data (CNNs for images, RNNs/LSTMs for text/audio)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3955580745"/>
                  </a:ext>
                </a:extLst>
              </a:tr>
              <a:tr h="1015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Small Dataset (&lt;10,000 samples)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✅ Works well with proper feature engineering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❌ Prone to overfitting without enough data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2962971652"/>
                  </a:ext>
                </a:extLst>
              </a:tr>
              <a:tr h="10154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Large Dataset (&gt;10,000+ samples)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❌ May not scale well due to manual feature engineering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✅ Excels at learning from massive datasets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1" marR="4351" marT="4351" marB="0" anchor="ctr"/>
                </a:tc>
                <a:extLst>
                  <a:ext uri="{0D108BD9-81ED-4DB2-BD59-A6C34878D82A}">
                    <a16:rowId xmlns:a16="http://schemas.microsoft.com/office/drawing/2014/main" val="712199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75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049"/>
          </a:xfrm>
        </p:spPr>
        <p:txBody>
          <a:bodyPr/>
          <a:lstStyle/>
          <a:p>
            <a:r>
              <a:rPr lang="en-US" dirty="0"/>
              <a:t>2. Interpretability &amp; Explainability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046993"/>
              </p:ext>
            </p:extLst>
          </p:nvPr>
        </p:nvGraphicFramePr>
        <p:xfrm>
          <a:off x="674559" y="1723870"/>
          <a:ext cx="10732957" cy="47668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6033">
                  <a:extLst>
                    <a:ext uri="{9D8B030D-6E8A-4147-A177-3AD203B41FA5}">
                      <a16:colId xmlns:a16="http://schemas.microsoft.com/office/drawing/2014/main" val="402978305"/>
                    </a:ext>
                  </a:extLst>
                </a:gridCol>
                <a:gridCol w="4033042">
                  <a:extLst>
                    <a:ext uri="{9D8B030D-6E8A-4147-A177-3AD203B41FA5}">
                      <a16:colId xmlns:a16="http://schemas.microsoft.com/office/drawing/2014/main" val="2656180900"/>
                    </a:ext>
                  </a:extLst>
                </a:gridCol>
                <a:gridCol w="4923882">
                  <a:extLst>
                    <a:ext uri="{9D8B030D-6E8A-4147-A177-3AD203B41FA5}">
                      <a16:colId xmlns:a16="http://schemas.microsoft.com/office/drawing/2014/main" val="3401226663"/>
                    </a:ext>
                  </a:extLst>
                </a:gridCol>
              </a:tblGrid>
              <a:tr h="3972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Factor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Traditional ML Models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Artificial Neural Networks (ANNs)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8730641"/>
                  </a:ext>
                </a:extLst>
              </a:tr>
              <a:tr h="11917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Easy to Interpret?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Decision trees, logistic regression, and linear models are interpretable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Black-box nature makes it hard to explain predictions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9606899"/>
                  </a:ext>
                </a:extLst>
              </a:tr>
              <a:tr h="1588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Feature Importance?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Can determine feature importance easily (e.g., SHAP values, feature selection techniques)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Harder to understand why a model made a decision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8427459"/>
                  </a:ext>
                </a:extLst>
              </a:tr>
              <a:tr h="15889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Regulatory Compliance?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Better suited for domains like finance and healthcare where explainability is required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Not ideal where transparency is critical (e.g., legal cases)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8684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425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4009"/>
          </a:xfrm>
        </p:spPr>
        <p:txBody>
          <a:bodyPr/>
          <a:lstStyle/>
          <a:p>
            <a:r>
              <a:rPr lang="en-US" dirty="0"/>
              <a:t>3. Training Time &amp; Computational Resources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428881"/>
              </p:ext>
            </p:extLst>
          </p:nvPr>
        </p:nvGraphicFramePr>
        <p:xfrm>
          <a:off x="494674" y="1690687"/>
          <a:ext cx="11377536" cy="48450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1014">
                  <a:extLst>
                    <a:ext uri="{9D8B030D-6E8A-4147-A177-3AD203B41FA5}">
                      <a16:colId xmlns:a16="http://schemas.microsoft.com/office/drawing/2014/main" val="273830435"/>
                    </a:ext>
                  </a:extLst>
                </a:gridCol>
                <a:gridCol w="4576930">
                  <a:extLst>
                    <a:ext uri="{9D8B030D-6E8A-4147-A177-3AD203B41FA5}">
                      <a16:colId xmlns:a16="http://schemas.microsoft.com/office/drawing/2014/main" val="1964559642"/>
                    </a:ext>
                  </a:extLst>
                </a:gridCol>
                <a:gridCol w="5219592">
                  <a:extLst>
                    <a:ext uri="{9D8B030D-6E8A-4147-A177-3AD203B41FA5}">
                      <a16:colId xmlns:a16="http://schemas.microsoft.com/office/drawing/2014/main" val="3524134477"/>
                    </a:ext>
                  </a:extLst>
                </a:gridCol>
              </a:tblGrid>
              <a:tr h="4845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Factor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Traditional ML Models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Artificial Neural Networks (ANNs)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9453310"/>
                  </a:ext>
                </a:extLst>
              </a:tr>
              <a:tr h="145350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Training Speed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Faster training (minutes to hours)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Requires GPUs/TPUs; can take hours or days to train deep networks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22648"/>
                  </a:ext>
                </a:extLst>
              </a:tr>
              <a:tr h="19380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Hardware Requirement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Can run on a CPU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Requires powerful GPUs/TPUs for deep learning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3631135"/>
                  </a:ext>
                </a:extLst>
              </a:tr>
              <a:tr h="9690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Inference Speed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Faster and more efficient for simple models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Slower for complex models (e.g., deep CNNs, transformers)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821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5277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167"/>
          </a:xfrm>
        </p:spPr>
        <p:txBody>
          <a:bodyPr/>
          <a:lstStyle/>
          <a:p>
            <a:r>
              <a:rPr lang="en-US" dirty="0"/>
              <a:t>4. Specific AI/ML Applications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29783" y="1259173"/>
          <a:ext cx="11422505" cy="52015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63343">
                  <a:extLst>
                    <a:ext uri="{9D8B030D-6E8A-4147-A177-3AD203B41FA5}">
                      <a16:colId xmlns:a16="http://schemas.microsoft.com/office/drawing/2014/main" val="3685911334"/>
                    </a:ext>
                  </a:extLst>
                </a:gridCol>
                <a:gridCol w="3458778">
                  <a:extLst>
                    <a:ext uri="{9D8B030D-6E8A-4147-A177-3AD203B41FA5}">
                      <a16:colId xmlns:a16="http://schemas.microsoft.com/office/drawing/2014/main" val="4087134535"/>
                    </a:ext>
                  </a:extLst>
                </a:gridCol>
                <a:gridCol w="3800384">
                  <a:extLst>
                    <a:ext uri="{9D8B030D-6E8A-4147-A177-3AD203B41FA5}">
                      <a16:colId xmlns:a16="http://schemas.microsoft.com/office/drawing/2014/main" val="485019785"/>
                    </a:ext>
                  </a:extLst>
                </a:gridCol>
              </a:tblGrid>
              <a:tr h="32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Application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Traditional ML Models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ANNs (Deep Learning)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5709101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Tabular Data (Finance, Healthcare, Retail, Marketing Analytics)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Decision Trees, Random Forest, XGBoost, SVM work well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Not needed unless handling massive data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9337523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Image Recognition (Face Detection, Medical Imaging)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Needs manual feature extraction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CNNs (Convolutional Neural Networks) excel here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2185293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Speech Recognition &amp; NLP (Chatbots, Translation, Sentiment Analysis)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Requires manual text processing (TF-IDF, Word2Vec)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RNNs, LSTMs, Transformers (BERT, GPT) work best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38200999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Time Series Forecasting (Stock Market, Weather, </a:t>
                      </a:r>
                      <a:r>
                        <a:rPr lang="en-US" sz="2000" u="none" strike="noStrike" dirty="0" err="1">
                          <a:effectLst/>
                        </a:rPr>
                        <a:t>IoT</a:t>
                      </a:r>
                      <a:r>
                        <a:rPr lang="en-US" sz="2000" u="none" strike="noStrike" dirty="0">
                          <a:effectLst/>
                        </a:rPr>
                        <a:t> Sensors)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ARIMA, XGBoost, LSTMs work well for structured time series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LSTMs, Transformers are better for complex sequences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45383244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Autonomous Vehicles &amp; Robotics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Traditional ML is limited here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Deep RL, CNNs, and sensor fusion work best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4847986"/>
                  </a:ext>
                </a:extLst>
              </a:tr>
              <a:tr h="9752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Anomaly Detection (Fraud, Cybersecurity, Defect Detection)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Random Forest, Isolation Forest, One-Class SVM work well for structured data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</a:t>
                      </a:r>
                      <a:r>
                        <a:rPr lang="en-US" sz="2000" u="none" strike="noStrike" dirty="0" err="1">
                          <a:effectLst/>
                        </a:rPr>
                        <a:t>Autoencoders</a:t>
                      </a:r>
                      <a:r>
                        <a:rPr lang="en-US" sz="2000" u="none" strike="noStrike" dirty="0">
                          <a:effectLst/>
                        </a:rPr>
                        <a:t>, GANs for complex patterns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7435225"/>
                  </a:ext>
                </a:extLst>
              </a:tr>
              <a:tr h="6501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Gaming &amp; Reinforcement Learning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Basic ML models struggle in dynamic environments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✅ Deep RL (e.g., </a:t>
                      </a:r>
                      <a:r>
                        <a:rPr lang="en-US" sz="2000" u="none" strike="noStrike" dirty="0" err="1">
                          <a:effectLst/>
                        </a:rPr>
                        <a:t>AlphaGo</a:t>
                      </a:r>
                      <a:r>
                        <a:rPr lang="en-US" sz="2000" u="none" strike="noStrike" dirty="0">
                          <a:effectLst/>
                        </a:rPr>
                        <a:t>, DQN, PPO) excels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7687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428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</p:spPr>
        <p:txBody>
          <a:bodyPr/>
          <a:lstStyle/>
          <a:p>
            <a:r>
              <a:rPr lang="en-US" dirty="0"/>
              <a:t>5. When to Choose Which Model?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722546"/>
              </p:ext>
            </p:extLst>
          </p:nvPr>
        </p:nvGraphicFramePr>
        <p:xfrm>
          <a:off x="838201" y="1753851"/>
          <a:ext cx="10914088" cy="4886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55007">
                  <a:extLst>
                    <a:ext uri="{9D8B030D-6E8A-4147-A177-3AD203B41FA5}">
                      <a16:colId xmlns:a16="http://schemas.microsoft.com/office/drawing/2014/main" val="1554456443"/>
                    </a:ext>
                  </a:extLst>
                </a:gridCol>
                <a:gridCol w="3027851">
                  <a:extLst>
                    <a:ext uri="{9D8B030D-6E8A-4147-A177-3AD203B41FA5}">
                      <a16:colId xmlns:a16="http://schemas.microsoft.com/office/drawing/2014/main" val="1234249933"/>
                    </a:ext>
                  </a:extLst>
                </a:gridCol>
                <a:gridCol w="3631230">
                  <a:extLst>
                    <a:ext uri="{9D8B030D-6E8A-4147-A177-3AD203B41FA5}">
                      <a16:colId xmlns:a16="http://schemas.microsoft.com/office/drawing/2014/main" val="2444213474"/>
                    </a:ext>
                  </a:extLst>
                </a:gridCol>
              </a:tblGrid>
              <a:tr h="3257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Scenario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Choose Traditional ML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Choose ANN / Deep Learning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2829736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 have a small dataset (&lt;10K samples)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Works well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May </a:t>
                      </a:r>
                      <a:r>
                        <a:rPr lang="en-US" sz="2000" u="none" strike="noStrike" dirty="0" err="1">
                          <a:effectLst/>
                        </a:rPr>
                        <a:t>overfit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896263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Your data is structured</a:t>
                      </a:r>
                    </a:p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 (tabular, numerical, categorical)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Better performance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Not needed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5550225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You need model interpretability</a:t>
                      </a:r>
                    </a:p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 (e.g., finance, healthcare, law)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Easier to explain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Hard to interpret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103574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 have limited computational resources (CPU only)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Faster and more efficient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Requires GPUs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404518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Your data is unstructured</a:t>
                      </a:r>
                    </a:p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 (images, text, video, audio)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ML models struggle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CNNs, RNNs, Transformers work best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6350396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You have a large dataset (&gt;100K samples) and deep patterns to learn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❌ Traditional ML struggles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Neural networks thrive on big data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3934840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You need real-time inference</a:t>
                      </a:r>
                    </a:p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 (low latency applications)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</a:rPr>
                        <a:t>✅ Faster predictions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❌ Deep models can be slow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2575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279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Traditional ML (</a:t>
            </a:r>
            <a:r>
              <a:rPr lang="en-US" dirty="0" err="1"/>
              <a:t>XGBoost</a:t>
            </a:r>
            <a:r>
              <a:rPr lang="en-US" dirty="0"/>
              <a:t>, Random Forest, SVM, Logistic Regression, etc.) when working with </a:t>
            </a:r>
            <a:r>
              <a:rPr lang="en-US" b="1" dirty="0"/>
              <a:t>structured/tabular data, small datasets, and when interpretability matters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Use ANNs (CNNs, RNNs, Transformers, GANs, etc.) when dealing with </a:t>
            </a:r>
            <a:r>
              <a:rPr lang="en-US" b="1" dirty="0"/>
              <a:t>unstructured data (images, text, audio, video) or large datasets with complex patterns.</a:t>
            </a:r>
          </a:p>
        </p:txBody>
      </p:sp>
    </p:spTree>
    <p:extLst>
      <p:ext uri="{BB962C8B-B14F-4D97-AF65-F5344CB8AC3E}">
        <p14:creationId xmlns:p14="http://schemas.microsoft.com/office/powerpoint/2010/main" val="1592054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2B2F0B-CB87-B495-2FD4-E6ECE2CD486E}"/>
              </a:ext>
            </a:extLst>
          </p:cNvPr>
          <p:cNvSpPr txBox="1"/>
          <p:nvPr/>
        </p:nvSpPr>
        <p:spPr>
          <a:xfrm>
            <a:off x="594845" y="306939"/>
            <a:ext cx="8529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Fkds;fds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08872-44FE-C987-D1E3-A093E1C9B1C1}"/>
              </a:ext>
            </a:extLst>
          </p:cNvPr>
          <p:cNvSpPr txBox="1"/>
          <p:nvPr/>
        </p:nvSpPr>
        <p:spPr>
          <a:xfrm>
            <a:off x="383458" y="1371879"/>
            <a:ext cx="100289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Cccc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1082</TotalTime>
  <Words>837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XXX</vt:lpstr>
      <vt:lpstr>ANN-vs-Traditional ML</vt:lpstr>
      <vt:lpstr>PowerPoint Presentation</vt:lpstr>
      <vt:lpstr>1. Data Complexity &amp; Structure</vt:lpstr>
      <vt:lpstr>2. Interpretability &amp; Explainability</vt:lpstr>
      <vt:lpstr>3. Training Time &amp; Computational Resources</vt:lpstr>
      <vt:lpstr>4. Specific AI/ML Applications</vt:lpstr>
      <vt:lpstr>5. When to Choose Which Model?</vt:lpstr>
      <vt:lpstr>Final Takeaway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175</cp:revision>
  <dcterms:created xsi:type="dcterms:W3CDTF">2025-09-22T02:44:38Z</dcterms:created>
  <dcterms:modified xsi:type="dcterms:W3CDTF">2026-04-03T05:08:01Z</dcterms:modified>
</cp:coreProperties>
</file>