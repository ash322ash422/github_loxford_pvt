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6" r:id="rId2"/>
    <p:sldId id="282" r:id="rId3"/>
    <p:sldId id="285" r:id="rId4"/>
    <p:sldId id="294" r:id="rId5"/>
    <p:sldId id="283" r:id="rId6"/>
    <p:sldId id="257" r:id="rId7"/>
    <p:sldId id="277" r:id="rId8"/>
    <p:sldId id="278" r:id="rId9"/>
    <p:sldId id="291" r:id="rId10"/>
    <p:sldId id="292" r:id="rId11"/>
    <p:sldId id="279" r:id="rId12"/>
    <p:sldId id="280" r:id="rId13"/>
    <p:sldId id="262" r:id="rId14"/>
    <p:sldId id="298" r:id="rId15"/>
    <p:sldId id="275" r:id="rId16"/>
    <p:sldId id="276" r:id="rId17"/>
    <p:sldId id="263" r:id="rId18"/>
    <p:sldId id="295" r:id="rId19"/>
    <p:sldId id="297" r:id="rId20"/>
    <p:sldId id="296" r:id="rId21"/>
    <p:sldId id="269" r:id="rId22"/>
    <p:sldId id="286" r:id="rId23"/>
    <p:sldId id="287" r:id="rId24"/>
    <p:sldId id="273" r:id="rId25"/>
    <p:sldId id="265" r:id="rId26"/>
    <p:sldId id="267" r:id="rId27"/>
    <p:sldId id="266" r:id="rId28"/>
    <p:sldId id="268" r:id="rId29"/>
    <p:sldId id="284" r:id="rId30"/>
    <p:sldId id="288" r:id="rId31"/>
    <p:sldId id="289" r:id="rId32"/>
    <p:sldId id="293" r:id="rId33"/>
    <p:sldId id="29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9" autoAdjust="0"/>
    <p:restoredTop sz="94660"/>
  </p:normalViewPr>
  <p:slideViewPr>
    <p:cSldViewPr snapToGrid="0">
      <p:cViewPr varScale="1">
        <p:scale>
          <a:sx n="111" d="100"/>
          <a:sy n="111" d="100"/>
        </p:scale>
        <p:origin x="58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525F35-CB94-4AB0-9082-EF76978F81EB}"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E6D9F240-BF08-40A7-9D9B-584A2AA39A42}">
      <dgm:prSet phldrT="[Text]" custT="1"/>
      <dgm:spPr/>
      <dgm:t>
        <a:bodyPr/>
        <a:lstStyle/>
        <a:p>
          <a:r>
            <a:rPr lang="en-US" sz="2400" dirty="0"/>
            <a:t>Deep NN</a:t>
          </a:r>
        </a:p>
      </dgm:t>
    </dgm:pt>
    <dgm:pt modelId="{AB75D349-94EC-4821-A2CF-5BE05F1D01A1}" type="parTrans" cxnId="{CC83E113-6690-4C69-9258-D4F17B83635A}">
      <dgm:prSet/>
      <dgm:spPr/>
      <dgm:t>
        <a:bodyPr/>
        <a:lstStyle/>
        <a:p>
          <a:endParaRPr lang="en-US"/>
        </a:p>
      </dgm:t>
    </dgm:pt>
    <dgm:pt modelId="{0DC146DE-0666-4580-9877-72481DE214B3}" type="sibTrans" cxnId="{CC83E113-6690-4C69-9258-D4F17B83635A}">
      <dgm:prSet/>
      <dgm:spPr/>
      <dgm:t>
        <a:bodyPr/>
        <a:lstStyle/>
        <a:p>
          <a:endParaRPr lang="en-US"/>
        </a:p>
      </dgm:t>
    </dgm:pt>
    <dgm:pt modelId="{4A8BF4CD-E4B5-41EE-A058-82FE706E3672}">
      <dgm:prSet phldrT="[Text]" custT="1"/>
      <dgm:spPr/>
      <dgm:t>
        <a:bodyPr/>
        <a:lstStyle/>
        <a:p>
          <a:r>
            <a:rPr lang="en-US" sz="1600" dirty="0"/>
            <a:t>ANN:</a:t>
          </a:r>
        </a:p>
        <a:p>
          <a:r>
            <a:rPr lang="en-US" sz="1600" b="1" dirty="0"/>
            <a:t>Feedforward neural network</a:t>
          </a:r>
          <a:r>
            <a:rPr lang="en-US" sz="1600" dirty="0"/>
            <a:t> </a:t>
          </a:r>
          <a:r>
            <a:rPr lang="en-US" sz="1600" b="1" dirty="0"/>
            <a:t>: </a:t>
          </a:r>
          <a:r>
            <a:rPr lang="en-US" sz="1600" dirty="0"/>
            <a:t>The FNN is one of the most basic artificial neural networks. In this ANN, the data or the input provided travels in a single direction. It enters into the ANN through the input layer and exits through the output layer while hidden layers may or may not exist. So the feedforward neural network has a front-propagated wave only and usually does not have backpropagation.</a:t>
          </a:r>
        </a:p>
        <a:p>
          <a:r>
            <a:rPr lang="en-US" sz="1600" dirty="0"/>
            <a:t>Used in tabular data: age, experience, salary</a:t>
          </a:r>
        </a:p>
      </dgm:t>
    </dgm:pt>
    <dgm:pt modelId="{83B6D609-7F69-4652-AC6E-0CFA6BA1CC76}" type="parTrans" cxnId="{2308BE53-6ABC-419F-A4B7-4B201C56EED3}">
      <dgm:prSet/>
      <dgm:spPr/>
      <dgm:t>
        <a:bodyPr/>
        <a:lstStyle/>
        <a:p>
          <a:endParaRPr lang="en-US" sz="2000"/>
        </a:p>
      </dgm:t>
    </dgm:pt>
    <dgm:pt modelId="{7EEBDC29-F76A-4DBB-AB6C-8F38B80E062A}" type="sibTrans" cxnId="{2308BE53-6ABC-419F-A4B7-4B201C56EED3}">
      <dgm:prSet/>
      <dgm:spPr/>
      <dgm:t>
        <a:bodyPr/>
        <a:lstStyle/>
        <a:p>
          <a:endParaRPr lang="en-US"/>
        </a:p>
      </dgm:t>
    </dgm:pt>
    <dgm:pt modelId="{82D0ECBC-B10B-4241-A803-8A9DE65149B1}">
      <dgm:prSet phldrT="[Text]" custT="1"/>
      <dgm:spPr/>
      <dgm:t>
        <a:bodyPr/>
        <a:lstStyle/>
        <a:p>
          <a:r>
            <a:rPr lang="en-US" sz="1600" dirty="0"/>
            <a:t>CNN</a:t>
          </a:r>
        </a:p>
        <a:p>
          <a:r>
            <a:rPr lang="en-US" sz="1600" dirty="0"/>
            <a:t>A CNN has some similarities to the feed-forward neural network, where the connections between units have weights that determine the influence of one unit on another unit. But a CNN has one or more than one convolutional layer that uses a convolution operation on the input and then passes the result obtained in the form of output to the next layer. CNN has applications in </a:t>
          </a:r>
          <a:r>
            <a:rPr lang="en-US" sz="1600" b="1" dirty="0"/>
            <a:t>speech and image processing</a:t>
          </a:r>
          <a:r>
            <a:rPr lang="en-US" sz="1600" dirty="0"/>
            <a:t> which is particularly useful in computer vision.</a:t>
          </a:r>
        </a:p>
      </dgm:t>
    </dgm:pt>
    <dgm:pt modelId="{82EC2BE8-0F68-4A49-8433-9C77CB0D7CE8}" type="parTrans" cxnId="{88DA587A-954A-4D23-838B-DDDE4C0F87CC}">
      <dgm:prSet/>
      <dgm:spPr/>
      <dgm:t>
        <a:bodyPr/>
        <a:lstStyle/>
        <a:p>
          <a:endParaRPr lang="en-US" sz="2000"/>
        </a:p>
      </dgm:t>
    </dgm:pt>
    <dgm:pt modelId="{DCFD80C9-4A2B-4EB2-81B8-E4595E7A4BB3}" type="sibTrans" cxnId="{88DA587A-954A-4D23-838B-DDDE4C0F87CC}">
      <dgm:prSet/>
      <dgm:spPr/>
      <dgm:t>
        <a:bodyPr/>
        <a:lstStyle/>
        <a:p>
          <a:endParaRPr lang="en-US"/>
        </a:p>
      </dgm:t>
    </dgm:pt>
    <dgm:pt modelId="{125CAA27-3BBD-45F9-B693-23DFB8BD43E5}">
      <dgm:prSet phldrT="[Text]" custT="1"/>
      <dgm:spPr/>
      <dgm:t>
        <a:bodyPr/>
        <a:lstStyle/>
        <a:p>
          <a:r>
            <a:rPr lang="en-US" sz="1600" dirty="0"/>
            <a:t>RNN</a:t>
          </a:r>
        </a:p>
        <a:p>
          <a:r>
            <a:rPr lang="en-US" sz="1600" dirty="0"/>
            <a:t>The RNN saves the output of a layer and feeds this output back to the input to better predict the outcome of the layer. The first layer in the RNN is quite similar to the feed-forward neural network and the recurrent neural network starts once the output of the first layer computed.</a:t>
          </a:r>
        </a:p>
        <a:p>
          <a:r>
            <a:rPr lang="en-US" sz="1600" dirty="0"/>
            <a:t>Used in NLP and Time series forecasting</a:t>
          </a:r>
        </a:p>
      </dgm:t>
    </dgm:pt>
    <dgm:pt modelId="{22F2B07A-436C-48E4-A657-95A8EBE8D1B4}" type="parTrans" cxnId="{DD757CE3-8CB4-449A-BB21-6A956AE94838}">
      <dgm:prSet/>
      <dgm:spPr/>
      <dgm:t>
        <a:bodyPr/>
        <a:lstStyle/>
        <a:p>
          <a:endParaRPr lang="en-US" sz="2000"/>
        </a:p>
      </dgm:t>
    </dgm:pt>
    <dgm:pt modelId="{4EE0E61D-3815-4533-8039-D1E86FF2755F}" type="sibTrans" cxnId="{DD757CE3-8CB4-449A-BB21-6A956AE94838}">
      <dgm:prSet/>
      <dgm:spPr/>
      <dgm:t>
        <a:bodyPr/>
        <a:lstStyle/>
        <a:p>
          <a:endParaRPr lang="en-US"/>
        </a:p>
      </dgm:t>
    </dgm:pt>
    <dgm:pt modelId="{A933836C-C794-40A0-9A24-F82D0C1FD2D6}">
      <dgm:prSet custT="1"/>
      <dgm:spPr/>
      <dgm:t>
        <a:bodyPr/>
        <a:lstStyle/>
        <a:p>
          <a:r>
            <a:rPr lang="en-US" sz="1600" dirty="0"/>
            <a:t>Others:</a:t>
          </a:r>
        </a:p>
        <a:p>
          <a:r>
            <a:rPr lang="en-US" sz="1600" b="1" dirty="0"/>
            <a:t>Radial basis function Neural Network,</a:t>
          </a:r>
        </a:p>
        <a:p>
          <a:r>
            <a:rPr lang="en-US" sz="1600" b="1" dirty="0"/>
            <a:t>Modular Neural Network</a:t>
          </a:r>
          <a:endParaRPr lang="en-US" sz="1600" dirty="0"/>
        </a:p>
      </dgm:t>
    </dgm:pt>
    <dgm:pt modelId="{FC67CE11-C13D-46CD-BC95-5FF1B6E4913C}" type="parTrans" cxnId="{8DE37795-3860-44D8-B539-1A654076A41A}">
      <dgm:prSet/>
      <dgm:spPr/>
      <dgm:t>
        <a:bodyPr/>
        <a:lstStyle/>
        <a:p>
          <a:endParaRPr lang="en-US" sz="2000"/>
        </a:p>
      </dgm:t>
    </dgm:pt>
    <dgm:pt modelId="{C4C13784-F27A-48C8-B23F-B8ED9315AE67}" type="sibTrans" cxnId="{8DE37795-3860-44D8-B539-1A654076A41A}">
      <dgm:prSet/>
      <dgm:spPr/>
      <dgm:t>
        <a:bodyPr/>
        <a:lstStyle/>
        <a:p>
          <a:endParaRPr lang="en-US"/>
        </a:p>
      </dgm:t>
    </dgm:pt>
    <dgm:pt modelId="{257C7353-E70D-4294-980B-4F572F3EF97C}" type="pres">
      <dgm:prSet presAssocID="{13525F35-CB94-4AB0-9082-EF76978F81EB}" presName="hierChild1" presStyleCnt="0">
        <dgm:presLayoutVars>
          <dgm:orgChart val="1"/>
          <dgm:chPref val="1"/>
          <dgm:dir/>
          <dgm:animOne val="branch"/>
          <dgm:animLvl val="lvl"/>
          <dgm:resizeHandles/>
        </dgm:presLayoutVars>
      </dgm:prSet>
      <dgm:spPr/>
    </dgm:pt>
    <dgm:pt modelId="{B2F85F13-C23F-4D7D-9A56-E9F9D4121708}" type="pres">
      <dgm:prSet presAssocID="{E6D9F240-BF08-40A7-9D9B-584A2AA39A42}" presName="hierRoot1" presStyleCnt="0">
        <dgm:presLayoutVars>
          <dgm:hierBranch val="init"/>
        </dgm:presLayoutVars>
      </dgm:prSet>
      <dgm:spPr/>
    </dgm:pt>
    <dgm:pt modelId="{F777EBE2-CDE7-4B7F-A8EA-19392938AB3B}" type="pres">
      <dgm:prSet presAssocID="{E6D9F240-BF08-40A7-9D9B-584A2AA39A42}" presName="rootComposite1" presStyleCnt="0"/>
      <dgm:spPr/>
    </dgm:pt>
    <dgm:pt modelId="{3EAE1D92-7FF2-4425-9EE7-1139456800EF}" type="pres">
      <dgm:prSet presAssocID="{E6D9F240-BF08-40A7-9D9B-584A2AA39A42}" presName="rootText1" presStyleLbl="node0" presStyleIdx="0" presStyleCnt="1" custScaleX="124683" custScaleY="72307">
        <dgm:presLayoutVars>
          <dgm:chPref val="3"/>
        </dgm:presLayoutVars>
      </dgm:prSet>
      <dgm:spPr/>
    </dgm:pt>
    <dgm:pt modelId="{B67F9AA6-845E-4792-94AD-D5E80EA5DF7D}" type="pres">
      <dgm:prSet presAssocID="{E6D9F240-BF08-40A7-9D9B-584A2AA39A42}" presName="rootConnector1" presStyleLbl="node1" presStyleIdx="0" presStyleCnt="0"/>
      <dgm:spPr/>
    </dgm:pt>
    <dgm:pt modelId="{721963D2-BE38-4CF7-9D32-67C9D1F410CC}" type="pres">
      <dgm:prSet presAssocID="{E6D9F240-BF08-40A7-9D9B-584A2AA39A42}" presName="hierChild2" presStyleCnt="0"/>
      <dgm:spPr/>
    </dgm:pt>
    <dgm:pt modelId="{49A062AA-A197-482B-A4A2-B6E87A05CE68}" type="pres">
      <dgm:prSet presAssocID="{83B6D609-7F69-4652-AC6E-0CFA6BA1CC76}" presName="Name37" presStyleLbl="parChTrans1D2" presStyleIdx="0" presStyleCnt="4"/>
      <dgm:spPr/>
    </dgm:pt>
    <dgm:pt modelId="{7AE1B813-2263-465F-AD37-FC5918401D06}" type="pres">
      <dgm:prSet presAssocID="{4A8BF4CD-E4B5-41EE-A058-82FE706E3672}" presName="hierRoot2" presStyleCnt="0">
        <dgm:presLayoutVars>
          <dgm:hierBranch val="init"/>
        </dgm:presLayoutVars>
      </dgm:prSet>
      <dgm:spPr/>
    </dgm:pt>
    <dgm:pt modelId="{8066E620-A660-4AA2-8FAF-957DB38ADA48}" type="pres">
      <dgm:prSet presAssocID="{4A8BF4CD-E4B5-41EE-A058-82FE706E3672}" presName="rootComposite" presStyleCnt="0"/>
      <dgm:spPr/>
    </dgm:pt>
    <dgm:pt modelId="{5BEA6693-2F01-4230-908A-A536F09CC1D6}" type="pres">
      <dgm:prSet presAssocID="{4A8BF4CD-E4B5-41EE-A058-82FE706E3672}" presName="rootText" presStyleLbl="node2" presStyleIdx="0" presStyleCnt="4" custScaleX="174844" custScaleY="483831">
        <dgm:presLayoutVars>
          <dgm:chPref val="3"/>
        </dgm:presLayoutVars>
      </dgm:prSet>
      <dgm:spPr/>
    </dgm:pt>
    <dgm:pt modelId="{B847FDFB-526B-4EB2-B2EC-F0BB32D1CB37}" type="pres">
      <dgm:prSet presAssocID="{4A8BF4CD-E4B5-41EE-A058-82FE706E3672}" presName="rootConnector" presStyleLbl="node2" presStyleIdx="0" presStyleCnt="4"/>
      <dgm:spPr/>
    </dgm:pt>
    <dgm:pt modelId="{CBEEA6FA-FF78-4BA3-A44B-E015FCC2D79E}" type="pres">
      <dgm:prSet presAssocID="{4A8BF4CD-E4B5-41EE-A058-82FE706E3672}" presName="hierChild4" presStyleCnt="0"/>
      <dgm:spPr/>
    </dgm:pt>
    <dgm:pt modelId="{7698791F-3B45-4FC8-9AAC-432262A30A63}" type="pres">
      <dgm:prSet presAssocID="{4A8BF4CD-E4B5-41EE-A058-82FE706E3672}" presName="hierChild5" presStyleCnt="0"/>
      <dgm:spPr/>
    </dgm:pt>
    <dgm:pt modelId="{1C255CE7-B577-4A7B-A492-7EDD45843D6C}" type="pres">
      <dgm:prSet presAssocID="{82EC2BE8-0F68-4A49-8433-9C77CB0D7CE8}" presName="Name37" presStyleLbl="parChTrans1D2" presStyleIdx="1" presStyleCnt="4"/>
      <dgm:spPr/>
    </dgm:pt>
    <dgm:pt modelId="{5AC5B893-2211-4735-AAED-C678762A7261}" type="pres">
      <dgm:prSet presAssocID="{82D0ECBC-B10B-4241-A803-8A9DE65149B1}" presName="hierRoot2" presStyleCnt="0">
        <dgm:presLayoutVars>
          <dgm:hierBranch val="init"/>
        </dgm:presLayoutVars>
      </dgm:prSet>
      <dgm:spPr/>
    </dgm:pt>
    <dgm:pt modelId="{D8DB1EBB-8F2B-4914-8CB2-44DF9F6B1CD3}" type="pres">
      <dgm:prSet presAssocID="{82D0ECBC-B10B-4241-A803-8A9DE65149B1}" presName="rootComposite" presStyleCnt="0"/>
      <dgm:spPr/>
    </dgm:pt>
    <dgm:pt modelId="{2D308BF5-7070-4EC5-B15A-81945C8E9FCE}" type="pres">
      <dgm:prSet presAssocID="{82D0ECBC-B10B-4241-A803-8A9DE65149B1}" presName="rootText" presStyleLbl="node2" presStyleIdx="1" presStyleCnt="4" custScaleX="136053" custScaleY="609882">
        <dgm:presLayoutVars>
          <dgm:chPref val="3"/>
        </dgm:presLayoutVars>
      </dgm:prSet>
      <dgm:spPr/>
    </dgm:pt>
    <dgm:pt modelId="{09283945-03B3-4722-B6AF-9698EC6D339F}" type="pres">
      <dgm:prSet presAssocID="{82D0ECBC-B10B-4241-A803-8A9DE65149B1}" presName="rootConnector" presStyleLbl="node2" presStyleIdx="1" presStyleCnt="4"/>
      <dgm:spPr/>
    </dgm:pt>
    <dgm:pt modelId="{A3C1E2BD-E2CA-4D7E-9AAD-0D8A1DB4EA6C}" type="pres">
      <dgm:prSet presAssocID="{82D0ECBC-B10B-4241-A803-8A9DE65149B1}" presName="hierChild4" presStyleCnt="0"/>
      <dgm:spPr/>
    </dgm:pt>
    <dgm:pt modelId="{5A8ABEC5-D2E4-4650-B02D-75DD2DAC1F21}" type="pres">
      <dgm:prSet presAssocID="{82D0ECBC-B10B-4241-A803-8A9DE65149B1}" presName="hierChild5" presStyleCnt="0"/>
      <dgm:spPr/>
    </dgm:pt>
    <dgm:pt modelId="{22BD2D1E-C8B0-4628-AD67-129654EFE299}" type="pres">
      <dgm:prSet presAssocID="{22F2B07A-436C-48E4-A657-95A8EBE8D1B4}" presName="Name37" presStyleLbl="parChTrans1D2" presStyleIdx="2" presStyleCnt="4"/>
      <dgm:spPr/>
    </dgm:pt>
    <dgm:pt modelId="{04C9FBD6-0583-4206-87F0-90ADE456A9CF}" type="pres">
      <dgm:prSet presAssocID="{125CAA27-3BBD-45F9-B693-23DFB8BD43E5}" presName="hierRoot2" presStyleCnt="0">
        <dgm:presLayoutVars>
          <dgm:hierBranch val="init"/>
        </dgm:presLayoutVars>
      </dgm:prSet>
      <dgm:spPr/>
    </dgm:pt>
    <dgm:pt modelId="{2CE5B5FB-46CF-4722-82DC-F9DB1075CA0D}" type="pres">
      <dgm:prSet presAssocID="{125CAA27-3BBD-45F9-B693-23DFB8BD43E5}" presName="rootComposite" presStyleCnt="0"/>
      <dgm:spPr/>
    </dgm:pt>
    <dgm:pt modelId="{C7BD423C-0CDA-46B7-9D39-4222F735E408}" type="pres">
      <dgm:prSet presAssocID="{125CAA27-3BBD-45F9-B693-23DFB8BD43E5}" presName="rootText" presStyleLbl="node2" presStyleIdx="2" presStyleCnt="4" custScaleX="136837" custScaleY="532187">
        <dgm:presLayoutVars>
          <dgm:chPref val="3"/>
        </dgm:presLayoutVars>
      </dgm:prSet>
      <dgm:spPr/>
    </dgm:pt>
    <dgm:pt modelId="{CDA9C6F6-BDED-4241-A659-CDCD1F4BCA28}" type="pres">
      <dgm:prSet presAssocID="{125CAA27-3BBD-45F9-B693-23DFB8BD43E5}" presName="rootConnector" presStyleLbl="node2" presStyleIdx="2" presStyleCnt="4"/>
      <dgm:spPr/>
    </dgm:pt>
    <dgm:pt modelId="{D9AA5101-2CA3-427E-AB74-60171352A946}" type="pres">
      <dgm:prSet presAssocID="{125CAA27-3BBD-45F9-B693-23DFB8BD43E5}" presName="hierChild4" presStyleCnt="0"/>
      <dgm:spPr/>
    </dgm:pt>
    <dgm:pt modelId="{8DCABD2A-A2ED-4A7D-9D86-5C097ADC3CCD}" type="pres">
      <dgm:prSet presAssocID="{125CAA27-3BBD-45F9-B693-23DFB8BD43E5}" presName="hierChild5" presStyleCnt="0"/>
      <dgm:spPr/>
    </dgm:pt>
    <dgm:pt modelId="{2645CBFB-B61D-4B33-BA58-3E7550F962D8}" type="pres">
      <dgm:prSet presAssocID="{FC67CE11-C13D-46CD-BC95-5FF1B6E4913C}" presName="Name37" presStyleLbl="parChTrans1D2" presStyleIdx="3" presStyleCnt="4"/>
      <dgm:spPr/>
    </dgm:pt>
    <dgm:pt modelId="{BA4F5AE0-0367-462D-89E9-F66D47128004}" type="pres">
      <dgm:prSet presAssocID="{A933836C-C794-40A0-9A24-F82D0C1FD2D6}" presName="hierRoot2" presStyleCnt="0">
        <dgm:presLayoutVars>
          <dgm:hierBranch val="init"/>
        </dgm:presLayoutVars>
      </dgm:prSet>
      <dgm:spPr/>
    </dgm:pt>
    <dgm:pt modelId="{17FECB77-982D-459B-8FE7-EFE2BDB0D278}" type="pres">
      <dgm:prSet presAssocID="{A933836C-C794-40A0-9A24-F82D0C1FD2D6}" presName="rootComposite" presStyleCnt="0"/>
      <dgm:spPr/>
    </dgm:pt>
    <dgm:pt modelId="{600D6C59-6E38-48EC-84A4-BB8995B3F06F}" type="pres">
      <dgm:prSet presAssocID="{A933836C-C794-40A0-9A24-F82D0C1FD2D6}" presName="rootText" presStyleLbl="node2" presStyleIdx="3" presStyleCnt="4" custScaleY="409279">
        <dgm:presLayoutVars>
          <dgm:chPref val="3"/>
        </dgm:presLayoutVars>
      </dgm:prSet>
      <dgm:spPr/>
    </dgm:pt>
    <dgm:pt modelId="{5E42C101-8732-4672-9483-7BCC24701ED5}" type="pres">
      <dgm:prSet presAssocID="{A933836C-C794-40A0-9A24-F82D0C1FD2D6}" presName="rootConnector" presStyleLbl="node2" presStyleIdx="3" presStyleCnt="4"/>
      <dgm:spPr/>
    </dgm:pt>
    <dgm:pt modelId="{8B025DC7-551A-45DB-B325-1C86C7E472F1}" type="pres">
      <dgm:prSet presAssocID="{A933836C-C794-40A0-9A24-F82D0C1FD2D6}" presName="hierChild4" presStyleCnt="0"/>
      <dgm:spPr/>
    </dgm:pt>
    <dgm:pt modelId="{DE4A3517-7E80-4781-8621-6999175EFEC5}" type="pres">
      <dgm:prSet presAssocID="{A933836C-C794-40A0-9A24-F82D0C1FD2D6}" presName="hierChild5" presStyleCnt="0"/>
      <dgm:spPr/>
    </dgm:pt>
    <dgm:pt modelId="{B5AE78DC-5C40-48AA-B89F-9BE9F65A48D4}" type="pres">
      <dgm:prSet presAssocID="{E6D9F240-BF08-40A7-9D9B-584A2AA39A42}" presName="hierChild3" presStyleCnt="0"/>
      <dgm:spPr/>
    </dgm:pt>
  </dgm:ptLst>
  <dgm:cxnLst>
    <dgm:cxn modelId="{CC83E113-6690-4C69-9258-D4F17B83635A}" srcId="{13525F35-CB94-4AB0-9082-EF76978F81EB}" destId="{E6D9F240-BF08-40A7-9D9B-584A2AA39A42}" srcOrd="0" destOrd="0" parTransId="{AB75D349-94EC-4821-A2CF-5BE05F1D01A1}" sibTransId="{0DC146DE-0666-4580-9877-72481DE214B3}"/>
    <dgm:cxn modelId="{22AF6528-CA9F-454F-AD07-DDEE6381CA28}" type="presOf" srcId="{4A8BF4CD-E4B5-41EE-A058-82FE706E3672}" destId="{5BEA6693-2F01-4230-908A-A536F09CC1D6}" srcOrd="0" destOrd="0" presId="urn:microsoft.com/office/officeart/2005/8/layout/orgChart1"/>
    <dgm:cxn modelId="{BB7CDF31-6512-4667-8503-E17B6AC20070}" type="presOf" srcId="{82D0ECBC-B10B-4241-A803-8A9DE65149B1}" destId="{2D308BF5-7070-4EC5-B15A-81945C8E9FCE}" srcOrd="0" destOrd="0" presId="urn:microsoft.com/office/officeart/2005/8/layout/orgChart1"/>
    <dgm:cxn modelId="{406C6D36-5A76-4EC5-BFCE-A1BFF5E6B165}" type="presOf" srcId="{13525F35-CB94-4AB0-9082-EF76978F81EB}" destId="{257C7353-E70D-4294-980B-4F572F3EF97C}" srcOrd="0" destOrd="0" presId="urn:microsoft.com/office/officeart/2005/8/layout/orgChart1"/>
    <dgm:cxn modelId="{F229C93B-FB45-421C-AEFF-248F40EA7288}" type="presOf" srcId="{125CAA27-3BBD-45F9-B693-23DFB8BD43E5}" destId="{CDA9C6F6-BDED-4241-A659-CDCD1F4BCA28}" srcOrd="1" destOrd="0" presId="urn:microsoft.com/office/officeart/2005/8/layout/orgChart1"/>
    <dgm:cxn modelId="{E2A8E25B-86A3-457A-921E-C627770609BB}" type="presOf" srcId="{125CAA27-3BBD-45F9-B693-23DFB8BD43E5}" destId="{C7BD423C-0CDA-46B7-9D39-4222F735E408}" srcOrd="0" destOrd="0" presId="urn:microsoft.com/office/officeart/2005/8/layout/orgChart1"/>
    <dgm:cxn modelId="{D9ED5C68-BD7B-46B3-A69C-6B839F5A28E3}" type="presOf" srcId="{E6D9F240-BF08-40A7-9D9B-584A2AA39A42}" destId="{B67F9AA6-845E-4792-94AD-D5E80EA5DF7D}" srcOrd="1" destOrd="0" presId="urn:microsoft.com/office/officeart/2005/8/layout/orgChart1"/>
    <dgm:cxn modelId="{82CA0A4B-F543-436B-A275-3EE6433CD607}" type="presOf" srcId="{FC67CE11-C13D-46CD-BC95-5FF1B6E4913C}" destId="{2645CBFB-B61D-4B33-BA58-3E7550F962D8}" srcOrd="0" destOrd="0" presId="urn:microsoft.com/office/officeart/2005/8/layout/orgChart1"/>
    <dgm:cxn modelId="{2308BE53-6ABC-419F-A4B7-4B201C56EED3}" srcId="{E6D9F240-BF08-40A7-9D9B-584A2AA39A42}" destId="{4A8BF4CD-E4B5-41EE-A058-82FE706E3672}" srcOrd="0" destOrd="0" parTransId="{83B6D609-7F69-4652-AC6E-0CFA6BA1CC76}" sibTransId="{7EEBDC29-F76A-4DBB-AB6C-8F38B80E062A}"/>
    <dgm:cxn modelId="{908DC473-D789-4E3C-91BE-6BE7A6D2FFA9}" type="presOf" srcId="{A933836C-C794-40A0-9A24-F82D0C1FD2D6}" destId="{5E42C101-8732-4672-9483-7BCC24701ED5}" srcOrd="1" destOrd="0" presId="urn:microsoft.com/office/officeart/2005/8/layout/orgChart1"/>
    <dgm:cxn modelId="{88DA587A-954A-4D23-838B-DDDE4C0F87CC}" srcId="{E6D9F240-BF08-40A7-9D9B-584A2AA39A42}" destId="{82D0ECBC-B10B-4241-A803-8A9DE65149B1}" srcOrd="1" destOrd="0" parTransId="{82EC2BE8-0F68-4A49-8433-9C77CB0D7CE8}" sibTransId="{DCFD80C9-4A2B-4EB2-81B8-E4595E7A4BB3}"/>
    <dgm:cxn modelId="{7C188D8F-5008-4F84-B3A2-5ECB2E5BA88A}" type="presOf" srcId="{83B6D609-7F69-4652-AC6E-0CFA6BA1CC76}" destId="{49A062AA-A197-482B-A4A2-B6E87A05CE68}" srcOrd="0" destOrd="0" presId="urn:microsoft.com/office/officeart/2005/8/layout/orgChart1"/>
    <dgm:cxn modelId="{8DE37795-3860-44D8-B539-1A654076A41A}" srcId="{E6D9F240-BF08-40A7-9D9B-584A2AA39A42}" destId="{A933836C-C794-40A0-9A24-F82D0C1FD2D6}" srcOrd="3" destOrd="0" parTransId="{FC67CE11-C13D-46CD-BC95-5FF1B6E4913C}" sibTransId="{C4C13784-F27A-48C8-B23F-B8ED9315AE67}"/>
    <dgm:cxn modelId="{49FAFEB5-656D-458A-B9FC-1766F911D380}" type="presOf" srcId="{82D0ECBC-B10B-4241-A803-8A9DE65149B1}" destId="{09283945-03B3-4722-B6AF-9698EC6D339F}" srcOrd="1" destOrd="0" presId="urn:microsoft.com/office/officeart/2005/8/layout/orgChart1"/>
    <dgm:cxn modelId="{763385BA-3C33-4954-B318-F0317C3FB422}" type="presOf" srcId="{22F2B07A-436C-48E4-A657-95A8EBE8D1B4}" destId="{22BD2D1E-C8B0-4628-AD67-129654EFE299}" srcOrd="0" destOrd="0" presId="urn:microsoft.com/office/officeart/2005/8/layout/orgChart1"/>
    <dgm:cxn modelId="{06CA75DB-606A-45DD-B03F-84FDCA1C9C6D}" type="presOf" srcId="{82EC2BE8-0F68-4A49-8433-9C77CB0D7CE8}" destId="{1C255CE7-B577-4A7B-A492-7EDD45843D6C}" srcOrd="0" destOrd="0" presId="urn:microsoft.com/office/officeart/2005/8/layout/orgChart1"/>
    <dgm:cxn modelId="{DD757CE3-8CB4-449A-BB21-6A956AE94838}" srcId="{E6D9F240-BF08-40A7-9D9B-584A2AA39A42}" destId="{125CAA27-3BBD-45F9-B693-23DFB8BD43E5}" srcOrd="2" destOrd="0" parTransId="{22F2B07A-436C-48E4-A657-95A8EBE8D1B4}" sibTransId="{4EE0E61D-3815-4533-8039-D1E86FF2755F}"/>
    <dgm:cxn modelId="{09F4C0F5-EB3C-49F9-A8A6-DE0D374F9D1F}" type="presOf" srcId="{A933836C-C794-40A0-9A24-F82D0C1FD2D6}" destId="{600D6C59-6E38-48EC-84A4-BB8995B3F06F}" srcOrd="0" destOrd="0" presId="urn:microsoft.com/office/officeart/2005/8/layout/orgChart1"/>
    <dgm:cxn modelId="{E6051CFC-9AB7-4A79-B5A7-00D2EA7D5CC6}" type="presOf" srcId="{4A8BF4CD-E4B5-41EE-A058-82FE706E3672}" destId="{B847FDFB-526B-4EB2-B2EC-F0BB32D1CB37}" srcOrd="1" destOrd="0" presId="urn:microsoft.com/office/officeart/2005/8/layout/orgChart1"/>
    <dgm:cxn modelId="{0096A0FD-CBC7-405B-87D3-033885F1D2E6}" type="presOf" srcId="{E6D9F240-BF08-40A7-9D9B-584A2AA39A42}" destId="{3EAE1D92-7FF2-4425-9EE7-1139456800EF}" srcOrd="0" destOrd="0" presId="urn:microsoft.com/office/officeart/2005/8/layout/orgChart1"/>
    <dgm:cxn modelId="{1FE8A53E-33FD-41B9-A4C1-45C3571B38B3}" type="presParOf" srcId="{257C7353-E70D-4294-980B-4F572F3EF97C}" destId="{B2F85F13-C23F-4D7D-9A56-E9F9D4121708}" srcOrd="0" destOrd="0" presId="urn:microsoft.com/office/officeart/2005/8/layout/orgChart1"/>
    <dgm:cxn modelId="{83C995CB-96AA-459A-8012-EF42B5692F3E}" type="presParOf" srcId="{B2F85F13-C23F-4D7D-9A56-E9F9D4121708}" destId="{F777EBE2-CDE7-4B7F-A8EA-19392938AB3B}" srcOrd="0" destOrd="0" presId="urn:microsoft.com/office/officeart/2005/8/layout/orgChart1"/>
    <dgm:cxn modelId="{88E387B4-FB10-4B15-BCE2-403B27BDAEBE}" type="presParOf" srcId="{F777EBE2-CDE7-4B7F-A8EA-19392938AB3B}" destId="{3EAE1D92-7FF2-4425-9EE7-1139456800EF}" srcOrd="0" destOrd="0" presId="urn:microsoft.com/office/officeart/2005/8/layout/orgChart1"/>
    <dgm:cxn modelId="{AE849D28-6F02-4E71-B53F-A61A1E409E7A}" type="presParOf" srcId="{F777EBE2-CDE7-4B7F-A8EA-19392938AB3B}" destId="{B67F9AA6-845E-4792-94AD-D5E80EA5DF7D}" srcOrd="1" destOrd="0" presId="urn:microsoft.com/office/officeart/2005/8/layout/orgChart1"/>
    <dgm:cxn modelId="{70997E25-E472-477F-AC0D-A29FA0768E50}" type="presParOf" srcId="{B2F85F13-C23F-4D7D-9A56-E9F9D4121708}" destId="{721963D2-BE38-4CF7-9D32-67C9D1F410CC}" srcOrd="1" destOrd="0" presId="urn:microsoft.com/office/officeart/2005/8/layout/orgChart1"/>
    <dgm:cxn modelId="{971F6E28-4073-402A-858C-D07DD320BEF8}" type="presParOf" srcId="{721963D2-BE38-4CF7-9D32-67C9D1F410CC}" destId="{49A062AA-A197-482B-A4A2-B6E87A05CE68}" srcOrd="0" destOrd="0" presId="urn:microsoft.com/office/officeart/2005/8/layout/orgChart1"/>
    <dgm:cxn modelId="{3183C33F-4534-470B-BD69-716656416744}" type="presParOf" srcId="{721963D2-BE38-4CF7-9D32-67C9D1F410CC}" destId="{7AE1B813-2263-465F-AD37-FC5918401D06}" srcOrd="1" destOrd="0" presId="urn:microsoft.com/office/officeart/2005/8/layout/orgChart1"/>
    <dgm:cxn modelId="{8094DBC9-7219-486A-B1E6-F1DB2FD863C7}" type="presParOf" srcId="{7AE1B813-2263-465F-AD37-FC5918401D06}" destId="{8066E620-A660-4AA2-8FAF-957DB38ADA48}" srcOrd="0" destOrd="0" presId="urn:microsoft.com/office/officeart/2005/8/layout/orgChart1"/>
    <dgm:cxn modelId="{F3E8E66E-B74D-49EB-802E-630A00117A30}" type="presParOf" srcId="{8066E620-A660-4AA2-8FAF-957DB38ADA48}" destId="{5BEA6693-2F01-4230-908A-A536F09CC1D6}" srcOrd="0" destOrd="0" presId="urn:microsoft.com/office/officeart/2005/8/layout/orgChart1"/>
    <dgm:cxn modelId="{E44874BF-C1FE-4D62-A237-CC039C4A2CE2}" type="presParOf" srcId="{8066E620-A660-4AA2-8FAF-957DB38ADA48}" destId="{B847FDFB-526B-4EB2-B2EC-F0BB32D1CB37}" srcOrd="1" destOrd="0" presId="urn:microsoft.com/office/officeart/2005/8/layout/orgChart1"/>
    <dgm:cxn modelId="{9E934C8E-60CB-4D2B-B3FC-BA62BA7E04B3}" type="presParOf" srcId="{7AE1B813-2263-465F-AD37-FC5918401D06}" destId="{CBEEA6FA-FF78-4BA3-A44B-E015FCC2D79E}" srcOrd="1" destOrd="0" presId="urn:microsoft.com/office/officeart/2005/8/layout/orgChart1"/>
    <dgm:cxn modelId="{C15D00AE-6C9B-4EE4-A506-C9CFBC3AE3F4}" type="presParOf" srcId="{7AE1B813-2263-465F-AD37-FC5918401D06}" destId="{7698791F-3B45-4FC8-9AAC-432262A30A63}" srcOrd="2" destOrd="0" presId="urn:microsoft.com/office/officeart/2005/8/layout/orgChart1"/>
    <dgm:cxn modelId="{FF40A123-5FAF-49F4-8913-4F9D7E856781}" type="presParOf" srcId="{721963D2-BE38-4CF7-9D32-67C9D1F410CC}" destId="{1C255CE7-B577-4A7B-A492-7EDD45843D6C}" srcOrd="2" destOrd="0" presId="urn:microsoft.com/office/officeart/2005/8/layout/orgChart1"/>
    <dgm:cxn modelId="{7D641E12-5431-4DAD-BC9B-29DB76EE6CB8}" type="presParOf" srcId="{721963D2-BE38-4CF7-9D32-67C9D1F410CC}" destId="{5AC5B893-2211-4735-AAED-C678762A7261}" srcOrd="3" destOrd="0" presId="urn:microsoft.com/office/officeart/2005/8/layout/orgChart1"/>
    <dgm:cxn modelId="{9D9A99FD-FBB8-4C94-B25A-828D0F82E3E7}" type="presParOf" srcId="{5AC5B893-2211-4735-AAED-C678762A7261}" destId="{D8DB1EBB-8F2B-4914-8CB2-44DF9F6B1CD3}" srcOrd="0" destOrd="0" presId="urn:microsoft.com/office/officeart/2005/8/layout/orgChart1"/>
    <dgm:cxn modelId="{988E7544-AFF5-4353-9067-47910C37329A}" type="presParOf" srcId="{D8DB1EBB-8F2B-4914-8CB2-44DF9F6B1CD3}" destId="{2D308BF5-7070-4EC5-B15A-81945C8E9FCE}" srcOrd="0" destOrd="0" presId="urn:microsoft.com/office/officeart/2005/8/layout/orgChart1"/>
    <dgm:cxn modelId="{39CE2D2D-ACAD-4717-97FC-D1C64012D1D0}" type="presParOf" srcId="{D8DB1EBB-8F2B-4914-8CB2-44DF9F6B1CD3}" destId="{09283945-03B3-4722-B6AF-9698EC6D339F}" srcOrd="1" destOrd="0" presId="urn:microsoft.com/office/officeart/2005/8/layout/orgChart1"/>
    <dgm:cxn modelId="{6AF08B8E-EEE1-400B-9AFC-E740EA8F8168}" type="presParOf" srcId="{5AC5B893-2211-4735-AAED-C678762A7261}" destId="{A3C1E2BD-E2CA-4D7E-9AAD-0D8A1DB4EA6C}" srcOrd="1" destOrd="0" presId="urn:microsoft.com/office/officeart/2005/8/layout/orgChart1"/>
    <dgm:cxn modelId="{B81196A9-7AB4-4E58-8D2B-82AE741CDB59}" type="presParOf" srcId="{5AC5B893-2211-4735-AAED-C678762A7261}" destId="{5A8ABEC5-D2E4-4650-B02D-75DD2DAC1F21}" srcOrd="2" destOrd="0" presId="urn:microsoft.com/office/officeart/2005/8/layout/orgChart1"/>
    <dgm:cxn modelId="{2034E007-294E-4766-8A47-7132D56F017E}" type="presParOf" srcId="{721963D2-BE38-4CF7-9D32-67C9D1F410CC}" destId="{22BD2D1E-C8B0-4628-AD67-129654EFE299}" srcOrd="4" destOrd="0" presId="urn:microsoft.com/office/officeart/2005/8/layout/orgChart1"/>
    <dgm:cxn modelId="{12460917-325B-44F6-B817-C86A2934C7F3}" type="presParOf" srcId="{721963D2-BE38-4CF7-9D32-67C9D1F410CC}" destId="{04C9FBD6-0583-4206-87F0-90ADE456A9CF}" srcOrd="5" destOrd="0" presId="urn:microsoft.com/office/officeart/2005/8/layout/orgChart1"/>
    <dgm:cxn modelId="{2EA533F9-B56B-4178-A188-0AD771D6519F}" type="presParOf" srcId="{04C9FBD6-0583-4206-87F0-90ADE456A9CF}" destId="{2CE5B5FB-46CF-4722-82DC-F9DB1075CA0D}" srcOrd="0" destOrd="0" presId="urn:microsoft.com/office/officeart/2005/8/layout/orgChart1"/>
    <dgm:cxn modelId="{FB5440CF-7A9E-4BCC-A26B-B8663BAD727C}" type="presParOf" srcId="{2CE5B5FB-46CF-4722-82DC-F9DB1075CA0D}" destId="{C7BD423C-0CDA-46B7-9D39-4222F735E408}" srcOrd="0" destOrd="0" presId="urn:microsoft.com/office/officeart/2005/8/layout/orgChart1"/>
    <dgm:cxn modelId="{7593CACF-AEF7-49C5-A1FD-BA66B4ACDDDD}" type="presParOf" srcId="{2CE5B5FB-46CF-4722-82DC-F9DB1075CA0D}" destId="{CDA9C6F6-BDED-4241-A659-CDCD1F4BCA28}" srcOrd="1" destOrd="0" presId="urn:microsoft.com/office/officeart/2005/8/layout/orgChart1"/>
    <dgm:cxn modelId="{22C89A0C-C646-4A34-9AB8-43A76D3507B0}" type="presParOf" srcId="{04C9FBD6-0583-4206-87F0-90ADE456A9CF}" destId="{D9AA5101-2CA3-427E-AB74-60171352A946}" srcOrd="1" destOrd="0" presId="urn:microsoft.com/office/officeart/2005/8/layout/orgChart1"/>
    <dgm:cxn modelId="{62D9F2C4-A84A-4AE8-8AA1-918E6480B014}" type="presParOf" srcId="{04C9FBD6-0583-4206-87F0-90ADE456A9CF}" destId="{8DCABD2A-A2ED-4A7D-9D86-5C097ADC3CCD}" srcOrd="2" destOrd="0" presId="urn:microsoft.com/office/officeart/2005/8/layout/orgChart1"/>
    <dgm:cxn modelId="{77FA266A-7DB1-447D-B6EF-7FE90F793BE9}" type="presParOf" srcId="{721963D2-BE38-4CF7-9D32-67C9D1F410CC}" destId="{2645CBFB-B61D-4B33-BA58-3E7550F962D8}" srcOrd="6" destOrd="0" presId="urn:microsoft.com/office/officeart/2005/8/layout/orgChart1"/>
    <dgm:cxn modelId="{5F57FC0E-B539-42B9-8109-79DC2D79904D}" type="presParOf" srcId="{721963D2-BE38-4CF7-9D32-67C9D1F410CC}" destId="{BA4F5AE0-0367-462D-89E9-F66D47128004}" srcOrd="7" destOrd="0" presId="urn:microsoft.com/office/officeart/2005/8/layout/orgChart1"/>
    <dgm:cxn modelId="{7DFB9B76-17EE-4F6E-B4AC-4711AA1131D6}" type="presParOf" srcId="{BA4F5AE0-0367-462D-89E9-F66D47128004}" destId="{17FECB77-982D-459B-8FE7-EFE2BDB0D278}" srcOrd="0" destOrd="0" presId="urn:microsoft.com/office/officeart/2005/8/layout/orgChart1"/>
    <dgm:cxn modelId="{CF27112D-D3BE-4912-A046-27D0CFA21B22}" type="presParOf" srcId="{17FECB77-982D-459B-8FE7-EFE2BDB0D278}" destId="{600D6C59-6E38-48EC-84A4-BB8995B3F06F}" srcOrd="0" destOrd="0" presId="urn:microsoft.com/office/officeart/2005/8/layout/orgChart1"/>
    <dgm:cxn modelId="{85AB60D4-9604-4FDD-9D05-206135D2E285}" type="presParOf" srcId="{17FECB77-982D-459B-8FE7-EFE2BDB0D278}" destId="{5E42C101-8732-4672-9483-7BCC24701ED5}" srcOrd="1" destOrd="0" presId="urn:microsoft.com/office/officeart/2005/8/layout/orgChart1"/>
    <dgm:cxn modelId="{7651610C-7070-4A42-8905-92B3EC5FC9C6}" type="presParOf" srcId="{BA4F5AE0-0367-462D-89E9-F66D47128004}" destId="{8B025DC7-551A-45DB-B325-1C86C7E472F1}" srcOrd="1" destOrd="0" presId="urn:microsoft.com/office/officeart/2005/8/layout/orgChart1"/>
    <dgm:cxn modelId="{B962DDE7-45E1-47D7-AF56-53C2E472969E}" type="presParOf" srcId="{BA4F5AE0-0367-462D-89E9-F66D47128004}" destId="{DE4A3517-7E80-4781-8621-6999175EFEC5}" srcOrd="2" destOrd="0" presId="urn:microsoft.com/office/officeart/2005/8/layout/orgChart1"/>
    <dgm:cxn modelId="{17D44E18-C568-4247-ABD7-51278BEC659E}" type="presParOf" srcId="{B2F85F13-C23F-4D7D-9A56-E9F9D4121708}" destId="{B5AE78DC-5C40-48AA-B89F-9BE9F65A48D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5CBFB-B61D-4B33-BA58-3E7550F962D8}">
      <dsp:nvSpPr>
        <dsp:cNvPr id="0" name=""/>
        <dsp:cNvSpPr/>
      </dsp:nvSpPr>
      <dsp:spPr>
        <a:xfrm>
          <a:off x="5377343" y="585023"/>
          <a:ext cx="4115229" cy="338414"/>
        </a:xfrm>
        <a:custGeom>
          <a:avLst/>
          <a:gdLst/>
          <a:ahLst/>
          <a:cxnLst/>
          <a:rect l="0" t="0" r="0" b="0"/>
          <a:pathLst>
            <a:path>
              <a:moveTo>
                <a:pt x="0" y="0"/>
              </a:moveTo>
              <a:lnTo>
                <a:pt x="0" y="169207"/>
              </a:lnTo>
              <a:lnTo>
                <a:pt x="4115229" y="169207"/>
              </a:lnTo>
              <a:lnTo>
                <a:pt x="4115229" y="3384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BD2D1E-C8B0-4628-AD67-129654EFE299}">
      <dsp:nvSpPr>
        <dsp:cNvPr id="0" name=""/>
        <dsp:cNvSpPr/>
      </dsp:nvSpPr>
      <dsp:spPr>
        <a:xfrm>
          <a:off x="5377343" y="585023"/>
          <a:ext cx="1868505" cy="338414"/>
        </a:xfrm>
        <a:custGeom>
          <a:avLst/>
          <a:gdLst/>
          <a:ahLst/>
          <a:cxnLst/>
          <a:rect l="0" t="0" r="0" b="0"/>
          <a:pathLst>
            <a:path>
              <a:moveTo>
                <a:pt x="0" y="0"/>
              </a:moveTo>
              <a:lnTo>
                <a:pt x="0" y="169207"/>
              </a:lnTo>
              <a:lnTo>
                <a:pt x="1868505" y="169207"/>
              </a:lnTo>
              <a:lnTo>
                <a:pt x="1868505" y="3384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255CE7-B577-4A7B-A492-7EDD45843D6C}">
      <dsp:nvSpPr>
        <dsp:cNvPr id="0" name=""/>
        <dsp:cNvSpPr/>
      </dsp:nvSpPr>
      <dsp:spPr>
        <a:xfrm>
          <a:off x="4708628" y="585023"/>
          <a:ext cx="668714" cy="338414"/>
        </a:xfrm>
        <a:custGeom>
          <a:avLst/>
          <a:gdLst/>
          <a:ahLst/>
          <a:cxnLst/>
          <a:rect l="0" t="0" r="0" b="0"/>
          <a:pathLst>
            <a:path>
              <a:moveTo>
                <a:pt x="668714" y="0"/>
              </a:moveTo>
              <a:lnTo>
                <a:pt x="668714" y="169207"/>
              </a:lnTo>
              <a:lnTo>
                <a:pt x="0" y="169207"/>
              </a:lnTo>
              <a:lnTo>
                <a:pt x="0" y="3384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A062AA-A197-482B-A4A2-B6E87A05CE68}">
      <dsp:nvSpPr>
        <dsp:cNvPr id="0" name=""/>
        <dsp:cNvSpPr/>
      </dsp:nvSpPr>
      <dsp:spPr>
        <a:xfrm>
          <a:off x="1865167" y="585023"/>
          <a:ext cx="3512175" cy="338414"/>
        </a:xfrm>
        <a:custGeom>
          <a:avLst/>
          <a:gdLst/>
          <a:ahLst/>
          <a:cxnLst/>
          <a:rect l="0" t="0" r="0" b="0"/>
          <a:pathLst>
            <a:path>
              <a:moveTo>
                <a:pt x="3512175" y="0"/>
              </a:moveTo>
              <a:lnTo>
                <a:pt x="3512175" y="169207"/>
              </a:lnTo>
              <a:lnTo>
                <a:pt x="0" y="169207"/>
              </a:lnTo>
              <a:lnTo>
                <a:pt x="0" y="3384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AE1D92-7FF2-4425-9EE7-1139456800EF}">
      <dsp:nvSpPr>
        <dsp:cNvPr id="0" name=""/>
        <dsp:cNvSpPr/>
      </dsp:nvSpPr>
      <dsp:spPr>
        <a:xfrm>
          <a:off x="4372712" y="2410"/>
          <a:ext cx="2009261" cy="5826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Deep NN</a:t>
          </a:r>
        </a:p>
      </dsp:txBody>
      <dsp:txXfrm>
        <a:off x="4372712" y="2410"/>
        <a:ext cx="2009261" cy="582612"/>
      </dsp:txXfrm>
    </dsp:sp>
    <dsp:sp modelId="{5BEA6693-2F01-4230-908A-A536F09CC1D6}">
      <dsp:nvSpPr>
        <dsp:cNvPr id="0" name=""/>
        <dsp:cNvSpPr/>
      </dsp:nvSpPr>
      <dsp:spPr>
        <a:xfrm>
          <a:off x="456365" y="923437"/>
          <a:ext cx="2817604" cy="389845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ANN:</a:t>
          </a:r>
        </a:p>
        <a:p>
          <a:pPr marL="0" lvl="0" indent="0" algn="ctr" defTabSz="711200">
            <a:lnSpc>
              <a:spcPct val="90000"/>
            </a:lnSpc>
            <a:spcBef>
              <a:spcPct val="0"/>
            </a:spcBef>
            <a:spcAft>
              <a:spcPct val="35000"/>
            </a:spcAft>
            <a:buNone/>
          </a:pPr>
          <a:r>
            <a:rPr lang="en-US" sz="1600" b="1" kern="1200" dirty="0"/>
            <a:t>Feedforward neural network</a:t>
          </a:r>
          <a:r>
            <a:rPr lang="en-US" sz="1600" kern="1200" dirty="0"/>
            <a:t> </a:t>
          </a:r>
          <a:r>
            <a:rPr lang="en-US" sz="1600" b="1" kern="1200" dirty="0"/>
            <a:t>: </a:t>
          </a:r>
          <a:r>
            <a:rPr lang="en-US" sz="1600" kern="1200" dirty="0"/>
            <a:t>The FNN is one of the most basic artificial neural networks. In this ANN, the data or the input provided travels in a single direction. It enters into the ANN through the input layer and exits through the output layer while hidden layers may or may not exist. So the feedforward neural network has a front-propagated wave only and usually does not have backpropagation.</a:t>
          </a:r>
        </a:p>
        <a:p>
          <a:pPr marL="0" lvl="0" indent="0" algn="ctr" defTabSz="711200">
            <a:lnSpc>
              <a:spcPct val="90000"/>
            </a:lnSpc>
            <a:spcBef>
              <a:spcPct val="0"/>
            </a:spcBef>
            <a:spcAft>
              <a:spcPct val="35000"/>
            </a:spcAft>
            <a:buNone/>
          </a:pPr>
          <a:r>
            <a:rPr lang="en-US" sz="1600" kern="1200" dirty="0"/>
            <a:t>Used in tabular data: age, experience, salary</a:t>
          </a:r>
        </a:p>
      </dsp:txBody>
      <dsp:txXfrm>
        <a:off x="456365" y="923437"/>
        <a:ext cx="2817604" cy="3898459"/>
      </dsp:txXfrm>
    </dsp:sp>
    <dsp:sp modelId="{2D308BF5-7070-4EC5-B15A-81945C8E9FCE}">
      <dsp:nvSpPr>
        <dsp:cNvPr id="0" name=""/>
        <dsp:cNvSpPr/>
      </dsp:nvSpPr>
      <dsp:spPr>
        <a:xfrm>
          <a:off x="3612383" y="923437"/>
          <a:ext cx="2192488" cy="49141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CNN</a:t>
          </a:r>
        </a:p>
        <a:p>
          <a:pPr marL="0" lvl="0" indent="0" algn="ctr" defTabSz="711200">
            <a:lnSpc>
              <a:spcPct val="90000"/>
            </a:lnSpc>
            <a:spcBef>
              <a:spcPct val="0"/>
            </a:spcBef>
            <a:spcAft>
              <a:spcPct val="35000"/>
            </a:spcAft>
            <a:buNone/>
          </a:pPr>
          <a:r>
            <a:rPr lang="en-US" sz="1600" kern="1200" dirty="0"/>
            <a:t>A CNN has some similarities to the feed-forward neural network, where the connections between units have weights that determine the influence of one unit on another unit. But a CNN has one or more than one convolutional layer that uses a convolution operation on the input and then passes the result obtained in the form of output to the next layer. CNN has applications in </a:t>
          </a:r>
          <a:r>
            <a:rPr lang="en-US" sz="1600" b="1" kern="1200" dirty="0"/>
            <a:t>speech and image processing</a:t>
          </a:r>
          <a:r>
            <a:rPr lang="en-US" sz="1600" kern="1200" dirty="0"/>
            <a:t> which is particularly useful in computer vision.</a:t>
          </a:r>
        </a:p>
      </dsp:txBody>
      <dsp:txXfrm>
        <a:off x="3612383" y="923437"/>
        <a:ext cx="2192488" cy="4914112"/>
      </dsp:txXfrm>
    </dsp:sp>
    <dsp:sp modelId="{C7BD423C-0CDA-46B7-9D39-4222F735E408}">
      <dsp:nvSpPr>
        <dsp:cNvPr id="0" name=""/>
        <dsp:cNvSpPr/>
      </dsp:nvSpPr>
      <dsp:spPr>
        <a:xfrm>
          <a:off x="6143287" y="923437"/>
          <a:ext cx="2205123" cy="42880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RNN</a:t>
          </a:r>
        </a:p>
        <a:p>
          <a:pPr marL="0" lvl="0" indent="0" algn="ctr" defTabSz="711200">
            <a:lnSpc>
              <a:spcPct val="90000"/>
            </a:lnSpc>
            <a:spcBef>
              <a:spcPct val="0"/>
            </a:spcBef>
            <a:spcAft>
              <a:spcPct val="35000"/>
            </a:spcAft>
            <a:buNone/>
          </a:pPr>
          <a:r>
            <a:rPr lang="en-US" sz="1600" kern="1200" dirty="0"/>
            <a:t>The RNN saves the output of a layer and feeds this output back to the input to better predict the outcome of the layer. The first layer in the RNN is quite similar to the feed-forward neural network and the recurrent neural network starts once the output of the first layer computed.</a:t>
          </a:r>
        </a:p>
        <a:p>
          <a:pPr marL="0" lvl="0" indent="0" algn="ctr" defTabSz="711200">
            <a:lnSpc>
              <a:spcPct val="90000"/>
            </a:lnSpc>
            <a:spcBef>
              <a:spcPct val="0"/>
            </a:spcBef>
            <a:spcAft>
              <a:spcPct val="35000"/>
            </a:spcAft>
            <a:buNone/>
          </a:pPr>
          <a:r>
            <a:rPr lang="en-US" sz="1600" kern="1200" dirty="0"/>
            <a:t>Used in NLP and Time series forecasting</a:t>
          </a:r>
        </a:p>
      </dsp:txBody>
      <dsp:txXfrm>
        <a:off x="6143287" y="923437"/>
        <a:ext cx="2205123" cy="4288086"/>
      </dsp:txXfrm>
    </dsp:sp>
    <dsp:sp modelId="{600D6C59-6E38-48EC-84A4-BB8995B3F06F}">
      <dsp:nvSpPr>
        <dsp:cNvPr id="0" name=""/>
        <dsp:cNvSpPr/>
      </dsp:nvSpPr>
      <dsp:spPr>
        <a:xfrm>
          <a:off x="8686824" y="923437"/>
          <a:ext cx="1611496" cy="32977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Others:</a:t>
          </a:r>
        </a:p>
        <a:p>
          <a:pPr marL="0" lvl="0" indent="0" algn="ctr" defTabSz="711200">
            <a:lnSpc>
              <a:spcPct val="90000"/>
            </a:lnSpc>
            <a:spcBef>
              <a:spcPct val="0"/>
            </a:spcBef>
            <a:spcAft>
              <a:spcPct val="35000"/>
            </a:spcAft>
            <a:buNone/>
          </a:pPr>
          <a:r>
            <a:rPr lang="en-US" sz="1600" b="1" kern="1200" dirty="0"/>
            <a:t>Radial basis function Neural Network,</a:t>
          </a:r>
        </a:p>
        <a:p>
          <a:pPr marL="0" lvl="0" indent="0" algn="ctr" defTabSz="711200">
            <a:lnSpc>
              <a:spcPct val="90000"/>
            </a:lnSpc>
            <a:spcBef>
              <a:spcPct val="0"/>
            </a:spcBef>
            <a:spcAft>
              <a:spcPct val="35000"/>
            </a:spcAft>
            <a:buNone/>
          </a:pPr>
          <a:r>
            <a:rPr lang="en-US" sz="1600" b="1" kern="1200" dirty="0"/>
            <a:t>Modular Neural Network</a:t>
          </a:r>
          <a:endParaRPr lang="en-US" sz="1600" kern="1200" dirty="0"/>
        </a:p>
      </dsp:txBody>
      <dsp:txXfrm>
        <a:off x="8686824" y="923437"/>
        <a:ext cx="1611496" cy="329775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4D469F-8885-2648-4655-1B690C4453A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93B0AEF-3211-6C2E-82B9-AD6CC95D56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20AD04-ED9A-4DB3-BEE1-2842DB54662D}" type="datetimeFigureOut">
              <a:rPr lang="en-IN" smtClean="0"/>
              <a:t>09-03-2026</a:t>
            </a:fld>
            <a:endParaRPr lang="en-IN"/>
          </a:p>
        </p:txBody>
      </p:sp>
      <p:sp>
        <p:nvSpPr>
          <p:cNvPr id="4" name="Footer Placeholder 3">
            <a:extLst>
              <a:ext uri="{FF2B5EF4-FFF2-40B4-BE49-F238E27FC236}">
                <a16:creationId xmlns:a16="http://schemas.microsoft.com/office/drawing/2014/main" id="{14DE2732-200B-02F7-796E-D318F87C4C8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E855BEA-4CF8-BB9A-0947-5154A45289C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B1D2A3-BB4A-49CB-BE02-7AC9901976FC}" type="slidenum">
              <a:rPr lang="en-IN" smtClean="0"/>
              <a:t>‹#›</a:t>
            </a:fld>
            <a:endParaRPr lang="en-IN"/>
          </a:p>
        </p:txBody>
      </p:sp>
    </p:spTree>
    <p:extLst>
      <p:ext uri="{BB962C8B-B14F-4D97-AF65-F5344CB8AC3E}">
        <p14:creationId xmlns:p14="http://schemas.microsoft.com/office/powerpoint/2010/main" val="34587216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D8FAA-0C7F-4059-9752-7D3541FADD78}" type="datetimeFigureOut">
              <a:rPr lang="en-IN" smtClean="0"/>
              <a:t>09-03-2026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F0B288-334B-4FF1-BBEF-FAFBF19C1C8A}" type="slidenum">
              <a:rPr lang="en-IN" smtClean="0"/>
              <a:t>‹#›</a:t>
            </a:fld>
            <a:endParaRPr lang="en-IN"/>
          </a:p>
        </p:txBody>
      </p:sp>
    </p:spTree>
    <p:extLst>
      <p:ext uri="{BB962C8B-B14F-4D97-AF65-F5344CB8AC3E}">
        <p14:creationId xmlns:p14="http://schemas.microsoft.com/office/powerpoint/2010/main" val="346751645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5D87C0F-C8CC-44C3-9B7E-48E54CC51E36}" type="datetime1">
              <a:rPr lang="en-US" smtClean="0"/>
              <a:t>3/9/2026</a:t>
            </a:fld>
            <a:endParaRPr lang="en-US"/>
          </a:p>
        </p:txBody>
      </p:sp>
      <p:sp>
        <p:nvSpPr>
          <p:cNvPr id="5" name="Footer Placeholder 4"/>
          <p:cNvSpPr>
            <a:spLocks noGrp="1"/>
          </p:cNvSpPr>
          <p:nvPr>
            <p:ph type="ftr" sz="quarter" idx="11"/>
          </p:nvPr>
        </p:nvSpPr>
        <p:spPr/>
        <p:txBody>
          <a:bodyPr/>
          <a:lstStyle/>
          <a:p>
            <a:r>
              <a:rPr lang="en-US"/>
              <a:t>shamlodhiya</a:t>
            </a:r>
          </a:p>
        </p:txBody>
      </p:sp>
      <p:sp>
        <p:nvSpPr>
          <p:cNvPr id="6" name="Slide Number Placeholder 5"/>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105836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508CD5-6F00-45E6-8896-0B6D859B2BFC}" type="datetime1">
              <a:rPr lang="en-US" smtClean="0"/>
              <a:t>3/9/2026</a:t>
            </a:fld>
            <a:endParaRPr lang="en-US"/>
          </a:p>
        </p:txBody>
      </p:sp>
      <p:sp>
        <p:nvSpPr>
          <p:cNvPr id="5" name="Footer Placeholder 4"/>
          <p:cNvSpPr>
            <a:spLocks noGrp="1"/>
          </p:cNvSpPr>
          <p:nvPr>
            <p:ph type="ftr" sz="quarter" idx="11"/>
          </p:nvPr>
        </p:nvSpPr>
        <p:spPr/>
        <p:txBody>
          <a:bodyPr/>
          <a:lstStyle/>
          <a:p>
            <a:r>
              <a:rPr lang="en-US"/>
              <a:t>shamlodhiya</a:t>
            </a:r>
          </a:p>
        </p:txBody>
      </p:sp>
      <p:sp>
        <p:nvSpPr>
          <p:cNvPr id="6" name="Slide Number Placeholder 5"/>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077600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88DC002-EA39-42CF-85DB-7123C8AF8A82}" type="datetime1">
              <a:rPr lang="en-US" smtClean="0"/>
              <a:t>3/9/2026</a:t>
            </a:fld>
            <a:endParaRPr lang="en-US"/>
          </a:p>
        </p:txBody>
      </p:sp>
      <p:sp>
        <p:nvSpPr>
          <p:cNvPr id="5" name="Footer Placeholder 4"/>
          <p:cNvSpPr>
            <a:spLocks noGrp="1"/>
          </p:cNvSpPr>
          <p:nvPr>
            <p:ph type="ftr" sz="quarter" idx="11"/>
          </p:nvPr>
        </p:nvSpPr>
        <p:spPr/>
        <p:txBody>
          <a:bodyPr/>
          <a:lstStyle/>
          <a:p>
            <a:r>
              <a:rPr lang="en-US"/>
              <a:t>shamlodhiya</a:t>
            </a:r>
          </a:p>
        </p:txBody>
      </p:sp>
      <p:sp>
        <p:nvSpPr>
          <p:cNvPr id="6" name="Slide Number Placeholder 5"/>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4003371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DDE8BF-81D8-4C67-8C29-1A384B7C5685}" type="datetime1">
              <a:rPr lang="en-US" smtClean="0"/>
              <a:t>3/9/2026</a:t>
            </a:fld>
            <a:endParaRPr lang="en-US"/>
          </a:p>
        </p:txBody>
      </p:sp>
      <p:sp>
        <p:nvSpPr>
          <p:cNvPr id="6" name="Footer Placeholder 5"/>
          <p:cNvSpPr>
            <a:spLocks noGrp="1"/>
          </p:cNvSpPr>
          <p:nvPr>
            <p:ph type="ftr" sz="quarter" idx="11"/>
          </p:nvPr>
        </p:nvSpPr>
        <p:spPr/>
        <p:txBody>
          <a:bodyPr/>
          <a:lstStyle/>
          <a:p>
            <a:r>
              <a:rPr lang="en-US"/>
              <a:t>shamlodhiya</a:t>
            </a:r>
          </a:p>
        </p:txBody>
      </p:sp>
      <p:sp>
        <p:nvSpPr>
          <p:cNvPr id="7" name="Slide Number Placeholder 6"/>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4265307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7660B5-33FC-4E43-9863-74E502CA262E}" type="datetime1">
              <a:rPr lang="en-US" smtClean="0"/>
              <a:t>3/9/2026</a:t>
            </a:fld>
            <a:endParaRPr lang="en-US"/>
          </a:p>
        </p:txBody>
      </p:sp>
      <p:sp>
        <p:nvSpPr>
          <p:cNvPr id="8" name="Footer Placeholder 7"/>
          <p:cNvSpPr>
            <a:spLocks noGrp="1"/>
          </p:cNvSpPr>
          <p:nvPr>
            <p:ph type="ftr" sz="quarter" idx="11"/>
          </p:nvPr>
        </p:nvSpPr>
        <p:spPr/>
        <p:txBody>
          <a:bodyPr/>
          <a:lstStyle/>
          <a:p>
            <a:r>
              <a:rPr lang="en-US"/>
              <a:t>shamlodhiya</a:t>
            </a:r>
          </a:p>
        </p:txBody>
      </p:sp>
      <p:sp>
        <p:nvSpPr>
          <p:cNvPr id="9" name="Slide Number Placeholder 8"/>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839029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B6E5349-FA0E-446F-A331-7FB69E29472E}" type="datetime1">
              <a:rPr lang="en-US" smtClean="0"/>
              <a:t>3/9/2026</a:t>
            </a:fld>
            <a:endParaRPr lang="en-US"/>
          </a:p>
        </p:txBody>
      </p:sp>
      <p:sp>
        <p:nvSpPr>
          <p:cNvPr id="4" name="Footer Placeholder 3"/>
          <p:cNvSpPr>
            <a:spLocks noGrp="1"/>
          </p:cNvSpPr>
          <p:nvPr>
            <p:ph type="ftr" sz="quarter" idx="11"/>
          </p:nvPr>
        </p:nvSpPr>
        <p:spPr/>
        <p:txBody>
          <a:bodyPr/>
          <a:lstStyle/>
          <a:p>
            <a:r>
              <a:rPr lang="en-US"/>
              <a:t>shamlodhiya</a:t>
            </a:r>
          </a:p>
        </p:txBody>
      </p:sp>
      <p:sp>
        <p:nvSpPr>
          <p:cNvPr id="5" name="Slide Number Placeholder 4"/>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089554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94893E-B02D-46A9-9660-CA2B1B95CFB1}" type="datetime1">
              <a:rPr lang="en-US" smtClean="0"/>
              <a:t>3/9/2026</a:t>
            </a:fld>
            <a:endParaRPr lang="en-US"/>
          </a:p>
        </p:txBody>
      </p:sp>
      <p:sp>
        <p:nvSpPr>
          <p:cNvPr id="3" name="Footer Placeholder 2"/>
          <p:cNvSpPr>
            <a:spLocks noGrp="1"/>
          </p:cNvSpPr>
          <p:nvPr>
            <p:ph type="ftr" sz="quarter" idx="11"/>
          </p:nvPr>
        </p:nvSpPr>
        <p:spPr/>
        <p:txBody>
          <a:bodyPr/>
          <a:lstStyle/>
          <a:p>
            <a:r>
              <a:rPr lang="en-US"/>
              <a:t>shamlodhiya</a:t>
            </a:r>
          </a:p>
        </p:txBody>
      </p:sp>
      <p:sp>
        <p:nvSpPr>
          <p:cNvPr id="4" name="Slide Number Placeholder 3"/>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4134495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D00E26-380A-419D-8D2E-8C169E1A98DC}" type="datetime1">
              <a:rPr lang="en-US" smtClean="0"/>
              <a:t>3/9/2026</a:t>
            </a:fld>
            <a:endParaRPr lang="en-US"/>
          </a:p>
        </p:txBody>
      </p:sp>
      <p:sp>
        <p:nvSpPr>
          <p:cNvPr id="6" name="Footer Placeholder 5"/>
          <p:cNvSpPr>
            <a:spLocks noGrp="1"/>
          </p:cNvSpPr>
          <p:nvPr>
            <p:ph type="ftr" sz="quarter" idx="11"/>
          </p:nvPr>
        </p:nvSpPr>
        <p:spPr/>
        <p:txBody>
          <a:bodyPr/>
          <a:lstStyle/>
          <a:p>
            <a:r>
              <a:rPr lang="en-US"/>
              <a:t>shamlodhiya</a:t>
            </a:r>
          </a:p>
        </p:txBody>
      </p:sp>
      <p:sp>
        <p:nvSpPr>
          <p:cNvPr id="7" name="Slide Number Placeholder 6"/>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535332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C8348E-A374-4CAB-93D5-FED7F8199ACF}" type="datetime1">
              <a:rPr lang="en-US" smtClean="0"/>
              <a:t>3/9/2026</a:t>
            </a:fld>
            <a:endParaRPr lang="en-US"/>
          </a:p>
        </p:txBody>
      </p:sp>
      <p:sp>
        <p:nvSpPr>
          <p:cNvPr id="6" name="Footer Placeholder 5"/>
          <p:cNvSpPr>
            <a:spLocks noGrp="1"/>
          </p:cNvSpPr>
          <p:nvPr>
            <p:ph type="ftr" sz="quarter" idx="11"/>
          </p:nvPr>
        </p:nvSpPr>
        <p:spPr/>
        <p:txBody>
          <a:bodyPr/>
          <a:lstStyle/>
          <a:p>
            <a:r>
              <a:rPr lang="en-US"/>
              <a:t>shamlodhiya</a:t>
            </a:r>
          </a:p>
        </p:txBody>
      </p:sp>
      <p:sp>
        <p:nvSpPr>
          <p:cNvPr id="7" name="Slide Number Placeholder 6"/>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1415677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6B6841-48A8-47F3-B11A-1EE0287421CE}" type="datetime1">
              <a:rPr lang="en-US" smtClean="0"/>
              <a:t>3/9/2026</a:t>
            </a:fld>
            <a:endParaRPr lang="en-US"/>
          </a:p>
        </p:txBody>
      </p:sp>
      <p:sp>
        <p:nvSpPr>
          <p:cNvPr id="5" name="Footer Placeholder 4"/>
          <p:cNvSpPr>
            <a:spLocks noGrp="1"/>
          </p:cNvSpPr>
          <p:nvPr>
            <p:ph type="ftr" sz="quarter" idx="11"/>
          </p:nvPr>
        </p:nvSpPr>
        <p:spPr/>
        <p:txBody>
          <a:bodyPr/>
          <a:lstStyle/>
          <a:p>
            <a:r>
              <a:rPr lang="en-US"/>
              <a:t>shamlodhiya</a:t>
            </a:r>
          </a:p>
        </p:txBody>
      </p:sp>
      <p:sp>
        <p:nvSpPr>
          <p:cNvPr id="6" name="Slide Number Placeholder 5"/>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1551401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9E802B-A7CA-4D84-BF47-E7265353E704}" type="datetime1">
              <a:rPr lang="en-US" smtClean="0"/>
              <a:t>3/9/2026</a:t>
            </a:fld>
            <a:endParaRPr lang="en-US"/>
          </a:p>
        </p:txBody>
      </p:sp>
      <p:sp>
        <p:nvSpPr>
          <p:cNvPr id="5" name="Footer Placeholder 4"/>
          <p:cNvSpPr>
            <a:spLocks noGrp="1"/>
          </p:cNvSpPr>
          <p:nvPr>
            <p:ph type="ftr" sz="quarter" idx="11"/>
          </p:nvPr>
        </p:nvSpPr>
        <p:spPr/>
        <p:txBody>
          <a:bodyPr/>
          <a:lstStyle/>
          <a:p>
            <a:r>
              <a:rPr lang="en-US"/>
              <a:t>shamlodhiya</a:t>
            </a:r>
          </a:p>
        </p:txBody>
      </p:sp>
      <p:sp>
        <p:nvSpPr>
          <p:cNvPr id="6" name="Slide Number Placeholder 5"/>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772191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2DA808-56E5-4573-B5FD-39689AD1D91B}" type="datetime1">
              <a:rPr lang="en-US" smtClean="0"/>
              <a:t>3/9/2026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shamlodhiya</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30D265-8AE4-4D83-9D5E-333CB7475336}" type="slidenum">
              <a:rPr lang="en-US" smtClean="0"/>
              <a:t>‹#›</a:t>
            </a:fld>
            <a:endParaRPr lang="en-US"/>
          </a:p>
        </p:txBody>
      </p:sp>
    </p:spTree>
    <p:extLst>
      <p:ext uri="{BB962C8B-B14F-4D97-AF65-F5344CB8AC3E}">
        <p14:creationId xmlns:p14="http://schemas.microsoft.com/office/powerpoint/2010/main" val="4179076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(On Dev) Deep Learning-ANN</a:t>
            </a:r>
            <a:endParaRPr lang="en-US" dirty="0"/>
          </a:p>
        </p:txBody>
      </p:sp>
      <p:sp>
        <p:nvSpPr>
          <p:cNvPr id="3" name="Subtitle 2"/>
          <p:cNvSpPr>
            <a:spLocks noGrp="1"/>
          </p:cNvSpPr>
          <p:nvPr>
            <p:ph type="subTitle" idx="1"/>
          </p:nvPr>
        </p:nvSpPr>
        <p:spPr/>
        <p:txBody>
          <a:bodyPr/>
          <a:lstStyle/>
          <a:p>
            <a:r>
              <a:rPr lang="en-US" dirty="0"/>
              <a:t>Artificial Neural Network</a:t>
            </a:r>
          </a:p>
        </p:txBody>
      </p:sp>
      <p:sp>
        <p:nvSpPr>
          <p:cNvPr id="4" name="Slide Number Placeholder 3">
            <a:extLst>
              <a:ext uri="{FF2B5EF4-FFF2-40B4-BE49-F238E27FC236}">
                <a16:creationId xmlns:a16="http://schemas.microsoft.com/office/drawing/2014/main" id="{DCAEBF79-F931-3720-7C8A-D5D3A69025B6}"/>
              </a:ext>
            </a:extLst>
          </p:cNvPr>
          <p:cNvSpPr>
            <a:spLocks noGrp="1"/>
          </p:cNvSpPr>
          <p:nvPr>
            <p:ph type="sldNum" sz="quarter" idx="12"/>
          </p:nvPr>
        </p:nvSpPr>
        <p:spPr/>
        <p:txBody>
          <a:bodyPr/>
          <a:lstStyle/>
          <a:p>
            <a:fld id="{2E30D265-8AE4-4D83-9D5E-333CB7475336}" type="slidenum">
              <a:rPr lang="en-US" smtClean="0"/>
              <a:t>1</a:t>
            </a:fld>
            <a:endParaRPr lang="en-US"/>
          </a:p>
        </p:txBody>
      </p:sp>
    </p:spTree>
    <p:extLst>
      <p:ext uri="{BB962C8B-B14F-4D97-AF65-F5344CB8AC3E}">
        <p14:creationId xmlns:p14="http://schemas.microsoft.com/office/powerpoint/2010/main" val="526700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3446"/>
          </a:xfrm>
        </p:spPr>
        <p:txBody>
          <a:bodyPr/>
          <a:lstStyle/>
          <a:p>
            <a:r>
              <a:rPr lang="en-US" dirty="0"/>
              <a:t> Neural Networks:</a:t>
            </a:r>
          </a:p>
        </p:txBody>
      </p:sp>
      <p:sp>
        <p:nvSpPr>
          <p:cNvPr id="3" name="Content Placeholder 2"/>
          <p:cNvSpPr>
            <a:spLocks noGrp="1"/>
          </p:cNvSpPr>
          <p:nvPr>
            <p:ph idx="1"/>
          </p:nvPr>
        </p:nvSpPr>
        <p:spPr>
          <a:xfrm>
            <a:off x="348343" y="1259568"/>
            <a:ext cx="11538857" cy="2844346"/>
          </a:xfrm>
        </p:spPr>
        <p:txBody>
          <a:bodyPr/>
          <a:lstStyle/>
          <a:p>
            <a:r>
              <a:rPr lang="en-US" dirty="0"/>
              <a:t>Mathematical model of neuron devised by McCulloch and Pitts (1943)</a:t>
            </a:r>
          </a:p>
          <a:p>
            <a:pPr fontAlgn="base"/>
            <a:r>
              <a:rPr lang="en-US" dirty="0"/>
              <a:t>The neural network has </a:t>
            </a:r>
            <a:r>
              <a:rPr lang="en-US" dirty="0" err="1"/>
              <a:t>wts</a:t>
            </a:r>
            <a:r>
              <a:rPr lang="en-US" dirty="0"/>
              <a:t> and bias. The free parameters (bias + weights) of the neural network are changed as a result of training. THE WHOLE GAME OF NN IS FINDING WEIGHTS AND BIAS.</a:t>
            </a:r>
          </a:p>
          <a:p>
            <a:pPr fontAlgn="base"/>
            <a:r>
              <a:rPr lang="en-US" dirty="0"/>
              <a:t>Updating wt. and bias is computationally expensive. Emergence of GPU(Graphical Processing Unit), TPU(Tensor Processing unit) has helped.</a:t>
            </a:r>
          </a:p>
          <a:p>
            <a:endParaRPr lang="en-US" dirty="0"/>
          </a:p>
        </p:txBody>
      </p:sp>
      <p:sp>
        <p:nvSpPr>
          <p:cNvPr id="4" name="Slide Number Placeholder 3">
            <a:extLst>
              <a:ext uri="{FF2B5EF4-FFF2-40B4-BE49-F238E27FC236}">
                <a16:creationId xmlns:a16="http://schemas.microsoft.com/office/drawing/2014/main" id="{351C08F2-2E3B-DD80-7C6E-8C2F041D8D7F}"/>
              </a:ext>
            </a:extLst>
          </p:cNvPr>
          <p:cNvSpPr>
            <a:spLocks noGrp="1"/>
          </p:cNvSpPr>
          <p:nvPr>
            <p:ph type="sldNum" sz="quarter" idx="12"/>
          </p:nvPr>
        </p:nvSpPr>
        <p:spPr/>
        <p:txBody>
          <a:bodyPr/>
          <a:lstStyle/>
          <a:p>
            <a:fld id="{2E30D265-8AE4-4D83-9D5E-333CB7475336}" type="slidenum">
              <a:rPr lang="en-US" smtClean="0"/>
              <a:t>2</a:t>
            </a:fld>
            <a:endParaRPr lang="en-US"/>
          </a:p>
        </p:txBody>
      </p:sp>
    </p:spTree>
    <p:extLst>
      <p:ext uri="{BB962C8B-B14F-4D97-AF65-F5344CB8AC3E}">
        <p14:creationId xmlns:p14="http://schemas.microsoft.com/office/powerpoint/2010/main" val="3131199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12" y="85202"/>
            <a:ext cx="5822302" cy="560766"/>
          </a:xfrm>
        </p:spPr>
        <p:txBody>
          <a:bodyPr>
            <a:normAutofit fontScale="90000"/>
          </a:bodyPr>
          <a:lstStyle/>
          <a:p>
            <a:r>
              <a:rPr lang="en-US" dirty="0"/>
              <a:t>Quick Overview of DNN</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16200000">
            <a:off x="823487" y="-4600"/>
            <a:ext cx="4574096" cy="6098796"/>
          </a:xfrm>
        </p:spPr>
      </p:pic>
      <p:sp>
        <p:nvSpPr>
          <p:cNvPr id="5" name="TextBox 4"/>
          <p:cNvSpPr txBox="1"/>
          <p:nvPr/>
        </p:nvSpPr>
        <p:spPr>
          <a:xfrm>
            <a:off x="10898558" y="6484690"/>
            <a:ext cx="900696" cy="369332"/>
          </a:xfrm>
          <a:prstGeom prst="rect">
            <a:avLst/>
          </a:prstGeom>
          <a:noFill/>
        </p:spPr>
        <p:txBody>
          <a:bodyPr wrap="none" rtlCol="0">
            <a:spAutoFit/>
          </a:bodyPr>
          <a:lstStyle/>
          <a:p>
            <a:r>
              <a:rPr lang="en-US" dirty="0" err="1"/>
              <a:t>Cont</a:t>
            </a:r>
            <a:r>
              <a:rPr lang="en-US" dirty="0"/>
              <a:t>…..</a:t>
            </a:r>
          </a:p>
        </p:txBody>
      </p:sp>
      <p:sp>
        <p:nvSpPr>
          <p:cNvPr id="6" name="TextBox 5"/>
          <p:cNvSpPr txBox="1"/>
          <p:nvPr/>
        </p:nvSpPr>
        <p:spPr>
          <a:xfrm>
            <a:off x="6279502" y="1359017"/>
            <a:ext cx="5822302" cy="3693319"/>
          </a:xfrm>
          <a:prstGeom prst="rect">
            <a:avLst/>
          </a:prstGeom>
          <a:noFill/>
        </p:spPr>
        <p:txBody>
          <a:bodyPr wrap="square" rtlCol="0">
            <a:spAutoFit/>
          </a:bodyPr>
          <a:lstStyle/>
          <a:p>
            <a:r>
              <a:rPr lang="en-US" b="1" dirty="0"/>
              <a:t>NOTES:</a:t>
            </a:r>
          </a:p>
          <a:p>
            <a:r>
              <a:rPr lang="en-US" dirty="0"/>
              <a:t>1) The number of input neuron in input layer = number of input features</a:t>
            </a:r>
          </a:p>
          <a:p>
            <a:endParaRPr lang="en-US" dirty="0"/>
          </a:p>
          <a:p>
            <a:r>
              <a:rPr lang="en-US" dirty="0"/>
              <a:t>2) In </a:t>
            </a:r>
            <a:r>
              <a:rPr lang="en-US" b="1" dirty="0"/>
              <a:t>regression</a:t>
            </a:r>
            <a:r>
              <a:rPr lang="en-US" dirty="0"/>
              <a:t> problem, output layer has 1 neuron.</a:t>
            </a:r>
          </a:p>
          <a:p>
            <a:r>
              <a:rPr lang="en-US" dirty="0"/>
              <a:t>In </a:t>
            </a:r>
            <a:r>
              <a:rPr lang="en-US" b="1" dirty="0"/>
              <a:t>binary classification</a:t>
            </a:r>
            <a:r>
              <a:rPr lang="en-US" dirty="0"/>
              <a:t>, output layer has 1 neuron.</a:t>
            </a:r>
          </a:p>
          <a:p>
            <a:r>
              <a:rPr lang="en-US" dirty="0"/>
              <a:t>In </a:t>
            </a:r>
            <a:r>
              <a:rPr lang="en-US" b="1" dirty="0"/>
              <a:t>multi-classification</a:t>
            </a:r>
            <a:r>
              <a:rPr lang="en-US" dirty="0"/>
              <a:t>, output layer has </a:t>
            </a:r>
            <a:r>
              <a:rPr lang="en-US" dirty="0" err="1"/>
              <a:t>num_of_classes</a:t>
            </a:r>
            <a:r>
              <a:rPr lang="en-US" dirty="0"/>
              <a:t> neurons.(see next slide on how to handle this case)</a:t>
            </a:r>
          </a:p>
          <a:p>
            <a:endParaRPr lang="en-US" dirty="0"/>
          </a:p>
          <a:p>
            <a:endParaRPr lang="en-US" dirty="0"/>
          </a:p>
          <a:p>
            <a:r>
              <a:rPr lang="en-US" dirty="0"/>
              <a:t>3) The number of hidden layer is determined by hyper parameter tuning:</a:t>
            </a:r>
          </a:p>
          <a:p>
            <a:r>
              <a:rPr lang="en-US" dirty="0" err="1"/>
              <a:t>kerasTuner</a:t>
            </a:r>
            <a:endParaRPr lang="en-US" dirty="0"/>
          </a:p>
        </p:txBody>
      </p:sp>
      <p:sp>
        <p:nvSpPr>
          <p:cNvPr id="3" name="TextBox 2">
            <a:extLst>
              <a:ext uri="{FF2B5EF4-FFF2-40B4-BE49-F238E27FC236}">
                <a16:creationId xmlns:a16="http://schemas.microsoft.com/office/drawing/2014/main" id="{DBA8C4AF-932C-C495-DD51-0FE8434AC03D}"/>
              </a:ext>
            </a:extLst>
          </p:cNvPr>
          <p:cNvSpPr txBox="1"/>
          <p:nvPr/>
        </p:nvSpPr>
        <p:spPr>
          <a:xfrm>
            <a:off x="52500" y="5601393"/>
            <a:ext cx="9856353" cy="646331"/>
          </a:xfrm>
          <a:prstGeom prst="rect">
            <a:avLst/>
          </a:prstGeom>
          <a:noFill/>
        </p:spPr>
        <p:txBody>
          <a:bodyPr wrap="none" rtlCol="0">
            <a:spAutoFit/>
          </a:bodyPr>
          <a:lstStyle/>
          <a:p>
            <a:r>
              <a:rPr lang="en-US" dirty="0"/>
              <a:t>Input layer takes in 3 features: ( Age, Exp, Skillset)</a:t>
            </a:r>
          </a:p>
          <a:p>
            <a:r>
              <a:rPr lang="en-US" dirty="0"/>
              <a:t>Output layer generates: </a:t>
            </a:r>
            <a:r>
              <a:rPr lang="en-US" b="1" dirty="0"/>
              <a:t>Income for regression</a:t>
            </a:r>
            <a:r>
              <a:rPr lang="en-US" dirty="0"/>
              <a:t> or </a:t>
            </a:r>
            <a:r>
              <a:rPr lang="en-US" b="1" dirty="0"/>
              <a:t>Income category(High/Low) for binary classification</a:t>
            </a:r>
            <a:r>
              <a:rPr lang="en-US" dirty="0"/>
              <a:t> </a:t>
            </a:r>
          </a:p>
        </p:txBody>
      </p:sp>
      <p:sp>
        <p:nvSpPr>
          <p:cNvPr id="7" name="TextBox 6">
            <a:extLst>
              <a:ext uri="{FF2B5EF4-FFF2-40B4-BE49-F238E27FC236}">
                <a16:creationId xmlns:a16="http://schemas.microsoft.com/office/drawing/2014/main" id="{9D6AFE1C-EC6A-1285-8CB5-B89EB68E8652}"/>
              </a:ext>
            </a:extLst>
          </p:cNvPr>
          <p:cNvSpPr txBox="1"/>
          <p:nvPr/>
        </p:nvSpPr>
        <p:spPr>
          <a:xfrm>
            <a:off x="7612433" y="579190"/>
            <a:ext cx="3499420" cy="369332"/>
          </a:xfrm>
          <a:prstGeom prst="rect">
            <a:avLst/>
          </a:prstGeom>
          <a:noFill/>
        </p:spPr>
        <p:txBody>
          <a:bodyPr wrap="none" rtlCol="0">
            <a:spAutoFit/>
          </a:bodyPr>
          <a:lstStyle/>
          <a:p>
            <a:r>
              <a:rPr lang="en-US" dirty="0"/>
              <a:t>Show more examples from internet</a:t>
            </a:r>
          </a:p>
        </p:txBody>
      </p:sp>
      <p:sp>
        <p:nvSpPr>
          <p:cNvPr id="8" name="Slide Number Placeholder 7">
            <a:extLst>
              <a:ext uri="{FF2B5EF4-FFF2-40B4-BE49-F238E27FC236}">
                <a16:creationId xmlns:a16="http://schemas.microsoft.com/office/drawing/2014/main" id="{3C9F38C9-A79A-4074-822D-92BBF4FE7AE5}"/>
              </a:ext>
            </a:extLst>
          </p:cNvPr>
          <p:cNvSpPr>
            <a:spLocks noGrp="1"/>
          </p:cNvSpPr>
          <p:nvPr>
            <p:ph type="sldNum" sz="quarter" idx="12"/>
          </p:nvPr>
        </p:nvSpPr>
        <p:spPr/>
        <p:txBody>
          <a:bodyPr/>
          <a:lstStyle/>
          <a:p>
            <a:fld id="{2E30D265-8AE4-4D83-9D5E-333CB7475336}" type="slidenum">
              <a:rPr lang="en-US" smtClean="0"/>
              <a:t>3</a:t>
            </a:fld>
            <a:endParaRPr lang="en-US"/>
          </a:p>
        </p:txBody>
      </p:sp>
    </p:spTree>
    <p:extLst>
      <p:ext uri="{BB962C8B-B14F-4D97-AF65-F5344CB8AC3E}">
        <p14:creationId xmlns:p14="http://schemas.microsoft.com/office/powerpoint/2010/main" val="2440830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6BF3B91-3E8E-25B6-30E9-18B89C475ECE}"/>
              </a:ext>
            </a:extLst>
          </p:cNvPr>
          <p:cNvSpPr/>
          <p:nvPr/>
        </p:nvSpPr>
        <p:spPr>
          <a:xfrm>
            <a:off x="1129003" y="2224574"/>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5" name="Oval 4">
            <a:extLst>
              <a:ext uri="{FF2B5EF4-FFF2-40B4-BE49-F238E27FC236}">
                <a16:creationId xmlns:a16="http://schemas.microsoft.com/office/drawing/2014/main" id="{4AADA3F8-F56E-7E61-740D-51FA853FFF95}"/>
              </a:ext>
            </a:extLst>
          </p:cNvPr>
          <p:cNvSpPr/>
          <p:nvPr/>
        </p:nvSpPr>
        <p:spPr>
          <a:xfrm>
            <a:off x="1129003" y="2912706"/>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6" name="Oval 5">
            <a:extLst>
              <a:ext uri="{FF2B5EF4-FFF2-40B4-BE49-F238E27FC236}">
                <a16:creationId xmlns:a16="http://schemas.microsoft.com/office/drawing/2014/main" id="{EE1AC9CE-6154-F796-2CE8-0DF0A2489A75}"/>
              </a:ext>
            </a:extLst>
          </p:cNvPr>
          <p:cNvSpPr/>
          <p:nvPr/>
        </p:nvSpPr>
        <p:spPr>
          <a:xfrm>
            <a:off x="1129003" y="3638940"/>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7" name="Oval 6">
            <a:extLst>
              <a:ext uri="{FF2B5EF4-FFF2-40B4-BE49-F238E27FC236}">
                <a16:creationId xmlns:a16="http://schemas.microsoft.com/office/drawing/2014/main" id="{65B5A0C5-F5BE-0B8D-B6AB-A01A60292C55}"/>
              </a:ext>
            </a:extLst>
          </p:cNvPr>
          <p:cNvSpPr/>
          <p:nvPr/>
        </p:nvSpPr>
        <p:spPr>
          <a:xfrm>
            <a:off x="1129002" y="4302970"/>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8" name="TextBox 7">
            <a:extLst>
              <a:ext uri="{FF2B5EF4-FFF2-40B4-BE49-F238E27FC236}">
                <a16:creationId xmlns:a16="http://schemas.microsoft.com/office/drawing/2014/main" id="{84E52D17-1FC2-2F1E-DC38-B4CDCF11D29D}"/>
              </a:ext>
            </a:extLst>
          </p:cNvPr>
          <p:cNvSpPr txBox="1"/>
          <p:nvPr/>
        </p:nvSpPr>
        <p:spPr>
          <a:xfrm>
            <a:off x="0" y="962133"/>
            <a:ext cx="11758402" cy="646331"/>
          </a:xfrm>
          <a:prstGeom prst="rect">
            <a:avLst/>
          </a:prstGeom>
          <a:noFill/>
        </p:spPr>
        <p:txBody>
          <a:bodyPr wrap="square" rtlCol="0">
            <a:spAutoFit/>
          </a:bodyPr>
          <a:lstStyle/>
          <a:p>
            <a:r>
              <a:rPr lang="en-US" dirty="0"/>
              <a:t>Output layer of multi-class classification ( say HR/Accounting/Sales/IT) will have 4 neurons that generate the prediction for each department based on 1-hot encoding </a:t>
            </a:r>
            <a:endParaRPr lang="en-IN" dirty="0"/>
          </a:p>
        </p:txBody>
      </p:sp>
      <p:sp>
        <p:nvSpPr>
          <p:cNvPr id="9" name="TextBox 8">
            <a:extLst>
              <a:ext uri="{FF2B5EF4-FFF2-40B4-BE49-F238E27FC236}">
                <a16:creationId xmlns:a16="http://schemas.microsoft.com/office/drawing/2014/main" id="{2D5C0FB5-996C-E493-77F2-72DE9128700F}"/>
              </a:ext>
            </a:extLst>
          </p:cNvPr>
          <p:cNvSpPr txBox="1"/>
          <p:nvPr/>
        </p:nvSpPr>
        <p:spPr>
          <a:xfrm>
            <a:off x="1194316" y="1794586"/>
            <a:ext cx="453970" cy="369332"/>
          </a:xfrm>
          <a:prstGeom prst="rect">
            <a:avLst/>
          </a:prstGeom>
          <a:noFill/>
        </p:spPr>
        <p:txBody>
          <a:bodyPr wrap="none" rtlCol="0">
            <a:spAutoFit/>
          </a:bodyPr>
          <a:lstStyle/>
          <a:p>
            <a:r>
              <a:rPr lang="en-US" dirty="0"/>
              <a:t>HR</a:t>
            </a:r>
            <a:endParaRPr lang="en-IN" dirty="0"/>
          </a:p>
        </p:txBody>
      </p:sp>
      <p:sp>
        <p:nvSpPr>
          <p:cNvPr id="10" name="Oval 9">
            <a:extLst>
              <a:ext uri="{FF2B5EF4-FFF2-40B4-BE49-F238E27FC236}">
                <a16:creationId xmlns:a16="http://schemas.microsoft.com/office/drawing/2014/main" id="{C7E7BE9E-2F08-2067-CFD3-9D61C07217BF}"/>
              </a:ext>
            </a:extLst>
          </p:cNvPr>
          <p:cNvSpPr/>
          <p:nvPr/>
        </p:nvSpPr>
        <p:spPr>
          <a:xfrm>
            <a:off x="2699656" y="2246348"/>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11" name="Oval 10">
            <a:extLst>
              <a:ext uri="{FF2B5EF4-FFF2-40B4-BE49-F238E27FC236}">
                <a16:creationId xmlns:a16="http://schemas.microsoft.com/office/drawing/2014/main" id="{844534E6-B459-92BD-3FF5-73D0389FC0BE}"/>
              </a:ext>
            </a:extLst>
          </p:cNvPr>
          <p:cNvSpPr/>
          <p:nvPr/>
        </p:nvSpPr>
        <p:spPr>
          <a:xfrm>
            <a:off x="2699656" y="2934480"/>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12" name="Oval 11">
            <a:extLst>
              <a:ext uri="{FF2B5EF4-FFF2-40B4-BE49-F238E27FC236}">
                <a16:creationId xmlns:a16="http://schemas.microsoft.com/office/drawing/2014/main" id="{9164DCDE-EBEF-3F78-FBAA-793A303504DC}"/>
              </a:ext>
            </a:extLst>
          </p:cNvPr>
          <p:cNvSpPr/>
          <p:nvPr/>
        </p:nvSpPr>
        <p:spPr>
          <a:xfrm>
            <a:off x="2699656" y="3660714"/>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13" name="Oval 12">
            <a:extLst>
              <a:ext uri="{FF2B5EF4-FFF2-40B4-BE49-F238E27FC236}">
                <a16:creationId xmlns:a16="http://schemas.microsoft.com/office/drawing/2014/main" id="{D77F2C84-3474-A1B3-8405-E183EC39DC99}"/>
              </a:ext>
            </a:extLst>
          </p:cNvPr>
          <p:cNvSpPr/>
          <p:nvPr/>
        </p:nvSpPr>
        <p:spPr>
          <a:xfrm>
            <a:off x="2699655" y="4324744"/>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14" name="TextBox 13">
            <a:extLst>
              <a:ext uri="{FF2B5EF4-FFF2-40B4-BE49-F238E27FC236}">
                <a16:creationId xmlns:a16="http://schemas.microsoft.com/office/drawing/2014/main" id="{F1FB31AC-A026-CBE3-4FE5-7BE58ED3F245}"/>
              </a:ext>
            </a:extLst>
          </p:cNvPr>
          <p:cNvSpPr txBox="1"/>
          <p:nvPr/>
        </p:nvSpPr>
        <p:spPr>
          <a:xfrm>
            <a:off x="2363751" y="1816360"/>
            <a:ext cx="1235403" cy="369332"/>
          </a:xfrm>
          <a:prstGeom prst="rect">
            <a:avLst/>
          </a:prstGeom>
          <a:noFill/>
        </p:spPr>
        <p:txBody>
          <a:bodyPr wrap="none" rtlCol="0">
            <a:spAutoFit/>
          </a:bodyPr>
          <a:lstStyle/>
          <a:p>
            <a:r>
              <a:rPr lang="en-US" dirty="0"/>
              <a:t>Accounting</a:t>
            </a:r>
            <a:endParaRPr lang="en-IN" dirty="0"/>
          </a:p>
        </p:txBody>
      </p:sp>
      <p:sp>
        <p:nvSpPr>
          <p:cNvPr id="15" name="Oval 14">
            <a:extLst>
              <a:ext uri="{FF2B5EF4-FFF2-40B4-BE49-F238E27FC236}">
                <a16:creationId xmlns:a16="http://schemas.microsoft.com/office/drawing/2014/main" id="{E717CF50-E3B4-B724-A6E4-CB7F5C9791D8}"/>
              </a:ext>
            </a:extLst>
          </p:cNvPr>
          <p:cNvSpPr/>
          <p:nvPr/>
        </p:nvSpPr>
        <p:spPr>
          <a:xfrm>
            <a:off x="4379168" y="2274334"/>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16" name="Oval 15">
            <a:extLst>
              <a:ext uri="{FF2B5EF4-FFF2-40B4-BE49-F238E27FC236}">
                <a16:creationId xmlns:a16="http://schemas.microsoft.com/office/drawing/2014/main" id="{78CC9781-FF99-C1FB-10B6-736A9E8A1007}"/>
              </a:ext>
            </a:extLst>
          </p:cNvPr>
          <p:cNvSpPr/>
          <p:nvPr/>
        </p:nvSpPr>
        <p:spPr>
          <a:xfrm>
            <a:off x="4379168" y="2962466"/>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17" name="Oval 16">
            <a:extLst>
              <a:ext uri="{FF2B5EF4-FFF2-40B4-BE49-F238E27FC236}">
                <a16:creationId xmlns:a16="http://schemas.microsoft.com/office/drawing/2014/main" id="{C382D9F4-914F-AAF8-4DF3-D5A8343CB639}"/>
              </a:ext>
            </a:extLst>
          </p:cNvPr>
          <p:cNvSpPr/>
          <p:nvPr/>
        </p:nvSpPr>
        <p:spPr>
          <a:xfrm>
            <a:off x="4379168" y="3688700"/>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18" name="Oval 17">
            <a:extLst>
              <a:ext uri="{FF2B5EF4-FFF2-40B4-BE49-F238E27FC236}">
                <a16:creationId xmlns:a16="http://schemas.microsoft.com/office/drawing/2014/main" id="{80FBD0A9-DAE1-21DB-E109-C20FB0960A89}"/>
              </a:ext>
            </a:extLst>
          </p:cNvPr>
          <p:cNvSpPr/>
          <p:nvPr/>
        </p:nvSpPr>
        <p:spPr>
          <a:xfrm>
            <a:off x="4379167" y="4352730"/>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19" name="TextBox 18">
            <a:extLst>
              <a:ext uri="{FF2B5EF4-FFF2-40B4-BE49-F238E27FC236}">
                <a16:creationId xmlns:a16="http://schemas.microsoft.com/office/drawing/2014/main" id="{7B1AC992-99FD-4B60-811E-184EE4A75C1E}"/>
              </a:ext>
            </a:extLst>
          </p:cNvPr>
          <p:cNvSpPr txBox="1"/>
          <p:nvPr/>
        </p:nvSpPr>
        <p:spPr>
          <a:xfrm>
            <a:off x="4341842" y="1844346"/>
            <a:ext cx="659155" cy="369332"/>
          </a:xfrm>
          <a:prstGeom prst="rect">
            <a:avLst/>
          </a:prstGeom>
          <a:noFill/>
        </p:spPr>
        <p:txBody>
          <a:bodyPr wrap="none" rtlCol="0">
            <a:spAutoFit/>
          </a:bodyPr>
          <a:lstStyle/>
          <a:p>
            <a:r>
              <a:rPr lang="en-US" dirty="0"/>
              <a:t>Sales</a:t>
            </a:r>
            <a:endParaRPr lang="en-IN" dirty="0"/>
          </a:p>
        </p:txBody>
      </p:sp>
      <p:sp>
        <p:nvSpPr>
          <p:cNvPr id="20" name="Oval 19">
            <a:extLst>
              <a:ext uri="{FF2B5EF4-FFF2-40B4-BE49-F238E27FC236}">
                <a16:creationId xmlns:a16="http://schemas.microsoft.com/office/drawing/2014/main" id="{C68D0595-F828-CE70-D4B8-8D30AE519D1C}"/>
              </a:ext>
            </a:extLst>
          </p:cNvPr>
          <p:cNvSpPr/>
          <p:nvPr/>
        </p:nvSpPr>
        <p:spPr>
          <a:xfrm>
            <a:off x="6160343" y="2293384"/>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21" name="Oval 20">
            <a:extLst>
              <a:ext uri="{FF2B5EF4-FFF2-40B4-BE49-F238E27FC236}">
                <a16:creationId xmlns:a16="http://schemas.microsoft.com/office/drawing/2014/main" id="{2E5D9AC1-4D08-0736-8DA3-CD983F10D925}"/>
              </a:ext>
            </a:extLst>
          </p:cNvPr>
          <p:cNvSpPr/>
          <p:nvPr/>
        </p:nvSpPr>
        <p:spPr>
          <a:xfrm>
            <a:off x="6160343" y="2981516"/>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22" name="Oval 21">
            <a:extLst>
              <a:ext uri="{FF2B5EF4-FFF2-40B4-BE49-F238E27FC236}">
                <a16:creationId xmlns:a16="http://schemas.microsoft.com/office/drawing/2014/main" id="{8C29D4E4-1C6D-2A94-2F4E-6FCD321B1216}"/>
              </a:ext>
            </a:extLst>
          </p:cNvPr>
          <p:cNvSpPr/>
          <p:nvPr/>
        </p:nvSpPr>
        <p:spPr>
          <a:xfrm>
            <a:off x="6160343" y="3707750"/>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23" name="Oval 22">
            <a:extLst>
              <a:ext uri="{FF2B5EF4-FFF2-40B4-BE49-F238E27FC236}">
                <a16:creationId xmlns:a16="http://schemas.microsoft.com/office/drawing/2014/main" id="{7AD5C3CD-0CEA-D478-441C-C5D18E57F0B0}"/>
              </a:ext>
            </a:extLst>
          </p:cNvPr>
          <p:cNvSpPr/>
          <p:nvPr/>
        </p:nvSpPr>
        <p:spPr>
          <a:xfrm>
            <a:off x="6160342" y="4371780"/>
            <a:ext cx="597159" cy="550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24" name="TextBox 23">
            <a:extLst>
              <a:ext uri="{FF2B5EF4-FFF2-40B4-BE49-F238E27FC236}">
                <a16:creationId xmlns:a16="http://schemas.microsoft.com/office/drawing/2014/main" id="{AA332A1C-2729-CA0C-B374-E4A2C2138383}"/>
              </a:ext>
            </a:extLst>
          </p:cNvPr>
          <p:cNvSpPr txBox="1"/>
          <p:nvPr/>
        </p:nvSpPr>
        <p:spPr>
          <a:xfrm>
            <a:off x="6208742" y="1863396"/>
            <a:ext cx="354584" cy="369332"/>
          </a:xfrm>
          <a:prstGeom prst="rect">
            <a:avLst/>
          </a:prstGeom>
          <a:noFill/>
        </p:spPr>
        <p:txBody>
          <a:bodyPr wrap="none" rtlCol="0">
            <a:spAutoFit/>
          </a:bodyPr>
          <a:lstStyle/>
          <a:p>
            <a:r>
              <a:rPr lang="en-US" dirty="0"/>
              <a:t>IT</a:t>
            </a:r>
            <a:endParaRPr lang="en-IN" dirty="0"/>
          </a:p>
        </p:txBody>
      </p:sp>
      <p:sp>
        <p:nvSpPr>
          <p:cNvPr id="25" name="TextBox 24">
            <a:extLst>
              <a:ext uri="{FF2B5EF4-FFF2-40B4-BE49-F238E27FC236}">
                <a16:creationId xmlns:a16="http://schemas.microsoft.com/office/drawing/2014/main" id="{B3033149-7860-3CD7-004C-04AC7ED2ED26}"/>
              </a:ext>
            </a:extLst>
          </p:cNvPr>
          <p:cNvSpPr txBox="1"/>
          <p:nvPr/>
        </p:nvSpPr>
        <p:spPr>
          <a:xfrm>
            <a:off x="173408" y="207715"/>
            <a:ext cx="900696" cy="369332"/>
          </a:xfrm>
          <a:prstGeom prst="rect">
            <a:avLst/>
          </a:prstGeom>
          <a:noFill/>
        </p:spPr>
        <p:txBody>
          <a:bodyPr wrap="none" rtlCol="0">
            <a:spAutoFit/>
          </a:bodyPr>
          <a:lstStyle/>
          <a:p>
            <a:r>
              <a:rPr lang="en-US" dirty="0" err="1"/>
              <a:t>Cont</a:t>
            </a:r>
            <a:r>
              <a:rPr lang="en-US" dirty="0"/>
              <a:t>…..</a:t>
            </a:r>
          </a:p>
        </p:txBody>
      </p:sp>
      <p:sp>
        <p:nvSpPr>
          <p:cNvPr id="2" name="Slide Number Placeholder 1">
            <a:extLst>
              <a:ext uri="{FF2B5EF4-FFF2-40B4-BE49-F238E27FC236}">
                <a16:creationId xmlns:a16="http://schemas.microsoft.com/office/drawing/2014/main" id="{58DD605B-772E-A24D-3142-5B0F509F348E}"/>
              </a:ext>
            </a:extLst>
          </p:cNvPr>
          <p:cNvSpPr>
            <a:spLocks noGrp="1"/>
          </p:cNvSpPr>
          <p:nvPr>
            <p:ph type="sldNum" sz="quarter" idx="12"/>
          </p:nvPr>
        </p:nvSpPr>
        <p:spPr/>
        <p:txBody>
          <a:bodyPr/>
          <a:lstStyle/>
          <a:p>
            <a:fld id="{2E30D265-8AE4-4D83-9D5E-333CB7475336}" type="slidenum">
              <a:rPr lang="en-US" smtClean="0"/>
              <a:t>4</a:t>
            </a:fld>
            <a:endParaRPr lang="en-US"/>
          </a:p>
        </p:txBody>
      </p:sp>
    </p:spTree>
    <p:extLst>
      <p:ext uri="{BB962C8B-B14F-4D97-AF65-F5344CB8AC3E}">
        <p14:creationId xmlns:p14="http://schemas.microsoft.com/office/powerpoint/2010/main" val="3462472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14" y="114755"/>
            <a:ext cx="5192486" cy="658132"/>
          </a:xfrm>
        </p:spPr>
        <p:txBody>
          <a:bodyPr>
            <a:normAutofit fontScale="90000"/>
          </a:bodyPr>
          <a:lstStyle/>
          <a:p>
            <a:r>
              <a:rPr lang="en-US" b="1" dirty="0"/>
              <a:t>What is Deep Learning?</a:t>
            </a:r>
            <a:endParaRPr lang="en-US" dirty="0"/>
          </a:p>
        </p:txBody>
      </p:sp>
      <p:sp>
        <p:nvSpPr>
          <p:cNvPr id="3" name="Content Placeholder 2"/>
          <p:cNvSpPr>
            <a:spLocks noGrp="1"/>
          </p:cNvSpPr>
          <p:nvPr>
            <p:ph idx="1"/>
          </p:nvPr>
        </p:nvSpPr>
        <p:spPr>
          <a:xfrm>
            <a:off x="163286" y="1077685"/>
            <a:ext cx="4615543" cy="4865916"/>
          </a:xfrm>
        </p:spPr>
        <p:txBody>
          <a:bodyPr>
            <a:normAutofit/>
          </a:bodyPr>
          <a:lstStyle/>
          <a:p>
            <a:pPr marL="0" indent="0">
              <a:buNone/>
            </a:pPr>
            <a:r>
              <a:rPr lang="en-US" sz="2000" dirty="0"/>
              <a:t>Deep learning is a type of ML where it learns from examples, much like humans. Instead of defining specific features (e.g., wings and engines for identifying planes), deep learning models analyze thousands of images to recognize patterns on their own.</a:t>
            </a:r>
          </a:p>
          <a:p>
            <a:pPr marL="0" indent="0">
              <a:buNone/>
            </a:pPr>
            <a:r>
              <a:rPr lang="en-US" sz="2000" dirty="0"/>
              <a:t>At its core, deep learning uses </a:t>
            </a:r>
            <a:r>
              <a:rPr lang="en-US" sz="2000" b="1" dirty="0"/>
              <a:t>neural networks</a:t>
            </a:r>
            <a:r>
              <a:rPr lang="en-US" sz="2000" dirty="0"/>
              <a:t>, inspired by the human brain. These networks consist of multiple layers of interconnected nodes that process information. The deeper the network, the more complex patterns it can learn, enabling it to handle sophisticated tasks like image recognition, language processing, and more.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1598" y="1066800"/>
            <a:ext cx="7014322" cy="4659086"/>
          </a:xfrm>
          <a:prstGeom prst="rect">
            <a:avLst/>
          </a:prstGeom>
        </p:spPr>
      </p:pic>
      <p:sp>
        <p:nvSpPr>
          <p:cNvPr id="5" name="Slide Number Placeholder 4">
            <a:extLst>
              <a:ext uri="{FF2B5EF4-FFF2-40B4-BE49-F238E27FC236}">
                <a16:creationId xmlns:a16="http://schemas.microsoft.com/office/drawing/2014/main" id="{8604618A-5045-1483-CB8D-26AF2ECC46B8}"/>
              </a:ext>
            </a:extLst>
          </p:cNvPr>
          <p:cNvSpPr>
            <a:spLocks noGrp="1"/>
          </p:cNvSpPr>
          <p:nvPr>
            <p:ph type="sldNum" sz="quarter" idx="12"/>
          </p:nvPr>
        </p:nvSpPr>
        <p:spPr/>
        <p:txBody>
          <a:bodyPr/>
          <a:lstStyle/>
          <a:p>
            <a:fld id="{2E30D265-8AE4-4D83-9D5E-333CB7475336}" type="slidenum">
              <a:rPr lang="en-US" smtClean="0"/>
              <a:t>5</a:t>
            </a:fld>
            <a:endParaRPr lang="en-US"/>
          </a:p>
        </p:txBody>
      </p:sp>
    </p:spTree>
    <p:extLst>
      <p:ext uri="{BB962C8B-B14F-4D97-AF65-F5344CB8AC3E}">
        <p14:creationId xmlns:p14="http://schemas.microsoft.com/office/powerpoint/2010/main" val="2683923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138982"/>
            <a:ext cx="3180127" cy="470618"/>
          </a:xfrm>
        </p:spPr>
        <p:txBody>
          <a:bodyPr>
            <a:normAutofit fontScale="90000"/>
          </a:bodyPr>
          <a:lstStyle/>
          <a:p>
            <a:r>
              <a:rPr lang="en-US" dirty="0"/>
              <a:t>Types of DNN</a:t>
            </a:r>
          </a:p>
        </p:txBody>
      </p:sp>
      <p:graphicFrame>
        <p:nvGraphicFramePr>
          <p:cNvPr id="4" name="Diagram 3"/>
          <p:cNvGraphicFramePr/>
          <p:nvPr>
            <p:extLst>
              <p:ext uri="{D42A27DB-BD31-4B8C-83A1-F6EECF244321}">
                <p14:modId xmlns:p14="http://schemas.microsoft.com/office/powerpoint/2010/main" val="2971383698"/>
              </p:ext>
            </p:extLst>
          </p:nvPr>
        </p:nvGraphicFramePr>
        <p:xfrm>
          <a:off x="721453" y="879057"/>
          <a:ext cx="10754686" cy="58399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E070CFA4-75A4-8C5C-8EC0-E47E749C768E}"/>
              </a:ext>
            </a:extLst>
          </p:cNvPr>
          <p:cNvSpPr>
            <a:spLocks noGrp="1"/>
          </p:cNvSpPr>
          <p:nvPr>
            <p:ph type="sldNum" sz="quarter" idx="12"/>
          </p:nvPr>
        </p:nvSpPr>
        <p:spPr/>
        <p:txBody>
          <a:bodyPr/>
          <a:lstStyle/>
          <a:p>
            <a:fld id="{2E30D265-8AE4-4D83-9D5E-333CB7475336}" type="slidenum">
              <a:rPr lang="en-US" smtClean="0"/>
              <a:t>6</a:t>
            </a:fld>
            <a:endParaRPr lang="en-US"/>
          </a:p>
        </p:txBody>
      </p:sp>
    </p:spTree>
    <p:extLst>
      <p:ext uri="{BB962C8B-B14F-4D97-AF65-F5344CB8AC3E}">
        <p14:creationId xmlns:p14="http://schemas.microsoft.com/office/powerpoint/2010/main" val="2330932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141" y="114754"/>
            <a:ext cx="3910239" cy="614589"/>
          </a:xfrm>
        </p:spPr>
        <p:txBody>
          <a:bodyPr>
            <a:normAutofit fontScale="90000"/>
          </a:bodyPr>
          <a:lstStyle/>
          <a:p>
            <a:r>
              <a:rPr lang="en-US" dirty="0"/>
              <a:t>Perceptron(p1)</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5413" y="114754"/>
            <a:ext cx="5345418" cy="3194504"/>
          </a:xfrm>
          <a:prstGeom prst="rect">
            <a:avLst/>
          </a:prstGeom>
        </p:spPr>
      </p:pic>
      <p:sp>
        <p:nvSpPr>
          <p:cNvPr id="5" name="TextBox 4"/>
          <p:cNvSpPr txBox="1"/>
          <p:nvPr/>
        </p:nvSpPr>
        <p:spPr>
          <a:xfrm>
            <a:off x="272143" y="1110343"/>
            <a:ext cx="6039448" cy="1754326"/>
          </a:xfrm>
          <a:prstGeom prst="rect">
            <a:avLst/>
          </a:prstGeom>
          <a:noFill/>
        </p:spPr>
        <p:txBody>
          <a:bodyPr wrap="square" rtlCol="0">
            <a:spAutoFit/>
          </a:bodyPr>
          <a:lstStyle/>
          <a:p>
            <a:r>
              <a:rPr lang="en-US" dirty="0"/>
              <a:t>A </a:t>
            </a:r>
            <a:r>
              <a:rPr lang="en-US" b="1" dirty="0"/>
              <a:t>perceptron</a:t>
            </a:r>
            <a:r>
              <a:rPr lang="en-US" dirty="0"/>
              <a:t> is the earliest form of a neural network unit, introduced by </a:t>
            </a:r>
            <a:r>
              <a:rPr lang="en-US" b="1" dirty="0"/>
              <a:t>Frank Rosenblatt</a:t>
            </a:r>
            <a:r>
              <a:rPr lang="en-US" dirty="0"/>
              <a:t> in 1958. It is a </a:t>
            </a:r>
            <a:r>
              <a:rPr lang="en-US" b="1" dirty="0"/>
              <a:t>binary classifier</a:t>
            </a:r>
            <a:r>
              <a:rPr lang="en-US" dirty="0"/>
              <a:t> that makes predictions based on a linear combination of input features. The perceptron algorithm was one of the first algorithms used to implement a simple neural network. It is a </a:t>
            </a:r>
            <a:r>
              <a:rPr lang="en-US" b="1" dirty="0"/>
              <a:t>is a type of an ANN</a:t>
            </a:r>
            <a:endParaRPr lang="en-US" dirty="0"/>
          </a:p>
        </p:txBody>
      </p:sp>
      <p:sp>
        <p:nvSpPr>
          <p:cNvPr id="6" name="TextBox 5"/>
          <p:cNvSpPr txBox="1"/>
          <p:nvPr/>
        </p:nvSpPr>
        <p:spPr>
          <a:xfrm>
            <a:off x="272143" y="3461655"/>
            <a:ext cx="11719152" cy="2308324"/>
          </a:xfrm>
          <a:prstGeom prst="rect">
            <a:avLst/>
          </a:prstGeom>
          <a:noFill/>
        </p:spPr>
        <p:txBody>
          <a:bodyPr wrap="square" rtlCol="0">
            <a:spAutoFit/>
          </a:bodyPr>
          <a:lstStyle/>
          <a:p>
            <a:r>
              <a:rPr lang="en-US" b="1" dirty="0"/>
              <a:t>Components of a Perceptron:</a:t>
            </a:r>
          </a:p>
          <a:p>
            <a:r>
              <a:rPr lang="en-US" b="1" dirty="0"/>
              <a:t>Inputs</a:t>
            </a:r>
            <a:r>
              <a:rPr lang="en-US" dirty="0"/>
              <a:t>: The perceptron takes several inputs (x1, x2,…, </a:t>
            </a:r>
            <a:r>
              <a:rPr lang="en-US" dirty="0" err="1"/>
              <a:t>xn</a:t>
            </a:r>
            <a:r>
              <a:rPr lang="en-US" dirty="0"/>
              <a:t>)</a:t>
            </a:r>
          </a:p>
          <a:p>
            <a:r>
              <a:rPr lang="en-US" b="1" dirty="0"/>
              <a:t>Weights</a:t>
            </a:r>
            <a:r>
              <a:rPr lang="en-US" dirty="0"/>
              <a:t>: Each input is associated with a weight (w1, w2, …, </a:t>
            </a:r>
            <a:r>
              <a:rPr lang="en-US" dirty="0" err="1"/>
              <a:t>wn</a:t>
            </a:r>
            <a:r>
              <a:rPr lang="en-US" dirty="0"/>
              <a:t>).</a:t>
            </a:r>
          </a:p>
          <a:p>
            <a:r>
              <a:rPr lang="en-US" b="1" dirty="0"/>
              <a:t>Bias</a:t>
            </a:r>
            <a:r>
              <a:rPr lang="en-US" dirty="0"/>
              <a:t>: A bias term (b) is added to shift the decision boundary.</a:t>
            </a:r>
          </a:p>
          <a:p>
            <a:r>
              <a:rPr lang="en-US" b="1" dirty="0"/>
              <a:t>Activation Function</a:t>
            </a:r>
            <a:r>
              <a:rPr lang="en-US" dirty="0"/>
              <a:t>: The perceptron uses a </a:t>
            </a:r>
            <a:r>
              <a:rPr lang="en-US" b="1" dirty="0"/>
              <a:t>step function</a:t>
            </a:r>
            <a:r>
              <a:rPr lang="en-US" dirty="0"/>
              <a:t> (a simple </a:t>
            </a:r>
            <a:r>
              <a:rPr lang="en-US" dirty="0" err="1"/>
              <a:t>thresholding</a:t>
            </a:r>
            <a:r>
              <a:rPr lang="en-US" dirty="0"/>
              <a:t> function) to determine whether the weighted sum of inputs plus the bias is above or below a certain threshold.</a:t>
            </a:r>
          </a:p>
          <a:p>
            <a:r>
              <a:rPr lang="en-US" b="1" dirty="0"/>
              <a:t>Binary Output</a:t>
            </a:r>
            <a:r>
              <a:rPr lang="en-US" dirty="0"/>
              <a:t>: The output of a perceptron is binary (1 or 0), making it suitable for linearly separable classification problems.</a:t>
            </a:r>
          </a:p>
          <a:p>
            <a:endParaRPr lang="en-US" dirty="0"/>
          </a:p>
        </p:txBody>
      </p:sp>
      <p:pic>
        <p:nvPicPr>
          <p:cNvPr id="1034" name="Picture 10" descr="https://miro.medium.com/v2/resize:fit:397/1*B_jA4LPlTKrDGYHYriMld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956" y="5752637"/>
            <a:ext cx="3781425" cy="8191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42827CF8-612D-EBA0-4F71-154ED48E7888}"/>
              </a:ext>
            </a:extLst>
          </p:cNvPr>
          <p:cNvSpPr>
            <a:spLocks noGrp="1"/>
          </p:cNvSpPr>
          <p:nvPr>
            <p:ph type="sldNum" sz="quarter" idx="12"/>
          </p:nvPr>
        </p:nvSpPr>
        <p:spPr/>
        <p:txBody>
          <a:bodyPr/>
          <a:lstStyle/>
          <a:p>
            <a:fld id="{2E30D265-8AE4-4D83-9D5E-333CB7475336}" type="slidenum">
              <a:rPr lang="en-US" smtClean="0"/>
              <a:t>7</a:t>
            </a:fld>
            <a:endParaRPr lang="en-US"/>
          </a:p>
        </p:txBody>
      </p:sp>
    </p:spTree>
    <p:extLst>
      <p:ext uri="{BB962C8B-B14F-4D97-AF65-F5344CB8AC3E}">
        <p14:creationId xmlns:p14="http://schemas.microsoft.com/office/powerpoint/2010/main" val="2923612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141" y="114754"/>
            <a:ext cx="5507874" cy="614589"/>
          </a:xfrm>
        </p:spPr>
        <p:txBody>
          <a:bodyPr>
            <a:noAutofit/>
          </a:bodyPr>
          <a:lstStyle/>
          <a:p>
            <a:r>
              <a:rPr lang="en-US" sz="2800" dirty="0"/>
              <a:t>Perceptron(p2): See </a:t>
            </a:r>
            <a:r>
              <a:rPr lang="en-US" sz="2800" dirty="0" err="1"/>
              <a:t>jupyter</a:t>
            </a:r>
            <a:r>
              <a:rPr lang="en-US" sz="2800" dirty="0"/>
              <a:t> n/b</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7345" y="114754"/>
            <a:ext cx="4833949" cy="2888843"/>
          </a:xfrm>
          <a:prstGeom prst="rect">
            <a:avLst/>
          </a:prstGeom>
        </p:spPr>
      </p:pic>
      <p:sp>
        <p:nvSpPr>
          <p:cNvPr id="8" name="TextBox 7"/>
          <p:cNvSpPr txBox="1"/>
          <p:nvPr/>
        </p:nvSpPr>
        <p:spPr>
          <a:xfrm>
            <a:off x="491055" y="707564"/>
            <a:ext cx="753732" cy="307777"/>
          </a:xfrm>
          <a:prstGeom prst="rect">
            <a:avLst/>
          </a:prstGeom>
          <a:noFill/>
        </p:spPr>
        <p:txBody>
          <a:bodyPr wrap="none" rtlCol="0">
            <a:spAutoFit/>
          </a:bodyPr>
          <a:lstStyle/>
          <a:p>
            <a:r>
              <a:rPr lang="en-US" sz="1400" dirty="0"/>
              <a:t>W1=1.0</a:t>
            </a:r>
          </a:p>
        </p:txBody>
      </p:sp>
      <p:sp>
        <p:nvSpPr>
          <p:cNvPr id="11" name="TextBox 10"/>
          <p:cNvSpPr txBox="1"/>
          <p:nvPr/>
        </p:nvSpPr>
        <p:spPr>
          <a:xfrm>
            <a:off x="1273328" y="707563"/>
            <a:ext cx="753732" cy="307777"/>
          </a:xfrm>
          <a:prstGeom prst="rect">
            <a:avLst/>
          </a:prstGeom>
          <a:noFill/>
        </p:spPr>
        <p:txBody>
          <a:bodyPr wrap="none" rtlCol="0">
            <a:spAutoFit/>
          </a:bodyPr>
          <a:lstStyle/>
          <a:p>
            <a:r>
              <a:rPr lang="en-US" sz="1400" dirty="0"/>
              <a:t>W2=1.0</a:t>
            </a:r>
          </a:p>
        </p:txBody>
      </p:sp>
      <p:sp>
        <p:nvSpPr>
          <p:cNvPr id="12" name="TextBox 11"/>
          <p:cNvSpPr txBox="1"/>
          <p:nvPr/>
        </p:nvSpPr>
        <p:spPr>
          <a:xfrm>
            <a:off x="2380375" y="699176"/>
            <a:ext cx="731290" cy="307777"/>
          </a:xfrm>
          <a:prstGeom prst="rect">
            <a:avLst/>
          </a:prstGeom>
          <a:noFill/>
        </p:spPr>
        <p:txBody>
          <a:bodyPr wrap="none" rtlCol="0">
            <a:spAutoFit/>
          </a:bodyPr>
          <a:lstStyle/>
          <a:p>
            <a:r>
              <a:rPr lang="en-US" sz="1400" dirty="0"/>
              <a:t>b = -1.5</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0001" y="4155668"/>
            <a:ext cx="2401629" cy="2088859"/>
          </a:xfrm>
          <a:prstGeom prst="rect">
            <a:avLst/>
          </a:prstGeom>
        </p:spPr>
      </p:pic>
      <p:sp>
        <p:nvSpPr>
          <p:cNvPr id="17" name="5-Point Star 16"/>
          <p:cNvSpPr/>
          <p:nvPr/>
        </p:nvSpPr>
        <p:spPr>
          <a:xfrm>
            <a:off x="3820892" y="4278083"/>
            <a:ext cx="174172" cy="17417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5-Point Star 17"/>
          <p:cNvSpPr/>
          <p:nvPr/>
        </p:nvSpPr>
        <p:spPr>
          <a:xfrm>
            <a:off x="2340430" y="5758551"/>
            <a:ext cx="174172" cy="174172"/>
          </a:xfrm>
          <a:prstGeom prst="star5">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5-Point Star 18"/>
          <p:cNvSpPr/>
          <p:nvPr/>
        </p:nvSpPr>
        <p:spPr>
          <a:xfrm>
            <a:off x="3842663" y="5758547"/>
            <a:ext cx="174172" cy="174172"/>
          </a:xfrm>
          <a:prstGeom prst="star5">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4332511" y="5802087"/>
            <a:ext cx="401072" cy="369332"/>
          </a:xfrm>
          <a:prstGeom prst="rect">
            <a:avLst/>
          </a:prstGeom>
          <a:noFill/>
        </p:spPr>
        <p:txBody>
          <a:bodyPr wrap="none" rtlCol="0">
            <a:spAutoFit/>
          </a:bodyPr>
          <a:lstStyle/>
          <a:p>
            <a:r>
              <a:rPr lang="en-US" dirty="0"/>
              <a:t>x1</a:t>
            </a:r>
          </a:p>
        </p:txBody>
      </p:sp>
      <p:sp>
        <p:nvSpPr>
          <p:cNvPr id="21" name="TextBox 20"/>
          <p:cNvSpPr txBox="1"/>
          <p:nvPr/>
        </p:nvSpPr>
        <p:spPr>
          <a:xfrm>
            <a:off x="2133602" y="3951508"/>
            <a:ext cx="394660" cy="338554"/>
          </a:xfrm>
          <a:prstGeom prst="rect">
            <a:avLst/>
          </a:prstGeom>
          <a:noFill/>
        </p:spPr>
        <p:txBody>
          <a:bodyPr wrap="none" rtlCol="0">
            <a:spAutoFit/>
          </a:bodyPr>
          <a:lstStyle/>
          <a:p>
            <a:r>
              <a:rPr lang="en-US" sz="1600" dirty="0"/>
              <a:t>X2</a:t>
            </a:r>
          </a:p>
        </p:txBody>
      </p:sp>
      <p:cxnSp>
        <p:nvCxnSpPr>
          <p:cNvPr id="23" name="Straight Connector 22"/>
          <p:cNvCxnSpPr/>
          <p:nvPr/>
        </p:nvCxnSpPr>
        <p:spPr>
          <a:xfrm>
            <a:off x="2608976" y="4093828"/>
            <a:ext cx="2709644" cy="2077591"/>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108693" y="5647889"/>
            <a:ext cx="3011402" cy="338554"/>
          </a:xfrm>
          <a:prstGeom prst="rect">
            <a:avLst/>
          </a:prstGeom>
          <a:noFill/>
        </p:spPr>
        <p:txBody>
          <a:bodyPr wrap="none" rtlCol="0">
            <a:spAutoFit/>
          </a:bodyPr>
          <a:lstStyle/>
          <a:p>
            <a:r>
              <a:rPr lang="en-US" sz="1600" dirty="0"/>
              <a:t>Hyper-plane that separates points</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63879317"/>
                  </p:ext>
                </p:extLst>
              </p:nvPr>
            </p:nvGraphicFramePr>
            <p:xfrm>
              <a:off x="544584" y="1158314"/>
              <a:ext cx="6359555" cy="1828800"/>
            </p:xfrm>
            <a:graphic>
              <a:graphicData uri="http://schemas.openxmlformats.org/drawingml/2006/table">
                <a:tbl>
                  <a:tblPr/>
                  <a:tblGrid>
                    <a:gridCol w="673060">
                      <a:extLst>
                        <a:ext uri="{9D8B030D-6E8A-4147-A177-3AD203B41FA5}">
                          <a16:colId xmlns:a16="http://schemas.microsoft.com/office/drawing/2014/main" val="2936474594"/>
                        </a:ext>
                      </a:extLst>
                    </a:gridCol>
                    <a:gridCol w="636323">
                      <a:extLst>
                        <a:ext uri="{9D8B030D-6E8A-4147-A177-3AD203B41FA5}">
                          <a16:colId xmlns:a16="http://schemas.microsoft.com/office/drawing/2014/main" val="2231850024"/>
                        </a:ext>
                      </a:extLst>
                    </a:gridCol>
                    <a:gridCol w="1770864">
                      <a:extLst>
                        <a:ext uri="{9D8B030D-6E8A-4147-A177-3AD203B41FA5}">
                          <a16:colId xmlns:a16="http://schemas.microsoft.com/office/drawing/2014/main" val="2357229934"/>
                        </a:ext>
                      </a:extLst>
                    </a:gridCol>
                    <a:gridCol w="3279308">
                      <a:extLst>
                        <a:ext uri="{9D8B030D-6E8A-4147-A177-3AD203B41FA5}">
                          <a16:colId xmlns:a16="http://schemas.microsoft.com/office/drawing/2014/main" val="3964797077"/>
                        </a:ext>
                      </a:extLst>
                    </a:gridCol>
                  </a:tblGrid>
                  <a:tr h="0">
                    <a:tc>
                      <a:txBody>
                        <a:bodyPr/>
                        <a:lstStyle/>
                        <a:p>
                          <a:r>
                            <a:rPr lang="en-US"/>
                            <a:t>x₁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x₂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14:m>
                            <m:oMath xmlns:m="http://schemas.openxmlformats.org/officeDocument/2006/math">
                              <m:r>
                                <a:rPr lang="en-US" i="1" dirty="0" smtClean="0">
                                  <a:solidFill>
                                    <a:schemeClr val="tx1"/>
                                  </a:solidFill>
                                  <a:latin typeface="Cambria Math" panose="02040503050406030204" pitchFamily="18" charset="0"/>
                                </a:rPr>
                                <m:t>𝛴</m:t>
                              </m:r>
                            </m:oMath>
                          </a14:m>
                          <a:r>
                            <a:rPr lang="en-US" dirty="0"/>
                            <a:t> = x₁ + x₂ - 1.5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Output (step) f(x)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41094091"/>
                      </a:ext>
                    </a:extLst>
                  </a:tr>
                  <a:tr h="0">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29347761"/>
                      </a:ext>
                    </a:extLst>
                  </a:tr>
                  <a:tr h="0">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47345283"/>
                      </a:ext>
                    </a:extLst>
                  </a:tr>
                  <a:tr h="0">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34956162"/>
                      </a:ext>
                    </a:extLst>
                  </a:tr>
                  <a:tr h="0">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5729878"/>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63879317"/>
                  </p:ext>
                </p:extLst>
              </p:nvPr>
            </p:nvGraphicFramePr>
            <p:xfrm>
              <a:off x="544584" y="1158314"/>
              <a:ext cx="6359555" cy="1828800"/>
            </p:xfrm>
            <a:graphic>
              <a:graphicData uri="http://schemas.openxmlformats.org/drawingml/2006/table">
                <a:tbl>
                  <a:tblPr/>
                  <a:tblGrid>
                    <a:gridCol w="673060">
                      <a:extLst>
                        <a:ext uri="{9D8B030D-6E8A-4147-A177-3AD203B41FA5}">
                          <a16:colId xmlns:a16="http://schemas.microsoft.com/office/drawing/2014/main" val="2936474594"/>
                        </a:ext>
                      </a:extLst>
                    </a:gridCol>
                    <a:gridCol w="636323">
                      <a:extLst>
                        <a:ext uri="{9D8B030D-6E8A-4147-A177-3AD203B41FA5}">
                          <a16:colId xmlns:a16="http://schemas.microsoft.com/office/drawing/2014/main" val="2231850024"/>
                        </a:ext>
                      </a:extLst>
                    </a:gridCol>
                    <a:gridCol w="1770864">
                      <a:extLst>
                        <a:ext uri="{9D8B030D-6E8A-4147-A177-3AD203B41FA5}">
                          <a16:colId xmlns:a16="http://schemas.microsoft.com/office/drawing/2014/main" val="2357229934"/>
                        </a:ext>
                      </a:extLst>
                    </a:gridCol>
                    <a:gridCol w="3279308">
                      <a:extLst>
                        <a:ext uri="{9D8B030D-6E8A-4147-A177-3AD203B41FA5}">
                          <a16:colId xmlns:a16="http://schemas.microsoft.com/office/drawing/2014/main" val="3964797077"/>
                        </a:ext>
                      </a:extLst>
                    </a:gridCol>
                  </a:tblGrid>
                  <a:tr h="365760">
                    <a:tc>
                      <a:txBody>
                        <a:bodyPr/>
                        <a:lstStyle/>
                        <a:p>
                          <a:r>
                            <a:rPr lang="en-US"/>
                            <a:t>x₁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x₂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27" t="-8333" r="-185567" b="-426667"/>
                          </a:stretch>
                        </a:blipFill>
                      </a:tcPr>
                    </a:tc>
                    <a:tc>
                      <a:txBody>
                        <a:bodyPr/>
                        <a:lstStyle/>
                        <a:p>
                          <a:r>
                            <a:rPr lang="en-US" dirty="0"/>
                            <a:t>Output (step</a:t>
                          </a:r>
                          <a:r>
                            <a:rPr lang="en-US" dirty="0" smtClean="0"/>
                            <a:t>) f(x)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41094091"/>
                      </a:ext>
                    </a:extLst>
                  </a:tr>
                  <a:tr h="365760">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29347761"/>
                      </a:ext>
                    </a:extLst>
                  </a:tr>
                  <a:tr h="365760">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47345283"/>
                      </a:ext>
                    </a:extLst>
                  </a:tr>
                  <a:tr h="365760">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34956162"/>
                      </a:ext>
                    </a:extLst>
                  </a:tr>
                  <a:tr h="365760">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5729878"/>
                      </a:ext>
                    </a:extLst>
                  </a:tr>
                </a:tbl>
              </a:graphicData>
            </a:graphic>
          </p:graphicFrame>
        </mc:Fallback>
      </mc:AlternateContent>
      <p:sp>
        <p:nvSpPr>
          <p:cNvPr id="22" name="5-Point Star 21"/>
          <p:cNvSpPr/>
          <p:nvPr/>
        </p:nvSpPr>
        <p:spPr>
          <a:xfrm>
            <a:off x="2375986" y="4275092"/>
            <a:ext cx="174172" cy="174172"/>
          </a:xfrm>
          <a:prstGeom prst="star5">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91055" y="3288484"/>
            <a:ext cx="3335913" cy="369332"/>
          </a:xfrm>
          <a:prstGeom prst="rect">
            <a:avLst/>
          </a:prstGeom>
          <a:noFill/>
        </p:spPr>
        <p:txBody>
          <a:bodyPr wrap="none" rtlCol="0">
            <a:spAutoFit/>
          </a:bodyPr>
          <a:lstStyle/>
          <a:p>
            <a:r>
              <a:rPr lang="en-US" dirty="0"/>
              <a:t>Output simulates AND operation</a:t>
            </a:r>
          </a:p>
        </p:txBody>
      </p:sp>
      <p:sp>
        <p:nvSpPr>
          <p:cNvPr id="3" name="Slide Number Placeholder 2">
            <a:extLst>
              <a:ext uri="{FF2B5EF4-FFF2-40B4-BE49-F238E27FC236}">
                <a16:creationId xmlns:a16="http://schemas.microsoft.com/office/drawing/2014/main" id="{45C7ED2A-19C3-A64B-FB15-C3F41BB2476F}"/>
              </a:ext>
            </a:extLst>
          </p:cNvPr>
          <p:cNvSpPr>
            <a:spLocks noGrp="1"/>
          </p:cNvSpPr>
          <p:nvPr>
            <p:ph type="sldNum" sz="quarter" idx="12"/>
          </p:nvPr>
        </p:nvSpPr>
        <p:spPr/>
        <p:txBody>
          <a:bodyPr/>
          <a:lstStyle/>
          <a:p>
            <a:fld id="{2E30D265-8AE4-4D83-9D5E-333CB7475336}" type="slidenum">
              <a:rPr lang="en-US" smtClean="0"/>
              <a:t>8</a:t>
            </a:fld>
            <a:endParaRPr lang="en-US"/>
          </a:p>
        </p:txBody>
      </p:sp>
    </p:spTree>
    <p:extLst>
      <p:ext uri="{BB962C8B-B14F-4D97-AF65-F5344CB8AC3E}">
        <p14:creationId xmlns:p14="http://schemas.microsoft.com/office/powerpoint/2010/main" val="1961577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141" y="114754"/>
            <a:ext cx="3910239" cy="614589"/>
          </a:xfrm>
        </p:spPr>
        <p:txBody>
          <a:bodyPr>
            <a:normAutofit fontScale="90000"/>
          </a:bodyPr>
          <a:lstStyle/>
          <a:p>
            <a:r>
              <a:rPr lang="en-US" dirty="0"/>
              <a:t>Perceptron(p3)</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6883" y="114754"/>
            <a:ext cx="4833949" cy="2888843"/>
          </a:xfrm>
          <a:prstGeom prst="rect">
            <a:avLst/>
          </a:prstGeom>
        </p:spPr>
      </p:pic>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000602817"/>
                  </p:ext>
                </p:extLst>
              </p:nvPr>
            </p:nvGraphicFramePr>
            <p:xfrm>
              <a:off x="81168" y="1024460"/>
              <a:ext cx="7195715" cy="1854200"/>
            </p:xfrm>
            <a:graphic>
              <a:graphicData uri="http://schemas.openxmlformats.org/drawingml/2006/table">
                <a:tbl>
                  <a:tblPr firstRow="1" bandRow="1">
                    <a:tableStyleId>{5C22544A-7EE6-4342-B048-85BDC9FD1C3A}</a:tableStyleId>
                  </a:tblPr>
                  <a:tblGrid>
                    <a:gridCol w="1435264">
                      <a:extLst>
                        <a:ext uri="{9D8B030D-6E8A-4147-A177-3AD203B41FA5}">
                          <a16:colId xmlns:a16="http://schemas.microsoft.com/office/drawing/2014/main" val="2975006013"/>
                        </a:ext>
                      </a:extLst>
                    </a:gridCol>
                    <a:gridCol w="1501209">
                      <a:extLst>
                        <a:ext uri="{9D8B030D-6E8A-4147-A177-3AD203B41FA5}">
                          <a16:colId xmlns:a16="http://schemas.microsoft.com/office/drawing/2014/main" val="509962645"/>
                        </a:ext>
                      </a:extLst>
                    </a:gridCol>
                    <a:gridCol w="2036140">
                      <a:extLst>
                        <a:ext uri="{9D8B030D-6E8A-4147-A177-3AD203B41FA5}">
                          <a16:colId xmlns:a16="http://schemas.microsoft.com/office/drawing/2014/main" val="3080677174"/>
                        </a:ext>
                      </a:extLst>
                    </a:gridCol>
                    <a:gridCol w="2223102">
                      <a:extLst>
                        <a:ext uri="{9D8B030D-6E8A-4147-A177-3AD203B41FA5}">
                          <a16:colId xmlns:a16="http://schemas.microsoft.com/office/drawing/2014/main" val="2877613723"/>
                        </a:ext>
                      </a:extLst>
                    </a:gridCol>
                  </a:tblGrid>
                  <a:tr h="370840">
                    <a:tc>
                      <a:txBody>
                        <a:bodyPr/>
                        <a:lstStyle/>
                        <a:p>
                          <a:r>
                            <a:rPr lang="en-US" dirty="0">
                              <a:solidFill>
                                <a:schemeClr val="tx1"/>
                              </a:solidFill>
                            </a:rPr>
                            <a:t>x1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x2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n-US" i="1" dirty="0" smtClean="0">
                                    <a:solidFill>
                                      <a:schemeClr val="tx1"/>
                                    </a:solidFill>
                                    <a:latin typeface="Cambria Math" panose="02040503050406030204" pitchFamily="18" charset="0"/>
                                  </a:rPr>
                                  <m:t>𝛴</m:t>
                                </m:r>
                              </m:oMath>
                            </m:oMathPara>
                          </a14:m>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output: f(x)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8514262"/>
                      </a:ext>
                    </a:extLst>
                  </a:tr>
                  <a:tr h="370840">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 + 0 - 0.5 = - 0.5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accent6"/>
                              </a:solidFill>
                            </a:rPr>
                            <a:t>0 (i.e. class green)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7409254"/>
                      </a:ext>
                    </a:extLst>
                  </a:tr>
                  <a:tr h="370840">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 + 0.5 - 0.5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rgbClr val="FF0000"/>
                              </a:solidFill>
                            </a:rPr>
                            <a:t>1 (i.e. class 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3571245"/>
                      </a:ext>
                    </a:extLst>
                  </a:tr>
                  <a:tr h="370840">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0.2 + 0 - 0.5 = - 0.3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accent6"/>
                              </a:solidFill>
                            </a:rPr>
                            <a:t>0 (i.e. class green)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43673760"/>
                      </a:ext>
                    </a:extLst>
                  </a:tr>
                  <a:tr h="370840">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0.2 + 0.5 - 0.5= 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rgbClr val="FF0000"/>
                              </a:solidFill>
                            </a:rPr>
                            <a:t>1 (i.e. class 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353539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000602817"/>
                  </p:ext>
                </p:extLst>
              </p:nvPr>
            </p:nvGraphicFramePr>
            <p:xfrm>
              <a:off x="81168" y="1024460"/>
              <a:ext cx="7195715" cy="1854200"/>
            </p:xfrm>
            <a:graphic>
              <a:graphicData uri="http://schemas.openxmlformats.org/drawingml/2006/table">
                <a:tbl>
                  <a:tblPr firstRow="1" bandRow="1">
                    <a:tableStyleId>{5C22544A-7EE6-4342-B048-85BDC9FD1C3A}</a:tableStyleId>
                  </a:tblPr>
                  <a:tblGrid>
                    <a:gridCol w="1435264">
                      <a:extLst>
                        <a:ext uri="{9D8B030D-6E8A-4147-A177-3AD203B41FA5}">
                          <a16:colId xmlns:a16="http://schemas.microsoft.com/office/drawing/2014/main" val="2975006013"/>
                        </a:ext>
                      </a:extLst>
                    </a:gridCol>
                    <a:gridCol w="1501209">
                      <a:extLst>
                        <a:ext uri="{9D8B030D-6E8A-4147-A177-3AD203B41FA5}">
                          <a16:colId xmlns:a16="http://schemas.microsoft.com/office/drawing/2014/main" val="509962645"/>
                        </a:ext>
                      </a:extLst>
                    </a:gridCol>
                    <a:gridCol w="2036140">
                      <a:extLst>
                        <a:ext uri="{9D8B030D-6E8A-4147-A177-3AD203B41FA5}">
                          <a16:colId xmlns:a16="http://schemas.microsoft.com/office/drawing/2014/main" val="3080677174"/>
                        </a:ext>
                      </a:extLst>
                    </a:gridCol>
                    <a:gridCol w="2223102">
                      <a:extLst>
                        <a:ext uri="{9D8B030D-6E8A-4147-A177-3AD203B41FA5}">
                          <a16:colId xmlns:a16="http://schemas.microsoft.com/office/drawing/2014/main" val="2877613723"/>
                        </a:ext>
                      </a:extLst>
                    </a:gridCol>
                  </a:tblGrid>
                  <a:tr h="370840">
                    <a:tc>
                      <a:txBody>
                        <a:bodyPr/>
                        <a:lstStyle/>
                        <a:p>
                          <a:r>
                            <a:rPr lang="en-US" dirty="0">
                              <a:solidFill>
                                <a:schemeClr val="tx1"/>
                              </a:solidFill>
                            </a:rPr>
                            <a:t>x1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x2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4611" t="-8197" r="-109880" b="-422951"/>
                          </a:stretch>
                        </a:blipFill>
                      </a:tcPr>
                    </a:tc>
                    <a:tc>
                      <a:txBody>
                        <a:bodyPr/>
                        <a:lstStyle/>
                        <a:p>
                          <a:r>
                            <a:rPr lang="en-US" dirty="0">
                              <a:solidFill>
                                <a:schemeClr val="tx1"/>
                              </a:solidFill>
                            </a:rPr>
                            <a:t>output: f(x)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8514262"/>
                      </a:ext>
                    </a:extLst>
                  </a:tr>
                  <a:tr h="370840">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 + 0 - 0.5 = - 0.5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accent6"/>
                              </a:solidFill>
                            </a:rPr>
                            <a:t>0 (i.e. class green)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7409254"/>
                      </a:ext>
                    </a:extLst>
                  </a:tr>
                  <a:tr h="370840">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 + 0.5 - 0.5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rgbClr val="FF0000"/>
                              </a:solidFill>
                            </a:rPr>
                            <a:t>1 (i.e. class 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3571245"/>
                      </a:ext>
                    </a:extLst>
                  </a:tr>
                  <a:tr h="370840">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0.2 + 0 - 0.5 = - 0.3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accent6"/>
                              </a:solidFill>
                            </a:rPr>
                            <a:t>0 (i.e. class green)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43673760"/>
                      </a:ext>
                    </a:extLst>
                  </a:tr>
                  <a:tr h="370840">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0.2 + 0.5 - 0.5= 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rgbClr val="FF0000"/>
                              </a:solidFill>
                            </a:rPr>
                            <a:t>1 (i.e. class 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3535390"/>
                      </a:ext>
                    </a:extLst>
                  </a:tr>
                </a:tbl>
              </a:graphicData>
            </a:graphic>
          </p:graphicFrame>
        </mc:Fallback>
      </mc:AlternateContent>
      <p:sp>
        <p:nvSpPr>
          <p:cNvPr id="8" name="TextBox 7"/>
          <p:cNvSpPr txBox="1"/>
          <p:nvPr/>
        </p:nvSpPr>
        <p:spPr>
          <a:xfrm>
            <a:off x="751114" y="707564"/>
            <a:ext cx="914033" cy="369332"/>
          </a:xfrm>
          <a:prstGeom prst="rect">
            <a:avLst/>
          </a:prstGeom>
          <a:noFill/>
        </p:spPr>
        <p:txBody>
          <a:bodyPr wrap="none" rtlCol="0">
            <a:spAutoFit/>
          </a:bodyPr>
          <a:lstStyle/>
          <a:p>
            <a:r>
              <a:rPr lang="en-US" dirty="0"/>
              <a:t>W1=0.2</a:t>
            </a:r>
          </a:p>
        </p:txBody>
      </p:sp>
      <p:sp>
        <p:nvSpPr>
          <p:cNvPr id="11" name="TextBox 10"/>
          <p:cNvSpPr txBox="1"/>
          <p:nvPr/>
        </p:nvSpPr>
        <p:spPr>
          <a:xfrm>
            <a:off x="1894114" y="707563"/>
            <a:ext cx="914033" cy="369332"/>
          </a:xfrm>
          <a:prstGeom prst="rect">
            <a:avLst/>
          </a:prstGeom>
          <a:noFill/>
        </p:spPr>
        <p:txBody>
          <a:bodyPr wrap="none" rtlCol="0">
            <a:spAutoFit/>
          </a:bodyPr>
          <a:lstStyle/>
          <a:p>
            <a:r>
              <a:rPr lang="en-US" dirty="0"/>
              <a:t>W2=0.5</a:t>
            </a:r>
          </a:p>
        </p:txBody>
      </p:sp>
      <p:sp>
        <p:nvSpPr>
          <p:cNvPr id="12" name="TextBox 11"/>
          <p:cNvSpPr txBox="1"/>
          <p:nvPr/>
        </p:nvSpPr>
        <p:spPr>
          <a:xfrm>
            <a:off x="3429000" y="707565"/>
            <a:ext cx="942887" cy="369332"/>
          </a:xfrm>
          <a:prstGeom prst="rect">
            <a:avLst/>
          </a:prstGeom>
          <a:noFill/>
        </p:spPr>
        <p:txBody>
          <a:bodyPr wrap="none" rtlCol="0">
            <a:spAutoFit/>
          </a:bodyPr>
          <a:lstStyle/>
          <a:p>
            <a:r>
              <a:rPr lang="en-US" dirty="0"/>
              <a:t>b = - 0.5</a:t>
            </a: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0001" y="4155668"/>
            <a:ext cx="2401629" cy="2088859"/>
          </a:xfrm>
          <a:prstGeom prst="rect">
            <a:avLst/>
          </a:prstGeom>
        </p:spPr>
      </p:pic>
      <p:sp>
        <p:nvSpPr>
          <p:cNvPr id="16" name="5-Point Star 15"/>
          <p:cNvSpPr/>
          <p:nvPr/>
        </p:nvSpPr>
        <p:spPr>
          <a:xfrm>
            <a:off x="2362201" y="4267201"/>
            <a:ext cx="174172" cy="17417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5-Point Star 16"/>
          <p:cNvSpPr/>
          <p:nvPr/>
        </p:nvSpPr>
        <p:spPr>
          <a:xfrm>
            <a:off x="3820892" y="4278083"/>
            <a:ext cx="174172" cy="17417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5-Point Star 17"/>
          <p:cNvSpPr/>
          <p:nvPr/>
        </p:nvSpPr>
        <p:spPr>
          <a:xfrm>
            <a:off x="2340430" y="5758551"/>
            <a:ext cx="174172" cy="174172"/>
          </a:xfrm>
          <a:prstGeom prst="star5">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5-Point Star 18"/>
          <p:cNvSpPr/>
          <p:nvPr/>
        </p:nvSpPr>
        <p:spPr>
          <a:xfrm>
            <a:off x="3842663" y="5758547"/>
            <a:ext cx="174172" cy="174172"/>
          </a:xfrm>
          <a:prstGeom prst="star5">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4332511" y="5802087"/>
            <a:ext cx="401072" cy="369332"/>
          </a:xfrm>
          <a:prstGeom prst="rect">
            <a:avLst/>
          </a:prstGeom>
          <a:noFill/>
        </p:spPr>
        <p:txBody>
          <a:bodyPr wrap="none" rtlCol="0">
            <a:spAutoFit/>
          </a:bodyPr>
          <a:lstStyle/>
          <a:p>
            <a:r>
              <a:rPr lang="en-US" dirty="0"/>
              <a:t>x1</a:t>
            </a:r>
          </a:p>
        </p:txBody>
      </p:sp>
      <p:sp>
        <p:nvSpPr>
          <p:cNvPr id="21" name="TextBox 20"/>
          <p:cNvSpPr txBox="1"/>
          <p:nvPr/>
        </p:nvSpPr>
        <p:spPr>
          <a:xfrm>
            <a:off x="2133602" y="3951508"/>
            <a:ext cx="394660" cy="338554"/>
          </a:xfrm>
          <a:prstGeom prst="rect">
            <a:avLst/>
          </a:prstGeom>
          <a:noFill/>
        </p:spPr>
        <p:txBody>
          <a:bodyPr wrap="none" rtlCol="0">
            <a:spAutoFit/>
          </a:bodyPr>
          <a:lstStyle/>
          <a:p>
            <a:r>
              <a:rPr lang="en-US" sz="1600" dirty="0"/>
              <a:t>X2</a:t>
            </a:r>
          </a:p>
        </p:txBody>
      </p:sp>
      <p:cxnSp>
        <p:nvCxnSpPr>
          <p:cNvPr id="23" name="Straight Connector 22"/>
          <p:cNvCxnSpPr/>
          <p:nvPr/>
        </p:nvCxnSpPr>
        <p:spPr>
          <a:xfrm>
            <a:off x="370115" y="5072744"/>
            <a:ext cx="5410200" cy="10885"/>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595255" y="4800600"/>
            <a:ext cx="3011402" cy="338554"/>
          </a:xfrm>
          <a:prstGeom prst="rect">
            <a:avLst/>
          </a:prstGeom>
          <a:noFill/>
        </p:spPr>
        <p:txBody>
          <a:bodyPr wrap="none" rtlCol="0">
            <a:spAutoFit/>
          </a:bodyPr>
          <a:lstStyle/>
          <a:p>
            <a:r>
              <a:rPr lang="en-US" sz="1600" dirty="0"/>
              <a:t>Hyper-plane that separates points</a:t>
            </a:r>
          </a:p>
        </p:txBody>
      </p:sp>
      <p:sp>
        <p:nvSpPr>
          <p:cNvPr id="5" name="Slide Number Placeholder 4">
            <a:extLst>
              <a:ext uri="{FF2B5EF4-FFF2-40B4-BE49-F238E27FC236}">
                <a16:creationId xmlns:a16="http://schemas.microsoft.com/office/drawing/2014/main" id="{F294A054-1886-E487-37F1-5C2CF7FDE161}"/>
              </a:ext>
            </a:extLst>
          </p:cNvPr>
          <p:cNvSpPr>
            <a:spLocks noGrp="1"/>
          </p:cNvSpPr>
          <p:nvPr>
            <p:ph type="sldNum" sz="quarter" idx="12"/>
          </p:nvPr>
        </p:nvSpPr>
        <p:spPr/>
        <p:txBody>
          <a:bodyPr/>
          <a:lstStyle/>
          <a:p>
            <a:fld id="{2E30D265-8AE4-4D83-9D5E-333CB7475336}" type="slidenum">
              <a:rPr lang="en-US" smtClean="0"/>
              <a:t>9</a:t>
            </a:fld>
            <a:endParaRPr lang="en-US"/>
          </a:p>
        </p:txBody>
      </p:sp>
    </p:spTree>
    <p:extLst>
      <p:ext uri="{BB962C8B-B14F-4D97-AF65-F5344CB8AC3E}">
        <p14:creationId xmlns:p14="http://schemas.microsoft.com/office/powerpoint/2010/main" val="814456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141" y="114754"/>
            <a:ext cx="3910239" cy="614589"/>
          </a:xfrm>
        </p:spPr>
        <p:txBody>
          <a:bodyPr>
            <a:normAutofit fontScale="90000"/>
          </a:bodyPr>
          <a:lstStyle/>
          <a:p>
            <a:r>
              <a:rPr lang="en-US" dirty="0"/>
              <a:t>Perceptron(p4)</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7343" y="146812"/>
            <a:ext cx="4473951" cy="2673702"/>
          </a:xfrm>
          <a:prstGeom prst="rect">
            <a:avLst/>
          </a:prstGeom>
        </p:spPr>
      </p:pic>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204046439"/>
                  </p:ext>
                </p:extLst>
              </p:nvPr>
            </p:nvGraphicFramePr>
            <p:xfrm>
              <a:off x="355599" y="3591494"/>
              <a:ext cx="6731000" cy="2225040"/>
            </p:xfrm>
            <a:graphic>
              <a:graphicData uri="http://schemas.openxmlformats.org/drawingml/2006/table">
                <a:tbl>
                  <a:tblPr firstRow="1" bandRow="1">
                    <a:tableStyleId>{5C22544A-7EE6-4342-B048-85BDC9FD1C3A}</a:tableStyleId>
                  </a:tblPr>
                  <a:tblGrid>
                    <a:gridCol w="1342572">
                      <a:extLst>
                        <a:ext uri="{9D8B030D-6E8A-4147-A177-3AD203B41FA5}">
                          <a16:colId xmlns:a16="http://schemas.microsoft.com/office/drawing/2014/main" val="2975006013"/>
                        </a:ext>
                      </a:extLst>
                    </a:gridCol>
                    <a:gridCol w="1404258">
                      <a:extLst>
                        <a:ext uri="{9D8B030D-6E8A-4147-A177-3AD203B41FA5}">
                          <a16:colId xmlns:a16="http://schemas.microsoft.com/office/drawing/2014/main" val="509962645"/>
                        </a:ext>
                      </a:extLst>
                    </a:gridCol>
                    <a:gridCol w="2301420">
                      <a:extLst>
                        <a:ext uri="{9D8B030D-6E8A-4147-A177-3AD203B41FA5}">
                          <a16:colId xmlns:a16="http://schemas.microsoft.com/office/drawing/2014/main" val="3080677174"/>
                        </a:ext>
                      </a:extLst>
                    </a:gridCol>
                    <a:gridCol w="1682750">
                      <a:extLst>
                        <a:ext uri="{9D8B030D-6E8A-4147-A177-3AD203B41FA5}">
                          <a16:colId xmlns:a16="http://schemas.microsoft.com/office/drawing/2014/main" val="2877613723"/>
                        </a:ext>
                      </a:extLst>
                    </a:gridCol>
                  </a:tblGrid>
                  <a:tr h="370840">
                    <a:tc>
                      <a:txBody>
                        <a:bodyPr/>
                        <a:lstStyle/>
                        <a:p>
                          <a:r>
                            <a:rPr lang="en-US" dirty="0">
                              <a:solidFill>
                                <a:schemeClr val="tx1"/>
                              </a:solidFill>
                            </a:rPr>
                            <a:t>X1(temp)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X2(pressure)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n-US" i="1" dirty="0" smtClean="0">
                                    <a:solidFill>
                                      <a:schemeClr val="tx1"/>
                                    </a:solidFill>
                                    <a:latin typeface="Cambria Math" panose="02040503050406030204" pitchFamily="18" charset="0"/>
                                  </a:rPr>
                                  <m:t>𝛴</m:t>
                                </m:r>
                              </m:oMath>
                            </m:oMathPara>
                          </a14:m>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output: f(x)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8514262"/>
                      </a:ext>
                    </a:extLst>
                  </a:tr>
                  <a:tr h="370840">
                    <a:tc>
                      <a:txBody>
                        <a:bodyPr/>
                        <a:lstStyle/>
                        <a:p>
                          <a:r>
                            <a:rPr lang="en-US" dirty="0">
                              <a:solidFill>
                                <a:schemeClr val="tx1"/>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50 + 100 - 151 =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7409254"/>
                      </a:ext>
                    </a:extLst>
                  </a:tr>
                  <a:tr h="370840">
                    <a:tc>
                      <a:txBody>
                        <a:bodyPr/>
                        <a:lstStyle/>
                        <a:p>
                          <a:r>
                            <a:rPr lang="en-US" dirty="0">
                              <a:solidFill>
                                <a:schemeClr val="tx1"/>
                              </a:solidFill>
                            </a:rPr>
                            <a:t>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105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53 + 105 - 151 = </a:t>
                          </a:r>
                          <a:r>
                            <a:rPr lang="en-US" baseline="0" dirty="0">
                              <a:solidFill>
                                <a:schemeClr val="tx1"/>
                              </a:solidFill>
                            </a:rPr>
                            <a:t> + 7</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3571245"/>
                      </a:ext>
                    </a:extLst>
                  </a:tr>
                  <a:tr h="370840">
                    <a:tc>
                      <a:txBody>
                        <a:bodyPr/>
                        <a:lstStyle/>
                        <a:p>
                          <a:r>
                            <a:rPr lang="en-US"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60 + 120 - 151 = </a:t>
                          </a:r>
                          <a:r>
                            <a:rPr lang="en-US" baseline="0" dirty="0">
                              <a:solidFill>
                                <a:schemeClr val="tx1"/>
                              </a:solidFill>
                            </a:rPr>
                            <a:t> +</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43673760"/>
                      </a:ext>
                    </a:extLst>
                  </a:tr>
                  <a:tr h="370840">
                    <a:tc>
                      <a:txBody>
                        <a:bodyPr/>
                        <a:lstStyle/>
                        <a:p>
                          <a:r>
                            <a:rPr lang="en-US" dirty="0">
                              <a:solidFill>
                                <a:schemeClr val="tx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45 + 90 - 151=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3535390"/>
                      </a:ext>
                    </a:extLst>
                  </a:tr>
                  <a:tr h="370840">
                    <a:tc>
                      <a:txBody>
                        <a:bodyPr/>
                        <a:lstStyle/>
                        <a:p>
                          <a:r>
                            <a:rPr lang="en-US"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40 + 90 - 151=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2324683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204046439"/>
                  </p:ext>
                </p:extLst>
              </p:nvPr>
            </p:nvGraphicFramePr>
            <p:xfrm>
              <a:off x="355599" y="3591494"/>
              <a:ext cx="6731000" cy="2225040"/>
            </p:xfrm>
            <a:graphic>
              <a:graphicData uri="http://schemas.openxmlformats.org/drawingml/2006/table">
                <a:tbl>
                  <a:tblPr firstRow="1" bandRow="1">
                    <a:tableStyleId>{5C22544A-7EE6-4342-B048-85BDC9FD1C3A}</a:tableStyleId>
                  </a:tblPr>
                  <a:tblGrid>
                    <a:gridCol w="1342572">
                      <a:extLst>
                        <a:ext uri="{9D8B030D-6E8A-4147-A177-3AD203B41FA5}">
                          <a16:colId xmlns:a16="http://schemas.microsoft.com/office/drawing/2014/main" val="2975006013"/>
                        </a:ext>
                      </a:extLst>
                    </a:gridCol>
                    <a:gridCol w="1404258">
                      <a:extLst>
                        <a:ext uri="{9D8B030D-6E8A-4147-A177-3AD203B41FA5}">
                          <a16:colId xmlns:a16="http://schemas.microsoft.com/office/drawing/2014/main" val="509962645"/>
                        </a:ext>
                      </a:extLst>
                    </a:gridCol>
                    <a:gridCol w="2301420">
                      <a:extLst>
                        <a:ext uri="{9D8B030D-6E8A-4147-A177-3AD203B41FA5}">
                          <a16:colId xmlns:a16="http://schemas.microsoft.com/office/drawing/2014/main" val="3080677174"/>
                        </a:ext>
                      </a:extLst>
                    </a:gridCol>
                    <a:gridCol w="1682750">
                      <a:extLst>
                        <a:ext uri="{9D8B030D-6E8A-4147-A177-3AD203B41FA5}">
                          <a16:colId xmlns:a16="http://schemas.microsoft.com/office/drawing/2014/main" val="2877613723"/>
                        </a:ext>
                      </a:extLst>
                    </a:gridCol>
                  </a:tblGrid>
                  <a:tr h="370840">
                    <a:tc>
                      <a:txBody>
                        <a:bodyPr/>
                        <a:lstStyle/>
                        <a:p>
                          <a:r>
                            <a:rPr lang="en-US" dirty="0" smtClean="0">
                              <a:solidFill>
                                <a:schemeClr val="tx1"/>
                              </a:solidFill>
                            </a:rPr>
                            <a:t>X1(temp)</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X2(pressure)</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9577" t="-8197" r="-73545" b="-522951"/>
                          </a:stretch>
                        </a:blipFill>
                      </a:tcPr>
                    </a:tc>
                    <a:tc>
                      <a:txBody>
                        <a:bodyPr/>
                        <a:lstStyle/>
                        <a:p>
                          <a:r>
                            <a:rPr lang="en-US" dirty="0" smtClean="0">
                              <a:solidFill>
                                <a:schemeClr val="tx1"/>
                              </a:solidFill>
                            </a:rPr>
                            <a:t>output: f(x)</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8514262"/>
                      </a:ext>
                    </a:extLst>
                  </a:tr>
                  <a:tr h="370840">
                    <a:tc>
                      <a:txBody>
                        <a:bodyPr/>
                        <a:lstStyle/>
                        <a:p>
                          <a:r>
                            <a:rPr lang="en-US" dirty="0" smtClean="0">
                              <a:solidFill>
                                <a:schemeClr val="tx1"/>
                              </a:solidFill>
                            </a:rPr>
                            <a:t>50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100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50 </a:t>
                          </a:r>
                          <a:r>
                            <a:rPr lang="en-US" dirty="0" smtClean="0">
                              <a:solidFill>
                                <a:schemeClr val="tx1"/>
                              </a:solidFill>
                            </a:rPr>
                            <a:t>+ </a:t>
                          </a:r>
                          <a:r>
                            <a:rPr lang="en-US" dirty="0" smtClean="0">
                              <a:solidFill>
                                <a:schemeClr val="tx1"/>
                              </a:solidFill>
                            </a:rPr>
                            <a:t>100 </a:t>
                          </a:r>
                          <a:r>
                            <a:rPr lang="en-US" dirty="0" smtClean="0">
                              <a:solidFill>
                                <a:schemeClr val="tx1"/>
                              </a:solidFill>
                            </a:rPr>
                            <a:t>- </a:t>
                          </a:r>
                          <a:r>
                            <a:rPr lang="en-US" dirty="0" smtClean="0">
                              <a:solidFill>
                                <a:schemeClr val="tx1"/>
                              </a:solidFill>
                            </a:rPr>
                            <a:t>151 </a:t>
                          </a:r>
                          <a:r>
                            <a:rPr lang="en-US" dirty="0" smtClean="0">
                              <a:solidFill>
                                <a:schemeClr val="tx1"/>
                              </a:solidFill>
                            </a:rPr>
                            <a:t>= - </a:t>
                          </a: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7409254"/>
                      </a:ext>
                    </a:extLst>
                  </a:tr>
                  <a:tr h="370840">
                    <a:tc>
                      <a:txBody>
                        <a:bodyPr/>
                        <a:lstStyle/>
                        <a:p>
                          <a:r>
                            <a:rPr lang="en-US" dirty="0" smtClean="0">
                              <a:solidFill>
                                <a:schemeClr val="tx1"/>
                              </a:solidFill>
                            </a:rPr>
                            <a:t>53</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105</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53 </a:t>
                          </a:r>
                          <a:r>
                            <a:rPr lang="en-US" dirty="0" smtClean="0">
                              <a:solidFill>
                                <a:schemeClr val="tx1"/>
                              </a:solidFill>
                            </a:rPr>
                            <a:t>+ </a:t>
                          </a:r>
                          <a:r>
                            <a:rPr lang="en-US" dirty="0" smtClean="0">
                              <a:solidFill>
                                <a:schemeClr val="tx1"/>
                              </a:solidFill>
                            </a:rPr>
                            <a:t>105 </a:t>
                          </a:r>
                          <a:r>
                            <a:rPr lang="en-US" dirty="0" smtClean="0">
                              <a:solidFill>
                                <a:schemeClr val="tx1"/>
                              </a:solidFill>
                            </a:rPr>
                            <a:t>- </a:t>
                          </a:r>
                          <a:r>
                            <a:rPr lang="en-US" dirty="0" smtClean="0">
                              <a:solidFill>
                                <a:schemeClr val="tx1"/>
                              </a:solidFill>
                            </a:rPr>
                            <a:t>151 </a:t>
                          </a:r>
                          <a:r>
                            <a:rPr lang="en-US" dirty="0" smtClean="0">
                              <a:solidFill>
                                <a:schemeClr val="tx1"/>
                              </a:solidFill>
                            </a:rPr>
                            <a:t>= </a:t>
                          </a:r>
                          <a:r>
                            <a:rPr lang="en-US" baseline="0" dirty="0" smtClean="0">
                              <a:solidFill>
                                <a:schemeClr val="tx1"/>
                              </a:solidFill>
                            </a:rPr>
                            <a:t> + 7</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3571245"/>
                      </a:ext>
                    </a:extLst>
                  </a:tr>
                  <a:tr h="370840">
                    <a:tc>
                      <a:txBody>
                        <a:bodyPr/>
                        <a:lstStyle/>
                        <a:p>
                          <a:r>
                            <a:rPr lang="en-US" dirty="0" smtClean="0">
                              <a:solidFill>
                                <a:schemeClr val="tx1"/>
                              </a:solidFill>
                            </a:rPr>
                            <a:t>60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120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60 </a:t>
                          </a:r>
                          <a:r>
                            <a:rPr lang="en-US" dirty="0" smtClean="0">
                              <a:solidFill>
                                <a:schemeClr val="tx1"/>
                              </a:solidFill>
                            </a:rPr>
                            <a:t>+ </a:t>
                          </a:r>
                          <a:r>
                            <a:rPr lang="en-US" dirty="0" smtClean="0">
                              <a:solidFill>
                                <a:schemeClr val="tx1"/>
                              </a:solidFill>
                            </a:rPr>
                            <a:t>120 </a:t>
                          </a:r>
                          <a:r>
                            <a:rPr lang="en-US" dirty="0" smtClean="0">
                              <a:solidFill>
                                <a:schemeClr val="tx1"/>
                              </a:solidFill>
                            </a:rPr>
                            <a:t>- </a:t>
                          </a:r>
                          <a:r>
                            <a:rPr lang="en-US" dirty="0" smtClean="0">
                              <a:solidFill>
                                <a:schemeClr val="tx1"/>
                              </a:solidFill>
                            </a:rPr>
                            <a:t>151 </a:t>
                          </a:r>
                          <a:r>
                            <a:rPr lang="en-US" dirty="0" smtClean="0">
                              <a:solidFill>
                                <a:schemeClr val="tx1"/>
                              </a:solidFill>
                            </a:rPr>
                            <a:t>= </a:t>
                          </a:r>
                          <a:r>
                            <a:rPr lang="en-US" baseline="0" dirty="0" smtClean="0">
                              <a:solidFill>
                                <a:schemeClr val="tx1"/>
                              </a:solidFill>
                            </a:rPr>
                            <a:t> +</a:t>
                          </a:r>
                          <a:endParaRPr lang="en-US"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43673760"/>
                      </a:ext>
                    </a:extLst>
                  </a:tr>
                  <a:tr h="370840">
                    <a:tc>
                      <a:txBody>
                        <a:bodyPr/>
                        <a:lstStyle/>
                        <a:p>
                          <a:r>
                            <a:rPr lang="en-US" dirty="0" smtClean="0">
                              <a:solidFill>
                                <a:schemeClr val="tx1"/>
                              </a:solidFill>
                            </a:rPr>
                            <a:t>45</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90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45 </a:t>
                          </a:r>
                          <a:r>
                            <a:rPr lang="en-US" dirty="0" smtClean="0">
                              <a:solidFill>
                                <a:schemeClr val="tx1"/>
                              </a:solidFill>
                            </a:rPr>
                            <a:t>+ </a:t>
                          </a:r>
                          <a:r>
                            <a:rPr lang="en-US" dirty="0" smtClean="0">
                              <a:solidFill>
                                <a:schemeClr val="tx1"/>
                              </a:solidFill>
                            </a:rPr>
                            <a:t>90 </a:t>
                          </a:r>
                          <a:r>
                            <a:rPr lang="en-US" dirty="0" smtClean="0">
                              <a:solidFill>
                                <a:schemeClr val="tx1"/>
                              </a:solidFill>
                            </a:rPr>
                            <a:t>- </a:t>
                          </a:r>
                          <a:r>
                            <a:rPr lang="en-US" dirty="0" smtClean="0">
                              <a:solidFill>
                                <a:schemeClr val="tx1"/>
                              </a:solidFill>
                            </a:rPr>
                            <a:t>151= -</a:t>
                          </a:r>
                          <a:endParaRPr lang="en-US"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3535390"/>
                      </a:ext>
                    </a:extLst>
                  </a:tr>
                  <a:tr h="370840">
                    <a:tc>
                      <a:txBody>
                        <a:bodyPr/>
                        <a:lstStyle/>
                        <a:p>
                          <a:r>
                            <a:rPr lang="en-US" dirty="0" smtClean="0">
                              <a:solidFill>
                                <a:schemeClr val="tx1"/>
                              </a:solidFill>
                            </a:rPr>
                            <a:t>40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90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40 + 90 - 151=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23246830"/>
                      </a:ext>
                    </a:extLst>
                  </a:tr>
                </a:tbl>
              </a:graphicData>
            </a:graphic>
          </p:graphicFrame>
        </mc:Fallback>
      </mc:AlternateContent>
      <p:sp>
        <p:nvSpPr>
          <p:cNvPr id="8" name="TextBox 7"/>
          <p:cNvSpPr txBox="1"/>
          <p:nvPr/>
        </p:nvSpPr>
        <p:spPr>
          <a:xfrm>
            <a:off x="751114" y="3274598"/>
            <a:ext cx="739305" cy="369332"/>
          </a:xfrm>
          <a:prstGeom prst="rect">
            <a:avLst/>
          </a:prstGeom>
          <a:noFill/>
        </p:spPr>
        <p:txBody>
          <a:bodyPr wrap="none" rtlCol="0">
            <a:spAutoFit/>
          </a:bodyPr>
          <a:lstStyle/>
          <a:p>
            <a:r>
              <a:rPr lang="en-US" dirty="0"/>
              <a:t>W1=1</a:t>
            </a:r>
          </a:p>
        </p:txBody>
      </p:sp>
      <p:sp>
        <p:nvSpPr>
          <p:cNvPr id="11" name="TextBox 10"/>
          <p:cNvSpPr txBox="1"/>
          <p:nvPr/>
        </p:nvSpPr>
        <p:spPr>
          <a:xfrm>
            <a:off x="1894114" y="3274597"/>
            <a:ext cx="739305" cy="369332"/>
          </a:xfrm>
          <a:prstGeom prst="rect">
            <a:avLst/>
          </a:prstGeom>
          <a:noFill/>
        </p:spPr>
        <p:txBody>
          <a:bodyPr wrap="none" rtlCol="0">
            <a:spAutoFit/>
          </a:bodyPr>
          <a:lstStyle/>
          <a:p>
            <a:r>
              <a:rPr lang="en-US" dirty="0"/>
              <a:t>W2=1</a:t>
            </a:r>
          </a:p>
        </p:txBody>
      </p:sp>
      <p:sp>
        <p:nvSpPr>
          <p:cNvPr id="12" name="TextBox 11"/>
          <p:cNvSpPr txBox="1"/>
          <p:nvPr/>
        </p:nvSpPr>
        <p:spPr>
          <a:xfrm>
            <a:off x="3429000" y="3274599"/>
            <a:ext cx="949299" cy="369332"/>
          </a:xfrm>
          <a:prstGeom prst="rect">
            <a:avLst/>
          </a:prstGeom>
          <a:noFill/>
        </p:spPr>
        <p:txBody>
          <a:bodyPr wrap="none" rtlCol="0">
            <a:spAutoFit/>
          </a:bodyPr>
          <a:lstStyle/>
          <a:p>
            <a:r>
              <a:rPr lang="en-US" dirty="0"/>
              <a:t>b = -151</a:t>
            </a:r>
          </a:p>
        </p:txBody>
      </p:sp>
      <p:sp>
        <p:nvSpPr>
          <p:cNvPr id="5" name="TextBox 4"/>
          <p:cNvSpPr txBox="1"/>
          <p:nvPr/>
        </p:nvSpPr>
        <p:spPr>
          <a:xfrm>
            <a:off x="184558" y="1082180"/>
            <a:ext cx="5251508" cy="1200329"/>
          </a:xfrm>
          <a:prstGeom prst="rect">
            <a:avLst/>
          </a:prstGeom>
          <a:noFill/>
        </p:spPr>
        <p:txBody>
          <a:bodyPr wrap="square" rtlCol="0">
            <a:spAutoFit/>
          </a:bodyPr>
          <a:lstStyle/>
          <a:p>
            <a:r>
              <a:rPr lang="en-US" dirty="0"/>
              <a:t>A tiny realistic scenario(see </a:t>
            </a:r>
            <a:r>
              <a:rPr lang="en-US" dirty="0" err="1"/>
              <a:t>jupyter</a:t>
            </a:r>
            <a:r>
              <a:rPr lang="en-US" dirty="0"/>
              <a:t> n/b):</a:t>
            </a:r>
          </a:p>
          <a:p>
            <a:r>
              <a:rPr lang="en-US" dirty="0"/>
              <a:t>We want the neuron to fire (output = 1) only if:</a:t>
            </a:r>
          </a:p>
          <a:p>
            <a:r>
              <a:rPr lang="en-US" dirty="0"/>
              <a:t>temperature &gt; 50, and</a:t>
            </a:r>
          </a:p>
          <a:p>
            <a:r>
              <a:rPr lang="en-US" dirty="0"/>
              <a:t>pressure &gt; 100</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7826" y="3004974"/>
            <a:ext cx="3378372" cy="3412224"/>
          </a:xfrm>
          <a:prstGeom prst="rect">
            <a:avLst/>
          </a:prstGeom>
        </p:spPr>
      </p:pic>
      <p:sp>
        <p:nvSpPr>
          <p:cNvPr id="7" name="Oval 6"/>
          <p:cNvSpPr/>
          <p:nvPr/>
        </p:nvSpPr>
        <p:spPr>
          <a:xfrm>
            <a:off x="10771469" y="3775048"/>
            <a:ext cx="75501" cy="594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10856757" y="3692556"/>
            <a:ext cx="75501" cy="5942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5" name="Oval 24"/>
          <p:cNvSpPr/>
          <p:nvPr/>
        </p:nvSpPr>
        <p:spPr>
          <a:xfrm>
            <a:off x="10915480" y="3499609"/>
            <a:ext cx="75501" cy="5942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10722533" y="3877114"/>
            <a:ext cx="75501" cy="594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647032" y="3893892"/>
            <a:ext cx="75501" cy="594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1994CD56-33FC-48D5-B332-6D8BA222831E}"/>
              </a:ext>
            </a:extLst>
          </p:cNvPr>
          <p:cNvSpPr>
            <a:spLocks noGrp="1"/>
          </p:cNvSpPr>
          <p:nvPr>
            <p:ph type="sldNum" sz="quarter" idx="12"/>
          </p:nvPr>
        </p:nvSpPr>
        <p:spPr/>
        <p:txBody>
          <a:bodyPr/>
          <a:lstStyle/>
          <a:p>
            <a:fld id="{2E30D265-8AE4-4D83-9D5E-333CB7475336}" type="slidenum">
              <a:rPr lang="en-US" smtClean="0"/>
              <a:t>10</a:t>
            </a:fld>
            <a:endParaRPr lang="en-US"/>
          </a:p>
        </p:txBody>
      </p:sp>
    </p:spTree>
    <p:extLst>
      <p:ext uri="{BB962C8B-B14F-4D97-AF65-F5344CB8AC3E}">
        <p14:creationId xmlns:p14="http://schemas.microsoft.com/office/powerpoint/2010/main" val="1798178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141" y="114754"/>
            <a:ext cx="3910239" cy="614589"/>
          </a:xfrm>
        </p:spPr>
        <p:txBody>
          <a:bodyPr>
            <a:normAutofit fontScale="90000"/>
          </a:bodyPr>
          <a:lstStyle/>
          <a:p>
            <a:r>
              <a:rPr lang="en-US" dirty="0"/>
              <a:t>Perceptron(p3)</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2029" y="332695"/>
            <a:ext cx="4469265" cy="2670902"/>
          </a:xfrm>
          <a:prstGeom prst="rect">
            <a:avLst/>
          </a:prstGeom>
        </p:spPr>
      </p:pic>
      <p:sp>
        <p:nvSpPr>
          <p:cNvPr id="10" name="TextBox 9"/>
          <p:cNvSpPr txBox="1"/>
          <p:nvPr/>
        </p:nvSpPr>
        <p:spPr>
          <a:xfrm>
            <a:off x="163283" y="1099463"/>
            <a:ext cx="6770917" cy="2031325"/>
          </a:xfrm>
          <a:prstGeom prst="rect">
            <a:avLst/>
          </a:prstGeom>
          <a:noFill/>
        </p:spPr>
        <p:txBody>
          <a:bodyPr wrap="square" rtlCol="0">
            <a:spAutoFit/>
          </a:bodyPr>
          <a:lstStyle/>
          <a:p>
            <a:r>
              <a:rPr lang="en-US" b="1" dirty="0"/>
              <a:t>Limitations of Perceptron:</a:t>
            </a:r>
          </a:p>
          <a:p>
            <a:r>
              <a:rPr lang="en-US" b="1"/>
              <a:t>Linear sep</a:t>
            </a:r>
            <a:r>
              <a:rPr lang="en-US" b="1" dirty="0"/>
              <a:t>a</a:t>
            </a:r>
            <a:r>
              <a:rPr lang="en-US" b="1"/>
              <a:t>rability</a:t>
            </a:r>
            <a:r>
              <a:rPr lang="en-US" dirty="0"/>
              <a:t>: The perceptron can only solve problems that are linearly separable (i.e., it can only classify data that can be separated by a straight line or hyperplane). It cannot solve more complex problems like XOR.</a:t>
            </a:r>
          </a:p>
          <a:p>
            <a:r>
              <a:rPr lang="en-US" b="1" dirty="0"/>
              <a:t>Single-layer model</a:t>
            </a:r>
            <a:r>
              <a:rPr lang="en-US" dirty="0"/>
              <a:t>: The original perceptron is a single-layer model and does not have hidden layers, limiting its expressiveness.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588" y="3803877"/>
            <a:ext cx="3400425" cy="1819275"/>
          </a:xfrm>
          <a:prstGeom prst="rect">
            <a:avLst/>
          </a:prstGeom>
        </p:spPr>
      </p:pic>
      <p:sp>
        <p:nvSpPr>
          <p:cNvPr id="5" name="TextBox 4"/>
          <p:cNvSpPr txBox="1"/>
          <p:nvPr/>
        </p:nvSpPr>
        <p:spPr>
          <a:xfrm>
            <a:off x="4474029" y="3428646"/>
            <a:ext cx="5736771" cy="646331"/>
          </a:xfrm>
          <a:prstGeom prst="rect">
            <a:avLst/>
          </a:prstGeom>
          <a:noFill/>
        </p:spPr>
        <p:txBody>
          <a:bodyPr wrap="square" rtlCol="0">
            <a:spAutoFit/>
          </a:bodyPr>
          <a:lstStyle/>
          <a:p>
            <a:r>
              <a:rPr lang="en-US" dirty="0"/>
              <a:t>You cannot find w1,w2 and b values in </a:t>
            </a:r>
            <a:r>
              <a:rPr lang="en-US" b="1" dirty="0"/>
              <a:t>single</a:t>
            </a:r>
            <a:r>
              <a:rPr lang="en-US" dirty="0"/>
              <a:t> perceptron that would give XOR output.</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9573" y="4001202"/>
            <a:ext cx="2605898" cy="2735694"/>
          </a:xfrm>
          <a:prstGeom prst="rect">
            <a:avLst/>
          </a:prstGeom>
        </p:spPr>
      </p:pic>
      <p:sp>
        <p:nvSpPr>
          <p:cNvPr id="6" name="Slide Number Placeholder 5">
            <a:extLst>
              <a:ext uri="{FF2B5EF4-FFF2-40B4-BE49-F238E27FC236}">
                <a16:creationId xmlns:a16="http://schemas.microsoft.com/office/drawing/2014/main" id="{961A07F4-BADC-017F-868C-DEF34251CEF4}"/>
              </a:ext>
            </a:extLst>
          </p:cNvPr>
          <p:cNvSpPr>
            <a:spLocks noGrp="1"/>
          </p:cNvSpPr>
          <p:nvPr>
            <p:ph type="sldNum" sz="quarter" idx="12"/>
          </p:nvPr>
        </p:nvSpPr>
        <p:spPr/>
        <p:txBody>
          <a:bodyPr/>
          <a:lstStyle/>
          <a:p>
            <a:fld id="{2E30D265-8AE4-4D83-9D5E-333CB7475336}" type="slidenum">
              <a:rPr lang="en-US" smtClean="0"/>
              <a:t>11</a:t>
            </a:fld>
            <a:endParaRPr lang="en-US"/>
          </a:p>
        </p:txBody>
      </p:sp>
    </p:spTree>
    <p:extLst>
      <p:ext uri="{BB962C8B-B14F-4D97-AF65-F5344CB8AC3E}">
        <p14:creationId xmlns:p14="http://schemas.microsoft.com/office/powerpoint/2010/main" val="3050249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141" y="114754"/>
            <a:ext cx="4016705" cy="614589"/>
          </a:xfrm>
        </p:spPr>
        <p:txBody>
          <a:bodyPr>
            <a:normAutofit fontScale="90000"/>
          </a:bodyPr>
          <a:lstStyle/>
          <a:p>
            <a:r>
              <a:rPr lang="en-US" dirty="0"/>
              <a:t>Perceptron(p4)</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7372" y="74916"/>
            <a:ext cx="5437191" cy="3969806"/>
          </a:xfrm>
          <a:prstGeom prst="rect">
            <a:avLst/>
          </a:prstGeom>
        </p:spPr>
      </p:pic>
      <p:sp>
        <p:nvSpPr>
          <p:cNvPr id="10" name="TextBox 9"/>
          <p:cNvSpPr txBox="1"/>
          <p:nvPr/>
        </p:nvSpPr>
        <p:spPr>
          <a:xfrm>
            <a:off x="163283" y="1099463"/>
            <a:ext cx="4448046" cy="369332"/>
          </a:xfrm>
          <a:prstGeom prst="rect">
            <a:avLst/>
          </a:prstGeom>
          <a:noFill/>
        </p:spPr>
        <p:txBody>
          <a:bodyPr wrap="square" rtlCol="0">
            <a:spAutoFit/>
          </a:bodyPr>
          <a:lstStyle/>
          <a:p>
            <a:r>
              <a:rPr lang="en-US" b="1" dirty="0"/>
              <a:t>Multi Layer Perceptron solves XOR problem:</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567" y="1681065"/>
            <a:ext cx="3606655" cy="1878465"/>
          </a:xfrm>
          <a:prstGeom prst="rect">
            <a:avLst/>
          </a:prstGeom>
        </p:spPr>
      </p:pic>
      <p:sp>
        <p:nvSpPr>
          <p:cNvPr id="5" name="Slide Number Placeholder 4">
            <a:extLst>
              <a:ext uri="{FF2B5EF4-FFF2-40B4-BE49-F238E27FC236}">
                <a16:creationId xmlns:a16="http://schemas.microsoft.com/office/drawing/2014/main" id="{06015B61-DAFF-2017-FF4D-E882D478BB51}"/>
              </a:ext>
            </a:extLst>
          </p:cNvPr>
          <p:cNvSpPr>
            <a:spLocks noGrp="1"/>
          </p:cNvSpPr>
          <p:nvPr>
            <p:ph type="sldNum" sz="quarter" idx="12"/>
          </p:nvPr>
        </p:nvSpPr>
        <p:spPr/>
        <p:txBody>
          <a:bodyPr/>
          <a:lstStyle/>
          <a:p>
            <a:fld id="{2E30D265-8AE4-4D83-9D5E-333CB7475336}" type="slidenum">
              <a:rPr lang="en-US" smtClean="0"/>
              <a:t>12</a:t>
            </a:fld>
            <a:endParaRPr lang="en-US"/>
          </a:p>
        </p:txBody>
      </p:sp>
      <p:sp>
        <p:nvSpPr>
          <p:cNvPr id="12" name="TextBox 11"/>
          <p:cNvSpPr txBox="1"/>
          <p:nvPr/>
        </p:nvSpPr>
        <p:spPr>
          <a:xfrm>
            <a:off x="272142" y="5310483"/>
            <a:ext cx="5538724" cy="646331"/>
          </a:xfrm>
          <a:prstGeom prst="rect">
            <a:avLst/>
          </a:prstGeom>
          <a:noFill/>
        </p:spPr>
        <p:txBody>
          <a:bodyPr wrap="square" rtlCol="0">
            <a:spAutoFit/>
          </a:bodyPr>
          <a:lstStyle/>
          <a:p>
            <a:r>
              <a:rPr lang="en-US" dirty="0"/>
              <a:t>A Multi-Layer-Perceptron is composed of one </a:t>
            </a:r>
            <a:r>
              <a:rPr lang="en-US" b="1" dirty="0"/>
              <a:t>input layer</a:t>
            </a:r>
            <a:r>
              <a:rPr lang="en-US" dirty="0"/>
              <a:t>, one or more </a:t>
            </a:r>
            <a:r>
              <a:rPr lang="en-US" b="1" dirty="0"/>
              <a:t>hidden layers</a:t>
            </a:r>
            <a:r>
              <a:rPr lang="en-US" dirty="0"/>
              <a:t>, and one </a:t>
            </a:r>
            <a:r>
              <a:rPr lang="en-US" b="1" dirty="0"/>
              <a:t>output layer.</a:t>
            </a: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2808" y="4000195"/>
            <a:ext cx="3225086" cy="2793253"/>
          </a:xfrm>
          <a:prstGeom prst="rect">
            <a:avLst/>
          </a:prstGeom>
        </p:spPr>
      </p:pic>
    </p:spTree>
    <p:extLst>
      <p:ext uri="{BB962C8B-B14F-4D97-AF65-F5344CB8AC3E}">
        <p14:creationId xmlns:p14="http://schemas.microsoft.com/office/powerpoint/2010/main" val="95215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73" y="375884"/>
            <a:ext cx="7432042" cy="3113768"/>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9E7183F-360D-BF05-B243-8182543795A3}"/>
                  </a:ext>
                </a:extLst>
              </p:cNvPr>
              <p:cNvSpPr txBox="1"/>
              <p:nvPr/>
            </p:nvSpPr>
            <p:spPr>
              <a:xfrm>
                <a:off x="167952" y="4986083"/>
                <a:ext cx="6812482" cy="1841017"/>
              </a:xfrm>
              <a:prstGeom prst="rect">
                <a:avLst/>
              </a:prstGeom>
              <a:noFill/>
            </p:spPr>
            <p:txBody>
              <a:bodyPr wrap="square" rtlCol="0">
                <a:spAutoFit/>
              </a:bodyPr>
              <a:lstStyle/>
              <a:p>
                <a:r>
                  <a:rPr lang="en-US" dirty="0"/>
                  <a:t>So, output for neuron j, </a:t>
                </a:r>
                <a14:m>
                  <m:oMath xmlns:m="http://schemas.openxmlformats.org/officeDocument/2006/math">
                    <m:sSub>
                      <m:sSubPr>
                        <m:ctrlPr>
                          <a:rPr lang="en-US" i="1" smtClean="0">
                            <a:solidFill>
                              <a:srgbClr val="836967"/>
                            </a:solidFill>
                            <a:latin typeface="Cambria Math" panose="02040503050406030204" pitchFamily="18" charset="0"/>
                          </a:rPr>
                        </m:ctrlPr>
                      </m:sSubPr>
                      <m:e>
                        <m:r>
                          <a:rPr lang="en-US" i="1" smtClean="0">
                            <a:latin typeface="Cambria Math" panose="02040503050406030204" pitchFamily="18" charset="0"/>
                          </a:rPr>
                          <m:t>𝑎</m:t>
                        </m:r>
                      </m:e>
                      <m:sub>
                        <m:r>
                          <a:rPr lang="en-US" i="1" smtClean="0">
                            <a:latin typeface="Cambria Math" panose="02040503050406030204" pitchFamily="18" charset="0"/>
                          </a:rPr>
                          <m:t>𝑗</m:t>
                        </m:r>
                      </m:sub>
                    </m:sSub>
                  </m:oMath>
                </a14:m>
                <a:r>
                  <a:rPr lang="en-US" dirty="0"/>
                  <a:t> :</a:t>
                </a:r>
              </a:p>
              <a:p>
                <a:pPr/>
                <a14:m>
                  <m:oMathPara xmlns:m="http://schemas.openxmlformats.org/officeDocument/2006/math">
                    <m:oMathParaPr>
                      <m:jc m:val="left"/>
                    </m:oMathParaPr>
                    <m:oMath xmlns:m="http://schemas.openxmlformats.org/officeDocument/2006/math">
                      <m:r>
                        <a:rPr lang="en-US" b="0" i="0" smtClean="0">
                          <a:solidFill>
                            <a:srgbClr val="836967"/>
                          </a:solidFill>
                          <a:latin typeface="Cambria Math" panose="02040503050406030204" pitchFamily="18" charset="0"/>
                        </a:rPr>
                        <m:t> </m:t>
                      </m:r>
                      <m:sSub>
                        <m:sSubPr>
                          <m:ctrlPr>
                            <a:rPr lang="en-US" i="1" smtClean="0">
                              <a:solidFill>
                                <a:srgbClr val="836967"/>
                              </a:solidFill>
                              <a:latin typeface="Cambria Math" panose="02040503050406030204" pitchFamily="18" charset="0"/>
                            </a:rPr>
                          </m:ctrlPr>
                        </m:sSubPr>
                        <m:e>
                          <m:r>
                            <a:rPr lang="en-US" i="1" smtClean="0">
                              <a:latin typeface="Cambria Math" panose="02040503050406030204" pitchFamily="18" charset="0"/>
                            </a:rPr>
                            <m:t>𝑎</m:t>
                          </m:r>
                        </m:e>
                        <m:sub>
                          <m:r>
                            <a:rPr lang="en-US"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0</m:t>
                              </m:r>
                              <m:r>
                                <a:rPr lang="en-US" i="1">
                                  <a:latin typeface="Cambria Math" panose="02040503050406030204" pitchFamily="18" charset="0"/>
                                </a:rPr>
                                <m:t>𝑗</m:t>
                              </m:r>
                            </m:sub>
                          </m:sSub>
                          <m:r>
                            <a:rPr lang="en-US" b="0" i="1" smtClean="0">
                              <a:latin typeface="Cambria Math" panose="02040503050406030204" pitchFamily="18" charset="0"/>
                            </a:rPr>
                            <m:t> ∗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i="1">
                                  <a:solidFill>
                                    <a:srgbClr val="836967"/>
                                  </a:solidFill>
                                  <a:latin typeface="Cambria Math" panose="02040503050406030204" pitchFamily="18" charset="0"/>
                                </a:rPr>
                              </m:ctrlPr>
                            </m:sSubPr>
                            <m:e>
                              <m:r>
                                <a:rPr lang="en-US" b="0" i="1" smtClean="0">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US" b="0" i="0" smtClean="0">
                                      <a:latin typeface="Cambria Math" panose="02040503050406030204" pitchFamily="18" charset="0"/>
                                    </a:rPr>
                                    <m:t>1</m:t>
                                  </m:r>
                                  <m:r>
                                    <a:rPr lang="en-US" i="1">
                                      <a:latin typeface="Cambria Math" panose="02040503050406030204" pitchFamily="18" charset="0"/>
                                    </a:rPr>
                                    <m:t>𝑗</m:t>
                                  </m:r>
                                </m:sub>
                              </m:sSub>
                              <m:r>
                                <a:rPr lang="en-US" b="0" i="1" smtClean="0">
                                  <a:latin typeface="Cambria Math" panose="02040503050406030204" pitchFamily="18" charset="0"/>
                                </a:rPr>
                                <m:t> ∗ </m:t>
                              </m:r>
                              <m:r>
                                <a:rPr lang="en-US" i="1">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a:solidFill>
                                    <a:srgbClr val="836967"/>
                                  </a:solidFill>
                                  <a:latin typeface="Cambria Math" panose="02040503050406030204" pitchFamily="18" charset="0"/>
                                </a:rPr>
                              </m:ctrlPr>
                            </m:sSubPr>
                            <m:e>
                              <m:r>
                                <a:rPr lang="en-US" i="1">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US" b="0" i="1" smtClean="0">
                                      <a:latin typeface="Cambria Math" panose="02040503050406030204" pitchFamily="18" charset="0"/>
                                    </a:rPr>
                                    <m:t>2</m:t>
                                  </m:r>
                                  <m:r>
                                    <a:rPr lang="en-US" i="1">
                                      <a:latin typeface="Cambria Math" panose="02040503050406030204" pitchFamily="18" charset="0"/>
                                    </a:rPr>
                                    <m:t>𝑗</m:t>
                                  </m:r>
                                </m:sub>
                              </m:sSub>
                              <m:r>
                                <a:rPr lang="en-US" i="1">
                                  <a:latin typeface="Cambria Math" panose="02040503050406030204" pitchFamily="18" charset="0"/>
                                </a:rPr>
                                <m:t> ∗ </m:t>
                              </m:r>
                              <m:r>
                                <a:rPr lang="en-US" i="1">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i="1">
                                  <a:solidFill>
                                    <a:srgbClr val="836967"/>
                                  </a:solidFill>
                                  <a:latin typeface="Cambria Math" panose="02040503050406030204" pitchFamily="18" charset="0"/>
                                </a:rPr>
                              </m:ctrlPr>
                            </m:sSubPr>
                            <m:e>
                              <m:r>
                                <a:rPr lang="en-US" i="1">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m:rPr>
                                      <m:sty m:val="p"/>
                                    </m:rPr>
                                    <a:rPr lang="en-US" b="0" i="0" smtClean="0">
                                      <a:latin typeface="Cambria Math" panose="02040503050406030204" pitchFamily="18" charset="0"/>
                                    </a:rPr>
                                    <m:t>n</m:t>
                                  </m:r>
                                  <m:r>
                                    <a:rPr lang="en-US" i="1">
                                      <a:latin typeface="Cambria Math" panose="02040503050406030204" pitchFamily="18" charset="0"/>
                                    </a:rPr>
                                    <m:t>𝑗</m:t>
                                  </m:r>
                                </m:sub>
                              </m:sSub>
                              <m:r>
                                <a:rPr lang="en-US" i="1">
                                  <a:latin typeface="Cambria Math" panose="02040503050406030204" pitchFamily="18" charset="0"/>
                                </a:rPr>
                                <m:t> ∗ </m:t>
                              </m:r>
                              <m:r>
                                <a:rPr lang="en-US" i="1">
                                  <a:latin typeface="Cambria Math" panose="02040503050406030204" pitchFamily="18" charset="0"/>
                                </a:rPr>
                                <m:t>𝑎</m:t>
                              </m:r>
                            </m:e>
                            <m:sub>
                              <m:r>
                                <a:rPr lang="en-US" b="0" i="1" smtClean="0">
                                  <a:latin typeface="Cambria Math" panose="02040503050406030204" pitchFamily="18" charset="0"/>
                                </a:rPr>
                                <m:t>𝑛</m:t>
                              </m:r>
                            </m:sub>
                          </m:sSub>
                        </m:e>
                      </m:d>
                    </m:oMath>
                  </m:oMathPara>
                </a14:m>
                <a:endParaRPr lang="en-US" b="0" dirty="0"/>
              </a:p>
              <a:p>
                <a:endParaRPr lang="en-US" b="0" dirty="0"/>
              </a:p>
              <a:p>
                <a:r>
                  <a:rPr lang="en-US" dirty="0"/>
                  <a:t>(or using vector notation)</a:t>
                </a:r>
              </a:p>
              <a:p>
                <a:endParaRPr lang="en-US" b="0" dirty="0"/>
              </a:p>
              <a:p>
                <a:r>
                  <a:rPr lang="en-US" dirty="0"/>
                  <a:t>= </a:t>
                </a:r>
                <a14:m>
                  <m:oMath xmlns:m="http://schemas.openxmlformats.org/officeDocument/2006/math">
                    <m:r>
                      <a:rPr lang="en-US" i="1">
                        <a:latin typeface="Cambria Math" panose="02040503050406030204" pitchFamily="18" charset="0"/>
                      </a:rPr>
                      <m:t>𝑔</m:t>
                    </m:r>
                    <m:r>
                      <a:rPr lang="en-US" b="0" i="1" smtClean="0">
                        <a:latin typeface="Cambria Math" panose="02040503050406030204" pitchFamily="18" charset="0"/>
                      </a:rPr>
                      <m:t>( </m:t>
                    </m:r>
                    <m:r>
                      <a:rPr lang="en-US" b="0" i="1" smtClean="0">
                        <a:latin typeface="Cambria Math" panose="02040503050406030204" pitchFamily="18" charset="0"/>
                      </a:rPr>
                      <m:t>𝑏</m:t>
                    </m:r>
                    <m:r>
                      <a:rPr lang="en-US" b="0" i="1" smtClean="0">
                        <a:latin typeface="Cambria Math" panose="02040503050406030204" pitchFamily="18" charset="0"/>
                      </a:rPr>
                      <m:t>+ </m:t>
                    </m:r>
                    <m:r>
                      <a:rPr lang="en-US" b="1" i="1" smtClean="0">
                        <a:latin typeface="Cambria Math" panose="02040503050406030204" pitchFamily="18" charset="0"/>
                      </a:rPr>
                      <m:t>𝒘</m:t>
                    </m:r>
                    <m:r>
                      <a:rPr lang="en-US" b="0" i="1" smtClean="0">
                        <a:latin typeface="Cambria Math" panose="02040503050406030204" pitchFamily="18" charset="0"/>
                      </a:rPr>
                      <m:t>∗</m:t>
                    </m:r>
                    <m:r>
                      <a:rPr lang="en-US" b="1" i="1" smtClean="0">
                        <a:latin typeface="Cambria Math" panose="02040503050406030204" pitchFamily="18" charset="0"/>
                      </a:rPr>
                      <m:t>𝒂</m:t>
                    </m:r>
                    <m:r>
                      <a:rPr lang="en-US" b="0" i="1" smtClean="0">
                        <a:latin typeface="Cambria Math" panose="02040503050406030204" pitchFamily="18" charset="0"/>
                      </a:rPr>
                      <m:t>  )</m:t>
                    </m:r>
                  </m:oMath>
                </a14:m>
                <a:r>
                  <a:rPr lang="en-US" dirty="0"/>
                  <a:t> , here b = </a:t>
                </a:r>
                <a14:m>
                  <m:oMath xmlns:m="http://schemas.openxmlformats.org/officeDocument/2006/math">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0</m:t>
                        </m:r>
                        <m:r>
                          <a:rPr lang="en-US" i="1">
                            <a:latin typeface="Cambria Math" panose="02040503050406030204" pitchFamily="18" charset="0"/>
                          </a:rPr>
                          <m:t>𝑗</m:t>
                        </m:r>
                      </m:sub>
                    </m:sSub>
                    <m:r>
                      <a:rPr lang="en-US" i="1">
                        <a:latin typeface="Cambria Math" panose="02040503050406030204" pitchFamily="18" charset="0"/>
                      </a:rPr>
                      <m:t> ∗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0</m:t>
                        </m:r>
                      </m:sub>
                    </m:sSub>
                    <m:r>
                      <a:rPr lang="en-US" b="0" i="1" smtClean="0">
                        <a:latin typeface="Cambria Math" panose="02040503050406030204" pitchFamily="18" charset="0"/>
                      </a:rPr>
                      <m:t>=</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0</m:t>
                        </m:r>
                        <m:r>
                          <a:rPr lang="en-US" i="1">
                            <a:latin typeface="Cambria Math" panose="02040503050406030204" pitchFamily="18" charset="0"/>
                          </a:rPr>
                          <m:t>𝑗</m:t>
                        </m:r>
                      </m:sub>
                    </m:sSub>
                  </m:oMath>
                </a14:m>
                <a:r>
                  <a:rPr lang="en-IN" b="0" dirty="0"/>
                  <a:t> , is called bias.</a:t>
                </a:r>
                <a:endParaRPr lang="en-US" b="0" dirty="0"/>
              </a:p>
            </p:txBody>
          </p:sp>
        </mc:Choice>
        <mc:Fallback xmlns="">
          <p:sp>
            <p:nvSpPr>
              <p:cNvPr id="6" name="TextBox 5">
                <a:extLst>
                  <a:ext uri="{FF2B5EF4-FFF2-40B4-BE49-F238E27FC236}">
                    <a16:creationId xmlns:a16="http://schemas.microsoft.com/office/drawing/2014/main" id="{79E7183F-360D-BF05-B243-8182543795A3}"/>
                  </a:ext>
                </a:extLst>
              </p:cNvPr>
              <p:cNvSpPr txBox="1">
                <a:spLocks noRot="1" noChangeAspect="1" noMove="1" noResize="1" noEditPoints="1" noAdjustHandles="1" noChangeArrowheads="1" noChangeShapeType="1" noTextEdit="1"/>
              </p:cNvSpPr>
              <p:nvPr/>
            </p:nvSpPr>
            <p:spPr>
              <a:xfrm>
                <a:off x="167952" y="4986083"/>
                <a:ext cx="6812482" cy="1841017"/>
              </a:xfrm>
              <a:prstGeom prst="rect">
                <a:avLst/>
              </a:prstGeom>
              <a:blipFill>
                <a:blip r:embed="rId3"/>
                <a:stretch>
                  <a:fillRect l="-806" t="-1656" b="-3311"/>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C12E595D-6CB8-1B6D-3BF7-C9EE6F1089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1373" y="3523439"/>
            <a:ext cx="6265707" cy="1662822"/>
          </a:xfrm>
          <a:prstGeom prst="rect">
            <a:avLst/>
          </a:prstGeom>
        </p:spPr>
      </p:pic>
      <p:sp>
        <p:nvSpPr>
          <p:cNvPr id="10" name="TextBox 9">
            <a:extLst>
              <a:ext uri="{FF2B5EF4-FFF2-40B4-BE49-F238E27FC236}">
                <a16:creationId xmlns:a16="http://schemas.microsoft.com/office/drawing/2014/main" id="{C80DE993-B46D-CACC-60CC-FA4241D8E2D6}"/>
              </a:ext>
            </a:extLst>
          </p:cNvPr>
          <p:cNvSpPr txBox="1"/>
          <p:nvPr/>
        </p:nvSpPr>
        <p:spPr>
          <a:xfrm>
            <a:off x="223939" y="3728713"/>
            <a:ext cx="4851914" cy="1200329"/>
          </a:xfrm>
          <a:prstGeom prst="rect">
            <a:avLst/>
          </a:prstGeom>
          <a:noFill/>
        </p:spPr>
        <p:txBody>
          <a:bodyPr wrap="square" rtlCol="0">
            <a:spAutoFit/>
          </a:bodyPr>
          <a:lstStyle/>
          <a:p>
            <a:r>
              <a:rPr lang="en-US" dirty="0"/>
              <a:t>g() = activation function</a:t>
            </a:r>
          </a:p>
          <a:p>
            <a:r>
              <a:rPr lang="en-US" dirty="0"/>
              <a:t>w = weight given to input (determined during training)</a:t>
            </a:r>
          </a:p>
          <a:p>
            <a:r>
              <a:rPr lang="en-US" dirty="0"/>
              <a:t>a = input/output values</a:t>
            </a:r>
          </a:p>
        </p:txBody>
      </p:sp>
      <p:sp>
        <p:nvSpPr>
          <p:cNvPr id="3" name="TextBox 2"/>
          <p:cNvSpPr txBox="1"/>
          <p:nvPr/>
        </p:nvSpPr>
        <p:spPr>
          <a:xfrm>
            <a:off x="389613" y="99521"/>
            <a:ext cx="1304011" cy="523220"/>
          </a:xfrm>
          <a:prstGeom prst="rect">
            <a:avLst/>
          </a:prstGeom>
          <a:noFill/>
        </p:spPr>
        <p:txBody>
          <a:bodyPr wrap="none" rtlCol="0">
            <a:spAutoFit/>
          </a:bodyPr>
          <a:lstStyle/>
          <a:p>
            <a:r>
              <a:rPr lang="en-US" sz="2800" b="1" dirty="0"/>
              <a:t>Neuron</a:t>
            </a:r>
          </a:p>
        </p:txBody>
      </p:sp>
      <p:sp>
        <p:nvSpPr>
          <p:cNvPr id="4" name="Slide Number Placeholder 3">
            <a:extLst>
              <a:ext uri="{FF2B5EF4-FFF2-40B4-BE49-F238E27FC236}">
                <a16:creationId xmlns:a16="http://schemas.microsoft.com/office/drawing/2014/main" id="{68EE3085-B2B8-2895-2EF7-3F7734F64428}"/>
              </a:ext>
            </a:extLst>
          </p:cNvPr>
          <p:cNvSpPr>
            <a:spLocks noGrp="1"/>
          </p:cNvSpPr>
          <p:nvPr>
            <p:ph type="sldNum" sz="quarter" idx="12"/>
          </p:nvPr>
        </p:nvSpPr>
        <p:spPr/>
        <p:txBody>
          <a:bodyPr/>
          <a:lstStyle/>
          <a:p>
            <a:fld id="{2E30D265-8AE4-4D83-9D5E-333CB7475336}" type="slidenum">
              <a:rPr lang="en-US" smtClean="0"/>
              <a:t>13</a:t>
            </a:fld>
            <a:endParaRPr lang="en-US"/>
          </a:p>
        </p:txBody>
      </p:sp>
    </p:spTree>
    <p:extLst>
      <p:ext uri="{BB962C8B-B14F-4D97-AF65-F5344CB8AC3E}">
        <p14:creationId xmlns:p14="http://schemas.microsoft.com/office/powerpoint/2010/main" val="1456305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4F273-F108-F789-1C09-CAD085FD162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83ACCBE-C298-E44E-F275-3A4CDF86FA01}"/>
                  </a:ext>
                </a:extLst>
              </p:cNvPr>
              <p:cNvSpPr txBox="1"/>
              <p:nvPr/>
            </p:nvSpPr>
            <p:spPr>
              <a:xfrm>
                <a:off x="223939" y="3908433"/>
                <a:ext cx="6812482" cy="2434513"/>
              </a:xfrm>
              <a:prstGeom prst="rect">
                <a:avLst/>
              </a:prstGeom>
              <a:noFill/>
            </p:spPr>
            <p:txBody>
              <a:bodyPr wrap="square" rtlCol="0">
                <a:spAutoFit/>
              </a:bodyPr>
              <a:lstStyle/>
              <a:p>
                <a:r>
                  <a:rPr lang="en-IN" dirty="0"/>
                  <a:t>Example: n = 2, that is 2 input coming into neuron j:</a:t>
                </a:r>
              </a:p>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b="0" i="1" smtClean="0">
                              <a:solidFill>
                                <a:srgbClr val="836967"/>
                              </a:solidFill>
                              <a:latin typeface="Cambria Math" panose="02040503050406030204" pitchFamily="18" charset="0"/>
                            </a:rPr>
                            <m:t>  </m:t>
                          </m:r>
                          <m:r>
                            <a:rPr lang="en-US" i="1" smtClean="0">
                              <a:latin typeface="Cambria Math" panose="02040503050406030204" pitchFamily="18" charset="0"/>
                            </a:rPr>
                            <m:t>𝑎</m:t>
                          </m:r>
                        </m:e>
                        <m:sub>
                          <m:r>
                            <a:rPr lang="en-US" i="1" smtClean="0">
                              <a:latin typeface="Cambria Math" panose="02040503050406030204" pitchFamily="18" charset="0"/>
                            </a:rPr>
                            <m:t>𝑗</m:t>
                          </m:r>
                        </m:sub>
                      </m:sSub>
                      <m:r>
                        <a:rPr lang="en-US" b="0" i="1" smtClean="0">
                          <a:latin typeface="Cambria Math" panose="02040503050406030204" pitchFamily="18" charset="0"/>
                        </a:rPr>
                        <m:t> =</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0</m:t>
                              </m:r>
                              <m:r>
                                <a:rPr lang="en-US" i="1">
                                  <a:latin typeface="Cambria Math" panose="02040503050406030204" pitchFamily="18" charset="0"/>
                                </a:rPr>
                                <m:t>𝑗</m:t>
                              </m:r>
                            </m:sub>
                          </m:sSub>
                          <m:r>
                            <a:rPr lang="en-US" b="0" i="1" smtClean="0">
                              <a:latin typeface="Cambria Math" panose="02040503050406030204" pitchFamily="18" charset="0"/>
                            </a:rPr>
                            <m:t> ∗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i="1">
                                  <a:solidFill>
                                    <a:srgbClr val="836967"/>
                                  </a:solidFill>
                                  <a:latin typeface="Cambria Math" panose="02040503050406030204" pitchFamily="18" charset="0"/>
                                </a:rPr>
                              </m:ctrlPr>
                            </m:sSubPr>
                            <m:e>
                              <m:r>
                                <a:rPr lang="en-US" b="0" i="1" smtClean="0">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US" b="0" i="0" smtClean="0">
                                      <a:latin typeface="Cambria Math" panose="02040503050406030204" pitchFamily="18" charset="0"/>
                                    </a:rPr>
                                    <m:t>1</m:t>
                                  </m:r>
                                  <m:r>
                                    <a:rPr lang="en-US" i="1">
                                      <a:latin typeface="Cambria Math" panose="02040503050406030204" pitchFamily="18" charset="0"/>
                                    </a:rPr>
                                    <m:t>𝑗</m:t>
                                  </m:r>
                                </m:sub>
                              </m:sSub>
                              <m:r>
                                <a:rPr lang="en-US" b="0" i="1" smtClean="0">
                                  <a:latin typeface="Cambria Math" panose="02040503050406030204" pitchFamily="18" charset="0"/>
                                </a:rPr>
                                <m:t> ∗ </m:t>
                              </m:r>
                              <m:r>
                                <a:rPr lang="en-US" i="1">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a:solidFill>
                                    <a:srgbClr val="836967"/>
                                  </a:solidFill>
                                  <a:latin typeface="Cambria Math" panose="02040503050406030204" pitchFamily="18" charset="0"/>
                                </a:rPr>
                              </m:ctrlPr>
                            </m:sSubPr>
                            <m:e>
                              <m:r>
                                <a:rPr lang="en-US" i="1">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US" b="0" i="1" smtClean="0">
                                      <a:latin typeface="Cambria Math" panose="02040503050406030204" pitchFamily="18" charset="0"/>
                                    </a:rPr>
                                    <m:t>2</m:t>
                                  </m:r>
                                  <m:r>
                                    <a:rPr lang="en-US" i="1">
                                      <a:latin typeface="Cambria Math" panose="02040503050406030204" pitchFamily="18" charset="0"/>
                                    </a:rPr>
                                    <m:t>𝑗</m:t>
                                  </m:r>
                                </m:sub>
                              </m:sSub>
                              <m:r>
                                <a:rPr lang="en-US" i="1">
                                  <a:latin typeface="Cambria Math" panose="02040503050406030204" pitchFamily="18" charset="0"/>
                                </a:rPr>
                                <m:t> ∗ </m:t>
                              </m:r>
                              <m:r>
                                <a:rPr lang="en-US" i="1">
                                  <a:latin typeface="Cambria Math" panose="02040503050406030204" pitchFamily="18" charset="0"/>
                                </a:rPr>
                                <m:t>𝑎</m:t>
                              </m:r>
                            </m:e>
                            <m:sub>
                              <m:r>
                                <a:rPr lang="en-US" b="0" i="1" smtClean="0">
                                  <a:latin typeface="Cambria Math" panose="02040503050406030204" pitchFamily="18" charset="0"/>
                                </a:rPr>
                                <m:t>2</m:t>
                              </m:r>
                            </m:sub>
                          </m:sSub>
                        </m:e>
                      </m:d>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𝑔</m:t>
                      </m:r>
                      <m:d>
                        <m:dPr>
                          <m:ctrlPr>
                            <a:rPr lang="en-US" i="1">
                              <a:latin typeface="Cambria Math" panose="02040503050406030204" pitchFamily="18" charset="0"/>
                            </a:rPr>
                          </m:ctrlPr>
                        </m:dPr>
                        <m:e>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0</m:t>
                              </m:r>
                              <m:r>
                                <a:rPr lang="en-US" i="1">
                                  <a:latin typeface="Cambria Math" panose="02040503050406030204" pitchFamily="18" charset="0"/>
                                </a:rPr>
                                <m:t>𝑗</m:t>
                              </m:r>
                            </m:sub>
                          </m:sSub>
                          <m:r>
                            <a:rPr lang="en-US" i="1">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US">
                                      <a:latin typeface="Cambria Math" panose="02040503050406030204" pitchFamily="18" charset="0"/>
                                    </a:rPr>
                                    <m:t>1</m:t>
                                  </m:r>
                                  <m:r>
                                    <a:rPr lang="en-US" i="1">
                                      <a:latin typeface="Cambria Math" panose="02040503050406030204" pitchFamily="18" charset="0"/>
                                    </a:rPr>
                                    <m:t>𝑗</m:t>
                                  </m:r>
                                </m:sub>
                              </m:sSub>
                              <m:r>
                                <a:rPr lang="en-US" i="1">
                                  <a:latin typeface="Cambria Math" panose="02040503050406030204" pitchFamily="18" charset="0"/>
                                </a:rPr>
                                <m:t> ∗ </m:t>
                              </m:r>
                              <m:r>
                                <a:rPr lang="en-US" i="1">
                                  <a:latin typeface="Cambria Math" panose="02040503050406030204" pitchFamily="18" charset="0"/>
                                </a:rPr>
                                <m:t>𝑎</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solidFill>
                                    <a:srgbClr val="836967"/>
                                  </a:solidFill>
                                  <a:latin typeface="Cambria Math" panose="02040503050406030204" pitchFamily="18" charset="0"/>
                                </a:rPr>
                              </m:ctrlPr>
                            </m:sSubPr>
                            <m:e>
                              <m:r>
                                <a:rPr lang="en-US" i="1">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US" i="1">
                                      <a:latin typeface="Cambria Math" panose="02040503050406030204" pitchFamily="18" charset="0"/>
                                    </a:rPr>
                                    <m:t>2</m:t>
                                  </m:r>
                                  <m:r>
                                    <a:rPr lang="en-US" i="1">
                                      <a:latin typeface="Cambria Math" panose="02040503050406030204" pitchFamily="18" charset="0"/>
                                    </a:rPr>
                                    <m:t>𝑗</m:t>
                                  </m:r>
                                </m:sub>
                              </m:sSub>
                              <m:r>
                                <a:rPr lang="en-US" i="1">
                                  <a:latin typeface="Cambria Math" panose="02040503050406030204" pitchFamily="18" charset="0"/>
                                </a:rPr>
                                <m:t> ∗ </m:t>
                              </m:r>
                              <m:r>
                                <a:rPr lang="en-US" i="1">
                                  <a:latin typeface="Cambria Math" panose="02040503050406030204" pitchFamily="18" charset="0"/>
                                </a:rPr>
                                <m:t>𝑎</m:t>
                              </m:r>
                            </m:e>
                            <m:sub>
                              <m:r>
                                <a:rPr lang="en-US" i="1">
                                  <a:latin typeface="Cambria Math" panose="02040503050406030204" pitchFamily="18" charset="0"/>
                                </a:rPr>
                                <m:t>2</m:t>
                              </m:r>
                            </m:sub>
                          </m:sSub>
                        </m:e>
                      </m:d>
                    </m:oMath>
                  </m:oMathPara>
                </a14:m>
                <a:endParaRPr lang="en-US" dirty="0"/>
              </a:p>
              <a:p>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𝑔</m:t>
                      </m:r>
                      <m:d>
                        <m:dPr>
                          <m:ctrlPr>
                            <a:rPr lang="en-US" i="1">
                              <a:latin typeface="Cambria Math" panose="02040503050406030204" pitchFamily="18" charset="0"/>
                            </a:rPr>
                          </m:ctrlPr>
                        </m:dPr>
                        <m:e>
                          <m:r>
                            <a:rPr lang="en-US" b="0" i="1" smtClean="0">
                              <a:latin typeface="Cambria Math" panose="02040503050406030204" pitchFamily="18" charset="0"/>
                            </a:rPr>
                            <m:t>𝑏</m:t>
                          </m:r>
                          <m:r>
                            <a:rPr lang="en-US" i="1">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US">
                                      <a:latin typeface="Cambria Math" panose="02040503050406030204" pitchFamily="18" charset="0"/>
                                    </a:rPr>
                                    <m:t>1</m:t>
                                  </m:r>
                                  <m:r>
                                    <a:rPr lang="en-US" i="1">
                                      <a:latin typeface="Cambria Math" panose="02040503050406030204" pitchFamily="18" charset="0"/>
                                    </a:rPr>
                                    <m:t>𝑗</m:t>
                                  </m:r>
                                </m:sub>
                              </m:sSub>
                              <m:r>
                                <a:rPr lang="en-US" i="1">
                                  <a:latin typeface="Cambria Math" panose="02040503050406030204" pitchFamily="18" charset="0"/>
                                </a:rPr>
                                <m:t> ∗ </m:t>
                              </m:r>
                              <m:r>
                                <a:rPr lang="en-US" i="1">
                                  <a:latin typeface="Cambria Math" panose="02040503050406030204" pitchFamily="18" charset="0"/>
                                </a:rPr>
                                <m:t>𝑎</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solidFill>
                                    <a:srgbClr val="836967"/>
                                  </a:solidFill>
                                  <a:latin typeface="Cambria Math" panose="02040503050406030204" pitchFamily="18" charset="0"/>
                                </a:rPr>
                              </m:ctrlPr>
                            </m:sSubPr>
                            <m:e>
                              <m:r>
                                <a:rPr lang="en-US" i="1">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US" i="1">
                                      <a:latin typeface="Cambria Math" panose="02040503050406030204" pitchFamily="18" charset="0"/>
                                    </a:rPr>
                                    <m:t>2</m:t>
                                  </m:r>
                                  <m:r>
                                    <a:rPr lang="en-US" i="1">
                                      <a:latin typeface="Cambria Math" panose="02040503050406030204" pitchFamily="18" charset="0"/>
                                    </a:rPr>
                                    <m:t>𝑗</m:t>
                                  </m:r>
                                </m:sub>
                              </m:sSub>
                              <m:r>
                                <a:rPr lang="en-US" i="1">
                                  <a:latin typeface="Cambria Math" panose="02040503050406030204" pitchFamily="18" charset="0"/>
                                </a:rPr>
                                <m:t> ∗ </m:t>
                              </m:r>
                              <m:r>
                                <a:rPr lang="en-US" i="1">
                                  <a:latin typeface="Cambria Math" panose="02040503050406030204" pitchFamily="18" charset="0"/>
                                </a:rPr>
                                <m:t>𝑎</m:t>
                              </m:r>
                            </m:e>
                            <m:sub>
                              <m:r>
                                <a:rPr lang="en-US" i="1">
                                  <a:latin typeface="Cambria Math" panose="02040503050406030204" pitchFamily="18" charset="0"/>
                                </a:rPr>
                                <m:t>2</m:t>
                              </m:r>
                            </m:sub>
                          </m:sSub>
                        </m:e>
                      </m:d>
                    </m:oMath>
                  </m:oMathPara>
                </a14:m>
                <a:endParaRPr lang="en-US" dirty="0"/>
              </a:p>
              <a:p>
                <a:endParaRPr lang="en-US" dirty="0"/>
              </a:p>
              <a:p>
                <a:endParaRPr lang="en-US" b="0" dirty="0"/>
              </a:p>
            </p:txBody>
          </p:sp>
        </mc:Choice>
        <mc:Fallback xmlns="">
          <p:sp>
            <p:nvSpPr>
              <p:cNvPr id="6" name="TextBox 5">
                <a:extLst>
                  <a:ext uri="{FF2B5EF4-FFF2-40B4-BE49-F238E27FC236}">
                    <a16:creationId xmlns:a16="http://schemas.microsoft.com/office/drawing/2014/main" id="{B83ACCBE-C298-E44E-F275-3A4CDF86FA01}"/>
                  </a:ext>
                </a:extLst>
              </p:cNvPr>
              <p:cNvSpPr txBox="1">
                <a:spLocks noRot="1" noChangeAspect="1" noMove="1" noResize="1" noEditPoints="1" noAdjustHandles="1" noChangeArrowheads="1" noChangeShapeType="1" noTextEdit="1"/>
              </p:cNvSpPr>
              <p:nvPr/>
            </p:nvSpPr>
            <p:spPr>
              <a:xfrm>
                <a:off x="223939" y="3908433"/>
                <a:ext cx="6812482" cy="2434513"/>
              </a:xfrm>
              <a:prstGeom prst="rect">
                <a:avLst/>
              </a:prstGeom>
              <a:blipFill>
                <a:blip r:embed="rId2"/>
                <a:stretch>
                  <a:fillRect l="-806" t="-1250"/>
                </a:stretch>
              </a:blipFill>
            </p:spPr>
            <p:txBody>
              <a:bodyPr/>
              <a:lstStyle/>
              <a:p>
                <a:r>
                  <a:rPr lang="en-IN">
                    <a:noFill/>
                  </a:rPr>
                  <a:t> </a:t>
                </a:r>
              </a:p>
            </p:txBody>
          </p:sp>
        </mc:Fallback>
      </mc:AlternateContent>
      <p:sp>
        <p:nvSpPr>
          <p:cNvPr id="3" name="TextBox 2">
            <a:extLst>
              <a:ext uri="{FF2B5EF4-FFF2-40B4-BE49-F238E27FC236}">
                <a16:creationId xmlns:a16="http://schemas.microsoft.com/office/drawing/2014/main" id="{1A2B3B88-E42B-F41B-7B80-4CA446C3890A}"/>
              </a:ext>
            </a:extLst>
          </p:cNvPr>
          <p:cNvSpPr txBox="1"/>
          <p:nvPr/>
        </p:nvSpPr>
        <p:spPr>
          <a:xfrm>
            <a:off x="389613" y="174169"/>
            <a:ext cx="8235011" cy="523220"/>
          </a:xfrm>
          <a:prstGeom prst="rect">
            <a:avLst/>
          </a:prstGeom>
          <a:noFill/>
        </p:spPr>
        <p:txBody>
          <a:bodyPr wrap="none" rtlCol="0">
            <a:spAutoFit/>
          </a:bodyPr>
          <a:lstStyle/>
          <a:p>
            <a:r>
              <a:rPr lang="en-US" sz="2800" b="1" dirty="0"/>
              <a:t>Example of output from neuron labelled j with 2 input</a:t>
            </a:r>
          </a:p>
        </p:txBody>
      </p:sp>
      <p:pic>
        <p:nvPicPr>
          <p:cNvPr id="5" name="Picture 4">
            <a:extLst>
              <a:ext uri="{FF2B5EF4-FFF2-40B4-BE49-F238E27FC236}">
                <a16:creationId xmlns:a16="http://schemas.microsoft.com/office/drawing/2014/main" id="{D557D948-E387-659D-3C8E-B96086FCBE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1265407" y="-91706"/>
            <a:ext cx="2660959" cy="4732897"/>
          </a:xfrm>
          <a:prstGeom prst="rect">
            <a:avLst/>
          </a:prstGeom>
        </p:spPr>
      </p:pic>
      <p:sp>
        <p:nvSpPr>
          <p:cNvPr id="4" name="Slide Number Placeholder 3">
            <a:extLst>
              <a:ext uri="{FF2B5EF4-FFF2-40B4-BE49-F238E27FC236}">
                <a16:creationId xmlns:a16="http://schemas.microsoft.com/office/drawing/2014/main" id="{2826CA86-EE82-96C0-C7F3-18ADADF88ED0}"/>
              </a:ext>
            </a:extLst>
          </p:cNvPr>
          <p:cNvSpPr>
            <a:spLocks noGrp="1"/>
          </p:cNvSpPr>
          <p:nvPr>
            <p:ph type="sldNum" sz="quarter" idx="12"/>
          </p:nvPr>
        </p:nvSpPr>
        <p:spPr/>
        <p:txBody>
          <a:bodyPr/>
          <a:lstStyle/>
          <a:p>
            <a:fld id="{2E30D265-8AE4-4D83-9D5E-333CB7475336}" type="slidenum">
              <a:rPr lang="en-US" smtClean="0"/>
              <a:t>14</a:t>
            </a:fld>
            <a:endParaRPr lang="en-US"/>
          </a:p>
        </p:txBody>
      </p:sp>
    </p:spTree>
    <p:extLst>
      <p:ext uri="{BB962C8B-B14F-4D97-AF65-F5344CB8AC3E}">
        <p14:creationId xmlns:p14="http://schemas.microsoft.com/office/powerpoint/2010/main" val="768754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4A3E2-9820-1DA5-665B-809AC626513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C2B9907-10C7-439F-A166-AE8CAEA01364}"/>
              </a:ext>
            </a:extLst>
          </p:cNvPr>
          <p:cNvSpPr txBox="1"/>
          <p:nvPr/>
        </p:nvSpPr>
        <p:spPr>
          <a:xfrm>
            <a:off x="7842378" y="6444342"/>
            <a:ext cx="2960914" cy="307777"/>
          </a:xfrm>
          <a:prstGeom prst="rect">
            <a:avLst/>
          </a:prstGeom>
          <a:noFill/>
        </p:spPr>
        <p:txBody>
          <a:bodyPr wrap="square" rtlCol="0">
            <a:spAutoFit/>
          </a:bodyPr>
          <a:lstStyle/>
          <a:p>
            <a:r>
              <a:rPr lang="en-US" sz="1400" b="1" dirty="0"/>
              <a:t>See next page for activation function</a:t>
            </a:r>
          </a:p>
        </p:txBody>
      </p:sp>
      <mc:AlternateContent xmlns:mc="http://schemas.openxmlformats.org/markup-compatibility/2006" xmlns:a14="http://schemas.microsoft.com/office/drawing/2010/main">
        <mc:Choice Requires="a14">
          <p:sp>
            <p:nvSpPr>
              <p:cNvPr id="2" name="TextBox 1"/>
              <p:cNvSpPr txBox="1"/>
              <p:nvPr/>
            </p:nvSpPr>
            <p:spPr>
              <a:xfrm>
                <a:off x="609600" y="4666860"/>
                <a:ext cx="11298862" cy="2095702"/>
              </a:xfrm>
              <a:prstGeom prst="rect">
                <a:avLst/>
              </a:prstGeom>
              <a:noFill/>
            </p:spPr>
            <p:txBody>
              <a:bodyPr wrap="none" rtlCol="0">
                <a:spAutoFit/>
              </a:bodyPr>
              <a:lstStyle/>
              <a:p>
                <a:r>
                  <a:rPr lang="en-IN" dirty="0"/>
                  <a:t>So for n = 2, that is 2 input coming into 1</a:t>
                </a:r>
                <a:r>
                  <a:rPr lang="en-IN" baseline="30000" dirty="0"/>
                  <a:t>st</a:t>
                </a:r>
                <a:r>
                  <a:rPr lang="en-IN" dirty="0"/>
                  <a:t> neuron(j=1):</a:t>
                </a:r>
                <a:endParaRPr lang="en-US" dirty="0"/>
              </a:p>
              <a:p>
                <a:r>
                  <a:rPr lang="en-US" dirty="0"/>
                  <a:t>Example: </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Let</m:t>
                    </m:r>
                    <m:r>
                      <a:rPr lang="en-US">
                        <a:latin typeface="Cambria Math" panose="02040503050406030204" pitchFamily="18" charset="0"/>
                      </a:rPr>
                      <m:t> </m:t>
                    </m:r>
                    <m:d>
                      <m:dPr>
                        <m:ctrlPr>
                          <a:rPr lang="en-US" i="1">
                            <a:latin typeface="Cambria Math" panose="02040503050406030204" pitchFamily="18" charset="0"/>
                          </a:rPr>
                        </m:ctrlPr>
                      </m:dPr>
                      <m:e>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0</m:t>
                            </m:r>
                            <m:r>
                              <a:rPr lang="en-US" i="1">
                                <a:latin typeface="Cambria Math" panose="02040503050406030204" pitchFamily="18" charset="0"/>
                              </a:rPr>
                              <m:t>𝑗</m:t>
                            </m:r>
                          </m:sub>
                        </m:sSub>
                        <m:r>
                          <a:rPr lang="en-US" i="1">
                            <a:latin typeface="Cambria Math" panose="02040503050406030204" pitchFamily="18" charset="0"/>
                          </a:rPr>
                          <m:t>=0.5,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0</m:t>
                            </m:r>
                          </m:sub>
                        </m:sSub>
                        <m:r>
                          <a:rPr lang="en-US" i="1">
                            <a:latin typeface="Cambria Math" panose="02040503050406030204" pitchFamily="18" charset="0"/>
                          </a:rPr>
                          <m:t>=1,  </m:t>
                        </m:r>
                        <m:sSub>
                          <m:sSubPr>
                            <m:ctrlPr>
                              <a:rPr lang="en-US" i="1">
                                <a:solidFill>
                                  <a:srgbClr val="836967"/>
                                </a:solidFill>
                                <a:latin typeface="Cambria Math" panose="02040503050406030204" pitchFamily="18" charset="0"/>
                              </a:rPr>
                            </m:ctrlPr>
                          </m:sSubPr>
                          <m:e>
                            <m:r>
                              <a:rPr lang="en-US" i="1">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US">
                                    <a:latin typeface="Cambria Math" panose="02040503050406030204" pitchFamily="18" charset="0"/>
                                  </a:rPr>
                                  <m:t>1</m:t>
                                </m:r>
                                <m:r>
                                  <a:rPr lang="en-US" i="1">
                                    <a:latin typeface="Cambria Math" panose="02040503050406030204" pitchFamily="18" charset="0"/>
                                  </a:rPr>
                                  <m:t>𝑗</m:t>
                                </m:r>
                              </m:sub>
                            </m:sSub>
                            <m:r>
                              <a:rPr lang="en-US" i="1">
                                <a:latin typeface="Cambria Math" panose="02040503050406030204" pitchFamily="18" charset="0"/>
                              </a:rPr>
                              <m:t>=0.1,  </m:t>
                            </m:r>
                            <m:r>
                              <a:rPr lang="en-US" i="1">
                                <a:latin typeface="Cambria Math" panose="02040503050406030204" pitchFamily="18" charset="0"/>
                              </a:rPr>
                              <m:t>𝑎</m:t>
                            </m:r>
                          </m:e>
                          <m:sub>
                            <m:r>
                              <a:rPr lang="en-US" i="1">
                                <a:latin typeface="Cambria Math" panose="02040503050406030204" pitchFamily="18" charset="0"/>
                              </a:rPr>
                              <m:t>1</m:t>
                            </m:r>
                          </m:sub>
                        </m:sSub>
                        <m:r>
                          <a:rPr lang="en-US" i="1">
                            <a:latin typeface="Cambria Math" panose="02040503050406030204" pitchFamily="18" charset="0"/>
                          </a:rPr>
                          <m:t>=10,</m:t>
                        </m:r>
                        <m:sSub>
                          <m:sSubPr>
                            <m:ctrlPr>
                              <a:rPr lang="en-US" i="1">
                                <a:solidFill>
                                  <a:srgbClr val="836967"/>
                                </a:solidFill>
                                <a:latin typeface="Cambria Math" panose="02040503050406030204" pitchFamily="18" charset="0"/>
                              </a:rPr>
                            </m:ctrlPr>
                          </m:sSubPr>
                          <m:e>
                            <m:r>
                              <a:rPr lang="en-US" i="1">
                                <a:solidFill>
                                  <a:srgbClr val="836967"/>
                                </a:solidFill>
                                <a:latin typeface="Cambria Math" panose="02040503050406030204" pitchFamily="18" charset="0"/>
                              </a:rPr>
                              <m:t>  </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𝑤</m:t>
                                </m:r>
                              </m:e>
                              <m:sub>
                                <m:r>
                                  <a:rPr lang="en-US" i="1">
                                    <a:latin typeface="Cambria Math" panose="02040503050406030204" pitchFamily="18" charset="0"/>
                                  </a:rPr>
                                  <m:t>2</m:t>
                                </m:r>
                                <m:r>
                                  <a:rPr lang="en-US" i="1">
                                    <a:latin typeface="Cambria Math" panose="02040503050406030204" pitchFamily="18" charset="0"/>
                                  </a:rPr>
                                  <m:t>𝑗</m:t>
                                </m:r>
                              </m:sub>
                            </m:sSub>
                            <m:r>
                              <a:rPr lang="en-US" i="1">
                                <a:latin typeface="Cambria Math" panose="02040503050406030204" pitchFamily="18" charset="0"/>
                              </a:rPr>
                              <m:t>=1,  </m:t>
                            </m:r>
                            <m:r>
                              <a:rPr lang="en-US" i="1">
                                <a:latin typeface="Cambria Math" panose="02040503050406030204" pitchFamily="18" charset="0"/>
                              </a:rPr>
                              <m:t>𝑎</m:t>
                            </m:r>
                          </m:e>
                          <m:sub>
                            <m:r>
                              <a:rPr lang="en-US" i="1">
                                <a:latin typeface="Cambria Math" panose="02040503050406030204" pitchFamily="18" charset="0"/>
                              </a:rPr>
                              <m:t>2</m:t>
                            </m:r>
                          </m:sub>
                        </m:sSub>
                        <m:r>
                          <a:rPr lang="en-US" i="1">
                            <a:latin typeface="Cambria Math" panose="02040503050406030204" pitchFamily="18" charset="0"/>
                          </a:rPr>
                          <m:t>=30,</m:t>
                        </m:r>
                      </m:e>
                    </m:d>
                  </m:oMath>
                </a14:m>
                <a:r>
                  <a:rPr lang="en-IN" dirty="0"/>
                  <a:t> and g(z) = max( 0, z ) , a </a:t>
                </a:r>
                <a:r>
                  <a:rPr lang="en-IN" dirty="0" err="1"/>
                  <a:t>ReLU</a:t>
                </a:r>
                <a:r>
                  <a:rPr lang="en-IN" dirty="0"/>
                  <a:t> function. </a:t>
                </a:r>
              </a:p>
              <a:p>
                <a:r>
                  <a:rPr lang="en-IN" dirty="0"/>
                  <a:t>Then,</a:t>
                </a:r>
              </a:p>
              <a:p>
                <a14:m>
                  <m:oMath xmlns:m="http://schemas.openxmlformats.org/officeDocument/2006/math">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𝑗</m:t>
                        </m:r>
                      </m:sub>
                    </m:sSub>
                  </m:oMath>
                </a14:m>
                <a:r>
                  <a:rPr lang="en-IN" dirty="0"/>
                  <a:t> = g ( 0.5*1  + 0.1*10  + 1*30 )</a:t>
                </a:r>
              </a:p>
              <a:p>
                <a:r>
                  <a:rPr lang="en-IN" dirty="0"/>
                  <a:t>     = g( 31.5 ) </a:t>
                </a:r>
              </a:p>
              <a:p>
                <a:r>
                  <a:rPr lang="en-IN" dirty="0"/>
                  <a:t>     = max( 0, 31.5 ) </a:t>
                </a:r>
              </a:p>
              <a:p>
                <a:r>
                  <a:rPr lang="en-IN" dirty="0"/>
                  <a:t>     = 31.5</a:t>
                </a:r>
              </a:p>
            </p:txBody>
          </p:sp>
        </mc:Choice>
        <mc:Fallback xmlns="">
          <p:sp>
            <p:nvSpPr>
              <p:cNvPr id="2" name="TextBox 1"/>
              <p:cNvSpPr txBox="1">
                <a:spLocks noRot="1" noChangeAspect="1" noMove="1" noResize="1" noEditPoints="1" noAdjustHandles="1" noChangeArrowheads="1" noChangeShapeType="1" noTextEdit="1"/>
              </p:cNvSpPr>
              <p:nvPr/>
            </p:nvSpPr>
            <p:spPr>
              <a:xfrm>
                <a:off x="609600" y="4666860"/>
                <a:ext cx="11298862" cy="2095702"/>
              </a:xfrm>
              <a:prstGeom prst="rect">
                <a:avLst/>
              </a:prstGeom>
              <a:blipFill>
                <a:blip r:embed="rId2"/>
                <a:stretch>
                  <a:fillRect l="-432" t="-1749" b="-4082"/>
                </a:stretch>
              </a:blipFill>
            </p:spPr>
            <p:txBody>
              <a:bodyPr/>
              <a:lstStyle/>
              <a:p>
                <a:r>
                  <a:rPr lang="en-IN">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2024579" y="-1461500"/>
            <a:ext cx="4145761" cy="7373827"/>
          </a:xfrm>
          <a:prstGeom prst="rect">
            <a:avLst/>
          </a:prstGeom>
        </p:spPr>
      </p:pic>
      <p:sp>
        <p:nvSpPr>
          <p:cNvPr id="4" name="Slide Number Placeholder 3">
            <a:extLst>
              <a:ext uri="{FF2B5EF4-FFF2-40B4-BE49-F238E27FC236}">
                <a16:creationId xmlns:a16="http://schemas.microsoft.com/office/drawing/2014/main" id="{0F546D2C-6329-2C38-B1E9-07051CCE1465}"/>
              </a:ext>
            </a:extLst>
          </p:cNvPr>
          <p:cNvSpPr>
            <a:spLocks noGrp="1"/>
          </p:cNvSpPr>
          <p:nvPr>
            <p:ph type="sldNum" sz="quarter" idx="12"/>
          </p:nvPr>
        </p:nvSpPr>
        <p:spPr/>
        <p:txBody>
          <a:bodyPr/>
          <a:lstStyle/>
          <a:p>
            <a:fld id="{2E30D265-8AE4-4D83-9D5E-333CB7475336}" type="slidenum">
              <a:rPr lang="en-US" smtClean="0"/>
              <a:t>15</a:t>
            </a:fld>
            <a:endParaRPr lang="en-US"/>
          </a:p>
        </p:txBody>
      </p:sp>
    </p:spTree>
    <p:extLst>
      <p:ext uri="{BB962C8B-B14F-4D97-AF65-F5344CB8AC3E}">
        <p14:creationId xmlns:p14="http://schemas.microsoft.com/office/powerpoint/2010/main" val="2170076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F5F73-F4F0-82D2-AAE2-069C52357C4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399EEF4-7D1F-95CB-9C4E-146D1C503D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816" y="835742"/>
            <a:ext cx="3418010" cy="1406527"/>
          </a:xfrm>
          <a:prstGeom prst="rect">
            <a:avLst/>
          </a:prstGeom>
        </p:spPr>
      </p:pic>
      <p:pic>
        <p:nvPicPr>
          <p:cNvPr id="5" name="Picture 4">
            <a:extLst>
              <a:ext uri="{FF2B5EF4-FFF2-40B4-BE49-F238E27FC236}">
                <a16:creationId xmlns:a16="http://schemas.microsoft.com/office/drawing/2014/main" id="{CAF2858E-39E0-F0EA-6CF4-985C184EA9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337" y="3691587"/>
            <a:ext cx="3418010" cy="1406527"/>
          </a:xfrm>
          <a:prstGeom prst="rect">
            <a:avLst/>
          </a:prstGeom>
        </p:spPr>
      </p:pic>
      <p:pic>
        <p:nvPicPr>
          <p:cNvPr id="8" name="Picture 7">
            <a:extLst>
              <a:ext uri="{FF2B5EF4-FFF2-40B4-BE49-F238E27FC236}">
                <a16:creationId xmlns:a16="http://schemas.microsoft.com/office/drawing/2014/main" id="{FB7F0570-B5D3-8203-8617-BA6798E37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9445" y="185060"/>
            <a:ext cx="3418010" cy="1406527"/>
          </a:xfrm>
          <a:prstGeom prst="rect">
            <a:avLst/>
          </a:prstGeom>
        </p:spPr>
      </p:pic>
      <p:pic>
        <p:nvPicPr>
          <p:cNvPr id="9" name="Picture 8">
            <a:extLst>
              <a:ext uri="{FF2B5EF4-FFF2-40B4-BE49-F238E27FC236}">
                <a16:creationId xmlns:a16="http://schemas.microsoft.com/office/drawing/2014/main" id="{0CBAE546-A88A-9EE6-212C-417120008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4863" y="1711712"/>
            <a:ext cx="3418010" cy="1406527"/>
          </a:xfrm>
          <a:prstGeom prst="rect">
            <a:avLst/>
          </a:prstGeom>
        </p:spPr>
      </p:pic>
      <p:pic>
        <p:nvPicPr>
          <p:cNvPr id="10" name="Picture 9">
            <a:extLst>
              <a:ext uri="{FF2B5EF4-FFF2-40B4-BE49-F238E27FC236}">
                <a16:creationId xmlns:a16="http://schemas.microsoft.com/office/drawing/2014/main" id="{059F5398-F66F-810B-ED4B-C6A5BFB208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8471" y="3262210"/>
            <a:ext cx="3418010" cy="1406527"/>
          </a:xfrm>
          <a:prstGeom prst="rect">
            <a:avLst/>
          </a:prstGeom>
        </p:spPr>
      </p:pic>
      <p:pic>
        <p:nvPicPr>
          <p:cNvPr id="11" name="Picture 10">
            <a:extLst>
              <a:ext uri="{FF2B5EF4-FFF2-40B4-BE49-F238E27FC236}">
                <a16:creationId xmlns:a16="http://schemas.microsoft.com/office/drawing/2014/main" id="{E5327816-1C69-6B85-4139-8793542FA3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9791" y="4733200"/>
            <a:ext cx="3418010" cy="1406527"/>
          </a:xfrm>
          <a:prstGeom prst="rect">
            <a:avLst/>
          </a:prstGeom>
        </p:spPr>
      </p:pic>
      <p:pic>
        <p:nvPicPr>
          <p:cNvPr id="12" name="Picture 11">
            <a:extLst>
              <a:ext uri="{FF2B5EF4-FFF2-40B4-BE49-F238E27FC236}">
                <a16:creationId xmlns:a16="http://schemas.microsoft.com/office/drawing/2014/main" id="{9AE54300-1866-4F9A-411A-6F4C2CD4B9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2559" y="1664003"/>
            <a:ext cx="3418010" cy="1406527"/>
          </a:xfrm>
          <a:prstGeom prst="rect">
            <a:avLst/>
          </a:prstGeom>
        </p:spPr>
      </p:pic>
      <p:pic>
        <p:nvPicPr>
          <p:cNvPr id="13" name="Picture 12">
            <a:extLst>
              <a:ext uri="{FF2B5EF4-FFF2-40B4-BE49-F238E27FC236}">
                <a16:creationId xmlns:a16="http://schemas.microsoft.com/office/drawing/2014/main" id="{BE006E9E-AADF-CCC5-B811-495B45331D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2559" y="3741671"/>
            <a:ext cx="3418010" cy="1406527"/>
          </a:xfrm>
          <a:prstGeom prst="rect">
            <a:avLst/>
          </a:prstGeom>
        </p:spPr>
      </p:pic>
      <p:sp>
        <p:nvSpPr>
          <p:cNvPr id="14" name="TextBox 13">
            <a:extLst>
              <a:ext uri="{FF2B5EF4-FFF2-40B4-BE49-F238E27FC236}">
                <a16:creationId xmlns:a16="http://schemas.microsoft.com/office/drawing/2014/main" id="{7EA90176-A7A1-F802-D56E-AF4788886187}"/>
              </a:ext>
            </a:extLst>
          </p:cNvPr>
          <p:cNvSpPr txBox="1"/>
          <p:nvPr/>
        </p:nvSpPr>
        <p:spPr>
          <a:xfrm>
            <a:off x="1351322" y="6428762"/>
            <a:ext cx="1448816" cy="400110"/>
          </a:xfrm>
          <a:prstGeom prst="rect">
            <a:avLst/>
          </a:prstGeom>
          <a:noFill/>
        </p:spPr>
        <p:txBody>
          <a:bodyPr wrap="square" rtlCol="0">
            <a:spAutoFit/>
          </a:bodyPr>
          <a:lstStyle/>
          <a:p>
            <a:r>
              <a:rPr lang="en-US" sz="2000" dirty="0"/>
              <a:t>Input layer</a:t>
            </a:r>
            <a:endParaRPr lang="en-IN" sz="2000" dirty="0"/>
          </a:p>
        </p:txBody>
      </p:sp>
      <p:sp>
        <p:nvSpPr>
          <p:cNvPr id="15" name="TextBox 14">
            <a:extLst>
              <a:ext uri="{FF2B5EF4-FFF2-40B4-BE49-F238E27FC236}">
                <a16:creationId xmlns:a16="http://schemas.microsoft.com/office/drawing/2014/main" id="{FD749054-7C23-18B2-8CFC-09BE71026BF4}"/>
              </a:ext>
            </a:extLst>
          </p:cNvPr>
          <p:cNvSpPr txBox="1"/>
          <p:nvPr/>
        </p:nvSpPr>
        <p:spPr>
          <a:xfrm>
            <a:off x="5211204" y="6438040"/>
            <a:ext cx="1667664" cy="400110"/>
          </a:xfrm>
          <a:prstGeom prst="rect">
            <a:avLst/>
          </a:prstGeom>
          <a:noFill/>
        </p:spPr>
        <p:txBody>
          <a:bodyPr wrap="square" rtlCol="0">
            <a:spAutoFit/>
          </a:bodyPr>
          <a:lstStyle/>
          <a:p>
            <a:r>
              <a:rPr lang="en-US" sz="2000" dirty="0"/>
              <a:t>Hidden layer</a:t>
            </a:r>
            <a:endParaRPr lang="en-IN" sz="2000" dirty="0"/>
          </a:p>
        </p:txBody>
      </p:sp>
      <p:sp>
        <p:nvSpPr>
          <p:cNvPr id="16" name="TextBox 15">
            <a:extLst>
              <a:ext uri="{FF2B5EF4-FFF2-40B4-BE49-F238E27FC236}">
                <a16:creationId xmlns:a16="http://schemas.microsoft.com/office/drawing/2014/main" id="{F1E8E2FF-7451-2E8D-272E-12C734C44212}"/>
              </a:ext>
            </a:extLst>
          </p:cNvPr>
          <p:cNvSpPr txBox="1"/>
          <p:nvPr/>
        </p:nvSpPr>
        <p:spPr>
          <a:xfrm>
            <a:off x="9322555" y="6271060"/>
            <a:ext cx="1662326" cy="400110"/>
          </a:xfrm>
          <a:prstGeom prst="rect">
            <a:avLst/>
          </a:prstGeom>
          <a:noFill/>
        </p:spPr>
        <p:txBody>
          <a:bodyPr wrap="square" rtlCol="0">
            <a:spAutoFit/>
          </a:bodyPr>
          <a:lstStyle/>
          <a:p>
            <a:r>
              <a:rPr lang="en-US" sz="2000" dirty="0"/>
              <a:t>Output layer</a:t>
            </a:r>
            <a:endParaRPr lang="en-IN" sz="2000" dirty="0"/>
          </a:p>
        </p:txBody>
      </p:sp>
      <p:sp>
        <p:nvSpPr>
          <p:cNvPr id="2" name="Slide Number Placeholder 1">
            <a:extLst>
              <a:ext uri="{FF2B5EF4-FFF2-40B4-BE49-F238E27FC236}">
                <a16:creationId xmlns:a16="http://schemas.microsoft.com/office/drawing/2014/main" id="{BB83AB21-0925-2927-BC00-890A901F9F0C}"/>
              </a:ext>
            </a:extLst>
          </p:cNvPr>
          <p:cNvSpPr>
            <a:spLocks noGrp="1"/>
          </p:cNvSpPr>
          <p:nvPr>
            <p:ph type="sldNum" sz="quarter" idx="12"/>
          </p:nvPr>
        </p:nvSpPr>
        <p:spPr/>
        <p:txBody>
          <a:bodyPr/>
          <a:lstStyle/>
          <a:p>
            <a:fld id="{2E30D265-8AE4-4D83-9D5E-333CB7475336}" type="slidenum">
              <a:rPr lang="en-US" smtClean="0"/>
              <a:t>16</a:t>
            </a:fld>
            <a:endParaRPr lang="en-US"/>
          </a:p>
        </p:txBody>
      </p:sp>
    </p:spTree>
    <p:extLst>
      <p:ext uri="{BB962C8B-B14F-4D97-AF65-F5344CB8AC3E}">
        <p14:creationId xmlns:p14="http://schemas.microsoft.com/office/powerpoint/2010/main" val="261749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2142" y="500332"/>
            <a:ext cx="6835198" cy="5909992"/>
          </a:xfrm>
          <a:prstGeom prst="rect">
            <a:avLst/>
          </a:prstGeom>
        </p:spPr>
      </p:pic>
      <p:sp>
        <p:nvSpPr>
          <p:cNvPr id="3" name="Slide Number Placeholder 2">
            <a:extLst>
              <a:ext uri="{FF2B5EF4-FFF2-40B4-BE49-F238E27FC236}">
                <a16:creationId xmlns:a16="http://schemas.microsoft.com/office/drawing/2014/main" id="{A6F7396D-D3C3-5D56-0AA4-DD3F95134C6D}"/>
              </a:ext>
            </a:extLst>
          </p:cNvPr>
          <p:cNvSpPr>
            <a:spLocks noGrp="1"/>
          </p:cNvSpPr>
          <p:nvPr>
            <p:ph type="sldNum" sz="quarter" idx="12"/>
          </p:nvPr>
        </p:nvSpPr>
        <p:spPr/>
        <p:txBody>
          <a:bodyPr/>
          <a:lstStyle/>
          <a:p>
            <a:fld id="{2E30D265-8AE4-4D83-9D5E-333CB7475336}" type="slidenum">
              <a:rPr lang="en-US" smtClean="0"/>
              <a:t>17</a:t>
            </a:fld>
            <a:endParaRPr lang="en-US"/>
          </a:p>
        </p:txBody>
      </p:sp>
    </p:spTree>
    <p:extLst>
      <p:ext uri="{BB962C8B-B14F-4D97-AF65-F5344CB8AC3E}">
        <p14:creationId xmlns:p14="http://schemas.microsoft.com/office/powerpoint/2010/main" val="504538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0C1FEDB0-2282-60F1-A0A6-6A3AC7B46492}"/>
              </a:ext>
            </a:extLst>
          </p:cNvPr>
          <p:cNvSpPr txBox="1"/>
          <p:nvPr/>
        </p:nvSpPr>
        <p:spPr>
          <a:xfrm>
            <a:off x="258924" y="224134"/>
            <a:ext cx="11478986" cy="1200329"/>
          </a:xfrm>
          <a:prstGeom prst="rect">
            <a:avLst/>
          </a:prstGeom>
          <a:noFill/>
        </p:spPr>
        <p:txBody>
          <a:bodyPr wrap="square">
            <a:spAutoFit/>
          </a:bodyPr>
          <a:lstStyle/>
          <a:p>
            <a:r>
              <a:rPr lang="en-US" dirty="0"/>
              <a:t>What type of activation unction should be used on output layer?</a:t>
            </a:r>
          </a:p>
          <a:p>
            <a:endParaRPr lang="en-US" dirty="0"/>
          </a:p>
          <a:p>
            <a:r>
              <a:rPr lang="en-US" b="1" dirty="0"/>
              <a:t>Choice of activation function in the output layer</a:t>
            </a:r>
            <a:r>
              <a:rPr lang="en-US" dirty="0"/>
              <a:t> depends directly on the </a:t>
            </a:r>
            <a:r>
              <a:rPr lang="en-US" b="1" dirty="0"/>
              <a:t>type of problem</a:t>
            </a:r>
            <a:r>
              <a:rPr lang="en-US" dirty="0"/>
              <a:t> you’re solving with an Artificial Neural Network (ANN).</a:t>
            </a:r>
            <a:endParaRPr lang="en-IN" dirty="0"/>
          </a:p>
        </p:txBody>
      </p:sp>
      <p:sp>
        <p:nvSpPr>
          <p:cNvPr id="19" name="TextBox 18">
            <a:extLst>
              <a:ext uri="{FF2B5EF4-FFF2-40B4-BE49-F238E27FC236}">
                <a16:creationId xmlns:a16="http://schemas.microsoft.com/office/drawing/2014/main" id="{8C974F1F-30D0-5705-B630-8B553BA2C881}"/>
              </a:ext>
            </a:extLst>
          </p:cNvPr>
          <p:cNvSpPr txBox="1"/>
          <p:nvPr/>
        </p:nvSpPr>
        <p:spPr>
          <a:xfrm>
            <a:off x="286917" y="1511188"/>
            <a:ext cx="6097554" cy="5078313"/>
          </a:xfrm>
          <a:prstGeom prst="rect">
            <a:avLst/>
          </a:prstGeom>
          <a:noFill/>
        </p:spPr>
        <p:txBody>
          <a:bodyPr wrap="square">
            <a:spAutoFit/>
          </a:bodyPr>
          <a:lstStyle/>
          <a:p>
            <a:pPr>
              <a:buNone/>
            </a:pPr>
            <a:r>
              <a:rPr lang="en-IN" b="1" dirty="0"/>
              <a:t>1. Regression Problems</a:t>
            </a:r>
          </a:p>
          <a:p>
            <a:endParaRPr lang="en-IN" dirty="0"/>
          </a:p>
          <a:p>
            <a:r>
              <a:rPr lang="en-IN" dirty="0"/>
              <a:t>Goal: Predict continuous values (e.g., house prices, temperature).</a:t>
            </a:r>
          </a:p>
          <a:p>
            <a:endParaRPr lang="en-IN" b="1" dirty="0"/>
          </a:p>
          <a:p>
            <a:r>
              <a:rPr lang="en-IN" b="1" dirty="0"/>
              <a:t>Output activation:</a:t>
            </a:r>
            <a:endParaRPr lang="en-IN" dirty="0"/>
          </a:p>
          <a:p>
            <a:pPr marL="742950" lvl="1" indent="-285750">
              <a:buFont typeface="Arial" panose="020B0604020202020204" pitchFamily="34" charset="0"/>
              <a:buChar char="•"/>
            </a:pPr>
            <a:r>
              <a:rPr lang="en-IN" b="1" dirty="0"/>
              <a:t>Linear (identity)</a:t>
            </a:r>
            <a:r>
              <a:rPr lang="en-IN" dirty="0"/>
              <a:t> → no activation, just raw output.</a:t>
            </a:r>
          </a:p>
          <a:p>
            <a:pPr marL="742950" lvl="1" indent="-285750">
              <a:buFont typeface="Arial" panose="020B0604020202020204" pitchFamily="34" charset="0"/>
              <a:buChar char="•"/>
            </a:pPr>
            <a:r>
              <a:rPr lang="en-IN" dirty="0"/>
              <a:t>f(x)=x</a:t>
            </a:r>
          </a:p>
          <a:p>
            <a:pPr marL="742950" lvl="1" indent="-285750">
              <a:buFont typeface="Arial" panose="020B0604020202020204" pitchFamily="34" charset="0"/>
              <a:buChar char="•"/>
            </a:pPr>
            <a:r>
              <a:rPr lang="en-IN" dirty="0"/>
              <a:t>Sometimes </a:t>
            </a:r>
            <a:r>
              <a:rPr lang="en-IN" b="1" dirty="0" err="1"/>
              <a:t>ReLU</a:t>
            </a:r>
            <a:r>
              <a:rPr lang="en-IN" dirty="0"/>
              <a:t> if the output can’t be negative (e.g., predicting age, distance).</a:t>
            </a:r>
          </a:p>
          <a:p>
            <a:endParaRPr lang="en-IN" b="1" dirty="0"/>
          </a:p>
          <a:p>
            <a:r>
              <a:rPr lang="en-IN" b="1" dirty="0"/>
              <a:t>Loss function used here</a:t>
            </a:r>
            <a:r>
              <a:rPr lang="en-IN" dirty="0"/>
              <a:t>:</a:t>
            </a:r>
          </a:p>
          <a:p>
            <a:r>
              <a:rPr lang="en-IN" b="1" dirty="0"/>
              <a:t>a) Mean Squared Error (MSE)</a:t>
            </a:r>
          </a:p>
          <a:p>
            <a:r>
              <a:rPr lang="en-IN" b="1" dirty="0"/>
              <a:t>b) Mean Absolute Error (MAE)</a:t>
            </a:r>
            <a:r>
              <a:rPr lang="en-IN" dirty="0"/>
              <a:t> if you care more about absolute deviations.</a:t>
            </a:r>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endParaRPr lang="en-IN" dirty="0"/>
          </a:p>
          <a:p>
            <a:pPr>
              <a:buNone/>
            </a:pPr>
            <a:r>
              <a:rPr lang="en-IN" dirty="0"/>
              <a:t>Example: Predicting house price in dollars.</a:t>
            </a:r>
          </a:p>
        </p:txBody>
      </p:sp>
      <p:pic>
        <p:nvPicPr>
          <p:cNvPr id="3" name="Picture 2">
            <a:extLst>
              <a:ext uri="{FF2B5EF4-FFF2-40B4-BE49-F238E27FC236}">
                <a16:creationId xmlns:a16="http://schemas.microsoft.com/office/drawing/2014/main" id="{28D4A4A6-BEC9-F97A-0502-88F7D4DF5F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1824" y="4684489"/>
            <a:ext cx="2644369" cy="586791"/>
          </a:xfrm>
          <a:prstGeom prst="rect">
            <a:avLst/>
          </a:prstGeom>
        </p:spPr>
      </p:pic>
      <p:cxnSp>
        <p:nvCxnSpPr>
          <p:cNvPr id="5" name="Straight Arrow Connector 4">
            <a:extLst>
              <a:ext uri="{FF2B5EF4-FFF2-40B4-BE49-F238E27FC236}">
                <a16:creationId xmlns:a16="http://schemas.microsoft.com/office/drawing/2014/main" id="{224F4F67-970D-538E-9C09-36379062CEB0}"/>
              </a:ext>
            </a:extLst>
          </p:cNvPr>
          <p:cNvCxnSpPr>
            <a:cxnSpLocks/>
            <a:endCxn id="3" idx="1"/>
          </p:cNvCxnSpPr>
          <p:nvPr/>
        </p:nvCxnSpPr>
        <p:spPr>
          <a:xfrm>
            <a:off x="3209731" y="4977885"/>
            <a:ext cx="38220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69058947-26B5-46BB-1C57-A0D1DD25499A}"/>
              </a:ext>
            </a:extLst>
          </p:cNvPr>
          <p:cNvSpPr>
            <a:spLocks noGrp="1"/>
          </p:cNvSpPr>
          <p:nvPr>
            <p:ph type="sldNum" sz="quarter" idx="12"/>
          </p:nvPr>
        </p:nvSpPr>
        <p:spPr/>
        <p:txBody>
          <a:bodyPr/>
          <a:lstStyle/>
          <a:p>
            <a:fld id="{2E30D265-8AE4-4D83-9D5E-333CB7475336}" type="slidenum">
              <a:rPr lang="en-US" smtClean="0"/>
              <a:t>18</a:t>
            </a:fld>
            <a:endParaRPr lang="en-US"/>
          </a:p>
        </p:txBody>
      </p:sp>
    </p:spTree>
    <p:extLst>
      <p:ext uri="{BB962C8B-B14F-4D97-AF65-F5344CB8AC3E}">
        <p14:creationId xmlns:p14="http://schemas.microsoft.com/office/powerpoint/2010/main" val="1803888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07CCC-509C-7088-3B6F-214C72B36E27}"/>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B04ED676-2D28-CA7E-3D6A-B94611A56BBC}"/>
              </a:ext>
            </a:extLst>
          </p:cNvPr>
          <p:cNvSpPr txBox="1"/>
          <p:nvPr/>
        </p:nvSpPr>
        <p:spPr>
          <a:xfrm>
            <a:off x="100304" y="725960"/>
            <a:ext cx="7056275" cy="2308324"/>
          </a:xfrm>
          <a:prstGeom prst="rect">
            <a:avLst/>
          </a:prstGeom>
          <a:noFill/>
        </p:spPr>
        <p:txBody>
          <a:bodyPr wrap="square">
            <a:spAutoFit/>
          </a:bodyPr>
          <a:lstStyle/>
          <a:p>
            <a:pPr>
              <a:buNone/>
            </a:pPr>
            <a:r>
              <a:rPr lang="en-IN" b="1" dirty="0"/>
              <a:t>2. Binary Classification Problems</a:t>
            </a:r>
          </a:p>
          <a:p>
            <a:pPr>
              <a:buFont typeface="Arial" panose="020B0604020202020204" pitchFamily="34" charset="0"/>
              <a:buChar char="•"/>
            </a:pPr>
            <a:r>
              <a:rPr lang="en-IN" dirty="0"/>
              <a:t>Goal: Predict </a:t>
            </a:r>
            <a:r>
              <a:rPr lang="en-IN" b="1" dirty="0"/>
              <a:t>two classes</a:t>
            </a:r>
            <a:r>
              <a:rPr lang="en-IN" dirty="0"/>
              <a:t> (yes/no, spam/not spam).</a:t>
            </a:r>
          </a:p>
          <a:p>
            <a:pPr>
              <a:buFont typeface="Arial" panose="020B0604020202020204" pitchFamily="34" charset="0"/>
              <a:buChar char="•"/>
            </a:pPr>
            <a:r>
              <a:rPr lang="en-IN" b="1" dirty="0"/>
              <a:t>Output activation:</a:t>
            </a:r>
            <a:endParaRPr lang="en-IN" dirty="0"/>
          </a:p>
          <a:p>
            <a:pPr marL="742950" lvl="1" indent="-285750">
              <a:buFont typeface="Arial" panose="020B0604020202020204" pitchFamily="34" charset="0"/>
              <a:buChar char="•"/>
            </a:pPr>
            <a:r>
              <a:rPr lang="en-IN" b="1" dirty="0"/>
              <a:t>Sigmoid</a:t>
            </a:r>
            <a:r>
              <a:rPr lang="en-IN" dirty="0"/>
              <a:t> → squashes output to [0,1], interpretable as probability.</a:t>
            </a:r>
          </a:p>
          <a:p>
            <a:endParaRPr lang="en-US" b="1" dirty="0"/>
          </a:p>
          <a:p>
            <a:r>
              <a:rPr lang="en-US" b="1" dirty="0"/>
              <a:t>Loss function used here</a:t>
            </a:r>
            <a:r>
              <a:rPr lang="en-US" dirty="0"/>
              <a:t>: </a:t>
            </a:r>
            <a:r>
              <a:rPr lang="en-US" b="1" dirty="0"/>
              <a:t>Binary Cross-Entropy (Log Loss)</a:t>
            </a:r>
            <a:endParaRPr lang="en-US" dirty="0"/>
          </a:p>
          <a:p>
            <a:pPr>
              <a:buNone/>
            </a:pPr>
            <a:endParaRPr lang="en-IN" dirty="0"/>
          </a:p>
          <a:p>
            <a:pPr>
              <a:buNone/>
            </a:pPr>
            <a:r>
              <a:rPr lang="en-IN" dirty="0"/>
              <a:t>Example: Predicting if a </a:t>
            </a:r>
            <a:r>
              <a:rPr lang="en-IN" dirty="0" err="1"/>
              <a:t>tumor</a:t>
            </a:r>
            <a:r>
              <a:rPr lang="en-IN" dirty="0"/>
              <a:t> is malignant (1) or benign (0).</a:t>
            </a:r>
          </a:p>
        </p:txBody>
      </p:sp>
      <p:pic>
        <p:nvPicPr>
          <p:cNvPr id="23" name="Picture 22">
            <a:extLst>
              <a:ext uri="{FF2B5EF4-FFF2-40B4-BE49-F238E27FC236}">
                <a16:creationId xmlns:a16="http://schemas.microsoft.com/office/drawing/2014/main" id="{4F679ED0-4915-3D25-E519-3AD39E03A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1610" y="1334016"/>
            <a:ext cx="1661304" cy="662997"/>
          </a:xfrm>
          <a:prstGeom prst="rect">
            <a:avLst/>
          </a:prstGeom>
        </p:spPr>
      </p:pic>
      <p:pic>
        <p:nvPicPr>
          <p:cNvPr id="3" name="Picture 2">
            <a:extLst>
              <a:ext uri="{FF2B5EF4-FFF2-40B4-BE49-F238E27FC236}">
                <a16:creationId xmlns:a16="http://schemas.microsoft.com/office/drawing/2014/main" id="{DB5C8941-2330-24BC-0472-E903687A8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3813" y="3093691"/>
            <a:ext cx="4427604" cy="670618"/>
          </a:xfrm>
          <a:prstGeom prst="rect">
            <a:avLst/>
          </a:prstGeom>
        </p:spPr>
      </p:pic>
      <p:sp>
        <p:nvSpPr>
          <p:cNvPr id="4" name="Slide Number Placeholder 3">
            <a:extLst>
              <a:ext uri="{FF2B5EF4-FFF2-40B4-BE49-F238E27FC236}">
                <a16:creationId xmlns:a16="http://schemas.microsoft.com/office/drawing/2014/main" id="{6B2BA59F-2BE2-2F18-66AB-627DCB72CC8D}"/>
              </a:ext>
            </a:extLst>
          </p:cNvPr>
          <p:cNvSpPr>
            <a:spLocks noGrp="1"/>
          </p:cNvSpPr>
          <p:nvPr>
            <p:ph type="sldNum" sz="quarter" idx="12"/>
          </p:nvPr>
        </p:nvSpPr>
        <p:spPr/>
        <p:txBody>
          <a:bodyPr/>
          <a:lstStyle/>
          <a:p>
            <a:fld id="{2E30D265-8AE4-4D83-9D5E-333CB7475336}" type="slidenum">
              <a:rPr lang="en-US" smtClean="0"/>
              <a:t>19</a:t>
            </a:fld>
            <a:endParaRPr lang="en-US"/>
          </a:p>
        </p:txBody>
      </p:sp>
    </p:spTree>
    <p:extLst>
      <p:ext uri="{BB962C8B-B14F-4D97-AF65-F5344CB8AC3E}">
        <p14:creationId xmlns:p14="http://schemas.microsoft.com/office/powerpoint/2010/main" val="20788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08F18-A555-F6A6-A772-C8B74BAD7E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A272A3-61FF-EDFE-55F5-39C595FCA59A}"/>
              </a:ext>
            </a:extLst>
          </p:cNvPr>
          <p:cNvSpPr txBox="1"/>
          <p:nvPr/>
        </p:nvSpPr>
        <p:spPr>
          <a:xfrm>
            <a:off x="184278" y="222104"/>
            <a:ext cx="9174325" cy="2954655"/>
          </a:xfrm>
          <a:prstGeom prst="rect">
            <a:avLst/>
          </a:prstGeom>
          <a:noFill/>
        </p:spPr>
        <p:txBody>
          <a:bodyPr wrap="square">
            <a:spAutoFit/>
          </a:bodyPr>
          <a:lstStyle/>
          <a:p>
            <a:pPr>
              <a:buNone/>
            </a:pPr>
            <a:r>
              <a:rPr lang="en-IN" b="1" dirty="0"/>
              <a:t>3. Multi-class Classification Problems (One-label)</a:t>
            </a:r>
          </a:p>
          <a:p>
            <a:r>
              <a:rPr lang="en-IN" dirty="0"/>
              <a:t>Goal: Predict </a:t>
            </a:r>
            <a:r>
              <a:rPr lang="en-IN" b="1" dirty="0"/>
              <a:t>one class out of many</a:t>
            </a:r>
            <a:r>
              <a:rPr lang="en-IN" dirty="0"/>
              <a:t> (mutually exclusive).</a:t>
            </a:r>
          </a:p>
          <a:p>
            <a:r>
              <a:rPr lang="en-IN" b="1" dirty="0"/>
              <a:t>Output activation:</a:t>
            </a:r>
            <a:endParaRPr lang="en-IN" dirty="0"/>
          </a:p>
          <a:p>
            <a:pPr marL="742950" lvl="1" indent="-285750">
              <a:buFont typeface="Arial" panose="020B0604020202020204" pitchFamily="34" charset="0"/>
              <a:buChar char="•"/>
            </a:pPr>
            <a:r>
              <a:rPr lang="en-IN" b="1" dirty="0" err="1"/>
              <a:t>Softmax</a:t>
            </a:r>
            <a:r>
              <a:rPr lang="en-IN" dirty="0"/>
              <a:t> → gives a probability distribution across classes, all adding up to 1.</a:t>
            </a:r>
          </a:p>
          <a:p>
            <a:endParaRPr lang="en-US" b="1" dirty="0"/>
          </a:p>
          <a:p>
            <a:r>
              <a:rPr lang="en-US" b="1" dirty="0"/>
              <a:t>Loss function used here</a:t>
            </a:r>
            <a:r>
              <a:rPr lang="en-US" dirty="0"/>
              <a:t>:</a:t>
            </a:r>
          </a:p>
          <a:p>
            <a:pPr marL="342900" indent="-342900">
              <a:buFont typeface="+mj-lt"/>
              <a:buAutoNum type="alphaUcPeriod"/>
            </a:pPr>
            <a:r>
              <a:rPr lang="en-US" b="1" dirty="0"/>
              <a:t>Categorical Cross-Entropy</a:t>
            </a:r>
            <a:r>
              <a:rPr lang="en-US" dirty="0"/>
              <a:t> (when labels are one-hot encoded)</a:t>
            </a:r>
          </a:p>
          <a:p>
            <a:pPr marL="342900" indent="-342900">
              <a:buFont typeface="+mj-lt"/>
              <a:buAutoNum type="alphaUcPeriod"/>
            </a:pPr>
            <a:r>
              <a:rPr lang="en-US" b="1" dirty="0"/>
              <a:t>Sparse Categorical Cross-Entropy</a:t>
            </a:r>
            <a:r>
              <a:rPr lang="en-US" dirty="0"/>
              <a:t> (when labels are integers, not one-hot).</a:t>
            </a:r>
            <a:endParaRPr lang="en-IN" dirty="0"/>
          </a:p>
          <a:p>
            <a:pPr lvl="1"/>
            <a:endParaRPr lang="en-IN" dirty="0"/>
          </a:p>
          <a:p>
            <a:pPr>
              <a:buNone/>
            </a:pPr>
            <a:r>
              <a:rPr lang="en-IN" dirty="0"/>
              <a:t> Example: Handwritten digit recognition (0–9).</a:t>
            </a:r>
          </a:p>
        </p:txBody>
      </p:sp>
      <p:pic>
        <p:nvPicPr>
          <p:cNvPr id="5" name="Picture 4">
            <a:extLst>
              <a:ext uri="{FF2B5EF4-FFF2-40B4-BE49-F238E27FC236}">
                <a16:creationId xmlns:a16="http://schemas.microsoft.com/office/drawing/2014/main" id="{AC27F26F-9BEE-1E04-EA99-257AEB190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0571" y="847262"/>
            <a:ext cx="1752752" cy="815411"/>
          </a:xfrm>
          <a:prstGeom prst="rect">
            <a:avLst/>
          </a:prstGeom>
        </p:spPr>
      </p:pic>
      <p:sp>
        <p:nvSpPr>
          <p:cNvPr id="7" name="TextBox 6">
            <a:extLst>
              <a:ext uri="{FF2B5EF4-FFF2-40B4-BE49-F238E27FC236}">
                <a16:creationId xmlns:a16="http://schemas.microsoft.com/office/drawing/2014/main" id="{404394E6-E1A4-0283-C8D0-5E79BEFBE826}"/>
              </a:ext>
            </a:extLst>
          </p:cNvPr>
          <p:cNvSpPr txBox="1"/>
          <p:nvPr/>
        </p:nvSpPr>
        <p:spPr>
          <a:xfrm>
            <a:off x="314909" y="3843834"/>
            <a:ext cx="9454242" cy="2862322"/>
          </a:xfrm>
          <a:prstGeom prst="rect">
            <a:avLst/>
          </a:prstGeom>
          <a:noFill/>
        </p:spPr>
        <p:txBody>
          <a:bodyPr wrap="square">
            <a:spAutoFit/>
          </a:bodyPr>
          <a:lstStyle/>
          <a:p>
            <a:pPr>
              <a:buNone/>
            </a:pPr>
            <a:r>
              <a:rPr lang="en-US" b="1" dirty="0"/>
              <a:t>4. Multi-label Classification Problems (Multiple labels possible)</a:t>
            </a:r>
          </a:p>
          <a:p>
            <a:r>
              <a:rPr lang="en-US" dirty="0"/>
              <a:t>Goal: Predict </a:t>
            </a:r>
            <a:r>
              <a:rPr lang="en-US" b="1" dirty="0"/>
              <a:t>multiple independent labels</a:t>
            </a:r>
            <a:r>
              <a:rPr lang="en-US" dirty="0"/>
              <a:t> (not mutually exclusive).</a:t>
            </a:r>
          </a:p>
          <a:p>
            <a:r>
              <a:rPr lang="en-US" b="1" dirty="0"/>
              <a:t>Output activation:</a:t>
            </a:r>
            <a:endParaRPr lang="en-US" dirty="0"/>
          </a:p>
          <a:p>
            <a:pPr marL="742950" lvl="1" indent="-285750">
              <a:buFont typeface="Arial" panose="020B0604020202020204" pitchFamily="34" charset="0"/>
              <a:buChar char="•"/>
            </a:pPr>
            <a:r>
              <a:rPr lang="en-US" b="1" dirty="0"/>
              <a:t>Sigmoid (per output node)</a:t>
            </a:r>
            <a:r>
              <a:rPr lang="en-US" dirty="0"/>
              <a:t> → each output is treated as independent probability.</a:t>
            </a:r>
          </a:p>
          <a:p>
            <a:endParaRPr lang="en-US" b="1" dirty="0"/>
          </a:p>
          <a:p>
            <a:r>
              <a:rPr lang="en-US" b="1" dirty="0"/>
              <a:t>Loss function used here</a:t>
            </a:r>
            <a:r>
              <a:rPr lang="en-US" dirty="0"/>
              <a:t>:</a:t>
            </a:r>
          </a:p>
          <a:p>
            <a:r>
              <a:rPr lang="en-US" b="1" dirty="0"/>
              <a:t>Binary Cross-Entropy</a:t>
            </a:r>
            <a:r>
              <a:rPr lang="en-US" dirty="0"/>
              <a:t> applied </a:t>
            </a:r>
            <a:r>
              <a:rPr lang="en-US" b="1" dirty="0"/>
              <a:t>independently per label</a:t>
            </a:r>
            <a:r>
              <a:rPr lang="en-US" dirty="0"/>
              <a:t>.</a:t>
            </a:r>
          </a:p>
          <a:p>
            <a:pPr lvl="1"/>
            <a:endParaRPr lang="en-US" dirty="0"/>
          </a:p>
          <a:p>
            <a:pPr>
              <a:buNone/>
            </a:pPr>
            <a:r>
              <a:rPr lang="en-US" dirty="0"/>
              <a:t>Example: Predicting which tags apply to a movie (action, comedy, romance — could be more than one).</a:t>
            </a:r>
          </a:p>
        </p:txBody>
      </p:sp>
      <p:pic>
        <p:nvPicPr>
          <p:cNvPr id="4" name="Picture 3">
            <a:extLst>
              <a:ext uri="{FF2B5EF4-FFF2-40B4-BE49-F238E27FC236}">
                <a16:creationId xmlns:a16="http://schemas.microsoft.com/office/drawing/2014/main" id="{A1E57198-8072-ED8B-D0D8-88871A2C1D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4133" y="1970833"/>
            <a:ext cx="2194750" cy="434378"/>
          </a:xfrm>
          <a:prstGeom prst="rect">
            <a:avLst/>
          </a:prstGeom>
        </p:spPr>
      </p:pic>
      <p:cxnSp>
        <p:nvCxnSpPr>
          <p:cNvPr id="8" name="Straight Arrow Connector 7">
            <a:extLst>
              <a:ext uri="{FF2B5EF4-FFF2-40B4-BE49-F238E27FC236}">
                <a16:creationId xmlns:a16="http://schemas.microsoft.com/office/drawing/2014/main" id="{773F6E83-6AA1-40FD-F250-706A32C65AD8}"/>
              </a:ext>
            </a:extLst>
          </p:cNvPr>
          <p:cNvCxnSpPr/>
          <p:nvPr/>
        </p:nvCxnSpPr>
        <p:spPr>
          <a:xfrm>
            <a:off x="6531429" y="1970833"/>
            <a:ext cx="2432704" cy="221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35087D64-DE64-B9AF-0DA6-BE75F74E0E3D}"/>
              </a:ext>
            </a:extLst>
          </p:cNvPr>
          <p:cNvSpPr>
            <a:spLocks noGrp="1"/>
          </p:cNvSpPr>
          <p:nvPr>
            <p:ph type="sldNum" sz="quarter" idx="12"/>
          </p:nvPr>
        </p:nvSpPr>
        <p:spPr/>
        <p:txBody>
          <a:bodyPr/>
          <a:lstStyle/>
          <a:p>
            <a:fld id="{2E30D265-8AE4-4D83-9D5E-333CB7475336}" type="slidenum">
              <a:rPr lang="en-US" smtClean="0"/>
              <a:t>20</a:t>
            </a:fld>
            <a:endParaRPr lang="en-US"/>
          </a:p>
        </p:txBody>
      </p:sp>
    </p:spTree>
    <p:extLst>
      <p:ext uri="{BB962C8B-B14F-4D97-AF65-F5344CB8AC3E}">
        <p14:creationId xmlns:p14="http://schemas.microsoft.com/office/powerpoint/2010/main" val="1806365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6791" y="163517"/>
            <a:ext cx="4963218" cy="3096057"/>
          </a:xfrm>
          <a:prstGeom prst="rect">
            <a:avLst/>
          </a:prstGeom>
        </p:spPr>
      </p:pic>
      <p:sp>
        <p:nvSpPr>
          <p:cNvPr id="4" name="TextBox 3"/>
          <p:cNvSpPr txBox="1"/>
          <p:nvPr/>
        </p:nvSpPr>
        <p:spPr>
          <a:xfrm>
            <a:off x="7679524" y="2537673"/>
            <a:ext cx="1979132" cy="369332"/>
          </a:xfrm>
          <a:prstGeom prst="rect">
            <a:avLst/>
          </a:prstGeom>
          <a:noFill/>
        </p:spPr>
        <p:txBody>
          <a:bodyPr wrap="none" rtlCol="0">
            <a:spAutoFit/>
          </a:bodyPr>
          <a:lstStyle/>
          <a:p>
            <a:r>
              <a:rPr lang="en-US" dirty="0"/>
              <a:t>Prediction target y`</a:t>
            </a:r>
          </a:p>
        </p:txBody>
      </p:sp>
      <p:sp>
        <p:nvSpPr>
          <p:cNvPr id="6" name="TextBox 5"/>
          <p:cNvSpPr txBox="1"/>
          <p:nvPr/>
        </p:nvSpPr>
        <p:spPr>
          <a:xfrm>
            <a:off x="7114340" y="6382353"/>
            <a:ext cx="1369927" cy="369332"/>
          </a:xfrm>
          <a:prstGeom prst="rect">
            <a:avLst/>
          </a:prstGeom>
          <a:noFill/>
        </p:spPr>
        <p:txBody>
          <a:bodyPr wrap="none" rtlCol="0">
            <a:spAutoFit/>
          </a:bodyPr>
          <a:lstStyle/>
          <a:p>
            <a:r>
              <a:rPr lang="en-US" dirty="0"/>
              <a:t>True target y</a:t>
            </a:r>
          </a:p>
        </p:txBody>
      </p:sp>
      <p:sp>
        <p:nvSpPr>
          <p:cNvPr id="7" name="Oval 6"/>
          <p:cNvSpPr/>
          <p:nvPr/>
        </p:nvSpPr>
        <p:spPr>
          <a:xfrm>
            <a:off x="4441371" y="5475514"/>
            <a:ext cx="1861458" cy="66402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Loss function</a:t>
            </a:r>
          </a:p>
        </p:txBody>
      </p:sp>
      <p:sp>
        <p:nvSpPr>
          <p:cNvPr id="8" name="TextBox 7"/>
          <p:cNvSpPr txBox="1"/>
          <p:nvPr/>
        </p:nvSpPr>
        <p:spPr>
          <a:xfrm>
            <a:off x="2645231" y="5671453"/>
            <a:ext cx="924612" cy="307777"/>
          </a:xfrm>
          <a:prstGeom prst="rect">
            <a:avLst/>
          </a:prstGeom>
          <a:noFill/>
        </p:spPr>
        <p:txBody>
          <a:bodyPr wrap="none" rtlCol="0">
            <a:spAutoFit/>
          </a:bodyPr>
          <a:lstStyle/>
          <a:p>
            <a:r>
              <a:rPr lang="en-US" sz="1400" dirty="0"/>
              <a:t>Loss score</a:t>
            </a:r>
          </a:p>
        </p:txBody>
      </p:sp>
      <p:cxnSp>
        <p:nvCxnSpPr>
          <p:cNvPr id="10" name="Straight Arrow Connector 9"/>
          <p:cNvCxnSpPr>
            <a:endCxn id="8" idx="3"/>
          </p:cNvCxnSpPr>
          <p:nvPr/>
        </p:nvCxnSpPr>
        <p:spPr>
          <a:xfrm flipH="1">
            <a:off x="3569843" y="5807528"/>
            <a:ext cx="697357" cy="17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1175659" y="4920342"/>
            <a:ext cx="1861458" cy="66402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Optimizer</a:t>
            </a:r>
          </a:p>
        </p:txBody>
      </p:sp>
      <p:cxnSp>
        <p:nvCxnSpPr>
          <p:cNvPr id="13" name="Straight Arrow Connector 12"/>
          <p:cNvCxnSpPr>
            <a:stCxn id="8" idx="1"/>
          </p:cNvCxnSpPr>
          <p:nvPr/>
        </p:nvCxnSpPr>
        <p:spPr>
          <a:xfrm flipH="1" flipV="1">
            <a:off x="2383971" y="5671453"/>
            <a:ext cx="261260" cy="153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1763486" y="3385457"/>
            <a:ext cx="881745" cy="1436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383971" y="3973286"/>
            <a:ext cx="1784015" cy="307777"/>
          </a:xfrm>
          <a:prstGeom prst="rect">
            <a:avLst/>
          </a:prstGeom>
          <a:noFill/>
        </p:spPr>
        <p:txBody>
          <a:bodyPr wrap="none" rtlCol="0">
            <a:spAutoFit/>
          </a:bodyPr>
          <a:lstStyle/>
          <a:p>
            <a:r>
              <a:rPr lang="en-US" sz="1400" dirty="0"/>
              <a:t>Updates </a:t>
            </a:r>
            <a:r>
              <a:rPr lang="en-US" sz="1400" dirty="0" err="1"/>
              <a:t>weights+bias</a:t>
            </a:r>
            <a:endParaRPr lang="en-US" sz="1400" dirty="0"/>
          </a:p>
        </p:txBody>
      </p:sp>
      <p:cxnSp>
        <p:nvCxnSpPr>
          <p:cNvPr id="18" name="Straight Arrow Connector 17"/>
          <p:cNvCxnSpPr/>
          <p:nvPr/>
        </p:nvCxnSpPr>
        <p:spPr>
          <a:xfrm flipH="1">
            <a:off x="6150430" y="3028426"/>
            <a:ext cx="1542074" cy="2511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cxnSpLocks/>
          </p:cNvCxnSpPr>
          <p:nvPr/>
        </p:nvCxnSpPr>
        <p:spPr>
          <a:xfrm flipH="1" flipV="1">
            <a:off x="6302829" y="5979230"/>
            <a:ext cx="811511"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53682" y="611654"/>
            <a:ext cx="3874266" cy="1815882"/>
          </a:xfrm>
          <a:prstGeom prst="rect">
            <a:avLst/>
          </a:prstGeom>
          <a:noFill/>
        </p:spPr>
        <p:txBody>
          <a:bodyPr wrap="none" rtlCol="0">
            <a:spAutoFit/>
          </a:bodyPr>
          <a:lstStyle/>
          <a:p>
            <a:r>
              <a:rPr lang="en-US" sz="1600" b="1" dirty="0"/>
              <a:t>Loss function </a:t>
            </a:r>
            <a:r>
              <a:rPr lang="en-US" sz="1600" dirty="0"/>
              <a:t>= defines the feedback signal</a:t>
            </a:r>
          </a:p>
          <a:p>
            <a:r>
              <a:rPr lang="en-US" sz="1600" dirty="0"/>
              <a:t> which is used for learning</a:t>
            </a:r>
          </a:p>
          <a:p>
            <a:r>
              <a:rPr lang="en-US" sz="1600" b="1" dirty="0"/>
              <a:t>Optimizer</a:t>
            </a:r>
            <a:r>
              <a:rPr lang="en-US" sz="1600" dirty="0"/>
              <a:t> = function or an algorithm that </a:t>
            </a:r>
          </a:p>
          <a:p>
            <a:r>
              <a:rPr lang="en-US" sz="1600" dirty="0"/>
              <a:t>adjusts the attributes of the neural network,</a:t>
            </a:r>
          </a:p>
          <a:p>
            <a:r>
              <a:rPr lang="en-US" sz="1600" dirty="0"/>
              <a:t> such as weights and learning rates.</a:t>
            </a:r>
          </a:p>
          <a:p>
            <a:r>
              <a:rPr lang="en-US" sz="1600" dirty="0"/>
              <a:t> Thus, it helps in reducing the overall loss </a:t>
            </a:r>
          </a:p>
          <a:p>
            <a:r>
              <a:rPr lang="en-US" sz="1600" dirty="0"/>
              <a:t>and improving accuracy</a:t>
            </a:r>
          </a:p>
        </p:txBody>
      </p:sp>
      <p:cxnSp>
        <p:nvCxnSpPr>
          <p:cNvPr id="9" name="Straight Arrow Connector 8"/>
          <p:cNvCxnSpPr>
            <a:cxnSpLocks/>
          </p:cNvCxnSpPr>
          <p:nvPr/>
        </p:nvCxnSpPr>
        <p:spPr>
          <a:xfrm>
            <a:off x="6683829" y="1894114"/>
            <a:ext cx="1008675" cy="695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271657" y="231396"/>
            <a:ext cx="3797899" cy="369332"/>
          </a:xfrm>
          <a:prstGeom prst="rect">
            <a:avLst/>
          </a:prstGeom>
          <a:noFill/>
        </p:spPr>
        <p:txBody>
          <a:bodyPr wrap="none" rtlCol="0">
            <a:spAutoFit/>
          </a:bodyPr>
          <a:lstStyle/>
          <a:p>
            <a:r>
              <a:rPr lang="en-US" b="1" dirty="0"/>
              <a:t>The flow of info. when NN are trained</a:t>
            </a:r>
          </a:p>
        </p:txBody>
      </p:sp>
      <p:sp>
        <p:nvSpPr>
          <p:cNvPr id="5" name="TextBox 4"/>
          <p:cNvSpPr txBox="1"/>
          <p:nvPr/>
        </p:nvSpPr>
        <p:spPr>
          <a:xfrm>
            <a:off x="4403187" y="6193815"/>
            <a:ext cx="2146822" cy="523220"/>
          </a:xfrm>
          <a:prstGeom prst="rect">
            <a:avLst/>
          </a:prstGeom>
          <a:noFill/>
        </p:spPr>
        <p:txBody>
          <a:bodyPr wrap="square" rtlCol="0">
            <a:spAutoFit/>
          </a:bodyPr>
          <a:lstStyle/>
          <a:p>
            <a:r>
              <a:rPr lang="en-US" sz="1400" dirty="0"/>
              <a:t>E.g. : Mean Squared Error, Cross-Entropy, etc.</a:t>
            </a:r>
          </a:p>
        </p:txBody>
      </p:sp>
      <p:sp>
        <p:nvSpPr>
          <p:cNvPr id="12" name="TextBox 11"/>
          <p:cNvSpPr txBox="1"/>
          <p:nvPr/>
        </p:nvSpPr>
        <p:spPr>
          <a:xfrm>
            <a:off x="70338" y="5655214"/>
            <a:ext cx="1442105" cy="954107"/>
          </a:xfrm>
          <a:prstGeom prst="rect">
            <a:avLst/>
          </a:prstGeom>
          <a:noFill/>
        </p:spPr>
        <p:txBody>
          <a:bodyPr wrap="square" rtlCol="0">
            <a:spAutoFit/>
          </a:bodyPr>
          <a:lstStyle/>
          <a:p>
            <a:r>
              <a:rPr lang="en-US" sz="1400" dirty="0"/>
              <a:t>E.g.: SGD, </a:t>
            </a:r>
            <a:r>
              <a:rPr lang="en-US" sz="1400" dirty="0" err="1"/>
              <a:t>AdamOptimzer</a:t>
            </a:r>
            <a:r>
              <a:rPr lang="en-US" sz="1400" dirty="0"/>
              <a:t>, </a:t>
            </a:r>
            <a:r>
              <a:rPr lang="en-US" sz="1400" dirty="0" err="1"/>
              <a:t>RMSProp</a:t>
            </a:r>
            <a:r>
              <a:rPr lang="en-US" sz="1400" dirty="0"/>
              <a:t>, </a:t>
            </a:r>
            <a:r>
              <a:rPr lang="en-US" sz="1400" dirty="0" err="1"/>
              <a:t>AdaGrad</a:t>
            </a:r>
            <a:r>
              <a:rPr lang="en-US" sz="1400" dirty="0"/>
              <a:t>, </a:t>
            </a:r>
            <a:r>
              <a:rPr lang="en-US" sz="1400" dirty="0" err="1"/>
              <a:t>etc</a:t>
            </a:r>
            <a:endParaRPr lang="en-US" sz="1400" dirty="0"/>
          </a:p>
        </p:txBody>
      </p:sp>
      <p:sp>
        <p:nvSpPr>
          <p:cNvPr id="14" name="TextBox 13"/>
          <p:cNvSpPr txBox="1"/>
          <p:nvPr/>
        </p:nvSpPr>
        <p:spPr>
          <a:xfrm>
            <a:off x="7761331" y="3651068"/>
            <a:ext cx="4499496" cy="2308324"/>
          </a:xfrm>
          <a:prstGeom prst="rect">
            <a:avLst/>
          </a:prstGeom>
          <a:noFill/>
        </p:spPr>
        <p:txBody>
          <a:bodyPr wrap="square" rtlCol="0">
            <a:spAutoFit/>
          </a:bodyPr>
          <a:lstStyle/>
          <a:p>
            <a:r>
              <a:rPr lang="en-US" sz="1600" dirty="0">
                <a:solidFill>
                  <a:srgbClr val="001D35"/>
                </a:solidFill>
                <a:latin typeface="Google Sans"/>
              </a:rPr>
              <a:t>Epoch is </a:t>
            </a:r>
            <a:r>
              <a:rPr lang="en-US" sz="1600" dirty="0"/>
              <a:t>a complete cycle of training a machine learning model on an entire dataset.</a:t>
            </a:r>
          </a:p>
          <a:p>
            <a:r>
              <a:rPr lang="en-US" sz="1600" dirty="0"/>
              <a:t>Parameters (weights and biases) are updated once per batch during training.</a:t>
            </a:r>
          </a:p>
          <a:p>
            <a:r>
              <a:rPr lang="en-US" sz="1600" dirty="0"/>
              <a:t>So, if you have 1,000 training examples and a batch size of 100, then</a:t>
            </a:r>
          </a:p>
          <a:p>
            <a:r>
              <a:rPr lang="en-US" sz="1600" dirty="0"/>
              <a:t>→ You get 10 batches per epoch,</a:t>
            </a:r>
          </a:p>
          <a:p>
            <a:r>
              <a:rPr lang="en-US" sz="1600" dirty="0"/>
              <a:t>→ Therefore, parameters are updated 10 times per epoch.</a:t>
            </a:r>
          </a:p>
        </p:txBody>
      </p:sp>
      <p:sp>
        <p:nvSpPr>
          <p:cNvPr id="17" name="Slide Number Placeholder 16">
            <a:extLst>
              <a:ext uri="{FF2B5EF4-FFF2-40B4-BE49-F238E27FC236}">
                <a16:creationId xmlns:a16="http://schemas.microsoft.com/office/drawing/2014/main" id="{07F009FB-1D0C-7EBC-C132-49F70926B805}"/>
              </a:ext>
            </a:extLst>
          </p:cNvPr>
          <p:cNvSpPr>
            <a:spLocks noGrp="1"/>
          </p:cNvSpPr>
          <p:nvPr>
            <p:ph type="sldNum" sz="quarter" idx="12"/>
          </p:nvPr>
        </p:nvSpPr>
        <p:spPr/>
        <p:txBody>
          <a:bodyPr/>
          <a:lstStyle/>
          <a:p>
            <a:fld id="{2E30D265-8AE4-4D83-9D5E-333CB7475336}" type="slidenum">
              <a:rPr lang="en-US" smtClean="0"/>
              <a:t>21</a:t>
            </a:fld>
            <a:endParaRPr lang="en-US"/>
          </a:p>
        </p:txBody>
      </p:sp>
    </p:spTree>
    <p:extLst>
      <p:ext uri="{BB962C8B-B14F-4D97-AF65-F5344CB8AC3E}">
        <p14:creationId xmlns:p14="http://schemas.microsoft.com/office/powerpoint/2010/main" val="34763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972" y="172178"/>
            <a:ext cx="10515600" cy="616387"/>
          </a:xfrm>
        </p:spPr>
        <p:txBody>
          <a:bodyPr>
            <a:normAutofit fontScale="90000"/>
          </a:bodyPr>
          <a:lstStyle/>
          <a:p>
            <a:r>
              <a:rPr lang="en-US" dirty="0"/>
              <a:t>weights and bias(p1):</a:t>
            </a:r>
          </a:p>
        </p:txBody>
      </p:sp>
      <p:sp>
        <p:nvSpPr>
          <p:cNvPr id="3" name="Content Placeholder 2"/>
          <p:cNvSpPr>
            <a:spLocks noGrp="1"/>
          </p:cNvSpPr>
          <p:nvPr>
            <p:ph idx="1"/>
          </p:nvPr>
        </p:nvSpPr>
        <p:spPr>
          <a:xfrm>
            <a:off x="250970" y="921257"/>
            <a:ext cx="4346197" cy="3961136"/>
          </a:xfrm>
        </p:spPr>
        <p:txBody>
          <a:bodyPr>
            <a:noAutofit/>
          </a:bodyPr>
          <a:lstStyle/>
          <a:p>
            <a:pPr marL="0" indent="0">
              <a:buNone/>
            </a:pPr>
            <a:r>
              <a:rPr lang="en-US" sz="1600" dirty="0"/>
              <a:t>Weights represent the importance of inputs.</a:t>
            </a:r>
          </a:p>
          <a:p>
            <a:r>
              <a:rPr lang="en-US" sz="1600" dirty="0"/>
              <a:t>A higher absolute value = more influence.</a:t>
            </a:r>
          </a:p>
          <a:p>
            <a:r>
              <a:rPr lang="en-US" sz="1600" dirty="0"/>
              <a:t>Positive weights amplify input; negative weights can invert it.</a:t>
            </a:r>
          </a:p>
          <a:p>
            <a:r>
              <a:rPr lang="en-US" sz="1600" dirty="0"/>
              <a:t>Each connection between two neurons has a weight.</a:t>
            </a:r>
          </a:p>
          <a:p>
            <a:pPr marL="0" indent="0">
              <a:buNone/>
            </a:pPr>
            <a:r>
              <a:rPr lang="en-US" sz="1600" dirty="0" err="1"/>
              <a:t>Wts</a:t>
            </a:r>
            <a:r>
              <a:rPr lang="en-US" sz="1600" dirty="0"/>
              <a:t> can be (–</a:t>
            </a:r>
            <a:r>
              <a:rPr lang="en-US" sz="1600" dirty="0" err="1"/>
              <a:t>inf</a:t>
            </a:r>
            <a:r>
              <a:rPr lang="en-US" sz="1600" dirty="0"/>
              <a:t> to +</a:t>
            </a:r>
            <a:r>
              <a:rPr lang="en-US" sz="1600" dirty="0" err="1"/>
              <a:t>inf</a:t>
            </a:r>
            <a:r>
              <a:rPr lang="en-US" sz="1600" dirty="0"/>
              <a:t>).</a:t>
            </a:r>
          </a:p>
          <a:p>
            <a:endParaRPr lang="en-US" sz="1600" dirty="0"/>
          </a:p>
          <a:p>
            <a:pPr marL="0" indent="0">
              <a:buNone/>
            </a:pPr>
            <a:r>
              <a:rPr lang="en-US" sz="1600" dirty="0"/>
              <a:t>Bias allows the network to shift the activation function.</a:t>
            </a:r>
          </a:p>
          <a:p>
            <a:r>
              <a:rPr lang="en-US" sz="1600" dirty="0"/>
              <a:t>Without a bias, the neuron output would always pass through the origin (zero input = zero output).</a:t>
            </a:r>
          </a:p>
          <a:p>
            <a:pPr marL="0" indent="0">
              <a:buNone/>
            </a:pPr>
            <a:endParaRPr lang="en-US" sz="16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5682401" y="27164"/>
            <a:ext cx="5364540" cy="7152721"/>
          </a:xfrm>
          <a:prstGeom prst="rect">
            <a:avLst/>
          </a:prstGeom>
        </p:spPr>
      </p:pic>
      <p:sp>
        <p:nvSpPr>
          <p:cNvPr id="4" name="Slide Number Placeholder 3">
            <a:extLst>
              <a:ext uri="{FF2B5EF4-FFF2-40B4-BE49-F238E27FC236}">
                <a16:creationId xmlns:a16="http://schemas.microsoft.com/office/drawing/2014/main" id="{96AF224F-6F04-7722-E6A1-7C78F1D5D27B}"/>
              </a:ext>
            </a:extLst>
          </p:cNvPr>
          <p:cNvSpPr>
            <a:spLocks noGrp="1"/>
          </p:cNvSpPr>
          <p:nvPr>
            <p:ph type="sldNum" sz="quarter" idx="12"/>
          </p:nvPr>
        </p:nvSpPr>
        <p:spPr/>
        <p:txBody>
          <a:bodyPr/>
          <a:lstStyle/>
          <a:p>
            <a:fld id="{2E30D265-8AE4-4D83-9D5E-333CB7475336}" type="slidenum">
              <a:rPr lang="en-US" smtClean="0"/>
              <a:t>22</a:t>
            </a:fld>
            <a:endParaRPr lang="en-US"/>
          </a:p>
        </p:txBody>
      </p:sp>
    </p:spTree>
    <p:extLst>
      <p:ext uri="{BB962C8B-B14F-4D97-AF65-F5344CB8AC3E}">
        <p14:creationId xmlns:p14="http://schemas.microsoft.com/office/powerpoint/2010/main" val="509416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8153"/>
            <a:ext cx="10515600" cy="4351338"/>
          </a:xfrm>
        </p:spPr>
        <p:txBody>
          <a:bodyPr>
            <a:normAutofit fontScale="92500" lnSpcReduction="20000"/>
          </a:bodyPr>
          <a:lstStyle/>
          <a:p>
            <a:pPr marL="0" indent="0">
              <a:buNone/>
            </a:pPr>
            <a:r>
              <a:rPr lang="en-US" b="1" dirty="0"/>
              <a:t>weights and bias(p2):</a:t>
            </a:r>
          </a:p>
          <a:p>
            <a:pPr marL="0" indent="0">
              <a:buNone/>
            </a:pPr>
            <a:endParaRPr lang="en-US" b="1" dirty="0"/>
          </a:p>
          <a:p>
            <a:pPr marL="0" indent="0">
              <a:buNone/>
            </a:pPr>
            <a:r>
              <a:rPr lang="en-US" dirty="0"/>
              <a:t>Weights and biases are usually initialized with small random values. Common ranges depend on the initialization strategy:</a:t>
            </a:r>
          </a:p>
          <a:p>
            <a:r>
              <a:rPr lang="en-US" dirty="0"/>
              <a:t>Uniform Initialization: W∼U(−</a:t>
            </a:r>
            <a:r>
              <a:rPr lang="en-US" dirty="0" err="1"/>
              <a:t>a,a</a:t>
            </a:r>
            <a:r>
              <a:rPr lang="en-US" dirty="0"/>
              <a:t>)</a:t>
            </a:r>
          </a:p>
          <a:p>
            <a:pPr marL="0" indent="0">
              <a:buNone/>
            </a:pPr>
            <a:r>
              <a:rPr lang="en-US" dirty="0"/>
              <a:t>where a is typically small (e.g., 0.01, or based on input size).</a:t>
            </a:r>
          </a:p>
          <a:p>
            <a:r>
              <a:rPr lang="en-US" dirty="0"/>
              <a:t>Normal Initialization: W∼N(0,σ^2) with small standard deviation.</a:t>
            </a:r>
          </a:p>
          <a:p>
            <a:endParaRPr lang="en-US" dirty="0"/>
          </a:p>
          <a:p>
            <a:pPr marL="0" indent="0">
              <a:buNone/>
            </a:pPr>
            <a:r>
              <a:rPr lang="en-US" dirty="0"/>
              <a:t>Biases are often:</a:t>
            </a:r>
          </a:p>
          <a:p>
            <a:r>
              <a:rPr lang="en-US" dirty="0"/>
              <a:t>Initialized to </a:t>
            </a:r>
            <a:r>
              <a:rPr lang="en-US" b="1" dirty="0"/>
              <a:t>zero</a:t>
            </a:r>
            <a:r>
              <a:rPr lang="en-US" dirty="0"/>
              <a:t>, or</a:t>
            </a:r>
          </a:p>
          <a:p>
            <a:r>
              <a:rPr lang="en-US" dirty="0"/>
              <a:t>Initialized with small values like </a:t>
            </a:r>
            <a:r>
              <a:rPr lang="en-US" b="1" dirty="0"/>
              <a:t>0.01</a:t>
            </a:r>
            <a:r>
              <a:rPr lang="en-US" dirty="0"/>
              <a:t>.</a:t>
            </a:r>
          </a:p>
          <a:p>
            <a:pPr marL="0" indent="0">
              <a:buNone/>
            </a:pPr>
            <a:endParaRPr lang="en-US" dirty="0"/>
          </a:p>
        </p:txBody>
      </p:sp>
      <p:sp>
        <p:nvSpPr>
          <p:cNvPr id="2" name="Slide Number Placeholder 1">
            <a:extLst>
              <a:ext uri="{FF2B5EF4-FFF2-40B4-BE49-F238E27FC236}">
                <a16:creationId xmlns:a16="http://schemas.microsoft.com/office/drawing/2014/main" id="{B3DB714C-2232-D6F4-C5E5-87E2990BF340}"/>
              </a:ext>
            </a:extLst>
          </p:cNvPr>
          <p:cNvSpPr>
            <a:spLocks noGrp="1"/>
          </p:cNvSpPr>
          <p:nvPr>
            <p:ph type="sldNum" sz="quarter" idx="12"/>
          </p:nvPr>
        </p:nvSpPr>
        <p:spPr/>
        <p:txBody>
          <a:bodyPr/>
          <a:lstStyle/>
          <a:p>
            <a:fld id="{2E30D265-8AE4-4D83-9D5E-333CB7475336}" type="slidenum">
              <a:rPr lang="en-US" smtClean="0"/>
              <a:t>23</a:t>
            </a:fld>
            <a:endParaRPr lang="en-US"/>
          </a:p>
        </p:txBody>
      </p:sp>
    </p:spTree>
    <p:extLst>
      <p:ext uri="{BB962C8B-B14F-4D97-AF65-F5344CB8AC3E}">
        <p14:creationId xmlns:p14="http://schemas.microsoft.com/office/powerpoint/2010/main" val="3277255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D580C-F740-4D9A-CD35-102E93FF5FC6}"/>
              </a:ext>
            </a:extLst>
          </p:cNvPr>
          <p:cNvSpPr>
            <a:spLocks noGrp="1"/>
          </p:cNvSpPr>
          <p:nvPr>
            <p:ph type="title"/>
          </p:nvPr>
        </p:nvSpPr>
        <p:spPr/>
        <p:txBody>
          <a:bodyPr/>
          <a:lstStyle/>
          <a:p>
            <a:r>
              <a:rPr lang="en-US" dirty="0"/>
              <a:t>Another representation of NN with 1 hidden layer</a:t>
            </a:r>
            <a:endParaRPr lang="en-IN" dirty="0"/>
          </a:p>
        </p:txBody>
      </p:sp>
      <p:pic>
        <p:nvPicPr>
          <p:cNvPr id="4" name="Picture 3">
            <a:extLst>
              <a:ext uri="{FF2B5EF4-FFF2-40B4-BE49-F238E27FC236}">
                <a16:creationId xmlns:a16="http://schemas.microsoft.com/office/drawing/2014/main" id="{3958BAB8-B2EB-020C-0AA6-8C804E6A14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356" y="1942464"/>
            <a:ext cx="8277728" cy="4700142"/>
          </a:xfrm>
          <a:prstGeom prst="rect">
            <a:avLst/>
          </a:prstGeom>
        </p:spPr>
      </p:pic>
      <p:sp>
        <p:nvSpPr>
          <p:cNvPr id="3" name="Slide Number Placeholder 2">
            <a:extLst>
              <a:ext uri="{FF2B5EF4-FFF2-40B4-BE49-F238E27FC236}">
                <a16:creationId xmlns:a16="http://schemas.microsoft.com/office/drawing/2014/main" id="{AC47CFF9-C17C-27FB-0C00-02B516DDBACD}"/>
              </a:ext>
            </a:extLst>
          </p:cNvPr>
          <p:cNvSpPr>
            <a:spLocks noGrp="1"/>
          </p:cNvSpPr>
          <p:nvPr>
            <p:ph type="sldNum" sz="quarter" idx="12"/>
          </p:nvPr>
        </p:nvSpPr>
        <p:spPr/>
        <p:txBody>
          <a:bodyPr/>
          <a:lstStyle/>
          <a:p>
            <a:fld id="{2E30D265-8AE4-4D83-9D5E-333CB7475336}" type="slidenum">
              <a:rPr lang="en-US" smtClean="0"/>
              <a:t>24</a:t>
            </a:fld>
            <a:endParaRPr lang="en-US"/>
          </a:p>
        </p:txBody>
      </p:sp>
    </p:spTree>
    <p:extLst>
      <p:ext uri="{BB962C8B-B14F-4D97-AF65-F5344CB8AC3E}">
        <p14:creationId xmlns:p14="http://schemas.microsoft.com/office/powerpoint/2010/main" val="2782718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928" y="138983"/>
            <a:ext cx="4805516" cy="480448"/>
          </a:xfrm>
        </p:spPr>
        <p:txBody>
          <a:bodyPr>
            <a:normAutofit/>
          </a:bodyPr>
          <a:lstStyle/>
          <a:p>
            <a:r>
              <a:rPr lang="en-US" sz="2800" b="1" dirty="0"/>
              <a:t>ANN Architecture(p1)</a:t>
            </a:r>
          </a:p>
        </p:txBody>
      </p:sp>
      <p:sp>
        <p:nvSpPr>
          <p:cNvPr id="3" name="Content Placeholder 2"/>
          <p:cNvSpPr>
            <a:spLocks noGrp="1"/>
          </p:cNvSpPr>
          <p:nvPr>
            <p:ph idx="1"/>
          </p:nvPr>
        </p:nvSpPr>
        <p:spPr>
          <a:xfrm>
            <a:off x="163287" y="769358"/>
            <a:ext cx="6988627" cy="6088641"/>
          </a:xfrm>
        </p:spPr>
        <p:txBody>
          <a:bodyPr>
            <a:noAutofit/>
          </a:bodyPr>
          <a:lstStyle/>
          <a:p>
            <a:pPr marL="0" indent="0">
              <a:buNone/>
            </a:pPr>
            <a:r>
              <a:rPr lang="en-US" sz="1600" b="1" dirty="0"/>
              <a:t>1. Layers of an ANN</a:t>
            </a:r>
          </a:p>
          <a:p>
            <a:pPr marL="0" indent="0">
              <a:buNone/>
            </a:pPr>
            <a:r>
              <a:rPr lang="en-US" sz="1600" dirty="0"/>
              <a:t>An ANN consists of three main types of layers:</a:t>
            </a:r>
          </a:p>
          <a:p>
            <a:pPr marL="0" indent="0">
              <a:buNone/>
            </a:pPr>
            <a:r>
              <a:rPr lang="en-US" sz="1600" b="1" dirty="0"/>
              <a:t>a. Input Layer </a:t>
            </a:r>
          </a:p>
          <a:p>
            <a:pPr marL="0" indent="0">
              <a:buNone/>
            </a:pPr>
            <a:r>
              <a:rPr lang="en-US" sz="1600" dirty="0"/>
              <a:t>The first layer that receives raw data (e.g., images, text, numbers).</a:t>
            </a:r>
          </a:p>
          <a:p>
            <a:pPr marL="0" indent="0">
              <a:buNone/>
            </a:pPr>
            <a:r>
              <a:rPr lang="en-US" sz="1600" dirty="0"/>
              <a:t>Each node (neuron) in this layer represents a feature (e.g., pixel values in images, numerical values in datasets).</a:t>
            </a:r>
          </a:p>
          <a:p>
            <a:pPr marL="0" indent="0">
              <a:buNone/>
            </a:pPr>
            <a:r>
              <a:rPr lang="en-US" sz="1600" b="1" dirty="0"/>
              <a:t>b. Hidden Layers </a:t>
            </a:r>
          </a:p>
          <a:p>
            <a:pPr marL="0" indent="0">
              <a:buNone/>
            </a:pPr>
            <a:r>
              <a:rPr lang="en-US" sz="1600" dirty="0"/>
              <a:t>These layers extract patterns and relationships in the data.</a:t>
            </a:r>
          </a:p>
          <a:p>
            <a:pPr marL="0" indent="0">
              <a:buNone/>
            </a:pPr>
            <a:r>
              <a:rPr lang="en-US" sz="1600" dirty="0"/>
              <a:t>Each neuron in a hidden layer applies a mathematical operation (activation function) to transform inputs.</a:t>
            </a:r>
          </a:p>
          <a:p>
            <a:pPr marL="0" indent="0">
              <a:buNone/>
            </a:pPr>
            <a:r>
              <a:rPr lang="en-US" sz="1600" dirty="0"/>
              <a:t>More hidden layers allow the model to learn complex patterns (Deep Learning uses many layers).</a:t>
            </a:r>
          </a:p>
          <a:p>
            <a:pPr marL="0" indent="0">
              <a:buNone/>
            </a:pPr>
            <a:r>
              <a:rPr lang="en-US" sz="1600" b="1" dirty="0"/>
              <a:t>c. Output Layer</a:t>
            </a:r>
          </a:p>
          <a:p>
            <a:pPr marL="0" indent="0">
              <a:buNone/>
            </a:pPr>
            <a:r>
              <a:rPr lang="en-US" sz="1600" dirty="0"/>
              <a:t>Produces the final prediction or classification.</a:t>
            </a:r>
          </a:p>
          <a:p>
            <a:pPr marL="0" indent="0">
              <a:buNone/>
            </a:pPr>
            <a:r>
              <a:rPr lang="en-US" sz="1600" dirty="0"/>
              <a:t>The number of neurons in this layer depends on the task:</a:t>
            </a:r>
          </a:p>
          <a:p>
            <a:pPr marL="0" indent="0">
              <a:buNone/>
            </a:pPr>
            <a:r>
              <a:rPr lang="en-US" sz="1600" dirty="0"/>
              <a:t>Regression → 1 neuron (e.g., predicting house prices)</a:t>
            </a:r>
          </a:p>
          <a:p>
            <a:pPr marL="0" indent="0">
              <a:buNone/>
            </a:pPr>
            <a:r>
              <a:rPr lang="en-US" sz="1600" dirty="0"/>
              <a:t>Binary Classification → 1 neuron (sigmoid activation) (e.g., spam vs. not spam)</a:t>
            </a:r>
          </a:p>
          <a:p>
            <a:pPr marL="0" indent="0">
              <a:buNone/>
            </a:pPr>
            <a:r>
              <a:rPr lang="en-US" sz="1600" dirty="0"/>
              <a:t>Multi-class Classification → Multiple neurons (</a:t>
            </a:r>
            <a:r>
              <a:rPr lang="en-US" sz="1600" dirty="0" err="1"/>
              <a:t>softmax</a:t>
            </a:r>
            <a:r>
              <a:rPr lang="en-US" sz="1600" dirty="0"/>
              <a:t> activation) (e.g., identifying different animals)</a:t>
            </a:r>
          </a:p>
        </p:txBody>
      </p:sp>
      <p:sp>
        <p:nvSpPr>
          <p:cNvPr id="4" name="Slide Number Placeholder 3">
            <a:extLst>
              <a:ext uri="{FF2B5EF4-FFF2-40B4-BE49-F238E27FC236}">
                <a16:creationId xmlns:a16="http://schemas.microsoft.com/office/drawing/2014/main" id="{EDA7CEB1-2DB5-FB2E-860A-235414802C7B}"/>
              </a:ext>
            </a:extLst>
          </p:cNvPr>
          <p:cNvSpPr>
            <a:spLocks noGrp="1"/>
          </p:cNvSpPr>
          <p:nvPr>
            <p:ph type="sldNum" sz="quarter" idx="12"/>
          </p:nvPr>
        </p:nvSpPr>
        <p:spPr/>
        <p:txBody>
          <a:bodyPr/>
          <a:lstStyle/>
          <a:p>
            <a:fld id="{2E30D265-8AE4-4D83-9D5E-333CB7475336}" type="slidenum">
              <a:rPr lang="en-US" smtClean="0"/>
              <a:t>25</a:t>
            </a:fld>
            <a:endParaRPr lang="en-US"/>
          </a:p>
        </p:txBody>
      </p:sp>
    </p:spTree>
    <p:extLst>
      <p:ext uri="{BB962C8B-B14F-4D97-AF65-F5344CB8AC3E}">
        <p14:creationId xmlns:p14="http://schemas.microsoft.com/office/powerpoint/2010/main" val="1021484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934" y="60326"/>
            <a:ext cx="10515600" cy="679904"/>
          </a:xfrm>
        </p:spPr>
        <p:txBody>
          <a:bodyPr>
            <a:normAutofit fontScale="90000"/>
          </a:bodyPr>
          <a:lstStyle/>
          <a:p>
            <a:r>
              <a:rPr lang="en-US" dirty="0"/>
              <a:t>ANN Architecture(p2)</a:t>
            </a:r>
          </a:p>
        </p:txBody>
      </p:sp>
      <p:sp>
        <p:nvSpPr>
          <p:cNvPr id="3" name="Content Placeholder 2"/>
          <p:cNvSpPr>
            <a:spLocks noGrp="1"/>
          </p:cNvSpPr>
          <p:nvPr>
            <p:ph idx="1"/>
          </p:nvPr>
        </p:nvSpPr>
        <p:spPr>
          <a:xfrm>
            <a:off x="163286" y="602209"/>
            <a:ext cx="11832771" cy="5583987"/>
          </a:xfrm>
        </p:spPr>
        <p:txBody>
          <a:bodyPr>
            <a:noAutofit/>
          </a:bodyPr>
          <a:lstStyle/>
          <a:p>
            <a:pPr marL="0" indent="0">
              <a:buNone/>
            </a:pPr>
            <a:r>
              <a:rPr lang="en-US" sz="2400" b="1" dirty="0"/>
              <a:t> 2. Structure of an ANN</a:t>
            </a:r>
          </a:p>
          <a:p>
            <a:pPr marL="0" indent="0">
              <a:buNone/>
            </a:pPr>
            <a:r>
              <a:rPr lang="en-US" sz="1800" dirty="0"/>
              <a:t>Each neuron in a layer is connected to neurons in the next layer through weights and biases:</a:t>
            </a:r>
          </a:p>
          <a:p>
            <a:pPr marL="0" indent="0">
              <a:buNone/>
            </a:pPr>
            <a:endParaRPr lang="en-US" sz="1800" dirty="0"/>
          </a:p>
          <a:p>
            <a:pPr marL="0" indent="0">
              <a:buNone/>
            </a:pPr>
            <a:r>
              <a:rPr lang="en-US" sz="1800" dirty="0"/>
              <a:t>Weights (W): Determine the </a:t>
            </a:r>
            <a:r>
              <a:rPr lang="en-US" sz="1800" b="1" dirty="0"/>
              <a:t>importance</a:t>
            </a:r>
            <a:r>
              <a:rPr lang="en-US" sz="1800" dirty="0"/>
              <a:t> of each input.</a:t>
            </a:r>
          </a:p>
          <a:p>
            <a:pPr marL="0" indent="0">
              <a:buNone/>
            </a:pPr>
            <a:r>
              <a:rPr lang="en-US" sz="1800" dirty="0"/>
              <a:t>Bias (b): Adjusts the output for better accuracy.</a:t>
            </a:r>
          </a:p>
          <a:p>
            <a:pPr marL="0" indent="0">
              <a:buNone/>
            </a:pPr>
            <a:r>
              <a:rPr lang="en-US" sz="1800" dirty="0"/>
              <a:t>Activation Function (σ): Applies non-linearity to introduce learning capability.</a:t>
            </a:r>
          </a:p>
          <a:p>
            <a:pPr marL="0" indent="0">
              <a:buNone/>
            </a:pPr>
            <a:endParaRPr lang="en-US" sz="1800" dirty="0"/>
          </a:p>
          <a:p>
            <a:pPr marL="0" indent="0">
              <a:buNone/>
            </a:pPr>
            <a:r>
              <a:rPr lang="en-US" sz="1800" dirty="0"/>
              <a:t>Mathematical representation of a neuron:</a:t>
            </a:r>
          </a:p>
          <a:p>
            <a:pPr marL="0" indent="0">
              <a:buNone/>
            </a:pPr>
            <a:r>
              <a:rPr lang="en-US" sz="1800" dirty="0"/>
              <a:t>Y = σ (</a:t>
            </a:r>
            <a:r>
              <a:rPr lang="en-US" sz="1800" b="1" dirty="0"/>
              <a:t>W</a:t>
            </a:r>
            <a:r>
              <a:rPr lang="en-US" sz="1800" dirty="0"/>
              <a:t>*</a:t>
            </a:r>
            <a:r>
              <a:rPr lang="en-US" sz="1800" b="1" dirty="0"/>
              <a:t>X + </a:t>
            </a:r>
            <a:r>
              <a:rPr lang="en-US" sz="1800" dirty="0"/>
              <a:t>b),</a:t>
            </a:r>
          </a:p>
          <a:p>
            <a:pPr marL="0" indent="0">
              <a:buNone/>
            </a:pPr>
            <a:r>
              <a:rPr lang="en-US" sz="1800" dirty="0"/>
              <a:t>where X = input, </a:t>
            </a:r>
          </a:p>
          <a:p>
            <a:pPr marL="0" indent="0">
              <a:buNone/>
            </a:pPr>
            <a:r>
              <a:rPr lang="en-US" sz="1800" dirty="0"/>
              <a:t>W= weights,</a:t>
            </a:r>
          </a:p>
          <a:p>
            <a:pPr marL="0" indent="0">
              <a:buNone/>
            </a:pPr>
            <a:r>
              <a:rPr lang="en-US" sz="1800" dirty="0"/>
              <a:t>B = bias,</a:t>
            </a:r>
          </a:p>
          <a:p>
            <a:pPr marL="0" indent="0">
              <a:buNone/>
            </a:pPr>
            <a:r>
              <a:rPr lang="en-US" sz="1800" dirty="0"/>
              <a:t>σ = activation function,</a:t>
            </a:r>
          </a:p>
          <a:p>
            <a:pPr marL="0" indent="0">
              <a:buNone/>
            </a:pPr>
            <a:r>
              <a:rPr lang="en-US" sz="1800" dirty="0"/>
              <a:t>Y = output</a:t>
            </a:r>
          </a:p>
        </p:txBody>
      </p:sp>
      <p:sp>
        <p:nvSpPr>
          <p:cNvPr id="5" name="Slide Number Placeholder 4">
            <a:extLst>
              <a:ext uri="{FF2B5EF4-FFF2-40B4-BE49-F238E27FC236}">
                <a16:creationId xmlns:a16="http://schemas.microsoft.com/office/drawing/2014/main" id="{5F0B99A4-DE91-A10D-6BF5-A118930102E0}"/>
              </a:ext>
            </a:extLst>
          </p:cNvPr>
          <p:cNvSpPr>
            <a:spLocks noGrp="1"/>
          </p:cNvSpPr>
          <p:nvPr>
            <p:ph type="sldNum" sz="quarter" idx="12"/>
          </p:nvPr>
        </p:nvSpPr>
        <p:spPr/>
        <p:txBody>
          <a:bodyPr/>
          <a:lstStyle/>
          <a:p>
            <a:fld id="{2E30D265-8AE4-4D83-9D5E-333CB7475336}" type="slidenum">
              <a:rPr lang="en-US" smtClean="0"/>
              <a:t>26</a:t>
            </a:fld>
            <a:endParaRPr lang="en-US"/>
          </a:p>
        </p:txBody>
      </p:sp>
    </p:spTree>
    <p:extLst>
      <p:ext uri="{BB962C8B-B14F-4D97-AF65-F5344CB8AC3E}">
        <p14:creationId xmlns:p14="http://schemas.microsoft.com/office/powerpoint/2010/main" val="3085938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8" y="59975"/>
            <a:ext cx="5582265" cy="567869"/>
          </a:xfrm>
        </p:spPr>
        <p:txBody>
          <a:bodyPr>
            <a:normAutofit fontScale="90000"/>
          </a:bodyPr>
          <a:lstStyle/>
          <a:p>
            <a:r>
              <a:rPr lang="en-US" dirty="0"/>
              <a:t>ANN Architecture(p3)</a:t>
            </a:r>
          </a:p>
        </p:txBody>
      </p:sp>
      <p:sp>
        <p:nvSpPr>
          <p:cNvPr id="3" name="Content Placeholder 2"/>
          <p:cNvSpPr>
            <a:spLocks noGrp="1"/>
          </p:cNvSpPr>
          <p:nvPr>
            <p:ph idx="1"/>
          </p:nvPr>
        </p:nvSpPr>
        <p:spPr>
          <a:xfrm>
            <a:off x="163287" y="1355432"/>
            <a:ext cx="4359552" cy="2036699"/>
          </a:xfrm>
        </p:spPr>
        <p:txBody>
          <a:bodyPr>
            <a:noAutofit/>
          </a:bodyPr>
          <a:lstStyle/>
          <a:p>
            <a:pPr marL="0" indent="0">
              <a:buNone/>
            </a:pPr>
            <a:r>
              <a:rPr lang="en-US" sz="2400" b="1" dirty="0"/>
              <a:t>3. Activation Functions</a:t>
            </a:r>
          </a:p>
          <a:p>
            <a:pPr marL="0" indent="0">
              <a:buNone/>
            </a:pPr>
            <a:r>
              <a:rPr lang="en-US" sz="2400" dirty="0"/>
              <a:t>Activation functions decide whether a neuron should be activated (fire) or not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8855" y="627493"/>
            <a:ext cx="7179858" cy="6207999"/>
          </a:xfrm>
          <a:prstGeom prst="rect">
            <a:avLst/>
          </a:prstGeom>
        </p:spPr>
      </p:pic>
      <p:sp>
        <p:nvSpPr>
          <p:cNvPr id="4" name="Slide Number Placeholder 3">
            <a:extLst>
              <a:ext uri="{FF2B5EF4-FFF2-40B4-BE49-F238E27FC236}">
                <a16:creationId xmlns:a16="http://schemas.microsoft.com/office/drawing/2014/main" id="{997BA26C-B9C8-B0E3-0B7D-87BB1A298D22}"/>
              </a:ext>
            </a:extLst>
          </p:cNvPr>
          <p:cNvSpPr>
            <a:spLocks noGrp="1"/>
          </p:cNvSpPr>
          <p:nvPr>
            <p:ph type="sldNum" sz="quarter" idx="12"/>
          </p:nvPr>
        </p:nvSpPr>
        <p:spPr/>
        <p:txBody>
          <a:bodyPr/>
          <a:lstStyle/>
          <a:p>
            <a:fld id="{2E30D265-8AE4-4D83-9D5E-333CB7475336}" type="slidenum">
              <a:rPr lang="en-US" smtClean="0"/>
              <a:t>27</a:t>
            </a:fld>
            <a:endParaRPr lang="en-US"/>
          </a:p>
        </p:txBody>
      </p:sp>
    </p:spTree>
    <p:extLst>
      <p:ext uri="{BB962C8B-B14F-4D97-AF65-F5344CB8AC3E}">
        <p14:creationId xmlns:p14="http://schemas.microsoft.com/office/powerpoint/2010/main" val="3593950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US" dirty="0"/>
              <a:t>ANN Architecture(p4)</a:t>
            </a:r>
          </a:p>
        </p:txBody>
      </p:sp>
      <p:sp>
        <p:nvSpPr>
          <p:cNvPr id="3" name="Content Placeholder 2"/>
          <p:cNvSpPr>
            <a:spLocks noGrp="1"/>
          </p:cNvSpPr>
          <p:nvPr>
            <p:ph idx="1"/>
          </p:nvPr>
        </p:nvSpPr>
        <p:spPr>
          <a:xfrm>
            <a:off x="163286" y="1172482"/>
            <a:ext cx="11811000" cy="3682547"/>
          </a:xfrm>
        </p:spPr>
        <p:txBody>
          <a:bodyPr>
            <a:noAutofit/>
          </a:bodyPr>
          <a:lstStyle/>
          <a:p>
            <a:pPr marL="0" indent="0">
              <a:buNone/>
            </a:pPr>
            <a:r>
              <a:rPr lang="en-US" sz="2400" b="1" dirty="0"/>
              <a:t>4. Learning Process (Backpropagation &amp; Optimization)</a:t>
            </a:r>
          </a:p>
          <a:p>
            <a:pPr marL="0" indent="0">
              <a:buNone/>
            </a:pPr>
            <a:r>
              <a:rPr lang="en-US" sz="2400" dirty="0"/>
              <a:t>To train an ANN, we use an iterative process:</a:t>
            </a:r>
          </a:p>
          <a:p>
            <a:r>
              <a:rPr lang="en-US" sz="2400" b="1" dirty="0"/>
              <a:t>Forward Propagation:</a:t>
            </a:r>
            <a:r>
              <a:rPr lang="en-US" sz="2400" dirty="0"/>
              <a:t> Inputs pass through the network to generate an output.</a:t>
            </a:r>
          </a:p>
          <a:p>
            <a:r>
              <a:rPr lang="en-US" sz="2400" b="1" dirty="0"/>
              <a:t>Loss Calculation:</a:t>
            </a:r>
            <a:r>
              <a:rPr lang="en-US" sz="2400" dirty="0"/>
              <a:t> The error is measured using a loss function (e.g., Mean Squared Error for regression, Cross-Entropy for classification).</a:t>
            </a:r>
          </a:p>
          <a:p>
            <a:r>
              <a:rPr lang="en-US" sz="2400" b="1" dirty="0"/>
              <a:t>Backpropagation:</a:t>
            </a:r>
            <a:r>
              <a:rPr lang="en-US" sz="2400" dirty="0"/>
              <a:t> The error is propagated backward to update weights using </a:t>
            </a:r>
            <a:r>
              <a:rPr lang="en-US" sz="2400" b="1" dirty="0"/>
              <a:t>gradient descent</a:t>
            </a:r>
            <a:r>
              <a:rPr lang="en-US" sz="2400" dirty="0"/>
              <a:t> (or advanced optimizers like Adam, </a:t>
            </a:r>
            <a:r>
              <a:rPr lang="en-US" sz="2400" dirty="0" err="1"/>
              <a:t>RMSprop</a:t>
            </a:r>
            <a:r>
              <a:rPr lang="en-US" sz="2400" dirty="0"/>
              <a:t>).</a:t>
            </a:r>
          </a:p>
          <a:p>
            <a:r>
              <a:rPr lang="en-US" sz="2400" b="1" dirty="0"/>
              <a:t>Weight Update:</a:t>
            </a:r>
            <a:r>
              <a:rPr lang="en-US" sz="2400" dirty="0"/>
              <a:t> The weights are adjusted to minimize the error.</a:t>
            </a:r>
          </a:p>
        </p:txBody>
      </p:sp>
      <p:sp>
        <p:nvSpPr>
          <p:cNvPr id="4" name="Slide Number Placeholder 3">
            <a:extLst>
              <a:ext uri="{FF2B5EF4-FFF2-40B4-BE49-F238E27FC236}">
                <a16:creationId xmlns:a16="http://schemas.microsoft.com/office/drawing/2014/main" id="{214D39B0-6253-17B9-EC32-7022A601B95D}"/>
              </a:ext>
            </a:extLst>
          </p:cNvPr>
          <p:cNvSpPr>
            <a:spLocks noGrp="1"/>
          </p:cNvSpPr>
          <p:nvPr>
            <p:ph type="sldNum" sz="quarter" idx="12"/>
          </p:nvPr>
        </p:nvSpPr>
        <p:spPr/>
        <p:txBody>
          <a:bodyPr/>
          <a:lstStyle/>
          <a:p>
            <a:fld id="{2E30D265-8AE4-4D83-9D5E-333CB7475336}" type="slidenum">
              <a:rPr lang="en-US" smtClean="0"/>
              <a:t>28</a:t>
            </a:fld>
            <a:endParaRPr lang="en-US"/>
          </a:p>
        </p:txBody>
      </p:sp>
    </p:spTree>
    <p:extLst>
      <p:ext uri="{BB962C8B-B14F-4D97-AF65-F5344CB8AC3E}">
        <p14:creationId xmlns:p14="http://schemas.microsoft.com/office/powerpoint/2010/main" val="22269110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Few facts about ANN</a:t>
            </a:r>
          </a:p>
        </p:txBody>
      </p:sp>
      <p:sp>
        <p:nvSpPr>
          <p:cNvPr id="3" name="Content Placeholder 2"/>
          <p:cNvSpPr>
            <a:spLocks noGrp="1"/>
          </p:cNvSpPr>
          <p:nvPr>
            <p:ph idx="1"/>
          </p:nvPr>
        </p:nvSpPr>
        <p:spPr/>
        <p:txBody>
          <a:bodyPr>
            <a:normAutofit lnSpcReduction="10000"/>
          </a:bodyPr>
          <a:lstStyle/>
          <a:p>
            <a:r>
              <a:rPr lang="en-US" b="1" dirty="0"/>
              <a:t>Feedforward networks (MLPs, CNNs)</a:t>
            </a:r>
            <a:r>
              <a:rPr lang="en-US" dirty="0"/>
              <a:t> process inputs </a:t>
            </a:r>
            <a:r>
              <a:rPr lang="en-US" b="1" dirty="0"/>
              <a:t>all at once</a:t>
            </a:r>
            <a:r>
              <a:rPr lang="en-US" dirty="0"/>
              <a:t> — they don't depend on previous steps.</a:t>
            </a:r>
          </a:p>
          <a:p>
            <a:pPr marL="0" indent="0">
              <a:buNone/>
            </a:pPr>
            <a:r>
              <a:rPr lang="en-US" dirty="0"/>
              <a:t>Suppose you have 1000 words or pixels.</a:t>
            </a:r>
          </a:p>
          <a:p>
            <a:pPr marL="0" indent="0">
              <a:buNone/>
            </a:pPr>
            <a:r>
              <a:rPr lang="en-US" dirty="0"/>
              <a:t>A feedforward network </a:t>
            </a:r>
            <a:r>
              <a:rPr lang="en-US" b="1" dirty="0"/>
              <a:t>takes all 1000 together</a:t>
            </a:r>
            <a:r>
              <a:rPr lang="en-US" dirty="0"/>
              <a:t>, passes them </a:t>
            </a:r>
            <a:r>
              <a:rPr lang="en-US" b="1" dirty="0"/>
              <a:t>through layers at the same time</a:t>
            </a:r>
            <a:r>
              <a:rPr lang="en-US" dirty="0"/>
              <a:t> (matrix multiplication).</a:t>
            </a:r>
          </a:p>
          <a:p>
            <a:pPr marL="0" indent="0">
              <a:buNone/>
            </a:pPr>
            <a:r>
              <a:rPr lang="en-US" dirty="0"/>
              <a:t>In math terms: </a:t>
            </a:r>
            <a:r>
              <a:rPr lang="en-US" b="1" dirty="0"/>
              <a:t>matrix × vector</a:t>
            </a:r>
            <a:r>
              <a:rPr lang="en-US" dirty="0"/>
              <a:t> — super fast because modern hardware (like GPUs) is </a:t>
            </a:r>
            <a:r>
              <a:rPr lang="en-US" b="1" dirty="0"/>
              <a:t>built for parallel matrix operations</a:t>
            </a:r>
            <a:r>
              <a:rPr lang="en-US" dirty="0"/>
              <a:t>.</a:t>
            </a:r>
          </a:p>
          <a:p>
            <a:pPr marL="0" indent="0">
              <a:buNone/>
            </a:pPr>
            <a:r>
              <a:rPr lang="en-US" dirty="0"/>
              <a:t>No waiting for "previous word" or "previous pixel" — </a:t>
            </a:r>
            <a:r>
              <a:rPr lang="en-US" b="1" dirty="0"/>
              <a:t>everything is independent</a:t>
            </a:r>
            <a:r>
              <a:rPr lang="en-US" dirty="0"/>
              <a:t> at each layer.</a:t>
            </a:r>
          </a:p>
          <a:p>
            <a:pPr marL="0" indent="0">
              <a:buNone/>
            </a:pPr>
            <a:r>
              <a:rPr lang="en-US" dirty="0"/>
              <a:t>This is called </a:t>
            </a:r>
            <a:r>
              <a:rPr lang="en-US" b="1" dirty="0"/>
              <a:t>parallelism</a:t>
            </a:r>
            <a:r>
              <a:rPr lang="en-US" dirty="0"/>
              <a:t>.</a:t>
            </a:r>
          </a:p>
        </p:txBody>
      </p:sp>
      <p:sp>
        <p:nvSpPr>
          <p:cNvPr id="4" name="Slide Number Placeholder 3">
            <a:extLst>
              <a:ext uri="{FF2B5EF4-FFF2-40B4-BE49-F238E27FC236}">
                <a16:creationId xmlns:a16="http://schemas.microsoft.com/office/drawing/2014/main" id="{615C1ABC-CD49-CB82-4793-6F699F578C21}"/>
              </a:ext>
            </a:extLst>
          </p:cNvPr>
          <p:cNvSpPr>
            <a:spLocks noGrp="1"/>
          </p:cNvSpPr>
          <p:nvPr>
            <p:ph type="sldNum" sz="quarter" idx="12"/>
          </p:nvPr>
        </p:nvSpPr>
        <p:spPr/>
        <p:txBody>
          <a:bodyPr/>
          <a:lstStyle/>
          <a:p>
            <a:fld id="{2E30D265-8AE4-4D83-9D5E-333CB7475336}" type="slidenum">
              <a:rPr lang="en-US" smtClean="0"/>
              <a:t>29</a:t>
            </a:fld>
            <a:endParaRPr lang="en-US"/>
          </a:p>
        </p:txBody>
      </p:sp>
    </p:spTree>
    <p:extLst>
      <p:ext uri="{BB962C8B-B14F-4D97-AF65-F5344CB8AC3E}">
        <p14:creationId xmlns:p14="http://schemas.microsoft.com/office/powerpoint/2010/main" val="2448325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4442"/>
          </a:xfrm>
        </p:spPr>
        <p:txBody>
          <a:bodyPr>
            <a:normAutofit fontScale="90000"/>
          </a:bodyPr>
          <a:lstStyle/>
          <a:p>
            <a:r>
              <a:rPr lang="en-US" dirty="0"/>
              <a:t>Increasing the number of </a:t>
            </a:r>
            <a:r>
              <a:rPr lang="en-US" b="1" dirty="0"/>
              <a:t>hidden layers:</a:t>
            </a:r>
            <a:endParaRPr lang="en-US" dirty="0"/>
          </a:p>
        </p:txBody>
      </p:sp>
      <p:sp>
        <p:nvSpPr>
          <p:cNvPr id="3" name="Content Placeholder 2"/>
          <p:cNvSpPr>
            <a:spLocks noGrp="1"/>
          </p:cNvSpPr>
          <p:nvPr>
            <p:ph idx="1"/>
          </p:nvPr>
        </p:nvSpPr>
        <p:spPr>
          <a:xfrm>
            <a:off x="629265" y="1130710"/>
            <a:ext cx="11356258" cy="5437238"/>
          </a:xfrm>
        </p:spPr>
        <p:txBody>
          <a:bodyPr>
            <a:normAutofit lnSpcReduction="10000"/>
          </a:bodyPr>
          <a:lstStyle/>
          <a:p>
            <a:pPr marL="0" indent="0">
              <a:buNone/>
            </a:pPr>
            <a:r>
              <a:rPr lang="en-US" sz="1800" dirty="0"/>
              <a:t>Increasing the number of </a:t>
            </a:r>
            <a:r>
              <a:rPr lang="en-US" sz="1800" b="1" dirty="0"/>
              <a:t>hidden layers</a:t>
            </a:r>
            <a:r>
              <a:rPr lang="en-US" sz="1800" dirty="0"/>
              <a:t> in a neural network transforms it from a </a:t>
            </a:r>
            <a:r>
              <a:rPr lang="en-US" sz="1800" b="1" dirty="0"/>
              <a:t>shallow</a:t>
            </a:r>
            <a:r>
              <a:rPr lang="en-US" sz="1800" dirty="0"/>
              <a:t> to a </a:t>
            </a:r>
            <a:r>
              <a:rPr lang="en-US" sz="1800" b="1" dirty="0"/>
              <a:t>deep</a:t>
            </a:r>
            <a:r>
              <a:rPr lang="en-US" sz="1800" dirty="0"/>
              <a:t> network — a concept known as </a:t>
            </a:r>
            <a:r>
              <a:rPr lang="en-US" sz="1800" b="1" dirty="0"/>
              <a:t>deep learning</a:t>
            </a:r>
            <a:r>
              <a:rPr lang="en-US" sz="1800" dirty="0"/>
              <a:t>.</a:t>
            </a:r>
          </a:p>
          <a:p>
            <a:pPr marL="0" indent="0">
              <a:buNone/>
            </a:pPr>
            <a:endParaRPr lang="en-US" sz="1800" dirty="0"/>
          </a:p>
          <a:p>
            <a:pPr marL="0" indent="0">
              <a:buNone/>
            </a:pPr>
            <a:r>
              <a:rPr lang="en-US" sz="1800" dirty="0"/>
              <a:t>Potential Benefits</a:t>
            </a:r>
          </a:p>
          <a:p>
            <a:r>
              <a:rPr lang="en-US" sz="1800" dirty="0"/>
              <a:t>Ability to Learn Complex Patterns: More layers allow the network to build hierarchies of features.</a:t>
            </a:r>
          </a:p>
          <a:p>
            <a:pPr marL="0" indent="0">
              <a:buNone/>
            </a:pPr>
            <a:r>
              <a:rPr lang="en-US" sz="1800" dirty="0"/>
              <a:t>Example: In image classification, early layers detect edges, deeper layers detect shapes, and even deeper layers recognize objects.</a:t>
            </a:r>
          </a:p>
          <a:p>
            <a:r>
              <a:rPr lang="en-US" sz="1800" dirty="0"/>
              <a:t>More Expressive Power: A deeper network can approximate more complex functions and decision boundaries.</a:t>
            </a:r>
          </a:p>
          <a:p>
            <a:r>
              <a:rPr lang="en-US" sz="1800" dirty="0"/>
              <a:t>Better for Large Datasets: Deep networks perform better with large datasets and non-linear problems, assuming proper tuning.</a:t>
            </a:r>
          </a:p>
          <a:p>
            <a:pPr marL="0" indent="0">
              <a:buNone/>
            </a:pPr>
            <a:endParaRPr lang="en-US" sz="1800" dirty="0"/>
          </a:p>
          <a:p>
            <a:pPr marL="0" indent="0">
              <a:buNone/>
            </a:pPr>
            <a:r>
              <a:rPr lang="en-US" sz="1800" dirty="0"/>
              <a:t>Drawbacks:</a:t>
            </a:r>
          </a:p>
          <a:p>
            <a:r>
              <a:rPr lang="en-US" sz="1800" dirty="0"/>
              <a:t>Overfitting: More layers = more parameters = risk of memorizing the training data instead of generalizing.</a:t>
            </a:r>
          </a:p>
          <a:p>
            <a:r>
              <a:rPr lang="en-US" sz="1800" dirty="0"/>
              <a:t>Training Time Increases: More layers = more computations = longer training times.</a:t>
            </a:r>
          </a:p>
          <a:p>
            <a:r>
              <a:rPr lang="en-US" sz="1800" dirty="0"/>
              <a:t>Vanishing/Exploding Gradients In very deep networks, gradients can become extremely small or large, making training unstable or slow (especially with sigmoid/</a:t>
            </a:r>
            <a:r>
              <a:rPr lang="en-US" sz="1800" dirty="0" err="1"/>
              <a:t>tanh</a:t>
            </a:r>
            <a:r>
              <a:rPr lang="en-US" sz="1800" dirty="0"/>
              <a:t>). (EXPLAINED ON NEXT PAGE)</a:t>
            </a:r>
          </a:p>
          <a:p>
            <a:pPr marL="0" indent="0">
              <a:buNone/>
            </a:pPr>
            <a:endParaRPr lang="en-US" sz="1800" dirty="0"/>
          </a:p>
        </p:txBody>
      </p:sp>
      <p:sp>
        <p:nvSpPr>
          <p:cNvPr id="4" name="Slide Number Placeholder 3">
            <a:extLst>
              <a:ext uri="{FF2B5EF4-FFF2-40B4-BE49-F238E27FC236}">
                <a16:creationId xmlns:a16="http://schemas.microsoft.com/office/drawing/2014/main" id="{69DD0EE1-F0AB-3510-77CA-BED1700A0FCB}"/>
              </a:ext>
            </a:extLst>
          </p:cNvPr>
          <p:cNvSpPr>
            <a:spLocks noGrp="1"/>
          </p:cNvSpPr>
          <p:nvPr>
            <p:ph type="sldNum" sz="quarter" idx="12"/>
          </p:nvPr>
        </p:nvSpPr>
        <p:spPr/>
        <p:txBody>
          <a:bodyPr/>
          <a:lstStyle/>
          <a:p>
            <a:fld id="{2E30D265-8AE4-4D83-9D5E-333CB7475336}" type="slidenum">
              <a:rPr lang="en-US" smtClean="0"/>
              <a:t>30</a:t>
            </a:fld>
            <a:endParaRPr lang="en-US"/>
          </a:p>
        </p:txBody>
      </p:sp>
    </p:spTree>
    <p:extLst>
      <p:ext uri="{BB962C8B-B14F-4D97-AF65-F5344CB8AC3E}">
        <p14:creationId xmlns:p14="http://schemas.microsoft.com/office/powerpoint/2010/main" val="14160358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4442"/>
          </a:xfrm>
        </p:spPr>
        <p:txBody>
          <a:bodyPr>
            <a:normAutofit fontScale="90000"/>
          </a:bodyPr>
          <a:lstStyle/>
          <a:p>
            <a:r>
              <a:rPr lang="en-US" dirty="0"/>
              <a:t>Increasing the number of </a:t>
            </a:r>
            <a:r>
              <a:rPr lang="en-US" b="1" dirty="0"/>
              <a:t>hidden layers</a:t>
            </a:r>
            <a:r>
              <a:rPr lang="en-US" b="1" dirty="0">
                <a:sym typeface="Wingdings" panose="05000000000000000000" pitchFamily="2" charset="2"/>
              </a:rPr>
              <a:t>(p2)</a:t>
            </a:r>
            <a:endParaRPr lang="en-US" dirty="0"/>
          </a:p>
        </p:txBody>
      </p:sp>
      <p:sp>
        <p:nvSpPr>
          <p:cNvPr id="3" name="Content Placeholder 2"/>
          <p:cNvSpPr>
            <a:spLocks noGrp="1"/>
          </p:cNvSpPr>
          <p:nvPr>
            <p:ph idx="1"/>
          </p:nvPr>
        </p:nvSpPr>
        <p:spPr>
          <a:xfrm>
            <a:off x="838200" y="1439731"/>
            <a:ext cx="10515600" cy="2888988"/>
          </a:xfrm>
        </p:spPr>
        <p:txBody>
          <a:bodyPr>
            <a:normAutofit fontScale="70000" lnSpcReduction="20000"/>
          </a:bodyPr>
          <a:lstStyle/>
          <a:p>
            <a:r>
              <a:rPr lang="en-US" b="1" dirty="0"/>
              <a:t>What Is the Vanishing Gradient Problem?</a:t>
            </a:r>
          </a:p>
          <a:p>
            <a:pPr marL="0" indent="0">
              <a:buNone/>
            </a:pPr>
            <a:r>
              <a:rPr lang="en-US" dirty="0"/>
              <a:t>When training a neural network using </a:t>
            </a:r>
            <a:r>
              <a:rPr lang="en-US" b="1" dirty="0"/>
              <a:t>backpropagation</a:t>
            </a:r>
            <a:r>
              <a:rPr lang="en-US" dirty="0"/>
              <a:t>, gradients (partial derivatives of the loss with respect to weights) are used to update the weights.</a:t>
            </a:r>
            <a:br>
              <a:rPr lang="en-US" dirty="0"/>
            </a:br>
            <a:r>
              <a:rPr lang="en-US" dirty="0"/>
              <a:t>In </a:t>
            </a:r>
            <a:r>
              <a:rPr lang="en-US" b="1" dirty="0"/>
              <a:t>deep networks</a:t>
            </a:r>
            <a:r>
              <a:rPr lang="en-US" dirty="0"/>
              <a:t>, as the gradients </a:t>
            </a:r>
            <a:r>
              <a:rPr lang="en-US"/>
              <a:t>are back-propagated </a:t>
            </a:r>
            <a:r>
              <a:rPr lang="en-US" dirty="0"/>
              <a:t>through many layers, </a:t>
            </a:r>
            <a:r>
              <a:rPr lang="en-US" b="1" dirty="0"/>
              <a:t>they get smaller and smaller</a:t>
            </a:r>
            <a:r>
              <a:rPr lang="en-US" dirty="0"/>
              <a:t>, eventually becoming </a:t>
            </a:r>
            <a:r>
              <a:rPr lang="en-US" b="1" dirty="0"/>
              <a:t>too tiny to have any effect</a:t>
            </a:r>
            <a:r>
              <a:rPr lang="en-US" dirty="0"/>
              <a:t> — this is called </a:t>
            </a:r>
            <a:r>
              <a:rPr lang="en-US" b="1" dirty="0"/>
              <a:t>vanishing gradients</a:t>
            </a:r>
            <a:r>
              <a:rPr lang="en-US" dirty="0"/>
              <a:t>.</a:t>
            </a:r>
          </a:p>
          <a:p>
            <a:pPr marL="0" indent="0">
              <a:buNone/>
            </a:pPr>
            <a:r>
              <a:rPr lang="en-US" dirty="0"/>
              <a:t>It comes down to </a:t>
            </a:r>
            <a:r>
              <a:rPr lang="en-US" b="1" dirty="0"/>
              <a:t>repeated multiplication</a:t>
            </a:r>
            <a:r>
              <a:rPr lang="en-US" dirty="0"/>
              <a:t> of small numbers (gradients) through the chain rule:</a:t>
            </a:r>
          </a:p>
          <a:p>
            <a:pPr marL="0" indent="0">
              <a:buNone/>
            </a:pPr>
            <a:r>
              <a:rPr lang="en-US" b="1" dirty="0"/>
              <a:t>Backpropagation uses chain rule, which uses many multiplication of activations functions.</a:t>
            </a:r>
            <a:endParaRPr lang="en-US" dirty="0"/>
          </a:p>
          <a:p>
            <a:pPr marL="0" indent="0">
              <a:buNone/>
            </a:pPr>
            <a:r>
              <a:rPr lang="en-US" dirty="0"/>
              <a:t>Repeatedly multiplying by &lt;1 derivatives → </a:t>
            </a:r>
            <a:r>
              <a:rPr lang="en-US" b="1" dirty="0"/>
              <a:t>gradients vanish</a:t>
            </a:r>
            <a:r>
              <a:rPr lang="en-US" dirty="0"/>
              <a:t>.</a:t>
            </a:r>
            <a:endParaRPr lang="en-US" b="1"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78087C1E-498C-3084-211E-1CCE8E7E5E15}"/>
              </a:ext>
            </a:extLst>
          </p:cNvPr>
          <p:cNvSpPr>
            <a:spLocks noGrp="1"/>
          </p:cNvSpPr>
          <p:nvPr>
            <p:ph type="sldNum" sz="quarter" idx="12"/>
          </p:nvPr>
        </p:nvSpPr>
        <p:spPr/>
        <p:txBody>
          <a:bodyPr/>
          <a:lstStyle/>
          <a:p>
            <a:fld id="{2E30D265-8AE4-4D83-9D5E-333CB7475336}" type="slidenum">
              <a:rPr lang="en-US" smtClean="0"/>
              <a:t>31</a:t>
            </a:fld>
            <a:endParaRPr lang="en-US"/>
          </a:p>
        </p:txBody>
      </p:sp>
    </p:spTree>
    <p:extLst>
      <p:ext uri="{BB962C8B-B14F-4D97-AF65-F5344CB8AC3E}">
        <p14:creationId xmlns:p14="http://schemas.microsoft.com/office/powerpoint/2010/main" val="1748912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D5F5E0-CA1D-7466-E3F9-A4FECE74CFBF}"/>
              </a:ext>
            </a:extLst>
          </p:cNvPr>
          <p:cNvSpPr txBox="1"/>
          <p:nvPr/>
        </p:nvSpPr>
        <p:spPr>
          <a:xfrm>
            <a:off x="452281" y="65710"/>
            <a:ext cx="10609007" cy="6555641"/>
          </a:xfrm>
          <a:prstGeom prst="rect">
            <a:avLst/>
          </a:prstGeom>
          <a:noFill/>
        </p:spPr>
        <p:txBody>
          <a:bodyPr wrap="square">
            <a:spAutoFit/>
          </a:bodyPr>
          <a:lstStyle/>
          <a:p>
            <a:r>
              <a:rPr lang="en-IN" sz="2000" b="1" dirty="0"/>
              <a:t>Difference between hyperparameter and parameter:</a:t>
            </a:r>
          </a:p>
          <a:p>
            <a:r>
              <a:rPr lang="en-IN" sz="2000" b="1" dirty="0"/>
              <a:t>Parameters:</a:t>
            </a:r>
          </a:p>
          <a:p>
            <a:pPr marL="285750" indent="-285750">
              <a:buFont typeface="Arial" panose="020B0604020202020204" pitchFamily="34" charset="0"/>
              <a:buChar char="•"/>
            </a:pPr>
            <a:r>
              <a:rPr lang="en-IN" sz="2000" b="1" dirty="0"/>
              <a:t>Learned from data</a:t>
            </a:r>
            <a:r>
              <a:rPr lang="en-IN" sz="2000" dirty="0"/>
              <a:t>: Parameters are internal variables of a model whose values are estimated or learned directly from the training data during the model training process.</a:t>
            </a:r>
          </a:p>
          <a:p>
            <a:pPr marL="285750" indent="-285750">
              <a:buFont typeface="Arial" panose="020B0604020202020204" pitchFamily="34" charset="0"/>
              <a:buChar char="•"/>
            </a:pPr>
            <a:r>
              <a:rPr lang="en-IN" sz="2000" b="1" dirty="0"/>
              <a:t>Define the model's predictions: </a:t>
            </a:r>
            <a:r>
              <a:rPr lang="en-IN" sz="2000" dirty="0"/>
              <a:t>These values are intrinsic to the model and are used to make predictions on new, unseen data.</a:t>
            </a:r>
          </a:p>
          <a:p>
            <a:pPr marL="285750" indent="-285750">
              <a:buFont typeface="Arial" panose="020B0604020202020204" pitchFamily="34" charset="0"/>
              <a:buChar char="•"/>
            </a:pPr>
            <a:r>
              <a:rPr lang="en-IN" sz="2000" b="1" dirty="0"/>
              <a:t>Examples:</a:t>
            </a:r>
            <a:r>
              <a:rPr lang="en-IN" sz="2000" dirty="0"/>
              <a:t> In a linear regression model, the coefficients (weights) are parameters. In a neural network, the weights and biases of the connections between neurons are parameters.</a:t>
            </a:r>
          </a:p>
          <a:p>
            <a:endParaRPr lang="en-IN" sz="2000" dirty="0"/>
          </a:p>
          <a:p>
            <a:endParaRPr lang="en-IN" sz="2000" dirty="0"/>
          </a:p>
          <a:p>
            <a:r>
              <a:rPr lang="en-IN" sz="2000" b="1" dirty="0"/>
              <a:t>Hyperparameters:</a:t>
            </a:r>
          </a:p>
          <a:p>
            <a:pPr marL="285750" indent="-285750">
              <a:buFont typeface="Arial" panose="020B0604020202020204" pitchFamily="34" charset="0"/>
              <a:buChar char="•"/>
            </a:pPr>
            <a:r>
              <a:rPr lang="en-IN" sz="2000" b="1" dirty="0"/>
              <a:t>Set before training</a:t>
            </a:r>
            <a:r>
              <a:rPr lang="en-IN" sz="2000" dirty="0"/>
              <a:t>: Hyperparameters are external configuration settings whose values are determined and set before the model training process begins. They are not learned from the data.</a:t>
            </a:r>
          </a:p>
          <a:p>
            <a:pPr marL="285750" indent="-285750">
              <a:buFont typeface="Arial" panose="020B0604020202020204" pitchFamily="34" charset="0"/>
              <a:buChar char="•"/>
            </a:pPr>
            <a:r>
              <a:rPr lang="en-IN" sz="2000" b="1" dirty="0"/>
              <a:t>Control the learning process:</a:t>
            </a:r>
            <a:r>
              <a:rPr lang="en-IN" sz="2000" dirty="0"/>
              <a:t> Hyperparameters govern the behaviour of the learning algorithm and the overall architecture of the model.</a:t>
            </a:r>
          </a:p>
          <a:p>
            <a:pPr marL="285750" indent="-285750">
              <a:buFont typeface="Arial" panose="020B0604020202020204" pitchFamily="34" charset="0"/>
              <a:buChar char="•"/>
            </a:pPr>
            <a:r>
              <a:rPr lang="en-IN" sz="2000" b="1" dirty="0"/>
              <a:t>Tuned for optimal performance:</a:t>
            </a:r>
            <a:r>
              <a:rPr lang="en-IN" sz="2000" dirty="0"/>
              <a:t> The selection of appropriate hyperparameter values is crucial for achieving optimal model performance and is often done through a process called hyperparameter tuning or optimization.</a:t>
            </a:r>
          </a:p>
          <a:p>
            <a:pPr marL="285750" indent="-285750">
              <a:buFont typeface="Arial" panose="020B0604020202020204" pitchFamily="34" charset="0"/>
              <a:buChar char="•"/>
            </a:pPr>
            <a:r>
              <a:rPr lang="en-IN" sz="2000" b="1" dirty="0"/>
              <a:t>Examples:</a:t>
            </a:r>
            <a:r>
              <a:rPr lang="en-IN" sz="2000" dirty="0"/>
              <a:t> Common hyperparameters include the learning rate in gradient descent, the number of hidden layers or neurons in a neural network, the regularization strength, or the number of clusters in a clustering algorithm like K-Means.</a:t>
            </a:r>
          </a:p>
        </p:txBody>
      </p:sp>
      <p:sp>
        <p:nvSpPr>
          <p:cNvPr id="2" name="Slide Number Placeholder 1">
            <a:extLst>
              <a:ext uri="{FF2B5EF4-FFF2-40B4-BE49-F238E27FC236}">
                <a16:creationId xmlns:a16="http://schemas.microsoft.com/office/drawing/2014/main" id="{C41819E1-BBF4-B274-6AD8-E6FC1D48F191}"/>
              </a:ext>
            </a:extLst>
          </p:cNvPr>
          <p:cNvSpPr>
            <a:spLocks noGrp="1"/>
          </p:cNvSpPr>
          <p:nvPr>
            <p:ph type="sldNum" sz="quarter" idx="12"/>
          </p:nvPr>
        </p:nvSpPr>
        <p:spPr/>
        <p:txBody>
          <a:bodyPr/>
          <a:lstStyle/>
          <a:p>
            <a:fld id="{2E30D265-8AE4-4D83-9D5E-333CB7475336}" type="slidenum">
              <a:rPr lang="en-US" smtClean="0"/>
              <a:t>32</a:t>
            </a:fld>
            <a:endParaRPr lang="en-US"/>
          </a:p>
        </p:txBody>
      </p:sp>
    </p:spTree>
    <p:extLst>
      <p:ext uri="{BB962C8B-B14F-4D97-AF65-F5344CB8AC3E}">
        <p14:creationId xmlns:p14="http://schemas.microsoft.com/office/powerpoint/2010/main" val="3931975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Some interesting site</a:t>
            </a:r>
          </a:p>
          <a:p>
            <a:r>
              <a:rPr lang="en-US" dirty="0"/>
              <a:t>https://playground.tensorflow.org/</a:t>
            </a:r>
          </a:p>
        </p:txBody>
      </p:sp>
      <p:sp>
        <p:nvSpPr>
          <p:cNvPr id="2" name="Slide Number Placeholder 1">
            <a:extLst>
              <a:ext uri="{FF2B5EF4-FFF2-40B4-BE49-F238E27FC236}">
                <a16:creationId xmlns:a16="http://schemas.microsoft.com/office/drawing/2014/main" id="{73EA554B-4AD3-F45F-850D-E696EF495373}"/>
              </a:ext>
            </a:extLst>
          </p:cNvPr>
          <p:cNvSpPr>
            <a:spLocks noGrp="1"/>
          </p:cNvSpPr>
          <p:nvPr>
            <p:ph type="sldNum" sz="quarter" idx="12"/>
          </p:nvPr>
        </p:nvSpPr>
        <p:spPr/>
        <p:txBody>
          <a:bodyPr/>
          <a:lstStyle/>
          <a:p>
            <a:fld id="{2E30D265-8AE4-4D83-9D5E-333CB7475336}" type="slidenum">
              <a:rPr lang="en-US" smtClean="0"/>
              <a:t>33</a:t>
            </a:fld>
            <a:endParaRPr lang="en-US"/>
          </a:p>
        </p:txBody>
      </p:sp>
    </p:spTree>
    <p:extLst>
      <p:ext uri="{BB962C8B-B14F-4D97-AF65-F5344CB8AC3E}">
        <p14:creationId xmlns:p14="http://schemas.microsoft.com/office/powerpoint/2010/main" val="1146765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1922</TotalTime>
  <Words>3126</Words>
  <Application>Microsoft Office PowerPoint</Application>
  <PresentationFormat>Widescreen</PresentationFormat>
  <Paragraphs>390</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Cambria Math</vt:lpstr>
      <vt:lpstr>Google Sans</vt:lpstr>
      <vt:lpstr>Wingdings</vt:lpstr>
      <vt:lpstr>Office Theme</vt:lpstr>
      <vt:lpstr>(On Dev) Deep Learning-ANN</vt:lpstr>
      <vt:lpstr> Neural Networks:</vt:lpstr>
      <vt:lpstr>Quick Overview of DNN</vt:lpstr>
      <vt:lpstr>PowerPoint Presentation</vt:lpstr>
      <vt:lpstr>What is Deep Learning?</vt:lpstr>
      <vt:lpstr>Types of DNN</vt:lpstr>
      <vt:lpstr>Perceptron(p1)</vt:lpstr>
      <vt:lpstr>Perceptron(p2): See jupyter n/b</vt:lpstr>
      <vt:lpstr>Perceptron(p3)</vt:lpstr>
      <vt:lpstr>Perceptron(p4)</vt:lpstr>
      <vt:lpstr>Perceptron(p3)</vt:lpstr>
      <vt:lpstr>Perceptron(p4)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weights and bias(p1):</vt:lpstr>
      <vt:lpstr>PowerPoint Presentation</vt:lpstr>
      <vt:lpstr>Another representation of NN with 1 hidden layer</vt:lpstr>
      <vt:lpstr>ANN Architecture(p1)</vt:lpstr>
      <vt:lpstr>ANN Architecture(p2)</vt:lpstr>
      <vt:lpstr>ANN Architecture(p3)</vt:lpstr>
      <vt:lpstr>ANN Architecture(p4)</vt:lpstr>
      <vt:lpstr>Few facts about ANN</vt:lpstr>
      <vt:lpstr>Increasing the number of hidden layers:</vt:lpstr>
      <vt:lpstr>Increasing the number of hidden layers(p2)</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dc:title>
  <dc:creator>Windows User</dc:creator>
  <cp:lastModifiedBy>Ashwani Kumar</cp:lastModifiedBy>
  <cp:revision>218</cp:revision>
  <dcterms:created xsi:type="dcterms:W3CDTF">2025-01-15T13:24:26Z</dcterms:created>
  <dcterms:modified xsi:type="dcterms:W3CDTF">2026-03-08T19:32:24Z</dcterms:modified>
</cp:coreProperties>
</file>