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6" r:id="rId2"/>
    <p:sldId id="257" r:id="rId3"/>
    <p:sldId id="258" r:id="rId4"/>
    <p:sldId id="259" r:id="rId5"/>
    <p:sldId id="261" r:id="rId6"/>
    <p:sldId id="260" r:id="rId7"/>
    <p:sldId id="262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8F87F-2F44-454C-A14C-E50EA0E3F8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00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Training and classification</a:t>
            </a:r>
            <a:br>
              <a:rPr lang="en-US" b="1" dirty="0"/>
            </a:br>
            <a:r>
              <a:rPr lang="en-US" b="1" dirty="0"/>
              <a:t>using a continuous perceptron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a </a:t>
            </a:r>
            <a:r>
              <a:rPr lang="en-US" b="1" dirty="0"/>
              <a:t>step-by-step example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2B2F0B-CB87-B495-2FD4-E6ECE2CD486E}"/>
              </a:ext>
            </a:extLst>
          </p:cNvPr>
          <p:cNvSpPr txBox="1"/>
          <p:nvPr/>
        </p:nvSpPr>
        <p:spPr>
          <a:xfrm>
            <a:off x="594845" y="306939"/>
            <a:ext cx="8529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1. What is a Single-Layer Continuous Perceptron?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508872-44FE-C987-D1E3-A093E1C9B1C1}"/>
                  </a:ext>
                </a:extLst>
              </p:cNvPr>
              <p:cNvSpPr txBox="1"/>
              <p:nvPr/>
            </p:nvSpPr>
            <p:spPr>
              <a:xfrm>
                <a:off x="383458" y="1371879"/>
                <a:ext cx="10028903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single-layer perceptron network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has: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Weights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Bias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Activation function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(continuous, e.g.,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sigmoid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or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tanh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Instead of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activation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(which outputs only 0 or 1), it uses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continuous function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that produces outputs in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range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(like 0 to 1).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508872-44FE-C987-D1E3-A093E1C9B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58" y="1371879"/>
                <a:ext cx="10028903" cy="3046988"/>
              </a:xfrm>
              <a:prstGeom prst="rect">
                <a:avLst/>
              </a:prstGeom>
              <a:blipFill>
                <a:blip r:embed="rId2"/>
                <a:stretch>
                  <a:fillRect l="-973" t="-1600" b="-3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DA76F-33CE-8CA3-41F1-A92F0938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13AA56-D17A-DE44-0E94-701FEF82D113}"/>
              </a:ext>
            </a:extLst>
          </p:cNvPr>
          <p:cNvSpPr txBox="1"/>
          <p:nvPr/>
        </p:nvSpPr>
        <p:spPr>
          <a:xfrm>
            <a:off x="398200" y="139790"/>
            <a:ext cx="618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The Model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18C5A9-C632-AEBC-5E74-F24F2E10D074}"/>
                  </a:ext>
                </a:extLst>
              </p:cNvPr>
              <p:cNvSpPr txBox="1"/>
              <p:nvPr/>
            </p:nvSpPr>
            <p:spPr>
              <a:xfrm>
                <a:off x="98321" y="1077080"/>
                <a:ext cx="9684774" cy="4755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Net input: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Activation (continuous function):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example,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sigmoid activation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gives outputs between 0 and 1 (continuous).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classification, we usually threshold the output at 0.5.</a:t>
                </a: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18C5A9-C632-AEBC-5E74-F24F2E10D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1" y="1077080"/>
                <a:ext cx="9684774" cy="4755276"/>
              </a:xfrm>
              <a:prstGeom prst="rect">
                <a:avLst/>
              </a:prstGeom>
              <a:blipFill>
                <a:blip r:embed="rId2"/>
                <a:stretch>
                  <a:fillRect l="-944" t="-1026" b="-2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8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1942-1EB7-DF5F-C531-1317D76B1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A7AD46-032F-2D8A-7A5E-CB3842B047A0}"/>
              </a:ext>
            </a:extLst>
          </p:cNvPr>
          <p:cNvSpPr txBox="1"/>
          <p:nvPr/>
        </p:nvSpPr>
        <p:spPr>
          <a:xfrm>
            <a:off x="496523" y="262694"/>
            <a:ext cx="618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Training Rule (Continuous Perceptron)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B4233F-0B0E-EB5B-F24C-7BBB7FA45B18}"/>
                  </a:ext>
                </a:extLst>
              </p:cNvPr>
              <p:cNvSpPr txBox="1"/>
              <p:nvPr/>
            </p:nvSpPr>
            <p:spPr>
              <a:xfrm>
                <a:off x="285135" y="1136732"/>
                <a:ext cx="11720052" cy="5456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Unlike the discrete perceptron (which used a simple update rule),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continuous perceptron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typically trained using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gradient descent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to minimize an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error function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Error function (Mean Squared Error for simplicity):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endChr m:val=""/>
                          <m:ctrlPr>
                            <a:rPr lang="ar-AE" sz="2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true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pred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4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240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Weight update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true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</a:rPr>
                                <m:t>pred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r-AE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Here,</a:t>
                </a:r>
              </a:p>
              <a:p>
                <a:pPr marL="0" indent="0">
                  <a:buNone/>
                </a:pPr>
                <a:r>
                  <a:rPr lang="el-GR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η 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learning rate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derivative of activation function (for sigmoid,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ar-AE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is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delta rule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Widrow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–Hoff learning).</a:t>
                </a:r>
                <a:endParaRPr lang="ar-AE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B4233F-0B0E-EB5B-F24C-7BBB7FA45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35" y="1136732"/>
                <a:ext cx="11720052" cy="5456943"/>
              </a:xfrm>
              <a:prstGeom prst="rect">
                <a:avLst/>
              </a:prstGeom>
              <a:blipFill>
                <a:blip r:embed="rId2"/>
                <a:stretch>
                  <a:fillRect l="-832" t="-893" r="-572"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4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AA7D-34C9-1C01-2075-32DDBD44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0CB260-053F-3A55-50A9-6203331B7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078" y="1289818"/>
            <a:ext cx="3664876" cy="159259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79AE3B-C69C-C76F-393D-796C1DEDBBD9}"/>
                  </a:ext>
                </a:extLst>
              </p:cNvPr>
              <p:cNvSpPr txBox="1"/>
              <p:nvPr/>
            </p:nvSpPr>
            <p:spPr>
              <a:xfrm>
                <a:off x="389430" y="1132263"/>
                <a:ext cx="7918828" cy="5077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Training process: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Initialize weights randomly,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Compute prediction using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sigmoid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Compute error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true</m:t>
                            </m:r>
                          </m:sub>
                        </m:sSub>
                        <m:r>
                          <a:rPr lang="ar-AE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pred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Update weights with the delta rule.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Repeat until error is very small.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After training the perceptron will converge to weights such that: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Inputs (0,1), (1,0), (1,1) → Output close to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Input (0,0) → Output close to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79AE3B-C69C-C76F-393D-796C1DEDB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30" y="1132263"/>
                <a:ext cx="7918828" cy="5077031"/>
              </a:xfrm>
              <a:prstGeom prst="rect">
                <a:avLst/>
              </a:prstGeom>
              <a:blipFill>
                <a:blip r:embed="rId3"/>
                <a:stretch>
                  <a:fillRect l="-1232" t="-960" b="-1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A404EB-483E-65BB-BF34-CC5967E2493C}"/>
              </a:ext>
            </a:extLst>
          </p:cNvPr>
          <p:cNvSpPr txBox="1"/>
          <p:nvPr/>
        </p:nvSpPr>
        <p:spPr>
          <a:xfrm>
            <a:off x="791491" y="238113"/>
            <a:ext cx="8175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Example: OR Function with Continuous Perceptron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152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840AA-94A4-90C0-8B92-D60231D6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>
            <a:extLst>
              <a:ext uri="{FF2B5EF4-FFF2-40B4-BE49-F238E27FC236}">
                <a16:creationId xmlns:a16="http://schemas.microsoft.com/office/drawing/2014/main" id="{DF9B5A15-1394-ABD4-D017-9C70A73E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7" y="1258223"/>
            <a:ext cx="1109255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Even though the output is continuous,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decision boundary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in feature space is still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Example: For two features, the decision boundary is the line: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w1​x1​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w2​x2​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+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b=0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side of the line → classified as Class 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side → classified as Class 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it works well only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linearly separable problems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(just like discrete perceptron).</a:t>
            </a: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70C7E-2B69-C17B-F30F-5925D8FF8611}"/>
              </a:ext>
            </a:extLst>
          </p:cNvPr>
          <p:cNvSpPr txBox="1"/>
          <p:nvPr/>
        </p:nvSpPr>
        <p:spPr>
          <a:xfrm>
            <a:off x="398200" y="139790"/>
            <a:ext cx="618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Decision Regions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017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3D16-6FB9-C2A5-4E7B-943AC95BF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ADAC69-89B2-D3CB-45DF-151BF15F1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58392"/>
              </p:ext>
            </p:extLst>
          </p:nvPr>
        </p:nvGraphicFramePr>
        <p:xfrm>
          <a:off x="619432" y="2221389"/>
          <a:ext cx="11139752" cy="3474720"/>
        </p:xfrm>
        <a:graphic>
          <a:graphicData uri="http://schemas.openxmlformats.org/drawingml/2006/table">
            <a:tbl>
              <a:tblPr/>
              <a:tblGrid>
                <a:gridCol w="2989007">
                  <a:extLst>
                    <a:ext uri="{9D8B030D-6E8A-4147-A177-3AD203B41FA5}">
                      <a16:colId xmlns:a16="http://schemas.microsoft.com/office/drawing/2014/main" val="1965058163"/>
                    </a:ext>
                  </a:extLst>
                </a:gridCol>
                <a:gridCol w="4072230">
                  <a:extLst>
                    <a:ext uri="{9D8B030D-6E8A-4147-A177-3AD203B41FA5}">
                      <a16:colId xmlns:a16="http://schemas.microsoft.com/office/drawing/2014/main" val="2029047343"/>
                    </a:ext>
                  </a:extLst>
                </a:gridCol>
                <a:gridCol w="4078515">
                  <a:extLst>
                    <a:ext uri="{9D8B030D-6E8A-4147-A177-3AD203B41FA5}">
                      <a16:colId xmlns:a16="http://schemas.microsoft.com/office/drawing/2014/main" val="1356301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Discrete Perceptron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Continuous Perceptron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952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Activation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Step function (0 or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Sigmoid / Tanh (continuous)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885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Output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Binary only (0,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Continuous (0–1, or -1 to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765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Training Rule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Simple perceptron 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Delta rule (gradient descent)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944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Error Function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Not differentiable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Differentiable (MSE, Cross-Entropy)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926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Works only if data is linearly separable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More robust, smoother convergence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38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3112D0-CFF6-0FF5-3576-BBCD9D160BE2}"/>
              </a:ext>
            </a:extLst>
          </p:cNvPr>
          <p:cNvSpPr txBox="1"/>
          <p:nvPr/>
        </p:nvSpPr>
        <p:spPr>
          <a:xfrm>
            <a:off x="653840" y="267610"/>
            <a:ext cx="7733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Key Differences: Discrete vs. Continuous Perceptron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77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1077</TotalTime>
  <Words>493</Words>
  <Application>Microsoft Office PowerPoint</Application>
  <PresentationFormat>Widescreen</PresentationFormat>
  <Paragraphs>79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Training and classification using a continuous perceptron  with a step-by-step example.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171</cp:revision>
  <dcterms:created xsi:type="dcterms:W3CDTF">2025-09-22T02:44:38Z</dcterms:created>
  <dcterms:modified xsi:type="dcterms:W3CDTF">2026-03-08T17:55:35Z</dcterms:modified>
</cp:coreProperties>
</file>