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6" r:id="rId3"/>
    <p:sldId id="279" r:id="rId4"/>
    <p:sldId id="280" r:id="rId5"/>
    <p:sldId id="281" r:id="rId6"/>
    <p:sldId id="282" r:id="rId7"/>
    <p:sldId id="278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909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GPUs for Deep Learning ?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F170-858A-1787-27EA-B8F6771D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5E489-8B61-1137-D2BA-47E1F15F8A8C}"/>
                  </a:ext>
                </a:extLst>
              </p:cNvPr>
              <p:cNvSpPr txBox="1"/>
              <p:nvPr/>
            </p:nvSpPr>
            <p:spPr>
              <a:xfrm>
                <a:off x="548640" y="510278"/>
                <a:ext cx="7050024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</a:t>
                </a:r>
                <a:b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neural network layer performs: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Where: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weight matrix 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X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input vector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bias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(W and b are called parameters)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involves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massive matrix multiplications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505E489-8B61-1137-D2BA-47E1F15F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10278"/>
                <a:ext cx="7050024" cy="4524315"/>
              </a:xfrm>
              <a:prstGeom prst="rect">
                <a:avLst/>
              </a:prstGeom>
              <a:blipFill>
                <a:blip r:embed="rId2"/>
                <a:stretch>
                  <a:fillRect l="-1296" t="-107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52982E72-8D10-DD66-0EFC-9042B464A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26" y="1197864"/>
            <a:ext cx="5647921" cy="33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4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B5F7-A32F-EA2B-50A2-63A4EF42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5C56AE-C057-4B1A-DBA1-8D7256AF0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697013"/>
              </p:ext>
            </p:extLst>
          </p:nvPr>
        </p:nvGraphicFramePr>
        <p:xfrm>
          <a:off x="280416" y="1340390"/>
          <a:ext cx="5727192" cy="1828800"/>
        </p:xfrm>
        <a:graphic>
          <a:graphicData uri="http://schemas.openxmlformats.org/drawingml/2006/table">
            <a:tbl>
              <a:tblPr/>
              <a:tblGrid>
                <a:gridCol w="3176016">
                  <a:extLst>
                    <a:ext uri="{9D8B030D-6E8A-4147-A177-3AD203B41FA5}">
                      <a16:colId xmlns:a16="http://schemas.microsoft.com/office/drawing/2014/main" val="2119943052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1517290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15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 neural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ResNet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 million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0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GPT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billions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3482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6B90BA-CF01-4032-D2ED-E422DB8CEDD8}"/>
              </a:ext>
            </a:extLst>
          </p:cNvPr>
          <p:cNvSpPr txBox="1"/>
          <p:nvPr/>
        </p:nvSpPr>
        <p:spPr>
          <a:xfrm>
            <a:off x="100584" y="4733467"/>
            <a:ext cx="8389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requires repeating these operations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thousands of times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7AE12-D508-1872-2612-3702675DA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026" y="1197864"/>
            <a:ext cx="5647921" cy="332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9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14695-19F9-D951-A6B4-574C7B8B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7AA006-1D78-D890-C5E7-7F338FDD13E5}"/>
              </a:ext>
            </a:extLst>
          </p:cNvPr>
          <p:cNvSpPr txBox="1"/>
          <p:nvPr/>
        </p:nvSpPr>
        <p:spPr>
          <a:xfrm>
            <a:off x="530352" y="1368475"/>
            <a:ext cx="83896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CPU (Central Processing Unit)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CPU is designed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general-purpose tasks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 cores (4 – 32). Each core can run in parallel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for sequential tasks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93100-7983-68F0-0C2F-6A893A702A8C}"/>
              </a:ext>
            </a:extLst>
          </p:cNvPr>
          <p:cNvSpPr txBox="1"/>
          <p:nvPr/>
        </p:nvSpPr>
        <p:spPr>
          <a:xfrm>
            <a:off x="548640" y="3592914"/>
            <a:ext cx="11420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GPU (Graphics Processing Unit)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Originally designed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graphics rendering: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processing millions of pixels simultaneously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Therefore, GPUs have: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 cores (1000 – 16000). Each core can run in parallel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Massive parallelism</a:t>
            </a:r>
          </a:p>
        </p:txBody>
      </p:sp>
    </p:spTree>
    <p:extLst>
      <p:ext uri="{BB962C8B-B14F-4D97-AF65-F5344CB8AC3E}">
        <p14:creationId xmlns:p14="http://schemas.microsoft.com/office/powerpoint/2010/main" val="365105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0917-24FD-B7D2-59B1-12B1E34C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36ABC0-BCA4-665A-1772-5BDDCE7B5D22}"/>
                  </a:ext>
                </a:extLst>
              </p:cNvPr>
              <p:cNvSpPr txBox="1"/>
              <p:nvPr/>
            </p:nvSpPr>
            <p:spPr>
              <a:xfrm>
                <a:off x="201168" y="207187"/>
                <a:ext cx="7909560" cy="6526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Matrix multiplication can be split into many parallel tasks.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element: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sz="24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C[</a:t>
                </a:r>
                <a:r>
                  <a:rPr lang="en-US" sz="24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][j] can be computed independently.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GPU assigns each computation to a different core.</a:t>
                </a: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36ABC0-BCA4-665A-1772-5BDDCE7B5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" y="207187"/>
                <a:ext cx="7909560" cy="6526658"/>
              </a:xfrm>
              <a:prstGeom prst="rect">
                <a:avLst/>
              </a:prstGeom>
              <a:blipFill>
                <a:blip r:embed="rId2"/>
                <a:stretch>
                  <a:fillRect l="-1156" t="-747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4EE10BD-5DA3-BEBB-E196-FE579964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967" y="3675888"/>
            <a:ext cx="8543874" cy="242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6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A885-147B-A8DA-2316-8E86F193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34508-0859-53F1-2667-5C1465722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" y="1307146"/>
            <a:ext cx="4791744" cy="5115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218DE2-88B0-F299-5DC1-2B57B0D15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968" y="926093"/>
            <a:ext cx="5077534" cy="54966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EF34E4-1CAA-D2B5-1A28-61D39AF01BCB}"/>
              </a:ext>
            </a:extLst>
          </p:cNvPr>
          <p:cNvSpPr txBox="1"/>
          <p:nvPr/>
        </p:nvSpPr>
        <p:spPr>
          <a:xfrm>
            <a:off x="365759" y="201829"/>
            <a:ext cx="10518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ran following on Google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Colab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I took 2 matrix A and B, each of shape 4000 x 4000 and multiplied them on CPU / GPU. </a:t>
            </a:r>
          </a:p>
        </p:txBody>
      </p:sp>
    </p:spTree>
    <p:extLst>
      <p:ext uri="{BB962C8B-B14F-4D97-AF65-F5344CB8AC3E}">
        <p14:creationId xmlns:p14="http://schemas.microsoft.com/office/powerpoint/2010/main" val="997152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hidden layers</a:t>
            </a:r>
          </a:p>
        </p:txBody>
      </p:sp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1554</TotalTime>
  <Words>229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220</cp:revision>
  <dcterms:created xsi:type="dcterms:W3CDTF">2025-09-22T02:44:38Z</dcterms:created>
  <dcterms:modified xsi:type="dcterms:W3CDTF">2026-03-09T13:10:33Z</dcterms:modified>
</cp:coreProperties>
</file>