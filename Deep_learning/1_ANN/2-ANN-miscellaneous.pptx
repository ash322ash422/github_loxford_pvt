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8" r:id="rId3"/>
    <p:sldId id="295" r:id="rId4"/>
    <p:sldId id="297" r:id="rId5"/>
    <p:sldId id="296" r:id="rId6"/>
    <p:sldId id="299" r:id="rId7"/>
    <p:sldId id="284" r:id="rId8"/>
    <p:sldId id="288" r:id="rId9"/>
    <p:sldId id="300" r:id="rId10"/>
    <p:sldId id="289" r:id="rId11"/>
    <p:sldId id="293" r:id="rId12"/>
    <p:sldId id="298" r:id="rId13"/>
    <p:sldId id="281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0" y="1591056"/>
            <a:ext cx="8751175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C1FEDB0-2282-60F1-A0A6-6A3AC7B46492}"/>
              </a:ext>
            </a:extLst>
          </p:cNvPr>
          <p:cNvSpPr txBox="1"/>
          <p:nvPr/>
        </p:nvSpPr>
        <p:spPr>
          <a:xfrm>
            <a:off x="258924" y="224134"/>
            <a:ext cx="114789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activation unction should be used on output layer?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Choice of activation function in the output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depends directly on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of 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you’re solving with an Artificial Neural Network (ANN).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974F1F-30D0-5705-B630-8B553BA2C881}"/>
              </a:ext>
            </a:extLst>
          </p:cNvPr>
          <p:cNvSpPr txBox="1"/>
          <p:nvPr/>
        </p:nvSpPr>
        <p:spPr>
          <a:xfrm>
            <a:off x="286916" y="1913524"/>
            <a:ext cx="90583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Regression Problems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continuous values (e.g., house prices, temperature).</a:t>
            </a:r>
          </a:p>
          <a:p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(identity)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no activation, just raw output.</a:t>
            </a:r>
          </a:p>
          <a:p>
            <a:pPr lvl="1"/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f(x)=x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</a:t>
            </a:r>
            <a:r>
              <a:rPr lang="en-IN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output can’t be negative (e.g., predicting age, distance).</a:t>
            </a:r>
          </a:p>
          <a:p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Mean Squared Error (MSE)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Mean Absolute Error (MAE) if you care more about absolute deviations.</a:t>
            </a:r>
          </a:p>
          <a:p>
            <a:pPr lvl="1"/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house price in dollars.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58947-26B5-46BB-1C57-A0D1DD25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8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7CCC-509C-7088-3B6F-214C72B3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04ED676-2D28-CA7E-3D6A-B94611A56BBC}"/>
              </a:ext>
            </a:extLst>
          </p:cNvPr>
          <p:cNvSpPr txBox="1"/>
          <p:nvPr/>
        </p:nvSpPr>
        <p:spPr>
          <a:xfrm>
            <a:off x="100304" y="305336"/>
            <a:ext cx="90512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Binary Classification Problems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classes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(yes/no, spam/not spam).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squashes output to [0,1], interpretable as probability.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 (Log Loss)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if a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tumor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malignant (1) or benign (0).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679ED0-4915-3D25-E519-3AD39E03A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00" y="1669324"/>
            <a:ext cx="1661304" cy="662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5C8941-2330-24BC-0472-E903687A8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496" y="4333042"/>
            <a:ext cx="4427604" cy="6706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BA59F-2BE2-2F18-66AB-627DCB72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8F18-A555-F6A6-A772-C8B74BAD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272A3-61FF-EDFE-55F5-39C595FCA59A}"/>
              </a:ext>
            </a:extLst>
          </p:cNvPr>
          <p:cNvSpPr txBox="1"/>
          <p:nvPr/>
        </p:nvSpPr>
        <p:spPr>
          <a:xfrm>
            <a:off x="184278" y="222104"/>
            <a:ext cx="108799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Multi-class Classification Problems (One-label)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class out of many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(mutually exclusive).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gives a probability distribution across classes, all adding up to 1.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one-hot encoded)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Categorical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integers, not one-hot).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Example: Handwritten digit recognition (0–9).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7F26F-9BEE-1E04-EA99-257AEB190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83" y="2484261"/>
            <a:ext cx="1752752" cy="815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57198-8072-ED8B-D0D8-88871A2C1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947" y="3792322"/>
            <a:ext cx="2194750" cy="43437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87D64-DE64-B9AF-0DA6-BE75F74E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36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A659-F583-AB4F-288F-E86048C9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E8B917-2D81-D5D4-7BB8-2DB97237B57C}"/>
              </a:ext>
            </a:extLst>
          </p:cNvPr>
          <p:cNvSpPr txBox="1"/>
          <p:nvPr/>
        </p:nvSpPr>
        <p:spPr>
          <a:xfrm>
            <a:off x="260044" y="204522"/>
            <a:ext cx="109230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Multi-label Classification Problems (Multiple labels possible)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independent labels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(not mutually exclusive).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 (per output node)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each output is treated as independent probability.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applied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independently per label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which tags apply to a movie (action, comedy, romance — could be more than one).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B4229-AB8E-074A-45BE-8FF3E574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90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941"/>
            <a:ext cx="10515600" cy="777875"/>
          </a:xfrm>
        </p:spPr>
        <p:txBody>
          <a:bodyPr/>
          <a:lstStyle/>
          <a:p>
            <a:r>
              <a:rPr lang="en-US" dirty="0"/>
              <a:t>Few facts about 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1ABC-CD49-CB82-4793-6F699F57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2F398-914D-B0FE-45FD-56C4DA617327}"/>
              </a:ext>
            </a:extLst>
          </p:cNvPr>
          <p:cNvSpPr txBox="1"/>
          <p:nvPr/>
        </p:nvSpPr>
        <p:spPr>
          <a:xfrm>
            <a:off x="530352" y="1997839"/>
            <a:ext cx="113202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Feedforward networks (MLPs, CNNs)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process inputs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at once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they don't depend on previous steps.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1000 words or pixels.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feedforward network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all 1000 together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passes them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through layers at the same 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(matrix multiplication).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math terms: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× 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super fast because modern hardware (like GPUs)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built for parallel matrix operations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waiting for "previous word" or "previous pixel" —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everything is 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each layer.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parallelism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832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Increasing the number of </a:t>
            </a:r>
            <a:r>
              <a:rPr lang="en-US" b="1" dirty="0"/>
              <a:t>hidden layers: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D0EE1-F0AB-3510-77CA-BED1700A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BCC04-71FC-BAAB-12B3-1C1D7BFB4F27}"/>
              </a:ext>
            </a:extLst>
          </p:cNvPr>
          <p:cNvSpPr txBox="1"/>
          <p:nvPr/>
        </p:nvSpPr>
        <p:spPr>
          <a:xfrm>
            <a:off x="0" y="1136499"/>
            <a:ext cx="11353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Increasing the number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 layers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 neural network transforms it from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shallow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network — a concept known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Potential Benefits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Ability to Learn Complex Patterns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More layers allow the network to build hierarchies of features.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In image classification, early layers detect edges, deeper layers detect shapes, and even deeper layers recognize objects.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Expressive Power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deeper network can approximate more complex functions and decision boundaries.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for Large Datasets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Deep networks perform better with large datasets and non-linear problems, assuming proper tuning.</a:t>
            </a:r>
          </a:p>
        </p:txBody>
      </p:sp>
    </p:spTree>
    <p:extLst>
      <p:ext uri="{BB962C8B-B14F-4D97-AF65-F5344CB8AC3E}">
        <p14:creationId xmlns:p14="http://schemas.microsoft.com/office/powerpoint/2010/main" val="1416035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D8DEE-1879-D455-E196-CE5CF308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27EB-57E3-0C3B-BCEC-9D9DF38A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Increasing the number of </a:t>
            </a:r>
            <a:r>
              <a:rPr lang="en-US" b="1" dirty="0"/>
              <a:t>hidden layers: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195A1-6DE9-C193-613D-0BAC0690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56F37-6EC6-5917-CB1D-595C668C2346}"/>
              </a:ext>
            </a:extLst>
          </p:cNvPr>
          <p:cNvSpPr txBox="1"/>
          <p:nvPr/>
        </p:nvSpPr>
        <p:spPr>
          <a:xfrm>
            <a:off x="0" y="1337667"/>
            <a:ext cx="11353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Drawbacks: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Overfitting: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layers = more parameters = risk of memorizing the training data instead of generalizing.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Time Increases: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layers = more computations = longer training times.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Vanishing/Exploding Gradients: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very deep networks, gradients can become extremely small or large, making training unstable or slow (especially with sigmoid/tanh). (EXPLAINED ON NEXT PAGE)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55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Increasing the number of </a:t>
            </a:r>
            <a:r>
              <a:rPr lang="en-US" b="1" dirty="0"/>
              <a:t>hidden layers</a:t>
            </a:r>
            <a:r>
              <a:rPr lang="en-US" b="1" dirty="0">
                <a:sym typeface="Wingdings" panose="05000000000000000000" pitchFamily="2" charset="2"/>
              </a:rPr>
              <a:t>(p2)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87C1E-498C-3084-211E-1CCE8E7E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F0097-EC78-B646-0510-0B6EA7743266}"/>
              </a:ext>
            </a:extLst>
          </p:cNvPr>
          <p:cNvSpPr txBox="1"/>
          <p:nvPr/>
        </p:nvSpPr>
        <p:spPr>
          <a:xfrm>
            <a:off x="530352" y="1443841"/>
            <a:ext cx="10405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Vanishing Gradient Problem?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training a neural network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gradients (partial derivatives of the loss with respect to weights) are used to update the weights.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as the gradients are back-propagated through many layers,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get smaller and smaller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eventually becoming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 tiny to have any effect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this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vanishing gradients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comes down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repeated multiplication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small numbers (gradients) through the chain rule: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 uses chain rule, which uses many multiplication of activations functions.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Repeatedly multiplying by &lt;1 derivatives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gradients vanish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12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D5F5E0-CA1D-7466-E3F9-A4FECE74CFBF}"/>
              </a:ext>
            </a:extLst>
          </p:cNvPr>
          <p:cNvSpPr txBox="1"/>
          <p:nvPr/>
        </p:nvSpPr>
        <p:spPr>
          <a:xfrm>
            <a:off x="452281" y="65710"/>
            <a:ext cx="106090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hyperparameter and parameter: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Learned from data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Parameters are internal variables of a model whose values are estimated or learned directly from the training data during the model training process.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 linear regression model, the coefficients (weights) are parameters. In a neural network, the weights and biases of the connections between neurons are parameters.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1819E1-BBF4-B274-6AD8-E6FC1D48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z="24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11</a:t>
            </a:fld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97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9CAB-0BB3-B491-B1A7-B4E3419C2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3B087A-9A17-2053-C77B-98786C4D4A09}"/>
              </a:ext>
            </a:extLst>
          </p:cNvPr>
          <p:cNvSpPr txBox="1"/>
          <p:nvPr/>
        </p:nvSpPr>
        <p:spPr>
          <a:xfrm>
            <a:off x="452281" y="65710"/>
            <a:ext cx="106090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hyperparameter and parameter: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Hyperparameters: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 before training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Hyperparameters are external configuration settings whose values are determined and set before the model training process begins. They are </a:t>
            </a:r>
            <a:r>
              <a:rPr lang="en-IN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learned from the data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Tuned for optimal performance: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selection of appropriate hyperparameter values is crucial for achieving optimal model performance and is often done through a process called hyperparameter tuning or optimization.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Common hyperparameters include the learning rate in gradient descent, the number of hidden layers or neurons in a neural network, the regularization strength, or the number of clusters in a clustering algorithm like K-Means.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018C3-306A-6FB0-FCB6-DB1883FC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z="24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12</a:t>
            </a:fld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1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4248-F2D4-F8F7-C4E9-140556F5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5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8008-2690-1196-2C84-264D6AA4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92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1601</TotalTime>
  <Words>946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Few facts about ANN</vt:lpstr>
      <vt:lpstr>Increasing the number of hidden layers:</vt:lpstr>
      <vt:lpstr>Increasing the number of hidden layers:</vt:lpstr>
      <vt:lpstr>Increasing the number of hidden layers(p2)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242</cp:revision>
  <dcterms:created xsi:type="dcterms:W3CDTF">2025-09-22T02:44:38Z</dcterms:created>
  <dcterms:modified xsi:type="dcterms:W3CDTF">2026-04-04T18:42:22Z</dcterms:modified>
</cp:coreProperties>
</file>