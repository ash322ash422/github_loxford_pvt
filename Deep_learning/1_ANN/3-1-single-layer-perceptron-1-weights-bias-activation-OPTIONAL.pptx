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59" r:id="rId5"/>
    <p:sldId id="288" r:id="rId6"/>
    <p:sldId id="262" r:id="rId7"/>
    <p:sldId id="260" r:id="rId8"/>
    <p:sldId id="290" r:id="rId9"/>
    <p:sldId id="291" r:id="rId10"/>
    <p:sldId id="292" r:id="rId11"/>
    <p:sldId id="293" r:id="rId12"/>
    <p:sldId id="294" r:id="rId13"/>
    <p:sldId id="289" r:id="rId14"/>
    <p:sldId id="296" r:id="rId15"/>
    <p:sldId id="300" r:id="rId16"/>
    <p:sldId id="295" r:id="rId17"/>
    <p:sldId id="275" r:id="rId18"/>
    <p:sldId id="28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735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215DA-3608-60AF-BA74-5CE165D36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9745" y="1664207"/>
            <a:ext cx="10991273" cy="977485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Single Layer Perceptron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542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EAD210F-36E3-353B-6822-5D7342D34218}"/>
              </a:ext>
            </a:extLst>
          </p:cNvPr>
          <p:cNvSpPr txBox="1"/>
          <p:nvPr/>
        </p:nvSpPr>
        <p:spPr>
          <a:xfrm>
            <a:off x="434340" y="19938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What is a Single Layer Perceptron?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99C8E5-C0D7-202E-21CA-746662B45C44}"/>
              </a:ext>
            </a:extLst>
          </p:cNvPr>
          <p:cNvSpPr txBox="1"/>
          <p:nvPr/>
        </p:nvSpPr>
        <p:spPr>
          <a:xfrm>
            <a:off x="320040" y="948958"/>
            <a:ext cx="551093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 </a:t>
            </a:r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Single Layer Perceptron (SLP)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is one of the simplest types of artificial neural networks, used primarily for </a:t>
            </a:r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binary classification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tasks (i.e., deciding whether an input belongs to one class or another).</a:t>
            </a:r>
          </a:p>
          <a:p>
            <a:pPr marL="0" indent="0">
              <a:buNone/>
            </a:pPr>
            <a:endParaRPr lang="en-US" sz="2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It was introduced by </a:t>
            </a:r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Frank Rosenblatt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in 1958.</a:t>
            </a:r>
          </a:p>
          <a:p>
            <a:pPr marL="0" indent="0">
              <a:buNone/>
            </a:pPr>
            <a:endParaRPr lang="en-US" sz="2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“Single layer” means there is </a:t>
            </a:r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only one layer of weights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connecting inputs directly to outputs.</a:t>
            </a:r>
          </a:p>
          <a:p>
            <a:pPr marL="0" indent="0">
              <a:buNone/>
            </a:pPr>
            <a:endParaRPr lang="en-US" sz="2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It </a:t>
            </a:r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cannot solve non-linearly separable problems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(like XOR).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7876C3-3DD7-AE9D-E396-0E1C33E10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153" y="1152145"/>
            <a:ext cx="6600847" cy="236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80AC6-A381-D1DB-5FFB-38611FDAD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7A0061-2BDE-EAF2-BDB8-29F96D884011}"/>
                  </a:ext>
                </a:extLst>
              </p:cNvPr>
              <p:cNvSpPr txBox="1"/>
              <p:nvPr/>
            </p:nvSpPr>
            <p:spPr>
              <a:xfrm>
                <a:off x="137160" y="765296"/>
                <a:ext cx="7891272" cy="5999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An SLP has three main components:</a:t>
                </a:r>
              </a:p>
              <a:p>
                <a:pPr marL="0" indent="0">
                  <a:buNone/>
                </a:pPr>
                <a:r>
                  <a:rPr lang="en-IN" sz="2000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Input layer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Receives the features of your dataset.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Suppose we have features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00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00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20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00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200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ar-AE" sz="20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0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ar-AE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.</a:t>
                </a:r>
                <a:endParaRPr lang="en-US" sz="200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IN" sz="2000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Weights and bias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:</a:t>
                </a:r>
              </a:p>
              <a:p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Each 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0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 has a </a:t>
                </a:r>
                <a:r>
                  <a:rPr lang="en-IN" sz="2000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weight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0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 associated with it.</a:t>
                </a:r>
              </a:p>
              <a:p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A </a:t>
                </a:r>
                <a:r>
                  <a:rPr lang="en-IN" sz="2000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bias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 is added to shift the activation function.</a:t>
                </a:r>
              </a:p>
              <a:p>
                <a:endParaRPr lang="en-IN" sz="200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IN" sz="2000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Activation function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:</a:t>
                </a:r>
              </a:p>
              <a:p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Typically, a </a:t>
                </a:r>
                <a:r>
                  <a:rPr lang="en-IN" sz="2000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step function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 (Heaviside) is used: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sz="200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sz="2000" i="1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000" i="1"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2000">
                                    <a:solidFill>
                                      <a:schemeClr val="accent6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IN" sz="2000" i="1">
                                    <a:solidFill>
                                      <a:schemeClr val="accent6">
                                        <a:lumMod val="40000"/>
                                        <a:lumOff val="60000"/>
                                      </a:schemeClr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IN" sz="2000" i="1">
                                    <a:solidFill>
                                      <a:schemeClr val="accent6">
                                        <a:lumMod val="40000"/>
                                        <a:lumOff val="60000"/>
                                      </a:schemeClr>
                                    </a:solidFill>
                                  </a:rPr>
                                  <m:t> 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grow m:val="on"/>
                                    <m:supHide m:val="on"/>
                                    <m:ctrlPr>
                                      <a:rPr lang="ar-AE" sz="2000" i="1">
                                        <a:solidFill>
                                          <a:schemeClr val="accent6">
                                            <a:lumMod val="40000"/>
                                            <a:lumOff val="6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ar-AE" sz="2000" i="1">
                                        <a:solidFill>
                                          <a:schemeClr val="accent6">
                                            <a:lumMod val="40000"/>
                                            <a:lumOff val="6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ar-AE" sz="2000" i="1">
                                            <a:solidFill>
                                              <a:schemeClr val="accent6">
                                                <a:lumMod val="40000"/>
                                                <a:lumOff val="6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sz="2000" i="1">
                                            <a:solidFill>
                                              <a:schemeClr val="accent6">
                                                <a:lumMod val="40000"/>
                                                <a:lumOff val="6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ar-AE" sz="2000" i="1">
                                            <a:solidFill>
                                              <a:schemeClr val="accent6">
                                                <a:lumMod val="40000"/>
                                                <a:lumOff val="6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sSub>
                                  <m:sSubPr>
                                    <m:ctrlPr>
                                      <a:rPr lang="ar-AE" sz="2000" i="1">
                                        <a:solidFill>
                                          <a:schemeClr val="accent6">
                                            <a:lumMod val="40000"/>
                                            <a:lumOff val="6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solidFill>
                                          <a:schemeClr val="accent6">
                                            <a:lumMod val="40000"/>
                                            <a:lumOff val="6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i="1">
                                        <a:solidFill>
                                          <a:schemeClr val="accent6">
                                            <a:lumMod val="40000"/>
                                            <a:lumOff val="6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ar-AE" sz="2000">
                                    <a:solidFill>
                                      <a:schemeClr val="accent6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 sz="2000" i="1">
                                    <a:solidFill>
                                      <a:schemeClr val="accent6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ar-AE" sz="2000">
                                    <a:solidFill>
                                      <a:schemeClr val="accent6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ar-AE" sz="2000">
                                    <a:solidFill>
                                      <a:schemeClr val="accent6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000">
                                    <a:solidFill>
                                      <a:schemeClr val="accent6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IN" sz="2000" i="1">
                                    <a:solidFill>
                                      <a:schemeClr val="accent6">
                                        <a:lumMod val="40000"/>
                                        <a:lumOff val="60000"/>
                                      </a:schemeClr>
                                    </a:solidFill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000" b="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  <a:p>
                <a:endParaRPr lang="en-IN" sz="200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  <a:p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The output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 is the predicted class (0 or 1).</a:t>
                </a:r>
              </a:p>
              <a:p>
                <a:pPr marL="274320" lvl="1" indent="0">
                  <a:buNone/>
                </a:pPr>
                <a:endParaRPr lang="en-US" sz="200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7A0061-2BDE-EAF2-BDB8-29F96D8840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765296"/>
                <a:ext cx="7891272" cy="5999335"/>
              </a:xfrm>
              <a:prstGeom prst="rect">
                <a:avLst/>
              </a:prstGeom>
              <a:blipFill>
                <a:blip r:embed="rId2"/>
                <a:stretch>
                  <a:fillRect l="-850" t="-6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E130FC5-41E7-F0E0-C66C-3EA5FEB1F701}"/>
              </a:ext>
            </a:extLst>
          </p:cNvPr>
          <p:cNvSpPr txBox="1"/>
          <p:nvPr/>
        </p:nvSpPr>
        <p:spPr>
          <a:xfrm>
            <a:off x="946404" y="75938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Structure of a Single Layer Perceptron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29E03B-924A-7EAA-38E4-DC10843BE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153" y="1152145"/>
            <a:ext cx="6600847" cy="236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929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A918C-7B42-855B-CF9F-C358C785C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11A7837-10F2-A652-53C9-EAE87D079064}"/>
              </a:ext>
            </a:extLst>
          </p:cNvPr>
          <p:cNvSpPr txBox="1"/>
          <p:nvPr/>
        </p:nvSpPr>
        <p:spPr>
          <a:xfrm>
            <a:off x="388620" y="263390"/>
            <a:ext cx="89108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How it Works to make prediction (Step-by-Step)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888B51-E7B3-13B4-921E-5EAADF774C20}"/>
                  </a:ext>
                </a:extLst>
              </p:cNvPr>
              <p:cNvSpPr txBox="1"/>
              <p:nvPr/>
            </p:nvSpPr>
            <p:spPr>
              <a:xfrm>
                <a:off x="164592" y="1050168"/>
                <a:ext cx="5931408" cy="53481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Weighted sum</a:t>
                </a:r>
                <a:r>
                  <a:rPr lang="en-IN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</a:t>
                </a:r>
                <a:br>
                  <a:rPr lang="en-IN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r>
                  <a:rPr lang="en-IN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Multiply each input by its weight and sum them: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IN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Activation</a:t>
                </a:r>
                <a:r>
                  <a:rPr lang="en-IN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</a:t>
                </a:r>
                <a:br>
                  <a:rPr lang="en-IN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r>
                  <a:rPr lang="en-IN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Pass the weighted sum through the step function to get output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N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2400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IN" sz="24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IN" sz="24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</a:rPr>
                                  <m:t> </m:t>
                                </m:r>
                                <m:r>
                                  <a:rPr lang="en-IN" sz="24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IN" sz="2400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IN" sz="2400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400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IN" sz="24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400" b="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Prediction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</a:t>
                </a:r>
                <a:b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output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the predicted class label.</a:t>
                </a:r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888B51-E7B3-13B4-921E-5EAADF774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92" y="1050168"/>
                <a:ext cx="5931408" cy="5348131"/>
              </a:xfrm>
              <a:prstGeom prst="rect">
                <a:avLst/>
              </a:prstGeom>
              <a:blipFill>
                <a:blip r:embed="rId2"/>
                <a:stretch>
                  <a:fillRect l="-1542" t="-911" b="-1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319BEDE-D78A-3B12-27D5-1AFB77855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153" y="1152145"/>
            <a:ext cx="6600847" cy="236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19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2C408-C038-579F-995A-612F0F20D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10CED9-9D50-1CB6-A853-BC20A7EC0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8" y="2267712"/>
            <a:ext cx="6752950" cy="44074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BB6D40-4FA0-57D1-56F4-D963EA6E1BAD}"/>
              </a:ext>
            </a:extLst>
          </p:cNvPr>
          <p:cNvSpPr txBox="1"/>
          <p:nvPr/>
        </p:nvSpPr>
        <p:spPr>
          <a:xfrm>
            <a:off x="388620" y="263390"/>
            <a:ext cx="89108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How it Works to make prediction (Step-by-Step)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C30DBB-0EB0-8DD3-CF0D-10A54651B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153" y="1152145"/>
            <a:ext cx="6600847" cy="236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180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BE997-65A8-5EBA-238D-4D8667156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EA90094-4BDB-B0E4-311C-022A12A8B0F6}"/>
                  </a:ext>
                </a:extLst>
              </p:cNvPr>
              <p:cNvSpPr txBox="1"/>
              <p:nvPr/>
            </p:nvSpPr>
            <p:spPr>
              <a:xfrm>
                <a:off x="82296" y="1274124"/>
                <a:ext cx="11558016" cy="4524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Suppose you have a dataset of students and want to classify whether they </a:t>
                </a:r>
                <a:r>
                  <a:rPr lang="en-IN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pass (1) or fail (0)</a:t>
                </a:r>
                <a:r>
                  <a:rPr lang="en-IN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based on </a:t>
                </a:r>
                <a:r>
                  <a:rPr lang="en-IN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study hours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b="1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1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ar-AE" sz="2400" b="1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IN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 </a:t>
                </a:r>
                <a:r>
                  <a:rPr lang="en-IN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and </a:t>
                </a:r>
                <a:r>
                  <a:rPr lang="en-IN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sleep hours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b="1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1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IN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):</a:t>
                </a:r>
              </a:p>
              <a:p>
                <a:pPr marL="0" indent="0">
                  <a:buNone/>
                </a:pPr>
                <a:endParaRPr lang="en-IN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IN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Inputs: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400" b="0" i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(hours),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IN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(hours)</a:t>
                </a:r>
              </a:p>
              <a:p>
                <a:pPr marL="0" indent="0">
                  <a:buNone/>
                </a:pPr>
                <a:r>
                  <a:rPr lang="en-IN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Weights: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IN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Bias: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IN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IN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IN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IN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Weighted sum: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IN" sz="240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IN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IN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Activation: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pass</m:t>
                          </m:r>
                        </m:e>
                      </m:d>
                    </m:oMath>
                  </m:oMathPara>
                </a14:m>
                <a:endParaRPr lang="ar-AE" sz="2400" b="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EA90094-4BDB-B0E4-311C-022A12A8B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" y="1274124"/>
                <a:ext cx="11558016" cy="4524315"/>
              </a:xfrm>
              <a:prstGeom prst="rect">
                <a:avLst/>
              </a:prstGeom>
              <a:blipFill>
                <a:blip r:embed="rId2"/>
                <a:stretch>
                  <a:fillRect l="-844" t="-1078" b="-5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F9F9EA6B-EBC5-8C64-3728-DA71E9AA729A}"/>
              </a:ext>
            </a:extLst>
          </p:cNvPr>
          <p:cNvSpPr txBox="1"/>
          <p:nvPr/>
        </p:nvSpPr>
        <p:spPr>
          <a:xfrm>
            <a:off x="205740" y="263390"/>
            <a:ext cx="89108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How it Works to make prediction (Step-by-Step)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60A58A-199F-2311-C5BC-35A513929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2036958"/>
            <a:ext cx="6380988" cy="216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976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B8B2E-FE9E-6A17-2DD0-07A96BDAD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57025E-B446-654C-DF83-7E6D55DFBAA4}"/>
              </a:ext>
            </a:extLst>
          </p:cNvPr>
          <p:cNvSpPr txBox="1"/>
          <p:nvPr/>
        </p:nvSpPr>
        <p:spPr>
          <a:xfrm>
            <a:off x="169164" y="135374"/>
            <a:ext cx="92217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4. Training a Single Layer Perceptron: (Finding weights and bias)</a:t>
            </a:r>
          </a:p>
          <a:p>
            <a:r>
              <a:rPr lang="en-IN" sz="2400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 Whole Game Is </a:t>
            </a:r>
            <a:r>
              <a:rPr lang="en-IN" sz="2400" b="1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Finding Weights and Bias</a:t>
            </a: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6D1455-80F5-30EB-8BAA-4DC22B8EBB73}"/>
                  </a:ext>
                </a:extLst>
              </p:cNvPr>
              <p:cNvSpPr txBox="1"/>
              <p:nvPr/>
            </p:nvSpPr>
            <p:spPr>
              <a:xfrm>
                <a:off x="173736" y="1243548"/>
                <a:ext cx="11740896" cy="53328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IN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SLP learns by </a:t>
                </a:r>
                <a:r>
                  <a:rPr lang="en-IN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adjusting weights and bias</a:t>
                </a:r>
                <a:r>
                  <a:rPr lang="en-IN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using a simple </a:t>
                </a:r>
                <a:r>
                  <a:rPr lang="en-IN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learning rule</a:t>
                </a:r>
                <a:r>
                  <a:rPr lang="en-IN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</a:t>
                </a:r>
              </a:p>
              <a:p>
                <a:pPr marL="0" indent="0">
                  <a:buNone/>
                </a:pPr>
                <a:endParaRPr lang="en-IN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</a:rPr>
                                <m:t>true</m:t>
                              </m:r>
                            </m:sub>
                          </m:sSub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</a:rPr>
                                <m:t>pred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IN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←</m:t>
                      </m:r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</a:rPr>
                                <m:t>true</m:t>
                              </m:r>
                            </m:sub>
                          </m:sSub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</a:rPr>
                                <m:t>pred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2400" i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IN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IN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Here,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l-GR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η = </a:t>
                </a:r>
                <a:r>
                  <a:rPr lang="en-IN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learning rate (controls step size)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true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=</a:t>
                </a:r>
                <a:r>
                  <a:rPr lang="en-IN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actual class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pred</m:t>
                        </m:r>
                      </m:sub>
                    </m:sSub>
                  </m:oMath>
                </a14:m>
                <a:r>
                  <a:rPr lang="en-IN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 predicted class</a:t>
                </a:r>
              </a:p>
              <a:p>
                <a:endParaRPr lang="en-IN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IN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This process repeats over multiple iterations (epochs) until the model learns the correct decision boundary.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6D1455-80F5-30EB-8BAA-4DC22B8EB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36" y="1243548"/>
                <a:ext cx="11740896" cy="5332807"/>
              </a:xfrm>
              <a:prstGeom prst="rect">
                <a:avLst/>
              </a:prstGeom>
              <a:blipFill>
                <a:blip r:embed="rId2"/>
                <a:stretch>
                  <a:fillRect l="-831" t="-914" b="-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9581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5C8F8-4A5A-BB79-FEF6-362B3D61E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575F06-2B19-822B-9453-EBA764CDD09D}"/>
              </a:ext>
            </a:extLst>
          </p:cNvPr>
          <p:cNvSpPr txBox="1"/>
          <p:nvPr/>
        </p:nvSpPr>
        <p:spPr>
          <a:xfrm>
            <a:off x="169164" y="135374"/>
            <a:ext cx="92217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4. Training a Single Layer Perceptron: (Finding weights and bias)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0B24635-1C37-3B63-8828-9B495EF11A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365120"/>
              </p:ext>
            </p:extLst>
          </p:nvPr>
        </p:nvGraphicFramePr>
        <p:xfrm>
          <a:off x="6553200" y="901478"/>
          <a:ext cx="4895088" cy="1584960"/>
        </p:xfrm>
        <a:graphic>
          <a:graphicData uri="http://schemas.openxmlformats.org/drawingml/2006/table">
            <a:tbl>
              <a:tblPr/>
              <a:tblGrid>
                <a:gridCol w="1795272">
                  <a:extLst>
                    <a:ext uri="{9D8B030D-6E8A-4147-A177-3AD203B41FA5}">
                      <a16:colId xmlns:a16="http://schemas.microsoft.com/office/drawing/2014/main" val="3441954585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3763566739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3569230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Age (x1)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Salary (x2)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Loan (y)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607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62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75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544518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84E6345-8309-B843-CC0B-C8F6826C2E18}"/>
              </a:ext>
            </a:extLst>
          </p:cNvPr>
          <p:cNvSpPr txBox="1"/>
          <p:nvPr/>
        </p:nvSpPr>
        <p:spPr>
          <a:xfrm>
            <a:off x="210312" y="2845784"/>
            <a:ext cx="522122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Initialize Weights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w1 = 0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w2 = 0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b = 0</a:t>
            </a:r>
          </a:p>
          <a:p>
            <a:pPr rtl="0">
              <a:buNone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learning_rate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= 0.01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13E71A-AF72-B89B-B652-B03792C8A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8388" y="2975433"/>
            <a:ext cx="6022849" cy="20432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CCA505-FA6A-DEEA-605A-78161B23ABDF}"/>
              </a:ext>
            </a:extLst>
          </p:cNvPr>
          <p:cNvSpPr txBox="1"/>
          <p:nvPr/>
        </p:nvSpPr>
        <p:spPr>
          <a:xfrm>
            <a:off x="214884" y="994910"/>
            <a:ext cx="61904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Find weights and bias from following training sample.</a:t>
            </a:r>
          </a:p>
        </p:txBody>
      </p:sp>
    </p:spTree>
    <p:extLst>
      <p:ext uri="{BB962C8B-B14F-4D97-AF65-F5344CB8AC3E}">
        <p14:creationId xmlns:p14="http://schemas.microsoft.com/office/powerpoint/2010/main" val="3924216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351A9-BEF6-73BB-B017-288CDA4E7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9526ED7-534D-2F48-2C5A-B9E9B2FA6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7" y="2545450"/>
            <a:ext cx="6022848" cy="4279392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97FA298-B8DE-9AE6-CE17-28DA1E9FF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397885"/>
              </p:ext>
            </p:extLst>
          </p:nvPr>
        </p:nvGraphicFramePr>
        <p:xfrm>
          <a:off x="6553200" y="901478"/>
          <a:ext cx="4895088" cy="1584960"/>
        </p:xfrm>
        <a:graphic>
          <a:graphicData uri="http://schemas.openxmlformats.org/drawingml/2006/table">
            <a:tbl>
              <a:tblPr/>
              <a:tblGrid>
                <a:gridCol w="1795272">
                  <a:extLst>
                    <a:ext uri="{9D8B030D-6E8A-4147-A177-3AD203B41FA5}">
                      <a16:colId xmlns:a16="http://schemas.microsoft.com/office/drawing/2014/main" val="3441954585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3763566739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3569230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Age (x1)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Salary (x2)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Loan (y)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607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62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75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5445189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12D7803B-0C83-E306-E3EC-5C74ACB41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25" y="0"/>
            <a:ext cx="5949690" cy="24864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9E3997F-F9E9-58B9-A7B2-528D1B4BB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388" y="2975433"/>
            <a:ext cx="6022849" cy="204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295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3D080-B0C4-E593-4597-53E1C0438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F6852C6-DACC-2192-035B-8F923FBD1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889351"/>
              </p:ext>
            </p:extLst>
          </p:nvPr>
        </p:nvGraphicFramePr>
        <p:xfrm>
          <a:off x="6553200" y="901478"/>
          <a:ext cx="4895088" cy="1584960"/>
        </p:xfrm>
        <a:graphic>
          <a:graphicData uri="http://schemas.openxmlformats.org/drawingml/2006/table">
            <a:tbl>
              <a:tblPr/>
              <a:tblGrid>
                <a:gridCol w="1795272">
                  <a:extLst>
                    <a:ext uri="{9D8B030D-6E8A-4147-A177-3AD203B41FA5}">
                      <a16:colId xmlns:a16="http://schemas.microsoft.com/office/drawing/2014/main" val="3441954585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3763566739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3569230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Age (x1)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Salary (x2)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Loan (y)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607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62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75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5445189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A727283-8ABF-E366-C955-2E906ABFB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4" y="150936"/>
            <a:ext cx="6311902" cy="26287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7652EB-E3B9-85C4-D47E-F763B3A8B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89" y="2892737"/>
            <a:ext cx="5396334" cy="38143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8DF399-A897-36D8-7E28-F6672AA541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388" y="2975433"/>
            <a:ext cx="6022849" cy="204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802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A9AEB-E65F-B3BA-5644-AE427D9EA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7A94CBF-8BBA-648C-6A46-C4BC0AE9E8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876760"/>
              </p:ext>
            </p:extLst>
          </p:nvPr>
        </p:nvGraphicFramePr>
        <p:xfrm>
          <a:off x="6553200" y="901478"/>
          <a:ext cx="4895088" cy="1584960"/>
        </p:xfrm>
        <a:graphic>
          <a:graphicData uri="http://schemas.openxmlformats.org/drawingml/2006/table">
            <a:tbl>
              <a:tblPr/>
              <a:tblGrid>
                <a:gridCol w="1795272">
                  <a:extLst>
                    <a:ext uri="{9D8B030D-6E8A-4147-A177-3AD203B41FA5}">
                      <a16:colId xmlns:a16="http://schemas.microsoft.com/office/drawing/2014/main" val="3441954585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3763566739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3569230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Age (x1)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Salary (x2)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Loan (y)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607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62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75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544518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72498B1B-6067-3D99-844B-11BB37CC2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"/>
            <a:ext cx="6376869" cy="29419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F5F2AB-9EAB-4D05-A389-AE50E5FAB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99785"/>
            <a:ext cx="5404104" cy="38399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CCEDBC-59A6-E07B-3A7E-8C26D90EC39A}"/>
              </a:ext>
            </a:extLst>
          </p:cNvPr>
          <p:cNvSpPr txBox="1"/>
          <p:nvPr/>
        </p:nvSpPr>
        <p:spPr>
          <a:xfrm>
            <a:off x="6199632" y="6245352"/>
            <a:ext cx="3424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the end of epoch 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C0E2C49-B31D-4DC5-E150-FBF12263F6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388" y="2975433"/>
            <a:ext cx="6022849" cy="204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586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DBC9A-B293-11ED-4D57-C9D64E8B1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68CB58F-A02F-5C8C-4B29-CFE07FF97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936" y="3072878"/>
            <a:ext cx="5772912" cy="2071244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BC40DC0-8DA0-DE2D-F4F5-56BECCAFFE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923268"/>
              </p:ext>
            </p:extLst>
          </p:nvPr>
        </p:nvGraphicFramePr>
        <p:xfrm>
          <a:off x="6553200" y="901478"/>
          <a:ext cx="4895088" cy="1584960"/>
        </p:xfrm>
        <a:graphic>
          <a:graphicData uri="http://schemas.openxmlformats.org/drawingml/2006/table">
            <a:tbl>
              <a:tblPr/>
              <a:tblGrid>
                <a:gridCol w="1795272">
                  <a:extLst>
                    <a:ext uri="{9D8B030D-6E8A-4147-A177-3AD203B41FA5}">
                      <a16:colId xmlns:a16="http://schemas.microsoft.com/office/drawing/2014/main" val="3441954585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3763566739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3569230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Age (x1)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Salary (x2)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Loan (y)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607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62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75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544518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CF3857D-EE41-1D5B-140D-0FD4150FC69E}"/>
              </a:ext>
            </a:extLst>
          </p:cNvPr>
          <p:cNvSpPr txBox="1"/>
          <p:nvPr/>
        </p:nvSpPr>
        <p:spPr>
          <a:xfrm>
            <a:off x="82296" y="1106424"/>
            <a:ext cx="682142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we do this all over again.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go over all 3 data points and update the weights and bias.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That would be epoch 2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keep doing until stopping condition is met</a:t>
            </a:r>
          </a:p>
        </p:txBody>
      </p:sp>
    </p:spTree>
    <p:extLst>
      <p:ext uri="{BB962C8B-B14F-4D97-AF65-F5344CB8AC3E}">
        <p14:creationId xmlns:p14="http://schemas.microsoft.com/office/powerpoint/2010/main" val="1131887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75E00-9175-6647-1784-BDE19DE8C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CDACCA-50E0-7598-1F6B-CB73D14356EF}"/>
              </a:ext>
            </a:extLst>
          </p:cNvPr>
          <p:cNvSpPr txBox="1"/>
          <p:nvPr/>
        </p:nvSpPr>
        <p:spPr>
          <a:xfrm>
            <a:off x="169164" y="135374"/>
            <a:ext cx="114985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Training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Single Layer Perceptron (SLP)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stops when one of the following conditions is satisfied.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439D50-C519-AB02-45F0-2F7BD0DE3F36}"/>
                  </a:ext>
                </a:extLst>
              </p:cNvPr>
              <p:cNvSpPr txBox="1"/>
              <p:nvPr/>
            </p:nvSpPr>
            <p:spPr>
              <a:xfrm>
                <a:off x="173736" y="1024092"/>
                <a:ext cx="11740896" cy="57224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1. When All Training Samples Are Classified Correctly (Most Common)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During training we compute: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𝑒𝑟𝑟𝑜𝑟</m:t>
                      </m:r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𝑡𝑟𝑢𝑒</m:t>
                          </m:r>
                        </m:sub>
                      </m:sSub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𝑝𝑟𝑒𝑑𝑖𝑐𝑡𝑒𝑑</m:t>
                          </m:r>
                        </m:sub>
                      </m:sSub>
                    </m:oMath>
                  </m:oMathPara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If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error = 0 for every training sample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the perceptron has found a correct separating boundary.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2. When Maximum Number of Iterations (Epochs) Is Reached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Sometimes the data is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not linearly separable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3. When Weight Updates Become Very Small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We stop if: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ar-AE" sz="28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sz="28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ar-AE" sz="2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sz="28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sz="28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𝑜𝑙𝑑</m:t>
                          </m:r>
                        </m:sub>
                      </m:sSub>
                      <m:r>
                        <a:rPr lang="ar-AE" sz="2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sz="28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2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ar-AE" sz="28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ar-AE" sz="3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This is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more common in gradient descent models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not classic perceptron.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439D50-C519-AB02-45F0-2F7BD0DE3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36" y="1024092"/>
                <a:ext cx="11740896" cy="5722400"/>
              </a:xfrm>
              <a:prstGeom prst="rect">
                <a:avLst/>
              </a:prstGeom>
              <a:blipFill>
                <a:blip r:embed="rId2"/>
                <a:stretch>
                  <a:fillRect l="-831" t="-852" b="-1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0557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F7C67-EE97-3DFD-4533-07658B1C7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C3BCD94-3801-9F0A-2DA8-7ADAE6A115ED}"/>
              </a:ext>
            </a:extLst>
          </p:cNvPr>
          <p:cNvSpPr txBox="1"/>
          <p:nvPr/>
        </p:nvSpPr>
        <p:spPr>
          <a:xfrm>
            <a:off x="726948" y="171950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Key Points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BC8F83-26F7-E7AD-09AB-63017D954E7E}"/>
              </a:ext>
            </a:extLst>
          </p:cNvPr>
          <p:cNvSpPr txBox="1"/>
          <p:nvPr/>
        </p:nvSpPr>
        <p:spPr>
          <a:xfrm>
            <a:off x="576072" y="1390549"/>
            <a:ext cx="102687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Works only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linearly separable problems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Fast to train due to its simplicity.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SLP forms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foundation of more complex neural networks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4936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77A32-5AF4-9C64-FE20-3AB0FB650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4370A1B-A2ED-B1C5-C5B8-4EE5F6BEE440}"/>
              </a:ext>
            </a:extLst>
          </p:cNvPr>
          <p:cNvGraphicFramePr>
            <a:graphicFrameLocks noGrp="1"/>
          </p:cNvGraphicFramePr>
          <p:nvPr/>
        </p:nvGraphicFramePr>
        <p:xfrm>
          <a:off x="544584" y="1487498"/>
          <a:ext cx="2015736" cy="1920240"/>
        </p:xfrm>
        <a:graphic>
          <a:graphicData uri="http://schemas.openxmlformats.org/drawingml/2006/table">
            <a:tbl>
              <a:tblPr/>
              <a:tblGrid>
                <a:gridCol w="673060">
                  <a:extLst>
                    <a:ext uri="{9D8B030D-6E8A-4147-A177-3AD203B41FA5}">
                      <a16:colId xmlns:a16="http://schemas.microsoft.com/office/drawing/2014/main" val="2936474594"/>
                    </a:ext>
                  </a:extLst>
                </a:gridCol>
                <a:gridCol w="636323">
                  <a:extLst>
                    <a:ext uri="{9D8B030D-6E8A-4147-A177-3AD203B41FA5}">
                      <a16:colId xmlns:a16="http://schemas.microsoft.com/office/drawing/2014/main" val="2231850024"/>
                    </a:ext>
                  </a:extLst>
                </a:gridCol>
                <a:gridCol w="706353">
                  <a:extLst>
                    <a:ext uri="{9D8B030D-6E8A-4147-A177-3AD203B41FA5}">
                      <a16:colId xmlns:a16="http://schemas.microsoft.com/office/drawing/2014/main" val="39647970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1" u="sng" dirty="0"/>
                        <a:t>x₁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sng" dirty="0"/>
                        <a:t>x₂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sng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094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347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345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956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2987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5FD6E2-417B-359F-1F43-39F12A519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15</a:t>
            </a:fld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4B7C10-D79D-BEE7-011E-574F62A9792E}"/>
              </a:ext>
            </a:extLst>
          </p:cNvPr>
          <p:cNvSpPr txBox="1"/>
          <p:nvPr/>
        </p:nvSpPr>
        <p:spPr>
          <a:xfrm>
            <a:off x="132588" y="33451"/>
            <a:ext cx="91211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problems that perceptron cannot solve: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cannot find a perceptron that can simulate following XOR operation: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D79ED0-D69B-BC42-E738-9C7F42FC3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9151" y="1905585"/>
            <a:ext cx="6022849" cy="20432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4BD2F3-C7CE-4366-DD64-C4EF61C82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38" y="3694494"/>
            <a:ext cx="2990763" cy="26618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19878E3-144C-2F3F-8E3B-D36303B4BFE8}"/>
              </a:ext>
            </a:extLst>
          </p:cNvPr>
          <p:cNvSpPr txBox="1"/>
          <p:nvPr/>
        </p:nvSpPr>
        <p:spPr>
          <a:xfrm>
            <a:off x="3986784" y="4078224"/>
            <a:ext cx="75712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Possible to find weights and bias that would simulate this non-linear XOR output.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the limitations of Perceptron.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we need Multi Layer Perceptron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nonlinear activation functions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981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A1F25-297F-EDB7-5257-43E5253E6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F73477C-CC1A-41B0-0B3A-86DF0D274607}"/>
              </a:ext>
            </a:extLst>
          </p:cNvPr>
          <p:cNvSpPr txBox="1"/>
          <p:nvPr/>
        </p:nvSpPr>
        <p:spPr>
          <a:xfrm>
            <a:off x="726948" y="171950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Alternate representation: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6FD9C4-12F8-2CFD-50A1-7F5900249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966" y="565623"/>
            <a:ext cx="7099514" cy="602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6987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AAC78-F490-F797-1F4A-8A3A2F2DB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96D44B-F7F4-9ABB-0F85-5F7623C40F66}"/>
              </a:ext>
            </a:extLst>
          </p:cNvPr>
          <p:cNvSpPr txBox="1"/>
          <p:nvPr/>
        </p:nvSpPr>
        <p:spPr>
          <a:xfrm>
            <a:off x="813816" y="473006"/>
            <a:ext cx="838962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sklearn.datasets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load_digits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sklearn.model_selection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sklearn.neural_network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MLPClassifier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sklearn.metrics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accuracy_score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load dataset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 y =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load_digits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return_X_y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split dataset</a:t>
            </a: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(X, y,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test_size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=0.2)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neural network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=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MLPClassifier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hidden_layer_sizes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=(100,50))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train</a:t>
            </a: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model.fit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prediction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 =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model.predict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print("Accuracy:",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accuracy_score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pred))</a:t>
            </a:r>
          </a:p>
        </p:txBody>
      </p:sp>
    </p:spTree>
    <p:extLst>
      <p:ext uri="{BB962C8B-B14F-4D97-AF65-F5344CB8AC3E}">
        <p14:creationId xmlns:p14="http://schemas.microsoft.com/office/powerpoint/2010/main" val="145448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1634</TotalTime>
  <Words>1002</Words>
  <Application>Microsoft Office PowerPoint</Application>
  <PresentationFormat>Widescreen</PresentationFormat>
  <Paragraphs>208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Courier New</vt:lpstr>
      <vt:lpstr>Times New Roman</vt:lpstr>
      <vt:lpstr>Office Theme</vt:lpstr>
      <vt:lpstr>Single Layer Perceptron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176</cp:revision>
  <dcterms:created xsi:type="dcterms:W3CDTF">2025-09-22T02:44:38Z</dcterms:created>
  <dcterms:modified xsi:type="dcterms:W3CDTF">2026-03-08T06:59:04Z</dcterms:modified>
</cp:coreProperties>
</file>