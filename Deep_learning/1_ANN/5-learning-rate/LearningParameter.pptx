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8" r:id="rId4"/>
    <p:sldId id="279" r:id="rId5"/>
    <p:sldId id="283" r:id="rId6"/>
    <p:sldId id="284" r:id="rId7"/>
    <p:sldId id="285" r:id="rId8"/>
    <p:sldId id="280" r:id="rId9"/>
    <p:sldId id="287" r:id="rId10"/>
    <p:sldId id="28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fld id="{598C49C6-5F15-4DD3-B364-B2DE57A5B88F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fld id="{2E30D265-8AE4-4D83-9D5E-333CB747533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36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600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71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307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029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554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495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32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401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91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C49C6-5F15-4DD3-B364-B2DE57A5B8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076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90110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ANN Key Terms: </a:t>
            </a:r>
            <a:r>
              <a:rPr lang="en-US" dirty="0" err="1"/>
              <a:t>LearningRate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87035"/>
            <a:ext cx="9144000" cy="960631"/>
          </a:xfrm>
        </p:spPr>
        <p:txBody>
          <a:bodyPr>
            <a:normAutofit fontScale="77500" lnSpcReduction="20000"/>
          </a:bodyPr>
          <a:lstStyle/>
          <a:p>
            <a:r>
              <a:rPr lang="en-US" sz="6000" dirty="0"/>
              <a:t>(On Dev) Artificial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526700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420F8-86A8-0FEC-7A68-C9DD0B197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086C0A6-4C8B-47FE-0F8F-F66B231991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878" y="4338361"/>
            <a:ext cx="9026247" cy="21043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C3E89D-7103-D410-ADAC-0EE48B582457}"/>
              </a:ext>
            </a:extLst>
          </p:cNvPr>
          <p:cNvSpPr txBox="1"/>
          <p:nvPr/>
        </p:nvSpPr>
        <p:spPr>
          <a:xfrm>
            <a:off x="2544121" y="6520076"/>
            <a:ext cx="794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Too Low</a:t>
            </a:r>
            <a:endParaRPr lang="en-IN" sz="14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5C3499-2014-B26A-1B5E-DA589DCA88E0}"/>
              </a:ext>
            </a:extLst>
          </p:cNvPr>
          <p:cNvSpPr txBox="1"/>
          <p:nvPr/>
        </p:nvSpPr>
        <p:spPr>
          <a:xfrm>
            <a:off x="5352257" y="6449840"/>
            <a:ext cx="9007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Just Right</a:t>
            </a:r>
            <a:endParaRPr lang="en-IN" sz="14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0E8BD1-2578-7568-5979-03054D742FC0}"/>
              </a:ext>
            </a:extLst>
          </p:cNvPr>
          <p:cNvSpPr txBox="1"/>
          <p:nvPr/>
        </p:nvSpPr>
        <p:spPr>
          <a:xfrm>
            <a:off x="8031847" y="6418034"/>
            <a:ext cx="829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Too High</a:t>
            </a:r>
            <a:endParaRPr lang="en-IN" sz="14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0FF30A-20F4-B1E1-3AE7-002A67BE1FAF}"/>
              </a:ext>
            </a:extLst>
          </p:cNvPr>
          <p:cNvSpPr txBox="1"/>
          <p:nvPr/>
        </p:nvSpPr>
        <p:spPr>
          <a:xfrm>
            <a:off x="227287" y="132189"/>
            <a:ext cx="1150763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Learning rate, α,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is a hyperparameter that controls how much a model adjusts its parameters, weights and biases, in  response to loss error during each training iteration 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It determines the size of the steps taken towards a minimum of the loss function during optimization.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α is too low -&gt; 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The model converges slowly, requiring many epochs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α is too high-&gt;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Model may overshoot optimal weights, resulting in instability and divergence of the loss function.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An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optimal α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should be low enough for accurate convergence while high enough for reasonable training time.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 general, a good starting point is to use a learning rate of 0.01.  </a:t>
            </a:r>
          </a:p>
        </p:txBody>
      </p:sp>
    </p:spTree>
    <p:extLst>
      <p:ext uri="{BB962C8B-B14F-4D97-AF65-F5344CB8AC3E}">
        <p14:creationId xmlns:p14="http://schemas.microsoft.com/office/powerpoint/2010/main" val="1168406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60916-6598-7E37-C241-AE9D545D0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D93012-E4DB-FB71-3D90-5E3945E0B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5026" y="2147722"/>
            <a:ext cx="4701947" cy="11583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EB7155-97A0-3E9A-4E0D-E9B1F2903E7A}"/>
              </a:ext>
            </a:extLst>
          </p:cNvPr>
          <p:cNvSpPr txBox="1"/>
          <p:nvPr/>
        </p:nvSpPr>
        <p:spPr>
          <a:xfrm>
            <a:off x="1096456" y="1274143"/>
            <a:ext cx="3946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How to adjust weight and bias</a:t>
            </a:r>
            <a:endParaRPr lang="en-IN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667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86756-F99C-6B40-B458-90995E015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6733E4-1BF2-CA56-8DCF-644002BB1E2B}"/>
              </a:ext>
            </a:extLst>
          </p:cNvPr>
          <p:cNvSpPr txBox="1"/>
          <p:nvPr/>
        </p:nvSpPr>
        <p:spPr>
          <a:xfrm>
            <a:off x="422694" y="1032158"/>
            <a:ext cx="1056735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Fixed Learning Rate (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Google Sans"/>
              </a:rPr>
              <a:t>α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)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: It is a common optimization approach where a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constant learning rate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is selected and maintained throughout the training process. 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Initially, parameters are assigned random values, and a cost function is generated based on these initial values. The algorithm then iteratively improves the parameter estimations to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minimize the cost function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. 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- Used in small datasets or linear models with straightforward optimization goals.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D4C11-2B5A-2BB5-0A76-EAA858A1926C}"/>
              </a:ext>
            </a:extLst>
          </p:cNvPr>
          <p:cNvSpPr txBox="1"/>
          <p:nvPr/>
        </p:nvSpPr>
        <p:spPr>
          <a:xfrm>
            <a:off x="338586" y="172854"/>
            <a:ext cx="9210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Techniques for Adjusting the Learning Rate in Neural Networks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264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91CB3-AE3F-7F64-B28F-D9D28FFDC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AE9AF8-D97D-5256-3F7C-C8E1259229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722" y="3545869"/>
            <a:ext cx="4485778" cy="29407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64D296-DA37-4BA6-8398-5F7730E74AC0}"/>
              </a:ext>
            </a:extLst>
          </p:cNvPr>
          <p:cNvSpPr txBox="1"/>
          <p:nvPr/>
        </p:nvSpPr>
        <p:spPr>
          <a:xfrm>
            <a:off x="1179095" y="6516933"/>
            <a:ext cx="1198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Step decay</a:t>
            </a:r>
            <a:endParaRPr lang="en-IN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AD85B8-B9EA-59B4-3966-3E7581ABEE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1699" y="3497754"/>
            <a:ext cx="4332376" cy="30781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BED533-0F42-EC17-BBA9-070F9FA2004C}"/>
              </a:ext>
            </a:extLst>
          </p:cNvPr>
          <p:cNvSpPr txBox="1"/>
          <p:nvPr/>
        </p:nvSpPr>
        <p:spPr>
          <a:xfrm>
            <a:off x="6309010" y="6542113"/>
            <a:ext cx="188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Exponential decay</a:t>
            </a:r>
            <a:endParaRPr lang="en-IN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7B83BF-7688-6F40-AB1F-C398DF7A4897}"/>
              </a:ext>
            </a:extLst>
          </p:cNvPr>
          <p:cNvSpPr txBox="1"/>
          <p:nvPr/>
        </p:nvSpPr>
        <p:spPr>
          <a:xfrm>
            <a:off x="69010" y="130864"/>
            <a:ext cx="118462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Learning Rate Schedules: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adjust the learning rate based on predefined rules or functions, enhancing convergence and performance. Common methods include: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a) Step Decay: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learning rate decreases by a specific factor at designated epochs or after a fixed number of iterations.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b) Exponential Decay: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learning rate is reduced exponentially over time, allowing for a rapid decrease in the initial phases of training.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c) Polynomial Decay: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learning rate decreases polynomially over time, providing a smoother reduction.</a:t>
            </a:r>
          </a:p>
        </p:txBody>
      </p:sp>
    </p:spTree>
    <p:extLst>
      <p:ext uri="{BB962C8B-B14F-4D97-AF65-F5344CB8AC3E}">
        <p14:creationId xmlns:p14="http://schemas.microsoft.com/office/powerpoint/2010/main" val="2125890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40598-D0CC-34FA-5AB9-7576B2282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BA2EC17-2FBE-5C99-8690-15046BF35A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37" y="1074813"/>
            <a:ext cx="5009077" cy="32838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065B0F-99C9-ABEF-1E42-B9B0A8F36A2D}"/>
              </a:ext>
            </a:extLst>
          </p:cNvPr>
          <p:cNvSpPr txBox="1"/>
          <p:nvPr/>
        </p:nvSpPr>
        <p:spPr>
          <a:xfrm>
            <a:off x="467867" y="4701617"/>
            <a:ext cx="107482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STEP DECAY</a:t>
            </a:r>
          </a:p>
          <a:p>
            <a:r>
              <a:rPr lang="en-US" sz="20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new_lr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 &lt;- </a:t>
            </a:r>
            <a:r>
              <a:rPr lang="en-US" sz="20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initial_lr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* (</a:t>
            </a:r>
            <a:r>
              <a:rPr lang="en-US" sz="20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decay_factor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) ^ (floor(epoch / </a:t>
            </a:r>
            <a:r>
              <a:rPr lang="en-US" sz="20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step_size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))</a:t>
            </a:r>
          </a:p>
          <a:p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20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initial_lr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: the starting learning rate</a:t>
            </a:r>
          </a:p>
          <a:p>
            <a:r>
              <a:rPr lang="en-US" sz="20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decay_factor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: (AKA as drop rate) amount by which the learning rate is reduced at each step</a:t>
            </a:r>
          </a:p>
          <a:p>
            <a:r>
              <a:rPr lang="en-US" sz="20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step_size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: number of epochs after which the learning rate is reduced by the decay factor. </a:t>
            </a:r>
            <a:endParaRPr lang="en-IN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0C8681-DA71-54AF-413E-A895995DC8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048" y="1888964"/>
            <a:ext cx="4198611" cy="7656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FDA5A4-D636-BECA-2FDB-012B22F46B63}"/>
              </a:ext>
            </a:extLst>
          </p:cNvPr>
          <p:cNvSpPr txBox="1"/>
          <p:nvPr/>
        </p:nvSpPr>
        <p:spPr>
          <a:xfrm>
            <a:off x="204537" y="538568"/>
            <a:ext cx="25300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a) Step Decay:</a:t>
            </a:r>
          </a:p>
        </p:txBody>
      </p:sp>
    </p:spTree>
    <p:extLst>
      <p:ext uri="{BB962C8B-B14F-4D97-AF65-F5344CB8AC3E}">
        <p14:creationId xmlns:p14="http://schemas.microsoft.com/office/powerpoint/2010/main" val="47878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47488-D86F-D463-FC5D-94AC5C9AF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B7AFD9-78E2-F594-6704-A63706905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03660" y="1764175"/>
            <a:ext cx="4198611" cy="7259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EF8737-26D4-98D8-4251-CE5A35848F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53" y="995231"/>
            <a:ext cx="4181889" cy="29712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FD92DD-8242-1003-DE18-5634BD5008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08546" y="5401362"/>
            <a:ext cx="4198611" cy="6834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C6CE60B-E2C3-E9A5-F561-833E8A681AC8}"/>
              </a:ext>
            </a:extLst>
          </p:cNvPr>
          <p:cNvSpPr txBox="1"/>
          <p:nvPr/>
        </p:nvSpPr>
        <p:spPr>
          <a:xfrm>
            <a:off x="203054" y="5512278"/>
            <a:ext cx="34277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c) Polynomial Decay: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5767EC-056D-4CA1-B88C-06F702E3FF55}"/>
              </a:ext>
            </a:extLst>
          </p:cNvPr>
          <p:cNvSpPr txBox="1"/>
          <p:nvPr/>
        </p:nvSpPr>
        <p:spPr>
          <a:xfrm>
            <a:off x="203054" y="316028"/>
            <a:ext cx="4058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b) Exponential Decay:</a:t>
            </a:r>
          </a:p>
        </p:txBody>
      </p:sp>
    </p:spTree>
    <p:extLst>
      <p:ext uri="{BB962C8B-B14F-4D97-AF65-F5344CB8AC3E}">
        <p14:creationId xmlns:p14="http://schemas.microsoft.com/office/powerpoint/2010/main" val="210616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DDF9A-4503-6E15-C116-37BC99E27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F9AC4B-2475-F259-AD0E-72CA59DE6064}"/>
              </a:ext>
            </a:extLst>
          </p:cNvPr>
          <p:cNvSpPr txBox="1"/>
          <p:nvPr/>
        </p:nvSpPr>
        <p:spPr>
          <a:xfrm>
            <a:off x="163902" y="252443"/>
            <a:ext cx="11706045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Adaptive Learning Rate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dynamically adjust the learning rate based on the model’s performance and the gradient of the cost function. 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approach can lead to optimal results by adapting the learning rate depending on the steepness of the cost function curve: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3.1)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AdaGrad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  <a:r>
              <a:rPr lang="en-IN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Nunito" pitchFamily="2" charset="0"/>
              </a:rPr>
              <a:t>Adaptive Gradient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method adjusts the learning rate for each parameter individually based on historical gradient information, reducing the learning rate for frequently updated parameters.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3.2) RMSprop: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variation of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AdaGrad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RMSprop addresses overly aggressive learning rate decay by maintaining a moving average of squared gradients to adapt the learning rate effectively.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3.3) Adam: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Combining concepts from both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AdaGrad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RMSprop, Adam incorporates adaptive learning rates and momentum to accelerate convergence.</a:t>
            </a:r>
          </a:p>
        </p:txBody>
      </p:sp>
    </p:spTree>
    <p:extLst>
      <p:ext uri="{BB962C8B-B14F-4D97-AF65-F5344CB8AC3E}">
        <p14:creationId xmlns:p14="http://schemas.microsoft.com/office/powerpoint/2010/main" val="1863929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D11D2-C59D-C49C-1531-DAFB06A7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DDECC4-80B4-E636-691E-17D530F89C4F}"/>
              </a:ext>
            </a:extLst>
          </p:cNvPr>
          <p:cNvSpPr txBox="1"/>
          <p:nvPr/>
        </p:nvSpPr>
        <p:spPr>
          <a:xfrm>
            <a:off x="267418" y="301296"/>
            <a:ext cx="1137824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Scheduled Drop Learning Rate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Learning rate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decreased by a specified proportion at set intervals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contrasting with decay techniques where the learning rate continuously diminishes. This allows for more controlled adjustments during training.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Cycling Learning Rate: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involve cyclically varying the learning rate within a predefined range throughout the training process. The learning rate fluctuates in a triangular shape between minimum and maximum values, maintaining a constant frequency. One popular strategy is the triangular learning rate policy, where the learning rate is linearly increased and then decreased within a cycle. This method aims to explore various learning rates during training, helping the model escape poor local minima and speeding up convergence.</a:t>
            </a:r>
          </a:p>
        </p:txBody>
      </p:sp>
    </p:spTree>
    <p:extLst>
      <p:ext uri="{BB962C8B-B14F-4D97-AF65-F5344CB8AC3E}">
        <p14:creationId xmlns:p14="http://schemas.microsoft.com/office/powerpoint/2010/main" val="1931461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E6A1A-5CC4-5F59-05D5-9E02DE52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5941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1109</TotalTime>
  <Words>668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Google Sans</vt:lpstr>
      <vt:lpstr>Nunito</vt:lpstr>
      <vt:lpstr>Office Theme</vt:lpstr>
      <vt:lpstr>ANN Key Terms: LearningRate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</dc:title>
  <dc:creator>Windows User</dc:creator>
  <cp:lastModifiedBy>Ashwani Kumar</cp:lastModifiedBy>
  <cp:revision>144</cp:revision>
  <dcterms:created xsi:type="dcterms:W3CDTF">2025-01-15T13:24:26Z</dcterms:created>
  <dcterms:modified xsi:type="dcterms:W3CDTF">2026-05-10T17:31:50Z</dcterms:modified>
</cp:coreProperties>
</file>