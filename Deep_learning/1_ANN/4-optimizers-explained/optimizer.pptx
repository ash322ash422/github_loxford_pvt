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7" r:id="rId3"/>
    <p:sldId id="298" r:id="rId4"/>
    <p:sldId id="289" r:id="rId5"/>
    <p:sldId id="290" r:id="rId6"/>
    <p:sldId id="294" r:id="rId7"/>
    <p:sldId id="291" r:id="rId8"/>
    <p:sldId id="295" r:id="rId9"/>
    <p:sldId id="292" r:id="rId10"/>
    <p:sldId id="296" r:id="rId11"/>
    <p:sldId id="293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3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310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275C-53AC-ECD2-2D44-8BBB70F6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E840EC-9949-F3A9-40B2-C1E53D5A5FE6}"/>
              </a:ext>
            </a:extLst>
          </p:cNvPr>
          <p:cNvSpPr txBox="1"/>
          <p:nvPr/>
        </p:nvSpPr>
        <p:spPr>
          <a:xfrm>
            <a:off x="7204036" y="3241761"/>
            <a:ext cx="2181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target y`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A5D70-5EFD-BFFD-3E70-DF81B1DA62A3}"/>
              </a:ext>
            </a:extLst>
          </p:cNvPr>
          <p:cNvSpPr txBox="1"/>
          <p:nvPr/>
        </p:nvSpPr>
        <p:spPr>
          <a:xfrm>
            <a:off x="7114340" y="5605113"/>
            <a:ext cx="2254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True/Actual target 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FBCB8A-1C00-19B1-9257-94E1A96505D1}"/>
              </a:ext>
            </a:extLst>
          </p:cNvPr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DBE4B-1976-328B-759F-B5158880AF10}"/>
              </a:ext>
            </a:extLst>
          </p:cNvPr>
          <p:cNvSpPr txBox="1"/>
          <p:nvPr/>
        </p:nvSpPr>
        <p:spPr>
          <a:xfrm>
            <a:off x="3157295" y="4830205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9F23F9-661E-6397-CCA3-4EB04F402A2E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5202883"/>
            <a:ext cx="2074111" cy="32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46EF84F-B0D6-7197-7A91-78CB9C8E2C2C}"/>
              </a:ext>
            </a:extLst>
          </p:cNvPr>
          <p:cNvSpPr/>
          <p:nvPr/>
        </p:nvSpPr>
        <p:spPr>
          <a:xfrm>
            <a:off x="306979" y="47374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07F0AD-018A-8983-4A53-F4BED9B76188}"/>
              </a:ext>
            </a:extLst>
          </p:cNvPr>
          <p:cNvCxnSpPr>
            <a:cxnSpLocks/>
          </p:cNvCxnSpPr>
          <p:nvPr/>
        </p:nvCxnSpPr>
        <p:spPr>
          <a:xfrm flipV="1">
            <a:off x="1429629" y="3611093"/>
            <a:ext cx="10797" cy="1006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B97C318-A27F-BF1B-2A7B-01A05E2C197A}"/>
              </a:ext>
            </a:extLst>
          </p:cNvPr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D7211A-F133-0F56-29BC-129D83088DE6}"/>
              </a:ext>
            </a:extLst>
          </p:cNvPr>
          <p:cNvCxnSpPr/>
          <p:nvPr/>
        </p:nvCxnSpPr>
        <p:spPr>
          <a:xfrm flipH="1">
            <a:off x="6150430" y="3028426"/>
            <a:ext cx="1542074" cy="251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AF5BA9-3577-0CF3-3DD9-04E77A243959}"/>
              </a:ext>
            </a:extLst>
          </p:cNvPr>
          <p:cNvCxnSpPr>
            <a:cxnSpLocks/>
          </p:cNvCxnSpPr>
          <p:nvPr/>
        </p:nvCxnSpPr>
        <p:spPr>
          <a:xfrm flipH="1" flipV="1">
            <a:off x="6265712" y="5577787"/>
            <a:ext cx="766795" cy="1442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B75D07-9BAA-1018-2B16-FB8ADE3BDCB7}"/>
              </a:ext>
            </a:extLst>
          </p:cNvPr>
          <p:cNvSpPr txBox="1"/>
          <p:nvPr/>
        </p:nvSpPr>
        <p:spPr>
          <a:xfrm>
            <a:off x="6302829" y="218462"/>
            <a:ext cx="58891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flow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predictions (forward pass)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error between predictions and actual values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Propagate error backward through the network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weights/bias using gradient descent to minimize error/loss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D0B032-D310-B216-94B5-01C414E92EF1}"/>
              </a:ext>
            </a:extLst>
          </p:cNvPr>
          <p:cNvCxnSpPr>
            <a:cxnSpLocks/>
          </p:cNvCxnSpPr>
          <p:nvPr/>
        </p:nvCxnSpPr>
        <p:spPr>
          <a:xfrm>
            <a:off x="6105665" y="2619552"/>
            <a:ext cx="1008675" cy="6951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59A3F3-4F8B-A8D6-0A54-9EAA9BA639DD}"/>
              </a:ext>
            </a:extLst>
          </p:cNvPr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3A733-B7FE-2C7C-5D21-6B9706987580}"/>
              </a:ext>
            </a:extLst>
          </p:cNvPr>
          <p:cNvSpPr txBox="1"/>
          <p:nvPr/>
        </p:nvSpPr>
        <p:spPr>
          <a:xfrm>
            <a:off x="70338" y="5746654"/>
            <a:ext cx="2928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SGD,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87751B-CB10-5AA3-61D1-3A6935DD58BC}"/>
              </a:ext>
            </a:extLst>
          </p:cNvPr>
          <p:cNvCxnSpPr>
            <a:cxnSpLocks/>
          </p:cNvCxnSpPr>
          <p:nvPr/>
        </p:nvCxnSpPr>
        <p:spPr>
          <a:xfrm flipH="1">
            <a:off x="6265712" y="3713406"/>
            <a:ext cx="995058" cy="1231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81C23037-F056-770F-3687-8F4DB740A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27" y="57660"/>
            <a:ext cx="5966465" cy="34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0843C-A21F-0178-82A6-60A5B041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8553B6-FFDE-F8ED-8091-0044D4006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5" y="1292679"/>
            <a:ext cx="6250604" cy="38928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E35616-FDCF-9876-8E14-6F8705E88DC6}"/>
              </a:ext>
            </a:extLst>
          </p:cNvPr>
          <p:cNvSpPr txBox="1"/>
          <p:nvPr/>
        </p:nvSpPr>
        <p:spPr>
          <a:xfrm>
            <a:off x="512064" y="263390"/>
            <a:ext cx="9253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is to find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and bias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such that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is minimum</a:t>
            </a:r>
            <a:endParaRPr lang="en-US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37DEF0-4DE6-D7CD-9A8E-DB2D2120D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354" y="2462077"/>
            <a:ext cx="4903059" cy="144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82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7E85B-C4A0-8FA6-2444-37D8BAD9BC72}"/>
              </a:ext>
            </a:extLst>
          </p:cNvPr>
          <p:cNvSpPr txBox="1"/>
          <p:nvPr/>
        </p:nvSpPr>
        <p:spPr>
          <a:xfrm>
            <a:off x="64008" y="161520"/>
            <a:ext cx="120152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optimizers are variations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(slope of loss function with respect to weights).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weights in the opposite direction of the gradient (because we want to minimize loss).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Formula: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w, b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the weight, bias</a:t>
            </a:r>
            <a:endParaRPr lang="en-US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η (eta)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learning rate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2BE019-0D28-535C-871A-A1E8A90D1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369" y="2462077"/>
            <a:ext cx="3296110" cy="1933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F8B257-2CE5-BD18-DDBB-9AB0BCCF6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354" y="2462077"/>
            <a:ext cx="4903059" cy="14438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38A4F7-F4C7-2405-FD10-C242F4816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544" y="4261104"/>
            <a:ext cx="3642592" cy="226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84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D4EA193A-87D9-E115-9566-7A67874B8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9348"/>
            <a:ext cx="92660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Full Batch Gradient Descent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Uses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entire 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 compute gradient before updating weights.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Accurate but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very slow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for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17326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0B068-E508-7AE3-BBB2-0CEAA787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8AB9AE3E-7E7E-6920-85D0-BDD077B06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464" y="520433"/>
            <a:ext cx="88848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(b) Stochastic Gradient Descent (SGD)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one sample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at a time to update weights.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Much faster but updates are noisy (loss jumps around).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Analogy: Batch = careful slow walk, SGD = fast but shaky run downhill.</a:t>
            </a:r>
          </a:p>
        </p:txBody>
      </p:sp>
    </p:spTree>
    <p:extLst>
      <p:ext uri="{BB962C8B-B14F-4D97-AF65-F5344CB8AC3E}">
        <p14:creationId xmlns:p14="http://schemas.microsoft.com/office/powerpoint/2010/main" val="256502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004A9FF-C97B-BCED-F04C-54F251CC0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8656"/>
            <a:ext cx="784124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(c) Mini-Batch Gradient Descent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Middle ground: Uses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small batch of samples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(like 32, 64).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Most common in practice.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Balances speed +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Example: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Keras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model.fit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(...,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batch_size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=32).</a:t>
            </a:r>
          </a:p>
        </p:txBody>
      </p:sp>
    </p:spTree>
    <p:extLst>
      <p:ext uri="{BB962C8B-B14F-4D97-AF65-F5344CB8AC3E}">
        <p14:creationId xmlns:p14="http://schemas.microsoft.com/office/powerpoint/2010/main" val="17079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C7B16-E7A2-98CE-B42F-79348EAE8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22C90C-90E1-6596-DD9F-B2217B5C1571}"/>
              </a:ext>
            </a:extLst>
          </p:cNvPr>
          <p:cNvSpPr txBox="1"/>
          <p:nvPr/>
        </p:nvSpPr>
        <p:spPr>
          <a:xfrm>
            <a:off x="207604" y="525943"/>
            <a:ext cx="116064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SGD With Momentum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Idea: Don’t just look at current gradient → also keep some memory of the past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smooth out noisy updates and speeds up downhill movement.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Analogy: Like a ball rolling down a hill — momentum carries it forward.</a:t>
            </a:r>
          </a:p>
        </p:txBody>
      </p:sp>
    </p:spTree>
    <p:extLst>
      <p:ext uri="{BB962C8B-B14F-4D97-AF65-F5344CB8AC3E}">
        <p14:creationId xmlns:p14="http://schemas.microsoft.com/office/powerpoint/2010/main" val="268812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33BC4A-87B3-1202-6C11-48268F4892A3}"/>
              </a:ext>
            </a:extLst>
          </p:cNvPr>
          <p:cNvSpPr txBox="1"/>
          <p:nvPr/>
        </p:nvSpPr>
        <p:spPr>
          <a:xfrm>
            <a:off x="370892" y="646934"/>
            <a:ext cx="109219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(e)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Adjusts the learning rate for each parameter individually.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 with frequent updates get smaller steps; rare ones get bigger steps.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Downside: Learning rate shrinks too much over time.</a:t>
            </a:r>
          </a:p>
        </p:txBody>
      </p:sp>
    </p:spTree>
    <p:extLst>
      <p:ext uri="{BB962C8B-B14F-4D97-AF65-F5344CB8AC3E}">
        <p14:creationId xmlns:p14="http://schemas.microsoft.com/office/powerpoint/2010/main" val="390397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65A0-F1BA-FE7D-D0C0-84004768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D9C818-C568-E04E-C371-5AB3348932F2}"/>
              </a:ext>
            </a:extLst>
          </p:cNvPr>
          <p:cNvSpPr txBox="1"/>
          <p:nvPr/>
        </p:nvSpPr>
        <p:spPr>
          <a:xfrm>
            <a:off x="286916" y="1003428"/>
            <a:ext cx="89028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(f)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keeping learning rate steady.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well for recurrent networks.</a:t>
            </a:r>
          </a:p>
        </p:txBody>
      </p:sp>
    </p:spTree>
    <p:extLst>
      <p:ext uri="{BB962C8B-B14F-4D97-AF65-F5344CB8AC3E}">
        <p14:creationId xmlns:p14="http://schemas.microsoft.com/office/powerpoint/2010/main" val="196372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FDAEBB-3498-3903-1D73-0CD9A070CCC3}"/>
              </a:ext>
            </a:extLst>
          </p:cNvPr>
          <p:cNvSpPr txBox="1"/>
          <p:nvPr/>
        </p:nvSpPr>
        <p:spPr>
          <a:xfrm>
            <a:off x="510850" y="753947"/>
            <a:ext cx="111203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(g) Adam (Adaptive Moment Estimation)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popular today.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Momentum +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Maintains a running average of past gradients (momentum) and squared gradients (adaptive learning rate).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Fast, efficient, works well in many cases.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680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670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1595</TotalTime>
  <Words>417</Words>
  <Application>Microsoft Office PowerPoint</Application>
  <PresentationFormat>Widescreen</PresentationFormat>
  <Paragraphs>68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222</cp:revision>
  <dcterms:created xsi:type="dcterms:W3CDTF">2025-09-22T02:44:38Z</dcterms:created>
  <dcterms:modified xsi:type="dcterms:W3CDTF">2026-04-05T15:46:16Z</dcterms:modified>
</cp:coreProperties>
</file>