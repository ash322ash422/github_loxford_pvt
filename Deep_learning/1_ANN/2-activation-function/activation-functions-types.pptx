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309" r:id="rId3"/>
    <p:sldId id="310" r:id="rId4"/>
    <p:sldId id="299" r:id="rId5"/>
    <p:sldId id="266" r:id="rId6"/>
    <p:sldId id="300" r:id="rId7"/>
    <p:sldId id="302" r:id="rId8"/>
    <p:sldId id="303" r:id="rId9"/>
    <p:sldId id="304" r:id="rId10"/>
    <p:sldId id="305" r:id="rId11"/>
    <p:sldId id="306" r:id="rId12"/>
    <p:sldId id="307" r:id="rId13"/>
    <p:sldId id="301" r:id="rId14"/>
    <p:sldId id="308" r:id="rId15"/>
    <p:sldId id="276" r:id="rId16"/>
    <p:sldId id="277" r:id="rId17"/>
    <p:sldId id="278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29A8E13-B1DF-7EC6-4814-A44800CC31BC}"/>
              </a:ext>
            </a:extLst>
          </p:cNvPr>
          <p:cNvSpPr txBox="1"/>
          <p:nvPr/>
        </p:nvSpPr>
        <p:spPr>
          <a:xfrm>
            <a:off x="1892808" y="1634990"/>
            <a:ext cx="73106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Activation Function</a:t>
            </a:r>
          </a:p>
        </p:txBody>
      </p:sp>
    </p:spTree>
    <p:extLst>
      <p:ext uri="{BB962C8B-B14F-4D97-AF65-F5344CB8AC3E}">
        <p14:creationId xmlns:p14="http://schemas.microsoft.com/office/powerpoint/2010/main" val="241854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34D9E-EDF9-625F-5AED-09807B318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268AFE6-579D-22EB-8BA6-DE59BF02F651}"/>
              </a:ext>
            </a:extLst>
          </p:cNvPr>
          <p:cNvSpPr txBox="1"/>
          <p:nvPr/>
        </p:nvSpPr>
        <p:spPr>
          <a:xfrm>
            <a:off x="1892808" y="1634990"/>
            <a:ext cx="731062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Logistic (Sigmoid)</a:t>
            </a:r>
          </a:p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ReLU (Rectified Linear Unit)</a:t>
            </a:r>
          </a:p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Hyperbolic Tangent (tanh)</a:t>
            </a:r>
          </a:p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Linear</a:t>
            </a:r>
          </a:p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SoftMax</a:t>
            </a:r>
          </a:p>
        </p:txBody>
      </p:sp>
    </p:spTree>
    <p:extLst>
      <p:ext uri="{BB962C8B-B14F-4D97-AF65-F5344CB8AC3E}">
        <p14:creationId xmlns:p14="http://schemas.microsoft.com/office/powerpoint/2010/main" val="1205851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10D71-7B32-D908-E2A1-DA0004CF2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6FEB64-B5F4-CBA8-0877-C2478F65E721}"/>
              </a:ext>
            </a:extLst>
          </p:cNvPr>
          <p:cNvSpPr txBox="1"/>
          <p:nvPr/>
        </p:nvSpPr>
        <p:spPr>
          <a:xfrm>
            <a:off x="3058668" y="2511475"/>
            <a:ext cx="6190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interesting site to learn ANN: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https://playground.tensorflow.org/</a:t>
            </a:r>
          </a:p>
        </p:txBody>
      </p:sp>
    </p:spTree>
    <p:extLst>
      <p:ext uri="{BB962C8B-B14F-4D97-AF65-F5344CB8AC3E}">
        <p14:creationId xmlns:p14="http://schemas.microsoft.com/office/powerpoint/2010/main" val="53476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8C319-223B-CAAA-19B4-27C6BDA26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A1C8304-5A05-AF24-965A-EDAA73EE321F}"/>
              </a:ext>
            </a:extLst>
          </p:cNvPr>
          <p:cNvSpPr txBox="1"/>
          <p:nvPr/>
        </p:nvSpPr>
        <p:spPr>
          <a:xfrm>
            <a:off x="201168" y="42838"/>
            <a:ext cx="112288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Components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Neurons (Nodes)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Each layer contains multiple neurons that perform computations.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05E543-B70E-79E1-DA0A-C6F525221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365" y="1302603"/>
            <a:ext cx="6665109" cy="27157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BFA693-1003-DE90-511D-2EB0815CE5AD}"/>
              </a:ext>
            </a:extLst>
          </p:cNvPr>
          <p:cNvSpPr txBox="1"/>
          <p:nvPr/>
        </p:nvSpPr>
        <p:spPr>
          <a:xfrm>
            <a:off x="137160" y="5531020"/>
            <a:ext cx="872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 -&gt;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07C93F-2CC8-998A-B014-C5E9995E1D90}"/>
              </a:ext>
            </a:extLst>
          </p:cNvPr>
          <p:cNvSpPr txBox="1"/>
          <p:nvPr/>
        </p:nvSpPr>
        <p:spPr>
          <a:xfrm>
            <a:off x="24384" y="2519596"/>
            <a:ext cx="1667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 Neuron -&gt;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57A3E62-6327-97B1-6508-645F55EB1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296" y="4159767"/>
            <a:ext cx="4224777" cy="25743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A5A458-BE35-18EF-5826-E655CCF29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1537" y="2660487"/>
            <a:ext cx="3700463" cy="237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962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BA26C-B9C8-B0E3-0B7D-87BB1A298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5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5423C2-904F-94FE-FF0F-129E7AF30390}"/>
              </a:ext>
            </a:extLst>
          </p:cNvPr>
          <p:cNvSpPr txBox="1"/>
          <p:nvPr/>
        </p:nvSpPr>
        <p:spPr>
          <a:xfrm>
            <a:off x="772668" y="269855"/>
            <a:ext cx="105811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Activation Functions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Activation functions decide whether a neuron should be activated (fire) or not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D05968-8B4B-8ECB-E1A6-358004F15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416" y="1668673"/>
            <a:ext cx="6191184" cy="358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950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1C6C9-E003-E04D-E041-A656289E7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DEFFA-01E5-AAE9-7567-AB9D46DC4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6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4CE818-A4C5-4543-7AE5-1A6FED6787DF}"/>
              </a:ext>
            </a:extLst>
          </p:cNvPr>
          <p:cNvSpPr txBox="1"/>
          <p:nvPr/>
        </p:nvSpPr>
        <p:spPr>
          <a:xfrm>
            <a:off x="219456" y="478828"/>
            <a:ext cx="94457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Logistic (Sigmoid) Activation Function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2A76162-B439-D0D2-BE66-B3FA82984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923" y="2624771"/>
            <a:ext cx="4782217" cy="13432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6B3156E-510D-AA0B-771A-4F78C25FB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81" y="1277092"/>
            <a:ext cx="2566469" cy="1093727"/>
          </a:xfrm>
          <a:prstGeom prst="rect">
            <a:avLst/>
          </a:prstGeom>
        </p:spPr>
      </p:pic>
      <p:sp>
        <p:nvSpPr>
          <p:cNvPr id="17" name="Rectangle 1">
            <a:extLst>
              <a:ext uri="{FF2B5EF4-FFF2-40B4-BE49-F238E27FC236}">
                <a16:creationId xmlns:a16="http://schemas.microsoft.com/office/drawing/2014/main" id="{D4907738-0806-38F2-3C36-FDE003CF5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" y="4721644"/>
            <a:ext cx="838504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The output is always between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0 and 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. Because of this, it is often interpreted as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probability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in Binary classification output layer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(Body)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9341311-BDEE-B86A-3C29-72187E6EE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753" y="1357769"/>
            <a:ext cx="4991797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302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C29CE-345A-400D-32C8-3AA488D74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FCAE7-E8C4-1CE6-4CEE-616E9134D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7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214950-C5E4-02DA-9EEC-3D4AE12AA8CA}"/>
              </a:ext>
            </a:extLst>
          </p:cNvPr>
          <p:cNvSpPr txBox="1"/>
          <p:nvPr/>
        </p:nvSpPr>
        <p:spPr>
          <a:xfrm>
            <a:off x="219456" y="478828"/>
            <a:ext cx="10332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ReLU (Rectified Linear Unit) Activation Function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widely used activation functions in modern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neural networks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because it is simple and computationally efficient.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F7B0AE-E8C2-B4B2-85BF-F5A4B7CF9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01" y="1874382"/>
            <a:ext cx="2610214" cy="5239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653EF9-02F3-65A8-9EA9-DCB80424B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832" y="1893435"/>
            <a:ext cx="2286319" cy="5048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D9C7A3-6A00-24C4-DCD5-0FAFB009E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5808" y="1486899"/>
            <a:ext cx="3050512" cy="2073088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4D3B9D8D-7652-3094-401A-B382EAC9D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" y="4906310"/>
            <a:ext cx="838504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The output is always between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0 and infinity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by hidden layers, etc.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711812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D2F66-A463-1736-2B99-817B6DF17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9778C-14AC-829F-0EC1-D58513E6B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8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C5C002-A35D-C652-859B-9471840820CE}"/>
              </a:ext>
            </a:extLst>
          </p:cNvPr>
          <p:cNvSpPr txBox="1"/>
          <p:nvPr/>
        </p:nvSpPr>
        <p:spPr>
          <a:xfrm>
            <a:off x="219456" y="478828"/>
            <a:ext cx="103327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Hyperbolic Tangent (tanh) Activation Function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similar to the logistic (sigmoid) function but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zero-centered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which often helps neural networks train better.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474ADC-4FE6-B069-8479-06388FDD2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613" y="2240248"/>
            <a:ext cx="2391109" cy="4572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E73AC7-E4E3-3DA1-CFB6-06B955154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613" y="2889272"/>
            <a:ext cx="2476846" cy="9335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FE3F40-4EDB-D816-B771-D6E509C71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074" y="3211659"/>
            <a:ext cx="2079649" cy="4346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5660BC-8666-C3E6-F181-5C16180FA0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1823876"/>
            <a:ext cx="3756360" cy="246179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F700A4-89AC-7644-795C-FD61A1DF7976}"/>
              </a:ext>
            </a:extLst>
          </p:cNvPr>
          <p:cNvSpPr txBox="1"/>
          <p:nvPr/>
        </p:nvSpPr>
        <p:spPr>
          <a:xfrm>
            <a:off x="251460" y="5172379"/>
            <a:ext cx="89291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tanh outputs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both negative and positive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in Hidden layers in neural networks and Recurrent Neural Networks (RNNs)</a:t>
            </a:r>
          </a:p>
        </p:txBody>
      </p:sp>
    </p:spTree>
    <p:extLst>
      <p:ext uri="{BB962C8B-B14F-4D97-AF65-F5344CB8AC3E}">
        <p14:creationId xmlns:p14="http://schemas.microsoft.com/office/powerpoint/2010/main" val="2102504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75999-69D5-A0FB-0EBF-7F2D1E6F9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8CA22-70F9-E93D-AC03-66099F68A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9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04F6DA-5D8C-E47F-73A3-766C4834AC35}"/>
              </a:ext>
            </a:extLst>
          </p:cNvPr>
          <p:cNvSpPr txBox="1"/>
          <p:nvPr/>
        </p:nvSpPr>
        <p:spPr>
          <a:xfrm>
            <a:off x="219456" y="478828"/>
            <a:ext cx="1033272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Linear Activation Function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Also called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identity function,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simply returns the input value without applying any transformation.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output can take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any real value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Generally used in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layer for regression problems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House price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Stock price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Temperature forecasting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81838F-5C48-0D8B-E9B9-7A700129D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823" y="2791364"/>
            <a:ext cx="1857857" cy="521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46AD63-FDFC-110E-918A-FF75254FE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662" y="2788920"/>
            <a:ext cx="2676899" cy="523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2F9E3F-592F-348F-692E-22ED1A8DC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9667" y="2039111"/>
            <a:ext cx="3215019" cy="219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18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5C65A-58BB-8C06-381F-460D4184F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769DE-7E94-DC18-7B03-AB88B241E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10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2371C0-305C-9FBA-25DD-63944367671B}"/>
              </a:ext>
            </a:extLst>
          </p:cNvPr>
          <p:cNvSpPr txBox="1"/>
          <p:nvPr/>
        </p:nvSpPr>
        <p:spPr>
          <a:xfrm>
            <a:off x="219456" y="478828"/>
            <a:ext cx="112288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SoftMax Activation Function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used when a neural network needs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one class out of multiple classes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converts raw outputs (logits) into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probabilities that sum to 1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20F935-FC5C-01F7-1AF6-D702EC5F8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55" y="2194792"/>
            <a:ext cx="6563641" cy="16385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C776AD-61A6-2311-0219-C294A7B7A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062" y="4034489"/>
            <a:ext cx="4820323" cy="18195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90C31E-BF5B-2DA6-D9A8-1F82CCABB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9835" y="3014056"/>
            <a:ext cx="2181529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145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A532F-C2DA-5B09-C63C-850BC35F9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7C8C0-BB10-982A-5F11-B0C4D86F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11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969669-46FD-F188-93A9-D85C683B8616}"/>
              </a:ext>
            </a:extLst>
          </p:cNvPr>
          <p:cNvSpPr txBox="1"/>
          <p:nvPr/>
        </p:nvSpPr>
        <p:spPr>
          <a:xfrm>
            <a:off x="219456" y="478828"/>
            <a:ext cx="93085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SoftMax operates on </a:t>
            </a:r>
            <a:r>
              <a:rPr lang="en-US" sz="2400" b="1" dirty="0">
                <a:solidFill>
                  <a:schemeClr val="bg1"/>
                </a:solidFill>
              </a:rPr>
              <a:t>an entire vector of inputs</a:t>
            </a:r>
            <a:r>
              <a:rPr lang="en-US" sz="2400" dirty="0">
                <a:solidFill>
                  <a:schemeClr val="bg1"/>
                </a:solidFill>
              </a:rPr>
              <a:t>, not just a single value.</a:t>
            </a:r>
          </a:p>
          <a:p>
            <a:r>
              <a:rPr lang="en-US" sz="2400" dirty="0">
                <a:solidFill>
                  <a:schemeClr val="bg1"/>
                </a:solidFill>
              </a:rPr>
              <a:t>Example input:   z = [2, 1, 0.1] 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SoftMax converts this into </a:t>
            </a:r>
            <a:r>
              <a:rPr lang="en-US" sz="2400" b="1" dirty="0">
                <a:solidFill>
                  <a:schemeClr val="bg1"/>
                </a:solidFill>
              </a:rPr>
              <a:t>probabilities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B9E549-C10C-5DFD-CE93-CEEE08618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6" y="3082632"/>
            <a:ext cx="4875048" cy="4923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FBE8A14-AE98-F87A-A5D3-8CE6C4EBE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982" y="3119394"/>
            <a:ext cx="2940021" cy="10108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47C49D-9C3A-4EDB-B40C-755505AC38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42" y="4362739"/>
            <a:ext cx="1997827" cy="114629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FD997D7-D1AC-A4C1-F2F6-42A62B5771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8540" y="4275799"/>
            <a:ext cx="2033156" cy="12791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60B3973-A790-D4A7-88FD-5A67A101DE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2790" y="4275799"/>
            <a:ext cx="1891514" cy="123323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0B45AEA-9804-23E9-FA24-87626C5AF8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0814" y="4462533"/>
            <a:ext cx="4314467" cy="46642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EB2BA69-584D-892E-1CE7-F1BB440E3A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1931" y="1029485"/>
            <a:ext cx="2131869" cy="9113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3B8F1F8-AA06-0D85-BDD8-C3D017BFAE0E}"/>
              </a:ext>
            </a:extLst>
          </p:cNvPr>
          <p:cNvSpPr txBox="1"/>
          <p:nvPr/>
        </p:nvSpPr>
        <p:spPr>
          <a:xfrm>
            <a:off x="7168896" y="5114036"/>
            <a:ext cx="4736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Predicted class = 1 (high probability)</a:t>
            </a:r>
          </a:p>
        </p:txBody>
      </p:sp>
    </p:spTree>
    <p:extLst>
      <p:ext uri="{BB962C8B-B14F-4D97-AF65-F5344CB8AC3E}">
        <p14:creationId xmlns:p14="http://schemas.microsoft.com/office/powerpoint/2010/main" val="2590590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3C011-9EAA-C484-CE99-E6B6AB9CE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F816E-CCC3-E1A4-342F-1EDEA6C01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12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4E1714-B787-E10F-8BE1-2AEACD46108A}"/>
              </a:ext>
            </a:extLst>
          </p:cNvPr>
          <p:cNvSpPr txBox="1"/>
          <p:nvPr/>
        </p:nvSpPr>
        <p:spPr>
          <a:xfrm>
            <a:off x="219456" y="478828"/>
            <a:ext cx="705002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SoftMax Probabilities Sum to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Use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layer of multi-class classification networks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 classification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Natural language processing (word prediction)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Digit recognition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490520-1792-76AD-2681-342B17B78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576" y="283894"/>
            <a:ext cx="1962424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100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13E1B-5B37-3A87-FBE2-66AA7C48F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AC7AD-AAF7-56CC-0782-6C92AAFED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13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6715B4-D327-22B0-88E3-698DAAFD13AD}"/>
              </a:ext>
            </a:extLst>
          </p:cNvPr>
          <p:cNvSpPr txBox="1"/>
          <p:nvPr/>
        </p:nvSpPr>
        <p:spPr>
          <a:xfrm>
            <a:off x="2752344" y="1325880"/>
            <a:ext cx="990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</a:t>
            </a:r>
          </a:p>
        </p:txBody>
      </p:sp>
    </p:spTree>
    <p:extLst>
      <p:ext uri="{BB962C8B-B14F-4D97-AF65-F5344CB8AC3E}">
        <p14:creationId xmlns:p14="http://schemas.microsoft.com/office/powerpoint/2010/main" val="2530901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1C427-8B82-A14D-9076-035BBEF71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63FE29-D645-0C86-BE5A-1CF165A15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855" y="590917"/>
            <a:ext cx="7179858" cy="62079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BCAD1-7C74-B7BA-39A2-E5E0C752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78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E53BA-6310-651D-8039-948D2D396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D3FED-A032-33B8-E671-72A4051A1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33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DBDD9-F109-9712-F98E-3C7A40B34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08874-47FC-F37D-712E-E38E6DBD4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577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0E027-BD30-4147-CCD5-71315A3A9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969C1-1C8C-9D4D-2429-D10937B26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183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1641</TotalTime>
  <Words>359</Words>
  <Application>Microsoft Office PowerPoint</Application>
  <PresentationFormat>Widescreen</PresentationFormat>
  <Paragraphs>80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(Body)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230</cp:revision>
  <dcterms:created xsi:type="dcterms:W3CDTF">2025-09-22T02:44:38Z</dcterms:created>
  <dcterms:modified xsi:type="dcterms:W3CDTF">2026-04-03T05:18:45Z</dcterms:modified>
</cp:coreProperties>
</file>