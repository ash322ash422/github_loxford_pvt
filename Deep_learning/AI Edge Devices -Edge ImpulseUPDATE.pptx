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C8743E-832B-49DD-B94B-FD7B14AF3E49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EAF152-B7D0-4109-A6AA-30B7BE6F7C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141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3535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4790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54261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0271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59128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9641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19228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27349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421354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43715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995181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47791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54802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95020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98001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77877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60662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66828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9183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12959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71977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52863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442335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84093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5776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382621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19944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74078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94453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32410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7920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948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3B059-0A9C-494B-9565-739BB027D2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44ED-68D5-44FC-B91B-9685E5D78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008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3B059-0A9C-494B-9565-739BB027D2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44ED-68D5-44FC-B91B-9685E5D78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62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3B059-0A9C-494B-9565-739BB027D2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44ED-68D5-44FC-B91B-9685E5D78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987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3B059-0A9C-494B-9565-739BB027D2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44ED-68D5-44FC-B91B-9685E5D78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962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3B059-0A9C-494B-9565-739BB027D2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44ED-68D5-44FC-B91B-9685E5D78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98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3B059-0A9C-494B-9565-739BB027D2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44ED-68D5-44FC-B91B-9685E5D78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747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3B059-0A9C-494B-9565-739BB027D2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44ED-68D5-44FC-B91B-9685E5D78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58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3B059-0A9C-494B-9565-739BB027D2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44ED-68D5-44FC-B91B-9685E5D78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80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3B059-0A9C-494B-9565-739BB027D2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44ED-68D5-44FC-B91B-9685E5D78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87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3B059-0A9C-494B-9565-739BB027D2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44ED-68D5-44FC-B91B-9685E5D78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520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3B059-0A9C-494B-9565-739BB027D2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344ED-68D5-44FC-B91B-9685E5D78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587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obj">
  <p:cSld name="1_Title 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>
            <a:spLocks noGrp="1"/>
          </p:cNvSpPr>
          <p:nvPr>
            <p:ph type="title"/>
          </p:nvPr>
        </p:nvSpPr>
        <p:spPr>
          <a:xfrm>
            <a:off x="4179569" y="244856"/>
            <a:ext cx="3832860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rgbClr val="33CC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4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4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8020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5"/>
          <p:cNvSpPr txBox="1">
            <a:spLocks noGrp="1"/>
          </p:cNvSpPr>
          <p:nvPr>
            <p:ph type="title"/>
          </p:nvPr>
        </p:nvSpPr>
        <p:spPr>
          <a:xfrm>
            <a:off x="4179569" y="244856"/>
            <a:ext cx="3832860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rgbClr val="33CC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5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7686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1_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 b="0" i="0" u="none" strike="noStrike" cap="none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130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Subtitle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>
            <a:spLocks noGrp="1"/>
          </p:cNvSpPr>
          <p:nvPr>
            <p:ph type="ctrTitle"/>
          </p:nvPr>
        </p:nvSpPr>
        <p:spPr>
          <a:xfrm>
            <a:off x="1140400" y="2045396"/>
            <a:ext cx="6814400" cy="15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51" name="Google Shape;51;p38"/>
          <p:cNvSpPr txBox="1">
            <a:spLocks noGrp="1"/>
          </p:cNvSpPr>
          <p:nvPr>
            <p:ph type="subTitle" idx="1"/>
          </p:nvPr>
        </p:nvSpPr>
        <p:spPr>
          <a:xfrm>
            <a:off x="1140400" y="3619403"/>
            <a:ext cx="6814400" cy="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15000"/>
              </a:lnSpc>
              <a:spcBef>
                <a:spcPts val="1067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4000">
                <a:solidFill>
                  <a:schemeClr val="lt2"/>
                </a:solidFill>
              </a:defRPr>
            </a:lvl2pPr>
            <a:lvl3pPr lvl="2" algn="l">
              <a:lnSpc>
                <a:spcPct val="115000"/>
              </a:lnSpc>
              <a:spcBef>
                <a:spcPts val="1067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4000">
                <a:solidFill>
                  <a:schemeClr val="lt2"/>
                </a:solidFill>
              </a:defRPr>
            </a:lvl3pPr>
            <a:lvl4pPr lvl="3" algn="l">
              <a:lnSpc>
                <a:spcPct val="115000"/>
              </a:lnSpc>
              <a:spcBef>
                <a:spcPts val="1067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4000">
                <a:solidFill>
                  <a:schemeClr val="lt2"/>
                </a:solidFill>
              </a:defRPr>
            </a:lvl4pPr>
            <a:lvl5pPr lvl="4" algn="l">
              <a:lnSpc>
                <a:spcPct val="115000"/>
              </a:lnSpc>
              <a:spcBef>
                <a:spcPts val="1067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4000">
                <a:solidFill>
                  <a:schemeClr val="lt2"/>
                </a:solidFill>
              </a:defRPr>
            </a:lvl5pPr>
            <a:lvl6pPr lvl="5" algn="l">
              <a:lnSpc>
                <a:spcPct val="115000"/>
              </a:lnSpc>
              <a:spcBef>
                <a:spcPts val="1067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4000">
                <a:solidFill>
                  <a:schemeClr val="lt2"/>
                </a:solidFill>
              </a:defRPr>
            </a:lvl6pPr>
            <a:lvl7pPr lvl="6" algn="l">
              <a:lnSpc>
                <a:spcPct val="115000"/>
              </a:lnSpc>
              <a:spcBef>
                <a:spcPts val="1067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4000">
                <a:solidFill>
                  <a:schemeClr val="lt2"/>
                </a:solidFill>
              </a:defRPr>
            </a:lvl7pPr>
            <a:lvl8pPr lvl="7" algn="l">
              <a:lnSpc>
                <a:spcPct val="115000"/>
              </a:lnSpc>
              <a:spcBef>
                <a:spcPts val="1067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4000">
                <a:solidFill>
                  <a:schemeClr val="lt2"/>
                </a:solidFill>
              </a:defRPr>
            </a:lvl8pPr>
            <a:lvl9pPr lvl="8" algn="l">
              <a:lnSpc>
                <a:spcPct val="115000"/>
              </a:lnSpc>
              <a:spcBef>
                <a:spcPts val="1067"/>
              </a:spcBef>
              <a:spcAft>
                <a:spcPts val="1067"/>
              </a:spcAft>
              <a:buClr>
                <a:schemeClr val="lt2"/>
              </a:buClr>
              <a:buSzPts val="3000"/>
              <a:buNone/>
              <a:defRPr sz="4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71125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D3B059-0A9C-494B-9565-739BB027D2C4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344ED-68D5-44FC-B91B-9685E5D78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41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8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ccouncil.org/cybersecurity-exchange/ethical-hacking/fog-computing-everything-to-know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://www.edgeimpulse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3.jp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49.png"/><Relationship Id="rId3" Type="http://schemas.openxmlformats.org/officeDocument/2006/relationships/hyperlink" Target="https://instagram.com/the_iot_academy" TargetMode="External"/><Relationship Id="rId7" Type="http://schemas.openxmlformats.org/officeDocument/2006/relationships/hyperlink" Target="https://twitter.com/academyforiot" TargetMode="External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5.png"/><Relationship Id="rId11" Type="http://schemas.openxmlformats.org/officeDocument/2006/relationships/hyperlink" Target="https://www.youtube.com/channel/UCyIXtUMsOX02mpi5PKex9aA" TargetMode="External"/><Relationship Id="rId5" Type="http://schemas.openxmlformats.org/officeDocument/2006/relationships/hyperlink" Target="https://www.linkedin.com/school/theiotacademy/" TargetMode="External"/><Relationship Id="rId10" Type="http://schemas.openxmlformats.org/officeDocument/2006/relationships/image" Target="../media/image47.png"/><Relationship Id="rId4" Type="http://schemas.openxmlformats.org/officeDocument/2006/relationships/image" Target="../media/image44.png"/><Relationship Id="rId9" Type="http://schemas.openxmlformats.org/officeDocument/2006/relationships/hyperlink" Target="https://www.facebook.com/academyforiot/" TargetMode="External"/><Relationship Id="rId1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42186"/>
            <a:ext cx="9144000" cy="2387600"/>
          </a:xfrm>
        </p:spPr>
        <p:txBody>
          <a:bodyPr/>
          <a:lstStyle/>
          <a:p>
            <a:r>
              <a:rPr lang="en-US" dirty="0"/>
              <a:t>AI Edge Devices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77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1" y="63122"/>
            <a:ext cx="5965272" cy="775778"/>
          </a:xfrm>
        </p:spPr>
        <p:txBody>
          <a:bodyPr/>
          <a:lstStyle/>
          <a:p>
            <a:r>
              <a:rPr lang="en-US" dirty="0"/>
              <a:t>What is an edge device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026" y="1481675"/>
            <a:ext cx="6711892" cy="4860401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Edge computing</a:t>
            </a:r>
            <a:r>
              <a:rPr lang="en-US" dirty="0"/>
              <a:t> is processing data at the edge of a network. The edge of a network means either by the device itself or a local server, not the cloud.</a:t>
            </a:r>
          </a:p>
          <a:p>
            <a:r>
              <a:rPr lang="en-US" dirty="0"/>
              <a:t>In the AI domain, an </a:t>
            </a:r>
            <a:r>
              <a:rPr lang="en-US" b="1" dirty="0"/>
              <a:t>edge device</a:t>
            </a:r>
            <a:r>
              <a:rPr lang="en-US" dirty="0"/>
              <a:t> refers to a physical device located at the periphery of a network, equipped with sensors and processing capabilities that allow it to collect data locally and run AI algorithms on that data in real-time, without needing to constantly send information to a central cloud server; essentially, it performs data processing close to where the data is generated, enabling faster decision-making and immediate responses.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 points about edge devices in AI:</a:t>
            </a:r>
          </a:p>
          <a:p>
            <a:r>
              <a:rPr lang="en-US" b="1" dirty="0"/>
              <a:t>Local processing: </a:t>
            </a:r>
            <a:r>
              <a:rPr lang="en-US" dirty="0"/>
              <a:t>Edge devices process data on-site, minimizing latency by avoiding the need to send large amounts of data to a remote server. So </a:t>
            </a:r>
            <a:r>
              <a:rPr lang="en-US" b="1" dirty="0"/>
              <a:t>low Bandwidth. </a:t>
            </a:r>
          </a:p>
          <a:p>
            <a:r>
              <a:rPr lang="en-US" b="1" dirty="0"/>
              <a:t>Real-time applications: </a:t>
            </a:r>
            <a:r>
              <a:rPr lang="en-US" dirty="0"/>
              <a:t>Ideal for applications requiring quick reactions to changing conditions, like autonomous vehicles, industrial machinery monitoring, and smart home devices. </a:t>
            </a:r>
          </a:p>
          <a:p>
            <a:r>
              <a:rPr lang="en-US" b="1" dirty="0"/>
              <a:t>Low power consumption: </a:t>
            </a:r>
            <a:r>
              <a:rPr lang="en-US" dirty="0"/>
              <a:t>Often designed to operate on low power, making them suitable for battery-powered devices like wearables and </a:t>
            </a:r>
            <a:r>
              <a:rPr lang="en-US" dirty="0" err="1"/>
              <a:t>IoT</a:t>
            </a:r>
            <a:r>
              <a:rPr lang="en-US" dirty="0"/>
              <a:t> sensors. 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8932" y="218110"/>
            <a:ext cx="4615446" cy="28855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2081" y="3447875"/>
            <a:ext cx="3516294" cy="332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777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304" y="121845"/>
            <a:ext cx="6035266" cy="725444"/>
          </a:xfrm>
        </p:spPr>
        <p:txBody>
          <a:bodyPr/>
          <a:lstStyle/>
          <a:p>
            <a:r>
              <a:rPr lang="en-US" dirty="0"/>
              <a:t>Examples of edge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303" y="785390"/>
            <a:ext cx="3020736" cy="2658290"/>
          </a:xfrm>
        </p:spPr>
        <p:txBody>
          <a:bodyPr>
            <a:normAutofit/>
          </a:bodyPr>
          <a:lstStyle/>
          <a:p>
            <a:pPr fontAlgn="ctr"/>
            <a:r>
              <a:rPr lang="en-US" sz="1100" b="1" dirty="0"/>
              <a:t>Smartphones:</a:t>
            </a:r>
            <a:r>
              <a:rPr lang="en-US" sz="1100" dirty="0"/>
              <a:t> Can run facial recognition or image analysis locally </a:t>
            </a:r>
          </a:p>
          <a:p>
            <a:pPr fontAlgn="ctr"/>
            <a:r>
              <a:rPr lang="en-US" sz="1100" b="1" dirty="0"/>
              <a:t>Surveillance cameras:</a:t>
            </a:r>
            <a:r>
              <a:rPr lang="en-US" sz="1100" dirty="0"/>
              <a:t> Analyze video footage in real-time to detect suspicious activity </a:t>
            </a:r>
          </a:p>
          <a:p>
            <a:pPr fontAlgn="ctr"/>
            <a:r>
              <a:rPr lang="en-US" sz="1100" b="1" dirty="0"/>
              <a:t>Industrial sensors:</a:t>
            </a:r>
            <a:r>
              <a:rPr lang="en-US" sz="1100" dirty="0"/>
              <a:t> Monitor equipment health and predict potential failures </a:t>
            </a:r>
          </a:p>
          <a:p>
            <a:pPr fontAlgn="ctr"/>
            <a:r>
              <a:rPr lang="en-US" sz="1100" b="1" dirty="0"/>
              <a:t>Smart home appliances:</a:t>
            </a:r>
            <a:r>
              <a:rPr lang="en-US" sz="1100" dirty="0"/>
              <a:t> Respond to environmental changes without needing constant cloud interaction </a:t>
            </a:r>
          </a:p>
          <a:p>
            <a:r>
              <a:rPr lang="en-US" sz="1100" b="1" dirty="0"/>
              <a:t>Wearable devices:</a:t>
            </a:r>
            <a:r>
              <a:rPr lang="en-US" sz="1100" dirty="0"/>
              <a:t> Monitor health metrics like heart rate in real-time </a:t>
            </a:r>
          </a:p>
          <a:p>
            <a:endParaRPr lang="en-US" sz="11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2969" y="209720"/>
            <a:ext cx="1481853" cy="13295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666" y="1233180"/>
            <a:ext cx="2284904" cy="15368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195" y="3481431"/>
            <a:ext cx="2124311" cy="10024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5365" y="3120706"/>
            <a:ext cx="2788393" cy="197141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312" y="4945413"/>
            <a:ext cx="3039446" cy="166415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61" y="3355198"/>
            <a:ext cx="2775599" cy="321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361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306" y="46343"/>
            <a:ext cx="5965272" cy="1178449"/>
          </a:xfrm>
        </p:spPr>
        <p:txBody>
          <a:bodyPr/>
          <a:lstStyle/>
          <a:p>
            <a:r>
              <a:rPr lang="en-US" b="1" dirty="0"/>
              <a:t>Drawbacks of Edge AI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858" y="1120949"/>
            <a:ext cx="7861183" cy="456678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Limited hardware capabilities:</a:t>
            </a:r>
            <a:r>
              <a:rPr lang="en-US" dirty="0"/>
              <a:t> Edge devices often lack the computational power and memory to handle complex machine-learning models. </a:t>
            </a:r>
          </a:p>
          <a:p>
            <a:r>
              <a:rPr lang="en-US" b="1" dirty="0"/>
              <a:t>Difficulty in model updates:</a:t>
            </a:r>
            <a:r>
              <a:rPr lang="en-US" dirty="0"/>
              <a:t> Compared to a centrally managed cloud-based system which supports easier and remote updates, it is challenging to update, and maintain machine learning models across multiple edge devices.</a:t>
            </a:r>
          </a:p>
          <a:p>
            <a:r>
              <a:rPr lang="en-US" b="1" dirty="0"/>
              <a:t>Difficulty in accessibility: </a:t>
            </a:r>
            <a:r>
              <a:rPr lang="en-US" dirty="0"/>
              <a:t>Edge AI systems may not provide the same level of universal access as cloud-based models.</a:t>
            </a:r>
          </a:p>
          <a:p>
            <a:r>
              <a:rPr lang="en-US" b="1" dirty="0"/>
              <a:t>Potential need for fog computing</a:t>
            </a:r>
            <a:r>
              <a:rPr lang="en-US" dirty="0"/>
              <a:t>: For complex applications, replicating cloud-like capabilities on regional edge servers (</a:t>
            </a:r>
            <a:r>
              <a:rPr lang="en-US" dirty="0">
                <a:hlinkClick r:id="rId2"/>
              </a:rPr>
              <a:t>fog computing</a:t>
            </a:r>
            <a:r>
              <a:rPr lang="en-US" dirty="0"/>
              <a:t>) may be necessary. It adds another layer of infrastructure and management complexity.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883942" y="2852257"/>
            <a:ext cx="25594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Fog computing</a:t>
            </a:r>
            <a:r>
              <a:rPr lang="en-US" dirty="0"/>
              <a:t> is a form of distributed computing that brings computation and data storage closer to the network edge, where many </a:t>
            </a:r>
            <a:r>
              <a:rPr lang="en-US" dirty="0" err="1"/>
              <a:t>IoT</a:t>
            </a:r>
            <a:r>
              <a:rPr lang="en-US" dirty="0"/>
              <a:t> devices are located. By doing this, fog computing reduces the reliance on the cloud for these resource-intensive tasks, improving performance and reducing latency</a:t>
            </a:r>
          </a:p>
        </p:txBody>
      </p:sp>
      <p:sp>
        <p:nvSpPr>
          <p:cNvPr id="5" name="Right Arrow 4"/>
          <p:cNvSpPr/>
          <p:nvPr/>
        </p:nvSpPr>
        <p:spPr>
          <a:xfrm rot="19273596">
            <a:off x="7784983" y="4278385"/>
            <a:ext cx="805344" cy="2432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886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 Impulse (Web application): p1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No Coding Required:</a:t>
            </a:r>
            <a:r>
              <a:rPr lang="en-US" dirty="0"/>
              <a:t> You don't need to be a coding expert to use Edge Impulse. Our platform provides a user-friendly interface that guides you through the process - this includes many optimized preprocessing and learning blocks, various neural network architectures, and pre-trained models and can generate ready-to-flash binaries to test your models on real devices.</a:t>
            </a:r>
          </a:p>
          <a:p>
            <a:r>
              <a:rPr lang="en-US" b="1" dirty="0"/>
              <a:t>Edge Computing:</a:t>
            </a:r>
            <a:r>
              <a:rPr lang="en-US" dirty="0"/>
              <a:t> Your machine learning models are optimized to run directly on your edge devices, ensuring low latency and real-time processing.</a:t>
            </a:r>
          </a:p>
          <a:p>
            <a:r>
              <a:rPr lang="en-US" b="1" dirty="0"/>
              <a:t>Support for Various Sensors:</a:t>
            </a:r>
            <a:r>
              <a:rPr lang="en-US" dirty="0"/>
              <a:t> Edge Impulse supports a wide range of sensors, from accelerometers and microphones to cameras, making it versatile for different projects.</a:t>
            </a:r>
          </a:p>
          <a:p>
            <a:r>
              <a:rPr lang="en-US" b="1" dirty="0"/>
              <a:t>Community and Resources:</a:t>
            </a:r>
            <a:r>
              <a:rPr lang="en-US" dirty="0"/>
              <a:t> You're not alone on this journey. Edge Impulse offers a supportive community and extensive documentation to help you succeed.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867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058" y="1000798"/>
            <a:ext cx="11134344" cy="525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221742" y="6367740"/>
            <a:ext cx="853635" cy="49025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"/>
          <p:cNvSpPr txBox="1">
            <a:spLocks noGrp="1"/>
          </p:cNvSpPr>
          <p:nvPr>
            <p:ph type="title"/>
          </p:nvPr>
        </p:nvSpPr>
        <p:spPr>
          <a:xfrm>
            <a:off x="2767964" y="118948"/>
            <a:ext cx="6894900" cy="12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   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/>
          </a:p>
        </p:txBody>
      </p:sp>
      <p:pic>
        <p:nvPicPr>
          <p:cNvPr id="77" name="Google Shape;7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18" y="-3001"/>
            <a:ext cx="1352550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48037" y="38361"/>
            <a:ext cx="1543050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524001" y="185055"/>
            <a:ext cx="8639607" cy="61646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kern="1200">
                <a:solidFill>
                  <a:srgbClr val="33CC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z="4800" dirty="0"/>
              <a:t>HANDS ON WITH EDGE IMPULSE</a:t>
            </a:r>
          </a:p>
        </p:txBody>
      </p:sp>
    </p:spTree>
    <p:extLst>
      <p:ext uri="{BB962C8B-B14F-4D97-AF65-F5344CB8AC3E}">
        <p14:creationId xmlns:p14="http://schemas.microsoft.com/office/powerpoint/2010/main" val="2902665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"/>
          <p:cNvSpPr txBox="1">
            <a:spLocks noGrp="1"/>
          </p:cNvSpPr>
          <p:nvPr>
            <p:ph type="title"/>
          </p:nvPr>
        </p:nvSpPr>
        <p:spPr>
          <a:xfrm>
            <a:off x="941933" y="10414"/>
            <a:ext cx="10048200" cy="32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6162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4471C4"/>
                </a:solidFill>
              </a:rPr>
              <a:t>MACHINE LEARNING	AND	 EDGE AI</a:t>
            </a:r>
            <a:endParaRPr sz="5400"/>
          </a:p>
          <a:p>
            <a:pPr marL="0" lvl="0" indent="0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endParaRPr sz="5050"/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000000"/>
                </a:solidFill>
              </a:rPr>
              <a:t>Edge Impulse(Object Classification)</a:t>
            </a:r>
            <a:endParaRPr sz="5400"/>
          </a:p>
        </p:txBody>
      </p:sp>
      <p:pic>
        <p:nvPicPr>
          <p:cNvPr id="84" name="Google Shape;8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91621" y="3772359"/>
            <a:ext cx="7936706" cy="9355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3650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207" y="1312163"/>
            <a:ext cx="12051791" cy="395325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 txBox="1">
            <a:spLocks noGrp="1"/>
          </p:cNvSpPr>
          <p:nvPr>
            <p:ph type="title"/>
          </p:nvPr>
        </p:nvSpPr>
        <p:spPr>
          <a:xfrm>
            <a:off x="3129152" y="226313"/>
            <a:ext cx="584962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Open edge impulse website</a:t>
            </a:r>
            <a:endParaRPr sz="4000"/>
          </a:p>
        </p:txBody>
      </p:sp>
      <p:sp>
        <p:nvSpPr>
          <p:cNvPr id="91" name="Google Shape;91;p3"/>
          <p:cNvSpPr txBox="1"/>
          <p:nvPr/>
        </p:nvSpPr>
        <p:spPr>
          <a:xfrm>
            <a:off x="3370834" y="5783681"/>
            <a:ext cx="598623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sng" strike="noStrike" cap="none" dirty="0">
                <a:solidFill>
                  <a:srgbClr val="33CCFF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www.edgeimpulse.com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7699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 txBox="1">
            <a:spLocks noGrp="1"/>
          </p:cNvSpPr>
          <p:nvPr>
            <p:ph type="title"/>
          </p:nvPr>
        </p:nvSpPr>
        <p:spPr>
          <a:xfrm>
            <a:off x="4776978" y="168097"/>
            <a:ext cx="2639695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Sign up here</a:t>
            </a:r>
            <a:endParaRPr sz="4000"/>
          </a:p>
        </p:txBody>
      </p:sp>
      <p:pic>
        <p:nvPicPr>
          <p:cNvPr id="97" name="Google Shape;9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661" y="934574"/>
            <a:ext cx="11813862" cy="471691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 rot="-2820000">
            <a:off x="9534768" y="1575288"/>
            <a:ext cx="1035538" cy="28330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3458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 txBox="1">
            <a:spLocks noGrp="1"/>
          </p:cNvSpPr>
          <p:nvPr>
            <p:ph type="title"/>
          </p:nvPr>
        </p:nvSpPr>
        <p:spPr>
          <a:xfrm>
            <a:off x="166977" y="140335"/>
            <a:ext cx="11624807" cy="1858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Fill the details: If having problems creating account, like getting 403 error, then use mobile to create an account</a:t>
            </a:r>
            <a:endParaRPr sz="4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05" y="1999163"/>
            <a:ext cx="10058400" cy="452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005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>
            <a:spLocks noGrp="1"/>
          </p:cNvSpPr>
          <p:nvPr>
            <p:ph type="title"/>
          </p:nvPr>
        </p:nvSpPr>
        <p:spPr>
          <a:xfrm>
            <a:off x="399496" y="218643"/>
            <a:ext cx="11792504" cy="68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5" rIns="0" bIns="0" anchor="t" anchorCtr="0">
            <a:spAutoFit/>
          </a:bodyPr>
          <a:lstStyle/>
          <a:p>
            <a:pPr marL="4374515" marR="5080" lvl="0" indent="-4362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After sign-up successfully, click to build your first Project</a:t>
            </a:r>
            <a:endParaRPr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200761-0612-10B3-B752-5F7ECC63A8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31" y="977313"/>
            <a:ext cx="10796337" cy="563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362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9935" y="1312923"/>
            <a:ext cx="11292212" cy="5390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85406" y="-55585"/>
            <a:ext cx="1543050" cy="1562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1299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 txBox="1">
            <a:spLocks noGrp="1"/>
          </p:cNvSpPr>
          <p:nvPr>
            <p:ph type="title"/>
          </p:nvPr>
        </p:nvSpPr>
        <p:spPr>
          <a:xfrm>
            <a:off x="2966085" y="151638"/>
            <a:ext cx="6263640" cy="69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Scan QR Code With Mobile</a:t>
            </a:r>
            <a:endParaRPr/>
          </a:p>
        </p:txBody>
      </p:sp>
      <p:pic>
        <p:nvPicPr>
          <p:cNvPr id="122" name="Google Shape;12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819" y="998219"/>
            <a:ext cx="11379707" cy="51358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3098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"/>
          <p:cNvSpPr txBox="1">
            <a:spLocks noGrp="1"/>
          </p:cNvSpPr>
          <p:nvPr>
            <p:ph type="title"/>
          </p:nvPr>
        </p:nvSpPr>
        <p:spPr>
          <a:xfrm>
            <a:off x="3766565" y="133857"/>
            <a:ext cx="5199882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Now We Acquire Data</a:t>
            </a:r>
            <a:endParaRPr sz="4000" dirty="0"/>
          </a:p>
        </p:txBody>
      </p:sp>
      <p:pic>
        <p:nvPicPr>
          <p:cNvPr id="128" name="Google Shape;12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632" y="1805792"/>
            <a:ext cx="11750429" cy="47413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8617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>
            <a:spLocks noGrp="1"/>
          </p:cNvSpPr>
          <p:nvPr>
            <p:ph type="title"/>
          </p:nvPr>
        </p:nvSpPr>
        <p:spPr>
          <a:xfrm>
            <a:off x="2007489" y="196723"/>
            <a:ext cx="9506849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Click On Collecting Images In Your Mobile</a:t>
            </a:r>
            <a:endParaRPr sz="4000" dirty="0"/>
          </a:p>
        </p:txBody>
      </p:sp>
      <p:pic>
        <p:nvPicPr>
          <p:cNvPr id="134" name="Google Shape;13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93109" y="1899821"/>
            <a:ext cx="3657601" cy="4406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4256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 txBox="1">
            <a:spLocks noGrp="1"/>
          </p:cNvSpPr>
          <p:nvPr>
            <p:ph type="title"/>
          </p:nvPr>
        </p:nvSpPr>
        <p:spPr>
          <a:xfrm>
            <a:off x="1426844" y="366471"/>
            <a:ext cx="1002535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GIVE ACCESS TO THE CAMERA FOR CLICK IMAGES</a:t>
            </a:r>
            <a:endParaRPr sz="3600" dirty="0"/>
          </a:p>
        </p:txBody>
      </p:sp>
      <p:pic>
        <p:nvPicPr>
          <p:cNvPr id="140" name="Google Shape;14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8667" y="1065320"/>
            <a:ext cx="3072042" cy="51727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7102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>
            <a:spLocks noGrp="1"/>
          </p:cNvSpPr>
          <p:nvPr>
            <p:ph type="title"/>
          </p:nvPr>
        </p:nvSpPr>
        <p:spPr>
          <a:xfrm>
            <a:off x="916938" y="11523"/>
            <a:ext cx="10162393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WRITE THE LABEL AND SELECT CATEGORY.</a:t>
            </a:r>
            <a:endParaRPr dirty="0"/>
          </a:p>
        </p:txBody>
      </p:sp>
      <p:pic>
        <p:nvPicPr>
          <p:cNvPr id="146" name="Google Shape;14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5359" y="701455"/>
            <a:ext cx="3389151" cy="58141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E0841F-BFD1-BDAC-B4AA-5C3954CA111F}"/>
              </a:ext>
            </a:extLst>
          </p:cNvPr>
          <p:cNvSpPr txBox="1"/>
          <p:nvPr/>
        </p:nvSpPr>
        <p:spPr>
          <a:xfrm>
            <a:off x="360948" y="1039683"/>
            <a:ext cx="41523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 the phone, change the </a:t>
            </a:r>
            <a:r>
              <a:rPr lang="en-US" b="1" dirty="0"/>
              <a:t>Label</a:t>
            </a:r>
            <a:r>
              <a:rPr lang="en-US" dirty="0"/>
              <a:t> to the name of the object you are going to take picture.</a:t>
            </a:r>
            <a:endParaRPr lang="en-IN" dirty="0"/>
          </a:p>
        </p:txBody>
      </p:sp>
      <p:sp>
        <p:nvSpPr>
          <p:cNvPr id="5" name="Text Placeholder 2"/>
          <p:cNvSpPr txBox="1">
            <a:spLocks/>
          </p:cNvSpPr>
          <p:nvPr/>
        </p:nvSpPr>
        <p:spPr>
          <a:xfrm>
            <a:off x="307596" y="2642743"/>
            <a:ext cx="5564698" cy="11490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On your computer you will receive a message in the browser asking if you are building object detection model ? Answer </a:t>
            </a:r>
            <a:r>
              <a:rPr lang="en-US" sz="2000" b="1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2579746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 message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775597"/>
          </a:xfrm>
        </p:spPr>
        <p:txBody>
          <a:bodyPr/>
          <a:lstStyle/>
          <a:p>
            <a:r>
              <a:rPr lang="en-US" dirty="0"/>
              <a:t>On your computer you will receive a message in the browser asking if you are building object detection model ? Answer </a:t>
            </a:r>
            <a:r>
              <a:rPr lang="en-US" b="1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7884492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"/>
          <p:cNvSpPr txBox="1">
            <a:spLocks noGrp="1"/>
          </p:cNvSpPr>
          <p:nvPr>
            <p:ph type="title"/>
          </p:nvPr>
        </p:nvSpPr>
        <p:spPr>
          <a:xfrm>
            <a:off x="3438905" y="217678"/>
            <a:ext cx="7453996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Click On Data Acquisition</a:t>
            </a:r>
            <a:endParaRPr sz="4000" dirty="0"/>
          </a:p>
        </p:txBody>
      </p:sp>
      <p:pic>
        <p:nvPicPr>
          <p:cNvPr id="152" name="Google Shape;15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9406" y="1837678"/>
            <a:ext cx="10240614" cy="43390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31423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 txBox="1">
            <a:spLocks noGrp="1"/>
          </p:cNvSpPr>
          <p:nvPr>
            <p:ph type="title"/>
          </p:nvPr>
        </p:nvSpPr>
        <p:spPr>
          <a:xfrm>
            <a:off x="3330321" y="224790"/>
            <a:ext cx="7171962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Now images are collecting</a:t>
            </a:r>
            <a:endParaRPr sz="4000" dirty="0"/>
          </a:p>
        </p:txBody>
      </p:sp>
      <p:pic>
        <p:nvPicPr>
          <p:cNvPr id="158" name="Google Shape;15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64815" y="1793289"/>
            <a:ext cx="10183115" cy="425699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5C0E1C-BB30-540D-AFC7-16DAE9672E95}"/>
              </a:ext>
            </a:extLst>
          </p:cNvPr>
          <p:cNvSpPr txBox="1"/>
          <p:nvPr/>
        </p:nvSpPr>
        <p:spPr>
          <a:xfrm>
            <a:off x="397042" y="1167063"/>
            <a:ext cx="7873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 your phone change the </a:t>
            </a:r>
            <a:r>
              <a:rPr lang="en-US" b="1" dirty="0"/>
              <a:t>label</a:t>
            </a:r>
            <a:r>
              <a:rPr lang="en-US" dirty="0"/>
              <a:t> name to say </a:t>
            </a:r>
            <a:r>
              <a:rPr lang="en-US" b="1" dirty="0"/>
              <a:t>CUP</a:t>
            </a:r>
            <a:r>
              <a:rPr lang="en-US" dirty="0"/>
              <a:t>, and then take 10 images of cup.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7344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 txBox="1">
            <a:spLocks noGrp="1"/>
          </p:cNvSpPr>
          <p:nvPr>
            <p:ph type="title"/>
          </p:nvPr>
        </p:nvSpPr>
        <p:spPr>
          <a:xfrm>
            <a:off x="762406" y="196723"/>
            <a:ext cx="10664825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CHANGE THE LABEL IN MOBILE AND CLICK IMAGES</a:t>
            </a:r>
            <a:endParaRPr sz="4000"/>
          </a:p>
        </p:txBody>
      </p:sp>
      <p:pic>
        <p:nvPicPr>
          <p:cNvPr id="164" name="Google Shape;16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4737" y="1985210"/>
            <a:ext cx="10055030" cy="420527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21F0AA1-AD0B-DBEA-8B91-454A3B1350FB}"/>
              </a:ext>
            </a:extLst>
          </p:cNvPr>
          <p:cNvSpPr txBox="1"/>
          <p:nvPr/>
        </p:nvSpPr>
        <p:spPr>
          <a:xfrm>
            <a:off x="348912" y="1227219"/>
            <a:ext cx="11872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 we take pictures of different object, say SPOON. First change the label on phone to SPOON, then take 10 pics of SPOON.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3193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>
            <a:spLocks noGrp="1"/>
          </p:cNvSpPr>
          <p:nvPr>
            <p:ph type="title"/>
          </p:nvPr>
        </p:nvSpPr>
        <p:spPr>
          <a:xfrm>
            <a:off x="2853307" y="217678"/>
            <a:ext cx="7666731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WE NEED DATA WITH 2 LABELS</a:t>
            </a:r>
            <a:endParaRPr sz="4000" dirty="0"/>
          </a:p>
        </p:txBody>
      </p:sp>
      <p:pic>
        <p:nvPicPr>
          <p:cNvPr id="170" name="Google Shape;17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7516" y="2057400"/>
            <a:ext cx="11300539" cy="443757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A94F44-4BE4-8703-D4DC-E48366D60C73}"/>
              </a:ext>
            </a:extLst>
          </p:cNvPr>
          <p:cNvSpPr txBox="1"/>
          <p:nvPr/>
        </p:nvSpPr>
        <p:spPr>
          <a:xfrm>
            <a:off x="252664" y="1058779"/>
            <a:ext cx="11625392" cy="645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Make sure that you have 90% data as training, and 10% as test data. You can change train data to test data by clicking on 3 little dots on LHS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1720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title"/>
          </p:nvPr>
        </p:nvSpPr>
        <p:spPr>
          <a:xfrm>
            <a:off x="3375786" y="252425"/>
            <a:ext cx="6655981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CLICK ON CREATE IMPULSE</a:t>
            </a:r>
            <a:endParaRPr sz="4000" dirty="0"/>
          </a:p>
        </p:txBody>
      </p:sp>
      <p:pic>
        <p:nvPicPr>
          <p:cNvPr id="176" name="Google Shape;17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9406" y="1544715"/>
            <a:ext cx="10368630" cy="45482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5224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>
            <a:spLocks noGrp="1"/>
          </p:cNvSpPr>
          <p:nvPr>
            <p:ph type="title"/>
          </p:nvPr>
        </p:nvSpPr>
        <p:spPr>
          <a:xfrm>
            <a:off x="2408935" y="76657"/>
            <a:ext cx="8776929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NOW ADD DATA PROCESSING BLOCK</a:t>
            </a:r>
            <a:endParaRPr sz="4000" dirty="0"/>
          </a:p>
        </p:txBody>
      </p:sp>
      <p:pic>
        <p:nvPicPr>
          <p:cNvPr id="182" name="Google Shape;18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0528" y="1402672"/>
            <a:ext cx="10279972" cy="48731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9250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>
            <a:spLocks noGrp="1"/>
          </p:cNvSpPr>
          <p:nvPr>
            <p:ph type="title"/>
          </p:nvPr>
        </p:nvSpPr>
        <p:spPr>
          <a:xfrm>
            <a:off x="3208782" y="168097"/>
            <a:ext cx="680523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SELECT PROCESSING BLOCK</a:t>
            </a:r>
            <a:endParaRPr sz="4000" dirty="0"/>
          </a:p>
        </p:txBody>
      </p:sp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8282" y="1677880"/>
            <a:ext cx="10346037" cy="44013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97944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 txBox="1">
            <a:spLocks noGrp="1"/>
          </p:cNvSpPr>
          <p:nvPr>
            <p:ph type="title"/>
          </p:nvPr>
        </p:nvSpPr>
        <p:spPr>
          <a:xfrm>
            <a:off x="3949446" y="204673"/>
            <a:ext cx="4293235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ADD LEARNING BLOCK</a:t>
            </a:r>
            <a:endParaRPr sz="3600"/>
          </a:p>
        </p:txBody>
      </p:sp>
      <p:pic>
        <p:nvPicPr>
          <p:cNvPr id="194" name="Google Shape;19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495" y="914400"/>
            <a:ext cx="11404092" cy="51358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38388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8848" y="886967"/>
            <a:ext cx="11198352" cy="5247132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>
            <a:spLocks noGrp="1"/>
          </p:cNvSpPr>
          <p:nvPr>
            <p:ph type="title"/>
          </p:nvPr>
        </p:nvSpPr>
        <p:spPr>
          <a:xfrm>
            <a:off x="3458717" y="168097"/>
            <a:ext cx="5276850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SELECT LEARNING BLOCK</a:t>
            </a:r>
            <a:endParaRPr sz="4000"/>
          </a:p>
        </p:txBody>
      </p:sp>
    </p:spTree>
    <p:extLst>
      <p:ext uri="{BB962C8B-B14F-4D97-AF65-F5344CB8AC3E}">
        <p14:creationId xmlns:p14="http://schemas.microsoft.com/office/powerpoint/2010/main" val="20487104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 txBox="1">
            <a:spLocks noGrp="1"/>
          </p:cNvSpPr>
          <p:nvPr>
            <p:ph type="title"/>
          </p:nvPr>
        </p:nvSpPr>
        <p:spPr>
          <a:xfrm>
            <a:off x="4683377" y="91186"/>
            <a:ext cx="4229803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SAVE IMPULSE</a:t>
            </a:r>
            <a:endParaRPr sz="4000" dirty="0"/>
          </a:p>
        </p:txBody>
      </p:sp>
      <p:pic>
        <p:nvPicPr>
          <p:cNvPr id="206" name="Google Shape;20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9506" y="1544714"/>
            <a:ext cx="10561305" cy="45192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46043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 txBox="1">
            <a:spLocks noGrp="1"/>
          </p:cNvSpPr>
          <p:nvPr>
            <p:ph type="title"/>
          </p:nvPr>
        </p:nvSpPr>
        <p:spPr>
          <a:xfrm>
            <a:off x="170484" y="99136"/>
            <a:ext cx="11778860" cy="566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Click On Processing block And Then Click On Save parameters</a:t>
            </a:r>
            <a:endParaRPr sz="3600" dirty="0"/>
          </a:p>
        </p:txBody>
      </p:sp>
      <p:pic>
        <p:nvPicPr>
          <p:cNvPr id="212" name="Google Shape;21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9607" y="1411550"/>
            <a:ext cx="10670159" cy="47652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80256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4"/>
          <p:cNvSpPr txBox="1">
            <a:spLocks noGrp="1"/>
          </p:cNvSpPr>
          <p:nvPr>
            <p:ph type="title"/>
          </p:nvPr>
        </p:nvSpPr>
        <p:spPr>
          <a:xfrm>
            <a:off x="2219325" y="126237"/>
            <a:ext cx="8442757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NOW CLICK ON GENERATE FEATURES</a:t>
            </a:r>
            <a:endParaRPr sz="4000" dirty="0"/>
          </a:p>
        </p:txBody>
      </p:sp>
      <p:pic>
        <p:nvPicPr>
          <p:cNvPr id="218" name="Google Shape;21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3177" y="1322772"/>
            <a:ext cx="10714846" cy="46423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74639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053840" cy="697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Graph of Features</a:t>
            </a:r>
            <a:endParaRPr/>
          </a:p>
        </p:txBody>
      </p:sp>
      <p:pic>
        <p:nvPicPr>
          <p:cNvPr id="224" name="Google Shape;22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5044" y="2148839"/>
            <a:ext cx="9201912" cy="43510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27703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>
            <a:spLocks noGrp="1"/>
          </p:cNvSpPr>
          <p:nvPr>
            <p:ph type="title"/>
          </p:nvPr>
        </p:nvSpPr>
        <p:spPr>
          <a:xfrm>
            <a:off x="2807589" y="133349"/>
            <a:ext cx="6579234" cy="6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CLICK ON TRANSFER LERANING</a:t>
            </a:r>
            <a:endParaRPr sz="4000"/>
          </a:p>
        </p:txBody>
      </p:sp>
      <p:pic>
        <p:nvPicPr>
          <p:cNvPr id="230" name="Google Shape;230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6140" y="1322773"/>
            <a:ext cx="10394464" cy="47412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37976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"/>
          <p:cNvSpPr txBox="1">
            <a:spLocks noGrp="1"/>
          </p:cNvSpPr>
          <p:nvPr>
            <p:ph type="title"/>
          </p:nvPr>
        </p:nvSpPr>
        <p:spPr>
          <a:xfrm>
            <a:off x="1889820" y="115900"/>
            <a:ext cx="8835770" cy="69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CLICK ON SAVE &amp; START TRAINING</a:t>
            </a:r>
            <a:endParaRPr dirty="0"/>
          </a:p>
        </p:txBody>
      </p:sp>
      <p:pic>
        <p:nvPicPr>
          <p:cNvPr id="236" name="Google Shape;236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3894" y="1473693"/>
            <a:ext cx="10530633" cy="47030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3303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7362" y="1322772"/>
            <a:ext cx="10693553" cy="50780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935373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"/>
          <p:cNvSpPr txBox="1">
            <a:spLocks noGrp="1"/>
          </p:cNvSpPr>
          <p:nvPr>
            <p:ph type="title"/>
          </p:nvPr>
        </p:nvSpPr>
        <p:spPr>
          <a:xfrm>
            <a:off x="4179569" y="244856"/>
            <a:ext cx="3832860" cy="696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TESTING MODEL</a:t>
            </a:r>
            <a:endParaRPr/>
          </a:p>
        </p:txBody>
      </p:sp>
      <p:pic>
        <p:nvPicPr>
          <p:cNvPr id="247" name="Google Shape;24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1851" y="1402672"/>
            <a:ext cx="9605875" cy="50103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87261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 txBox="1">
            <a:spLocks noGrp="1"/>
          </p:cNvSpPr>
          <p:nvPr>
            <p:ph type="title"/>
          </p:nvPr>
        </p:nvSpPr>
        <p:spPr>
          <a:xfrm>
            <a:off x="1344548" y="255777"/>
            <a:ext cx="9698353" cy="513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CLICK ON SWITCH TO CLASSFICATION MODE ON MOBILE</a:t>
            </a:r>
            <a:endParaRPr sz="3200" dirty="0"/>
          </a:p>
        </p:txBody>
      </p:sp>
      <p:pic>
        <p:nvPicPr>
          <p:cNvPr id="253" name="Google Shape;25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97475" y="1535837"/>
            <a:ext cx="9045427" cy="43864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42856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2520" y="822957"/>
            <a:ext cx="3140710" cy="6035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56247" y="906778"/>
            <a:ext cx="2967228" cy="595121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1"/>
          <p:cNvSpPr txBox="1"/>
          <p:nvPr/>
        </p:nvSpPr>
        <p:spPr>
          <a:xfrm>
            <a:off x="6793992" y="1801367"/>
            <a:ext cx="5398135" cy="3924300"/>
          </a:xfrm>
          <a:prstGeom prst="rect">
            <a:avLst/>
          </a:prstGeom>
          <a:noFill/>
          <a:ln w="12175" cap="flat" cmpd="sng">
            <a:solidFill>
              <a:srgbClr val="6FAC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None/>
            </a:pPr>
            <a:endParaRPr sz="22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764915" marR="41783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Classification  Results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13297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"/>
          <p:cNvSpPr txBox="1"/>
          <p:nvPr/>
        </p:nvSpPr>
        <p:spPr>
          <a:xfrm>
            <a:off x="1136622" y="2215844"/>
            <a:ext cx="9337415" cy="2178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arlow"/>
              <a:buNone/>
            </a:pPr>
            <a:r>
              <a:rPr lang="en-US" sz="4267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For Further Information: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arlow"/>
              <a:buNone/>
            </a:pPr>
            <a:r>
              <a:rPr lang="en-US" sz="4267" b="1" i="0" u="none" strike="noStrike" cap="none">
                <a:solidFill>
                  <a:srgbClr val="0070C0"/>
                </a:solidFill>
                <a:latin typeface="Barlow"/>
                <a:ea typeface="Barlow"/>
                <a:cs typeface="Barlow"/>
                <a:sym typeface="Barlow"/>
              </a:rPr>
              <a:t>https://tih.iitr.ac.in/ 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arlow"/>
              <a:buNone/>
            </a:pPr>
            <a:r>
              <a:rPr lang="en-US" sz="4267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3200" b="1" i="0" u="none" strike="noStrike" cap="none">
                <a:solidFill>
                  <a:srgbClr val="0070C0"/>
                </a:solidFill>
                <a:latin typeface="Barlow"/>
                <a:ea typeface="Barlow"/>
                <a:cs typeface="Barlow"/>
                <a:sym typeface="Barlow"/>
              </a:rPr>
              <a:t>www.uniconvergetech.in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arlow"/>
              <a:buNone/>
            </a:pPr>
            <a:r>
              <a:rPr lang="en-US" sz="3200" b="1" i="0" u="none" strike="noStrike" cap="none">
                <a:solidFill>
                  <a:srgbClr val="0070C0"/>
                </a:solidFill>
                <a:latin typeface="Barlow"/>
                <a:ea typeface="Barlow"/>
                <a:cs typeface="Barlow"/>
                <a:sym typeface="Barlow"/>
              </a:rPr>
              <a:t>www.theiotacademy.co</a:t>
            </a:r>
            <a:endParaRPr/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arlow"/>
              <a:buNone/>
            </a:pPr>
            <a:r>
              <a:rPr lang="en-US" sz="4267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/>
          </a:p>
        </p:txBody>
      </p:sp>
      <p:sp>
        <p:nvSpPr>
          <p:cNvPr id="266" name="Google Shape;266;p32"/>
          <p:cNvSpPr/>
          <p:nvPr/>
        </p:nvSpPr>
        <p:spPr>
          <a:xfrm>
            <a:off x="3074661" y="407025"/>
            <a:ext cx="604268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/>
          </a:p>
        </p:txBody>
      </p:sp>
      <p:sp>
        <p:nvSpPr>
          <p:cNvPr id="267" name="Google Shape;267;p32"/>
          <p:cNvSpPr/>
          <p:nvPr/>
        </p:nvSpPr>
        <p:spPr>
          <a:xfrm>
            <a:off x="3074661" y="407025"/>
            <a:ext cx="6042680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50" rIns="121900" bIns="609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1" i="0" u="none" strike="noStrike" cap="none">
                <a:solidFill>
                  <a:srgbClr val="F27400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/>
          </a:p>
        </p:txBody>
      </p:sp>
      <p:pic>
        <p:nvPicPr>
          <p:cNvPr id="268" name="Google Shape;268;p3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50038" y="5073971"/>
            <a:ext cx="849245" cy="850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2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15899" y="5065327"/>
            <a:ext cx="849245" cy="850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2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29100" y="5073971"/>
            <a:ext cx="849245" cy="850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2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079636" y="5082615"/>
            <a:ext cx="849245" cy="842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2">
            <a:hlinkClick r:id="rId11"/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549436" y="5087023"/>
            <a:ext cx="838952" cy="841927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2"/>
          <p:cNvSpPr txBox="1"/>
          <p:nvPr/>
        </p:nvSpPr>
        <p:spPr>
          <a:xfrm>
            <a:off x="1046665" y="4050201"/>
            <a:ext cx="9767535" cy="688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Barlow"/>
              <a:buNone/>
            </a:pPr>
            <a:r>
              <a:rPr lang="en-US" sz="4267" b="1" i="0" u="none" strike="noStrike" cap="none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You can also visit us at:</a:t>
            </a:r>
            <a:endParaRPr/>
          </a:p>
        </p:txBody>
      </p:sp>
      <p:pic>
        <p:nvPicPr>
          <p:cNvPr id="274" name="Google Shape;274;p32" descr="E:\DAMS PCB DESIGN\uct logo1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8895" y="5013286"/>
            <a:ext cx="1950588" cy="1950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32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555231" y="5216955"/>
            <a:ext cx="2517936" cy="15432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8281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590</Words>
  <Application>Microsoft Office PowerPoint</Application>
  <PresentationFormat>Widescreen</PresentationFormat>
  <Paragraphs>77</Paragraphs>
  <Slides>38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Barlow</vt:lpstr>
      <vt:lpstr>Calibri</vt:lpstr>
      <vt:lpstr>Calibri Light</vt:lpstr>
      <vt:lpstr>Times New Roman</vt:lpstr>
      <vt:lpstr>Office Theme</vt:lpstr>
      <vt:lpstr>AI Edge Devices</vt:lpstr>
      <vt:lpstr>What is an edge device ?</vt:lpstr>
      <vt:lpstr>Examples of edge devices</vt:lpstr>
      <vt:lpstr>Drawbacks of Edge AI</vt:lpstr>
      <vt:lpstr>Edge Impulse (Web application): p1</vt:lpstr>
      <vt:lpstr>    </vt:lpstr>
      <vt:lpstr>MACHINE LEARNING AND  EDGE AI  Edge Impulse(Object Classification)</vt:lpstr>
      <vt:lpstr>Open edge impulse website</vt:lpstr>
      <vt:lpstr>Sign up here</vt:lpstr>
      <vt:lpstr>Fill the details: If having problems creating account, like getting 403 error, then use mobile to create an account</vt:lpstr>
      <vt:lpstr>After sign-up successfully, click to build your first Project</vt:lpstr>
      <vt:lpstr>PowerPoint Presentation</vt:lpstr>
      <vt:lpstr>Scan QR Code With Mobile</vt:lpstr>
      <vt:lpstr>Now We Acquire Data</vt:lpstr>
      <vt:lpstr>Click On Collecting Images In Your Mobile</vt:lpstr>
      <vt:lpstr>GIVE ACCESS TO THE CAMERA FOR CLICK IMAGES</vt:lpstr>
      <vt:lpstr>WRITE THE LABEL AND SELECT CATEGORY.</vt:lpstr>
      <vt:lpstr>Pop message</vt:lpstr>
      <vt:lpstr>Click On Data Acquisition</vt:lpstr>
      <vt:lpstr>Now images are collecting</vt:lpstr>
      <vt:lpstr>CHANGE THE LABEL IN MOBILE AND CLICK IMAGES</vt:lpstr>
      <vt:lpstr>WE NEED DATA WITH 2 LABELS</vt:lpstr>
      <vt:lpstr>CLICK ON CREATE IMPULSE</vt:lpstr>
      <vt:lpstr>NOW ADD DATA PROCESSING BLOCK</vt:lpstr>
      <vt:lpstr>SELECT PROCESSING BLOCK</vt:lpstr>
      <vt:lpstr>ADD LEARNING BLOCK</vt:lpstr>
      <vt:lpstr>SELECT LEARNING BLOCK</vt:lpstr>
      <vt:lpstr>SAVE IMPULSE</vt:lpstr>
      <vt:lpstr>Click On Processing block And Then Click On Save parameters</vt:lpstr>
      <vt:lpstr>NOW CLICK ON GENERATE FEATURES</vt:lpstr>
      <vt:lpstr>Graph of Features</vt:lpstr>
      <vt:lpstr>CLICK ON TRANSFER LERANING</vt:lpstr>
      <vt:lpstr>CLICK ON SAVE &amp; START TRAINING</vt:lpstr>
      <vt:lpstr>PowerPoint Presentation</vt:lpstr>
      <vt:lpstr>TESTING MODEL</vt:lpstr>
      <vt:lpstr>CLICK ON SWITCH TO CLASSFICATION MODE ON MOBILE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Edge Devices</dc:title>
  <dc:creator>hi</dc:creator>
  <cp:lastModifiedBy>hi</cp:lastModifiedBy>
  <cp:revision>39</cp:revision>
  <dcterms:created xsi:type="dcterms:W3CDTF">2025-01-31T05:17:04Z</dcterms:created>
  <dcterms:modified xsi:type="dcterms:W3CDTF">2025-06-06T08:51:49Z</dcterms:modified>
</cp:coreProperties>
</file>