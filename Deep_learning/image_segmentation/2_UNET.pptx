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6" r:id="rId2"/>
    <p:sldId id="279" r:id="rId3"/>
    <p:sldId id="280" r:id="rId4"/>
    <p:sldId id="281" r:id="rId5"/>
    <p:sldId id="282" r:id="rId6"/>
    <p:sldId id="283" r:id="rId7"/>
    <p:sldId id="284" r:id="rId8"/>
    <p:sldId id="257" r:id="rId9"/>
    <p:sldId id="275" r:id="rId10"/>
    <p:sldId id="278" r:id="rId11"/>
    <p:sldId id="27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055F1-FFA4-218D-2218-87E5EB1CE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E9234E-46B4-9770-2140-AC67D56B7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631" y="0"/>
            <a:ext cx="7269191" cy="56703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23549F-374A-C757-CBAB-16E0A7C460D1}"/>
              </a:ext>
            </a:extLst>
          </p:cNvPr>
          <p:cNvSpPr txBox="1"/>
          <p:nvPr/>
        </p:nvSpPr>
        <p:spPr>
          <a:xfrm>
            <a:off x="95178" y="1145000"/>
            <a:ext cx="451256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left side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compresses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image (like zooming out to see the big picture),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right side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expands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 back (zooming in to make precise decisions).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magic is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skip connections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shortcuts that pass detail from the left side directly to the right side.</a:t>
            </a:r>
          </a:p>
        </p:txBody>
      </p:sp>
    </p:spTree>
    <p:extLst>
      <p:ext uri="{BB962C8B-B14F-4D97-AF65-F5344CB8AC3E}">
        <p14:creationId xmlns:p14="http://schemas.microsoft.com/office/powerpoint/2010/main" val="1076445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60C25-0843-E1D8-5694-696A9D297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80F707-3CB1-CB86-98F0-4EBFD3A06C46}"/>
              </a:ext>
            </a:extLst>
          </p:cNvPr>
          <p:cNvSpPr txBox="1"/>
          <p:nvPr/>
        </p:nvSpPr>
        <p:spPr>
          <a:xfrm>
            <a:off x="76890" y="230600"/>
            <a:ext cx="653422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encoder (left) — "What is this?“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encoder is like squinting at the image. At each step it applies convolutions (small filters that detect edges, textures, patterns) and then a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MaxPool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operation that halves the image size.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a 256×256 image becomes 128×128, then 64×64, and so on.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 the image shrinks, the number of filters grows — it's trading spatial detail for richer, abstract understanding.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By the bottom it knows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objects are present, but has lost track of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exactly where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each pixel belongs.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694E83-02EF-C415-6CC4-DFB0F945B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744" y="546319"/>
            <a:ext cx="2151830" cy="622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934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07028-617B-C6BF-DC71-51DFC2E9E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EE0A0F-E07F-44DE-011B-9F535C5ACE4D}"/>
              </a:ext>
            </a:extLst>
          </p:cNvPr>
          <p:cNvSpPr txBox="1"/>
          <p:nvPr/>
        </p:nvSpPr>
        <p:spPr>
          <a:xfrm>
            <a:off x="177474" y="971264"/>
            <a:ext cx="1148112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bottleneck (bottom) — the "thinking" layer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the most compressed representation of the image.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network has the most contextual understanding here, but the resolution is smallest.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E33702-2725-2F75-59EC-931C0A2B4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262" y="3566160"/>
            <a:ext cx="3197609" cy="132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218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80251-E015-AFE9-CF0B-FA824830D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C190D8-E9EC-9076-FA55-D1FD5BDF3B5A}"/>
              </a:ext>
            </a:extLst>
          </p:cNvPr>
          <p:cNvSpPr txBox="1"/>
          <p:nvPr/>
        </p:nvSpPr>
        <p:spPr>
          <a:xfrm>
            <a:off x="177474" y="971264"/>
            <a:ext cx="728403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decoder (right) — "Where exactly?“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decoder does the reverse.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upsamples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(zooms back in) step by step, recovering the original resolution.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 each step it refines its pixel-level predictions.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zooming back in is lossy — detail was lost on the way down.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9D697B-8A01-C176-8F26-CDB3B07D0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431124"/>
            <a:ext cx="2818051" cy="612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110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5BB81-4E03-73C9-A628-979D83BCB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BA969D-B1A9-E922-992E-705E0CB478EB}"/>
              </a:ext>
            </a:extLst>
          </p:cNvPr>
          <p:cNvSpPr txBox="1"/>
          <p:nvPr/>
        </p:nvSpPr>
        <p:spPr>
          <a:xfrm>
            <a:off x="177474" y="971264"/>
            <a:ext cx="792411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Skip connections (orange dashed lines) — the clever part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what makes U-Net special.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 each level, the encoder sends a copy of its feature map directly to the matching decoder level. This means the decoder gets both: the high-level context from the bottleneck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fine-grained detail from the same resolution in the encoder. Without skip connections, the decoder would have to guess where boundaries are.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 them, it already knows.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F25C4E-F976-7053-B33B-5394D5EF8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431124"/>
            <a:ext cx="2818051" cy="612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0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1C73F-314F-2B74-15D3-7B64E08DB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E5075C-AFF4-96E9-BFFF-B5EFC56764C0}"/>
              </a:ext>
            </a:extLst>
          </p:cNvPr>
          <p:cNvSpPr txBox="1"/>
          <p:nvPr/>
        </p:nvSpPr>
        <p:spPr>
          <a:xfrm>
            <a:off x="177474" y="971264"/>
            <a:ext cx="792411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output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decoding, a final 1×1 convolution maps each pixel to a class label — for example: 0 = background, 1 = cell. The result is a segmentation mask the same size as the input image.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is U-Net so popular?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works remarkably well with small datasets (sometimes just 30–50 images). This is crucial in medical imaging where labeled data is scarce and expensive.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D3D59D-31CE-F693-77B7-CB6BA0D9B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431124"/>
            <a:ext cx="2818051" cy="612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499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2E907F-4E96-D907-08C4-692F28695D35}"/>
              </a:ext>
            </a:extLst>
          </p:cNvPr>
          <p:cNvSpPr txBox="1"/>
          <p:nvPr/>
        </p:nvSpPr>
        <p:spPr>
          <a:xfrm>
            <a:off x="516636" y="117086"/>
            <a:ext cx="108767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U-NET uses dice coefficient as a measure of loss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funciton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What is Dice Coefficient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468523-20FA-C4BE-EBEA-B53280E04772}"/>
                  </a:ext>
                </a:extLst>
              </p:cNvPr>
              <p:cNvSpPr txBox="1"/>
              <p:nvPr/>
            </p:nvSpPr>
            <p:spPr>
              <a:xfrm>
                <a:off x="516636" y="863930"/>
                <a:ext cx="7831836" cy="30298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It measures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overlap between predicted mask and true mask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𝐷𝑖𝑐𝑒</m:t>
                      </m:r>
                      <m:r>
                        <a:rPr lang="en-US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</m:num>
                        <m:den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∣+∣</m:t>
                          </m:r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</m:den>
                      </m:f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ar-AE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predicted mask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ground truth </a:t>
                </a: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👉 Range: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 = perfect overlap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0 = no overlap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468523-20FA-C4BE-EBEA-B53280E04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36" y="863930"/>
                <a:ext cx="7831836" cy="3029868"/>
              </a:xfrm>
              <a:prstGeom prst="rect">
                <a:avLst/>
              </a:prstGeom>
              <a:blipFill>
                <a:blip r:embed="rId2"/>
                <a:stretch>
                  <a:fillRect l="-1245" t="-1610" r="-856" b="-3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94902A-57A1-F505-F65C-790ACF563175}"/>
                  </a:ext>
                </a:extLst>
              </p:cNvPr>
              <p:cNvSpPr txBox="1"/>
              <p:nvPr/>
            </p:nvSpPr>
            <p:spPr>
              <a:xfrm>
                <a:off x="516636" y="4353205"/>
                <a:ext cx="7484364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2. Dice Loss</a:t>
                </a: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We minimize loss, so: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Dice</m:t>
                      </m:r>
                      <m:r>
                        <m:rPr>
                          <m:nor/>
                        </m:rPr>
                        <a:rPr lang="en-US" sz="2400" b="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Loss</m:t>
                      </m:r>
                      <m:r>
                        <a:rPr lang="en-US" sz="2400" b="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400" b="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Dice</m:t>
                      </m:r>
                    </m:oMath>
                  </m:oMathPara>
                </a14:m>
                <a:endParaRPr lang="en-US" sz="2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👉 Why better than accuracy?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Handles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class imbalance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Perfect for segmentation (lots of background pixels)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94902A-57A1-F505-F65C-790ACF563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36" y="4353205"/>
                <a:ext cx="7484364" cy="2308324"/>
              </a:xfrm>
              <a:prstGeom prst="rect">
                <a:avLst/>
              </a:prstGeom>
              <a:blipFill>
                <a:blip r:embed="rId3"/>
                <a:stretch>
                  <a:fillRect l="-1303" t="-2111" b="-5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78C9A2C-1FB3-1178-7DA0-EFC7A0E15FE8}"/>
                  </a:ext>
                </a:extLst>
              </p:cNvPr>
              <p:cNvSpPr txBox="1"/>
              <p:nvPr/>
            </p:nvSpPr>
            <p:spPr>
              <a:xfrm>
                <a:off x="694944" y="1167791"/>
                <a:ext cx="7658100" cy="33692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IoU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Metric (Evaluation)</a:t>
                </a:r>
              </a:p>
              <a:p>
                <a:pPr>
                  <a:buNone/>
                </a:pPr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Used to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measure performance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𝐼𝑜𝑈</m:t>
                      </m:r>
                      <m:r>
                        <a:rPr lang="en-US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𝐼𝑛𝑡𝑒𝑟𝑠𝑒𝑐𝑡𝑖𝑜𝑛</m:t>
                          </m:r>
                        </m:num>
                        <m:den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𝑈𝑛𝑖𝑜𝑛</m:t>
                          </m:r>
                        </m:den>
                      </m:f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More strict than Dice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Common in: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Competitions (Kaggle)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Benchmarks (COCO)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78C9A2C-1FB3-1178-7DA0-EFC7A0E15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44" y="1167791"/>
                <a:ext cx="7658100" cy="3369256"/>
              </a:xfrm>
              <a:prstGeom prst="rect">
                <a:avLst/>
              </a:prstGeom>
              <a:blipFill>
                <a:blip r:embed="rId2"/>
                <a:stretch>
                  <a:fillRect l="-1194" t="-1449" b="-3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F2378-D382-BDD6-66EB-0A0DBB977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962B2D-8F7F-0148-91EB-1A1E849A4EDB}"/>
              </a:ext>
            </a:extLst>
          </p:cNvPr>
          <p:cNvSpPr txBox="1"/>
          <p:nvPr/>
        </p:nvSpPr>
        <p:spPr>
          <a:xfrm>
            <a:off x="192024" y="1240943"/>
            <a:ext cx="116220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Dice Loss is used for training because it’s differentiable and handles imbalance well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IoU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used for evaluation because it is stricter and better reflects segmentation quality.</a:t>
            </a:r>
          </a:p>
        </p:txBody>
      </p:sp>
    </p:spTree>
    <p:extLst>
      <p:ext uri="{BB962C8B-B14F-4D97-AF65-F5344CB8AC3E}">
        <p14:creationId xmlns:p14="http://schemas.microsoft.com/office/powerpoint/2010/main" val="1696119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55830-1DEF-DAE7-4B02-16AE2EB7F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514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1154</TotalTime>
  <Words>547</Words>
  <Application>Microsoft Office PowerPoint</Application>
  <PresentationFormat>Widescreen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178</cp:revision>
  <dcterms:created xsi:type="dcterms:W3CDTF">2025-09-22T02:44:38Z</dcterms:created>
  <dcterms:modified xsi:type="dcterms:W3CDTF">2026-04-27T18:43:26Z</dcterms:modified>
</cp:coreProperties>
</file>