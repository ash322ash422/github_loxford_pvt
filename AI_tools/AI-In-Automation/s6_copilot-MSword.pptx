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handoutMasterIdLst>
    <p:handoutMasterId r:id="rId11"/>
  </p:handoutMasterIdLst>
  <p:sldIdLst>
    <p:sldId id="257" r:id="rId2"/>
    <p:sldId id="276" r:id="rId3"/>
    <p:sldId id="278" r:id="rId4"/>
    <p:sldId id="279" r:id="rId5"/>
    <p:sldId id="281" r:id="rId6"/>
    <p:sldId id="280" r:id="rId7"/>
    <p:sldId id="277" r:id="rId8"/>
    <p:sldId id="27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4/20/2026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4/20/2026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4/20/2026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4/20/2026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4/20/2026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4/20/2026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4/20/2026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4/20/2026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4/20/2026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4/20/2026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4/20/2026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4/20/2026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4/20/2026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4/20/2026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support.microsoft.com/en-gb/office/create-a-summary-of-your-document-with-copilot-in-word-79bb7a0a-3bf7-41fe-8c09-56f855b669bf" TargetMode="External"/><Relationship Id="rId2" Type="http://schemas.openxmlformats.org/officeDocument/2006/relationships/hyperlink" Target="https://support.microsoft.com/en-au/office/draft-and-add-content-with-copilot-in-word-069c91f0-9e42-4c9a-bbce-fddf5d581541"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support.microsoft.com/en-us/office/welcome-to-copilot-in-word-2135e85f-a467-463b-b2f0-c51a46d625d1"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support.microsoft.com/en-gb/office/edit-with-copilot-in-word-647d5d14-eaec-4e8a-a574-7cefffa7f8f0"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0642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EBDA7-B44E-B824-B04A-1C6D1FB40ED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BF3EA70-8198-B008-3EA9-91D5F56A0021}"/>
              </a:ext>
            </a:extLst>
          </p:cNvPr>
          <p:cNvSpPr txBox="1"/>
          <p:nvPr/>
        </p:nvSpPr>
        <p:spPr>
          <a:xfrm>
            <a:off x="219456" y="239921"/>
            <a:ext cx="10945368" cy="6370975"/>
          </a:xfrm>
          <a:prstGeom prst="rect">
            <a:avLst/>
          </a:prstGeom>
          <a:noFill/>
        </p:spPr>
        <p:txBody>
          <a:bodyPr wrap="square">
            <a:spAutoFit/>
          </a:bodyPr>
          <a:lstStyle/>
          <a:p>
            <a:r>
              <a:rPr lang="en-US" sz="2400" b="1" dirty="0">
                <a:solidFill>
                  <a:schemeClr val="accent6">
                    <a:lumMod val="60000"/>
                    <a:lumOff val="40000"/>
                  </a:schemeClr>
                </a:solidFill>
              </a:rPr>
              <a:t>Phase 1: Drafting Site Reports &amp; Executive Summaries </a:t>
            </a:r>
          </a:p>
          <a:p>
            <a:endParaRPr lang="en-US" sz="2400" b="1" dirty="0">
              <a:solidFill>
                <a:schemeClr val="accent6">
                  <a:lumMod val="60000"/>
                  <a:lumOff val="40000"/>
                </a:schemeClr>
              </a:solidFill>
            </a:endParaRP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Drafting from Scratch</a:t>
            </a:r>
            <a:r>
              <a:rPr lang="en-US" sz="2400" dirty="0">
                <a:solidFill>
                  <a:schemeClr val="accent6">
                    <a:lumMod val="60000"/>
                    <a:lumOff val="40000"/>
                  </a:schemeClr>
                </a:solidFill>
              </a:rPr>
              <a:t>: Use the </a:t>
            </a:r>
            <a:r>
              <a:rPr lang="en-US" sz="2400" dirty="0">
                <a:solidFill>
                  <a:schemeClr val="accent6">
                    <a:lumMod val="60000"/>
                    <a:lumOff val="40000"/>
                  </a:schemeClr>
                </a:solidFill>
                <a:hlinkClick r:id="rId2">
                  <a:extLst>
                    <a:ext uri="{A12FA001-AC4F-418D-AE19-62706E023703}">
                      <ahyp:hlinkClr xmlns:ahyp="http://schemas.microsoft.com/office/drawing/2018/hyperlinkcolor" val="tx"/>
                    </a:ext>
                  </a:extLst>
                </a:hlinkClick>
              </a:rPr>
              <a:t>Draft with Copilot</a:t>
            </a:r>
            <a:r>
              <a:rPr lang="en-US" sz="2400" dirty="0">
                <a:solidFill>
                  <a:schemeClr val="accent6">
                    <a:lumMod val="60000"/>
                    <a:lumOff val="40000"/>
                  </a:schemeClr>
                </a:solidFill>
              </a:rPr>
              <a:t> feature.</a:t>
            </a:r>
          </a:p>
          <a:p>
            <a:pPr lvl="1"/>
            <a:r>
              <a:rPr lang="en-US" sz="2400" i="1" dirty="0">
                <a:solidFill>
                  <a:schemeClr val="accent6">
                    <a:lumMod val="60000"/>
                    <a:lumOff val="40000"/>
                  </a:schemeClr>
                </a:solidFill>
              </a:rPr>
              <a:t>Prompt Example</a:t>
            </a:r>
            <a:r>
              <a:rPr lang="en-US" sz="2400" dirty="0">
                <a:solidFill>
                  <a:schemeClr val="accent6">
                    <a:lumMod val="60000"/>
                    <a:lumOff val="40000"/>
                  </a:schemeClr>
                </a:solidFill>
              </a:rPr>
              <a:t>: "Draft a 2-page site inspection report for DLF Cyber City Building 5 based on [</a:t>
            </a:r>
            <a:r>
              <a:rPr lang="en-US" sz="2400" dirty="0">
                <a:solidFill>
                  <a:schemeClr val="accent4">
                    <a:lumMod val="60000"/>
                    <a:lumOff val="40000"/>
                  </a:schemeClr>
                </a:solidFill>
              </a:rPr>
              <a:t>data_Building_Raw_Notes.docx</a:t>
            </a:r>
            <a:r>
              <a:rPr lang="en-US" sz="2400" dirty="0">
                <a:solidFill>
                  <a:schemeClr val="accent6">
                    <a:lumMod val="60000"/>
                    <a:lumOff val="40000"/>
                  </a:schemeClr>
                </a:solidFill>
              </a:rPr>
              <a:t>]. Include professional headings for structural integrity, safety compliance, and tenant feedback. Use a formal corporate tone."</a:t>
            </a:r>
          </a:p>
          <a:p>
            <a:r>
              <a:rPr lang="en-US" sz="2400" dirty="0">
                <a:solidFill>
                  <a:schemeClr val="accent6">
                    <a:lumMod val="60000"/>
                    <a:lumOff val="40000"/>
                  </a:schemeClr>
                </a:solidFill>
              </a:rPr>
              <a:t>(The file </a:t>
            </a:r>
            <a:r>
              <a:rPr lang="en-US" sz="2400" dirty="0">
                <a:solidFill>
                  <a:schemeClr val="accent4">
                    <a:lumMod val="60000"/>
                    <a:lumOff val="40000"/>
                  </a:schemeClr>
                </a:solidFill>
              </a:rPr>
              <a:t>data_Building_Raw_Notes.docx  </a:t>
            </a:r>
            <a:r>
              <a:rPr lang="en-US" sz="2400" dirty="0">
                <a:solidFill>
                  <a:schemeClr val="accent6">
                    <a:lumMod val="60000"/>
                    <a:lumOff val="40000"/>
                  </a:schemeClr>
                </a:solidFill>
              </a:rPr>
              <a:t>is available)</a:t>
            </a:r>
          </a:p>
          <a:p>
            <a:endParaRPr lang="en-US" sz="2400" b="1" dirty="0">
              <a:solidFill>
                <a:schemeClr val="accent6">
                  <a:lumMod val="60000"/>
                  <a:lumOff val="40000"/>
                </a:schemeClr>
              </a:solidFill>
            </a:endParaRP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Executive Summaries</a:t>
            </a:r>
            <a:r>
              <a:rPr lang="en-US" sz="2400" dirty="0">
                <a:solidFill>
                  <a:schemeClr val="accent6">
                    <a:lumMod val="60000"/>
                    <a:lumOff val="40000"/>
                  </a:schemeClr>
                </a:solidFill>
              </a:rPr>
              <a:t>: Use the </a:t>
            </a:r>
            <a:r>
              <a:rPr lang="en-US" sz="2400" dirty="0">
                <a:solidFill>
                  <a:schemeClr val="accent6">
                    <a:lumMod val="60000"/>
                    <a:lumOff val="40000"/>
                  </a:schemeClr>
                </a:solidFill>
                <a:hlinkClick r:id="rId3">
                  <a:extLst>
                    <a:ext uri="{A12FA001-AC4F-418D-AE19-62706E023703}">
                      <ahyp:hlinkClr xmlns:ahyp="http://schemas.microsoft.com/office/drawing/2018/hyperlinkcolor" val="tx"/>
                    </a:ext>
                  </a:extLst>
                </a:hlinkClick>
              </a:rPr>
              <a:t>Summarize this document</a:t>
            </a:r>
            <a:r>
              <a:rPr lang="en-US" sz="2400" dirty="0">
                <a:solidFill>
                  <a:schemeClr val="accent6">
                    <a:lumMod val="60000"/>
                    <a:lumOff val="40000"/>
                  </a:schemeClr>
                </a:solidFill>
              </a:rPr>
              <a:t> command.</a:t>
            </a:r>
          </a:p>
          <a:p>
            <a:pPr lvl="1"/>
            <a:r>
              <a:rPr lang="en-US" sz="2400" dirty="0">
                <a:solidFill>
                  <a:schemeClr val="accent6">
                    <a:lumMod val="60000"/>
                    <a:lumOff val="40000"/>
                  </a:schemeClr>
                </a:solidFill>
              </a:rPr>
              <a:t>Open a long, complex document and click the Copilot icon in the ribbon.</a:t>
            </a:r>
          </a:p>
          <a:p>
            <a:pPr lvl="1"/>
            <a:r>
              <a:rPr lang="en-US" sz="2400" i="1" dirty="0">
                <a:solidFill>
                  <a:schemeClr val="accent6">
                    <a:lumMod val="60000"/>
                    <a:lumOff val="40000"/>
                  </a:schemeClr>
                </a:solidFill>
              </a:rPr>
              <a:t>Prompt Example</a:t>
            </a:r>
            <a:r>
              <a:rPr lang="en-US" sz="2400" dirty="0">
                <a:solidFill>
                  <a:schemeClr val="accent6">
                    <a:lumMod val="60000"/>
                    <a:lumOff val="40000"/>
                  </a:schemeClr>
                </a:solidFill>
              </a:rPr>
              <a:t>: "Summarize this 50-page technical report into 3 bullet points for the CEO, focusing on financial risks and timeline delays.“</a:t>
            </a:r>
          </a:p>
          <a:p>
            <a:r>
              <a:rPr lang="en-US" sz="2400" dirty="0">
                <a:solidFill>
                  <a:schemeClr val="accent6">
                    <a:lumMod val="60000"/>
                    <a:lumOff val="40000"/>
                  </a:schemeClr>
                </a:solidFill>
              </a:rPr>
              <a:t>(The file is NOT available. Have to create this file)</a:t>
            </a:r>
          </a:p>
          <a:p>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74278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7DD36-B680-82E7-EFD4-4CC3F8104B0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3A54ED2-C6FC-1F6A-B7C3-6437B339FBB2}"/>
              </a:ext>
            </a:extLst>
          </p:cNvPr>
          <p:cNvSpPr txBox="1"/>
          <p:nvPr/>
        </p:nvSpPr>
        <p:spPr>
          <a:xfrm>
            <a:off x="91440" y="422801"/>
            <a:ext cx="11676888" cy="5632311"/>
          </a:xfrm>
          <a:prstGeom prst="rect">
            <a:avLst/>
          </a:prstGeom>
          <a:noFill/>
        </p:spPr>
        <p:txBody>
          <a:bodyPr wrap="square">
            <a:spAutoFit/>
          </a:bodyPr>
          <a:lstStyle/>
          <a:p>
            <a:r>
              <a:rPr lang="en-US" sz="2400" b="1" dirty="0">
                <a:solidFill>
                  <a:schemeClr val="accent6">
                    <a:lumMod val="60000"/>
                    <a:lumOff val="40000"/>
                  </a:schemeClr>
                </a:solidFill>
              </a:rPr>
              <a:t>Phase 2: Generating Policy Documents from Bullets (10 mins)</a:t>
            </a: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Demonstrate how to turn rough notes into formal corporate standards.</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Structuring Content</a:t>
            </a:r>
            <a:r>
              <a:rPr lang="en-US" sz="2400" dirty="0">
                <a:solidFill>
                  <a:schemeClr val="accent6">
                    <a:lumMod val="60000"/>
                    <a:lumOff val="40000"/>
                  </a:schemeClr>
                </a:solidFill>
              </a:rPr>
              <a:t>: Paste raw bullet points into Word and use the "Draft with Copilot" box.</a:t>
            </a:r>
          </a:p>
          <a:p>
            <a:pPr lvl="1"/>
            <a:r>
              <a:rPr lang="en-US" sz="2400" i="1" dirty="0">
                <a:solidFill>
                  <a:schemeClr val="accent6">
                    <a:lumMod val="60000"/>
                    <a:lumOff val="40000"/>
                  </a:schemeClr>
                </a:solidFill>
              </a:rPr>
              <a:t>Prompt Example</a:t>
            </a:r>
            <a:r>
              <a:rPr lang="en-US" sz="2400" dirty="0">
                <a:solidFill>
                  <a:schemeClr val="accent6">
                    <a:lumMod val="60000"/>
                    <a:lumOff val="40000"/>
                  </a:schemeClr>
                </a:solidFill>
              </a:rPr>
              <a:t>: </a:t>
            </a:r>
            <a:r>
              <a:rPr lang="en-US" sz="2400" i="1" dirty="0">
                <a:solidFill>
                  <a:schemeClr val="accent6">
                    <a:lumMod val="60000"/>
                    <a:lumOff val="40000"/>
                  </a:schemeClr>
                </a:solidFill>
              </a:rPr>
              <a:t>"Transform these bullet points into a formal 'DLF Employee Work-from-Home Policy.' Use a professional corporate tone. Organize it with clear headings and include a detailed section on data security based on the notes provided."</a:t>
            </a:r>
            <a:endParaRPr lang="en-US" sz="2400" dirty="0">
              <a:solidFill>
                <a:schemeClr val="accent6">
                  <a:lumMod val="60000"/>
                  <a:lumOff val="40000"/>
                </a:schemeClr>
              </a:solidFill>
            </a:endParaRPr>
          </a:p>
          <a:p>
            <a:r>
              <a:rPr lang="en-US" sz="2400" dirty="0">
                <a:solidFill>
                  <a:schemeClr val="accent6">
                    <a:lumMod val="60000"/>
                    <a:lumOff val="40000"/>
                  </a:schemeClr>
                </a:solidFill>
              </a:rPr>
              <a:t>(The file </a:t>
            </a:r>
            <a:r>
              <a:rPr lang="en-US" sz="2400" dirty="0">
                <a:solidFill>
                  <a:schemeClr val="accent4">
                    <a:lumMod val="60000"/>
                    <a:lumOff val="40000"/>
                  </a:schemeClr>
                </a:solidFill>
              </a:rPr>
              <a:t>data_work_from_home_policy.docx</a:t>
            </a:r>
            <a:r>
              <a:rPr lang="en-US" sz="2400" dirty="0">
                <a:solidFill>
                  <a:schemeClr val="accent6">
                    <a:lumMod val="60000"/>
                    <a:lumOff val="40000"/>
                  </a:schemeClr>
                </a:solidFill>
              </a:rPr>
              <a:t> is available)</a:t>
            </a:r>
          </a:p>
          <a:p>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Formatting Tables</a:t>
            </a:r>
            <a:r>
              <a:rPr lang="en-US" sz="2400" dirty="0">
                <a:solidFill>
                  <a:schemeClr val="accent6">
                    <a:lumMod val="60000"/>
                    <a:lumOff val="40000"/>
                  </a:schemeClr>
                </a:solidFill>
              </a:rPr>
              <a:t>: Ask Copilot to </a:t>
            </a:r>
            <a:r>
              <a:rPr lang="en-US" sz="2400" dirty="0">
                <a:solidFill>
                  <a:schemeClr val="accent6">
                    <a:lumMod val="60000"/>
                    <a:lumOff val="40000"/>
                  </a:schemeClr>
                </a:solidFill>
                <a:hlinkClick r:id="rId2">
                  <a:extLst>
                    <a:ext uri="{A12FA001-AC4F-418D-AE19-62706E023703}">
                      <ahyp:hlinkClr xmlns:ahyp="http://schemas.microsoft.com/office/drawing/2018/hyperlinkcolor" val="tx"/>
                    </a:ext>
                  </a:extLst>
                </a:hlinkClick>
              </a:rPr>
              <a:t>visualize data as a table</a:t>
            </a:r>
            <a:r>
              <a:rPr lang="en-US" sz="2400" dirty="0">
                <a:solidFill>
                  <a:schemeClr val="accent6">
                    <a:lumMod val="60000"/>
                    <a:lumOff val="40000"/>
                  </a:schemeClr>
                </a:solidFill>
              </a:rPr>
              <a:t> within the policy</a:t>
            </a:r>
          </a:p>
          <a:p>
            <a:pPr lvl="1"/>
            <a:r>
              <a:rPr lang="en-US" sz="2400" dirty="0">
                <a:solidFill>
                  <a:schemeClr val="accent6">
                    <a:lumMod val="60000"/>
                    <a:lumOff val="40000"/>
                  </a:schemeClr>
                </a:solidFill>
              </a:rPr>
              <a:t> </a:t>
            </a:r>
            <a:r>
              <a:rPr lang="en-US" sz="2400" b="1" dirty="0">
                <a:solidFill>
                  <a:schemeClr val="accent6">
                    <a:lumMod val="60000"/>
                    <a:lumOff val="40000"/>
                  </a:schemeClr>
                </a:solidFill>
              </a:rPr>
              <a:t>Prompt</a:t>
            </a:r>
            <a:r>
              <a:rPr lang="en-US" sz="2400" dirty="0">
                <a:solidFill>
                  <a:schemeClr val="accent6">
                    <a:lumMod val="60000"/>
                    <a:lumOff val="40000"/>
                  </a:schemeClr>
                </a:solidFill>
              </a:rPr>
              <a:t>: </a:t>
            </a:r>
            <a:r>
              <a:rPr lang="en-US" sz="2400" i="1" dirty="0">
                <a:solidFill>
                  <a:schemeClr val="accent6">
                    <a:lumMod val="60000"/>
                    <a:lumOff val="40000"/>
                  </a:schemeClr>
                </a:solidFill>
              </a:rPr>
              <a:t>"Create a 3-column table showing the Eligibility Criteria, Required Schedule, and Data Security Rules. Use clear headers and make it concise.</a:t>
            </a:r>
            <a:r>
              <a:rPr lang="en-US" sz="2400" dirty="0">
                <a:solidFill>
                  <a:schemeClr val="accent6">
                    <a:lumMod val="60000"/>
                    <a:lumOff val="40000"/>
                  </a:schemeClr>
                </a:solidFill>
              </a:rPr>
              <a:t>“</a:t>
            </a:r>
          </a:p>
          <a:p>
            <a:r>
              <a:rPr lang="en-US" sz="2400" dirty="0">
                <a:solidFill>
                  <a:schemeClr val="accent6">
                    <a:lumMod val="60000"/>
                    <a:lumOff val="40000"/>
                  </a:schemeClr>
                </a:solidFill>
              </a:rPr>
              <a:t>(The file </a:t>
            </a:r>
            <a:r>
              <a:rPr lang="en-US" sz="2400" dirty="0">
                <a:solidFill>
                  <a:schemeClr val="accent4">
                    <a:lumMod val="60000"/>
                    <a:lumOff val="40000"/>
                  </a:schemeClr>
                </a:solidFill>
              </a:rPr>
              <a:t>data_work_from_home_policy.docx</a:t>
            </a:r>
            <a:r>
              <a:rPr lang="en-US" sz="2400" dirty="0">
                <a:solidFill>
                  <a:schemeClr val="accent6">
                    <a:lumMod val="60000"/>
                    <a:lumOff val="40000"/>
                  </a:schemeClr>
                </a:solidFill>
              </a:rPr>
              <a:t> is available)</a:t>
            </a:r>
          </a:p>
        </p:txBody>
      </p:sp>
    </p:spTree>
    <p:extLst>
      <p:ext uri="{BB962C8B-B14F-4D97-AF65-F5344CB8AC3E}">
        <p14:creationId xmlns:p14="http://schemas.microsoft.com/office/powerpoint/2010/main" val="3495777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534A1-D2F6-2649-39FB-0605758817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59661C4-04E4-3C45-B03E-AF83EEB39AE0}"/>
              </a:ext>
            </a:extLst>
          </p:cNvPr>
          <p:cNvSpPr txBox="1"/>
          <p:nvPr/>
        </p:nvSpPr>
        <p:spPr>
          <a:xfrm>
            <a:off x="128016" y="194201"/>
            <a:ext cx="11676888" cy="5632311"/>
          </a:xfrm>
          <a:prstGeom prst="rect">
            <a:avLst/>
          </a:prstGeom>
          <a:noFill/>
        </p:spPr>
        <p:txBody>
          <a:bodyPr wrap="square">
            <a:spAutoFit/>
          </a:bodyPr>
          <a:lstStyle/>
          <a:p>
            <a:r>
              <a:rPr lang="en-US" sz="2400" b="1" dirty="0">
                <a:solidFill>
                  <a:schemeClr val="accent6">
                    <a:lumMod val="60000"/>
                    <a:lumOff val="40000"/>
                  </a:schemeClr>
                </a:solidFill>
              </a:rPr>
              <a:t>Phase 3: Editing &amp; Redlining Contracts (10 mins)</a:t>
            </a: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Show how Copilot acts as a "second pair of eyes" to catch risks or refine legal language.</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Redlining/Comparison</a:t>
            </a:r>
            <a:r>
              <a:rPr lang="en-US" sz="2400" dirty="0">
                <a:solidFill>
                  <a:schemeClr val="accent6">
                    <a:lumMod val="60000"/>
                    <a:lumOff val="40000"/>
                  </a:schemeClr>
                </a:solidFill>
              </a:rPr>
              <a:t>: Use Copilot to review differences between versions or standard templates.</a:t>
            </a:r>
          </a:p>
          <a:p>
            <a:r>
              <a:rPr lang="en-US" sz="2400" dirty="0">
                <a:solidFill>
                  <a:schemeClr val="accent6">
                    <a:lumMod val="60000"/>
                    <a:lumOff val="40000"/>
                  </a:schemeClr>
                </a:solidFill>
              </a:rPr>
              <a:t>(File is </a:t>
            </a:r>
            <a:r>
              <a:rPr lang="en-US" sz="2400" dirty="0" err="1">
                <a:solidFill>
                  <a:schemeClr val="accent6">
                    <a:lumMod val="60000"/>
                    <a:lumOff val="40000"/>
                  </a:schemeClr>
                </a:solidFill>
              </a:rPr>
              <a:t>availabel</a:t>
            </a:r>
            <a:r>
              <a:rPr lang="en-US" sz="2400" dirty="0">
                <a:solidFill>
                  <a:schemeClr val="accent6">
                    <a:lumMod val="60000"/>
                    <a:lumOff val="40000"/>
                  </a:schemeClr>
                </a:solidFill>
              </a:rPr>
              <a: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Part 1) Open the </a:t>
            </a:r>
            <a:r>
              <a:rPr lang="en-US" sz="2400" dirty="0">
                <a:solidFill>
                  <a:schemeClr val="accent4">
                    <a:lumMod val="60000"/>
                    <a:lumOff val="40000"/>
                  </a:schemeClr>
                </a:solidFill>
              </a:rPr>
              <a:t>data_risky_contract.docx</a:t>
            </a:r>
          </a:p>
          <a:p>
            <a:r>
              <a:rPr lang="en-US" sz="2400" dirty="0">
                <a:solidFill>
                  <a:schemeClr val="accent6">
                    <a:lumMod val="60000"/>
                    <a:lumOff val="40000"/>
                  </a:schemeClr>
                </a:solidFill>
              </a:rPr>
              <a:t> -&gt; Open the Copilot Chat pane </a:t>
            </a:r>
          </a:p>
          <a:p>
            <a:r>
              <a:rPr lang="en-US" sz="2400" dirty="0">
                <a:solidFill>
                  <a:schemeClr val="accent6">
                    <a:lumMod val="60000"/>
                    <a:lumOff val="40000"/>
                  </a:schemeClr>
                </a:solidFill>
              </a:rPr>
              <a:t>-&gt; The Prompt: "Review the Liability and Termination clauses in this document. Do they protect DLF's interests, or are they high-risk?“</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Copilot will flag the "unlimited liability" and the "uneven termination rights" as potential business risks.</a:t>
            </a:r>
          </a:p>
        </p:txBody>
      </p:sp>
    </p:spTree>
    <p:extLst>
      <p:ext uri="{BB962C8B-B14F-4D97-AF65-F5344CB8AC3E}">
        <p14:creationId xmlns:p14="http://schemas.microsoft.com/office/powerpoint/2010/main" val="1547059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9F955-7248-4364-1441-08A7E6EE57E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9A35689-5145-B194-6D4F-0317222B79F5}"/>
              </a:ext>
            </a:extLst>
          </p:cNvPr>
          <p:cNvSpPr txBox="1"/>
          <p:nvPr/>
        </p:nvSpPr>
        <p:spPr>
          <a:xfrm>
            <a:off x="128016" y="194201"/>
            <a:ext cx="11676888" cy="4524315"/>
          </a:xfrm>
          <a:prstGeom prst="rect">
            <a:avLst/>
          </a:prstGeom>
          <a:noFill/>
        </p:spPr>
        <p:txBody>
          <a:bodyPr wrap="square">
            <a:spAutoFit/>
          </a:bodyPr>
          <a:lstStyle/>
          <a:p>
            <a:r>
              <a:rPr lang="en-US" sz="2400" dirty="0">
                <a:solidFill>
                  <a:schemeClr val="accent6">
                    <a:lumMod val="60000"/>
                    <a:lumOff val="40000"/>
                  </a:schemeClr>
                </a:solidFill>
              </a:rPr>
              <a:t>Part 2) The Redline/Comparison</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In the same Copilot chat</a:t>
            </a:r>
          </a:p>
          <a:p>
            <a:r>
              <a:rPr lang="en-US" sz="2400" dirty="0">
                <a:solidFill>
                  <a:schemeClr val="accent6">
                    <a:lumMod val="60000"/>
                    <a:lumOff val="40000"/>
                  </a:schemeClr>
                </a:solidFill>
              </a:rPr>
              <a:t>-&gt; use the forward slash (/) to reference your standard file</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-&gt; The Prompt: "Compare Clause 4 and Clause 9 of this document to [data_Standard_Lease.docx]. Highlight the deviations and suggest redlines to bring this in line with our corporate standards."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Result:</a:t>
            </a:r>
          </a:p>
          <a:p>
            <a:r>
              <a:rPr lang="en-US" sz="2400" dirty="0">
                <a:solidFill>
                  <a:schemeClr val="accent6">
                    <a:lumMod val="60000"/>
                    <a:lumOff val="40000"/>
                  </a:schemeClr>
                </a:solidFill>
              </a:rPr>
              <a:t>Copilot will list the differences and provide a "Suggested Revision" that you can copy and paste directly into the document.</a:t>
            </a:r>
          </a:p>
        </p:txBody>
      </p:sp>
    </p:spTree>
    <p:extLst>
      <p:ext uri="{BB962C8B-B14F-4D97-AF65-F5344CB8AC3E}">
        <p14:creationId xmlns:p14="http://schemas.microsoft.com/office/powerpoint/2010/main" val="644618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56BCE-D9B2-F270-CBA4-5DC17C9B25A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0DC4E3A-AD49-236C-2C16-50976CF23D0A}"/>
              </a:ext>
            </a:extLst>
          </p:cNvPr>
          <p:cNvSpPr txBox="1"/>
          <p:nvPr/>
        </p:nvSpPr>
        <p:spPr>
          <a:xfrm>
            <a:off x="91440" y="422801"/>
            <a:ext cx="11676888" cy="6186309"/>
          </a:xfrm>
          <a:prstGeom prst="rect">
            <a:avLst/>
          </a:prstGeom>
          <a:noFill/>
        </p:spPr>
        <p:txBody>
          <a:bodyPr wrap="square">
            <a:spAutoFit/>
          </a:bodyPr>
          <a:lstStyle/>
          <a:p>
            <a:r>
              <a:rPr lang="en-US" sz="2400" b="1" dirty="0">
                <a:solidFill>
                  <a:schemeClr val="accent6">
                    <a:lumMod val="60000"/>
                    <a:lumOff val="40000"/>
                  </a:schemeClr>
                </a:solidFill>
              </a:rPr>
              <a:t>Phase 3: Editing &amp; Redlining Contracts (10 mins)</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Refining Tone</a:t>
            </a:r>
            <a:r>
              <a:rPr lang="en-US" sz="2400" dirty="0">
                <a:solidFill>
                  <a:schemeClr val="accent6">
                    <a:lumMod val="60000"/>
                    <a:lumOff val="40000"/>
                  </a:schemeClr>
                </a:solidFill>
              </a:rPr>
              <a:t>: Use </a:t>
            </a:r>
            <a:r>
              <a:rPr lang="en-US" sz="2400" dirty="0">
                <a:solidFill>
                  <a:schemeClr val="accent6">
                    <a:lumMod val="60000"/>
                    <a:lumOff val="40000"/>
                  </a:schemeClr>
                </a:solidFill>
                <a:hlinkClick r:id="rId2">
                  <a:extLst>
                    <a:ext uri="{A12FA001-AC4F-418D-AE19-62706E023703}">
                      <ahyp:hlinkClr xmlns:ahyp="http://schemas.microsoft.com/office/drawing/2018/hyperlinkcolor" val="tx"/>
                    </a:ext>
                  </a:extLst>
                </a:hlinkClick>
              </a:rPr>
              <a:t>Rewrite with Copilot</a:t>
            </a:r>
            <a:r>
              <a:rPr lang="en-US" sz="2400" dirty="0">
                <a:solidFill>
                  <a:schemeClr val="accent6">
                    <a:lumMod val="60000"/>
                    <a:lumOff val="40000"/>
                  </a:schemeClr>
                </a:solidFill>
              </a:rPr>
              <a:t> to change the "feel" of a clause.</a:t>
            </a:r>
          </a:p>
          <a:p>
            <a:pPr lvl="1"/>
            <a:r>
              <a:rPr lang="en-US" sz="2400" dirty="0">
                <a:solidFill>
                  <a:schemeClr val="accent6">
                    <a:lumMod val="60000"/>
                    <a:lumOff val="40000"/>
                  </a:schemeClr>
                </a:solidFill>
              </a:rPr>
              <a:t>Highlight a paragraph and ask Copilot to </a:t>
            </a:r>
          </a:p>
          <a:p>
            <a:pPr marL="800100" lvl="1" indent="-342900">
              <a:buFont typeface="Arial" panose="020B0604020202020204" pitchFamily="34" charset="0"/>
              <a:buChar char="•"/>
            </a:pPr>
            <a:r>
              <a:rPr lang="en-US" sz="2400" dirty="0">
                <a:solidFill>
                  <a:schemeClr val="accent6">
                    <a:lumMod val="60000"/>
                    <a:lumOff val="40000"/>
                  </a:schemeClr>
                </a:solidFill>
              </a:rPr>
              <a:t>"Make this sound more firm" or </a:t>
            </a:r>
          </a:p>
          <a:p>
            <a:pPr marL="800100" lvl="1" indent="-342900">
              <a:buFont typeface="Arial" panose="020B0604020202020204" pitchFamily="34" charset="0"/>
              <a:buChar char="•"/>
            </a:pPr>
            <a:r>
              <a:rPr lang="en-US" sz="2400" dirty="0">
                <a:solidFill>
                  <a:schemeClr val="accent6">
                    <a:lumMod val="60000"/>
                    <a:lumOff val="40000"/>
                  </a:schemeClr>
                </a:solidFill>
              </a:rPr>
              <a:t>"Make this more professional for an international partner.“</a:t>
            </a:r>
          </a:p>
          <a:p>
            <a:pPr marL="800100" lvl="1" indent="-342900">
              <a:buFont typeface="Arial" panose="020B0604020202020204" pitchFamily="34" charset="0"/>
              <a:buChar char="•"/>
            </a:pPr>
            <a:endParaRPr lang="en-US" sz="2400" dirty="0">
              <a:solidFill>
                <a:schemeClr val="accent6">
                  <a:lumMod val="60000"/>
                  <a:lumOff val="40000"/>
                </a:schemeClr>
              </a:solidFill>
            </a:endParaRPr>
          </a:p>
          <a:p>
            <a:r>
              <a:rPr lang="en-US" sz="2400" dirty="0">
                <a:solidFill>
                  <a:schemeClr val="accent6">
                    <a:lumMod val="60000"/>
                    <a:lumOff val="40000"/>
                  </a:schemeClr>
                </a:solidFill>
              </a:rPr>
              <a:t>Step1) Copy and paste following informal into any MS Word:</a:t>
            </a:r>
          </a:p>
          <a:p>
            <a:r>
              <a:rPr lang="en-US" sz="2400" dirty="0">
                <a:solidFill>
                  <a:schemeClr val="accent6">
                    <a:lumMod val="60000"/>
                    <a:lumOff val="40000"/>
                  </a:schemeClr>
                </a:solidFill>
              </a:rPr>
              <a:t>Demo Paragraph (Original – Unpolished)</a:t>
            </a:r>
          </a:p>
          <a:p>
            <a:endParaRPr lang="en-US" sz="2000" dirty="0">
              <a:solidFill>
                <a:schemeClr val="accent6">
                  <a:lumMod val="60000"/>
                  <a:lumOff val="40000"/>
                </a:schemeClr>
              </a:solidFill>
            </a:endParaRPr>
          </a:p>
          <a:p>
            <a:r>
              <a:rPr lang="en-US" sz="2000" dirty="0">
                <a:solidFill>
                  <a:schemeClr val="accent6">
                    <a:lumMod val="60000"/>
                    <a:lumOff val="40000"/>
                  </a:schemeClr>
                </a:solidFill>
              </a:rPr>
              <a:t>so regarding the project in sector 62. we kind of looked into it and there are many things which are not going properly and honestly its getting a bit concerning because timelines are already late and vendors are also not really doing what they were supposed to do and there is a lot of confusion also happening between teams like site people and office people are not always aligned and updates are sometimes missing or not clear. so it becomes difficult to understand what exactly is going on and who is responsible for what and even though work is happening it feels like its not happening in a proper structured way.  if this continues then maybe we will face more delays which is not good for overall delivery so team should probably try to fix things fast and improve coordination and communication asap</a:t>
            </a:r>
          </a:p>
        </p:txBody>
      </p:sp>
    </p:spTree>
    <p:extLst>
      <p:ext uri="{BB962C8B-B14F-4D97-AF65-F5344CB8AC3E}">
        <p14:creationId xmlns:p14="http://schemas.microsoft.com/office/powerpoint/2010/main" val="1977350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451FD-8B43-8880-0E32-0CCEBE5EB1E8}"/>
            </a:ext>
          </a:extLst>
        </p:cNvPr>
        <p:cNvGrpSpPr/>
        <p:nvPr/>
      </p:nvGrpSpPr>
      <p:grpSpPr>
        <a:xfrm>
          <a:off x="0" y="0"/>
          <a:ext cx="0" cy="0"/>
          <a:chOff x="0" y="0"/>
          <a:chExt cx="0" cy="0"/>
        </a:xfrm>
      </p:grpSpPr>
    </p:spTree>
    <p:extLst>
      <p:ext uri="{BB962C8B-B14F-4D97-AF65-F5344CB8AC3E}">
        <p14:creationId xmlns:p14="http://schemas.microsoft.com/office/powerpoint/2010/main" val="2635480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E1B75-886E-0812-B2FD-DD250C225521}"/>
              </a:ext>
            </a:extLst>
          </p:cNvPr>
          <p:cNvSpPr>
            <a:spLocks noGrp="1"/>
          </p:cNvSpPr>
          <p:nvPr>
            <p:ph type="title"/>
          </p:nvPr>
        </p:nvSpPr>
        <p:spPr>
          <a:xfrm>
            <a:off x="274320" y="136525"/>
            <a:ext cx="11466576" cy="832739"/>
          </a:xfrm>
        </p:spPr>
        <p:txBody>
          <a:bodyPr>
            <a:normAutofit/>
          </a:bodyPr>
          <a:lstStyle/>
          <a:p>
            <a:r>
              <a:rPr lang="en-US" sz="3600" dirty="0"/>
              <a:t>EXTRA</a:t>
            </a:r>
          </a:p>
        </p:txBody>
      </p:sp>
      <p:sp>
        <p:nvSpPr>
          <p:cNvPr id="4" name="TextBox 3">
            <a:extLst>
              <a:ext uri="{FF2B5EF4-FFF2-40B4-BE49-F238E27FC236}">
                <a16:creationId xmlns:a16="http://schemas.microsoft.com/office/drawing/2014/main" id="{902F8BE4-9CEA-0DAD-0357-E0A8215F169D}"/>
              </a:ext>
            </a:extLst>
          </p:cNvPr>
          <p:cNvSpPr txBox="1"/>
          <p:nvPr/>
        </p:nvSpPr>
        <p:spPr>
          <a:xfrm>
            <a:off x="274320" y="933117"/>
            <a:ext cx="11658600" cy="1477328"/>
          </a:xfrm>
          <a:prstGeom prst="rect">
            <a:avLst/>
          </a:prstGeom>
          <a:noFill/>
        </p:spPr>
        <p:txBody>
          <a:bodyPr wrap="square">
            <a:spAutoFit/>
          </a:bodyPr>
          <a:lstStyle/>
          <a:p>
            <a:pPr marL="0" indent="0">
              <a:buNone/>
            </a:pPr>
            <a:r>
              <a:rPr lang="en-US" dirty="0" err="1">
                <a:solidFill>
                  <a:schemeClr val="accent6">
                    <a:lumMod val="60000"/>
                    <a:lumOff val="40000"/>
                  </a:schemeClr>
                </a:solidFill>
              </a:rPr>
              <a:t>Ffnbksdfd</a:t>
            </a: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Fdslj;f</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Fl;ds</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p:txBody>
      </p:sp>
    </p:spTree>
    <p:extLst>
      <p:ext uri="{BB962C8B-B14F-4D97-AF65-F5344CB8AC3E}">
        <p14:creationId xmlns:p14="http://schemas.microsoft.com/office/powerpoint/2010/main" val="366625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1499</TotalTime>
  <Words>737</Words>
  <Application>Microsoft Office PowerPoint</Application>
  <PresentationFormat>Widescreen</PresentationFormat>
  <Paragraphs>61</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EXTRA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220</cp:revision>
  <dcterms:created xsi:type="dcterms:W3CDTF">2025-09-22T02:44:38Z</dcterms:created>
  <dcterms:modified xsi:type="dcterms:W3CDTF">2026-04-20T08:42:14Z</dcterms:modified>
</cp:coreProperties>
</file>