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1T02:23:42.830"/>
    </inkml:context>
    <inkml:brush xml:id="br0">
      <inkml:brushProperty name="width" value="0.1" units="cm"/>
      <inkml:brushProperty name="height" value="0.1" units="cm"/>
      <inkml:brushProperty name="color" value="#FFC114"/>
    </inkml:brush>
  </inkml:definitions>
  <inkml:trace contextRef="#ctx0" brushRef="#br0">0 611 24575,'1'-2'0,"-1"1"0,1 0 0,0 0 0,-1 0 0,1 0 0,0 0 0,0 0 0,0 0 0,0 0 0,0 0 0,0 0 0,0 0 0,0 0 0,0 1 0,0-1 0,0 0 0,1 1 0,-1-1 0,0 1 0,0 0 0,1-1 0,-1 1 0,0 0 0,1 0 0,-1 0 0,0 0 0,1 0 0,-1 0 0,0 0 0,1 0 0,-1 0 0,0 1 0,0-1 0,1 0 0,-1 1 0,0-1 0,0 1 0,1 0 0,-1-1 0,0 1 0,0 0 0,0 0 0,0-1 0,2 3 0,3 3 0,1-1 0,-1 2 0,0-1 0,0 0 0,7 11 0,26 46 0,-26-40 0,1-1 0,1 0 0,1-1 0,26 27 0,-40-46 0,0 0 0,0 0 0,1 0 0,-1-1 0,0 1 0,1-1 0,-1 0 0,1 0 0,0 0 0,-1 0 0,1 0 0,0-1 0,0 1 0,0-1 0,-1 1 0,1-1 0,0 0 0,0 0 0,0-1 0,0 1 0,-1 0 0,1-1 0,0 0 0,0 1 0,-1-1 0,1 0 0,2-2 0,7-4 0,0 0 0,-1-1 0,0 0 0,15-15 0,-25 22 0,242-249 0,-62 58 0,-136 150 0,1 1 0,66-44 0,-46 44-341,2 2 0,2 3-1,87-31 1,-126 55-6485</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23275" y="63142"/>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690746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A53CF-6AA3-4EF6-9F05-A0E3059C583D}" type="slidenum">
              <a:rPr lang="en-IN" smtClean="0"/>
              <a:t>‹#›</a:t>
            </a:fld>
            <a:endParaRPr lang="en-IN"/>
          </a:p>
        </p:txBody>
      </p:sp>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97AE50-F8B5-0A73-4647-1F6543E7DEB3}"/>
              </a:ext>
            </a:extLst>
          </p:cNvPr>
          <p:cNvPicPr>
            <a:picLocks noChangeAspect="1"/>
          </p:cNvPicPr>
          <p:nvPr/>
        </p:nvPicPr>
        <p:blipFill>
          <a:blip r:embed="rId2"/>
          <a:stretch>
            <a:fillRect/>
          </a:stretch>
        </p:blipFill>
        <p:spPr>
          <a:xfrm>
            <a:off x="1865376" y="797472"/>
            <a:ext cx="7057252" cy="5935459"/>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E6B8059F-15D1-55CF-8D56-29928CF7314C}"/>
                  </a:ext>
                </a:extLst>
              </p14:cNvPr>
              <p14:cNvContentPartPr/>
              <p14:nvPr/>
            </p14:nvContentPartPr>
            <p14:xfrm>
              <a:off x="3145464" y="4562496"/>
              <a:ext cx="505440" cy="312120"/>
            </p14:xfrm>
          </p:contentPart>
        </mc:Choice>
        <mc:Fallback xmlns="">
          <p:pic>
            <p:nvPicPr>
              <p:cNvPr id="4" name="Ink 3">
                <a:extLst>
                  <a:ext uri="{FF2B5EF4-FFF2-40B4-BE49-F238E27FC236}">
                    <a16:creationId xmlns:a16="http://schemas.microsoft.com/office/drawing/2014/main" id="{E6B8059F-15D1-55CF-8D56-29928CF7314C}"/>
                  </a:ext>
                </a:extLst>
              </p:cNvPr>
              <p:cNvPicPr/>
              <p:nvPr/>
            </p:nvPicPr>
            <p:blipFill>
              <a:blip r:embed="rId4"/>
              <a:stretch>
                <a:fillRect/>
              </a:stretch>
            </p:blipFill>
            <p:spPr>
              <a:xfrm>
                <a:off x="3127464" y="4544496"/>
                <a:ext cx="541080" cy="347760"/>
              </a:xfrm>
              <a:prstGeom prst="rect">
                <a:avLst/>
              </a:prstGeom>
            </p:spPr>
          </p:pic>
        </mc:Fallback>
      </mc:AlternateContent>
      <p:sp>
        <p:nvSpPr>
          <p:cNvPr id="5" name="TextBox 4">
            <a:extLst>
              <a:ext uri="{FF2B5EF4-FFF2-40B4-BE49-F238E27FC236}">
                <a16:creationId xmlns:a16="http://schemas.microsoft.com/office/drawing/2014/main" id="{7D1E8E47-C732-4A88-DE5C-3D69B84A6BAF}"/>
              </a:ext>
            </a:extLst>
          </p:cNvPr>
          <p:cNvSpPr txBox="1"/>
          <p:nvPr/>
        </p:nvSpPr>
        <p:spPr>
          <a:xfrm>
            <a:off x="4178808" y="125069"/>
            <a:ext cx="2746073" cy="523220"/>
          </a:xfrm>
          <a:prstGeom prst="rect">
            <a:avLst/>
          </a:prstGeom>
          <a:noFill/>
        </p:spPr>
        <p:txBody>
          <a:bodyPr wrap="none" rtlCol="0">
            <a:spAutoFit/>
          </a:bodyPr>
          <a:lstStyle/>
          <a:p>
            <a:r>
              <a:rPr lang="en-US" sz="2800">
                <a:solidFill>
                  <a:schemeClr val="accent6">
                    <a:lumMod val="60000"/>
                    <a:lumOff val="40000"/>
                  </a:schemeClr>
                </a:solidFill>
              </a:rPr>
              <a:t>Researcher Agent</a:t>
            </a:r>
            <a:endParaRPr lang="en-IN" sz="2800">
              <a:solidFill>
                <a:schemeClr val="accent6">
                  <a:lumMod val="60000"/>
                  <a:lumOff val="40000"/>
                </a:schemeClr>
              </a:solidFill>
            </a:endParaRPr>
          </a:p>
        </p:txBody>
      </p:sp>
    </p:spTree>
    <p:extLst>
      <p:ext uri="{BB962C8B-B14F-4D97-AF65-F5344CB8AC3E}">
        <p14:creationId xmlns:p14="http://schemas.microsoft.com/office/powerpoint/2010/main" val="36868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6CD0397-9E80-A4EB-8E5B-9BCC094D94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25243E-CBB8-F635-2A21-728B185932FD}"/>
              </a:ext>
            </a:extLst>
          </p:cNvPr>
          <p:cNvSpPr txBox="1"/>
          <p:nvPr/>
        </p:nvSpPr>
        <p:spPr>
          <a:xfrm>
            <a:off x="394716" y="1002893"/>
            <a:ext cx="11402568" cy="1384995"/>
          </a:xfrm>
          <a:prstGeom prst="rect">
            <a:avLst/>
          </a:prstGeom>
          <a:noFill/>
        </p:spPr>
        <p:txBody>
          <a:bodyPr wrap="square" rtlCol="0">
            <a:spAutoFit/>
          </a:bodyPr>
          <a:lstStyle/>
          <a:p>
            <a:r>
              <a:rPr lang="en-IN" sz="2800" b="1">
                <a:solidFill>
                  <a:schemeClr val="accent6">
                    <a:lumMod val="60000"/>
                    <a:lumOff val="40000"/>
                  </a:schemeClr>
                </a:solidFill>
              </a:rPr>
              <a:t>Scenario: </a:t>
            </a:r>
          </a:p>
          <a:p>
            <a:r>
              <a:rPr lang="en-IN" sz="2800" b="1">
                <a:solidFill>
                  <a:schemeClr val="accent6">
                    <a:lumMod val="60000"/>
                    <a:lumOff val="40000"/>
                  </a:schemeClr>
                </a:solidFill>
              </a:rPr>
              <a:t>Suppose you want to launch an AI training institute with budget of 2 lakh. Your institute would train corporate employees</a:t>
            </a:r>
          </a:p>
        </p:txBody>
      </p:sp>
    </p:spTree>
    <p:extLst>
      <p:ext uri="{BB962C8B-B14F-4D97-AF65-F5344CB8AC3E}">
        <p14:creationId xmlns:p14="http://schemas.microsoft.com/office/powerpoint/2010/main" val="607538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EFE8CF2-E4F0-EF8C-9B8C-5A232634DE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496D4D6-C6D3-1EA2-E801-ADC1DCA313D2}"/>
              </a:ext>
            </a:extLst>
          </p:cNvPr>
          <p:cNvSpPr txBox="1"/>
          <p:nvPr/>
        </p:nvSpPr>
        <p:spPr>
          <a:xfrm>
            <a:off x="248412" y="335149"/>
            <a:ext cx="11402568" cy="4708981"/>
          </a:xfrm>
          <a:prstGeom prst="rect">
            <a:avLst/>
          </a:prstGeom>
          <a:noFill/>
        </p:spPr>
        <p:txBody>
          <a:bodyPr wrap="square" rtlCol="0">
            <a:spAutoFit/>
          </a:bodyPr>
          <a:lstStyle/>
          <a:p>
            <a:r>
              <a:rPr lang="en-IN" sz="2000" b="1">
                <a:solidFill>
                  <a:schemeClr val="accent6">
                    <a:lumMod val="60000"/>
                    <a:lumOff val="40000"/>
                  </a:schemeClr>
                </a:solidFill>
              </a:rPr>
              <a:t>Role:</a:t>
            </a:r>
            <a:r>
              <a:rPr lang="en-IN" sz="2000">
                <a:solidFill>
                  <a:schemeClr val="accent6">
                    <a:lumMod val="60000"/>
                    <a:lumOff val="40000"/>
                  </a:schemeClr>
                </a:solidFill>
              </a:rPr>
              <a:t> Act as a business strategy consultant and market researcher.</a:t>
            </a:r>
          </a:p>
          <a:p>
            <a:r>
              <a:rPr lang="en-IN" sz="2000" b="1">
                <a:solidFill>
                  <a:schemeClr val="accent6">
                    <a:lumMod val="60000"/>
                    <a:lumOff val="40000"/>
                  </a:schemeClr>
                </a:solidFill>
              </a:rPr>
              <a:t>Objective:</a:t>
            </a:r>
            <a:r>
              <a:rPr lang="en-IN" sz="2000">
                <a:solidFill>
                  <a:schemeClr val="accent6">
                    <a:lumMod val="60000"/>
                    <a:lumOff val="40000"/>
                  </a:schemeClr>
                </a:solidFill>
              </a:rPr>
              <a:t> Research the feasibility of launching an AI training institute for corporate employees and management teams in India.</a:t>
            </a:r>
          </a:p>
          <a:p>
            <a:endParaRPr lang="en-IN" sz="2000" b="1">
              <a:solidFill>
                <a:schemeClr val="accent6">
                  <a:lumMod val="60000"/>
                  <a:lumOff val="40000"/>
                </a:schemeClr>
              </a:solidFill>
            </a:endParaRPr>
          </a:p>
          <a:p>
            <a:r>
              <a:rPr lang="en-IN" sz="2000" b="1">
                <a:solidFill>
                  <a:schemeClr val="accent6">
                    <a:lumMod val="60000"/>
                    <a:lumOff val="40000"/>
                  </a:schemeClr>
                </a:solidFill>
              </a:rPr>
              <a:t>Business Background:</a:t>
            </a:r>
            <a:endParaRPr lang="en-IN" sz="2000">
              <a:solidFill>
                <a:schemeClr val="accent6">
                  <a:lumMod val="60000"/>
                  <a:lumOff val="40000"/>
                </a:schemeClr>
              </a:solidFill>
            </a:endParaRPr>
          </a:p>
          <a:p>
            <a:pPr marL="342900" lvl="0" indent="-342900">
              <a:buFont typeface="Arial" panose="020B0604020202020204" pitchFamily="34" charset="0"/>
              <a:buChar char="•"/>
            </a:pPr>
            <a:r>
              <a:rPr lang="en-IN" sz="2000">
                <a:solidFill>
                  <a:schemeClr val="accent6">
                    <a:lumMod val="60000"/>
                    <a:lumOff val="40000"/>
                  </a:schemeClr>
                </a:solidFill>
              </a:rPr>
              <a:t>Initial budget: ₹2,00,000.</a:t>
            </a:r>
          </a:p>
          <a:p>
            <a:pPr marL="342900" lvl="0" indent="-342900">
              <a:buFont typeface="Arial" panose="020B0604020202020204" pitchFamily="34" charset="0"/>
              <a:buChar char="•"/>
            </a:pPr>
            <a:r>
              <a:rPr lang="en-IN" sz="2000">
                <a:solidFill>
                  <a:schemeClr val="accent6">
                    <a:lumMod val="60000"/>
                    <a:lumOff val="40000"/>
                  </a:schemeClr>
                </a:solidFill>
              </a:rPr>
              <a:t>Trainer: 5+ years of teaching experience and 10+ years of software development experience using AI/ML.</a:t>
            </a:r>
          </a:p>
          <a:p>
            <a:pPr marL="342900" lvl="0" indent="-342900">
              <a:buFont typeface="Arial" panose="020B0604020202020204" pitchFamily="34" charset="0"/>
              <a:buChar char="•"/>
            </a:pPr>
            <a:r>
              <a:rPr lang="en-IN" sz="2000">
                <a:solidFill>
                  <a:schemeClr val="accent6">
                    <a:lumMod val="60000"/>
                    <a:lumOff val="40000"/>
                  </a:schemeClr>
                </a:solidFill>
              </a:rPr>
              <a:t>The trainer has an existing MSME company called XYZ.</a:t>
            </a:r>
          </a:p>
          <a:p>
            <a:pPr marL="342900" lvl="0" indent="-342900">
              <a:buFont typeface="Arial" panose="020B0604020202020204" pitchFamily="34" charset="0"/>
              <a:buChar char="•"/>
            </a:pPr>
            <a:r>
              <a:rPr lang="en-IN" sz="2000">
                <a:solidFill>
                  <a:schemeClr val="accent6">
                    <a:lumMod val="60000"/>
                    <a:lumOff val="40000"/>
                  </a:schemeClr>
                </a:solidFill>
              </a:rPr>
              <a:t>Delivery: Online and onsite corporate training.</a:t>
            </a:r>
          </a:p>
          <a:p>
            <a:pPr marL="342900" lvl="0" indent="-342900">
              <a:buFont typeface="Arial" panose="020B0604020202020204" pitchFamily="34" charset="0"/>
              <a:buChar char="•"/>
            </a:pPr>
            <a:r>
              <a:rPr lang="en-IN" sz="2000">
                <a:solidFill>
                  <a:schemeClr val="accent6">
                    <a:lumMod val="60000"/>
                    <a:lumOff val="40000"/>
                  </a:schemeClr>
                </a:solidFill>
              </a:rPr>
              <a:t>Target: Secure the first 3–5 paying corporate clients within 90 days.</a:t>
            </a:r>
          </a:p>
          <a:p>
            <a:endParaRPr lang="en-IN" sz="2000" b="1">
              <a:solidFill>
                <a:schemeClr val="accent6">
                  <a:lumMod val="60000"/>
                  <a:lumOff val="40000"/>
                </a:schemeClr>
              </a:solidFill>
            </a:endParaRPr>
          </a:p>
          <a:p>
            <a:r>
              <a:rPr lang="en-IN" sz="2000" b="1">
                <a:solidFill>
                  <a:schemeClr val="accent6">
                    <a:lumMod val="60000"/>
                    <a:lumOff val="40000"/>
                  </a:schemeClr>
                </a:solidFill>
              </a:rPr>
              <a:t>Training Areas:</a:t>
            </a:r>
            <a:endParaRPr lang="en-IN" sz="2000">
              <a:solidFill>
                <a:schemeClr val="accent6">
                  <a:lumMod val="60000"/>
                  <a:lumOff val="40000"/>
                </a:schemeClr>
              </a:solidFill>
            </a:endParaRPr>
          </a:p>
          <a:p>
            <a:pPr marL="457200" lvl="0" indent="-457200">
              <a:buFont typeface="+mj-lt"/>
              <a:buAutoNum type="arabicPeriod"/>
            </a:pPr>
            <a:r>
              <a:rPr lang="en-IN" sz="2000">
                <a:solidFill>
                  <a:schemeClr val="accent6">
                    <a:lumMod val="60000"/>
                    <a:lumOff val="40000"/>
                  </a:schemeClr>
                </a:solidFill>
              </a:rPr>
              <a:t>Generative AI and Microsoft Copilot for office productivity.</a:t>
            </a:r>
          </a:p>
          <a:p>
            <a:pPr marL="457200" lvl="0" indent="-457200">
              <a:buFont typeface="+mj-lt"/>
              <a:buAutoNum type="arabicPeriod"/>
            </a:pPr>
            <a:r>
              <a:rPr lang="en-IN" sz="2000">
                <a:solidFill>
                  <a:schemeClr val="accent6">
                    <a:lumMod val="60000"/>
                    <a:lumOff val="40000"/>
                  </a:schemeClr>
                </a:solidFill>
              </a:rPr>
              <a:t>AI for managers and business decision-making.</a:t>
            </a:r>
          </a:p>
          <a:p>
            <a:pPr marL="457200" lvl="0" indent="-457200">
              <a:buFont typeface="+mj-lt"/>
              <a:buAutoNum type="arabicPeriod"/>
            </a:pPr>
            <a:r>
              <a:rPr lang="en-IN" sz="2000">
                <a:solidFill>
                  <a:schemeClr val="accent6">
                    <a:lumMod val="60000"/>
                    <a:lumOff val="40000"/>
                  </a:schemeClr>
                </a:solidFill>
              </a:rPr>
              <a:t>AI automation and AI agents.</a:t>
            </a:r>
          </a:p>
        </p:txBody>
      </p:sp>
      <p:sp>
        <p:nvSpPr>
          <p:cNvPr id="2" name="TextBox 1">
            <a:extLst>
              <a:ext uri="{FF2B5EF4-FFF2-40B4-BE49-F238E27FC236}">
                <a16:creationId xmlns:a16="http://schemas.microsoft.com/office/drawing/2014/main" id="{1AA1A339-59A6-9BFF-EB60-21F7CE8DC0FE}"/>
              </a:ext>
            </a:extLst>
          </p:cNvPr>
          <p:cNvSpPr txBox="1"/>
          <p:nvPr/>
        </p:nvSpPr>
        <p:spPr>
          <a:xfrm>
            <a:off x="9400032" y="6336792"/>
            <a:ext cx="1376787" cy="369332"/>
          </a:xfrm>
          <a:prstGeom prst="rect">
            <a:avLst/>
          </a:prstGeom>
          <a:noFill/>
        </p:spPr>
        <p:txBody>
          <a:bodyPr wrap="none" rtlCol="0">
            <a:spAutoFit/>
          </a:bodyPr>
          <a:lstStyle/>
          <a:p>
            <a:r>
              <a:rPr lang="en-US">
                <a:solidFill>
                  <a:schemeClr val="accent6">
                    <a:lumMod val="60000"/>
                    <a:lumOff val="40000"/>
                  </a:schemeClr>
                </a:solidFill>
              </a:rPr>
              <a:t>Continued….</a:t>
            </a:r>
            <a:endParaRPr lang="en-IN">
              <a:solidFill>
                <a:schemeClr val="accent6">
                  <a:lumMod val="60000"/>
                  <a:lumOff val="40000"/>
                </a:schemeClr>
              </a:solidFill>
            </a:endParaRPr>
          </a:p>
        </p:txBody>
      </p:sp>
    </p:spTree>
    <p:extLst>
      <p:ext uri="{BB962C8B-B14F-4D97-AF65-F5344CB8AC3E}">
        <p14:creationId xmlns:p14="http://schemas.microsoft.com/office/powerpoint/2010/main" val="2695964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5564DB2-C4EA-5279-41DE-A8E664B1063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B1A7B96-783D-8A41-0724-BD2D8F5C8433}"/>
              </a:ext>
            </a:extLst>
          </p:cNvPr>
          <p:cNvSpPr txBox="1"/>
          <p:nvPr/>
        </p:nvSpPr>
        <p:spPr>
          <a:xfrm>
            <a:off x="175260" y="473488"/>
            <a:ext cx="11647932" cy="5940088"/>
          </a:xfrm>
          <a:prstGeom prst="rect">
            <a:avLst/>
          </a:prstGeom>
          <a:noFill/>
        </p:spPr>
        <p:txBody>
          <a:bodyPr wrap="square" rtlCol="0">
            <a:spAutoFit/>
          </a:bodyPr>
          <a:lstStyle/>
          <a:p>
            <a:r>
              <a:rPr lang="en-IN" sz="2000" b="1">
                <a:solidFill>
                  <a:schemeClr val="accent6">
                    <a:lumMod val="60000"/>
                    <a:lumOff val="40000"/>
                  </a:schemeClr>
                </a:solidFill>
              </a:rPr>
              <a:t>Research Tasks:</a:t>
            </a:r>
            <a:endParaRPr lang="en-IN" sz="2000">
              <a:solidFill>
                <a:schemeClr val="accent6">
                  <a:lumMod val="60000"/>
                  <a:lumOff val="40000"/>
                </a:schemeClr>
              </a:solidFill>
            </a:endParaRPr>
          </a:p>
          <a:p>
            <a:pPr marL="457200" lvl="0" indent="-457200">
              <a:buFont typeface="+mj-lt"/>
              <a:buAutoNum type="arabicPeriod"/>
            </a:pPr>
            <a:r>
              <a:rPr lang="en-IN" sz="2000">
                <a:solidFill>
                  <a:schemeClr val="accent6">
                    <a:lumMod val="60000"/>
                    <a:lumOff val="40000"/>
                  </a:schemeClr>
                </a:solidFill>
              </a:rPr>
              <a:t>Analyze the Indian corporate AI training market and identify promising customer segments.</a:t>
            </a:r>
          </a:p>
          <a:p>
            <a:pPr marL="457200" lvl="0" indent="-457200">
              <a:buFont typeface="+mj-lt"/>
              <a:buAutoNum type="arabicPeriod"/>
            </a:pPr>
            <a:r>
              <a:rPr lang="en-IN" sz="2000">
                <a:solidFill>
                  <a:schemeClr val="accent6">
                    <a:lumMod val="60000"/>
                    <a:lumOff val="40000"/>
                  </a:schemeClr>
                </a:solidFill>
              </a:rPr>
              <a:t>Research at least 5 competitors, their services, positioning, and publicly available pricing.</a:t>
            </a:r>
          </a:p>
          <a:p>
            <a:pPr marL="457200" lvl="0" indent="-457200">
              <a:buFont typeface="+mj-lt"/>
              <a:buAutoNum type="arabicPeriod"/>
            </a:pPr>
            <a:r>
              <a:rPr lang="en-IN" sz="2000">
                <a:solidFill>
                  <a:schemeClr val="accent6">
                    <a:lumMod val="60000"/>
                    <a:lumOff val="40000"/>
                  </a:schemeClr>
                </a:solidFill>
              </a:rPr>
              <a:t>Recommend suitable training packages and realistic prices for half-day and full-day workshops.</a:t>
            </a:r>
          </a:p>
          <a:p>
            <a:pPr marL="457200" lvl="0" indent="-457200">
              <a:buFont typeface="+mj-lt"/>
              <a:buAutoNum type="arabicPeriod"/>
            </a:pPr>
            <a:r>
              <a:rPr lang="en-IN" sz="2000">
                <a:solidFill>
                  <a:schemeClr val="accent6">
                    <a:lumMod val="60000"/>
                    <a:lumOff val="40000"/>
                  </a:schemeClr>
                </a:solidFill>
              </a:rPr>
              <a:t>Prepare a ₹2 lakh startup budget and estimate revenue, expenses, and break-even scenarios.</a:t>
            </a:r>
          </a:p>
          <a:p>
            <a:pPr marL="457200" lvl="0" indent="-457200">
              <a:buFont typeface="+mj-lt"/>
              <a:buAutoNum type="arabicPeriod"/>
            </a:pPr>
            <a:r>
              <a:rPr lang="en-IN" sz="2000">
                <a:solidFill>
                  <a:schemeClr val="accent6">
                    <a:lumMod val="60000"/>
                    <a:lumOff val="40000"/>
                  </a:schemeClr>
                </a:solidFill>
              </a:rPr>
              <a:t>Compare operating through XYZ versus establishing a separate business.</a:t>
            </a:r>
          </a:p>
          <a:p>
            <a:pPr marL="457200" lvl="0" indent="-457200">
              <a:buFont typeface="+mj-lt"/>
              <a:buAutoNum type="arabicPeriod"/>
            </a:pPr>
            <a:r>
              <a:rPr lang="en-IN" sz="2000">
                <a:solidFill>
                  <a:schemeClr val="accent6">
                    <a:lumMod val="60000"/>
                    <a:lumOff val="40000"/>
                  </a:schemeClr>
                </a:solidFill>
              </a:rPr>
              <a:t>Recommend practical ways to acquire corporate clients through direct sales.</a:t>
            </a:r>
          </a:p>
          <a:p>
            <a:pPr marL="457200" lvl="0" indent="-457200">
              <a:buFont typeface="+mj-lt"/>
              <a:buAutoNum type="arabicPeriod"/>
            </a:pPr>
            <a:r>
              <a:rPr lang="en-IN" sz="2000">
                <a:solidFill>
                  <a:schemeClr val="accent6">
                    <a:lumMod val="60000"/>
                    <a:lumOff val="40000"/>
                  </a:schemeClr>
                </a:solidFill>
              </a:rPr>
              <a:t>Identify relevant Indian business, tax, contractual, and compliance considerations.</a:t>
            </a:r>
          </a:p>
          <a:p>
            <a:pPr marL="457200" lvl="0" indent="-457200">
              <a:buFont typeface="+mj-lt"/>
              <a:buAutoNum type="arabicPeriod"/>
            </a:pPr>
            <a:r>
              <a:rPr lang="en-IN" sz="2000">
                <a:solidFill>
                  <a:schemeClr val="accent6">
                    <a:lumMod val="60000"/>
                    <a:lumOff val="40000"/>
                  </a:schemeClr>
                </a:solidFill>
              </a:rPr>
              <a:t>Create a practical 90-day launch plan with weekly milestones.</a:t>
            </a:r>
          </a:p>
          <a:p>
            <a:pPr marL="457200" indent="-457200">
              <a:buFont typeface="+mj-lt"/>
              <a:buAutoNum type="arabicPeriod"/>
            </a:pPr>
            <a:endParaRPr lang="en-IN" sz="2000" b="1">
              <a:solidFill>
                <a:schemeClr val="accent6">
                  <a:lumMod val="60000"/>
                  <a:lumOff val="40000"/>
                </a:schemeClr>
              </a:solidFill>
            </a:endParaRPr>
          </a:p>
          <a:p>
            <a:r>
              <a:rPr lang="en-IN" sz="2000" b="1">
                <a:solidFill>
                  <a:schemeClr val="accent6">
                    <a:lumMod val="60000"/>
                    <a:lumOff val="40000"/>
                  </a:schemeClr>
                </a:solidFill>
              </a:rPr>
              <a:t>Research Requirements:</a:t>
            </a:r>
            <a:br>
              <a:rPr lang="en-IN" sz="2000">
                <a:solidFill>
                  <a:schemeClr val="accent6">
                    <a:lumMod val="60000"/>
                    <a:lumOff val="40000"/>
                  </a:schemeClr>
                </a:solidFill>
              </a:rPr>
            </a:br>
            <a:r>
              <a:rPr lang="en-IN" sz="2000">
                <a:solidFill>
                  <a:schemeClr val="accent6">
                    <a:lumMod val="60000"/>
                    <a:lumOff val="40000"/>
                  </a:schemeClr>
                </a:solidFill>
              </a:rPr>
              <a:t>Use credible, current sources, including official websites, government sources, competitor websites, and industry reports. Cite sources and links. Clearly distinguish verified facts from estimates and assumptions. Do not invent prices or market statistics.</a:t>
            </a:r>
          </a:p>
          <a:p>
            <a:endParaRPr lang="en-IN" sz="2000" b="1">
              <a:solidFill>
                <a:schemeClr val="accent6">
                  <a:lumMod val="60000"/>
                  <a:lumOff val="40000"/>
                </a:schemeClr>
              </a:solidFill>
            </a:endParaRPr>
          </a:p>
          <a:p>
            <a:r>
              <a:rPr lang="en-IN" sz="2000" b="1">
                <a:solidFill>
                  <a:schemeClr val="accent6">
                    <a:lumMod val="60000"/>
                    <a:lumOff val="40000"/>
                  </a:schemeClr>
                </a:solidFill>
              </a:rPr>
              <a:t>Final Output:</a:t>
            </a:r>
            <a:br>
              <a:rPr lang="en-IN" sz="2000">
                <a:solidFill>
                  <a:schemeClr val="accent6">
                    <a:lumMod val="60000"/>
                    <a:lumOff val="40000"/>
                  </a:schemeClr>
                </a:solidFill>
              </a:rPr>
            </a:br>
            <a:r>
              <a:rPr lang="en-IN" sz="2000">
                <a:solidFill>
                  <a:schemeClr val="accent6">
                    <a:lumMod val="60000"/>
                    <a:lumOff val="40000"/>
                  </a:schemeClr>
                </a:solidFill>
              </a:rPr>
              <a:t>Provide an executive summary, competitor comparison table, suggested pricing, budget allocation, customer acquisition strategy, and prioritized action plan. Conclude with a go/no-go recommendation and the first three actions to take. Keep the report practical for a small business with limited capital.</a:t>
            </a:r>
          </a:p>
        </p:txBody>
      </p:sp>
      <p:sp>
        <p:nvSpPr>
          <p:cNvPr id="3" name="TextBox 2">
            <a:extLst>
              <a:ext uri="{FF2B5EF4-FFF2-40B4-BE49-F238E27FC236}">
                <a16:creationId xmlns:a16="http://schemas.microsoft.com/office/drawing/2014/main" id="{D13C1BD7-CDEB-1ED7-2473-AE23F5F1E006}"/>
              </a:ext>
            </a:extLst>
          </p:cNvPr>
          <p:cNvSpPr txBox="1"/>
          <p:nvPr/>
        </p:nvSpPr>
        <p:spPr>
          <a:xfrm>
            <a:off x="284988" y="82296"/>
            <a:ext cx="1376787" cy="369332"/>
          </a:xfrm>
          <a:prstGeom prst="rect">
            <a:avLst/>
          </a:prstGeom>
          <a:noFill/>
        </p:spPr>
        <p:txBody>
          <a:bodyPr wrap="none" rtlCol="0">
            <a:spAutoFit/>
          </a:bodyPr>
          <a:lstStyle/>
          <a:p>
            <a:r>
              <a:rPr lang="en-US">
                <a:solidFill>
                  <a:schemeClr val="accent6">
                    <a:lumMod val="60000"/>
                    <a:lumOff val="40000"/>
                  </a:schemeClr>
                </a:solidFill>
              </a:rPr>
              <a:t>Continued….</a:t>
            </a:r>
            <a:endParaRPr lang="en-IN">
              <a:solidFill>
                <a:schemeClr val="accent6">
                  <a:lumMod val="60000"/>
                  <a:lumOff val="40000"/>
                </a:schemeClr>
              </a:solidFill>
            </a:endParaRPr>
          </a:p>
        </p:txBody>
      </p:sp>
    </p:spTree>
    <p:extLst>
      <p:ext uri="{BB962C8B-B14F-4D97-AF65-F5344CB8AC3E}">
        <p14:creationId xmlns:p14="http://schemas.microsoft.com/office/powerpoint/2010/main" val="980679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4AEC4CE-5CF8-D98F-2439-26F11EF9D2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6B1C11-D71A-E8B7-88E3-4ABD6BFB5444}"/>
              </a:ext>
            </a:extLst>
          </p:cNvPr>
          <p:cNvSpPr txBox="1"/>
          <p:nvPr/>
        </p:nvSpPr>
        <p:spPr>
          <a:xfrm>
            <a:off x="0" y="83410"/>
            <a:ext cx="11402568" cy="400110"/>
          </a:xfrm>
          <a:prstGeom prst="rect">
            <a:avLst/>
          </a:prstGeom>
          <a:noFill/>
        </p:spPr>
        <p:txBody>
          <a:bodyPr wrap="square" rtlCol="0">
            <a:spAutoFit/>
          </a:bodyPr>
          <a:lstStyle/>
          <a:p>
            <a:r>
              <a:rPr lang="en-IN" sz="2000" b="1">
                <a:solidFill>
                  <a:schemeClr val="accent6">
                    <a:lumMod val="60000"/>
                    <a:lumOff val="40000"/>
                  </a:schemeClr>
                </a:solidFill>
              </a:rPr>
              <a:t>Output after 5 minutes:</a:t>
            </a:r>
          </a:p>
        </p:txBody>
      </p:sp>
      <p:sp>
        <p:nvSpPr>
          <p:cNvPr id="6" name="TextBox 5">
            <a:extLst>
              <a:ext uri="{FF2B5EF4-FFF2-40B4-BE49-F238E27FC236}">
                <a16:creationId xmlns:a16="http://schemas.microsoft.com/office/drawing/2014/main" id="{B183417C-B320-6198-4A90-ADEE0B9B3CCE}"/>
              </a:ext>
            </a:extLst>
          </p:cNvPr>
          <p:cNvSpPr txBox="1"/>
          <p:nvPr/>
        </p:nvSpPr>
        <p:spPr>
          <a:xfrm>
            <a:off x="152400" y="6174425"/>
            <a:ext cx="11402568" cy="400110"/>
          </a:xfrm>
          <a:prstGeom prst="rect">
            <a:avLst/>
          </a:prstGeom>
          <a:noFill/>
        </p:spPr>
        <p:txBody>
          <a:bodyPr wrap="square" rtlCol="0">
            <a:spAutoFit/>
          </a:bodyPr>
          <a:lstStyle/>
          <a:p>
            <a:r>
              <a:rPr lang="en-IN" sz="2000" b="1">
                <a:solidFill>
                  <a:schemeClr val="accent6">
                    <a:lumMod val="60000"/>
                    <a:lumOff val="40000"/>
                  </a:schemeClr>
                </a:solidFill>
              </a:rPr>
              <a:t>Open the report and copy paste in word or convert to word. See the OUTPUT file</a:t>
            </a:r>
          </a:p>
        </p:txBody>
      </p:sp>
      <p:pic>
        <p:nvPicPr>
          <p:cNvPr id="4" name="Picture 3">
            <a:extLst>
              <a:ext uri="{FF2B5EF4-FFF2-40B4-BE49-F238E27FC236}">
                <a16:creationId xmlns:a16="http://schemas.microsoft.com/office/drawing/2014/main" id="{DA2134FE-2343-1064-E5A8-3C7A880942EB}"/>
              </a:ext>
            </a:extLst>
          </p:cNvPr>
          <p:cNvPicPr>
            <a:picLocks noChangeAspect="1"/>
          </p:cNvPicPr>
          <p:nvPr/>
        </p:nvPicPr>
        <p:blipFill>
          <a:blip r:embed="rId2"/>
          <a:stretch>
            <a:fillRect/>
          </a:stretch>
        </p:blipFill>
        <p:spPr>
          <a:xfrm>
            <a:off x="1777380" y="584490"/>
            <a:ext cx="7847807" cy="5488965"/>
          </a:xfrm>
          <a:prstGeom prst="rect">
            <a:avLst/>
          </a:prstGeom>
        </p:spPr>
      </p:pic>
    </p:spTree>
    <p:extLst>
      <p:ext uri="{BB962C8B-B14F-4D97-AF65-F5344CB8AC3E}">
        <p14:creationId xmlns:p14="http://schemas.microsoft.com/office/powerpoint/2010/main" val="2561931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376</Words>
  <Application>Microsoft Office PowerPoint</Application>
  <PresentationFormat>Widescreen</PresentationFormat>
  <Paragraphs>34</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16</cp:revision>
  <dcterms:created xsi:type="dcterms:W3CDTF">2026-09-25T02:37:34Z</dcterms:created>
  <dcterms:modified xsi:type="dcterms:W3CDTF">2026-10-11T05:24:09Z</dcterms:modified>
</cp:coreProperties>
</file>