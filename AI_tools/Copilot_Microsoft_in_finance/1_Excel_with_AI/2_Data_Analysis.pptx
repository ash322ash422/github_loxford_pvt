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7" r:id="rId2"/>
    <p:sldId id="272" r:id="rId3"/>
    <p:sldId id="278" r:id="rId4"/>
    <p:sldId id="258" r:id="rId5"/>
    <p:sldId id="259" r:id="rId6"/>
    <p:sldId id="273" r:id="rId7"/>
    <p:sldId id="274" r:id="rId8"/>
    <p:sldId id="260" r:id="rId9"/>
    <p:sldId id="275" r:id="rId10"/>
    <p:sldId id="276" r:id="rId11"/>
    <p:sldId id="261" r:id="rId12"/>
    <p:sldId id="277" r:id="rId13"/>
    <p:sldId id="279" r:id="rId14"/>
    <p:sldId id="262" r:id="rId15"/>
    <p:sldId id="280" r:id="rId16"/>
    <p:sldId id="263" r:id="rId17"/>
    <p:sldId id="281" r:id="rId18"/>
    <p:sldId id="264" r:id="rId19"/>
    <p:sldId id="282" r:id="rId20"/>
    <p:sldId id="265" r:id="rId21"/>
    <p:sldId id="266" r:id="rId22"/>
    <p:sldId id="283" r:id="rId23"/>
    <p:sldId id="267" r:id="rId24"/>
    <p:sldId id="268" r:id="rId25"/>
    <p:sldId id="269" r:id="rId26"/>
    <p:sldId id="284" r:id="rId27"/>
    <p:sldId id="270" r:id="rId28"/>
    <p:sldId id="271" r:id="rId29"/>
    <p:sldId id="28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9T09:31:39.254"/>
    </inkml:context>
    <inkml:brush xml:id="br0">
      <inkml:brushProperty name="width" value="0.1" units="cm"/>
      <inkml:brushProperty name="height" value="0.1" units="cm"/>
      <inkml:brushProperty name="color" value="#FFC114"/>
    </inkml:brush>
  </inkml:definitions>
  <inkml:trace contextRef="#ctx0" brushRef="#br0">0 484 24575,'3'0'0,"-1"1"0,1 0 0,0 0 0,-1 0 0,1 0 0,-1 0 0,1 1 0,-1-1 0,1 1 0,-1 0 0,0 0 0,0 0 0,0 0 0,3 3 0,28 37 0,-27-34 0,100 152 0,-104-158 0,-1 0 0,1 0 0,-1-1 0,1 1 0,-1 0 0,1-1 0,0 1 0,0-1 0,0 0 0,0 0 0,0 0 0,0 0 0,0 0 0,0 0 0,0 0 0,1-1 0,-1 1 0,0-1 0,0 0 0,1 1 0,-1-1 0,0 0 0,0 0 0,1-1 0,-1 1 0,0 0 0,1-1 0,-1 1 0,0-1 0,0 0 0,4-2 0,5-3 0,0 0 0,-1-1 0,1-1 0,16-15 0,-9 7 0,87-69 0,155-135 0,-196 155-341,-3-3 0,-3-3-1,55-88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5B9DE0-307C-44AA-9A14-2F76096277F0}" type="datetimeFigureOut">
              <a:rPr lang="en-IN" smtClean="0"/>
              <a:t>26-10-2026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143FF3-6C40-4107-91BB-30F1D3636FBF}" type="slidenum">
              <a:rPr lang="en-IN" smtClean="0"/>
              <a:t>‹#›</a:t>
            </a:fld>
            <a:endParaRPr lang="en-IN"/>
          </a:p>
        </p:txBody>
      </p:sp>
    </p:spTree>
    <p:extLst>
      <p:ext uri="{BB962C8B-B14F-4D97-AF65-F5344CB8AC3E}">
        <p14:creationId xmlns:p14="http://schemas.microsoft.com/office/powerpoint/2010/main" val="2259534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A318F-F6FC-6CB9-CEC6-8B2C0F5EE2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7F8D7EB-E762-144D-1496-7468331365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7756C53-114C-E36A-EC7E-AEE4C2084ABF}"/>
              </a:ext>
            </a:extLst>
          </p:cNvPr>
          <p:cNvSpPr>
            <a:spLocks noGrp="1"/>
          </p:cNvSpPr>
          <p:nvPr>
            <p:ph type="dt" sz="half" idx="10"/>
          </p:nvPr>
        </p:nvSpPr>
        <p:spPr/>
        <p:txBody>
          <a:bodyPr/>
          <a:lstStyle/>
          <a:p>
            <a:fld id="{6EBA79C2-4FE3-4D0C-AFFB-D4FCE050D5EA}" type="datetimeFigureOut">
              <a:rPr lang="en-IN" smtClean="0"/>
              <a:t>26-10-2026</a:t>
            </a:fld>
            <a:endParaRPr lang="en-IN"/>
          </a:p>
        </p:txBody>
      </p:sp>
      <p:sp>
        <p:nvSpPr>
          <p:cNvPr id="5" name="Footer Placeholder 4">
            <a:extLst>
              <a:ext uri="{FF2B5EF4-FFF2-40B4-BE49-F238E27FC236}">
                <a16:creationId xmlns:a16="http://schemas.microsoft.com/office/drawing/2014/main" id="{D76CC798-66E8-807B-3021-DC717C7ABB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AA2714-B223-D201-168E-C22AD16013D1}"/>
              </a:ext>
            </a:extLst>
          </p:cNvPr>
          <p:cNvSpPr>
            <a:spLocks noGrp="1"/>
          </p:cNvSpPr>
          <p:nvPr>
            <p:ph type="sldNum" sz="quarter" idx="12"/>
          </p:nvPr>
        </p:nvSpPr>
        <p:spPr/>
        <p:txBody>
          <a:bodyPr/>
          <a:lstStyle/>
          <a:p>
            <a:fld id="{023A53CF-6AA3-4EF6-9F05-A0E3059C583D}" type="slidenum">
              <a:rPr lang="en-IN" smtClean="0"/>
              <a:t>‹#›</a:t>
            </a:fld>
            <a:endParaRPr lang="en-IN"/>
          </a:p>
        </p:txBody>
      </p:sp>
      <p:pic>
        <p:nvPicPr>
          <p:cNvPr id="8" name="Picture 7">
            <a:extLst>
              <a:ext uri="{FF2B5EF4-FFF2-40B4-BE49-F238E27FC236}">
                <a16:creationId xmlns:a16="http://schemas.microsoft.com/office/drawing/2014/main" id="{B14F047B-8F92-089C-65A3-54359B3F76C4}"/>
              </a:ext>
            </a:extLst>
          </p:cNvPr>
          <p:cNvPicPr>
            <a:picLocks noChangeAspect="1"/>
          </p:cNvPicPr>
          <p:nvPr userDrawn="1"/>
        </p:nvPicPr>
        <p:blipFill>
          <a:blip r:embed="rId2">
            <a:alphaModFix amt="68000"/>
            <a:extLst>
              <a:ext uri="{28A0092B-C50C-407E-A947-70E740481C1C}">
                <a14:useLocalDpi xmlns:a14="http://schemas.microsoft.com/office/drawing/2010/main" val="0"/>
              </a:ext>
            </a:extLst>
          </a:blip>
          <a:stretch>
            <a:fillRect/>
          </a:stretch>
        </p:blipFill>
        <p:spPr>
          <a:xfrm>
            <a:off x="10857778" y="0"/>
            <a:ext cx="1295581" cy="924054"/>
          </a:xfrm>
          <a:prstGeom prst="rect">
            <a:avLst/>
          </a:prstGeom>
        </p:spPr>
      </p:pic>
    </p:spTree>
    <p:extLst>
      <p:ext uri="{BB962C8B-B14F-4D97-AF65-F5344CB8AC3E}">
        <p14:creationId xmlns:p14="http://schemas.microsoft.com/office/powerpoint/2010/main" val="480681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ECE76-A752-DB86-6111-A724232D26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D6FD18-B58E-8C68-26E2-D916319862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7B759C-A1DF-256A-A624-6AB43BC663E0}"/>
              </a:ext>
            </a:extLst>
          </p:cNvPr>
          <p:cNvSpPr>
            <a:spLocks noGrp="1"/>
          </p:cNvSpPr>
          <p:nvPr>
            <p:ph type="dt" sz="half" idx="10"/>
          </p:nvPr>
        </p:nvSpPr>
        <p:spPr/>
        <p:txBody>
          <a:bodyPr/>
          <a:lstStyle/>
          <a:p>
            <a:fld id="{6EBA79C2-4FE3-4D0C-AFFB-D4FCE050D5EA}" type="datetimeFigureOut">
              <a:rPr lang="en-IN" smtClean="0"/>
              <a:t>26-10-2026</a:t>
            </a:fld>
            <a:endParaRPr lang="en-IN"/>
          </a:p>
        </p:txBody>
      </p:sp>
      <p:sp>
        <p:nvSpPr>
          <p:cNvPr id="5" name="Footer Placeholder 4">
            <a:extLst>
              <a:ext uri="{FF2B5EF4-FFF2-40B4-BE49-F238E27FC236}">
                <a16:creationId xmlns:a16="http://schemas.microsoft.com/office/drawing/2014/main" id="{EB71A0AA-5283-1539-E76D-C2704EDF62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212E95-A93E-CFE8-0044-F1F7486E0850}"/>
              </a:ext>
            </a:extLst>
          </p:cNvPr>
          <p:cNvSpPr>
            <a:spLocks noGrp="1"/>
          </p:cNvSpPr>
          <p:nvPr>
            <p:ph type="sldNum" sz="quarter" idx="12"/>
          </p:nvPr>
        </p:nvSpPr>
        <p:spPr/>
        <p:txBody>
          <a:bodyPr/>
          <a:lstStyle/>
          <a:p>
            <a:fld id="{023A53CF-6AA3-4EF6-9F05-A0E3059C583D}" type="slidenum">
              <a:rPr lang="en-IN" smtClean="0"/>
              <a:t>‹#›</a:t>
            </a:fld>
            <a:endParaRPr lang="en-IN"/>
          </a:p>
        </p:txBody>
      </p:sp>
      <p:pic>
        <p:nvPicPr>
          <p:cNvPr id="12" name="Picture 11">
            <a:extLst>
              <a:ext uri="{FF2B5EF4-FFF2-40B4-BE49-F238E27FC236}">
                <a16:creationId xmlns:a16="http://schemas.microsoft.com/office/drawing/2014/main" id="{366CBFAF-C1DF-ECA1-1863-AD86FBEE5E5B}"/>
              </a:ext>
            </a:extLst>
          </p:cNvPr>
          <p:cNvPicPr>
            <a:picLocks noChangeAspect="1"/>
          </p:cNvPicPr>
          <p:nvPr userDrawn="1"/>
        </p:nvPicPr>
        <p:blipFill>
          <a:blip r:embed="rId2">
            <a:alphaModFix amt="66000"/>
            <a:extLst>
              <a:ext uri="{28A0092B-C50C-407E-A947-70E740481C1C}">
                <a14:useLocalDpi xmlns:a14="http://schemas.microsoft.com/office/drawing/2010/main" val="0"/>
              </a:ext>
            </a:extLst>
          </a:blip>
          <a:stretch>
            <a:fillRect/>
          </a:stretch>
        </p:blipFill>
        <p:spPr>
          <a:xfrm>
            <a:off x="10870541" y="17252"/>
            <a:ext cx="1295581" cy="924054"/>
          </a:xfrm>
          <a:prstGeom prst="rect">
            <a:avLst/>
          </a:prstGeom>
        </p:spPr>
      </p:pic>
    </p:spTree>
    <p:extLst>
      <p:ext uri="{BB962C8B-B14F-4D97-AF65-F5344CB8AC3E}">
        <p14:creationId xmlns:p14="http://schemas.microsoft.com/office/powerpoint/2010/main" val="2690746625"/>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27E88-1D0E-B19B-1F3F-54DF859CE7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2CE41C0-D975-5322-05EF-B6920E580E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D7B167-1E87-B93B-75F5-B33217202FE7}"/>
              </a:ext>
            </a:extLst>
          </p:cNvPr>
          <p:cNvSpPr>
            <a:spLocks noGrp="1"/>
          </p:cNvSpPr>
          <p:nvPr>
            <p:ph type="dt" sz="half" idx="10"/>
          </p:nvPr>
        </p:nvSpPr>
        <p:spPr/>
        <p:txBody>
          <a:bodyPr/>
          <a:lstStyle/>
          <a:p>
            <a:fld id="{6EBA79C2-4FE3-4D0C-AFFB-D4FCE050D5EA}" type="datetimeFigureOut">
              <a:rPr lang="en-IN" smtClean="0"/>
              <a:t>26-10-2026</a:t>
            </a:fld>
            <a:endParaRPr lang="en-IN"/>
          </a:p>
        </p:txBody>
      </p:sp>
      <p:sp>
        <p:nvSpPr>
          <p:cNvPr id="5" name="Footer Placeholder 4">
            <a:extLst>
              <a:ext uri="{FF2B5EF4-FFF2-40B4-BE49-F238E27FC236}">
                <a16:creationId xmlns:a16="http://schemas.microsoft.com/office/drawing/2014/main" id="{6225C962-1ABF-F876-C7DD-10E729E42A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8F7B4D-DA1F-E875-52B5-31F353F49234}"/>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1281796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29F20-A52E-A2BE-2A7C-6344D89003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E9F42D-CDDF-9B84-6F33-25E956F2DD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61E0A4D-E831-6562-11B2-108204244C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85F4BEA-6EB0-7F6F-4BFA-B7DACF40DEA9}"/>
              </a:ext>
            </a:extLst>
          </p:cNvPr>
          <p:cNvSpPr>
            <a:spLocks noGrp="1"/>
          </p:cNvSpPr>
          <p:nvPr>
            <p:ph type="dt" sz="half" idx="10"/>
          </p:nvPr>
        </p:nvSpPr>
        <p:spPr/>
        <p:txBody>
          <a:bodyPr/>
          <a:lstStyle/>
          <a:p>
            <a:fld id="{6EBA79C2-4FE3-4D0C-AFFB-D4FCE050D5EA}" type="datetimeFigureOut">
              <a:rPr lang="en-IN" smtClean="0"/>
              <a:t>26-10-2026</a:t>
            </a:fld>
            <a:endParaRPr lang="en-IN"/>
          </a:p>
        </p:txBody>
      </p:sp>
      <p:sp>
        <p:nvSpPr>
          <p:cNvPr id="6" name="Footer Placeholder 5">
            <a:extLst>
              <a:ext uri="{FF2B5EF4-FFF2-40B4-BE49-F238E27FC236}">
                <a16:creationId xmlns:a16="http://schemas.microsoft.com/office/drawing/2014/main" id="{9852B4B5-D542-513B-5FBA-7C8418FD6E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5B6383-F1CA-D4A5-9876-F4662B6051B7}"/>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4027627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E9337-2FE3-561C-F11A-2CFAC3C8882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BCE1B6-2296-C3DE-5C27-E4057DFF68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B2FC1E-2D6D-269A-6807-421A1A9C42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81AD048-C515-130C-8F41-1BA8F41892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6D4A7E-CE1F-A02A-B92A-059B1FBCF35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6F77709-049A-79A2-F207-FBDA0CAA4E0A}"/>
              </a:ext>
            </a:extLst>
          </p:cNvPr>
          <p:cNvSpPr>
            <a:spLocks noGrp="1"/>
          </p:cNvSpPr>
          <p:nvPr>
            <p:ph type="dt" sz="half" idx="10"/>
          </p:nvPr>
        </p:nvSpPr>
        <p:spPr/>
        <p:txBody>
          <a:bodyPr/>
          <a:lstStyle/>
          <a:p>
            <a:fld id="{6EBA79C2-4FE3-4D0C-AFFB-D4FCE050D5EA}" type="datetimeFigureOut">
              <a:rPr lang="en-IN" smtClean="0"/>
              <a:t>26-10-2026</a:t>
            </a:fld>
            <a:endParaRPr lang="en-IN"/>
          </a:p>
        </p:txBody>
      </p:sp>
      <p:sp>
        <p:nvSpPr>
          <p:cNvPr id="8" name="Footer Placeholder 7">
            <a:extLst>
              <a:ext uri="{FF2B5EF4-FFF2-40B4-BE49-F238E27FC236}">
                <a16:creationId xmlns:a16="http://schemas.microsoft.com/office/drawing/2014/main" id="{59DE0EB3-83C0-67E2-5DB9-42DE8540F86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0C97AB3-472A-1E13-8460-CE1D861DB6C2}"/>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4043864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C5904-8D4D-4CA9-51B3-289632997B0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E398302-AD6F-2CE6-7442-A4A9683D9718}"/>
              </a:ext>
            </a:extLst>
          </p:cNvPr>
          <p:cNvSpPr>
            <a:spLocks noGrp="1"/>
          </p:cNvSpPr>
          <p:nvPr>
            <p:ph type="dt" sz="half" idx="10"/>
          </p:nvPr>
        </p:nvSpPr>
        <p:spPr/>
        <p:txBody>
          <a:bodyPr/>
          <a:lstStyle/>
          <a:p>
            <a:fld id="{6EBA79C2-4FE3-4D0C-AFFB-D4FCE050D5EA}" type="datetimeFigureOut">
              <a:rPr lang="en-IN" smtClean="0"/>
              <a:t>26-10-2026</a:t>
            </a:fld>
            <a:endParaRPr lang="en-IN"/>
          </a:p>
        </p:txBody>
      </p:sp>
      <p:sp>
        <p:nvSpPr>
          <p:cNvPr id="4" name="Footer Placeholder 3">
            <a:extLst>
              <a:ext uri="{FF2B5EF4-FFF2-40B4-BE49-F238E27FC236}">
                <a16:creationId xmlns:a16="http://schemas.microsoft.com/office/drawing/2014/main" id="{15391825-01DE-3CBB-BB33-763481B92D7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7D5401A-71EA-0313-9EA1-4DC2DB3F758C}"/>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389444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418529-294A-5688-70AC-D6FBB2669691}"/>
              </a:ext>
            </a:extLst>
          </p:cNvPr>
          <p:cNvSpPr>
            <a:spLocks noGrp="1"/>
          </p:cNvSpPr>
          <p:nvPr>
            <p:ph type="dt" sz="half" idx="10"/>
          </p:nvPr>
        </p:nvSpPr>
        <p:spPr/>
        <p:txBody>
          <a:bodyPr/>
          <a:lstStyle/>
          <a:p>
            <a:fld id="{6EBA79C2-4FE3-4D0C-AFFB-D4FCE050D5EA}" type="datetimeFigureOut">
              <a:rPr lang="en-IN" smtClean="0"/>
              <a:t>26-10-2026</a:t>
            </a:fld>
            <a:endParaRPr lang="en-IN"/>
          </a:p>
        </p:txBody>
      </p:sp>
      <p:sp>
        <p:nvSpPr>
          <p:cNvPr id="3" name="Footer Placeholder 2">
            <a:extLst>
              <a:ext uri="{FF2B5EF4-FFF2-40B4-BE49-F238E27FC236}">
                <a16:creationId xmlns:a16="http://schemas.microsoft.com/office/drawing/2014/main" id="{774AA024-38B7-5F32-1894-BCE21AADFC1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36C172C-4B71-8ABE-DD86-85DD12827B5A}"/>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2826162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EB6CF-2A94-DBDD-0D5B-BC12FF3220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F4B7D8E-A4B1-A435-346C-19A718C71F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57C91E7-453A-3F92-E638-C337924651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7C4555-70D3-F8F8-D355-E9BBC9EE67F8}"/>
              </a:ext>
            </a:extLst>
          </p:cNvPr>
          <p:cNvSpPr>
            <a:spLocks noGrp="1"/>
          </p:cNvSpPr>
          <p:nvPr>
            <p:ph type="dt" sz="half" idx="10"/>
          </p:nvPr>
        </p:nvSpPr>
        <p:spPr/>
        <p:txBody>
          <a:bodyPr/>
          <a:lstStyle/>
          <a:p>
            <a:fld id="{6EBA79C2-4FE3-4D0C-AFFB-D4FCE050D5EA}" type="datetimeFigureOut">
              <a:rPr lang="en-IN" smtClean="0"/>
              <a:t>26-10-2026</a:t>
            </a:fld>
            <a:endParaRPr lang="en-IN"/>
          </a:p>
        </p:txBody>
      </p:sp>
      <p:sp>
        <p:nvSpPr>
          <p:cNvPr id="6" name="Footer Placeholder 5">
            <a:extLst>
              <a:ext uri="{FF2B5EF4-FFF2-40B4-BE49-F238E27FC236}">
                <a16:creationId xmlns:a16="http://schemas.microsoft.com/office/drawing/2014/main" id="{55FE752C-45A1-07D0-4240-44893A0DB9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DDD99C-C480-C729-0ECD-BEDE124E840E}"/>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780093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2D6FA-24BB-7D09-4CC6-34096CAB0E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C60CEAA-CE7A-1BBF-BDA9-B387E6B8B163}"/>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019DD54-A44F-A8AE-D4E9-3EB63270CC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06B6FD-902D-C3AC-D0C4-9E348A977E8B}"/>
              </a:ext>
            </a:extLst>
          </p:cNvPr>
          <p:cNvSpPr>
            <a:spLocks noGrp="1"/>
          </p:cNvSpPr>
          <p:nvPr>
            <p:ph type="dt" sz="half" idx="10"/>
          </p:nvPr>
        </p:nvSpPr>
        <p:spPr/>
        <p:txBody>
          <a:bodyPr/>
          <a:lstStyle/>
          <a:p>
            <a:fld id="{6EBA79C2-4FE3-4D0C-AFFB-D4FCE050D5EA}" type="datetimeFigureOut">
              <a:rPr lang="en-IN" smtClean="0"/>
              <a:t>26-10-2026</a:t>
            </a:fld>
            <a:endParaRPr lang="en-IN"/>
          </a:p>
        </p:txBody>
      </p:sp>
      <p:sp>
        <p:nvSpPr>
          <p:cNvPr id="6" name="Footer Placeholder 5">
            <a:extLst>
              <a:ext uri="{FF2B5EF4-FFF2-40B4-BE49-F238E27FC236}">
                <a16:creationId xmlns:a16="http://schemas.microsoft.com/office/drawing/2014/main" id="{A0D6BDC1-316A-149B-EB15-04EF4D60E7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C24CD2-3C56-F4F2-57FB-AA714E5021A0}"/>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50273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3211F-A80A-9BAC-AAEC-067CCDA5C0C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8AD45D-5A88-1664-D692-069F5C5D1A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32EEB4-BA21-8613-2094-72EEFB7929B4}"/>
              </a:ext>
            </a:extLst>
          </p:cNvPr>
          <p:cNvSpPr>
            <a:spLocks noGrp="1"/>
          </p:cNvSpPr>
          <p:nvPr>
            <p:ph type="dt" sz="half" idx="10"/>
          </p:nvPr>
        </p:nvSpPr>
        <p:spPr/>
        <p:txBody>
          <a:bodyPr/>
          <a:lstStyle/>
          <a:p>
            <a:fld id="{6EBA79C2-4FE3-4D0C-AFFB-D4FCE050D5EA}" type="datetimeFigureOut">
              <a:rPr lang="en-IN" smtClean="0"/>
              <a:t>26-10-2026</a:t>
            </a:fld>
            <a:endParaRPr lang="en-IN"/>
          </a:p>
        </p:txBody>
      </p:sp>
      <p:sp>
        <p:nvSpPr>
          <p:cNvPr id="5" name="Footer Placeholder 4">
            <a:extLst>
              <a:ext uri="{FF2B5EF4-FFF2-40B4-BE49-F238E27FC236}">
                <a16:creationId xmlns:a16="http://schemas.microsoft.com/office/drawing/2014/main" id="{A9ECE1A2-6F93-B3CC-3837-CD60E48CFF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E5D015-61E2-E514-FC97-B282920D9867}"/>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282989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873E00-8852-9872-6FBC-53717455393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02A146-0150-F26C-6A86-1CA1FD558A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077DF1-F7DE-4956-6F82-6161FC02210A}"/>
              </a:ext>
            </a:extLst>
          </p:cNvPr>
          <p:cNvSpPr>
            <a:spLocks noGrp="1"/>
          </p:cNvSpPr>
          <p:nvPr>
            <p:ph type="dt" sz="half" idx="10"/>
          </p:nvPr>
        </p:nvSpPr>
        <p:spPr/>
        <p:txBody>
          <a:bodyPr/>
          <a:lstStyle/>
          <a:p>
            <a:fld id="{6EBA79C2-4FE3-4D0C-AFFB-D4FCE050D5EA}" type="datetimeFigureOut">
              <a:rPr lang="en-IN" smtClean="0"/>
              <a:t>26-10-2026</a:t>
            </a:fld>
            <a:endParaRPr lang="en-IN"/>
          </a:p>
        </p:txBody>
      </p:sp>
      <p:sp>
        <p:nvSpPr>
          <p:cNvPr id="5" name="Footer Placeholder 4">
            <a:extLst>
              <a:ext uri="{FF2B5EF4-FFF2-40B4-BE49-F238E27FC236}">
                <a16:creationId xmlns:a16="http://schemas.microsoft.com/office/drawing/2014/main" id="{3637416A-6960-5BA0-E825-F9D0B514C1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C46A03-0511-8AD1-FB2D-69E35F8F158D}"/>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267707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5CC290-6B0D-273C-46F1-4BC1249347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E82B2E-EDC9-AB14-8964-7BE30F8DB1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485163-E247-487C-9AA7-8A7054D4AC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BA79C2-4FE3-4D0C-AFFB-D4FCE050D5EA}" type="datetimeFigureOut">
              <a:rPr lang="en-IN" smtClean="0"/>
              <a:t>26-10-2026</a:t>
            </a:fld>
            <a:endParaRPr lang="en-IN"/>
          </a:p>
        </p:txBody>
      </p:sp>
      <p:sp>
        <p:nvSpPr>
          <p:cNvPr id="5" name="Footer Placeholder 4">
            <a:extLst>
              <a:ext uri="{FF2B5EF4-FFF2-40B4-BE49-F238E27FC236}">
                <a16:creationId xmlns:a16="http://schemas.microsoft.com/office/drawing/2014/main" id="{85A01BDB-2D7B-79FC-D492-3CFF792A8A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EC906FC-E273-8A6D-0868-0A52746784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3A53CF-6AA3-4EF6-9F05-A0E3059C583D}" type="slidenum">
              <a:rPr lang="en-IN" smtClean="0"/>
              <a:t>‹#›</a:t>
            </a:fld>
            <a:endParaRPr lang="en-IN"/>
          </a:p>
        </p:txBody>
      </p:sp>
      <p:pic>
        <p:nvPicPr>
          <p:cNvPr id="8" name="Picture 7">
            <a:extLst>
              <a:ext uri="{FF2B5EF4-FFF2-40B4-BE49-F238E27FC236}">
                <a16:creationId xmlns:a16="http://schemas.microsoft.com/office/drawing/2014/main" id="{9ED41020-D2C1-2A7A-0E52-12FBDC02B9EA}"/>
              </a:ext>
            </a:extLst>
          </p:cNvPr>
          <p:cNvPicPr>
            <a:picLocks noChangeAspect="1"/>
          </p:cNvPicPr>
          <p:nvPr userDrawn="1"/>
        </p:nvPicPr>
        <p:blipFill>
          <a:blip r:embed="rId13">
            <a:alphaModFix amt="68000"/>
            <a:extLst>
              <a:ext uri="{28A0092B-C50C-407E-A947-70E740481C1C}">
                <a14:useLocalDpi xmlns:a14="http://schemas.microsoft.com/office/drawing/2010/main" val="0"/>
              </a:ext>
            </a:extLst>
          </a:blip>
          <a:stretch>
            <a:fillRect/>
          </a:stretch>
        </p:blipFill>
        <p:spPr>
          <a:xfrm>
            <a:off x="10857778" y="0"/>
            <a:ext cx="1295581" cy="924054"/>
          </a:xfrm>
          <a:prstGeom prst="rect">
            <a:avLst/>
          </a:prstGeom>
        </p:spPr>
      </p:pic>
    </p:spTree>
    <p:extLst>
      <p:ext uri="{BB962C8B-B14F-4D97-AF65-F5344CB8AC3E}">
        <p14:creationId xmlns:p14="http://schemas.microsoft.com/office/powerpoint/2010/main" val="8238220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B02FB2F-73EE-EEF7-DFBD-ECC73E49787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F614669-ADA7-7DA6-FCC9-60DD2B6B058F}"/>
              </a:ext>
            </a:extLst>
          </p:cNvPr>
          <p:cNvSpPr txBox="1"/>
          <p:nvPr/>
        </p:nvSpPr>
        <p:spPr>
          <a:xfrm>
            <a:off x="2352675" y="2337739"/>
            <a:ext cx="7486650" cy="769441"/>
          </a:xfrm>
          <a:prstGeom prst="rect">
            <a:avLst/>
          </a:prstGeom>
          <a:noFill/>
        </p:spPr>
        <p:txBody>
          <a:bodyPr wrap="square">
            <a:spAutoFit/>
          </a:bodyPr>
          <a:lstStyle/>
          <a:p>
            <a:pPr algn="ctr"/>
            <a:r>
              <a:rPr lang="en-IN" sz="4400">
                <a:solidFill>
                  <a:schemeClr val="accent6">
                    <a:lumMod val="60000"/>
                    <a:lumOff val="40000"/>
                  </a:schemeClr>
                </a:solidFill>
              </a:rPr>
              <a:t>Analyze data</a:t>
            </a:r>
          </a:p>
        </p:txBody>
      </p:sp>
    </p:spTree>
    <p:extLst>
      <p:ext uri="{BB962C8B-B14F-4D97-AF65-F5344CB8AC3E}">
        <p14:creationId xmlns:p14="http://schemas.microsoft.com/office/powerpoint/2010/main" val="1890387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5174BC9-4555-823F-D014-85E97F8EA52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121E5B4-252F-FC2C-247D-FAB6FA6FE878}"/>
              </a:ext>
            </a:extLst>
          </p:cNvPr>
          <p:cNvSpPr txBox="1"/>
          <p:nvPr/>
        </p:nvSpPr>
        <p:spPr>
          <a:xfrm>
            <a:off x="1502282" y="2237155"/>
            <a:ext cx="8985885" cy="1077218"/>
          </a:xfrm>
          <a:prstGeom prst="rect">
            <a:avLst/>
          </a:prstGeom>
          <a:noFill/>
        </p:spPr>
        <p:txBody>
          <a:bodyPr wrap="square">
            <a:spAutoFit/>
          </a:bodyPr>
          <a:lstStyle/>
          <a:p>
            <a:pPr algn="ctr"/>
            <a:r>
              <a:rPr lang="en-IN" sz="3200">
                <a:solidFill>
                  <a:schemeClr val="accent6">
                    <a:lumMod val="60000"/>
                    <a:lumOff val="40000"/>
                  </a:schemeClr>
                </a:solidFill>
              </a:rPr>
              <a:t>I used Microsoft 365 Premium (Consumer) </a:t>
            </a:r>
          </a:p>
          <a:p>
            <a:pPr algn="ctr"/>
            <a:r>
              <a:rPr lang="en-IN" sz="3200">
                <a:solidFill>
                  <a:schemeClr val="accent6">
                    <a:lumMod val="60000"/>
                    <a:lumOff val="40000"/>
                  </a:schemeClr>
                </a:solidFill>
              </a:rPr>
              <a:t>(Rs. 2000 approx. per month)</a:t>
            </a:r>
          </a:p>
        </p:txBody>
      </p:sp>
    </p:spTree>
    <p:extLst>
      <p:ext uri="{BB962C8B-B14F-4D97-AF65-F5344CB8AC3E}">
        <p14:creationId xmlns:p14="http://schemas.microsoft.com/office/powerpoint/2010/main" val="3480623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97AE100-316B-4479-65A0-AF9FD7B1EB7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E2D6DB9-1816-7F65-1214-94D0C213AB13}"/>
              </a:ext>
            </a:extLst>
          </p:cNvPr>
          <p:cNvSpPr txBox="1"/>
          <p:nvPr/>
        </p:nvSpPr>
        <p:spPr>
          <a:xfrm>
            <a:off x="0" y="0"/>
            <a:ext cx="10497312" cy="830997"/>
          </a:xfrm>
          <a:prstGeom prst="rect">
            <a:avLst/>
          </a:prstGeom>
          <a:noFill/>
        </p:spPr>
        <p:txBody>
          <a:bodyPr wrap="square">
            <a:spAutoFit/>
          </a:bodyPr>
          <a:lstStyle/>
          <a:p>
            <a:r>
              <a:rPr lang="en-IN" sz="2400">
                <a:solidFill>
                  <a:schemeClr val="accent6">
                    <a:lumMod val="60000"/>
                    <a:lumOff val="40000"/>
                  </a:schemeClr>
                </a:solidFill>
              </a:rPr>
              <a:t>You can use 1) Analyst or 2) open new chat and </a:t>
            </a:r>
          </a:p>
          <a:p>
            <a:r>
              <a:rPr lang="en-IN" sz="2400">
                <a:solidFill>
                  <a:schemeClr val="accent6">
                    <a:lumMod val="60000"/>
                    <a:lumOff val="40000"/>
                  </a:schemeClr>
                </a:solidFill>
              </a:rPr>
              <a:t>then upload the excel and ask  questions</a:t>
            </a:r>
          </a:p>
        </p:txBody>
      </p:sp>
      <p:pic>
        <p:nvPicPr>
          <p:cNvPr id="4" name="Picture 3">
            <a:extLst>
              <a:ext uri="{FF2B5EF4-FFF2-40B4-BE49-F238E27FC236}">
                <a16:creationId xmlns:a16="http://schemas.microsoft.com/office/drawing/2014/main" id="{519FF3BE-51FC-BFF8-34AA-812BFA4E24B1}"/>
              </a:ext>
            </a:extLst>
          </p:cNvPr>
          <p:cNvPicPr>
            <a:picLocks noChangeAspect="1"/>
          </p:cNvPicPr>
          <p:nvPr/>
        </p:nvPicPr>
        <p:blipFill>
          <a:blip r:embed="rId2"/>
          <a:stretch>
            <a:fillRect/>
          </a:stretch>
        </p:blipFill>
        <p:spPr>
          <a:xfrm>
            <a:off x="2935224" y="795458"/>
            <a:ext cx="8227250" cy="5943670"/>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43152C6E-BBBA-5DA7-49AC-DB6D55DF314A}"/>
                  </a:ext>
                </a:extLst>
              </p14:cNvPr>
              <p14:cNvContentPartPr/>
              <p14:nvPr/>
            </p14:nvContentPartPr>
            <p14:xfrm>
              <a:off x="3867912" y="4114440"/>
              <a:ext cx="361080" cy="267120"/>
            </p14:xfrm>
          </p:contentPart>
        </mc:Choice>
        <mc:Fallback xmlns="">
          <p:pic>
            <p:nvPicPr>
              <p:cNvPr id="5" name="Ink 4">
                <a:extLst>
                  <a:ext uri="{FF2B5EF4-FFF2-40B4-BE49-F238E27FC236}">
                    <a16:creationId xmlns:a16="http://schemas.microsoft.com/office/drawing/2014/main" id="{43152C6E-BBBA-5DA7-49AC-DB6D55DF314A}"/>
                  </a:ext>
                </a:extLst>
              </p:cNvPr>
              <p:cNvPicPr/>
              <p:nvPr/>
            </p:nvPicPr>
            <p:blipFill>
              <a:blip r:embed="rId4"/>
              <a:stretch>
                <a:fillRect/>
              </a:stretch>
            </p:blipFill>
            <p:spPr>
              <a:xfrm>
                <a:off x="3849912" y="4096800"/>
                <a:ext cx="396720" cy="302760"/>
              </a:xfrm>
              <a:prstGeom prst="rect">
                <a:avLst/>
              </a:prstGeom>
            </p:spPr>
          </p:pic>
        </mc:Fallback>
      </mc:AlternateContent>
    </p:spTree>
    <p:extLst>
      <p:ext uri="{BB962C8B-B14F-4D97-AF65-F5344CB8AC3E}">
        <p14:creationId xmlns:p14="http://schemas.microsoft.com/office/powerpoint/2010/main" val="1702364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11A99E7-CD3B-FE30-5058-9DF91CA8CDA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7BF86EB-4276-EF79-5DE9-1443021DBEA5}"/>
              </a:ext>
            </a:extLst>
          </p:cNvPr>
          <p:cNvSpPr txBox="1"/>
          <p:nvPr/>
        </p:nvSpPr>
        <p:spPr>
          <a:xfrm>
            <a:off x="603504" y="293037"/>
            <a:ext cx="10917936" cy="3785652"/>
          </a:xfrm>
          <a:prstGeom prst="rect">
            <a:avLst/>
          </a:prstGeom>
          <a:noFill/>
        </p:spPr>
        <p:txBody>
          <a:bodyPr wrap="square">
            <a:spAutoFit/>
          </a:bodyPr>
          <a:lstStyle/>
          <a:p>
            <a:pPr>
              <a:buNone/>
            </a:pPr>
            <a:r>
              <a:rPr lang="en-IN" sz="2400" b="1">
                <a:solidFill>
                  <a:schemeClr val="accent6">
                    <a:lumMod val="60000"/>
                    <a:lumOff val="40000"/>
                  </a:schemeClr>
                </a:solidFill>
              </a:rPr>
              <a:t>1. Basic data exploration - Data Profiling</a:t>
            </a:r>
            <a:r>
              <a:rPr lang="en-IN" sz="2400">
                <a:solidFill>
                  <a:schemeClr val="accent6">
                    <a:lumMod val="60000"/>
                    <a:lumOff val="40000"/>
                  </a:schemeClr>
                </a:solidFill>
              </a:rPr>
              <a:t>.</a:t>
            </a:r>
            <a:endParaRPr lang="en-IN" sz="2400" b="1">
              <a:solidFill>
                <a:schemeClr val="accent6">
                  <a:lumMod val="60000"/>
                  <a:lumOff val="40000"/>
                </a:schemeClr>
              </a:solidFill>
            </a:endParaRPr>
          </a:p>
          <a:p>
            <a:pPr>
              <a:buNone/>
            </a:pPr>
            <a:endParaRPr lang="en-IN" sz="2400">
              <a:solidFill>
                <a:schemeClr val="accent6">
                  <a:lumMod val="60000"/>
                  <a:lumOff val="40000"/>
                </a:schemeClr>
              </a:solidFill>
            </a:endParaRPr>
          </a:p>
          <a:p>
            <a:pPr>
              <a:buNone/>
            </a:pPr>
            <a:r>
              <a:rPr lang="en-IN" sz="2400">
                <a:solidFill>
                  <a:schemeClr val="accent6">
                    <a:lumMod val="60000"/>
                    <a:lumOff val="40000"/>
                  </a:schemeClr>
                </a:solidFill>
              </a:rPr>
              <a:t>Attach the </a:t>
            </a:r>
            <a:r>
              <a:rPr lang="en-IN" sz="2400" b="1" i="1">
                <a:solidFill>
                  <a:schemeClr val="accent6">
                    <a:lumMod val="60000"/>
                    <a:lumOff val="40000"/>
                  </a:schemeClr>
                </a:solidFill>
              </a:rPr>
              <a:t>data_bank_loan.csv</a:t>
            </a:r>
            <a:r>
              <a:rPr lang="en-IN" sz="2400">
                <a:solidFill>
                  <a:schemeClr val="accent6">
                    <a:lumMod val="60000"/>
                    <a:lumOff val="40000"/>
                  </a:schemeClr>
                </a:solidFill>
              </a:rPr>
              <a:t> and ask Copilot:</a:t>
            </a:r>
          </a:p>
          <a:p>
            <a:pPr marL="457200" lvl="0" indent="-457200">
              <a:buFont typeface="+mj-lt"/>
              <a:buAutoNum type="arabicPeriod"/>
            </a:pPr>
            <a:r>
              <a:rPr lang="en-IN" sz="2400">
                <a:solidFill>
                  <a:schemeClr val="accent6">
                    <a:lumMod val="60000"/>
                    <a:lumOff val="40000"/>
                  </a:schemeClr>
                </a:solidFill>
              </a:rPr>
              <a:t>“Give me an overview of this dataset. How many rows and columns are there?” </a:t>
            </a:r>
          </a:p>
          <a:p>
            <a:pPr marL="457200" lvl="0" indent="-457200">
              <a:buFont typeface="+mj-lt"/>
              <a:buAutoNum type="arabicPeriod"/>
            </a:pPr>
            <a:r>
              <a:rPr lang="en-IN" sz="2400">
                <a:solidFill>
                  <a:schemeClr val="accent6">
                    <a:lumMod val="60000"/>
                    <a:lumOff val="40000"/>
                  </a:schemeClr>
                </a:solidFill>
              </a:rPr>
              <a:t>“List all the columns and identify whether each is numerical or categorical.” </a:t>
            </a:r>
          </a:p>
          <a:p>
            <a:pPr marL="457200" lvl="0" indent="-457200">
              <a:buFont typeface="+mj-lt"/>
              <a:buAutoNum type="arabicPeriod"/>
            </a:pPr>
            <a:r>
              <a:rPr lang="en-IN" sz="2400">
                <a:solidFill>
                  <a:schemeClr val="accent6">
                    <a:lumMod val="60000"/>
                    <a:lumOff val="40000"/>
                  </a:schemeClr>
                </a:solidFill>
              </a:rPr>
              <a:t>“Calculate summary statistics for all numerical columns.” </a:t>
            </a:r>
          </a:p>
          <a:p>
            <a:pPr marL="457200" lvl="0" indent="-457200">
              <a:buFont typeface="+mj-lt"/>
              <a:buAutoNum type="arabicPeriod"/>
            </a:pPr>
            <a:r>
              <a:rPr lang="en-IN" sz="2400">
                <a:solidFill>
                  <a:schemeClr val="accent6">
                    <a:lumMod val="60000"/>
                    <a:lumOff val="40000"/>
                  </a:schemeClr>
                </a:solidFill>
              </a:rPr>
              <a:t>“Show the unique values and frequency of each categorical column.” </a:t>
            </a:r>
          </a:p>
          <a:p>
            <a:pPr marL="457200" lvl="0" indent="-457200">
              <a:buFont typeface="+mj-lt"/>
              <a:buAutoNum type="arabicPeriod"/>
            </a:pPr>
            <a:r>
              <a:rPr lang="en-IN" sz="2400">
                <a:solidFill>
                  <a:schemeClr val="accent6">
                    <a:lumMod val="60000"/>
                    <a:lumOff val="40000"/>
                  </a:schemeClr>
                </a:solidFill>
              </a:rPr>
              <a:t>“Identify columns containing missing values and show the percentage of missing values.” </a:t>
            </a:r>
          </a:p>
          <a:p>
            <a:pPr marL="457200" lvl="0" indent="-457200">
              <a:buFont typeface="+mj-lt"/>
              <a:buAutoNum type="arabicPeriod"/>
            </a:pPr>
            <a:r>
              <a:rPr lang="en-IN" sz="2400">
                <a:solidFill>
                  <a:schemeClr val="accent6">
                    <a:lumMod val="60000"/>
                    <a:lumOff val="40000"/>
                  </a:schemeClr>
                </a:solidFill>
              </a:rPr>
              <a:t>“Check whether there are duplicate Loan_IDs.” </a:t>
            </a:r>
          </a:p>
        </p:txBody>
      </p:sp>
    </p:spTree>
    <p:extLst>
      <p:ext uri="{BB962C8B-B14F-4D97-AF65-F5344CB8AC3E}">
        <p14:creationId xmlns:p14="http://schemas.microsoft.com/office/powerpoint/2010/main" val="2105334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A705CB2-3F39-590B-93CD-2F28D3DDC49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C78B1CF6-0489-D920-5D63-E9B6349713E3}"/>
              </a:ext>
            </a:extLst>
          </p:cNvPr>
          <p:cNvSpPr txBox="1"/>
          <p:nvPr/>
        </p:nvSpPr>
        <p:spPr>
          <a:xfrm>
            <a:off x="2203775" y="308502"/>
            <a:ext cx="668773" cy="584775"/>
          </a:xfrm>
          <a:prstGeom prst="rect">
            <a:avLst/>
          </a:prstGeom>
          <a:noFill/>
        </p:spPr>
        <p:txBody>
          <a:bodyPr wrap="none" rtlCol="0">
            <a:spAutoFit/>
          </a:bodyPr>
          <a:lstStyle/>
          <a:p>
            <a:r>
              <a:rPr lang="en-IN" sz="3200">
                <a:solidFill>
                  <a:schemeClr val="accent6">
                    <a:lumMod val="60000"/>
                    <a:lumOff val="40000"/>
                  </a:schemeClr>
                </a:solidFill>
              </a:rPr>
              <a:t>Q1</a:t>
            </a:r>
          </a:p>
        </p:txBody>
      </p:sp>
      <p:sp>
        <p:nvSpPr>
          <p:cNvPr id="11" name="TextBox 10">
            <a:extLst>
              <a:ext uri="{FF2B5EF4-FFF2-40B4-BE49-F238E27FC236}">
                <a16:creationId xmlns:a16="http://schemas.microsoft.com/office/drawing/2014/main" id="{6733DBF3-A4D4-E520-B40D-DE21D5902478}"/>
              </a:ext>
            </a:extLst>
          </p:cNvPr>
          <p:cNvSpPr txBox="1"/>
          <p:nvPr/>
        </p:nvSpPr>
        <p:spPr>
          <a:xfrm>
            <a:off x="8650679" y="527737"/>
            <a:ext cx="668773" cy="584775"/>
          </a:xfrm>
          <a:prstGeom prst="rect">
            <a:avLst/>
          </a:prstGeom>
          <a:noFill/>
        </p:spPr>
        <p:txBody>
          <a:bodyPr wrap="none" rtlCol="0">
            <a:spAutoFit/>
          </a:bodyPr>
          <a:lstStyle/>
          <a:p>
            <a:r>
              <a:rPr lang="en-IN" sz="3200">
                <a:solidFill>
                  <a:schemeClr val="accent6">
                    <a:lumMod val="60000"/>
                    <a:lumOff val="40000"/>
                  </a:schemeClr>
                </a:solidFill>
              </a:rPr>
              <a:t>Q2</a:t>
            </a:r>
          </a:p>
        </p:txBody>
      </p:sp>
      <p:pic>
        <p:nvPicPr>
          <p:cNvPr id="4" name="Picture 3">
            <a:extLst>
              <a:ext uri="{FF2B5EF4-FFF2-40B4-BE49-F238E27FC236}">
                <a16:creationId xmlns:a16="http://schemas.microsoft.com/office/drawing/2014/main" id="{D81661ED-6B5C-04E6-0375-4BB0D6BA77DC}"/>
              </a:ext>
            </a:extLst>
          </p:cNvPr>
          <p:cNvPicPr>
            <a:picLocks noChangeAspect="1"/>
          </p:cNvPicPr>
          <p:nvPr/>
        </p:nvPicPr>
        <p:blipFill>
          <a:blip r:embed="rId2"/>
          <a:stretch>
            <a:fillRect/>
          </a:stretch>
        </p:blipFill>
        <p:spPr>
          <a:xfrm>
            <a:off x="138171" y="820125"/>
            <a:ext cx="3770640" cy="5885877"/>
          </a:xfrm>
          <a:prstGeom prst="rect">
            <a:avLst/>
          </a:prstGeom>
        </p:spPr>
      </p:pic>
      <p:pic>
        <p:nvPicPr>
          <p:cNvPr id="7" name="Picture 6">
            <a:extLst>
              <a:ext uri="{FF2B5EF4-FFF2-40B4-BE49-F238E27FC236}">
                <a16:creationId xmlns:a16="http://schemas.microsoft.com/office/drawing/2014/main" id="{06DC84B1-1C7C-4802-8CFE-DA07762EE9D3}"/>
              </a:ext>
            </a:extLst>
          </p:cNvPr>
          <p:cNvPicPr>
            <a:picLocks noChangeAspect="1"/>
          </p:cNvPicPr>
          <p:nvPr/>
        </p:nvPicPr>
        <p:blipFill>
          <a:blip r:embed="rId3"/>
          <a:stretch>
            <a:fillRect/>
          </a:stretch>
        </p:blipFill>
        <p:spPr>
          <a:xfrm>
            <a:off x="5321877" y="1033272"/>
            <a:ext cx="5922627" cy="6135978"/>
          </a:xfrm>
          <a:prstGeom prst="rect">
            <a:avLst/>
          </a:prstGeom>
        </p:spPr>
      </p:pic>
      <p:sp>
        <p:nvSpPr>
          <p:cNvPr id="3" name="TextBox 2">
            <a:extLst>
              <a:ext uri="{FF2B5EF4-FFF2-40B4-BE49-F238E27FC236}">
                <a16:creationId xmlns:a16="http://schemas.microsoft.com/office/drawing/2014/main" id="{B7074DA5-1DDC-E30E-7B0C-B2D920D7CB28}"/>
              </a:ext>
            </a:extLst>
          </p:cNvPr>
          <p:cNvSpPr txBox="1"/>
          <p:nvPr/>
        </p:nvSpPr>
        <p:spPr>
          <a:xfrm>
            <a:off x="0" y="0"/>
            <a:ext cx="2993628" cy="461665"/>
          </a:xfrm>
          <a:prstGeom prst="rect">
            <a:avLst/>
          </a:prstGeom>
          <a:noFill/>
        </p:spPr>
        <p:txBody>
          <a:bodyPr wrap="square">
            <a:spAutoFit/>
          </a:bodyPr>
          <a:lstStyle/>
          <a:p>
            <a:r>
              <a:rPr lang="en-IN" sz="2400">
                <a:solidFill>
                  <a:schemeClr val="accent6">
                    <a:lumMod val="60000"/>
                    <a:lumOff val="40000"/>
                  </a:schemeClr>
                </a:solidFill>
              </a:rPr>
              <a:t>Sample Output</a:t>
            </a:r>
          </a:p>
        </p:txBody>
      </p:sp>
    </p:spTree>
    <p:extLst>
      <p:ext uri="{BB962C8B-B14F-4D97-AF65-F5344CB8AC3E}">
        <p14:creationId xmlns:p14="http://schemas.microsoft.com/office/powerpoint/2010/main" val="1746946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A3E3D9D-0698-14CC-77A8-4BFA515A909C}"/>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40DFB7C-B15E-F738-4F36-1EC4A4CAA342}"/>
              </a:ext>
            </a:extLst>
          </p:cNvPr>
          <p:cNvSpPr txBox="1"/>
          <p:nvPr/>
        </p:nvSpPr>
        <p:spPr>
          <a:xfrm>
            <a:off x="332687" y="1350918"/>
            <a:ext cx="668773" cy="584775"/>
          </a:xfrm>
          <a:prstGeom prst="rect">
            <a:avLst/>
          </a:prstGeom>
          <a:noFill/>
        </p:spPr>
        <p:txBody>
          <a:bodyPr wrap="none" rtlCol="0">
            <a:spAutoFit/>
          </a:bodyPr>
          <a:lstStyle/>
          <a:p>
            <a:r>
              <a:rPr lang="en-IN" sz="3200">
                <a:solidFill>
                  <a:schemeClr val="accent6">
                    <a:lumMod val="60000"/>
                    <a:lumOff val="40000"/>
                  </a:schemeClr>
                </a:solidFill>
              </a:rPr>
              <a:t>Q3</a:t>
            </a:r>
          </a:p>
        </p:txBody>
      </p:sp>
      <p:pic>
        <p:nvPicPr>
          <p:cNvPr id="3" name="Picture 2">
            <a:extLst>
              <a:ext uri="{FF2B5EF4-FFF2-40B4-BE49-F238E27FC236}">
                <a16:creationId xmlns:a16="http://schemas.microsoft.com/office/drawing/2014/main" id="{D66DF195-163D-79D0-FDF3-D305A405E968}"/>
              </a:ext>
            </a:extLst>
          </p:cNvPr>
          <p:cNvPicPr>
            <a:picLocks noChangeAspect="1"/>
          </p:cNvPicPr>
          <p:nvPr/>
        </p:nvPicPr>
        <p:blipFill>
          <a:blip r:embed="rId2"/>
          <a:stretch>
            <a:fillRect/>
          </a:stretch>
        </p:blipFill>
        <p:spPr>
          <a:xfrm>
            <a:off x="2743201" y="-16420"/>
            <a:ext cx="8112994" cy="6577515"/>
          </a:xfrm>
          <a:prstGeom prst="rect">
            <a:avLst/>
          </a:prstGeom>
        </p:spPr>
      </p:pic>
      <p:sp>
        <p:nvSpPr>
          <p:cNvPr id="4" name="TextBox 3">
            <a:extLst>
              <a:ext uri="{FF2B5EF4-FFF2-40B4-BE49-F238E27FC236}">
                <a16:creationId xmlns:a16="http://schemas.microsoft.com/office/drawing/2014/main" id="{7942B629-34FB-D35C-4D7A-E9A3A601F84F}"/>
              </a:ext>
            </a:extLst>
          </p:cNvPr>
          <p:cNvSpPr txBox="1"/>
          <p:nvPr/>
        </p:nvSpPr>
        <p:spPr>
          <a:xfrm>
            <a:off x="124897" y="57038"/>
            <a:ext cx="2993628" cy="461665"/>
          </a:xfrm>
          <a:prstGeom prst="rect">
            <a:avLst/>
          </a:prstGeom>
          <a:noFill/>
        </p:spPr>
        <p:txBody>
          <a:bodyPr wrap="square">
            <a:spAutoFit/>
          </a:bodyPr>
          <a:lstStyle/>
          <a:p>
            <a:r>
              <a:rPr lang="en-IN" sz="2400">
                <a:solidFill>
                  <a:schemeClr val="accent6">
                    <a:lumMod val="60000"/>
                    <a:lumOff val="40000"/>
                  </a:schemeClr>
                </a:solidFill>
              </a:rPr>
              <a:t>Sample Output</a:t>
            </a:r>
          </a:p>
        </p:txBody>
      </p:sp>
    </p:spTree>
    <p:extLst>
      <p:ext uri="{BB962C8B-B14F-4D97-AF65-F5344CB8AC3E}">
        <p14:creationId xmlns:p14="http://schemas.microsoft.com/office/powerpoint/2010/main" val="11780514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E4BBEE5-8E94-FCA5-35BE-021137C123D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CDE682B-6CC2-9528-5915-10D97CE769C9}"/>
              </a:ext>
            </a:extLst>
          </p:cNvPr>
          <p:cNvSpPr txBox="1"/>
          <p:nvPr/>
        </p:nvSpPr>
        <p:spPr>
          <a:xfrm>
            <a:off x="2023491" y="0"/>
            <a:ext cx="7486650" cy="584775"/>
          </a:xfrm>
          <a:prstGeom prst="rect">
            <a:avLst/>
          </a:prstGeom>
          <a:noFill/>
        </p:spPr>
        <p:txBody>
          <a:bodyPr wrap="square">
            <a:spAutoFit/>
          </a:bodyPr>
          <a:lstStyle/>
          <a:p>
            <a:pPr algn="ctr"/>
            <a:r>
              <a:rPr lang="en-IN" sz="3200">
                <a:solidFill>
                  <a:schemeClr val="accent6">
                    <a:lumMod val="60000"/>
                    <a:lumOff val="40000"/>
                  </a:schemeClr>
                </a:solidFill>
              </a:rPr>
              <a:t>Sample Output</a:t>
            </a:r>
          </a:p>
        </p:txBody>
      </p:sp>
      <p:sp>
        <p:nvSpPr>
          <p:cNvPr id="9" name="TextBox 8">
            <a:extLst>
              <a:ext uri="{FF2B5EF4-FFF2-40B4-BE49-F238E27FC236}">
                <a16:creationId xmlns:a16="http://schemas.microsoft.com/office/drawing/2014/main" id="{6E04B11D-F013-893B-6098-C3D643ACA0DE}"/>
              </a:ext>
            </a:extLst>
          </p:cNvPr>
          <p:cNvSpPr txBox="1"/>
          <p:nvPr/>
        </p:nvSpPr>
        <p:spPr>
          <a:xfrm>
            <a:off x="469847" y="2311038"/>
            <a:ext cx="668773" cy="584775"/>
          </a:xfrm>
          <a:prstGeom prst="rect">
            <a:avLst/>
          </a:prstGeom>
          <a:noFill/>
        </p:spPr>
        <p:txBody>
          <a:bodyPr wrap="none" rtlCol="0">
            <a:spAutoFit/>
          </a:bodyPr>
          <a:lstStyle/>
          <a:p>
            <a:r>
              <a:rPr lang="en-IN" sz="3200">
                <a:solidFill>
                  <a:schemeClr val="accent6">
                    <a:lumMod val="60000"/>
                    <a:lumOff val="40000"/>
                  </a:schemeClr>
                </a:solidFill>
              </a:rPr>
              <a:t>Q4</a:t>
            </a:r>
          </a:p>
        </p:txBody>
      </p:sp>
      <p:pic>
        <p:nvPicPr>
          <p:cNvPr id="4" name="Picture 3">
            <a:extLst>
              <a:ext uri="{FF2B5EF4-FFF2-40B4-BE49-F238E27FC236}">
                <a16:creationId xmlns:a16="http://schemas.microsoft.com/office/drawing/2014/main" id="{6787BEA5-E9F3-9721-6D30-F17298EEA5F4}"/>
              </a:ext>
            </a:extLst>
          </p:cNvPr>
          <p:cNvPicPr>
            <a:picLocks noChangeAspect="1"/>
          </p:cNvPicPr>
          <p:nvPr/>
        </p:nvPicPr>
        <p:blipFill>
          <a:blip r:embed="rId2"/>
          <a:stretch>
            <a:fillRect/>
          </a:stretch>
        </p:blipFill>
        <p:spPr>
          <a:xfrm>
            <a:off x="4249023" y="0"/>
            <a:ext cx="6601746" cy="6697010"/>
          </a:xfrm>
          <a:prstGeom prst="rect">
            <a:avLst/>
          </a:prstGeom>
        </p:spPr>
      </p:pic>
      <p:sp>
        <p:nvSpPr>
          <p:cNvPr id="3" name="TextBox 2">
            <a:extLst>
              <a:ext uri="{FF2B5EF4-FFF2-40B4-BE49-F238E27FC236}">
                <a16:creationId xmlns:a16="http://schemas.microsoft.com/office/drawing/2014/main" id="{BCE33E2F-4FEA-7ED9-80F9-98E3F253F39A}"/>
              </a:ext>
            </a:extLst>
          </p:cNvPr>
          <p:cNvSpPr txBox="1"/>
          <p:nvPr/>
        </p:nvSpPr>
        <p:spPr>
          <a:xfrm>
            <a:off x="469847" y="210312"/>
            <a:ext cx="2993628" cy="461665"/>
          </a:xfrm>
          <a:prstGeom prst="rect">
            <a:avLst/>
          </a:prstGeom>
          <a:noFill/>
        </p:spPr>
        <p:txBody>
          <a:bodyPr wrap="square">
            <a:spAutoFit/>
          </a:bodyPr>
          <a:lstStyle/>
          <a:p>
            <a:r>
              <a:rPr lang="en-IN" sz="2400">
                <a:solidFill>
                  <a:schemeClr val="accent6">
                    <a:lumMod val="60000"/>
                    <a:lumOff val="40000"/>
                  </a:schemeClr>
                </a:solidFill>
              </a:rPr>
              <a:t>Sample Output</a:t>
            </a:r>
          </a:p>
        </p:txBody>
      </p:sp>
    </p:spTree>
    <p:extLst>
      <p:ext uri="{BB962C8B-B14F-4D97-AF65-F5344CB8AC3E}">
        <p14:creationId xmlns:p14="http://schemas.microsoft.com/office/powerpoint/2010/main" val="2114105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6FEB28C-241F-15D9-76E3-C13679CE9EB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21BE6A7-B964-D562-DE19-737F266FFF9A}"/>
              </a:ext>
            </a:extLst>
          </p:cNvPr>
          <p:cNvSpPr txBox="1"/>
          <p:nvPr/>
        </p:nvSpPr>
        <p:spPr>
          <a:xfrm>
            <a:off x="603504" y="293037"/>
            <a:ext cx="10917936" cy="3416320"/>
          </a:xfrm>
          <a:prstGeom prst="rect">
            <a:avLst/>
          </a:prstGeom>
          <a:noFill/>
        </p:spPr>
        <p:txBody>
          <a:bodyPr wrap="square">
            <a:spAutoFit/>
          </a:bodyPr>
          <a:lstStyle/>
          <a:p>
            <a:r>
              <a:rPr lang="en-IN" sz="2400" b="1">
                <a:solidFill>
                  <a:schemeClr val="accent6">
                    <a:lumMod val="60000"/>
                    <a:lumOff val="40000"/>
                  </a:schemeClr>
                </a:solidFill>
              </a:rPr>
              <a:t>2. Applicant demographics</a:t>
            </a:r>
          </a:p>
          <a:p>
            <a:endParaRPr lang="en-IN" sz="2400" b="1">
              <a:solidFill>
                <a:schemeClr val="accent6">
                  <a:lumMod val="60000"/>
                  <a:lumOff val="40000"/>
                </a:schemeClr>
              </a:solidFill>
            </a:endParaRPr>
          </a:p>
          <a:p>
            <a:r>
              <a:rPr lang="en-IN" sz="2400">
                <a:solidFill>
                  <a:schemeClr val="accent6">
                    <a:lumMod val="60000"/>
                    <a:lumOff val="40000"/>
                  </a:schemeClr>
                </a:solidFill>
              </a:rPr>
              <a:t>Ask:</a:t>
            </a:r>
          </a:p>
          <a:p>
            <a:pPr marL="457200" lvl="0" indent="-457200">
              <a:buFont typeface="+mj-lt"/>
              <a:buAutoNum type="arabicPeriod"/>
            </a:pPr>
            <a:r>
              <a:rPr lang="en-IN" sz="2400">
                <a:solidFill>
                  <a:schemeClr val="accent6">
                    <a:lumMod val="60000"/>
                    <a:lumOff val="40000"/>
                  </a:schemeClr>
                </a:solidFill>
              </a:rPr>
              <a:t>“What percentage of applicants are male vs female?” </a:t>
            </a:r>
          </a:p>
          <a:p>
            <a:pPr marL="457200" lvl="0" indent="-457200">
              <a:buFont typeface="+mj-lt"/>
              <a:buAutoNum type="arabicPeriod"/>
            </a:pPr>
            <a:r>
              <a:rPr lang="en-IN" sz="2400">
                <a:solidFill>
                  <a:schemeClr val="accent6">
                    <a:lumMod val="60000"/>
                    <a:lumOff val="40000"/>
                  </a:schemeClr>
                </a:solidFill>
              </a:rPr>
              <a:t>“What percentage of applicants are married?” </a:t>
            </a:r>
          </a:p>
          <a:p>
            <a:pPr marL="457200" lvl="0" indent="-457200">
              <a:buFont typeface="+mj-lt"/>
              <a:buAutoNum type="arabicPeriod"/>
            </a:pPr>
            <a:r>
              <a:rPr lang="en-IN" sz="2400">
                <a:solidFill>
                  <a:schemeClr val="accent6">
                    <a:lumMod val="60000"/>
                    <a:lumOff val="40000"/>
                  </a:schemeClr>
                </a:solidFill>
              </a:rPr>
              <a:t>“Show the distribution of applicants by education level.” </a:t>
            </a:r>
          </a:p>
          <a:p>
            <a:pPr marL="457200" lvl="0" indent="-457200">
              <a:buFont typeface="+mj-lt"/>
              <a:buAutoNum type="arabicPeriod"/>
            </a:pPr>
            <a:r>
              <a:rPr lang="en-IN" sz="2400">
                <a:solidFill>
                  <a:schemeClr val="accent6">
                    <a:lumMod val="60000"/>
                    <a:lumOff val="40000"/>
                  </a:schemeClr>
                </a:solidFill>
              </a:rPr>
              <a:t>“What is the distribution of applicants by property area?” </a:t>
            </a:r>
          </a:p>
          <a:p>
            <a:pPr marL="457200" lvl="0" indent="-457200">
              <a:buFont typeface="+mj-lt"/>
              <a:buAutoNum type="arabicPeriod"/>
            </a:pPr>
            <a:r>
              <a:rPr lang="en-IN" sz="2400">
                <a:solidFill>
                  <a:schemeClr val="accent6">
                    <a:lumMod val="60000"/>
                    <a:lumOff val="40000"/>
                  </a:schemeClr>
                </a:solidFill>
              </a:rPr>
              <a:t>“How many applicants are self-employed?” </a:t>
            </a:r>
          </a:p>
          <a:p>
            <a:pPr marL="457200" lvl="0" indent="-457200">
              <a:buFont typeface="+mj-lt"/>
              <a:buAutoNum type="arabicPeriod"/>
            </a:pPr>
            <a:r>
              <a:rPr lang="en-IN" sz="2400">
                <a:solidFill>
                  <a:schemeClr val="accent6">
                    <a:lumMod val="60000"/>
                    <a:lumOff val="40000"/>
                  </a:schemeClr>
                </a:solidFill>
              </a:rPr>
              <a:t>“Analyze the distribution of dependents.” </a:t>
            </a:r>
          </a:p>
        </p:txBody>
      </p:sp>
    </p:spTree>
    <p:extLst>
      <p:ext uri="{BB962C8B-B14F-4D97-AF65-F5344CB8AC3E}">
        <p14:creationId xmlns:p14="http://schemas.microsoft.com/office/powerpoint/2010/main" val="4010220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A947682-E162-53F4-C72B-E75935F004CC}"/>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7F186D4A-AA68-6C82-3204-29A37A5BB12A}"/>
              </a:ext>
            </a:extLst>
          </p:cNvPr>
          <p:cNvSpPr txBox="1"/>
          <p:nvPr/>
        </p:nvSpPr>
        <p:spPr>
          <a:xfrm>
            <a:off x="643583" y="235350"/>
            <a:ext cx="668773" cy="584775"/>
          </a:xfrm>
          <a:prstGeom prst="rect">
            <a:avLst/>
          </a:prstGeom>
          <a:noFill/>
        </p:spPr>
        <p:txBody>
          <a:bodyPr wrap="none" rtlCol="0">
            <a:spAutoFit/>
          </a:bodyPr>
          <a:lstStyle/>
          <a:p>
            <a:r>
              <a:rPr lang="en-IN" sz="3200">
                <a:solidFill>
                  <a:schemeClr val="accent6">
                    <a:lumMod val="60000"/>
                    <a:lumOff val="40000"/>
                  </a:schemeClr>
                </a:solidFill>
              </a:rPr>
              <a:t>Q1</a:t>
            </a:r>
          </a:p>
        </p:txBody>
      </p:sp>
      <p:pic>
        <p:nvPicPr>
          <p:cNvPr id="3" name="Picture 2">
            <a:extLst>
              <a:ext uri="{FF2B5EF4-FFF2-40B4-BE49-F238E27FC236}">
                <a16:creationId xmlns:a16="http://schemas.microsoft.com/office/drawing/2014/main" id="{3143A026-30E2-6A65-509F-C2CC4AF80135}"/>
              </a:ext>
            </a:extLst>
          </p:cNvPr>
          <p:cNvPicPr>
            <a:picLocks noChangeAspect="1"/>
          </p:cNvPicPr>
          <p:nvPr/>
        </p:nvPicPr>
        <p:blipFill>
          <a:blip r:embed="rId2"/>
          <a:stretch>
            <a:fillRect/>
          </a:stretch>
        </p:blipFill>
        <p:spPr>
          <a:xfrm>
            <a:off x="3457206" y="432969"/>
            <a:ext cx="5277587" cy="5992061"/>
          </a:xfrm>
          <a:prstGeom prst="rect">
            <a:avLst/>
          </a:prstGeom>
        </p:spPr>
      </p:pic>
      <p:sp>
        <p:nvSpPr>
          <p:cNvPr id="4" name="TextBox 3">
            <a:extLst>
              <a:ext uri="{FF2B5EF4-FFF2-40B4-BE49-F238E27FC236}">
                <a16:creationId xmlns:a16="http://schemas.microsoft.com/office/drawing/2014/main" id="{0FF44810-85EF-C33E-CA64-65457B220E5A}"/>
              </a:ext>
            </a:extLst>
          </p:cNvPr>
          <p:cNvSpPr txBox="1"/>
          <p:nvPr/>
        </p:nvSpPr>
        <p:spPr>
          <a:xfrm>
            <a:off x="2023491" y="0"/>
            <a:ext cx="7486650" cy="461665"/>
          </a:xfrm>
          <a:prstGeom prst="rect">
            <a:avLst/>
          </a:prstGeom>
          <a:noFill/>
        </p:spPr>
        <p:txBody>
          <a:bodyPr wrap="square">
            <a:spAutoFit/>
          </a:bodyPr>
          <a:lstStyle/>
          <a:p>
            <a:pPr algn="ctr"/>
            <a:r>
              <a:rPr lang="en-IN" sz="2400">
                <a:solidFill>
                  <a:schemeClr val="accent6">
                    <a:lumMod val="60000"/>
                    <a:lumOff val="40000"/>
                  </a:schemeClr>
                </a:solidFill>
              </a:rPr>
              <a:t>Sample Output</a:t>
            </a:r>
          </a:p>
        </p:txBody>
      </p:sp>
    </p:spTree>
    <p:extLst>
      <p:ext uri="{BB962C8B-B14F-4D97-AF65-F5344CB8AC3E}">
        <p14:creationId xmlns:p14="http://schemas.microsoft.com/office/powerpoint/2010/main" val="834339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A03D18E-EEC9-4C5C-40A8-7474EA7C151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924A712-1B8D-0A03-3573-0A06FC4B2DB0}"/>
              </a:ext>
            </a:extLst>
          </p:cNvPr>
          <p:cNvSpPr txBox="1"/>
          <p:nvPr/>
        </p:nvSpPr>
        <p:spPr>
          <a:xfrm>
            <a:off x="2369648" y="-57038"/>
            <a:ext cx="7486650" cy="584775"/>
          </a:xfrm>
          <a:prstGeom prst="rect">
            <a:avLst/>
          </a:prstGeom>
          <a:noFill/>
        </p:spPr>
        <p:txBody>
          <a:bodyPr wrap="square">
            <a:spAutoFit/>
          </a:bodyPr>
          <a:lstStyle/>
          <a:p>
            <a:pPr algn="ctr"/>
            <a:r>
              <a:rPr lang="en-IN" sz="3200">
                <a:solidFill>
                  <a:schemeClr val="accent6">
                    <a:lumMod val="60000"/>
                    <a:lumOff val="40000"/>
                  </a:schemeClr>
                </a:solidFill>
              </a:rPr>
              <a:t>Sample Output</a:t>
            </a:r>
          </a:p>
        </p:txBody>
      </p:sp>
      <p:sp>
        <p:nvSpPr>
          <p:cNvPr id="9" name="TextBox 8">
            <a:extLst>
              <a:ext uri="{FF2B5EF4-FFF2-40B4-BE49-F238E27FC236}">
                <a16:creationId xmlns:a16="http://schemas.microsoft.com/office/drawing/2014/main" id="{F588DA4D-B9B4-5FFD-9F58-8BA3CD01A9DA}"/>
              </a:ext>
            </a:extLst>
          </p:cNvPr>
          <p:cNvSpPr txBox="1"/>
          <p:nvPr/>
        </p:nvSpPr>
        <p:spPr>
          <a:xfrm>
            <a:off x="0" y="291291"/>
            <a:ext cx="12124944" cy="1015663"/>
          </a:xfrm>
          <a:prstGeom prst="rect">
            <a:avLst/>
          </a:prstGeom>
          <a:noFill/>
        </p:spPr>
        <p:txBody>
          <a:bodyPr wrap="square" rtlCol="0">
            <a:spAutoFit/>
          </a:bodyPr>
          <a:lstStyle/>
          <a:p>
            <a:r>
              <a:rPr lang="en-IN" sz="2000">
                <a:solidFill>
                  <a:schemeClr val="accent6">
                    <a:lumMod val="60000"/>
                    <a:lumOff val="40000"/>
                  </a:schemeClr>
                </a:solidFill>
              </a:rPr>
              <a:t>Open the excel file and then ask Copilot to visualize them:</a:t>
            </a:r>
          </a:p>
          <a:p>
            <a:r>
              <a:rPr lang="en-IN" sz="2000">
                <a:solidFill>
                  <a:schemeClr val="accent6">
                    <a:lumMod val="60000"/>
                    <a:lumOff val="40000"/>
                  </a:schemeClr>
                </a:solidFill>
              </a:rPr>
              <a:t>“Create suitable charts to visualize the demographic characteristics of loan applicants. Put the charts in a separate sheet”</a:t>
            </a:r>
          </a:p>
        </p:txBody>
      </p:sp>
      <p:pic>
        <p:nvPicPr>
          <p:cNvPr id="4" name="Picture 3">
            <a:extLst>
              <a:ext uri="{FF2B5EF4-FFF2-40B4-BE49-F238E27FC236}">
                <a16:creationId xmlns:a16="http://schemas.microsoft.com/office/drawing/2014/main" id="{BB9F7F13-0D8E-EFB1-E3F2-03512B508601}"/>
              </a:ext>
            </a:extLst>
          </p:cNvPr>
          <p:cNvPicPr>
            <a:picLocks noChangeAspect="1"/>
          </p:cNvPicPr>
          <p:nvPr/>
        </p:nvPicPr>
        <p:blipFill>
          <a:blip r:embed="rId2"/>
          <a:stretch>
            <a:fillRect/>
          </a:stretch>
        </p:blipFill>
        <p:spPr>
          <a:xfrm>
            <a:off x="936284" y="987553"/>
            <a:ext cx="11188660" cy="5861304"/>
          </a:xfrm>
          <a:prstGeom prst="rect">
            <a:avLst/>
          </a:prstGeom>
        </p:spPr>
      </p:pic>
    </p:spTree>
    <p:extLst>
      <p:ext uri="{BB962C8B-B14F-4D97-AF65-F5344CB8AC3E}">
        <p14:creationId xmlns:p14="http://schemas.microsoft.com/office/powerpoint/2010/main" val="2193900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24CC301-16B8-9FD1-9B57-28AD94DC187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54D9CB3-D477-DD2B-6540-D12F274BBFB0}"/>
              </a:ext>
            </a:extLst>
          </p:cNvPr>
          <p:cNvSpPr txBox="1"/>
          <p:nvPr/>
        </p:nvSpPr>
        <p:spPr>
          <a:xfrm>
            <a:off x="603504" y="293037"/>
            <a:ext cx="10917936" cy="5632311"/>
          </a:xfrm>
          <a:prstGeom prst="rect">
            <a:avLst/>
          </a:prstGeom>
          <a:noFill/>
        </p:spPr>
        <p:txBody>
          <a:bodyPr wrap="square">
            <a:spAutoFit/>
          </a:bodyPr>
          <a:lstStyle/>
          <a:p>
            <a:r>
              <a:rPr lang="en-IN" sz="2400" b="1">
                <a:solidFill>
                  <a:schemeClr val="accent6">
                    <a:lumMod val="60000"/>
                    <a:lumOff val="40000"/>
                  </a:schemeClr>
                </a:solidFill>
              </a:rPr>
              <a:t>3. Income analysis</a:t>
            </a:r>
          </a:p>
          <a:p>
            <a:endParaRPr lang="en-IN" sz="2400" b="1">
              <a:solidFill>
                <a:schemeClr val="accent6">
                  <a:lumMod val="60000"/>
                  <a:lumOff val="40000"/>
                </a:schemeClr>
              </a:solidFill>
            </a:endParaRPr>
          </a:p>
          <a:p>
            <a:r>
              <a:rPr lang="en-IN" sz="2400">
                <a:solidFill>
                  <a:schemeClr val="accent6">
                    <a:lumMod val="60000"/>
                    <a:lumOff val="40000"/>
                  </a:schemeClr>
                </a:solidFill>
              </a:rPr>
              <a:t>Ask:</a:t>
            </a:r>
          </a:p>
          <a:p>
            <a:pPr marL="457200" lvl="0" indent="-457200">
              <a:buFont typeface="+mj-lt"/>
              <a:buAutoNum type="arabicPeriod"/>
            </a:pPr>
            <a:r>
              <a:rPr lang="en-IN" sz="2400">
                <a:solidFill>
                  <a:schemeClr val="accent6">
                    <a:lumMod val="60000"/>
                    <a:lumOff val="40000"/>
                  </a:schemeClr>
                </a:solidFill>
              </a:rPr>
              <a:t>“What is the average ApplicantIncome?” </a:t>
            </a:r>
          </a:p>
          <a:p>
            <a:pPr marL="457200" lvl="0" indent="-457200">
              <a:buFont typeface="+mj-lt"/>
              <a:buAutoNum type="arabicPeriod"/>
            </a:pPr>
            <a:r>
              <a:rPr lang="en-IN" sz="2400">
                <a:solidFill>
                  <a:schemeClr val="accent6">
                    <a:lumMod val="60000"/>
                    <a:lumOff val="40000"/>
                  </a:schemeClr>
                </a:solidFill>
              </a:rPr>
              <a:t>“What is the average CoapplicantIncome?” </a:t>
            </a:r>
          </a:p>
          <a:p>
            <a:pPr marL="457200" lvl="0" indent="-457200">
              <a:buFont typeface="+mj-lt"/>
              <a:buAutoNum type="arabicPeriod"/>
            </a:pPr>
            <a:r>
              <a:rPr lang="en-IN" sz="2400">
                <a:solidFill>
                  <a:schemeClr val="accent6">
                    <a:lumMod val="60000"/>
                    <a:lumOff val="40000"/>
                  </a:schemeClr>
                </a:solidFill>
              </a:rPr>
              <a:t>“Calculate TotalIncome = ApplicantIncome + CoapplicantIncome.” </a:t>
            </a:r>
          </a:p>
          <a:p>
            <a:pPr marL="457200" lvl="0" indent="-457200">
              <a:buFont typeface="+mj-lt"/>
              <a:buAutoNum type="arabicPeriod"/>
            </a:pPr>
            <a:r>
              <a:rPr lang="en-IN" sz="2400">
                <a:solidFill>
                  <a:schemeClr val="accent6">
                    <a:lumMod val="60000"/>
                    <a:lumOff val="40000"/>
                  </a:schemeClr>
                </a:solidFill>
              </a:rPr>
              <a:t>“Show the distribution of TotalIncome.” </a:t>
            </a:r>
          </a:p>
          <a:p>
            <a:pPr marL="457200" lvl="0" indent="-457200">
              <a:buFont typeface="+mj-lt"/>
              <a:buAutoNum type="arabicPeriod"/>
            </a:pPr>
            <a:r>
              <a:rPr lang="en-IN" sz="2400">
                <a:solidFill>
                  <a:schemeClr val="accent6">
                    <a:lumMod val="60000"/>
                    <a:lumOff val="40000"/>
                  </a:schemeClr>
                </a:solidFill>
              </a:rPr>
              <a:t>“Which applicants have the highest income?” </a:t>
            </a:r>
          </a:p>
          <a:p>
            <a:pPr marL="457200" lvl="0" indent="-457200">
              <a:buFont typeface="+mj-lt"/>
              <a:buAutoNum type="arabicPeriod"/>
            </a:pPr>
            <a:r>
              <a:rPr lang="en-IN" sz="2400">
                <a:solidFill>
                  <a:schemeClr val="accent6">
                    <a:lumMod val="60000"/>
                    <a:lumOff val="40000"/>
                  </a:schemeClr>
                </a:solidFill>
              </a:rPr>
              <a:t>“Compare average income between male and female applicants.” </a:t>
            </a:r>
          </a:p>
          <a:p>
            <a:pPr marL="457200" lvl="0" indent="-457200">
              <a:buFont typeface="+mj-lt"/>
              <a:buAutoNum type="arabicPeriod"/>
            </a:pPr>
            <a:r>
              <a:rPr lang="en-IN" sz="2400">
                <a:solidFill>
                  <a:schemeClr val="accent6">
                    <a:lumMod val="60000"/>
                    <a:lumOff val="40000"/>
                  </a:schemeClr>
                </a:solidFill>
              </a:rPr>
              <a:t>“Compare average income between graduates and non-graduates.” </a:t>
            </a:r>
          </a:p>
          <a:p>
            <a:pPr marL="457200" lvl="0" indent="-457200">
              <a:buFont typeface="+mj-lt"/>
              <a:buAutoNum type="arabicPeriod"/>
            </a:pPr>
            <a:r>
              <a:rPr lang="en-IN" sz="2400">
                <a:solidFill>
                  <a:schemeClr val="accent6">
                    <a:lumMod val="60000"/>
                    <a:lumOff val="40000"/>
                  </a:schemeClr>
                </a:solidFill>
              </a:rPr>
              <a:t>“Identify potential income outliers.” </a:t>
            </a:r>
          </a:p>
          <a:p>
            <a:pPr lvl="0"/>
            <a:endParaRPr lang="en-IN" sz="2400">
              <a:solidFill>
                <a:schemeClr val="accent6">
                  <a:lumMod val="60000"/>
                  <a:lumOff val="40000"/>
                </a:schemeClr>
              </a:solidFill>
            </a:endParaRPr>
          </a:p>
          <a:p>
            <a:r>
              <a:rPr lang="en-IN" sz="2400">
                <a:solidFill>
                  <a:schemeClr val="accent6">
                    <a:lumMod val="60000"/>
                    <a:lumOff val="40000"/>
                  </a:schemeClr>
                </a:solidFill>
              </a:rPr>
              <a:t>Try Copilot prompt:</a:t>
            </a:r>
          </a:p>
          <a:p>
            <a:r>
              <a:rPr lang="en-IN" sz="2400">
                <a:solidFill>
                  <a:schemeClr val="accent6">
                    <a:lumMod val="60000"/>
                    <a:lumOff val="40000"/>
                  </a:schemeClr>
                </a:solidFill>
              </a:rPr>
              <a:t>“Analyze ApplicantIncome, CoapplicantIncome, and TotalIncome. </a:t>
            </a:r>
          </a:p>
          <a:p>
            <a:r>
              <a:rPr lang="en-IN" sz="2400">
                <a:solidFill>
                  <a:schemeClr val="accent6">
                    <a:lumMod val="60000"/>
                    <a:lumOff val="40000"/>
                  </a:schemeClr>
                </a:solidFill>
              </a:rPr>
              <a:t>Identify important patterns, outliers, and differences between applicant groups.”</a:t>
            </a:r>
          </a:p>
        </p:txBody>
      </p:sp>
    </p:spTree>
    <p:extLst>
      <p:ext uri="{BB962C8B-B14F-4D97-AF65-F5344CB8AC3E}">
        <p14:creationId xmlns:p14="http://schemas.microsoft.com/office/powerpoint/2010/main" val="2678063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FB69220-3E41-3867-5414-F848E0B8F9A2}"/>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A868241-30A5-CD2B-7D7A-9E436E7D575E}"/>
              </a:ext>
            </a:extLst>
          </p:cNvPr>
          <p:cNvSpPr txBox="1"/>
          <p:nvPr/>
        </p:nvSpPr>
        <p:spPr>
          <a:xfrm>
            <a:off x="94943" y="538407"/>
            <a:ext cx="11682878" cy="584775"/>
          </a:xfrm>
          <a:prstGeom prst="rect">
            <a:avLst/>
          </a:prstGeom>
          <a:noFill/>
        </p:spPr>
        <p:txBody>
          <a:bodyPr wrap="none" rtlCol="0">
            <a:spAutoFit/>
          </a:bodyPr>
          <a:lstStyle/>
          <a:p>
            <a:pPr lvl="0"/>
            <a:r>
              <a:rPr lang="en-IN" sz="3200">
                <a:solidFill>
                  <a:schemeClr val="accent6">
                    <a:lumMod val="60000"/>
                    <a:lumOff val="40000"/>
                  </a:schemeClr>
                </a:solidFill>
              </a:rPr>
              <a:t>Q3: Calculate TotalIncome = ApplicantIncome + CoapplicantIncome. </a:t>
            </a:r>
          </a:p>
        </p:txBody>
      </p:sp>
      <p:pic>
        <p:nvPicPr>
          <p:cNvPr id="3" name="Picture 2">
            <a:extLst>
              <a:ext uri="{FF2B5EF4-FFF2-40B4-BE49-F238E27FC236}">
                <a16:creationId xmlns:a16="http://schemas.microsoft.com/office/drawing/2014/main" id="{7FB281B2-2968-2DDC-F3B0-C70EA309EBE4}"/>
              </a:ext>
            </a:extLst>
          </p:cNvPr>
          <p:cNvPicPr>
            <a:picLocks noChangeAspect="1"/>
          </p:cNvPicPr>
          <p:nvPr/>
        </p:nvPicPr>
        <p:blipFill>
          <a:blip r:embed="rId2"/>
          <a:stretch>
            <a:fillRect/>
          </a:stretch>
        </p:blipFill>
        <p:spPr>
          <a:xfrm>
            <a:off x="2192467" y="1059174"/>
            <a:ext cx="8154538" cy="5544324"/>
          </a:xfrm>
          <a:prstGeom prst="rect">
            <a:avLst/>
          </a:prstGeom>
        </p:spPr>
      </p:pic>
      <p:sp>
        <p:nvSpPr>
          <p:cNvPr id="7" name="TextBox 6">
            <a:extLst>
              <a:ext uri="{FF2B5EF4-FFF2-40B4-BE49-F238E27FC236}">
                <a16:creationId xmlns:a16="http://schemas.microsoft.com/office/drawing/2014/main" id="{4A8D4B87-3467-2FF9-063B-E06281697C51}"/>
              </a:ext>
            </a:extLst>
          </p:cNvPr>
          <p:cNvSpPr txBox="1"/>
          <p:nvPr/>
        </p:nvSpPr>
        <p:spPr>
          <a:xfrm>
            <a:off x="2023491" y="0"/>
            <a:ext cx="7486650" cy="461665"/>
          </a:xfrm>
          <a:prstGeom prst="rect">
            <a:avLst/>
          </a:prstGeom>
          <a:noFill/>
        </p:spPr>
        <p:txBody>
          <a:bodyPr wrap="square">
            <a:spAutoFit/>
          </a:bodyPr>
          <a:lstStyle/>
          <a:p>
            <a:pPr algn="ctr"/>
            <a:r>
              <a:rPr lang="en-IN" sz="2400">
                <a:solidFill>
                  <a:schemeClr val="accent6">
                    <a:lumMod val="60000"/>
                    <a:lumOff val="40000"/>
                  </a:schemeClr>
                </a:solidFill>
              </a:rPr>
              <a:t>Sample Output</a:t>
            </a:r>
          </a:p>
        </p:txBody>
      </p:sp>
    </p:spTree>
    <p:extLst>
      <p:ext uri="{BB962C8B-B14F-4D97-AF65-F5344CB8AC3E}">
        <p14:creationId xmlns:p14="http://schemas.microsoft.com/office/powerpoint/2010/main" val="3584656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ECA38A8-B904-E879-047B-6458B9DFCD1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CB40FE3-9B41-58E9-FF4D-26B2E8B3AEC6}"/>
              </a:ext>
            </a:extLst>
          </p:cNvPr>
          <p:cNvSpPr txBox="1"/>
          <p:nvPr/>
        </p:nvSpPr>
        <p:spPr>
          <a:xfrm>
            <a:off x="2023491" y="0"/>
            <a:ext cx="7486650" cy="461665"/>
          </a:xfrm>
          <a:prstGeom prst="rect">
            <a:avLst/>
          </a:prstGeom>
          <a:noFill/>
        </p:spPr>
        <p:txBody>
          <a:bodyPr wrap="square">
            <a:spAutoFit/>
          </a:bodyPr>
          <a:lstStyle/>
          <a:p>
            <a:pPr algn="ctr"/>
            <a:r>
              <a:rPr lang="en-IN" sz="2400">
                <a:solidFill>
                  <a:schemeClr val="accent6">
                    <a:lumMod val="60000"/>
                    <a:lumOff val="40000"/>
                  </a:schemeClr>
                </a:solidFill>
              </a:rPr>
              <a:t>Sample Output</a:t>
            </a:r>
          </a:p>
        </p:txBody>
      </p:sp>
      <p:sp>
        <p:nvSpPr>
          <p:cNvPr id="9" name="TextBox 8">
            <a:extLst>
              <a:ext uri="{FF2B5EF4-FFF2-40B4-BE49-F238E27FC236}">
                <a16:creationId xmlns:a16="http://schemas.microsoft.com/office/drawing/2014/main" id="{59F7C949-A991-6160-99E9-10AE5F873B3B}"/>
              </a:ext>
            </a:extLst>
          </p:cNvPr>
          <p:cNvSpPr txBox="1"/>
          <p:nvPr/>
        </p:nvSpPr>
        <p:spPr>
          <a:xfrm>
            <a:off x="104087" y="551617"/>
            <a:ext cx="8360174" cy="584775"/>
          </a:xfrm>
          <a:prstGeom prst="rect">
            <a:avLst/>
          </a:prstGeom>
          <a:noFill/>
        </p:spPr>
        <p:txBody>
          <a:bodyPr wrap="none" rtlCol="0">
            <a:spAutoFit/>
          </a:bodyPr>
          <a:lstStyle/>
          <a:p>
            <a:r>
              <a:rPr lang="en-IN" sz="3200">
                <a:solidFill>
                  <a:schemeClr val="accent6">
                    <a:lumMod val="60000"/>
                    <a:lumOff val="40000"/>
                  </a:schemeClr>
                </a:solidFill>
              </a:rPr>
              <a:t>Q5: Which applicants have the highest income?” </a:t>
            </a:r>
          </a:p>
        </p:txBody>
      </p:sp>
      <p:pic>
        <p:nvPicPr>
          <p:cNvPr id="4" name="Picture 3">
            <a:extLst>
              <a:ext uri="{FF2B5EF4-FFF2-40B4-BE49-F238E27FC236}">
                <a16:creationId xmlns:a16="http://schemas.microsoft.com/office/drawing/2014/main" id="{BE1E36ED-215B-E944-93FC-CF404FDB20C2}"/>
              </a:ext>
            </a:extLst>
          </p:cNvPr>
          <p:cNvPicPr>
            <a:picLocks noChangeAspect="1"/>
          </p:cNvPicPr>
          <p:nvPr/>
        </p:nvPicPr>
        <p:blipFill>
          <a:blip r:embed="rId2"/>
          <a:stretch>
            <a:fillRect/>
          </a:stretch>
        </p:blipFill>
        <p:spPr>
          <a:xfrm>
            <a:off x="0" y="1997722"/>
            <a:ext cx="12338304" cy="4726748"/>
          </a:xfrm>
          <a:prstGeom prst="rect">
            <a:avLst/>
          </a:prstGeom>
        </p:spPr>
      </p:pic>
    </p:spTree>
    <p:extLst>
      <p:ext uri="{BB962C8B-B14F-4D97-AF65-F5344CB8AC3E}">
        <p14:creationId xmlns:p14="http://schemas.microsoft.com/office/powerpoint/2010/main" val="3169506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6AEF485-040E-5DDC-0282-3A65A212510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4B24C08-9F42-E860-7D47-08785225D85C}"/>
              </a:ext>
            </a:extLst>
          </p:cNvPr>
          <p:cNvSpPr txBox="1"/>
          <p:nvPr/>
        </p:nvSpPr>
        <p:spPr>
          <a:xfrm>
            <a:off x="603504" y="293037"/>
            <a:ext cx="10917936" cy="4893647"/>
          </a:xfrm>
          <a:prstGeom prst="rect">
            <a:avLst/>
          </a:prstGeom>
          <a:noFill/>
        </p:spPr>
        <p:txBody>
          <a:bodyPr wrap="square">
            <a:spAutoFit/>
          </a:bodyPr>
          <a:lstStyle/>
          <a:p>
            <a:r>
              <a:rPr lang="en-IN" sz="2400" b="1">
                <a:solidFill>
                  <a:schemeClr val="accent6">
                    <a:lumMod val="60000"/>
                    <a:lumOff val="40000"/>
                  </a:schemeClr>
                </a:solidFill>
              </a:rPr>
              <a:t>4. Loan amount analysis</a:t>
            </a:r>
          </a:p>
          <a:p>
            <a:endParaRPr lang="en-IN" sz="2400">
              <a:solidFill>
                <a:schemeClr val="accent6">
                  <a:lumMod val="60000"/>
                  <a:lumOff val="40000"/>
                </a:schemeClr>
              </a:solidFill>
            </a:endParaRPr>
          </a:p>
          <a:p>
            <a:r>
              <a:rPr lang="en-IN" sz="2400">
                <a:solidFill>
                  <a:schemeClr val="accent6">
                    <a:lumMod val="60000"/>
                    <a:lumOff val="40000"/>
                  </a:schemeClr>
                </a:solidFill>
              </a:rPr>
              <a:t>Ask:</a:t>
            </a:r>
          </a:p>
          <a:p>
            <a:pPr marL="457200" lvl="0" indent="-457200">
              <a:buFont typeface="+mj-lt"/>
              <a:buAutoNum type="arabicPeriod"/>
            </a:pPr>
            <a:r>
              <a:rPr lang="en-IN" sz="2400">
                <a:solidFill>
                  <a:schemeClr val="accent6">
                    <a:lumMod val="60000"/>
                    <a:lumOff val="40000"/>
                  </a:schemeClr>
                </a:solidFill>
              </a:rPr>
              <a:t>“What is the minimum, maximum, average and median of LoanAmount?” </a:t>
            </a:r>
          </a:p>
          <a:p>
            <a:pPr marL="457200" lvl="0" indent="-457200">
              <a:buFont typeface="+mj-lt"/>
              <a:buAutoNum type="arabicPeriod"/>
            </a:pPr>
            <a:r>
              <a:rPr lang="en-IN" sz="2400">
                <a:solidFill>
                  <a:schemeClr val="accent6">
                    <a:lumMod val="60000"/>
                    <a:lumOff val="40000"/>
                  </a:schemeClr>
                </a:solidFill>
              </a:rPr>
              <a:t>“Find outliers in LoanAmount.” </a:t>
            </a:r>
          </a:p>
          <a:p>
            <a:pPr marL="457200" lvl="0" indent="-457200">
              <a:buFont typeface="+mj-lt"/>
              <a:buAutoNum type="arabicPeriod"/>
            </a:pPr>
            <a:r>
              <a:rPr lang="en-IN" sz="2400">
                <a:solidFill>
                  <a:schemeClr val="accent6">
                    <a:lumMod val="60000"/>
                    <a:lumOff val="40000"/>
                  </a:schemeClr>
                </a:solidFill>
              </a:rPr>
              <a:t>“Compare LoanAmount across Property_Area.” </a:t>
            </a:r>
          </a:p>
          <a:p>
            <a:pPr marL="457200" lvl="0" indent="-457200">
              <a:buFont typeface="+mj-lt"/>
              <a:buAutoNum type="arabicPeriod"/>
            </a:pPr>
            <a:r>
              <a:rPr lang="en-IN" sz="2400">
                <a:solidFill>
                  <a:schemeClr val="accent6">
                    <a:lumMod val="60000"/>
                    <a:lumOff val="40000"/>
                  </a:schemeClr>
                </a:solidFill>
              </a:rPr>
              <a:t>“Compare LoanAmount between Graduate and Non-Graduate applicants.” </a:t>
            </a:r>
          </a:p>
          <a:p>
            <a:pPr marL="457200" lvl="0" indent="-457200">
              <a:buFont typeface="+mj-lt"/>
              <a:buAutoNum type="arabicPeriod"/>
            </a:pPr>
            <a:r>
              <a:rPr lang="en-IN" sz="2400">
                <a:solidFill>
                  <a:schemeClr val="accent6">
                    <a:lumMod val="60000"/>
                    <a:lumOff val="40000"/>
                  </a:schemeClr>
                </a:solidFill>
              </a:rPr>
              <a:t>“Analyze the relationship between TotalIncome and LoanAmount.” </a:t>
            </a:r>
          </a:p>
          <a:p>
            <a:pPr lvl="0"/>
            <a:endParaRPr lang="en-IN" sz="2400">
              <a:solidFill>
                <a:schemeClr val="accent6">
                  <a:lumMod val="60000"/>
                  <a:lumOff val="40000"/>
                </a:schemeClr>
              </a:solidFill>
            </a:endParaRPr>
          </a:p>
          <a:p>
            <a:pPr lvl="0"/>
            <a:endParaRPr lang="en-IN" sz="2400">
              <a:solidFill>
                <a:schemeClr val="accent6">
                  <a:lumMod val="60000"/>
                  <a:lumOff val="40000"/>
                </a:schemeClr>
              </a:solidFill>
            </a:endParaRPr>
          </a:p>
          <a:p>
            <a:r>
              <a:rPr lang="en-IN" sz="2400">
                <a:solidFill>
                  <a:schemeClr val="accent6">
                    <a:lumMod val="60000"/>
                    <a:lumOff val="40000"/>
                  </a:schemeClr>
                </a:solidFill>
              </a:rPr>
              <a:t>A useful visualization request:</a:t>
            </a:r>
          </a:p>
          <a:p>
            <a:r>
              <a:rPr lang="en-IN" sz="2400">
                <a:solidFill>
                  <a:schemeClr val="accent6">
                    <a:lumMod val="60000"/>
                    <a:lumOff val="40000"/>
                  </a:schemeClr>
                </a:solidFill>
              </a:rPr>
              <a:t>“Create a scatter plot showing TotalIncome versus LoanAmount and </a:t>
            </a:r>
            <a:r>
              <a:rPr lang="en-IN" sz="2400" b="1" i="1">
                <a:solidFill>
                  <a:schemeClr val="accent6">
                    <a:lumMod val="60000"/>
                    <a:lumOff val="40000"/>
                  </a:schemeClr>
                </a:solidFill>
              </a:rPr>
              <a:t>explain</a:t>
            </a:r>
            <a:r>
              <a:rPr lang="en-IN" sz="2400">
                <a:solidFill>
                  <a:schemeClr val="accent6">
                    <a:lumMod val="60000"/>
                    <a:lumOff val="40000"/>
                  </a:schemeClr>
                </a:solidFill>
              </a:rPr>
              <a:t> any relationship you observe.”</a:t>
            </a:r>
          </a:p>
        </p:txBody>
      </p:sp>
    </p:spTree>
    <p:extLst>
      <p:ext uri="{BB962C8B-B14F-4D97-AF65-F5344CB8AC3E}">
        <p14:creationId xmlns:p14="http://schemas.microsoft.com/office/powerpoint/2010/main" val="5849724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3974FE6-F651-0BC3-0CE5-BF91397EB44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099EE23-399A-7998-1A84-D2B2709EB1D3}"/>
              </a:ext>
            </a:extLst>
          </p:cNvPr>
          <p:cNvSpPr txBox="1"/>
          <p:nvPr/>
        </p:nvSpPr>
        <p:spPr>
          <a:xfrm>
            <a:off x="-177299" y="100584"/>
            <a:ext cx="2603373" cy="461665"/>
          </a:xfrm>
          <a:prstGeom prst="rect">
            <a:avLst/>
          </a:prstGeom>
          <a:noFill/>
        </p:spPr>
        <p:txBody>
          <a:bodyPr wrap="square">
            <a:spAutoFit/>
          </a:bodyPr>
          <a:lstStyle/>
          <a:p>
            <a:pPr algn="ctr"/>
            <a:r>
              <a:rPr lang="en-IN" sz="2400">
                <a:solidFill>
                  <a:schemeClr val="accent6">
                    <a:lumMod val="60000"/>
                    <a:lumOff val="40000"/>
                  </a:schemeClr>
                </a:solidFill>
              </a:rPr>
              <a:t>Sample Output</a:t>
            </a:r>
          </a:p>
        </p:txBody>
      </p:sp>
      <p:sp>
        <p:nvSpPr>
          <p:cNvPr id="9" name="TextBox 8">
            <a:extLst>
              <a:ext uri="{FF2B5EF4-FFF2-40B4-BE49-F238E27FC236}">
                <a16:creationId xmlns:a16="http://schemas.microsoft.com/office/drawing/2014/main" id="{4E53DDE9-3E99-67B5-19D3-F139188AEDC5}"/>
              </a:ext>
            </a:extLst>
          </p:cNvPr>
          <p:cNvSpPr txBox="1"/>
          <p:nvPr/>
        </p:nvSpPr>
        <p:spPr>
          <a:xfrm>
            <a:off x="76655" y="1063681"/>
            <a:ext cx="2950009" cy="1569660"/>
          </a:xfrm>
          <a:prstGeom prst="rect">
            <a:avLst/>
          </a:prstGeom>
          <a:noFill/>
        </p:spPr>
        <p:txBody>
          <a:bodyPr wrap="square" rtlCol="0">
            <a:spAutoFit/>
          </a:bodyPr>
          <a:lstStyle/>
          <a:p>
            <a:r>
              <a:rPr lang="en-IN" sz="3200">
                <a:solidFill>
                  <a:schemeClr val="accent6">
                    <a:lumMod val="60000"/>
                    <a:lumOff val="40000"/>
                  </a:schemeClr>
                </a:solidFill>
              </a:rPr>
              <a:t>Q2: </a:t>
            </a:r>
          </a:p>
          <a:p>
            <a:r>
              <a:rPr lang="en-IN" sz="3200">
                <a:solidFill>
                  <a:schemeClr val="accent6">
                    <a:lumMod val="60000"/>
                    <a:lumOff val="40000"/>
                  </a:schemeClr>
                </a:solidFill>
              </a:rPr>
              <a:t>Find outliers in LoanAmount</a:t>
            </a:r>
          </a:p>
        </p:txBody>
      </p:sp>
      <p:pic>
        <p:nvPicPr>
          <p:cNvPr id="3" name="Picture 2">
            <a:extLst>
              <a:ext uri="{FF2B5EF4-FFF2-40B4-BE49-F238E27FC236}">
                <a16:creationId xmlns:a16="http://schemas.microsoft.com/office/drawing/2014/main" id="{8EA7BA25-F1D5-4DA2-0197-D7783843DA46}"/>
              </a:ext>
            </a:extLst>
          </p:cNvPr>
          <p:cNvPicPr>
            <a:picLocks noChangeAspect="1"/>
          </p:cNvPicPr>
          <p:nvPr/>
        </p:nvPicPr>
        <p:blipFill>
          <a:blip r:embed="rId2"/>
          <a:stretch>
            <a:fillRect/>
          </a:stretch>
        </p:blipFill>
        <p:spPr>
          <a:xfrm>
            <a:off x="3538403" y="0"/>
            <a:ext cx="7382905" cy="6677957"/>
          </a:xfrm>
          <a:prstGeom prst="rect">
            <a:avLst/>
          </a:prstGeom>
        </p:spPr>
      </p:pic>
    </p:spTree>
    <p:extLst>
      <p:ext uri="{BB962C8B-B14F-4D97-AF65-F5344CB8AC3E}">
        <p14:creationId xmlns:p14="http://schemas.microsoft.com/office/powerpoint/2010/main" val="9190953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4697C71-0C6D-FB63-7F2C-69AD2DBA831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F7D0A9C-0F87-03D5-94CA-C633E2667114}"/>
              </a:ext>
            </a:extLst>
          </p:cNvPr>
          <p:cNvSpPr txBox="1"/>
          <p:nvPr/>
        </p:nvSpPr>
        <p:spPr>
          <a:xfrm>
            <a:off x="603504" y="293037"/>
            <a:ext cx="10917936" cy="4893647"/>
          </a:xfrm>
          <a:prstGeom prst="rect">
            <a:avLst/>
          </a:prstGeom>
          <a:noFill/>
        </p:spPr>
        <p:txBody>
          <a:bodyPr wrap="square">
            <a:spAutoFit/>
          </a:bodyPr>
          <a:lstStyle/>
          <a:p>
            <a:r>
              <a:rPr lang="en-IN" sz="2400" b="1">
                <a:solidFill>
                  <a:schemeClr val="accent6">
                    <a:lumMod val="60000"/>
                    <a:lumOff val="40000"/>
                  </a:schemeClr>
                </a:solidFill>
              </a:rPr>
              <a:t>5. Loan approval analysis (Most important)</a:t>
            </a:r>
          </a:p>
          <a:p>
            <a:endParaRPr lang="en-IN" sz="2400">
              <a:solidFill>
                <a:schemeClr val="accent6">
                  <a:lumMod val="60000"/>
                  <a:lumOff val="40000"/>
                </a:schemeClr>
              </a:solidFill>
            </a:endParaRPr>
          </a:p>
          <a:p>
            <a:r>
              <a:rPr lang="en-IN" sz="2400">
                <a:solidFill>
                  <a:schemeClr val="accent6">
                    <a:lumMod val="60000"/>
                    <a:lumOff val="40000"/>
                  </a:schemeClr>
                </a:solidFill>
              </a:rPr>
              <a:t>Since Loan_Status is our target,  so lets ask some insightful question  regarding  it:</a:t>
            </a:r>
          </a:p>
          <a:p>
            <a:endParaRPr lang="en-IN" sz="2400" b="1">
              <a:solidFill>
                <a:schemeClr val="accent6">
                  <a:lumMod val="60000"/>
                  <a:lumOff val="40000"/>
                </a:schemeClr>
              </a:solidFill>
            </a:endParaRPr>
          </a:p>
          <a:p>
            <a:r>
              <a:rPr lang="en-IN" sz="2400" b="1">
                <a:solidFill>
                  <a:schemeClr val="accent6">
                    <a:lumMod val="60000"/>
                    <a:lumOff val="40000"/>
                  </a:schemeClr>
                </a:solidFill>
              </a:rPr>
              <a:t>Overall approval rate</a:t>
            </a:r>
          </a:p>
          <a:p>
            <a:r>
              <a:rPr lang="en-IN" sz="2400">
                <a:solidFill>
                  <a:schemeClr val="accent6">
                    <a:lumMod val="60000"/>
                    <a:lumOff val="40000"/>
                  </a:schemeClr>
                </a:solidFill>
              </a:rPr>
              <a:t>“Calculate the percentage of loan applications that were approved and rejected.”</a:t>
            </a:r>
          </a:p>
          <a:p>
            <a:endParaRPr lang="en-IN" sz="2400" b="1">
              <a:solidFill>
                <a:schemeClr val="accent6">
                  <a:lumMod val="60000"/>
                  <a:lumOff val="40000"/>
                </a:schemeClr>
              </a:solidFill>
            </a:endParaRPr>
          </a:p>
          <a:p>
            <a:r>
              <a:rPr lang="en-IN" sz="2400" b="1">
                <a:solidFill>
                  <a:schemeClr val="accent6">
                    <a:lumMod val="60000"/>
                    <a:lumOff val="40000"/>
                  </a:schemeClr>
                </a:solidFill>
              </a:rPr>
              <a:t>Gender vs approval</a:t>
            </a:r>
          </a:p>
          <a:p>
            <a:r>
              <a:rPr lang="en-IN" sz="2400">
                <a:solidFill>
                  <a:schemeClr val="accent6">
                    <a:lumMod val="60000"/>
                    <a:lumOff val="40000"/>
                  </a:schemeClr>
                </a:solidFill>
              </a:rPr>
              <a:t>“Compare loan approval rates between male and female applicants.”</a:t>
            </a:r>
          </a:p>
          <a:p>
            <a:endParaRPr lang="en-IN" sz="2400" b="1">
              <a:solidFill>
                <a:schemeClr val="accent6">
                  <a:lumMod val="60000"/>
                  <a:lumOff val="40000"/>
                </a:schemeClr>
              </a:solidFill>
            </a:endParaRPr>
          </a:p>
          <a:p>
            <a:r>
              <a:rPr lang="en-IN" sz="2400" b="1">
                <a:solidFill>
                  <a:schemeClr val="accent6">
                    <a:lumMod val="60000"/>
                    <a:lumOff val="40000"/>
                  </a:schemeClr>
                </a:solidFill>
              </a:rPr>
              <a:t>Education vs approval</a:t>
            </a:r>
          </a:p>
          <a:p>
            <a:r>
              <a:rPr lang="en-IN" sz="2400">
                <a:solidFill>
                  <a:schemeClr val="accent6">
                    <a:lumMod val="60000"/>
                    <a:lumOff val="40000"/>
                  </a:schemeClr>
                </a:solidFill>
              </a:rPr>
              <a:t>“Does education level appear to affect loan approval? </a:t>
            </a:r>
          </a:p>
          <a:p>
            <a:r>
              <a:rPr lang="en-IN" sz="2400">
                <a:solidFill>
                  <a:schemeClr val="accent6">
                    <a:lumMod val="60000"/>
                    <a:lumOff val="40000"/>
                  </a:schemeClr>
                </a:solidFill>
              </a:rPr>
              <a:t>Calculate approval rates for graduates and non-graduates.”</a:t>
            </a:r>
          </a:p>
        </p:txBody>
      </p:sp>
    </p:spTree>
    <p:extLst>
      <p:ext uri="{BB962C8B-B14F-4D97-AF65-F5344CB8AC3E}">
        <p14:creationId xmlns:p14="http://schemas.microsoft.com/office/powerpoint/2010/main" val="1535786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CA7E9AF-D7D6-1A47-AD01-69601E39C35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39880A0-BE98-A930-E65B-0C6977D1D846}"/>
              </a:ext>
            </a:extLst>
          </p:cNvPr>
          <p:cNvSpPr txBox="1"/>
          <p:nvPr/>
        </p:nvSpPr>
        <p:spPr>
          <a:xfrm>
            <a:off x="-177299" y="100584"/>
            <a:ext cx="2603373" cy="461665"/>
          </a:xfrm>
          <a:prstGeom prst="rect">
            <a:avLst/>
          </a:prstGeom>
          <a:noFill/>
        </p:spPr>
        <p:txBody>
          <a:bodyPr wrap="square">
            <a:spAutoFit/>
          </a:bodyPr>
          <a:lstStyle/>
          <a:p>
            <a:pPr algn="ctr"/>
            <a:r>
              <a:rPr lang="en-IN" sz="2400">
                <a:solidFill>
                  <a:schemeClr val="accent6">
                    <a:lumMod val="60000"/>
                    <a:lumOff val="40000"/>
                  </a:schemeClr>
                </a:solidFill>
              </a:rPr>
              <a:t>Sample Output</a:t>
            </a:r>
          </a:p>
        </p:txBody>
      </p:sp>
      <p:sp>
        <p:nvSpPr>
          <p:cNvPr id="9" name="TextBox 8">
            <a:extLst>
              <a:ext uri="{FF2B5EF4-FFF2-40B4-BE49-F238E27FC236}">
                <a16:creationId xmlns:a16="http://schemas.microsoft.com/office/drawing/2014/main" id="{A1562F53-4531-CD3C-2BF6-EBFEFA4CC318}"/>
              </a:ext>
            </a:extLst>
          </p:cNvPr>
          <p:cNvSpPr txBox="1"/>
          <p:nvPr/>
        </p:nvSpPr>
        <p:spPr>
          <a:xfrm>
            <a:off x="76655" y="1063681"/>
            <a:ext cx="4888537" cy="2554545"/>
          </a:xfrm>
          <a:prstGeom prst="rect">
            <a:avLst/>
          </a:prstGeom>
          <a:noFill/>
        </p:spPr>
        <p:txBody>
          <a:bodyPr wrap="square" rtlCol="0">
            <a:spAutoFit/>
          </a:bodyPr>
          <a:lstStyle/>
          <a:p>
            <a:r>
              <a:rPr lang="en-IN" sz="3200" b="1">
                <a:solidFill>
                  <a:schemeClr val="accent6">
                    <a:lumMod val="60000"/>
                    <a:lumOff val="40000"/>
                  </a:schemeClr>
                </a:solidFill>
              </a:rPr>
              <a:t>Overall approval rate:</a:t>
            </a:r>
          </a:p>
          <a:p>
            <a:endParaRPr lang="en-IN" sz="3200" b="1">
              <a:solidFill>
                <a:schemeClr val="accent6">
                  <a:lumMod val="60000"/>
                  <a:lumOff val="40000"/>
                </a:schemeClr>
              </a:solidFill>
            </a:endParaRPr>
          </a:p>
          <a:p>
            <a:r>
              <a:rPr lang="en-IN" sz="3200">
                <a:solidFill>
                  <a:schemeClr val="accent6">
                    <a:lumMod val="60000"/>
                    <a:lumOff val="40000"/>
                  </a:schemeClr>
                </a:solidFill>
              </a:rPr>
              <a:t>“Calculate the percentage of loan applications that were approved and rejected.”</a:t>
            </a:r>
          </a:p>
        </p:txBody>
      </p:sp>
      <p:pic>
        <p:nvPicPr>
          <p:cNvPr id="4" name="Picture 3">
            <a:extLst>
              <a:ext uri="{FF2B5EF4-FFF2-40B4-BE49-F238E27FC236}">
                <a16:creationId xmlns:a16="http://schemas.microsoft.com/office/drawing/2014/main" id="{321C4D6E-150B-ADD3-000F-F7FF611020ED}"/>
              </a:ext>
            </a:extLst>
          </p:cNvPr>
          <p:cNvPicPr>
            <a:picLocks noChangeAspect="1"/>
          </p:cNvPicPr>
          <p:nvPr/>
        </p:nvPicPr>
        <p:blipFill>
          <a:blip r:embed="rId2"/>
          <a:stretch>
            <a:fillRect/>
          </a:stretch>
        </p:blipFill>
        <p:spPr>
          <a:xfrm>
            <a:off x="5155219" y="-885"/>
            <a:ext cx="7036781" cy="6858885"/>
          </a:xfrm>
          <a:prstGeom prst="rect">
            <a:avLst/>
          </a:prstGeom>
        </p:spPr>
      </p:pic>
    </p:spTree>
    <p:extLst>
      <p:ext uri="{BB962C8B-B14F-4D97-AF65-F5344CB8AC3E}">
        <p14:creationId xmlns:p14="http://schemas.microsoft.com/office/powerpoint/2010/main" val="26075245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DE2C2C7-4044-7D42-EB2C-1C34A9197DE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89FED08-48CC-758A-69E8-7CEDC6F0AD3D}"/>
              </a:ext>
            </a:extLst>
          </p:cNvPr>
          <p:cNvSpPr txBox="1"/>
          <p:nvPr/>
        </p:nvSpPr>
        <p:spPr>
          <a:xfrm>
            <a:off x="603504" y="293037"/>
            <a:ext cx="10917936" cy="6001643"/>
          </a:xfrm>
          <a:prstGeom prst="rect">
            <a:avLst/>
          </a:prstGeom>
          <a:noFill/>
        </p:spPr>
        <p:txBody>
          <a:bodyPr wrap="square">
            <a:spAutoFit/>
          </a:bodyPr>
          <a:lstStyle/>
          <a:p>
            <a:r>
              <a:rPr lang="en-IN" sz="2400" b="1">
                <a:solidFill>
                  <a:schemeClr val="accent6">
                    <a:lumMod val="60000"/>
                    <a:lumOff val="40000"/>
                  </a:schemeClr>
                </a:solidFill>
              </a:rPr>
              <a:t>Marriage vs approval</a:t>
            </a:r>
          </a:p>
          <a:p>
            <a:r>
              <a:rPr lang="en-IN" sz="2400">
                <a:solidFill>
                  <a:schemeClr val="accent6">
                    <a:lumMod val="60000"/>
                    <a:lumOff val="40000"/>
                  </a:schemeClr>
                </a:solidFill>
              </a:rPr>
              <a:t>“Compare loan approval rates for married and unmarried applicants.”</a:t>
            </a:r>
          </a:p>
          <a:p>
            <a:endParaRPr lang="en-IN" sz="2400" b="1">
              <a:solidFill>
                <a:schemeClr val="accent6">
                  <a:lumMod val="60000"/>
                  <a:lumOff val="40000"/>
                </a:schemeClr>
              </a:solidFill>
            </a:endParaRPr>
          </a:p>
          <a:p>
            <a:r>
              <a:rPr lang="en-IN" sz="2400" b="1">
                <a:solidFill>
                  <a:schemeClr val="accent6">
                    <a:lumMod val="60000"/>
                    <a:lumOff val="40000"/>
                  </a:schemeClr>
                </a:solidFill>
              </a:rPr>
              <a:t>Self-employment vs approval</a:t>
            </a:r>
          </a:p>
          <a:p>
            <a:r>
              <a:rPr lang="en-IN" sz="2400">
                <a:solidFill>
                  <a:schemeClr val="accent6">
                    <a:lumMod val="60000"/>
                    <a:lumOff val="40000"/>
                  </a:schemeClr>
                </a:solidFill>
              </a:rPr>
              <a:t>“Compare loan approval rates between self-employed and non-self-employed applicants.”</a:t>
            </a:r>
          </a:p>
          <a:p>
            <a:endParaRPr lang="en-IN" sz="2400" b="1">
              <a:solidFill>
                <a:schemeClr val="accent6">
                  <a:lumMod val="60000"/>
                  <a:lumOff val="40000"/>
                </a:schemeClr>
              </a:solidFill>
            </a:endParaRPr>
          </a:p>
          <a:p>
            <a:r>
              <a:rPr lang="en-IN" sz="2400" b="1">
                <a:solidFill>
                  <a:schemeClr val="accent6">
                    <a:lumMod val="60000"/>
                    <a:lumOff val="40000"/>
                  </a:schemeClr>
                </a:solidFill>
              </a:rPr>
              <a:t>Property area vs approval</a:t>
            </a:r>
          </a:p>
          <a:p>
            <a:r>
              <a:rPr lang="en-IN" sz="2400">
                <a:solidFill>
                  <a:schemeClr val="accent6">
                    <a:lumMod val="60000"/>
                    <a:lumOff val="40000"/>
                  </a:schemeClr>
                </a:solidFill>
              </a:rPr>
              <a:t>“Calculate loan approval rates for Rural, Semiurban, and Urban applicants.”</a:t>
            </a:r>
          </a:p>
          <a:p>
            <a:endParaRPr lang="en-IN" sz="2400" b="1">
              <a:solidFill>
                <a:schemeClr val="accent6">
                  <a:lumMod val="60000"/>
                  <a:lumOff val="40000"/>
                </a:schemeClr>
              </a:solidFill>
            </a:endParaRPr>
          </a:p>
          <a:p>
            <a:r>
              <a:rPr lang="en-IN" sz="2400" b="1">
                <a:solidFill>
                  <a:schemeClr val="accent6">
                    <a:lumMod val="60000"/>
                    <a:lumOff val="40000"/>
                  </a:schemeClr>
                </a:solidFill>
              </a:rPr>
              <a:t>Credit history vs approval</a:t>
            </a:r>
          </a:p>
          <a:p>
            <a:r>
              <a:rPr lang="en-IN" sz="2400">
                <a:solidFill>
                  <a:schemeClr val="accent6">
                    <a:lumMod val="60000"/>
                    <a:lumOff val="40000"/>
                  </a:schemeClr>
                </a:solidFill>
              </a:rPr>
              <a:t>“Analyze the relationship between Credit_History and Loan_Status. Calculate the loan approval rate for applicants with and without credit history.”</a:t>
            </a:r>
          </a:p>
          <a:p>
            <a:endParaRPr lang="en-IN" sz="2400">
              <a:solidFill>
                <a:schemeClr val="accent6">
                  <a:lumMod val="60000"/>
                  <a:lumOff val="40000"/>
                </a:schemeClr>
              </a:solidFill>
            </a:endParaRPr>
          </a:p>
          <a:p>
            <a:r>
              <a:rPr lang="en-IN" sz="2400" b="1">
                <a:solidFill>
                  <a:schemeClr val="accent6">
                    <a:lumMod val="60000"/>
                    <a:lumOff val="40000"/>
                  </a:schemeClr>
                </a:solidFill>
              </a:rPr>
              <a:t>Visualization</a:t>
            </a:r>
          </a:p>
          <a:p>
            <a:r>
              <a:rPr lang="en-IN" sz="2400">
                <a:solidFill>
                  <a:schemeClr val="accent6">
                    <a:lumMod val="60000"/>
                    <a:lumOff val="40000"/>
                  </a:schemeClr>
                </a:solidFill>
              </a:rPr>
              <a:t>“Create a visualization showing Loan_Status by Credit_History.”</a:t>
            </a:r>
          </a:p>
        </p:txBody>
      </p:sp>
    </p:spTree>
    <p:extLst>
      <p:ext uri="{BB962C8B-B14F-4D97-AF65-F5344CB8AC3E}">
        <p14:creationId xmlns:p14="http://schemas.microsoft.com/office/powerpoint/2010/main" val="42931010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10574E2-17E1-2B96-5455-E0C3E9CA641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BBA9F75-9297-C0A2-BC7F-FCB4E10DACF1}"/>
              </a:ext>
            </a:extLst>
          </p:cNvPr>
          <p:cNvSpPr txBox="1"/>
          <p:nvPr/>
        </p:nvSpPr>
        <p:spPr>
          <a:xfrm>
            <a:off x="-177299" y="100584"/>
            <a:ext cx="2603373" cy="461665"/>
          </a:xfrm>
          <a:prstGeom prst="rect">
            <a:avLst/>
          </a:prstGeom>
          <a:noFill/>
        </p:spPr>
        <p:txBody>
          <a:bodyPr wrap="square">
            <a:spAutoFit/>
          </a:bodyPr>
          <a:lstStyle/>
          <a:p>
            <a:pPr algn="ctr"/>
            <a:r>
              <a:rPr lang="en-IN" sz="2400">
                <a:solidFill>
                  <a:schemeClr val="accent6">
                    <a:lumMod val="60000"/>
                    <a:lumOff val="40000"/>
                  </a:schemeClr>
                </a:solidFill>
              </a:rPr>
              <a:t>Sample Output</a:t>
            </a:r>
          </a:p>
        </p:txBody>
      </p:sp>
      <p:sp>
        <p:nvSpPr>
          <p:cNvPr id="9" name="TextBox 8">
            <a:extLst>
              <a:ext uri="{FF2B5EF4-FFF2-40B4-BE49-F238E27FC236}">
                <a16:creationId xmlns:a16="http://schemas.microsoft.com/office/drawing/2014/main" id="{3221F5BF-91BA-C616-75F4-90A8893C9491}"/>
              </a:ext>
            </a:extLst>
          </p:cNvPr>
          <p:cNvSpPr txBox="1"/>
          <p:nvPr/>
        </p:nvSpPr>
        <p:spPr>
          <a:xfrm>
            <a:off x="76655" y="1063681"/>
            <a:ext cx="4477057" cy="3539430"/>
          </a:xfrm>
          <a:prstGeom prst="rect">
            <a:avLst/>
          </a:prstGeom>
          <a:noFill/>
        </p:spPr>
        <p:txBody>
          <a:bodyPr wrap="square" rtlCol="0">
            <a:spAutoFit/>
          </a:bodyPr>
          <a:lstStyle/>
          <a:p>
            <a:r>
              <a:rPr lang="en-IN" sz="3200" b="1">
                <a:solidFill>
                  <a:schemeClr val="accent6">
                    <a:lumMod val="60000"/>
                    <a:lumOff val="40000"/>
                  </a:schemeClr>
                </a:solidFill>
              </a:rPr>
              <a:t>Self-employment vs approval</a:t>
            </a:r>
          </a:p>
          <a:p>
            <a:endParaRPr lang="en-IN" sz="3200" b="1">
              <a:solidFill>
                <a:schemeClr val="accent6">
                  <a:lumMod val="60000"/>
                  <a:lumOff val="40000"/>
                </a:schemeClr>
              </a:solidFill>
            </a:endParaRPr>
          </a:p>
          <a:p>
            <a:r>
              <a:rPr lang="en-IN" sz="3200">
                <a:solidFill>
                  <a:schemeClr val="accent6">
                    <a:lumMod val="60000"/>
                    <a:lumOff val="40000"/>
                  </a:schemeClr>
                </a:solidFill>
              </a:rPr>
              <a:t>“Compare loan approval rates between self-employed and non-self-employed applicants.”</a:t>
            </a:r>
          </a:p>
        </p:txBody>
      </p:sp>
      <p:pic>
        <p:nvPicPr>
          <p:cNvPr id="3" name="Picture 2">
            <a:extLst>
              <a:ext uri="{FF2B5EF4-FFF2-40B4-BE49-F238E27FC236}">
                <a16:creationId xmlns:a16="http://schemas.microsoft.com/office/drawing/2014/main" id="{31D80671-C547-36DF-1CCA-C7545DF62365}"/>
              </a:ext>
            </a:extLst>
          </p:cNvPr>
          <p:cNvPicPr>
            <a:picLocks noChangeAspect="1"/>
          </p:cNvPicPr>
          <p:nvPr/>
        </p:nvPicPr>
        <p:blipFill>
          <a:blip r:embed="rId2"/>
          <a:stretch>
            <a:fillRect/>
          </a:stretch>
        </p:blipFill>
        <p:spPr>
          <a:xfrm>
            <a:off x="4675726" y="0"/>
            <a:ext cx="7516274" cy="6611273"/>
          </a:xfrm>
          <a:prstGeom prst="rect">
            <a:avLst/>
          </a:prstGeom>
        </p:spPr>
      </p:pic>
    </p:spTree>
    <p:extLst>
      <p:ext uri="{BB962C8B-B14F-4D97-AF65-F5344CB8AC3E}">
        <p14:creationId xmlns:p14="http://schemas.microsoft.com/office/powerpoint/2010/main" val="26042953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14DDEDF-F2E4-3A4E-D02C-826030C20D9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716E14E-6D3F-A71F-86F4-D83E89CF0C55}"/>
              </a:ext>
            </a:extLst>
          </p:cNvPr>
          <p:cNvSpPr txBox="1"/>
          <p:nvPr/>
        </p:nvSpPr>
        <p:spPr>
          <a:xfrm>
            <a:off x="603504" y="293037"/>
            <a:ext cx="10917936" cy="3785652"/>
          </a:xfrm>
          <a:prstGeom prst="rect">
            <a:avLst/>
          </a:prstGeom>
          <a:noFill/>
        </p:spPr>
        <p:txBody>
          <a:bodyPr wrap="square">
            <a:spAutoFit/>
          </a:bodyPr>
          <a:lstStyle/>
          <a:p>
            <a:r>
              <a:rPr lang="en-IN" sz="2400" b="1">
                <a:solidFill>
                  <a:schemeClr val="accent6">
                    <a:lumMod val="60000"/>
                    <a:lumOff val="40000"/>
                  </a:schemeClr>
                </a:solidFill>
              </a:rPr>
              <a:t>6. Cross-analysis</a:t>
            </a:r>
          </a:p>
          <a:p>
            <a:endParaRPr lang="en-IN" sz="2400" b="1">
              <a:solidFill>
                <a:schemeClr val="accent6">
                  <a:lumMod val="60000"/>
                  <a:lumOff val="40000"/>
                </a:schemeClr>
              </a:solidFill>
            </a:endParaRPr>
          </a:p>
          <a:p>
            <a:r>
              <a:rPr lang="en-IN" sz="2400">
                <a:solidFill>
                  <a:schemeClr val="accent6">
                    <a:lumMod val="60000"/>
                    <a:lumOff val="40000"/>
                  </a:schemeClr>
                </a:solidFill>
              </a:rPr>
              <a:t>1 variable against 2 variable:</a:t>
            </a:r>
          </a:p>
          <a:p>
            <a:endParaRPr lang="en-IN" sz="2400">
              <a:solidFill>
                <a:schemeClr val="accent6">
                  <a:lumMod val="60000"/>
                  <a:lumOff val="40000"/>
                </a:schemeClr>
              </a:solidFill>
            </a:endParaRPr>
          </a:p>
          <a:p>
            <a:pPr marL="457200" indent="-457200">
              <a:buFont typeface="+mj-lt"/>
              <a:buAutoNum type="arabicPeriod"/>
            </a:pPr>
            <a:r>
              <a:rPr lang="en-IN" sz="2400">
                <a:solidFill>
                  <a:schemeClr val="accent6">
                    <a:lumMod val="60000"/>
                    <a:lumOff val="40000"/>
                  </a:schemeClr>
                </a:solidFill>
              </a:rPr>
              <a:t>“Analyze loan approval rates by both Education and Gender.”</a:t>
            </a:r>
          </a:p>
          <a:p>
            <a:pPr marL="457200" indent="-457200">
              <a:buFont typeface="+mj-lt"/>
              <a:buAutoNum type="arabicPeriod"/>
            </a:pPr>
            <a:r>
              <a:rPr lang="en-IN" sz="2400">
                <a:solidFill>
                  <a:schemeClr val="accent6">
                    <a:lumMod val="60000"/>
                    <a:lumOff val="40000"/>
                  </a:schemeClr>
                </a:solidFill>
              </a:rPr>
              <a:t>“Analyze loan approval rates by Property_Area and Education.”</a:t>
            </a:r>
          </a:p>
          <a:p>
            <a:pPr marL="457200" indent="-457200">
              <a:buFont typeface="+mj-lt"/>
              <a:buAutoNum type="arabicPeriod"/>
            </a:pPr>
            <a:r>
              <a:rPr lang="en-IN" sz="2400">
                <a:solidFill>
                  <a:schemeClr val="accent6">
                    <a:lumMod val="60000"/>
                    <a:lumOff val="40000"/>
                  </a:schemeClr>
                </a:solidFill>
              </a:rPr>
              <a:t>“Analyze loan approval rates by Married status and Credit_History.”</a:t>
            </a:r>
          </a:p>
          <a:p>
            <a:pPr marL="457200" indent="-457200">
              <a:buFont typeface="+mj-lt"/>
              <a:buAutoNum type="arabicPeriod"/>
            </a:pPr>
            <a:r>
              <a:rPr lang="en-IN" sz="2400">
                <a:solidFill>
                  <a:schemeClr val="accent6">
                    <a:lumMod val="60000"/>
                    <a:lumOff val="40000"/>
                  </a:schemeClr>
                </a:solidFill>
              </a:rPr>
              <a:t>“Analyze loan approval rates by Self_Employed status and Credit_History.”</a:t>
            </a:r>
          </a:p>
          <a:p>
            <a:pPr marL="457200" indent="-457200">
              <a:buFont typeface="+mj-lt"/>
              <a:buAutoNum type="arabicPeriod"/>
            </a:pPr>
            <a:r>
              <a:rPr lang="en-IN" sz="2400">
                <a:solidFill>
                  <a:schemeClr val="accent6">
                    <a:lumMod val="60000"/>
                    <a:lumOff val="40000"/>
                  </a:schemeClr>
                </a:solidFill>
              </a:rPr>
              <a:t>“Create a pivot table showing Property_Area as rows, Credit_History as columns, and loan approval rate as values.”</a:t>
            </a:r>
          </a:p>
        </p:txBody>
      </p:sp>
    </p:spTree>
    <p:extLst>
      <p:ext uri="{BB962C8B-B14F-4D97-AF65-F5344CB8AC3E}">
        <p14:creationId xmlns:p14="http://schemas.microsoft.com/office/powerpoint/2010/main" val="34529968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6CF49B4-A0D3-6708-5F6D-84D1DBFE0C1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0EFA7CD-9AE1-1AEF-E6C2-0331C4A36FED}"/>
              </a:ext>
            </a:extLst>
          </p:cNvPr>
          <p:cNvSpPr txBox="1"/>
          <p:nvPr/>
        </p:nvSpPr>
        <p:spPr>
          <a:xfrm>
            <a:off x="301752" y="192453"/>
            <a:ext cx="11411712" cy="3416320"/>
          </a:xfrm>
          <a:prstGeom prst="rect">
            <a:avLst/>
          </a:prstGeom>
          <a:noFill/>
        </p:spPr>
        <p:txBody>
          <a:bodyPr wrap="square">
            <a:spAutoFit/>
          </a:bodyPr>
          <a:lstStyle/>
          <a:p>
            <a:r>
              <a:rPr lang="en-IN" sz="2400" b="1">
                <a:solidFill>
                  <a:schemeClr val="accent6">
                    <a:lumMod val="60000"/>
                    <a:lumOff val="40000"/>
                  </a:schemeClr>
                </a:solidFill>
              </a:rPr>
              <a:t>7. Finding patterns and correlations</a:t>
            </a:r>
          </a:p>
          <a:p>
            <a:endParaRPr lang="en-IN" sz="2400" b="1">
              <a:solidFill>
                <a:schemeClr val="accent6">
                  <a:lumMod val="60000"/>
                  <a:lumOff val="40000"/>
                </a:schemeClr>
              </a:solidFill>
            </a:endParaRPr>
          </a:p>
          <a:p>
            <a:r>
              <a:rPr lang="en-IN" sz="2400" b="1">
                <a:solidFill>
                  <a:schemeClr val="accent6">
                    <a:lumMod val="60000"/>
                    <a:lumOff val="40000"/>
                  </a:schemeClr>
                </a:solidFill>
              </a:rPr>
              <a:t>For numerical variables:</a:t>
            </a:r>
          </a:p>
          <a:p>
            <a:pPr marL="457200" indent="-457200">
              <a:buFont typeface="+mj-lt"/>
              <a:buAutoNum type="arabicPeriod"/>
            </a:pPr>
            <a:endParaRPr lang="en-IN" sz="2400" b="1">
              <a:solidFill>
                <a:schemeClr val="accent6">
                  <a:lumMod val="60000"/>
                  <a:lumOff val="40000"/>
                </a:schemeClr>
              </a:solidFill>
            </a:endParaRPr>
          </a:p>
          <a:p>
            <a:pPr marL="457200" indent="-457200">
              <a:buFont typeface="+mj-lt"/>
              <a:buAutoNum type="arabicPeriod"/>
            </a:pPr>
            <a:r>
              <a:rPr lang="en-IN" sz="2400">
                <a:solidFill>
                  <a:schemeClr val="accent6">
                    <a:lumMod val="60000"/>
                    <a:lumOff val="40000"/>
                  </a:schemeClr>
                </a:solidFill>
              </a:rPr>
              <a:t>“Calculate the correlation between ApplicantIncome, CoapplicantIncome, LoanAmount, and Loan_Amount_Term.”</a:t>
            </a:r>
          </a:p>
          <a:p>
            <a:pPr marL="457200" indent="-457200">
              <a:buFont typeface="+mj-lt"/>
              <a:buAutoNum type="arabicPeriod"/>
            </a:pPr>
            <a:r>
              <a:rPr lang="en-IN" sz="2400">
                <a:solidFill>
                  <a:schemeClr val="accent6">
                    <a:lumMod val="60000"/>
                    <a:lumOff val="40000"/>
                  </a:schemeClr>
                </a:solidFill>
              </a:rPr>
              <a:t>“Create a correlation matrix and heatmap for the numerical variables.”</a:t>
            </a:r>
          </a:p>
          <a:p>
            <a:pPr marL="457200" indent="-457200">
              <a:buFont typeface="+mj-lt"/>
              <a:buAutoNum type="arabicPeriod"/>
            </a:pPr>
            <a:r>
              <a:rPr lang="en-IN" sz="2400">
                <a:solidFill>
                  <a:schemeClr val="accent6">
                    <a:lumMod val="60000"/>
                    <a:lumOff val="40000"/>
                  </a:schemeClr>
                </a:solidFill>
              </a:rPr>
              <a:t>“Identify which numerical variables have the strongest relationship with LoanAmount.”</a:t>
            </a:r>
          </a:p>
          <a:p>
            <a:pPr marL="457200" indent="-457200">
              <a:buFont typeface="+mj-lt"/>
              <a:buAutoNum type="arabicPeriod"/>
            </a:pPr>
            <a:r>
              <a:rPr lang="en-IN" sz="2400">
                <a:solidFill>
                  <a:schemeClr val="accent6">
                    <a:lumMod val="60000"/>
                    <a:lumOff val="40000"/>
                  </a:schemeClr>
                </a:solidFill>
              </a:rPr>
              <a:t>“Are higher-income applicants generally requesting larger loans?”</a:t>
            </a:r>
          </a:p>
        </p:txBody>
      </p:sp>
    </p:spTree>
    <p:extLst>
      <p:ext uri="{BB962C8B-B14F-4D97-AF65-F5344CB8AC3E}">
        <p14:creationId xmlns:p14="http://schemas.microsoft.com/office/powerpoint/2010/main" val="34204874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6C11CF3-B30B-2D2E-7170-07EB4A6DAD6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59BA5C2-7DA3-448E-9E33-CA124FD334D0}"/>
              </a:ext>
            </a:extLst>
          </p:cNvPr>
          <p:cNvSpPr txBox="1"/>
          <p:nvPr/>
        </p:nvSpPr>
        <p:spPr>
          <a:xfrm>
            <a:off x="-140723" y="0"/>
            <a:ext cx="2603373" cy="461665"/>
          </a:xfrm>
          <a:prstGeom prst="rect">
            <a:avLst/>
          </a:prstGeom>
          <a:noFill/>
        </p:spPr>
        <p:txBody>
          <a:bodyPr wrap="square">
            <a:spAutoFit/>
          </a:bodyPr>
          <a:lstStyle/>
          <a:p>
            <a:pPr algn="ctr"/>
            <a:r>
              <a:rPr lang="en-IN" sz="2400">
                <a:solidFill>
                  <a:schemeClr val="accent6">
                    <a:lumMod val="60000"/>
                    <a:lumOff val="40000"/>
                  </a:schemeClr>
                </a:solidFill>
              </a:rPr>
              <a:t>Sample Output</a:t>
            </a:r>
          </a:p>
        </p:txBody>
      </p:sp>
      <p:sp>
        <p:nvSpPr>
          <p:cNvPr id="9" name="TextBox 8">
            <a:extLst>
              <a:ext uri="{FF2B5EF4-FFF2-40B4-BE49-F238E27FC236}">
                <a16:creationId xmlns:a16="http://schemas.microsoft.com/office/drawing/2014/main" id="{7E6664A8-8D04-E857-3C08-73D756F23989}"/>
              </a:ext>
            </a:extLst>
          </p:cNvPr>
          <p:cNvSpPr txBox="1"/>
          <p:nvPr/>
        </p:nvSpPr>
        <p:spPr>
          <a:xfrm>
            <a:off x="0" y="517856"/>
            <a:ext cx="11865409" cy="461665"/>
          </a:xfrm>
          <a:prstGeom prst="rect">
            <a:avLst/>
          </a:prstGeom>
          <a:noFill/>
        </p:spPr>
        <p:txBody>
          <a:bodyPr wrap="square" rtlCol="0">
            <a:spAutoFit/>
          </a:bodyPr>
          <a:lstStyle/>
          <a:p>
            <a:r>
              <a:rPr lang="en-IN" sz="2400">
                <a:solidFill>
                  <a:schemeClr val="accent6">
                    <a:lumMod val="60000"/>
                    <a:lumOff val="40000"/>
                  </a:schemeClr>
                </a:solidFill>
              </a:rPr>
              <a:t>Q2:  “Create a correlation matrix and heatmap for the numerical variables.”</a:t>
            </a:r>
          </a:p>
        </p:txBody>
      </p:sp>
      <p:pic>
        <p:nvPicPr>
          <p:cNvPr id="4" name="Picture 3">
            <a:extLst>
              <a:ext uri="{FF2B5EF4-FFF2-40B4-BE49-F238E27FC236}">
                <a16:creationId xmlns:a16="http://schemas.microsoft.com/office/drawing/2014/main" id="{A7E08D93-6AFE-F89C-B183-813FAC86871E}"/>
              </a:ext>
            </a:extLst>
          </p:cNvPr>
          <p:cNvPicPr>
            <a:picLocks noChangeAspect="1"/>
          </p:cNvPicPr>
          <p:nvPr/>
        </p:nvPicPr>
        <p:blipFill>
          <a:blip r:embed="rId2"/>
          <a:stretch>
            <a:fillRect/>
          </a:stretch>
        </p:blipFill>
        <p:spPr>
          <a:xfrm>
            <a:off x="3742053" y="1056465"/>
            <a:ext cx="7335274" cy="5801535"/>
          </a:xfrm>
          <a:prstGeom prst="rect">
            <a:avLst/>
          </a:prstGeom>
        </p:spPr>
      </p:pic>
    </p:spTree>
    <p:extLst>
      <p:ext uri="{BB962C8B-B14F-4D97-AF65-F5344CB8AC3E}">
        <p14:creationId xmlns:p14="http://schemas.microsoft.com/office/powerpoint/2010/main" val="814848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42C1667-2543-74E9-791D-DE7217A3443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9FC85A0-C372-4C31-9D8D-3B93D8A8C473}"/>
              </a:ext>
            </a:extLst>
          </p:cNvPr>
          <p:cNvSpPr txBox="1"/>
          <p:nvPr/>
        </p:nvSpPr>
        <p:spPr>
          <a:xfrm>
            <a:off x="301752" y="192453"/>
            <a:ext cx="11411712" cy="4893647"/>
          </a:xfrm>
          <a:prstGeom prst="rect">
            <a:avLst/>
          </a:prstGeom>
          <a:noFill/>
        </p:spPr>
        <p:txBody>
          <a:bodyPr wrap="square">
            <a:spAutoFit/>
          </a:bodyPr>
          <a:lstStyle/>
          <a:p>
            <a:r>
              <a:rPr lang="en-IN" sz="2400" b="1">
                <a:solidFill>
                  <a:schemeClr val="accent6">
                    <a:lumMod val="60000"/>
                    <a:lumOff val="40000"/>
                  </a:schemeClr>
                </a:solidFill>
              </a:rPr>
              <a:t>8. Missing-value analysis </a:t>
            </a:r>
          </a:p>
          <a:p>
            <a:endParaRPr lang="en-IN" sz="2400">
              <a:solidFill>
                <a:schemeClr val="accent6">
                  <a:lumMod val="60000"/>
                  <a:lumOff val="40000"/>
                </a:schemeClr>
              </a:solidFill>
            </a:endParaRPr>
          </a:p>
          <a:p>
            <a:r>
              <a:rPr lang="en-IN" sz="2400">
                <a:solidFill>
                  <a:schemeClr val="accent6">
                    <a:lumMod val="60000"/>
                    <a:lumOff val="40000"/>
                  </a:schemeClr>
                </a:solidFill>
              </a:rPr>
              <a:t>Ask:</a:t>
            </a:r>
          </a:p>
          <a:p>
            <a:r>
              <a:rPr lang="en-IN" sz="2400">
                <a:solidFill>
                  <a:schemeClr val="accent6">
                    <a:lumMod val="60000"/>
                    <a:lumOff val="40000"/>
                  </a:schemeClr>
                </a:solidFill>
              </a:rPr>
              <a:t>“Identify all missing values in the dataset and calculate their percentage.”</a:t>
            </a:r>
          </a:p>
          <a:p>
            <a:endParaRPr lang="en-IN" sz="2400">
              <a:solidFill>
                <a:schemeClr val="accent6">
                  <a:lumMod val="60000"/>
                  <a:lumOff val="40000"/>
                </a:schemeClr>
              </a:solidFill>
            </a:endParaRPr>
          </a:p>
          <a:p>
            <a:r>
              <a:rPr lang="en-IN" sz="2400">
                <a:solidFill>
                  <a:schemeClr val="accent6">
                    <a:lumMod val="60000"/>
                    <a:lumOff val="40000"/>
                  </a:schemeClr>
                </a:solidFill>
              </a:rPr>
              <a:t>Then:</a:t>
            </a:r>
          </a:p>
          <a:p>
            <a:r>
              <a:rPr lang="en-IN" sz="2400">
                <a:solidFill>
                  <a:schemeClr val="accent6">
                    <a:lumMod val="60000"/>
                    <a:lumOff val="40000"/>
                  </a:schemeClr>
                </a:solidFill>
              </a:rPr>
              <a:t>“Suggest appropriate ways to handle the missing LoanAmount values. Explain your reasoning”</a:t>
            </a:r>
          </a:p>
          <a:p>
            <a:endParaRPr lang="en-IN" sz="2400">
              <a:solidFill>
                <a:schemeClr val="accent6">
                  <a:lumMod val="60000"/>
                  <a:lumOff val="40000"/>
                </a:schemeClr>
              </a:solidFill>
            </a:endParaRPr>
          </a:p>
          <a:p>
            <a:r>
              <a:rPr lang="en-IN" sz="2400">
                <a:solidFill>
                  <a:schemeClr val="accent6">
                    <a:lumMod val="60000"/>
                    <a:lumOff val="40000"/>
                  </a:schemeClr>
                </a:solidFill>
              </a:rPr>
              <a:t>Then:</a:t>
            </a:r>
          </a:p>
          <a:p>
            <a:r>
              <a:rPr lang="en-IN" sz="2400">
                <a:solidFill>
                  <a:schemeClr val="accent6">
                    <a:lumMod val="60000"/>
                    <a:lumOff val="40000"/>
                  </a:schemeClr>
                </a:solidFill>
              </a:rPr>
              <a:t>&lt;Choose one of the suggested method to fill in  missing values&gt;</a:t>
            </a:r>
          </a:p>
          <a:p>
            <a:endParaRPr lang="en-IN" sz="2400">
              <a:solidFill>
                <a:schemeClr val="accent6">
                  <a:lumMod val="60000"/>
                  <a:lumOff val="40000"/>
                </a:schemeClr>
              </a:solidFill>
            </a:endParaRPr>
          </a:p>
          <a:p>
            <a:r>
              <a:rPr lang="en-IN" sz="2400" b="1" i="1">
                <a:solidFill>
                  <a:schemeClr val="accent6">
                    <a:lumMod val="60000"/>
                    <a:lumOff val="40000"/>
                  </a:schemeClr>
                </a:solidFill>
              </a:rPr>
              <a:t>NOTE: AI would identify, suggest and remedies the missing values</a:t>
            </a:r>
          </a:p>
        </p:txBody>
      </p:sp>
    </p:spTree>
    <p:extLst>
      <p:ext uri="{BB962C8B-B14F-4D97-AF65-F5344CB8AC3E}">
        <p14:creationId xmlns:p14="http://schemas.microsoft.com/office/powerpoint/2010/main" val="23257444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A42EC3E-AC45-2BF7-5AA2-942C4FB8DE0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2DEE13E-ED21-2E31-C0D0-3492C91FFA21}"/>
              </a:ext>
            </a:extLst>
          </p:cNvPr>
          <p:cNvSpPr txBox="1"/>
          <p:nvPr/>
        </p:nvSpPr>
        <p:spPr>
          <a:xfrm>
            <a:off x="301752" y="192453"/>
            <a:ext cx="11667744" cy="4893647"/>
          </a:xfrm>
          <a:prstGeom prst="rect">
            <a:avLst/>
          </a:prstGeom>
          <a:noFill/>
        </p:spPr>
        <p:txBody>
          <a:bodyPr wrap="square">
            <a:spAutoFit/>
          </a:bodyPr>
          <a:lstStyle/>
          <a:p>
            <a:r>
              <a:rPr lang="en-IN" sz="2400" b="1">
                <a:solidFill>
                  <a:schemeClr val="accent6">
                    <a:lumMod val="60000"/>
                    <a:lumOff val="40000"/>
                  </a:schemeClr>
                </a:solidFill>
              </a:rPr>
              <a:t>9. Outlier analysis</a:t>
            </a:r>
          </a:p>
          <a:p>
            <a:endParaRPr lang="en-IN" sz="2400" b="1">
              <a:solidFill>
                <a:schemeClr val="accent6">
                  <a:lumMod val="60000"/>
                  <a:lumOff val="40000"/>
                </a:schemeClr>
              </a:solidFill>
            </a:endParaRPr>
          </a:p>
          <a:p>
            <a:r>
              <a:rPr lang="en-IN" sz="2400" b="1">
                <a:solidFill>
                  <a:schemeClr val="accent6">
                    <a:lumMod val="60000"/>
                    <a:lumOff val="40000"/>
                  </a:schemeClr>
                </a:solidFill>
              </a:rPr>
              <a:t>Ask:</a:t>
            </a:r>
          </a:p>
          <a:p>
            <a:r>
              <a:rPr lang="en-IN" sz="2400" i="1">
                <a:solidFill>
                  <a:schemeClr val="accent6">
                    <a:lumMod val="60000"/>
                    <a:lumOff val="40000"/>
                  </a:schemeClr>
                </a:solidFill>
              </a:rPr>
              <a:t>“Identify potential outliers in ApplicantIncome, CoapplicantIncome, and LoanAmount using the IQR method.”</a:t>
            </a:r>
          </a:p>
          <a:p>
            <a:endParaRPr lang="en-IN" sz="2400">
              <a:solidFill>
                <a:schemeClr val="accent6">
                  <a:lumMod val="60000"/>
                  <a:lumOff val="40000"/>
                </a:schemeClr>
              </a:solidFill>
            </a:endParaRPr>
          </a:p>
          <a:p>
            <a:r>
              <a:rPr lang="en-IN" sz="2400" b="1">
                <a:solidFill>
                  <a:schemeClr val="accent6">
                    <a:lumMod val="60000"/>
                    <a:lumOff val="40000"/>
                  </a:schemeClr>
                </a:solidFill>
              </a:rPr>
              <a:t>Then:</a:t>
            </a:r>
          </a:p>
          <a:p>
            <a:r>
              <a:rPr lang="en-IN" sz="2400" i="1">
                <a:solidFill>
                  <a:schemeClr val="accent6">
                    <a:lumMod val="60000"/>
                    <a:lumOff val="40000"/>
                  </a:schemeClr>
                </a:solidFill>
              </a:rPr>
              <a:t>“Create box plots for ApplicantIncome, CoapplicantIncome, and LoanAmount and explain the outliers.”</a:t>
            </a:r>
          </a:p>
          <a:p>
            <a:endParaRPr lang="en-IN" sz="2400">
              <a:solidFill>
                <a:schemeClr val="accent6">
                  <a:lumMod val="60000"/>
                  <a:lumOff val="40000"/>
                </a:schemeClr>
              </a:solidFill>
            </a:endParaRPr>
          </a:p>
          <a:p>
            <a:r>
              <a:rPr lang="en-IN" sz="2400" b="1">
                <a:solidFill>
                  <a:schemeClr val="accent6">
                    <a:lumMod val="60000"/>
                    <a:lumOff val="40000"/>
                  </a:schemeClr>
                </a:solidFill>
              </a:rPr>
              <a:t>And:</a:t>
            </a:r>
          </a:p>
          <a:p>
            <a:r>
              <a:rPr lang="en-IN" sz="2400" i="1">
                <a:solidFill>
                  <a:schemeClr val="accent6">
                    <a:lumMod val="60000"/>
                    <a:lumOff val="40000"/>
                  </a:schemeClr>
                </a:solidFill>
              </a:rPr>
              <a:t>“ Should these outliers be removed? </a:t>
            </a:r>
          </a:p>
          <a:p>
            <a:r>
              <a:rPr lang="en-IN" sz="2400" i="1">
                <a:solidFill>
                  <a:schemeClr val="accent6">
                    <a:lumMod val="60000"/>
                    <a:lumOff val="40000"/>
                  </a:schemeClr>
                </a:solidFill>
              </a:rPr>
              <a:t>Explain based on the business context rather than automatically removing them. ”</a:t>
            </a:r>
          </a:p>
        </p:txBody>
      </p:sp>
    </p:spTree>
    <p:extLst>
      <p:ext uri="{BB962C8B-B14F-4D97-AF65-F5344CB8AC3E}">
        <p14:creationId xmlns:p14="http://schemas.microsoft.com/office/powerpoint/2010/main" val="27766032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FB5AABB-465D-3765-27E6-7A37058CD8E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5BC661C-75E9-7321-C345-3179C2B1673C}"/>
              </a:ext>
            </a:extLst>
          </p:cNvPr>
          <p:cNvSpPr txBox="1"/>
          <p:nvPr/>
        </p:nvSpPr>
        <p:spPr>
          <a:xfrm>
            <a:off x="301752" y="192453"/>
            <a:ext cx="11411712" cy="4524315"/>
          </a:xfrm>
          <a:prstGeom prst="rect">
            <a:avLst/>
          </a:prstGeom>
          <a:noFill/>
        </p:spPr>
        <p:txBody>
          <a:bodyPr wrap="square">
            <a:spAutoFit/>
          </a:bodyPr>
          <a:lstStyle/>
          <a:p>
            <a:r>
              <a:rPr lang="en-IN" sz="2400" b="1">
                <a:solidFill>
                  <a:schemeClr val="accent6">
                    <a:lumMod val="60000"/>
                    <a:lumOff val="40000"/>
                  </a:schemeClr>
                </a:solidFill>
              </a:rPr>
              <a:t>10. Business insights</a:t>
            </a:r>
          </a:p>
          <a:p>
            <a:endParaRPr lang="en-IN" sz="2400" b="1">
              <a:solidFill>
                <a:schemeClr val="accent6">
                  <a:lumMod val="60000"/>
                  <a:lumOff val="40000"/>
                </a:schemeClr>
              </a:solidFill>
            </a:endParaRPr>
          </a:p>
          <a:p>
            <a:r>
              <a:rPr lang="en-IN" sz="2400">
                <a:solidFill>
                  <a:schemeClr val="accent6">
                    <a:lumMod val="60000"/>
                    <a:lumOff val="40000"/>
                  </a:schemeClr>
                </a:solidFill>
              </a:rPr>
              <a:t>a) Ask AI to behave like a business analyst:</a:t>
            </a:r>
          </a:p>
          <a:p>
            <a:r>
              <a:rPr lang="en-IN" sz="2400" b="1">
                <a:solidFill>
                  <a:schemeClr val="accent6">
                    <a:lumMod val="60000"/>
                    <a:lumOff val="40000"/>
                  </a:schemeClr>
                </a:solidFill>
              </a:rPr>
              <a:t>“Act as a banking data analyst. Analyze this loan application dataset and identify the five most important business insights that could help a bank improve its loan approval process.”</a:t>
            </a:r>
            <a:endParaRPr lang="en-IN" sz="2400">
              <a:solidFill>
                <a:schemeClr val="accent6">
                  <a:lumMod val="60000"/>
                  <a:lumOff val="40000"/>
                </a:schemeClr>
              </a:solidFill>
            </a:endParaRPr>
          </a:p>
          <a:p>
            <a:endParaRPr lang="en-IN" sz="2400">
              <a:solidFill>
                <a:schemeClr val="accent6">
                  <a:lumMod val="60000"/>
                  <a:lumOff val="40000"/>
                </a:schemeClr>
              </a:solidFill>
            </a:endParaRPr>
          </a:p>
          <a:p>
            <a:r>
              <a:rPr lang="en-IN" sz="2400">
                <a:solidFill>
                  <a:schemeClr val="accent6">
                    <a:lumMod val="60000"/>
                    <a:lumOff val="40000"/>
                  </a:schemeClr>
                </a:solidFill>
              </a:rPr>
              <a:t>b) Then:</a:t>
            </a:r>
          </a:p>
          <a:p>
            <a:r>
              <a:rPr lang="en-IN" sz="2400" b="1">
                <a:solidFill>
                  <a:schemeClr val="accent6">
                    <a:lumMod val="60000"/>
                    <a:lumOff val="40000"/>
                  </a:schemeClr>
                </a:solidFill>
              </a:rPr>
              <a:t>“For every insight, provide the supporting numbers from the dataset.”</a:t>
            </a:r>
            <a:endParaRPr lang="en-IN" sz="2400">
              <a:solidFill>
                <a:schemeClr val="accent6">
                  <a:lumMod val="60000"/>
                  <a:lumOff val="40000"/>
                </a:schemeClr>
              </a:solidFill>
            </a:endParaRPr>
          </a:p>
          <a:p>
            <a:endParaRPr lang="en-IN" sz="2400">
              <a:solidFill>
                <a:schemeClr val="accent6">
                  <a:lumMod val="60000"/>
                  <a:lumOff val="40000"/>
                </a:schemeClr>
              </a:solidFill>
            </a:endParaRPr>
          </a:p>
          <a:p>
            <a:r>
              <a:rPr lang="en-IN" sz="2400">
                <a:solidFill>
                  <a:schemeClr val="accent6">
                    <a:lumMod val="60000"/>
                    <a:lumOff val="40000"/>
                  </a:schemeClr>
                </a:solidFill>
              </a:rPr>
              <a:t>c) And:</a:t>
            </a:r>
          </a:p>
          <a:p>
            <a:r>
              <a:rPr lang="en-IN" sz="2400" b="1">
                <a:solidFill>
                  <a:schemeClr val="accent6">
                    <a:lumMod val="60000"/>
                    <a:lumOff val="40000"/>
                  </a:schemeClr>
                </a:solidFill>
              </a:rPr>
              <a:t>“Separate your findings into Observations, Evidence, and Business Implications.”</a:t>
            </a:r>
            <a:endParaRPr lang="en-IN" sz="2400">
              <a:solidFill>
                <a:schemeClr val="accent6">
                  <a:lumMod val="60000"/>
                  <a:lumOff val="40000"/>
                </a:schemeClr>
              </a:solidFill>
            </a:endParaRPr>
          </a:p>
        </p:txBody>
      </p:sp>
    </p:spTree>
    <p:extLst>
      <p:ext uri="{BB962C8B-B14F-4D97-AF65-F5344CB8AC3E}">
        <p14:creationId xmlns:p14="http://schemas.microsoft.com/office/powerpoint/2010/main" val="2401995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E18E46E-8841-E9EC-B2D8-2D0A8EB2D08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446C519-9206-E6A9-F39C-45B1DC41BC43}"/>
              </a:ext>
            </a:extLst>
          </p:cNvPr>
          <p:cNvSpPr txBox="1"/>
          <p:nvPr/>
        </p:nvSpPr>
        <p:spPr>
          <a:xfrm>
            <a:off x="-177299" y="100584"/>
            <a:ext cx="2603373" cy="461665"/>
          </a:xfrm>
          <a:prstGeom prst="rect">
            <a:avLst/>
          </a:prstGeom>
          <a:noFill/>
        </p:spPr>
        <p:txBody>
          <a:bodyPr wrap="square">
            <a:spAutoFit/>
          </a:bodyPr>
          <a:lstStyle/>
          <a:p>
            <a:pPr algn="ctr"/>
            <a:r>
              <a:rPr lang="en-IN" sz="2400">
                <a:solidFill>
                  <a:schemeClr val="accent6">
                    <a:lumMod val="60000"/>
                    <a:lumOff val="40000"/>
                  </a:schemeClr>
                </a:solidFill>
              </a:rPr>
              <a:t>Sample Output</a:t>
            </a:r>
          </a:p>
        </p:txBody>
      </p:sp>
      <p:sp>
        <p:nvSpPr>
          <p:cNvPr id="9" name="TextBox 8">
            <a:extLst>
              <a:ext uri="{FF2B5EF4-FFF2-40B4-BE49-F238E27FC236}">
                <a16:creationId xmlns:a16="http://schemas.microsoft.com/office/drawing/2014/main" id="{B032E63A-48E7-C3B3-02D7-A1DED03DE4EE}"/>
              </a:ext>
            </a:extLst>
          </p:cNvPr>
          <p:cNvSpPr txBox="1"/>
          <p:nvPr/>
        </p:nvSpPr>
        <p:spPr>
          <a:xfrm>
            <a:off x="1" y="517856"/>
            <a:ext cx="4617720" cy="584775"/>
          </a:xfrm>
          <a:prstGeom prst="rect">
            <a:avLst/>
          </a:prstGeom>
          <a:noFill/>
        </p:spPr>
        <p:txBody>
          <a:bodyPr wrap="square" rtlCol="0">
            <a:spAutoFit/>
          </a:bodyPr>
          <a:lstStyle/>
          <a:p>
            <a:r>
              <a:rPr lang="en-IN" sz="3200">
                <a:solidFill>
                  <a:schemeClr val="accent6">
                    <a:lumMod val="60000"/>
                    <a:lumOff val="40000"/>
                  </a:schemeClr>
                </a:solidFill>
              </a:rPr>
              <a:t>a)</a:t>
            </a:r>
          </a:p>
        </p:txBody>
      </p:sp>
      <p:pic>
        <p:nvPicPr>
          <p:cNvPr id="3" name="Picture 2">
            <a:extLst>
              <a:ext uri="{FF2B5EF4-FFF2-40B4-BE49-F238E27FC236}">
                <a16:creationId xmlns:a16="http://schemas.microsoft.com/office/drawing/2014/main" id="{64E4E5BA-5A98-F03E-60E2-020C86E5C32D}"/>
              </a:ext>
            </a:extLst>
          </p:cNvPr>
          <p:cNvPicPr>
            <a:picLocks noChangeAspect="1"/>
          </p:cNvPicPr>
          <p:nvPr/>
        </p:nvPicPr>
        <p:blipFill>
          <a:blip r:embed="rId2"/>
          <a:stretch>
            <a:fillRect/>
          </a:stretch>
        </p:blipFill>
        <p:spPr>
          <a:xfrm>
            <a:off x="4731504" y="0"/>
            <a:ext cx="7392432" cy="6697010"/>
          </a:xfrm>
          <a:prstGeom prst="rect">
            <a:avLst/>
          </a:prstGeom>
        </p:spPr>
      </p:pic>
    </p:spTree>
    <p:extLst>
      <p:ext uri="{BB962C8B-B14F-4D97-AF65-F5344CB8AC3E}">
        <p14:creationId xmlns:p14="http://schemas.microsoft.com/office/powerpoint/2010/main" val="25756698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6D182A7-289E-5265-157E-5FBFEEF8B19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6A6E178-85C4-0F5F-B181-6F1D51A7FCBB}"/>
              </a:ext>
            </a:extLst>
          </p:cNvPr>
          <p:cNvSpPr txBox="1"/>
          <p:nvPr/>
        </p:nvSpPr>
        <p:spPr>
          <a:xfrm>
            <a:off x="301752" y="192453"/>
            <a:ext cx="11411712" cy="4154984"/>
          </a:xfrm>
          <a:prstGeom prst="rect">
            <a:avLst/>
          </a:prstGeom>
          <a:noFill/>
        </p:spPr>
        <p:txBody>
          <a:bodyPr wrap="square">
            <a:spAutoFit/>
          </a:bodyPr>
          <a:lstStyle/>
          <a:p>
            <a:r>
              <a:rPr lang="en-IN" sz="2400" b="1">
                <a:solidFill>
                  <a:schemeClr val="accent6">
                    <a:lumMod val="60000"/>
                    <a:lumOff val="40000"/>
                  </a:schemeClr>
                </a:solidFill>
              </a:rPr>
              <a:t>11. Executive summary</a:t>
            </a:r>
          </a:p>
          <a:p>
            <a:endParaRPr lang="en-IN" sz="2400" b="1">
              <a:solidFill>
                <a:schemeClr val="accent6">
                  <a:lumMod val="60000"/>
                  <a:lumOff val="40000"/>
                </a:schemeClr>
              </a:solidFill>
            </a:endParaRPr>
          </a:p>
          <a:p>
            <a:r>
              <a:rPr lang="en-IN" sz="2400">
                <a:solidFill>
                  <a:schemeClr val="accent6">
                    <a:lumMod val="60000"/>
                    <a:lumOff val="40000"/>
                  </a:schemeClr>
                </a:solidFill>
              </a:rPr>
              <a:t>A good final exercise:</a:t>
            </a:r>
          </a:p>
          <a:p>
            <a:r>
              <a:rPr lang="en-IN" sz="2400" b="1">
                <a:solidFill>
                  <a:schemeClr val="accent6">
                    <a:lumMod val="60000"/>
                    <a:lumOff val="40000"/>
                  </a:schemeClr>
                </a:solidFill>
              </a:rPr>
              <a:t>“Create an executive summary of this loan application dataset. Include applicant demographics, income characteristics, loan characteristics, approval rate, major factors associated with loan approval, data quality issues, and three actionable recommendations for the bank.”</a:t>
            </a:r>
            <a:endParaRPr lang="en-IN" sz="2400">
              <a:solidFill>
                <a:schemeClr val="accent6">
                  <a:lumMod val="60000"/>
                  <a:lumOff val="40000"/>
                </a:schemeClr>
              </a:solidFill>
            </a:endParaRPr>
          </a:p>
          <a:p>
            <a:endParaRPr lang="en-IN" sz="2400">
              <a:solidFill>
                <a:schemeClr val="accent6">
                  <a:lumMod val="60000"/>
                  <a:lumOff val="40000"/>
                </a:schemeClr>
              </a:solidFill>
            </a:endParaRPr>
          </a:p>
          <a:p>
            <a:r>
              <a:rPr lang="en-IN" sz="2400">
                <a:solidFill>
                  <a:schemeClr val="accent6">
                    <a:lumMod val="60000"/>
                    <a:lumOff val="40000"/>
                  </a:schemeClr>
                </a:solidFill>
              </a:rPr>
              <a:t>Make it responsible interpretation of data:</a:t>
            </a:r>
          </a:p>
          <a:p>
            <a:r>
              <a:rPr lang="en-IN" sz="2400" b="1">
                <a:solidFill>
                  <a:schemeClr val="accent6">
                    <a:lumMod val="60000"/>
                    <a:lumOff val="40000"/>
                  </a:schemeClr>
                </a:solidFill>
              </a:rPr>
              <a:t>“Do not claim that a variable causes loan approval. Report associations only unless causal evidence is available.”</a:t>
            </a:r>
            <a:endParaRPr lang="en-IN" sz="2400">
              <a:solidFill>
                <a:schemeClr val="accent6">
                  <a:lumMod val="60000"/>
                  <a:lumOff val="40000"/>
                </a:schemeClr>
              </a:solidFill>
            </a:endParaRPr>
          </a:p>
        </p:txBody>
      </p:sp>
    </p:spTree>
    <p:extLst>
      <p:ext uri="{BB962C8B-B14F-4D97-AF65-F5344CB8AC3E}">
        <p14:creationId xmlns:p14="http://schemas.microsoft.com/office/powerpoint/2010/main" val="28281578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231EB35-499D-85A4-56AA-427338A832E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71C092F-3080-9FD7-BC83-ADF8E1E647AA}"/>
              </a:ext>
            </a:extLst>
          </p:cNvPr>
          <p:cNvSpPr txBox="1"/>
          <p:nvPr/>
        </p:nvSpPr>
        <p:spPr>
          <a:xfrm>
            <a:off x="201168" y="197346"/>
            <a:ext cx="5047488" cy="830997"/>
          </a:xfrm>
          <a:prstGeom prst="rect">
            <a:avLst/>
          </a:prstGeom>
          <a:noFill/>
        </p:spPr>
        <p:txBody>
          <a:bodyPr wrap="square">
            <a:spAutoFit/>
          </a:bodyPr>
          <a:lstStyle/>
          <a:p>
            <a:pPr>
              <a:buNone/>
            </a:pPr>
            <a:r>
              <a:rPr lang="en-IN" sz="2400" b="1">
                <a:solidFill>
                  <a:schemeClr val="accent6">
                    <a:lumMod val="60000"/>
                    <a:lumOff val="40000"/>
                  </a:schemeClr>
                </a:solidFill>
              </a:rPr>
              <a:t>12. Dashboard-type questions</a:t>
            </a:r>
          </a:p>
          <a:p>
            <a:pPr>
              <a:buNone/>
            </a:pPr>
            <a:r>
              <a:rPr lang="en-IN" sz="2400">
                <a:solidFill>
                  <a:schemeClr val="accent6">
                    <a:lumMod val="60000"/>
                    <a:lumOff val="40000"/>
                  </a:schemeClr>
                </a:solidFill>
              </a:rPr>
              <a:t>Ask to build a dashboard around:</a:t>
            </a:r>
          </a:p>
        </p:txBody>
      </p:sp>
      <p:sp>
        <p:nvSpPr>
          <p:cNvPr id="6" name="TextBox 5">
            <a:extLst>
              <a:ext uri="{FF2B5EF4-FFF2-40B4-BE49-F238E27FC236}">
                <a16:creationId xmlns:a16="http://schemas.microsoft.com/office/drawing/2014/main" id="{14D68BF9-09BD-6412-1F4E-A957A34697D0}"/>
              </a:ext>
            </a:extLst>
          </p:cNvPr>
          <p:cNvSpPr txBox="1"/>
          <p:nvPr/>
        </p:nvSpPr>
        <p:spPr>
          <a:xfrm>
            <a:off x="541782" y="4268659"/>
            <a:ext cx="11510010" cy="1938992"/>
          </a:xfrm>
          <a:prstGeom prst="rect">
            <a:avLst/>
          </a:prstGeom>
          <a:noFill/>
        </p:spPr>
        <p:txBody>
          <a:bodyPr wrap="square">
            <a:spAutoFit/>
          </a:bodyPr>
          <a:lstStyle/>
          <a:p>
            <a:pPr>
              <a:buNone/>
            </a:pPr>
            <a:r>
              <a:rPr lang="en-IN" sz="2400">
                <a:solidFill>
                  <a:schemeClr val="accent6">
                    <a:lumMod val="60000"/>
                    <a:lumOff val="40000"/>
                  </a:schemeClr>
                </a:solidFill>
              </a:rPr>
              <a:t>Example prompt:</a:t>
            </a:r>
          </a:p>
          <a:p>
            <a:pPr>
              <a:buNone/>
            </a:pPr>
            <a:r>
              <a:rPr lang="en-IN" sz="2400" b="1">
                <a:solidFill>
                  <a:schemeClr val="accent6">
                    <a:lumMod val="60000"/>
                    <a:lumOff val="40000"/>
                  </a:schemeClr>
                </a:solidFill>
              </a:rPr>
              <a:t>“Create a loan application dashboard with KPI cards for total applications, approval rate, average applicant income, and average loan amount. </a:t>
            </a:r>
          </a:p>
          <a:p>
            <a:pPr>
              <a:buNone/>
            </a:pPr>
            <a:r>
              <a:rPr lang="en-IN" sz="2400" b="1">
                <a:solidFill>
                  <a:schemeClr val="accent6">
                    <a:lumMod val="60000"/>
                    <a:lumOff val="40000"/>
                  </a:schemeClr>
                </a:solidFill>
              </a:rPr>
              <a:t>Add charts showing approval rate by Credit_History, Property_Area, Education, and Gender.”</a:t>
            </a:r>
            <a:endParaRPr lang="en-IN" sz="2400">
              <a:solidFill>
                <a:schemeClr val="accent6">
                  <a:lumMod val="60000"/>
                  <a:lumOff val="40000"/>
                </a:schemeClr>
              </a:solidFill>
            </a:endParaRPr>
          </a:p>
        </p:txBody>
      </p:sp>
      <p:sp>
        <p:nvSpPr>
          <p:cNvPr id="8" name="TextBox 7">
            <a:extLst>
              <a:ext uri="{FF2B5EF4-FFF2-40B4-BE49-F238E27FC236}">
                <a16:creationId xmlns:a16="http://schemas.microsoft.com/office/drawing/2014/main" id="{1579A35B-6F54-1D97-20F3-0FAB6F85C1BC}"/>
              </a:ext>
            </a:extLst>
          </p:cNvPr>
          <p:cNvSpPr txBox="1"/>
          <p:nvPr/>
        </p:nvSpPr>
        <p:spPr>
          <a:xfrm>
            <a:off x="6096000" y="947351"/>
            <a:ext cx="5047488" cy="3046988"/>
          </a:xfrm>
          <a:prstGeom prst="rect">
            <a:avLst/>
          </a:prstGeom>
          <a:noFill/>
        </p:spPr>
        <p:txBody>
          <a:bodyPr wrap="square">
            <a:spAutoFit/>
          </a:bodyPr>
          <a:lstStyle/>
          <a:p>
            <a:pPr>
              <a:buNone/>
            </a:pPr>
            <a:r>
              <a:rPr lang="en-IN" sz="2400" b="1">
                <a:solidFill>
                  <a:schemeClr val="accent6">
                    <a:lumMod val="60000"/>
                    <a:lumOff val="40000"/>
                  </a:schemeClr>
                </a:solidFill>
              </a:rPr>
              <a:t>Charts</a:t>
            </a:r>
            <a:endParaRPr lang="en-IN" sz="2400">
              <a:solidFill>
                <a:schemeClr val="accent6">
                  <a:lumMod val="60000"/>
                  <a:lumOff val="40000"/>
                </a:schemeClr>
              </a:solidFill>
            </a:endParaRPr>
          </a:p>
          <a:p>
            <a:pPr marL="342900" lvl="0" indent="-342900">
              <a:buFont typeface="Arial" panose="020B0604020202020204" pitchFamily="34" charset="0"/>
              <a:buChar char="•"/>
            </a:pPr>
            <a:r>
              <a:rPr lang="en-IN" sz="2400">
                <a:solidFill>
                  <a:schemeClr val="accent6">
                    <a:lumMod val="60000"/>
                    <a:lumOff val="40000"/>
                  </a:schemeClr>
                </a:solidFill>
              </a:rPr>
              <a:t>Loan Status distribution </a:t>
            </a:r>
          </a:p>
          <a:p>
            <a:pPr marL="342900" lvl="0" indent="-342900">
              <a:buFont typeface="Arial" panose="020B0604020202020204" pitchFamily="34" charset="0"/>
              <a:buChar char="•"/>
            </a:pPr>
            <a:r>
              <a:rPr lang="en-IN" sz="2400">
                <a:solidFill>
                  <a:schemeClr val="accent6">
                    <a:lumMod val="60000"/>
                    <a:lumOff val="40000"/>
                  </a:schemeClr>
                </a:solidFill>
              </a:rPr>
              <a:t>Approval rate by Gender </a:t>
            </a:r>
          </a:p>
          <a:p>
            <a:pPr marL="342900" lvl="0" indent="-342900">
              <a:buFont typeface="Arial" panose="020B0604020202020204" pitchFamily="34" charset="0"/>
              <a:buChar char="•"/>
            </a:pPr>
            <a:r>
              <a:rPr lang="en-IN" sz="2400">
                <a:solidFill>
                  <a:schemeClr val="accent6">
                    <a:lumMod val="60000"/>
                    <a:lumOff val="40000"/>
                  </a:schemeClr>
                </a:solidFill>
              </a:rPr>
              <a:t>Approval rate by Education </a:t>
            </a:r>
          </a:p>
          <a:p>
            <a:pPr marL="342900" lvl="0" indent="-342900">
              <a:buFont typeface="Arial" panose="020B0604020202020204" pitchFamily="34" charset="0"/>
              <a:buChar char="•"/>
            </a:pPr>
            <a:r>
              <a:rPr lang="en-IN" sz="2400">
                <a:solidFill>
                  <a:schemeClr val="accent6">
                    <a:lumMod val="60000"/>
                    <a:lumOff val="40000"/>
                  </a:schemeClr>
                </a:solidFill>
              </a:rPr>
              <a:t>Approval rate by Property Area </a:t>
            </a:r>
          </a:p>
          <a:p>
            <a:pPr marL="342900" lvl="0" indent="-342900">
              <a:buFont typeface="Arial" panose="020B0604020202020204" pitchFamily="34" charset="0"/>
              <a:buChar char="•"/>
            </a:pPr>
            <a:r>
              <a:rPr lang="en-IN" sz="2400">
                <a:solidFill>
                  <a:schemeClr val="accent6">
                    <a:lumMod val="60000"/>
                    <a:lumOff val="40000"/>
                  </a:schemeClr>
                </a:solidFill>
              </a:rPr>
              <a:t>Approval rate by Credit History </a:t>
            </a:r>
          </a:p>
          <a:p>
            <a:pPr marL="342900" lvl="0" indent="-342900">
              <a:buFont typeface="Arial" panose="020B0604020202020204" pitchFamily="34" charset="0"/>
              <a:buChar char="•"/>
            </a:pPr>
            <a:r>
              <a:rPr lang="en-IN" sz="2400">
                <a:solidFill>
                  <a:schemeClr val="accent6">
                    <a:lumMod val="60000"/>
                    <a:lumOff val="40000"/>
                  </a:schemeClr>
                </a:solidFill>
              </a:rPr>
              <a:t>Income distribution </a:t>
            </a:r>
          </a:p>
          <a:p>
            <a:pPr marL="342900" lvl="0" indent="-342900">
              <a:buFont typeface="Arial" panose="020B0604020202020204" pitchFamily="34" charset="0"/>
              <a:buChar char="•"/>
            </a:pPr>
            <a:r>
              <a:rPr lang="en-IN" sz="2400">
                <a:solidFill>
                  <a:schemeClr val="accent6">
                    <a:lumMod val="60000"/>
                    <a:lumOff val="40000"/>
                  </a:schemeClr>
                </a:solidFill>
              </a:rPr>
              <a:t>Loan Amount distribution </a:t>
            </a:r>
          </a:p>
        </p:txBody>
      </p:sp>
      <p:sp>
        <p:nvSpPr>
          <p:cNvPr id="10" name="TextBox 9">
            <a:extLst>
              <a:ext uri="{FF2B5EF4-FFF2-40B4-BE49-F238E27FC236}">
                <a16:creationId xmlns:a16="http://schemas.microsoft.com/office/drawing/2014/main" id="{2B2A9124-2200-2775-8426-8BEAB4269B73}"/>
              </a:ext>
            </a:extLst>
          </p:cNvPr>
          <p:cNvSpPr txBox="1"/>
          <p:nvPr/>
        </p:nvSpPr>
        <p:spPr>
          <a:xfrm>
            <a:off x="285750" y="1132017"/>
            <a:ext cx="4514850" cy="2677656"/>
          </a:xfrm>
          <a:prstGeom prst="rect">
            <a:avLst/>
          </a:prstGeom>
          <a:noFill/>
        </p:spPr>
        <p:txBody>
          <a:bodyPr wrap="square">
            <a:spAutoFit/>
          </a:bodyPr>
          <a:lstStyle/>
          <a:p>
            <a:pPr>
              <a:buNone/>
            </a:pPr>
            <a:r>
              <a:rPr lang="en-IN" sz="2400" b="1">
                <a:solidFill>
                  <a:schemeClr val="accent6">
                    <a:lumMod val="60000"/>
                    <a:lumOff val="40000"/>
                  </a:schemeClr>
                </a:solidFill>
              </a:rPr>
              <a:t>KPIs</a:t>
            </a:r>
            <a:endParaRPr lang="en-IN" sz="2400">
              <a:solidFill>
                <a:schemeClr val="accent6">
                  <a:lumMod val="60000"/>
                  <a:lumOff val="40000"/>
                </a:schemeClr>
              </a:solidFill>
            </a:endParaRPr>
          </a:p>
          <a:p>
            <a:pPr marL="342900" lvl="0" indent="-342900">
              <a:buFont typeface="Arial" panose="020B0604020202020204" pitchFamily="34" charset="0"/>
              <a:buChar char="•"/>
            </a:pPr>
            <a:r>
              <a:rPr lang="en-IN" sz="2400">
                <a:solidFill>
                  <a:schemeClr val="accent6">
                    <a:lumMod val="60000"/>
                    <a:lumOff val="40000"/>
                  </a:schemeClr>
                </a:solidFill>
              </a:rPr>
              <a:t>Total Applications </a:t>
            </a:r>
          </a:p>
          <a:p>
            <a:pPr marL="342900" lvl="0" indent="-342900">
              <a:buFont typeface="Arial" panose="020B0604020202020204" pitchFamily="34" charset="0"/>
              <a:buChar char="•"/>
            </a:pPr>
            <a:r>
              <a:rPr lang="en-IN" sz="2400">
                <a:solidFill>
                  <a:schemeClr val="accent6">
                    <a:lumMod val="60000"/>
                    <a:lumOff val="40000"/>
                  </a:schemeClr>
                </a:solidFill>
              </a:rPr>
              <a:t>Approved Applications </a:t>
            </a:r>
          </a:p>
          <a:p>
            <a:pPr marL="342900" lvl="0" indent="-342900">
              <a:buFont typeface="Arial" panose="020B0604020202020204" pitchFamily="34" charset="0"/>
              <a:buChar char="•"/>
            </a:pPr>
            <a:r>
              <a:rPr lang="en-IN" sz="2400">
                <a:solidFill>
                  <a:schemeClr val="accent6">
                    <a:lumMod val="60000"/>
                    <a:lumOff val="40000"/>
                  </a:schemeClr>
                </a:solidFill>
              </a:rPr>
              <a:t>Rejected Applications </a:t>
            </a:r>
          </a:p>
          <a:p>
            <a:pPr marL="342900" lvl="0" indent="-342900">
              <a:buFont typeface="Arial" panose="020B0604020202020204" pitchFamily="34" charset="0"/>
              <a:buChar char="•"/>
            </a:pPr>
            <a:r>
              <a:rPr lang="en-IN" sz="2400">
                <a:solidFill>
                  <a:schemeClr val="accent6">
                    <a:lumMod val="60000"/>
                    <a:lumOff val="40000"/>
                  </a:schemeClr>
                </a:solidFill>
              </a:rPr>
              <a:t>Approval Rate </a:t>
            </a:r>
          </a:p>
          <a:p>
            <a:pPr marL="342900" lvl="0" indent="-342900">
              <a:buFont typeface="Arial" panose="020B0604020202020204" pitchFamily="34" charset="0"/>
              <a:buChar char="•"/>
            </a:pPr>
            <a:r>
              <a:rPr lang="en-IN" sz="2400">
                <a:solidFill>
                  <a:schemeClr val="accent6">
                    <a:lumMod val="60000"/>
                    <a:lumOff val="40000"/>
                  </a:schemeClr>
                </a:solidFill>
              </a:rPr>
              <a:t>Average Applicant Income </a:t>
            </a:r>
          </a:p>
          <a:p>
            <a:pPr marL="342900" lvl="0" indent="-342900">
              <a:buFont typeface="Arial" panose="020B0604020202020204" pitchFamily="34" charset="0"/>
              <a:buChar char="•"/>
            </a:pPr>
            <a:r>
              <a:rPr lang="en-IN" sz="2400">
                <a:solidFill>
                  <a:schemeClr val="accent6">
                    <a:lumMod val="60000"/>
                    <a:lumOff val="40000"/>
                  </a:schemeClr>
                </a:solidFill>
              </a:rPr>
              <a:t>Average Loan Amount </a:t>
            </a:r>
          </a:p>
        </p:txBody>
      </p:sp>
    </p:spTree>
    <p:extLst>
      <p:ext uri="{BB962C8B-B14F-4D97-AF65-F5344CB8AC3E}">
        <p14:creationId xmlns:p14="http://schemas.microsoft.com/office/powerpoint/2010/main" val="10591222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DFD7F50-BC59-2CD1-7032-D8F1DB033FB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202F7DF-2D15-F722-901C-841C226399AC}"/>
              </a:ext>
            </a:extLst>
          </p:cNvPr>
          <p:cNvSpPr txBox="1"/>
          <p:nvPr/>
        </p:nvSpPr>
        <p:spPr>
          <a:xfrm>
            <a:off x="-177299" y="100584"/>
            <a:ext cx="2603373" cy="461665"/>
          </a:xfrm>
          <a:prstGeom prst="rect">
            <a:avLst/>
          </a:prstGeom>
          <a:noFill/>
        </p:spPr>
        <p:txBody>
          <a:bodyPr wrap="square">
            <a:spAutoFit/>
          </a:bodyPr>
          <a:lstStyle/>
          <a:p>
            <a:pPr algn="ctr"/>
            <a:r>
              <a:rPr lang="en-IN" sz="2400">
                <a:solidFill>
                  <a:schemeClr val="accent6">
                    <a:lumMod val="60000"/>
                    <a:lumOff val="40000"/>
                  </a:schemeClr>
                </a:solidFill>
              </a:rPr>
              <a:t>Sample Output</a:t>
            </a:r>
          </a:p>
        </p:txBody>
      </p:sp>
      <p:sp>
        <p:nvSpPr>
          <p:cNvPr id="9" name="TextBox 8">
            <a:extLst>
              <a:ext uri="{FF2B5EF4-FFF2-40B4-BE49-F238E27FC236}">
                <a16:creationId xmlns:a16="http://schemas.microsoft.com/office/drawing/2014/main" id="{15B4CD5C-1035-2409-5387-CE67D9C86A0A}"/>
              </a:ext>
            </a:extLst>
          </p:cNvPr>
          <p:cNvSpPr txBox="1"/>
          <p:nvPr/>
        </p:nvSpPr>
        <p:spPr>
          <a:xfrm>
            <a:off x="0" y="1212800"/>
            <a:ext cx="4617720" cy="584775"/>
          </a:xfrm>
          <a:prstGeom prst="rect">
            <a:avLst/>
          </a:prstGeom>
          <a:noFill/>
        </p:spPr>
        <p:txBody>
          <a:bodyPr wrap="square" rtlCol="0">
            <a:spAutoFit/>
          </a:bodyPr>
          <a:lstStyle/>
          <a:p>
            <a:r>
              <a:rPr lang="en-US" sz="3200">
                <a:solidFill>
                  <a:schemeClr val="accent6">
                    <a:lumMod val="60000"/>
                    <a:lumOff val="40000"/>
                  </a:schemeClr>
                </a:solidFill>
              </a:rPr>
              <a:t>Dashboard</a:t>
            </a:r>
            <a:endParaRPr lang="en-IN" sz="3200">
              <a:solidFill>
                <a:schemeClr val="accent6">
                  <a:lumMod val="60000"/>
                  <a:lumOff val="40000"/>
                </a:schemeClr>
              </a:solidFill>
            </a:endParaRPr>
          </a:p>
        </p:txBody>
      </p:sp>
      <p:pic>
        <p:nvPicPr>
          <p:cNvPr id="4" name="Picture 3">
            <a:extLst>
              <a:ext uri="{FF2B5EF4-FFF2-40B4-BE49-F238E27FC236}">
                <a16:creationId xmlns:a16="http://schemas.microsoft.com/office/drawing/2014/main" id="{FB1BAE34-30F1-F31F-2242-4C5E911CD316}"/>
              </a:ext>
            </a:extLst>
          </p:cNvPr>
          <p:cNvPicPr>
            <a:picLocks noChangeAspect="1"/>
          </p:cNvPicPr>
          <p:nvPr/>
        </p:nvPicPr>
        <p:blipFill>
          <a:blip r:embed="rId2"/>
          <a:stretch>
            <a:fillRect/>
          </a:stretch>
        </p:blipFill>
        <p:spPr>
          <a:xfrm>
            <a:off x="3804962" y="0"/>
            <a:ext cx="7032667" cy="6858000"/>
          </a:xfrm>
          <a:prstGeom prst="rect">
            <a:avLst/>
          </a:prstGeom>
        </p:spPr>
      </p:pic>
    </p:spTree>
    <p:extLst>
      <p:ext uri="{BB962C8B-B14F-4D97-AF65-F5344CB8AC3E}">
        <p14:creationId xmlns:p14="http://schemas.microsoft.com/office/powerpoint/2010/main" val="38143763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539</TotalTime>
  <Words>1199</Words>
  <Application>Microsoft Office PowerPoint</Application>
  <PresentationFormat>Widescreen</PresentationFormat>
  <Paragraphs>188</Paragraphs>
  <Slides>29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47</cp:revision>
  <dcterms:created xsi:type="dcterms:W3CDTF">2026-09-25T02:37:34Z</dcterms:created>
  <dcterms:modified xsi:type="dcterms:W3CDTF">2026-10-26T12:52:58Z</dcterms:modified>
</cp:coreProperties>
</file>