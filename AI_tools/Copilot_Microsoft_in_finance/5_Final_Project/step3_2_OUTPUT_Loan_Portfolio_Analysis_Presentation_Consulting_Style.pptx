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Loan Portfolio Analysis, Credit Risk Assessment, and Loan Approval Performance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Finance &amp; Credit Risk Department</a:t>
            </a:r>
          </a:p>
          <a:p>
            <a:r>
              <a:t>Senior Management Presentation</a:t>
            </a:r>
          </a:p>
          <a:p>
            <a:r>
              <a:t>10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193024" cy="1200329"/>
          </a:xfrm>
          <a:prstGeom prst="rect">
            <a:avLst/>
          </a:prstGeom>
          <a:solidFill>
            <a:srgbClr val="E6EEF8"/>
          </a:solidFill>
        </p:spPr>
        <p:txBody>
          <a:bodyPr wrap="square">
            <a:spAutoFit/>
          </a:bodyPr>
          <a:lstStyle/>
          <a:p>
            <a:r>
              <a:t>614 Applications | 422 Approved (68.7%) | 192 Rejected (31.3%)</a:t>
            </a:r>
          </a:p>
          <a:p>
            <a:r>
              <a:t>Credit history is the strongest observed outcome differentiator</a:t>
            </a:r>
          </a:p>
          <a:p>
            <a:r>
              <a:t>Semiurban approval rate highest observed</a:t>
            </a:r>
          </a:p>
          <a:p>
            <a:r>
              <a:t>Data quality improvements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186416" cy="923330"/>
          </a:xfrm>
          <a:prstGeom prst="rect">
            <a:avLst/>
          </a:prstGeom>
          <a:solidFill>
            <a:srgbClr val="E6EEF8"/>
          </a:solidFill>
        </p:spPr>
        <p:txBody>
          <a:bodyPr wrap="square">
            <a:spAutoFit/>
          </a:bodyPr>
          <a:lstStyle/>
          <a:p>
            <a:r>
              <a:t>614 records, 614 unique IDs, no duplicates</a:t>
            </a:r>
          </a:p>
          <a:p>
            <a:r>
              <a:t>Missing values concentrated in Credit_History, Self_Employed, LoanAmount and Loan_Amount_Term</a:t>
            </a:r>
          </a:p>
          <a:p>
            <a:r>
              <a:t>No repayment-performance data available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Loan Approval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7269480" cy="369332"/>
          </a:xfrm>
          <a:prstGeom prst="rect">
            <a:avLst/>
          </a:prstGeom>
          <a:solidFill>
            <a:srgbClr val="E6EEF8"/>
          </a:solidFill>
        </p:spPr>
        <p:txBody>
          <a:bodyPr wrap="square">
            <a:spAutoFit/>
          </a:bodyPr>
          <a:lstStyle/>
          <a:p>
            <a:r>
              <a:t>Approval and rejection rates based on application outcomes only</a:t>
            </a:r>
          </a:p>
        </p:txBody>
      </p:sp>
      <p:pic>
        <p:nvPicPr>
          <p:cNvPr id="4" name="Picture 3" descr="chart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3118104"/>
            <a:ext cx="5303520" cy="30138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Key Financial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5029200" cy="2743200"/>
          </a:xfrm>
          <a:prstGeom prst="rect">
            <a:avLst/>
          </a:prstGeom>
          <a:solidFill>
            <a:srgbClr val="E6EEF8"/>
          </a:solidFill>
        </p:spPr>
        <p:txBody>
          <a:bodyPr wrap="none">
            <a:spAutoFit/>
          </a:bodyPr>
          <a:lstStyle/>
          <a:p>
            <a:r>
              <a:t>Average Applicant Income: 5,403.5</a:t>
            </a:r>
          </a:p>
          <a:p>
            <a:r>
              <a:t>Average Loan Amount: 146.4</a:t>
            </a:r>
          </a:p>
          <a:p>
            <a:r>
              <a:t>Income is right-skewed</a:t>
            </a:r>
          </a:p>
          <a:p>
            <a:r>
              <a:t>Loan amount distribution contains outliers</a:t>
            </a:r>
          </a:p>
        </p:txBody>
      </p:sp>
      <p:pic>
        <p:nvPicPr>
          <p:cNvPr id="4" name="Picture 3" descr="chart_in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731520"/>
            <a:ext cx="5303520" cy="30191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Credit Risk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9372600" cy="369332"/>
          </a:xfrm>
          <a:prstGeom prst="rect">
            <a:avLst/>
          </a:prstGeom>
          <a:solidFill>
            <a:srgbClr val="E6EEF8"/>
          </a:solidFill>
        </p:spPr>
        <p:txBody>
          <a:bodyPr wrap="square">
            <a:spAutoFit/>
          </a:bodyPr>
          <a:lstStyle/>
          <a:p>
            <a:r>
              <a:t>Approval patterns vary significantly by recorded credit history and property area</a:t>
            </a:r>
          </a:p>
        </p:txBody>
      </p:sp>
      <p:pic>
        <p:nvPicPr>
          <p:cNvPr id="4" name="Picture 3" descr="chart_cr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4553712"/>
            <a:ext cx="3017520" cy="1714775"/>
          </a:xfrm>
          <a:prstGeom prst="rect">
            <a:avLst/>
          </a:prstGeom>
        </p:spPr>
      </p:pic>
      <p:pic>
        <p:nvPicPr>
          <p:cNvPr id="5" name="Picture 4" descr="chart_proper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553712"/>
            <a:ext cx="3017520" cy="1714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KPI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6565392" cy="1200329"/>
          </a:xfrm>
          <a:prstGeom prst="rect">
            <a:avLst/>
          </a:prstGeom>
          <a:solidFill>
            <a:srgbClr val="E6EEF8"/>
          </a:solidFill>
        </p:spPr>
        <p:txBody>
          <a:bodyPr wrap="square">
            <a:spAutoFit/>
          </a:bodyPr>
          <a:lstStyle/>
          <a:p>
            <a:r>
              <a:t>Applications: 614</a:t>
            </a:r>
          </a:p>
          <a:p>
            <a:r>
              <a:t>Approval Rate: 68.7%</a:t>
            </a:r>
          </a:p>
          <a:p>
            <a:r>
              <a:t>Rejection Rate: 31.3%</a:t>
            </a:r>
          </a:p>
          <a:p>
            <a:r>
              <a:t>Unique IDs: 614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Key Risks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6272784" cy="1200329"/>
          </a:xfrm>
          <a:prstGeom prst="rect">
            <a:avLst/>
          </a:prstGeom>
          <a:solidFill>
            <a:srgbClr val="E6EEF8"/>
          </a:solidFill>
        </p:spPr>
        <p:txBody>
          <a:bodyPr wrap="square">
            <a:spAutoFit/>
          </a:bodyPr>
          <a:lstStyle/>
          <a:p>
            <a:r>
              <a:t>No default/delinquency data</a:t>
            </a:r>
          </a:p>
          <a:p>
            <a:r>
              <a:t>Undocumented monetary units</a:t>
            </a:r>
          </a:p>
          <a:p>
            <a:r>
              <a:t>Missing values</a:t>
            </a:r>
          </a:p>
          <a:p>
            <a:r>
              <a:t>Affordability cannot be confirmed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Recommendations &amp;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7031736" cy="1200329"/>
          </a:xfrm>
          <a:prstGeom prst="rect">
            <a:avLst/>
          </a:prstGeom>
          <a:solidFill>
            <a:srgbClr val="E6EEF8"/>
          </a:solidFill>
        </p:spPr>
        <p:txBody>
          <a:bodyPr wrap="square">
            <a:spAutoFit/>
          </a:bodyPr>
          <a:lstStyle/>
          <a:p>
            <a:r>
              <a:t>Improve data quality</a:t>
            </a:r>
          </a:p>
          <a:p>
            <a:r>
              <a:t>Document field definitions</a:t>
            </a:r>
          </a:p>
          <a:p>
            <a:r>
              <a:t>Capture decision reasons</a:t>
            </a:r>
          </a:p>
          <a:p>
            <a:r>
              <a:t>Link applications to repayment 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65D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9793224" cy="369332"/>
          </a:xfrm>
          <a:prstGeom prst="rect">
            <a:avLst/>
          </a:prstGeom>
          <a:solidFill>
            <a:srgbClr val="E6EEF8"/>
          </a:solidFill>
        </p:spPr>
        <p:txBody>
          <a:bodyPr wrap="square">
            <a:spAutoFit/>
          </a:bodyPr>
          <a:lstStyle/>
          <a:p>
            <a:r>
              <a:t>Build a governed finance and credit-risk data model and repayment-linked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208</Words>
  <Application>Microsoft Office PowerPoint</Application>
  <PresentationFormat>Custom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M365 Copilot</dc:creator>
  <cp:keywords/>
  <dc:description>generated using python-pptx</dc:description>
  <cp:lastModifiedBy>Ashwani Kumar</cp:lastModifiedBy>
  <cp:revision>4</cp:revision>
  <dcterms:created xsi:type="dcterms:W3CDTF">2026-10-10T05:45:07Z</dcterms:created>
  <dcterms:modified xsi:type="dcterms:W3CDTF">2026-10-10T05:47:08Z</dcterms:modified>
  <cp:category/>
</cp:coreProperties>
</file>