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8" r:id="rId3"/>
    <p:sldId id="257"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11T05:56:29.499"/>
    </inkml:context>
    <inkml:brush xml:id="br0">
      <inkml:brushProperty name="width" value="0.1" units="cm"/>
      <inkml:brushProperty name="height" value="0.1" units="cm"/>
      <inkml:brushProperty name="color" value="#FFC114"/>
    </inkml:brush>
  </inkml:definitions>
  <inkml:trace contextRef="#ctx0" brushRef="#br0">1 544 24575,'0'-1'0,"0"0"0,0 0 0,0 0 0,0 1 0,0-1 0,0 0 0,0 0 0,0 0 0,0 0 0,0 0 0,0 0 0,0 0 0,1 0 0,-1 1 0,0-1 0,1 0 0,-1 0 0,0 0 0,1 1 0,-1-1 0,1 0 0,0 0 0,-1 1 0,1-1 0,-1 0 0,1 1 0,0-1 0,0 1 0,-1-1 0,1 1 0,0-1 0,0 1 0,1-1 0,0 1 0,0 1 0,0-1 0,0 0 0,0 1 0,0 0 0,1-1 0,-1 1 0,0 0 0,-1 0 0,1 0 0,0 0 0,0 0 0,2 2 0,50 47 0,-53-49 0,66 84 0,-54-65 0,1 0 0,1-1 0,1-1 0,1-1 0,24 20 0,-36-34 0,-1-1 0,1 0 0,0 0 0,0 0 0,0 0 0,0-1 0,0 0 0,1 0 0,-1 0 0,0 0 0,0-1 0,1 0 0,-1 0 0,0-1 0,1 1 0,-1-1 0,0 0 0,0-1 0,0 1 0,0-1 0,0 0 0,0 0 0,5-4 0,15-8 0,0 0 0,-2-2 0,25-21 0,-26 20 0,302-275 0,-84 69 0,-220 203 0,2 2 0,0 0 0,1 2 0,1 0 0,0 2 0,1 0 0,40-14 0,7 0-1365,-43 16-5461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5B9DE0-307C-44AA-9A14-2F76096277F0}" type="datetimeFigureOut">
              <a:rPr lang="en-IN" smtClean="0"/>
              <a:t>11-10-2026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143FF3-6C40-4107-91BB-30F1D3636FBF}" type="slidenum">
              <a:rPr lang="en-IN" smtClean="0"/>
              <a:t>‹#›</a:t>
            </a:fld>
            <a:endParaRPr lang="en-IN"/>
          </a:p>
        </p:txBody>
      </p:sp>
    </p:spTree>
    <p:extLst>
      <p:ext uri="{BB962C8B-B14F-4D97-AF65-F5344CB8AC3E}">
        <p14:creationId xmlns:p14="http://schemas.microsoft.com/office/powerpoint/2010/main" val="2259534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A318F-F6FC-6CB9-CEC6-8B2C0F5EE2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F8D7EB-E762-144D-1496-7468331365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756C53-114C-E36A-EC7E-AEE4C2084ABF}"/>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5" name="Footer Placeholder 4">
            <a:extLst>
              <a:ext uri="{FF2B5EF4-FFF2-40B4-BE49-F238E27FC236}">
                <a16:creationId xmlns:a16="http://schemas.microsoft.com/office/drawing/2014/main" id="{D76CC798-66E8-807B-3021-DC717C7ABB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AA2714-B223-D201-168E-C22AD16013D1}"/>
              </a:ext>
            </a:extLst>
          </p:cNvPr>
          <p:cNvSpPr>
            <a:spLocks noGrp="1"/>
          </p:cNvSpPr>
          <p:nvPr>
            <p:ph type="sldNum" sz="quarter" idx="12"/>
          </p:nvPr>
        </p:nvSpPr>
        <p:spPr/>
        <p:txBody>
          <a:bodyPr/>
          <a:lstStyle/>
          <a:p>
            <a:fld id="{023A53CF-6AA3-4EF6-9F05-A0E3059C583D}" type="slidenum">
              <a:rPr lang="en-IN" smtClean="0"/>
              <a:t>‹#›</a:t>
            </a:fld>
            <a:endParaRPr lang="en-IN"/>
          </a:p>
        </p:txBody>
      </p:sp>
      <p:pic>
        <p:nvPicPr>
          <p:cNvPr id="8" name="Picture 7">
            <a:extLst>
              <a:ext uri="{FF2B5EF4-FFF2-40B4-BE49-F238E27FC236}">
                <a16:creationId xmlns:a16="http://schemas.microsoft.com/office/drawing/2014/main" id="{B14F047B-8F92-089C-65A3-54359B3F76C4}"/>
              </a:ext>
            </a:extLst>
          </p:cNvPr>
          <p:cNvPicPr>
            <a:picLocks noChangeAspect="1"/>
          </p:cNvPicPr>
          <p:nvPr userDrawn="1"/>
        </p:nvPicPr>
        <p:blipFill>
          <a:blip r:embed="rId2">
            <a:alphaModFix amt="68000"/>
            <a:extLst>
              <a:ext uri="{28A0092B-C50C-407E-A947-70E740481C1C}">
                <a14:useLocalDpi xmlns:a14="http://schemas.microsoft.com/office/drawing/2010/main" val="0"/>
              </a:ext>
            </a:extLst>
          </a:blip>
          <a:stretch>
            <a:fillRect/>
          </a:stretch>
        </p:blipFill>
        <p:spPr>
          <a:xfrm>
            <a:off x="10857778" y="0"/>
            <a:ext cx="1295581" cy="924054"/>
          </a:xfrm>
          <a:prstGeom prst="rect">
            <a:avLst/>
          </a:prstGeom>
        </p:spPr>
      </p:pic>
    </p:spTree>
    <p:extLst>
      <p:ext uri="{BB962C8B-B14F-4D97-AF65-F5344CB8AC3E}">
        <p14:creationId xmlns:p14="http://schemas.microsoft.com/office/powerpoint/2010/main" val="480681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ECE76-A752-DB86-6111-A724232D26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D6FD18-B58E-8C68-26E2-D91631986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7B759C-A1DF-256A-A624-6AB43BC663E0}"/>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5" name="Footer Placeholder 4">
            <a:extLst>
              <a:ext uri="{FF2B5EF4-FFF2-40B4-BE49-F238E27FC236}">
                <a16:creationId xmlns:a16="http://schemas.microsoft.com/office/drawing/2014/main" id="{EB71A0AA-5283-1539-E76D-C2704EDF62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212E95-A93E-CFE8-0044-F1F7486E0850}"/>
              </a:ext>
            </a:extLst>
          </p:cNvPr>
          <p:cNvSpPr>
            <a:spLocks noGrp="1"/>
          </p:cNvSpPr>
          <p:nvPr>
            <p:ph type="sldNum" sz="quarter" idx="12"/>
          </p:nvPr>
        </p:nvSpPr>
        <p:spPr/>
        <p:txBody>
          <a:bodyPr/>
          <a:lstStyle/>
          <a:p>
            <a:fld id="{023A53CF-6AA3-4EF6-9F05-A0E3059C583D}" type="slidenum">
              <a:rPr lang="en-IN" smtClean="0"/>
              <a:t>‹#›</a:t>
            </a:fld>
            <a:endParaRPr lang="en-IN"/>
          </a:p>
        </p:txBody>
      </p:sp>
      <p:pic>
        <p:nvPicPr>
          <p:cNvPr id="12" name="Picture 11">
            <a:extLst>
              <a:ext uri="{FF2B5EF4-FFF2-40B4-BE49-F238E27FC236}">
                <a16:creationId xmlns:a16="http://schemas.microsoft.com/office/drawing/2014/main" id="{366CBFAF-C1DF-ECA1-1863-AD86FBEE5E5B}"/>
              </a:ext>
            </a:extLst>
          </p:cNvPr>
          <p:cNvPicPr>
            <a:picLocks noChangeAspect="1"/>
          </p:cNvPicPr>
          <p:nvPr userDrawn="1"/>
        </p:nvPicPr>
        <p:blipFill>
          <a:blip r:embed="rId2">
            <a:alphaModFix amt="66000"/>
            <a:extLst>
              <a:ext uri="{28A0092B-C50C-407E-A947-70E740481C1C}">
                <a14:useLocalDpi xmlns:a14="http://schemas.microsoft.com/office/drawing/2010/main" val="0"/>
              </a:ext>
            </a:extLst>
          </a:blip>
          <a:stretch>
            <a:fillRect/>
          </a:stretch>
        </p:blipFill>
        <p:spPr>
          <a:xfrm>
            <a:off x="10870541" y="17252"/>
            <a:ext cx="1295581" cy="924054"/>
          </a:xfrm>
          <a:prstGeom prst="rect">
            <a:avLst/>
          </a:prstGeom>
        </p:spPr>
      </p:pic>
    </p:spTree>
    <p:extLst>
      <p:ext uri="{BB962C8B-B14F-4D97-AF65-F5344CB8AC3E}">
        <p14:creationId xmlns:p14="http://schemas.microsoft.com/office/powerpoint/2010/main" val="269074662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27E88-1D0E-B19B-1F3F-54DF859CE7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2CE41C0-D975-5322-05EF-B6920E580E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D7B167-1E87-B93B-75F5-B33217202FE7}"/>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5" name="Footer Placeholder 4">
            <a:extLst>
              <a:ext uri="{FF2B5EF4-FFF2-40B4-BE49-F238E27FC236}">
                <a16:creationId xmlns:a16="http://schemas.microsoft.com/office/drawing/2014/main" id="{6225C962-1ABF-F876-C7DD-10E729E42A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8F7B4D-DA1F-E875-52B5-31F353F49234}"/>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128179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29F20-A52E-A2BE-2A7C-6344D89003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E9F42D-CDDF-9B84-6F33-25E956F2DD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1E0A4D-E831-6562-11B2-108204244C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5F4BEA-6EB0-7F6F-4BFA-B7DACF40DEA9}"/>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6" name="Footer Placeholder 5">
            <a:extLst>
              <a:ext uri="{FF2B5EF4-FFF2-40B4-BE49-F238E27FC236}">
                <a16:creationId xmlns:a16="http://schemas.microsoft.com/office/drawing/2014/main" id="{9852B4B5-D542-513B-5FBA-7C8418FD6E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5B6383-F1CA-D4A5-9876-F4662B6051B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27627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E9337-2FE3-561C-F11A-2CFAC3C888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BCE1B6-2296-C3DE-5C27-E4057DFF68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B2FC1E-2D6D-269A-6807-421A1A9C42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1AD048-C515-130C-8F41-1BA8F41892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6D4A7E-CE1F-A02A-B92A-059B1FBCF3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6F77709-049A-79A2-F207-FBDA0CAA4E0A}"/>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8" name="Footer Placeholder 7">
            <a:extLst>
              <a:ext uri="{FF2B5EF4-FFF2-40B4-BE49-F238E27FC236}">
                <a16:creationId xmlns:a16="http://schemas.microsoft.com/office/drawing/2014/main" id="{59DE0EB3-83C0-67E2-5DB9-42DE8540F86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C97AB3-472A-1E13-8460-CE1D861DB6C2}"/>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43864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5904-8D4D-4CA9-51B3-289632997B0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398302-AD6F-2CE6-7442-A4A9683D9718}"/>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4" name="Footer Placeholder 3">
            <a:extLst>
              <a:ext uri="{FF2B5EF4-FFF2-40B4-BE49-F238E27FC236}">
                <a16:creationId xmlns:a16="http://schemas.microsoft.com/office/drawing/2014/main" id="{15391825-01DE-3CBB-BB33-763481B92D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D5401A-71EA-0313-9EA1-4DC2DB3F758C}"/>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389444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418529-294A-5688-70AC-D6FBB2669691}"/>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3" name="Footer Placeholder 2">
            <a:extLst>
              <a:ext uri="{FF2B5EF4-FFF2-40B4-BE49-F238E27FC236}">
                <a16:creationId xmlns:a16="http://schemas.microsoft.com/office/drawing/2014/main" id="{774AA024-38B7-5F32-1894-BCE21AADFC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36C172C-4B71-8ABE-DD86-85DD12827B5A}"/>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2826162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EB6CF-2A94-DBDD-0D5B-BC12FF3220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4B7D8E-A4B1-A435-346C-19A718C71F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7C91E7-453A-3F92-E638-C337924651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7C4555-70D3-F8F8-D355-E9BBC9EE67F8}"/>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6" name="Footer Placeholder 5">
            <a:extLst>
              <a:ext uri="{FF2B5EF4-FFF2-40B4-BE49-F238E27FC236}">
                <a16:creationId xmlns:a16="http://schemas.microsoft.com/office/drawing/2014/main" id="{55FE752C-45A1-07D0-4240-44893A0DB9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DDD99C-C480-C729-0ECD-BEDE124E840E}"/>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780093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D6FA-24BB-7D09-4CC6-34096CAB0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60CEAA-CE7A-1BBF-BDA9-B387E6B8B16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019DD54-A44F-A8AE-D4E9-3EB63270CC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06B6FD-902D-C3AC-D0C4-9E348A977E8B}"/>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6" name="Footer Placeholder 5">
            <a:extLst>
              <a:ext uri="{FF2B5EF4-FFF2-40B4-BE49-F238E27FC236}">
                <a16:creationId xmlns:a16="http://schemas.microsoft.com/office/drawing/2014/main" id="{A0D6BDC1-316A-149B-EB15-04EF4D60E7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C24CD2-3C56-F4F2-57FB-AA714E5021A0}"/>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50273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3211F-A80A-9BAC-AAEC-067CCDA5C0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8AD45D-5A88-1664-D692-069F5C5D1A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32EEB4-BA21-8613-2094-72EEFB7929B4}"/>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5" name="Footer Placeholder 4">
            <a:extLst>
              <a:ext uri="{FF2B5EF4-FFF2-40B4-BE49-F238E27FC236}">
                <a16:creationId xmlns:a16="http://schemas.microsoft.com/office/drawing/2014/main" id="{A9ECE1A2-6F93-B3CC-3837-CD60E48CFF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E5D015-61E2-E514-FC97-B282920D986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82989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873E00-8852-9872-6FBC-5371745539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02A146-0150-F26C-6A86-1CA1FD558A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077DF1-F7DE-4956-6F82-6161FC02210A}"/>
              </a:ext>
            </a:extLst>
          </p:cNvPr>
          <p:cNvSpPr>
            <a:spLocks noGrp="1"/>
          </p:cNvSpPr>
          <p:nvPr>
            <p:ph type="dt" sz="half" idx="10"/>
          </p:nvPr>
        </p:nvSpPr>
        <p:spPr/>
        <p:txBody>
          <a:bodyPr/>
          <a:lstStyle/>
          <a:p>
            <a:fld id="{6EBA79C2-4FE3-4D0C-AFFB-D4FCE050D5EA}" type="datetimeFigureOut">
              <a:rPr lang="en-IN" smtClean="0"/>
              <a:t>11-10-2026</a:t>
            </a:fld>
            <a:endParaRPr lang="en-IN"/>
          </a:p>
        </p:txBody>
      </p:sp>
      <p:sp>
        <p:nvSpPr>
          <p:cNvPr id="5" name="Footer Placeholder 4">
            <a:extLst>
              <a:ext uri="{FF2B5EF4-FFF2-40B4-BE49-F238E27FC236}">
                <a16:creationId xmlns:a16="http://schemas.microsoft.com/office/drawing/2014/main" id="{3637416A-6960-5BA0-E825-F9D0B514C1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C46A03-0511-8AD1-FB2D-69E35F8F158D}"/>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67707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5CC290-6B0D-273C-46F1-4BC1249347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E82B2E-EDC9-AB14-8964-7BE30F8DB1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485163-E247-487C-9AA7-8A7054D4AC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accent6">
                    <a:lumMod val="60000"/>
                    <a:lumOff val="40000"/>
                  </a:schemeClr>
                </a:solidFill>
              </a:defRPr>
            </a:lvl1pPr>
          </a:lstStyle>
          <a:p>
            <a:fld id="{6EBA79C2-4FE3-4D0C-AFFB-D4FCE050D5EA}" type="datetimeFigureOut">
              <a:rPr lang="en-IN" smtClean="0"/>
              <a:pPr/>
              <a:t>11-10-2026</a:t>
            </a:fld>
            <a:endParaRPr lang="en-IN"/>
          </a:p>
        </p:txBody>
      </p:sp>
      <p:sp>
        <p:nvSpPr>
          <p:cNvPr id="5" name="Footer Placeholder 4">
            <a:extLst>
              <a:ext uri="{FF2B5EF4-FFF2-40B4-BE49-F238E27FC236}">
                <a16:creationId xmlns:a16="http://schemas.microsoft.com/office/drawing/2014/main" id="{85A01BDB-2D7B-79FC-D492-3CFF792A8A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accent6">
                    <a:lumMod val="60000"/>
                    <a:lumOff val="40000"/>
                  </a:schemeClr>
                </a:solidFill>
              </a:defRPr>
            </a:lvl1pPr>
          </a:lstStyle>
          <a:p>
            <a:endParaRPr lang="en-IN"/>
          </a:p>
        </p:txBody>
      </p:sp>
      <p:sp>
        <p:nvSpPr>
          <p:cNvPr id="6" name="Slide Number Placeholder 5">
            <a:extLst>
              <a:ext uri="{FF2B5EF4-FFF2-40B4-BE49-F238E27FC236}">
                <a16:creationId xmlns:a16="http://schemas.microsoft.com/office/drawing/2014/main" id="{BEC906FC-E273-8A6D-0868-0A52746784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accent6">
                    <a:lumMod val="60000"/>
                    <a:lumOff val="40000"/>
                  </a:schemeClr>
                </a:solidFill>
              </a:defRPr>
            </a:lvl1pPr>
          </a:lstStyle>
          <a:p>
            <a:fld id="{023A53CF-6AA3-4EF6-9F05-A0E3059C583D}" type="slidenum">
              <a:rPr lang="en-IN" smtClean="0"/>
              <a:pPr/>
              <a:t>‹#›</a:t>
            </a:fld>
            <a:endParaRPr lang="en-IN"/>
          </a:p>
        </p:txBody>
      </p:sp>
      <p:pic>
        <p:nvPicPr>
          <p:cNvPr id="8" name="Picture 7">
            <a:extLst>
              <a:ext uri="{FF2B5EF4-FFF2-40B4-BE49-F238E27FC236}">
                <a16:creationId xmlns:a16="http://schemas.microsoft.com/office/drawing/2014/main" id="{9ED41020-D2C1-2A7A-0E52-12FBDC02B9EA}"/>
              </a:ext>
            </a:extLst>
          </p:cNvPr>
          <p:cNvPicPr>
            <a:picLocks noChangeAspect="1"/>
          </p:cNvPicPr>
          <p:nvPr userDrawn="1"/>
        </p:nvPicPr>
        <p:blipFill>
          <a:blip r:embed="rId13">
            <a:alphaModFix amt="68000"/>
            <a:extLst>
              <a:ext uri="{28A0092B-C50C-407E-A947-70E740481C1C}">
                <a14:useLocalDpi xmlns:a14="http://schemas.microsoft.com/office/drawing/2010/main" val="0"/>
              </a:ext>
            </a:extLst>
          </a:blip>
          <a:stretch>
            <a:fillRect/>
          </a:stretch>
        </p:blipFill>
        <p:spPr>
          <a:xfrm>
            <a:off x="10857778" y="0"/>
            <a:ext cx="1295581" cy="924054"/>
          </a:xfrm>
          <a:prstGeom prst="rect">
            <a:avLst/>
          </a:prstGeom>
        </p:spPr>
      </p:pic>
    </p:spTree>
    <p:extLst>
      <p:ext uri="{BB962C8B-B14F-4D97-AF65-F5344CB8AC3E}">
        <p14:creationId xmlns:p14="http://schemas.microsoft.com/office/powerpoint/2010/main" val="8238220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accent6">
              <a:lumMod val="60000"/>
              <a:lumOff val="40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6">
              <a:lumMod val="60000"/>
              <a:lumOff val="4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6">
              <a:lumMod val="60000"/>
              <a:lumOff val="4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lumMod val="60000"/>
              <a:lumOff val="4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6">
              <a:lumMod val="60000"/>
              <a:lumOff val="4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00D6CA-490E-F864-70BE-888E8DE63799}"/>
              </a:ext>
            </a:extLst>
          </p:cNvPr>
          <p:cNvSpPr txBox="1"/>
          <p:nvPr/>
        </p:nvSpPr>
        <p:spPr>
          <a:xfrm>
            <a:off x="202692" y="1589038"/>
            <a:ext cx="11786616" cy="1569660"/>
          </a:xfrm>
          <a:prstGeom prst="rect">
            <a:avLst/>
          </a:prstGeom>
          <a:noFill/>
        </p:spPr>
        <p:txBody>
          <a:bodyPr wrap="square">
            <a:spAutoFit/>
          </a:bodyPr>
          <a:lstStyle/>
          <a:p>
            <a:pPr>
              <a:buNone/>
            </a:pPr>
            <a:r>
              <a:rPr lang="en-IN" sz="3600" b="1">
                <a:solidFill>
                  <a:schemeClr val="accent6">
                    <a:lumMod val="60000"/>
                    <a:lumOff val="40000"/>
                  </a:schemeClr>
                </a:solidFill>
              </a:rPr>
              <a:t>Data used:</a:t>
            </a:r>
          </a:p>
          <a:p>
            <a:pPr>
              <a:buNone/>
            </a:pPr>
            <a:endParaRPr lang="en-IN" sz="3600" b="1">
              <a:solidFill>
                <a:schemeClr val="accent6">
                  <a:lumMod val="60000"/>
                  <a:lumOff val="40000"/>
                </a:schemeClr>
              </a:solidFill>
            </a:endParaRPr>
          </a:p>
          <a:p>
            <a:pPr>
              <a:buNone/>
            </a:pPr>
            <a:r>
              <a:rPr lang="en-IN" sz="2400" b="1">
                <a:solidFill>
                  <a:schemeClr val="accent6">
                    <a:lumMod val="60000"/>
                    <a:lumOff val="40000"/>
                  </a:schemeClr>
                </a:solidFill>
              </a:rPr>
              <a:t>https://github.com/ash322ash422/data/blob/main/data_CC_GENERAL.csv</a:t>
            </a:r>
          </a:p>
        </p:txBody>
      </p:sp>
    </p:spTree>
    <p:extLst>
      <p:ext uri="{BB962C8B-B14F-4D97-AF65-F5344CB8AC3E}">
        <p14:creationId xmlns:p14="http://schemas.microsoft.com/office/powerpoint/2010/main" val="3686883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49E9356-024A-86AA-8CD2-14566C876A2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9C7E52F-3FE1-300E-8992-5A53F78777E4}"/>
              </a:ext>
            </a:extLst>
          </p:cNvPr>
          <p:cNvPicPr>
            <a:picLocks noChangeAspect="1"/>
          </p:cNvPicPr>
          <p:nvPr/>
        </p:nvPicPr>
        <p:blipFill>
          <a:blip r:embed="rId2"/>
          <a:stretch>
            <a:fillRect/>
          </a:stretch>
        </p:blipFill>
        <p:spPr>
          <a:xfrm>
            <a:off x="1511797" y="950003"/>
            <a:ext cx="5620534" cy="5744377"/>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855D0822-6747-D4CE-79BC-669DEB23AECF}"/>
                  </a:ext>
                </a:extLst>
              </p14:cNvPr>
              <p14:cNvContentPartPr/>
              <p14:nvPr/>
            </p14:nvContentPartPr>
            <p14:xfrm>
              <a:off x="2669544" y="5692896"/>
              <a:ext cx="519480" cy="293760"/>
            </p14:xfrm>
          </p:contentPart>
        </mc:Choice>
        <mc:Fallback xmlns="">
          <p:pic>
            <p:nvPicPr>
              <p:cNvPr id="5" name="Ink 4">
                <a:extLst>
                  <a:ext uri="{FF2B5EF4-FFF2-40B4-BE49-F238E27FC236}">
                    <a16:creationId xmlns:a16="http://schemas.microsoft.com/office/drawing/2014/main" id="{855D0822-6747-D4CE-79BC-669DEB23AECF}"/>
                  </a:ext>
                </a:extLst>
              </p:cNvPr>
              <p:cNvPicPr/>
              <p:nvPr/>
            </p:nvPicPr>
            <p:blipFill>
              <a:blip r:embed="rId4"/>
              <a:stretch>
                <a:fillRect/>
              </a:stretch>
            </p:blipFill>
            <p:spPr>
              <a:xfrm>
                <a:off x="2651904" y="5674896"/>
                <a:ext cx="555120" cy="329400"/>
              </a:xfrm>
              <a:prstGeom prst="rect">
                <a:avLst/>
              </a:prstGeom>
            </p:spPr>
          </p:pic>
        </mc:Fallback>
      </mc:AlternateContent>
      <p:sp>
        <p:nvSpPr>
          <p:cNvPr id="7" name="TextBox 6">
            <a:extLst>
              <a:ext uri="{FF2B5EF4-FFF2-40B4-BE49-F238E27FC236}">
                <a16:creationId xmlns:a16="http://schemas.microsoft.com/office/drawing/2014/main" id="{8054817A-535F-7CEE-18DE-D3CB007D3281}"/>
              </a:ext>
            </a:extLst>
          </p:cNvPr>
          <p:cNvSpPr txBox="1"/>
          <p:nvPr/>
        </p:nvSpPr>
        <p:spPr>
          <a:xfrm>
            <a:off x="202692" y="0"/>
            <a:ext cx="11786616" cy="646331"/>
          </a:xfrm>
          <a:prstGeom prst="rect">
            <a:avLst/>
          </a:prstGeom>
          <a:noFill/>
        </p:spPr>
        <p:txBody>
          <a:bodyPr wrap="square">
            <a:spAutoFit/>
          </a:bodyPr>
          <a:lstStyle/>
          <a:p>
            <a:pPr>
              <a:buNone/>
            </a:pPr>
            <a:r>
              <a:rPr lang="en-IN" sz="3600" b="1">
                <a:solidFill>
                  <a:schemeClr val="accent6">
                    <a:lumMod val="60000"/>
                    <a:lumOff val="40000"/>
                  </a:schemeClr>
                </a:solidFill>
              </a:rPr>
              <a:t>Agent used: Analyst</a:t>
            </a:r>
            <a:endParaRPr lang="en-IN" sz="2400" b="1">
              <a:solidFill>
                <a:schemeClr val="accent6">
                  <a:lumMod val="60000"/>
                  <a:lumOff val="40000"/>
                </a:schemeClr>
              </a:solidFill>
            </a:endParaRPr>
          </a:p>
        </p:txBody>
      </p:sp>
    </p:spTree>
    <p:extLst>
      <p:ext uri="{BB962C8B-B14F-4D97-AF65-F5344CB8AC3E}">
        <p14:creationId xmlns:p14="http://schemas.microsoft.com/office/powerpoint/2010/main" val="3793987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DCE6BF0-A9B0-A15E-0437-552189F1F88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18CB715-5588-84AF-9A5E-308957C2DCBD}"/>
              </a:ext>
            </a:extLst>
          </p:cNvPr>
          <p:cNvSpPr txBox="1"/>
          <p:nvPr/>
        </p:nvSpPr>
        <p:spPr>
          <a:xfrm>
            <a:off x="64008" y="71134"/>
            <a:ext cx="11640312" cy="6001643"/>
          </a:xfrm>
          <a:prstGeom prst="rect">
            <a:avLst/>
          </a:prstGeom>
          <a:noFill/>
        </p:spPr>
        <p:txBody>
          <a:bodyPr wrap="square">
            <a:spAutoFit/>
          </a:bodyPr>
          <a:lstStyle/>
          <a:p>
            <a:r>
              <a:rPr lang="en-IN" sz="2400" b="1">
                <a:solidFill>
                  <a:schemeClr val="accent6">
                    <a:lumMod val="60000"/>
                    <a:lumOff val="40000"/>
                  </a:schemeClr>
                </a:solidFill>
              </a:rPr>
              <a:t>Activity 1: Credit Limit and Balance Analysis</a:t>
            </a:r>
          </a:p>
          <a:p>
            <a:pPr>
              <a:buNone/>
            </a:pPr>
            <a:r>
              <a:rPr lang="en-IN" sz="2400">
                <a:solidFill>
                  <a:schemeClr val="accent6">
                    <a:lumMod val="60000"/>
                    <a:lumOff val="40000"/>
                  </a:schemeClr>
                </a:solidFill>
              </a:rPr>
              <a:t>Data used: https://github.com/ash322ash422/data/blob/main/data_CC_GENERAL.csv</a:t>
            </a:r>
          </a:p>
          <a:p>
            <a:endParaRPr lang="en-IN" sz="2400">
              <a:solidFill>
                <a:schemeClr val="accent6">
                  <a:lumMod val="60000"/>
                  <a:lumOff val="40000"/>
                </a:schemeClr>
              </a:solidFill>
            </a:endParaRPr>
          </a:p>
          <a:p>
            <a:r>
              <a:rPr lang="en-IN" sz="2400" b="1" u="sng">
                <a:solidFill>
                  <a:schemeClr val="accent6">
                    <a:lumMod val="60000"/>
                    <a:lumOff val="40000"/>
                  </a:schemeClr>
                </a:solidFill>
              </a:rPr>
              <a:t>Business question: </a:t>
            </a:r>
          </a:p>
          <a:p>
            <a:r>
              <a:rPr lang="en-IN" sz="2400">
                <a:solidFill>
                  <a:schemeClr val="accent6">
                    <a:lumMod val="60000"/>
                    <a:lumOff val="40000"/>
                  </a:schemeClr>
                </a:solidFill>
              </a:rPr>
              <a:t>Which customers have balances high relative to their credit limits?</a:t>
            </a:r>
          </a:p>
          <a:p>
            <a:endParaRPr lang="en-IN" sz="2400">
              <a:solidFill>
                <a:schemeClr val="accent6">
                  <a:lumMod val="60000"/>
                  <a:lumOff val="40000"/>
                </a:schemeClr>
              </a:solidFill>
            </a:endParaRPr>
          </a:p>
          <a:p>
            <a:r>
              <a:rPr lang="en-IN" sz="2400" b="1" u="sng">
                <a:solidFill>
                  <a:schemeClr val="accent6">
                    <a:lumMod val="60000"/>
                    <a:lumOff val="40000"/>
                  </a:schemeClr>
                </a:solidFill>
              </a:rPr>
              <a:t>Copilot prompt:</a:t>
            </a:r>
          </a:p>
          <a:p>
            <a:r>
              <a:rPr lang="en-IN" sz="2400" b="1" i="1">
                <a:solidFill>
                  <a:schemeClr val="accent6">
                    <a:lumMod val="60000"/>
                    <a:lumOff val="40000"/>
                  </a:schemeClr>
                </a:solidFill>
              </a:rPr>
              <a:t>Calculate balance-to-credit-limit ratio as BALANCE divided by CREDIT_LIMIT. </a:t>
            </a:r>
          </a:p>
          <a:p>
            <a:r>
              <a:rPr lang="en-IN" sz="2400" b="1" i="1">
                <a:solidFill>
                  <a:schemeClr val="accent6">
                    <a:lumMod val="60000"/>
                    <a:lumOff val="40000"/>
                  </a:schemeClr>
                </a:solidFill>
              </a:rPr>
              <a:t>Identify customers with high ratios, compare their purchases and payments, and create a chart showing the distribution of these ratios. </a:t>
            </a:r>
          </a:p>
          <a:p>
            <a:r>
              <a:rPr lang="en-IN" sz="2400" b="1" i="1">
                <a:solidFill>
                  <a:schemeClr val="accent6">
                    <a:lumMod val="60000"/>
                    <a:lumOff val="40000"/>
                  </a:schemeClr>
                </a:solidFill>
              </a:rPr>
              <a:t>Flag missing or invalid values before calculating.</a:t>
            </a:r>
          </a:p>
          <a:p>
            <a:endParaRPr lang="en-IN" sz="2400">
              <a:solidFill>
                <a:schemeClr val="accent6">
                  <a:lumMod val="60000"/>
                  <a:lumOff val="40000"/>
                </a:schemeClr>
              </a:solidFill>
            </a:endParaRPr>
          </a:p>
          <a:p>
            <a:endParaRPr lang="en-IN" sz="2400">
              <a:solidFill>
                <a:schemeClr val="accent6">
                  <a:lumMod val="60000"/>
                  <a:lumOff val="40000"/>
                </a:schemeClr>
              </a:solidFill>
            </a:endParaRPr>
          </a:p>
          <a:p>
            <a:r>
              <a:rPr lang="en-IN" sz="2400" b="1" u="sng">
                <a:solidFill>
                  <a:schemeClr val="accent6">
                    <a:lumMod val="60000"/>
                    <a:lumOff val="40000"/>
                  </a:schemeClr>
                </a:solidFill>
              </a:rPr>
              <a:t>Management value: </a:t>
            </a:r>
          </a:p>
          <a:p>
            <a:r>
              <a:rPr lang="en-IN" sz="2400">
                <a:solidFill>
                  <a:schemeClr val="accent6">
                    <a:lumMod val="60000"/>
                    <a:lumOff val="40000"/>
                  </a:schemeClr>
                </a:solidFill>
              </a:rPr>
              <a:t>Explore credit utilization and identify customers who may need further review. A high balance alone does not establish default risk.</a:t>
            </a:r>
          </a:p>
        </p:txBody>
      </p:sp>
    </p:spTree>
    <p:extLst>
      <p:ext uri="{BB962C8B-B14F-4D97-AF65-F5344CB8AC3E}">
        <p14:creationId xmlns:p14="http://schemas.microsoft.com/office/powerpoint/2010/main" val="1560407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9622F56-8A67-407E-7BD6-F994DAD692A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F92F2EB-8A35-E23C-327F-54ADF49F616B}"/>
              </a:ext>
            </a:extLst>
          </p:cNvPr>
          <p:cNvSpPr txBox="1"/>
          <p:nvPr/>
        </p:nvSpPr>
        <p:spPr>
          <a:xfrm>
            <a:off x="128016" y="144286"/>
            <a:ext cx="11640312" cy="6740307"/>
          </a:xfrm>
          <a:prstGeom prst="rect">
            <a:avLst/>
          </a:prstGeom>
          <a:noFill/>
        </p:spPr>
        <p:txBody>
          <a:bodyPr wrap="square">
            <a:spAutoFit/>
          </a:bodyPr>
          <a:lstStyle/>
          <a:p>
            <a:r>
              <a:rPr lang="en-IN" sz="2400" b="1">
                <a:solidFill>
                  <a:schemeClr val="accent6">
                    <a:lumMod val="60000"/>
                    <a:lumOff val="40000"/>
                  </a:schemeClr>
                </a:solidFill>
              </a:rPr>
              <a:t>Activity 2: Customer Segmentation</a:t>
            </a:r>
          </a:p>
          <a:p>
            <a:r>
              <a:rPr lang="en-IN" sz="2400">
                <a:solidFill>
                  <a:schemeClr val="accent6">
                    <a:lumMod val="60000"/>
                    <a:lumOff val="40000"/>
                  </a:schemeClr>
                </a:solidFill>
              </a:rPr>
              <a:t>Data used: https://github.com/ash322ash422/data/blob/main/data_CC_GENERAL.csv</a:t>
            </a:r>
          </a:p>
          <a:p>
            <a:endParaRPr lang="en-IN" sz="2400">
              <a:solidFill>
                <a:schemeClr val="accent6">
                  <a:lumMod val="60000"/>
                  <a:lumOff val="40000"/>
                </a:schemeClr>
              </a:solidFill>
            </a:endParaRPr>
          </a:p>
          <a:p>
            <a:r>
              <a:rPr lang="en-IN" sz="2400" b="1" u="sng">
                <a:solidFill>
                  <a:schemeClr val="accent6">
                    <a:lumMod val="60000"/>
                    <a:lumOff val="40000"/>
                  </a:schemeClr>
                </a:solidFill>
              </a:rPr>
              <a:t>Business question: </a:t>
            </a:r>
          </a:p>
          <a:p>
            <a:r>
              <a:rPr lang="en-IN" sz="2400">
                <a:solidFill>
                  <a:schemeClr val="accent6">
                    <a:lumMod val="60000"/>
                    <a:lumOff val="40000"/>
                  </a:schemeClr>
                </a:solidFill>
              </a:rPr>
              <a:t>What different types of credit-card customers does the bank have?</a:t>
            </a:r>
          </a:p>
          <a:p>
            <a:endParaRPr lang="en-IN" sz="2400">
              <a:solidFill>
                <a:schemeClr val="accent6">
                  <a:lumMod val="60000"/>
                  <a:lumOff val="40000"/>
                </a:schemeClr>
              </a:solidFill>
            </a:endParaRPr>
          </a:p>
          <a:p>
            <a:r>
              <a:rPr lang="en-IN" sz="2400" b="1" u="sng">
                <a:solidFill>
                  <a:schemeClr val="accent6">
                    <a:lumMod val="60000"/>
                    <a:lumOff val="40000"/>
                  </a:schemeClr>
                </a:solidFill>
              </a:rPr>
              <a:t>Copilot prompt:</a:t>
            </a:r>
          </a:p>
          <a:p>
            <a:r>
              <a:rPr lang="en-IN" sz="2400" b="1" i="1">
                <a:solidFill>
                  <a:schemeClr val="accent6">
                    <a:lumMod val="60000"/>
                    <a:lumOff val="40000"/>
                  </a:schemeClr>
                </a:solidFill>
              </a:rPr>
              <a:t>Segment customers using their spending, cash advances, purchase frequency, balance, and payment behavior. Suggest meaningful customer groups, describe the characteristics of each group, estimate the number of customers in each group, and recommend suitable marketing or service strategies.</a:t>
            </a:r>
          </a:p>
          <a:p>
            <a:endParaRPr lang="en-IN" sz="2400" b="1" i="1">
              <a:solidFill>
                <a:schemeClr val="accent6">
                  <a:lumMod val="60000"/>
                  <a:lumOff val="40000"/>
                </a:schemeClr>
              </a:solidFill>
            </a:endParaRPr>
          </a:p>
          <a:p>
            <a:r>
              <a:rPr lang="en-IN" sz="2400" b="1" i="1">
                <a:solidFill>
                  <a:schemeClr val="accent6">
                    <a:lumMod val="60000"/>
                    <a:lumOff val="40000"/>
                  </a:schemeClr>
                </a:solidFill>
              </a:rPr>
              <a:t>Possible segments to investigate:</a:t>
            </a:r>
          </a:p>
          <a:p>
            <a:pPr marL="457200" lvl="0" indent="-457200">
              <a:buFont typeface="+mj-lt"/>
              <a:buAutoNum type="arabicPeriod"/>
            </a:pPr>
            <a:r>
              <a:rPr lang="en-IN" sz="2400" b="1" i="1">
                <a:solidFill>
                  <a:schemeClr val="accent6">
                    <a:lumMod val="60000"/>
                    <a:lumOff val="40000"/>
                  </a:schemeClr>
                </a:solidFill>
              </a:rPr>
              <a:t>Frequent shoppers</a:t>
            </a:r>
          </a:p>
          <a:p>
            <a:pPr marL="457200" lvl="0" indent="-457200">
              <a:buFont typeface="+mj-lt"/>
              <a:buAutoNum type="arabicPeriod"/>
            </a:pPr>
            <a:r>
              <a:rPr lang="en-IN" sz="2400" b="1" i="1">
                <a:solidFill>
                  <a:schemeClr val="accent6">
                    <a:lumMod val="60000"/>
                    <a:lumOff val="40000"/>
                  </a:schemeClr>
                </a:solidFill>
              </a:rPr>
              <a:t>Installment-focused customers</a:t>
            </a:r>
          </a:p>
          <a:p>
            <a:pPr marL="457200" lvl="0" indent="-457200">
              <a:buFont typeface="+mj-lt"/>
              <a:buAutoNum type="arabicPeriod"/>
            </a:pPr>
            <a:r>
              <a:rPr lang="en-IN" sz="2400" b="1" i="1">
                <a:solidFill>
                  <a:schemeClr val="accent6">
                    <a:lumMod val="60000"/>
                    <a:lumOff val="40000"/>
                  </a:schemeClr>
                </a:solidFill>
              </a:rPr>
              <a:t>Cash-advance-heavy customers</a:t>
            </a:r>
          </a:p>
          <a:p>
            <a:pPr marL="457200" lvl="0" indent="-457200">
              <a:buFont typeface="+mj-lt"/>
              <a:buAutoNum type="arabicPeriod"/>
            </a:pPr>
            <a:r>
              <a:rPr lang="en-IN" sz="2400" b="1" i="1">
                <a:solidFill>
                  <a:schemeClr val="accent6">
                    <a:lumMod val="60000"/>
                    <a:lumOff val="40000"/>
                  </a:schemeClr>
                </a:solidFill>
              </a:rPr>
              <a:t>Low-activity customers</a:t>
            </a:r>
          </a:p>
          <a:p>
            <a:pPr marL="457200" lvl="0" indent="-457200">
              <a:buFont typeface="+mj-lt"/>
              <a:buAutoNum type="arabicPeriod"/>
            </a:pPr>
            <a:r>
              <a:rPr lang="en-IN" sz="2400" b="1" i="1">
                <a:solidFill>
                  <a:schemeClr val="accent6">
                    <a:lumMod val="60000"/>
                    <a:lumOff val="40000"/>
                  </a:schemeClr>
                </a:solidFill>
              </a:rPr>
              <a:t>Customers who frequently pay in full</a:t>
            </a:r>
          </a:p>
        </p:txBody>
      </p:sp>
    </p:spTree>
    <p:extLst>
      <p:ext uri="{BB962C8B-B14F-4D97-AF65-F5344CB8AC3E}">
        <p14:creationId xmlns:p14="http://schemas.microsoft.com/office/powerpoint/2010/main" val="1586046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0E8C5FD-38B3-0B2B-43EF-FE8CF373155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33BC1B-4D96-4BA6-3776-4C2B5CDA0263}"/>
              </a:ext>
            </a:extLst>
          </p:cNvPr>
          <p:cNvSpPr txBox="1"/>
          <p:nvPr/>
        </p:nvSpPr>
        <p:spPr>
          <a:xfrm>
            <a:off x="128016" y="144286"/>
            <a:ext cx="11640312" cy="6740307"/>
          </a:xfrm>
          <a:prstGeom prst="rect">
            <a:avLst/>
          </a:prstGeom>
          <a:noFill/>
        </p:spPr>
        <p:txBody>
          <a:bodyPr wrap="square">
            <a:spAutoFit/>
          </a:bodyPr>
          <a:lstStyle/>
          <a:p>
            <a:r>
              <a:rPr lang="en-IN" sz="2400" b="1">
                <a:solidFill>
                  <a:schemeClr val="accent6">
                    <a:lumMod val="60000"/>
                    <a:lumOff val="40000"/>
                  </a:schemeClr>
                </a:solidFill>
              </a:rPr>
              <a:t>Activity 2: Customer Segmentation</a:t>
            </a:r>
          </a:p>
          <a:p>
            <a:r>
              <a:rPr lang="en-IN" sz="2400">
                <a:solidFill>
                  <a:schemeClr val="accent6">
                    <a:lumMod val="60000"/>
                    <a:lumOff val="40000"/>
                  </a:schemeClr>
                </a:solidFill>
              </a:rPr>
              <a:t>Data used: https://github.com/ash322ash422/data/blob/main/data_CC_GENERAL.csv</a:t>
            </a:r>
          </a:p>
          <a:p>
            <a:endParaRPr lang="en-IN" sz="2400">
              <a:solidFill>
                <a:schemeClr val="accent6">
                  <a:lumMod val="60000"/>
                  <a:lumOff val="40000"/>
                </a:schemeClr>
              </a:solidFill>
            </a:endParaRPr>
          </a:p>
          <a:p>
            <a:r>
              <a:rPr lang="en-IN" sz="2400" b="1" u="sng">
                <a:solidFill>
                  <a:schemeClr val="accent6">
                    <a:lumMod val="60000"/>
                    <a:lumOff val="40000"/>
                  </a:schemeClr>
                </a:solidFill>
              </a:rPr>
              <a:t>Business question: </a:t>
            </a:r>
          </a:p>
          <a:p>
            <a:r>
              <a:rPr lang="en-IN" sz="2400">
                <a:solidFill>
                  <a:schemeClr val="accent6">
                    <a:lumMod val="60000"/>
                    <a:lumOff val="40000"/>
                  </a:schemeClr>
                </a:solidFill>
              </a:rPr>
              <a:t>What different types of credit-card customers does the bank have?</a:t>
            </a:r>
          </a:p>
          <a:p>
            <a:endParaRPr lang="en-IN" sz="2400">
              <a:solidFill>
                <a:schemeClr val="accent6">
                  <a:lumMod val="60000"/>
                  <a:lumOff val="40000"/>
                </a:schemeClr>
              </a:solidFill>
            </a:endParaRPr>
          </a:p>
          <a:p>
            <a:r>
              <a:rPr lang="en-IN" sz="2400" b="1" u="sng">
                <a:solidFill>
                  <a:schemeClr val="accent6">
                    <a:lumMod val="60000"/>
                    <a:lumOff val="40000"/>
                  </a:schemeClr>
                </a:solidFill>
              </a:rPr>
              <a:t>Copilot prompt:</a:t>
            </a:r>
          </a:p>
          <a:p>
            <a:r>
              <a:rPr lang="en-IN" sz="2400" b="1" i="1">
                <a:solidFill>
                  <a:schemeClr val="accent6">
                    <a:lumMod val="60000"/>
                    <a:lumOff val="40000"/>
                  </a:schemeClr>
                </a:solidFill>
              </a:rPr>
              <a:t>Segment customers using their spending, cash advances, purchase frequency, balance, and payment behavior. Suggest meaningful customer groups, describe the characteristics of each group, estimate the number of customers in each group, and recommend suitable marketing or service strategies.</a:t>
            </a:r>
          </a:p>
          <a:p>
            <a:endParaRPr lang="en-IN" sz="2400" b="1" i="1">
              <a:solidFill>
                <a:schemeClr val="accent6">
                  <a:lumMod val="60000"/>
                  <a:lumOff val="40000"/>
                </a:schemeClr>
              </a:solidFill>
            </a:endParaRPr>
          </a:p>
          <a:p>
            <a:r>
              <a:rPr lang="en-IN" sz="2400" b="1" i="1">
                <a:solidFill>
                  <a:schemeClr val="accent6">
                    <a:lumMod val="60000"/>
                    <a:lumOff val="40000"/>
                  </a:schemeClr>
                </a:solidFill>
              </a:rPr>
              <a:t>Possible segments to investigate:</a:t>
            </a:r>
          </a:p>
          <a:p>
            <a:pPr marL="457200" lvl="0" indent="-457200">
              <a:buFont typeface="+mj-lt"/>
              <a:buAutoNum type="arabicPeriod"/>
            </a:pPr>
            <a:r>
              <a:rPr lang="en-IN" sz="2400" b="1" i="1">
                <a:solidFill>
                  <a:schemeClr val="accent6">
                    <a:lumMod val="60000"/>
                    <a:lumOff val="40000"/>
                  </a:schemeClr>
                </a:solidFill>
              </a:rPr>
              <a:t>Frequent shoppers</a:t>
            </a:r>
          </a:p>
          <a:p>
            <a:pPr marL="457200" lvl="0" indent="-457200">
              <a:buFont typeface="+mj-lt"/>
              <a:buAutoNum type="arabicPeriod"/>
            </a:pPr>
            <a:r>
              <a:rPr lang="en-IN" sz="2400" b="1" i="1">
                <a:solidFill>
                  <a:schemeClr val="accent6">
                    <a:lumMod val="60000"/>
                    <a:lumOff val="40000"/>
                  </a:schemeClr>
                </a:solidFill>
              </a:rPr>
              <a:t>Installment-focused customers</a:t>
            </a:r>
          </a:p>
          <a:p>
            <a:pPr marL="457200" lvl="0" indent="-457200">
              <a:buFont typeface="+mj-lt"/>
              <a:buAutoNum type="arabicPeriod"/>
            </a:pPr>
            <a:r>
              <a:rPr lang="en-IN" sz="2400" b="1" i="1">
                <a:solidFill>
                  <a:schemeClr val="accent6">
                    <a:lumMod val="60000"/>
                    <a:lumOff val="40000"/>
                  </a:schemeClr>
                </a:solidFill>
              </a:rPr>
              <a:t>Cash-advance-heavy customers</a:t>
            </a:r>
          </a:p>
          <a:p>
            <a:pPr marL="457200" lvl="0" indent="-457200">
              <a:buFont typeface="+mj-lt"/>
              <a:buAutoNum type="arabicPeriod"/>
            </a:pPr>
            <a:r>
              <a:rPr lang="en-IN" sz="2400" b="1" i="1">
                <a:solidFill>
                  <a:schemeClr val="accent6">
                    <a:lumMod val="60000"/>
                    <a:lumOff val="40000"/>
                  </a:schemeClr>
                </a:solidFill>
              </a:rPr>
              <a:t>Low-activity customers</a:t>
            </a:r>
          </a:p>
          <a:p>
            <a:pPr marL="457200" lvl="0" indent="-457200">
              <a:buFont typeface="+mj-lt"/>
              <a:buAutoNum type="arabicPeriod"/>
            </a:pPr>
            <a:r>
              <a:rPr lang="en-IN" sz="2400" b="1" i="1">
                <a:solidFill>
                  <a:schemeClr val="accent6">
                    <a:lumMod val="60000"/>
                    <a:lumOff val="40000"/>
                  </a:schemeClr>
                </a:solidFill>
              </a:rPr>
              <a:t>Customers who frequently pay in full</a:t>
            </a:r>
          </a:p>
        </p:txBody>
      </p:sp>
    </p:spTree>
    <p:extLst>
      <p:ext uri="{BB962C8B-B14F-4D97-AF65-F5344CB8AC3E}">
        <p14:creationId xmlns:p14="http://schemas.microsoft.com/office/powerpoint/2010/main" val="38742730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TotalTime>
  <Words>368</Words>
  <Application>Microsoft Office PowerPoint</Application>
  <PresentationFormat>Widescreen</PresentationFormat>
  <Paragraphs>48</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21</cp:revision>
  <dcterms:created xsi:type="dcterms:W3CDTF">2026-09-25T02:37:34Z</dcterms:created>
  <dcterms:modified xsi:type="dcterms:W3CDTF">2026-10-11T06:26:15Z</dcterms:modified>
</cp:coreProperties>
</file>