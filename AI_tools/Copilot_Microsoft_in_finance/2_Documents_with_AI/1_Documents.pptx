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65" r:id="rId4"/>
    <p:sldId id="258" r:id="rId5"/>
    <p:sldId id="259" r:id="rId6"/>
    <p:sldId id="260" r:id="rId7"/>
    <p:sldId id="264" r:id="rId8"/>
    <p:sldId id="261" r:id="rId9"/>
    <p:sldId id="262" r:id="rId10"/>
    <p:sldId id="263"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5B9DE0-307C-44AA-9A14-2F76096277F0}" type="datetimeFigureOut">
              <a:rPr lang="en-IN" smtClean="0"/>
              <a:t>10-10-2026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143FF3-6C40-4107-91BB-30F1D3636FBF}" type="slidenum">
              <a:rPr lang="en-IN" smtClean="0"/>
              <a:t>‹#›</a:t>
            </a:fld>
            <a:endParaRPr lang="en-IN"/>
          </a:p>
        </p:txBody>
      </p:sp>
    </p:spTree>
    <p:extLst>
      <p:ext uri="{BB962C8B-B14F-4D97-AF65-F5344CB8AC3E}">
        <p14:creationId xmlns:p14="http://schemas.microsoft.com/office/powerpoint/2010/main" val="2259534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8143FF3-6C40-4107-91BB-30F1D3636FBF}" type="slidenum">
              <a:rPr lang="en-IN" smtClean="0"/>
              <a:t>12</a:t>
            </a:fld>
            <a:endParaRPr lang="en-IN"/>
          </a:p>
        </p:txBody>
      </p:sp>
    </p:spTree>
    <p:extLst>
      <p:ext uri="{BB962C8B-B14F-4D97-AF65-F5344CB8AC3E}">
        <p14:creationId xmlns:p14="http://schemas.microsoft.com/office/powerpoint/2010/main" val="458704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A453E-9ACD-A4DB-C438-3A908F846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4AB53-DCF0-81A7-BC35-D931B7EC3F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3CB80F-ED43-991D-DDAA-C3EA0D92AD3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438B418-6884-642B-525A-FA1448CF9005}"/>
              </a:ext>
            </a:extLst>
          </p:cNvPr>
          <p:cNvSpPr>
            <a:spLocks noGrp="1"/>
          </p:cNvSpPr>
          <p:nvPr>
            <p:ph type="sldNum" sz="quarter" idx="5"/>
          </p:nvPr>
        </p:nvSpPr>
        <p:spPr/>
        <p:txBody>
          <a:bodyPr/>
          <a:lstStyle/>
          <a:p>
            <a:fld id="{78143FF3-6C40-4107-91BB-30F1D3636FBF}" type="slidenum">
              <a:rPr lang="en-IN" smtClean="0"/>
              <a:t>13</a:t>
            </a:fld>
            <a:endParaRPr lang="en-IN"/>
          </a:p>
        </p:txBody>
      </p:sp>
    </p:spTree>
    <p:extLst>
      <p:ext uri="{BB962C8B-B14F-4D97-AF65-F5344CB8AC3E}">
        <p14:creationId xmlns:p14="http://schemas.microsoft.com/office/powerpoint/2010/main" val="28226592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318F-F6FC-6CB9-CEC6-8B2C0F5EE2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F8D7EB-E762-144D-1496-746833136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756C53-114C-E36A-EC7E-AEE4C2084ABF}"/>
              </a:ext>
            </a:extLst>
          </p:cNvPr>
          <p:cNvSpPr>
            <a:spLocks noGrp="1"/>
          </p:cNvSpPr>
          <p:nvPr>
            <p:ph type="dt" sz="half" idx="10"/>
          </p:nvPr>
        </p:nvSpPr>
        <p:spPr/>
        <p:txBody>
          <a:bodyPr/>
          <a:lstStyle/>
          <a:p>
            <a:fld id="{6EBA79C2-4FE3-4D0C-AFFB-D4FCE050D5EA}" type="datetimeFigureOut">
              <a:rPr lang="en-IN" smtClean="0"/>
              <a:t>10-10-2026</a:t>
            </a:fld>
            <a:endParaRPr lang="en-IN"/>
          </a:p>
        </p:txBody>
      </p:sp>
      <p:sp>
        <p:nvSpPr>
          <p:cNvPr id="5" name="Footer Placeholder 4">
            <a:extLst>
              <a:ext uri="{FF2B5EF4-FFF2-40B4-BE49-F238E27FC236}">
                <a16:creationId xmlns:a16="http://schemas.microsoft.com/office/drawing/2014/main" id="{D76CC798-66E8-807B-3021-DC717C7AB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AA2714-B223-D201-168E-C22AD16013D1}"/>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B14F047B-8F92-089C-65A3-54359B3F76C4}"/>
              </a:ext>
            </a:extLst>
          </p:cNvPr>
          <p:cNvPicPr>
            <a:picLocks noChangeAspect="1"/>
          </p:cNvPicPr>
          <p:nvPr userDrawn="1"/>
        </p:nvPicPr>
        <p:blipFill>
          <a:blip r:embed="rId2">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48068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CE76-A752-DB86-6111-A724232D26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D6FD18-B58E-8C68-26E2-D91631986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7B759C-A1DF-256A-A624-6AB43BC663E0}"/>
              </a:ext>
            </a:extLst>
          </p:cNvPr>
          <p:cNvSpPr>
            <a:spLocks noGrp="1"/>
          </p:cNvSpPr>
          <p:nvPr>
            <p:ph type="dt" sz="half" idx="10"/>
          </p:nvPr>
        </p:nvSpPr>
        <p:spPr/>
        <p:txBody>
          <a:bodyPr/>
          <a:lstStyle/>
          <a:p>
            <a:fld id="{6EBA79C2-4FE3-4D0C-AFFB-D4FCE050D5EA}" type="datetimeFigureOut">
              <a:rPr lang="en-IN" smtClean="0"/>
              <a:t>10-10-2026</a:t>
            </a:fld>
            <a:endParaRPr lang="en-IN"/>
          </a:p>
        </p:txBody>
      </p:sp>
      <p:sp>
        <p:nvSpPr>
          <p:cNvPr id="5" name="Footer Placeholder 4">
            <a:extLst>
              <a:ext uri="{FF2B5EF4-FFF2-40B4-BE49-F238E27FC236}">
                <a16:creationId xmlns:a16="http://schemas.microsoft.com/office/drawing/2014/main" id="{EB71A0AA-5283-1539-E76D-C2704EDF62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212E95-A93E-CFE8-0044-F1F7486E0850}"/>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12" name="Picture 11">
            <a:extLst>
              <a:ext uri="{FF2B5EF4-FFF2-40B4-BE49-F238E27FC236}">
                <a16:creationId xmlns:a16="http://schemas.microsoft.com/office/drawing/2014/main" id="{366CBFAF-C1DF-ECA1-1863-AD86FBEE5E5B}"/>
              </a:ext>
            </a:extLst>
          </p:cNvPr>
          <p:cNvPicPr>
            <a:picLocks noChangeAspect="1"/>
          </p:cNvPicPr>
          <p:nvPr userDrawn="1"/>
        </p:nvPicPr>
        <p:blipFill>
          <a:blip r:embed="rId2">
            <a:alphaModFix amt="66000"/>
            <a:extLst>
              <a:ext uri="{28A0092B-C50C-407E-A947-70E740481C1C}">
                <a14:useLocalDpi xmlns:a14="http://schemas.microsoft.com/office/drawing/2010/main" val="0"/>
              </a:ext>
            </a:extLst>
          </a:blip>
          <a:stretch>
            <a:fillRect/>
          </a:stretch>
        </p:blipFill>
        <p:spPr>
          <a:xfrm>
            <a:off x="10870541" y="17252"/>
            <a:ext cx="1295581" cy="924054"/>
          </a:xfrm>
          <a:prstGeom prst="rect">
            <a:avLst/>
          </a:prstGeom>
        </p:spPr>
      </p:pic>
    </p:spTree>
    <p:extLst>
      <p:ext uri="{BB962C8B-B14F-4D97-AF65-F5344CB8AC3E}">
        <p14:creationId xmlns:p14="http://schemas.microsoft.com/office/powerpoint/2010/main" val="269074662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27E88-1D0E-B19B-1F3F-54DF859CE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CE41C0-D975-5322-05EF-B6920E580E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D7B167-1E87-B93B-75F5-B33217202FE7}"/>
              </a:ext>
            </a:extLst>
          </p:cNvPr>
          <p:cNvSpPr>
            <a:spLocks noGrp="1"/>
          </p:cNvSpPr>
          <p:nvPr>
            <p:ph type="dt" sz="half" idx="10"/>
          </p:nvPr>
        </p:nvSpPr>
        <p:spPr/>
        <p:txBody>
          <a:bodyPr/>
          <a:lstStyle/>
          <a:p>
            <a:fld id="{6EBA79C2-4FE3-4D0C-AFFB-D4FCE050D5EA}" type="datetimeFigureOut">
              <a:rPr lang="en-IN" smtClean="0"/>
              <a:t>10-10-2026</a:t>
            </a:fld>
            <a:endParaRPr lang="en-IN"/>
          </a:p>
        </p:txBody>
      </p:sp>
      <p:sp>
        <p:nvSpPr>
          <p:cNvPr id="5" name="Footer Placeholder 4">
            <a:extLst>
              <a:ext uri="{FF2B5EF4-FFF2-40B4-BE49-F238E27FC236}">
                <a16:creationId xmlns:a16="http://schemas.microsoft.com/office/drawing/2014/main" id="{6225C962-1ABF-F876-C7DD-10E729E42A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F7B4D-DA1F-E875-52B5-31F353F49234}"/>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128179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9F20-A52E-A2BE-2A7C-6344D89003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E9F42D-CDDF-9B84-6F33-25E956F2DD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1E0A4D-E831-6562-11B2-108204244C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5F4BEA-6EB0-7F6F-4BFA-B7DACF40DEA9}"/>
              </a:ext>
            </a:extLst>
          </p:cNvPr>
          <p:cNvSpPr>
            <a:spLocks noGrp="1"/>
          </p:cNvSpPr>
          <p:nvPr>
            <p:ph type="dt" sz="half" idx="10"/>
          </p:nvPr>
        </p:nvSpPr>
        <p:spPr/>
        <p:txBody>
          <a:bodyPr/>
          <a:lstStyle/>
          <a:p>
            <a:fld id="{6EBA79C2-4FE3-4D0C-AFFB-D4FCE050D5EA}" type="datetimeFigureOut">
              <a:rPr lang="en-IN" smtClean="0"/>
              <a:t>10-10-2026</a:t>
            </a:fld>
            <a:endParaRPr lang="en-IN"/>
          </a:p>
        </p:txBody>
      </p:sp>
      <p:sp>
        <p:nvSpPr>
          <p:cNvPr id="6" name="Footer Placeholder 5">
            <a:extLst>
              <a:ext uri="{FF2B5EF4-FFF2-40B4-BE49-F238E27FC236}">
                <a16:creationId xmlns:a16="http://schemas.microsoft.com/office/drawing/2014/main" id="{9852B4B5-D542-513B-5FBA-7C8418FD6E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5B6383-F1CA-D4A5-9876-F4662B6051B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2762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9337-2FE3-561C-F11A-2CFAC3C888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BCE1B6-2296-C3DE-5C27-E4057DFF6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B2FC1E-2D6D-269A-6807-421A1A9C42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1AD048-C515-130C-8F41-1BA8F41892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6D4A7E-CE1F-A02A-B92A-059B1FBCF3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F77709-049A-79A2-F207-FBDA0CAA4E0A}"/>
              </a:ext>
            </a:extLst>
          </p:cNvPr>
          <p:cNvSpPr>
            <a:spLocks noGrp="1"/>
          </p:cNvSpPr>
          <p:nvPr>
            <p:ph type="dt" sz="half" idx="10"/>
          </p:nvPr>
        </p:nvSpPr>
        <p:spPr/>
        <p:txBody>
          <a:bodyPr/>
          <a:lstStyle/>
          <a:p>
            <a:fld id="{6EBA79C2-4FE3-4D0C-AFFB-D4FCE050D5EA}" type="datetimeFigureOut">
              <a:rPr lang="en-IN" smtClean="0"/>
              <a:t>10-10-2026</a:t>
            </a:fld>
            <a:endParaRPr lang="en-IN"/>
          </a:p>
        </p:txBody>
      </p:sp>
      <p:sp>
        <p:nvSpPr>
          <p:cNvPr id="8" name="Footer Placeholder 7">
            <a:extLst>
              <a:ext uri="{FF2B5EF4-FFF2-40B4-BE49-F238E27FC236}">
                <a16:creationId xmlns:a16="http://schemas.microsoft.com/office/drawing/2014/main" id="{59DE0EB3-83C0-67E2-5DB9-42DE8540F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C97AB3-472A-1E13-8460-CE1D861DB6C2}"/>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43864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5904-8D4D-4CA9-51B3-289632997B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398302-AD6F-2CE6-7442-A4A9683D9718}"/>
              </a:ext>
            </a:extLst>
          </p:cNvPr>
          <p:cNvSpPr>
            <a:spLocks noGrp="1"/>
          </p:cNvSpPr>
          <p:nvPr>
            <p:ph type="dt" sz="half" idx="10"/>
          </p:nvPr>
        </p:nvSpPr>
        <p:spPr/>
        <p:txBody>
          <a:bodyPr/>
          <a:lstStyle/>
          <a:p>
            <a:fld id="{6EBA79C2-4FE3-4D0C-AFFB-D4FCE050D5EA}" type="datetimeFigureOut">
              <a:rPr lang="en-IN" smtClean="0"/>
              <a:t>10-10-2026</a:t>
            </a:fld>
            <a:endParaRPr lang="en-IN"/>
          </a:p>
        </p:txBody>
      </p:sp>
      <p:sp>
        <p:nvSpPr>
          <p:cNvPr id="4" name="Footer Placeholder 3">
            <a:extLst>
              <a:ext uri="{FF2B5EF4-FFF2-40B4-BE49-F238E27FC236}">
                <a16:creationId xmlns:a16="http://schemas.microsoft.com/office/drawing/2014/main" id="{15391825-01DE-3CBB-BB33-763481B92D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D5401A-71EA-0313-9EA1-4DC2DB3F758C}"/>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38944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418529-294A-5688-70AC-D6FBB2669691}"/>
              </a:ext>
            </a:extLst>
          </p:cNvPr>
          <p:cNvSpPr>
            <a:spLocks noGrp="1"/>
          </p:cNvSpPr>
          <p:nvPr>
            <p:ph type="dt" sz="half" idx="10"/>
          </p:nvPr>
        </p:nvSpPr>
        <p:spPr/>
        <p:txBody>
          <a:bodyPr/>
          <a:lstStyle/>
          <a:p>
            <a:fld id="{6EBA79C2-4FE3-4D0C-AFFB-D4FCE050D5EA}" type="datetimeFigureOut">
              <a:rPr lang="en-IN" smtClean="0"/>
              <a:t>10-10-2026</a:t>
            </a:fld>
            <a:endParaRPr lang="en-IN"/>
          </a:p>
        </p:txBody>
      </p:sp>
      <p:sp>
        <p:nvSpPr>
          <p:cNvPr id="3" name="Footer Placeholder 2">
            <a:extLst>
              <a:ext uri="{FF2B5EF4-FFF2-40B4-BE49-F238E27FC236}">
                <a16:creationId xmlns:a16="http://schemas.microsoft.com/office/drawing/2014/main" id="{774AA024-38B7-5F32-1894-BCE21AADFC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6C172C-4B71-8ABE-DD86-85DD12827B5A}"/>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282616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B6CF-2A94-DBDD-0D5B-BC12FF3220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4B7D8E-A4B1-A435-346C-19A718C71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7C91E7-453A-3F92-E638-C33792465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7C4555-70D3-F8F8-D355-E9BBC9EE67F8}"/>
              </a:ext>
            </a:extLst>
          </p:cNvPr>
          <p:cNvSpPr>
            <a:spLocks noGrp="1"/>
          </p:cNvSpPr>
          <p:nvPr>
            <p:ph type="dt" sz="half" idx="10"/>
          </p:nvPr>
        </p:nvSpPr>
        <p:spPr/>
        <p:txBody>
          <a:bodyPr/>
          <a:lstStyle/>
          <a:p>
            <a:fld id="{6EBA79C2-4FE3-4D0C-AFFB-D4FCE050D5EA}" type="datetimeFigureOut">
              <a:rPr lang="en-IN" smtClean="0"/>
              <a:t>10-10-2026</a:t>
            </a:fld>
            <a:endParaRPr lang="en-IN"/>
          </a:p>
        </p:txBody>
      </p:sp>
      <p:sp>
        <p:nvSpPr>
          <p:cNvPr id="6" name="Footer Placeholder 5">
            <a:extLst>
              <a:ext uri="{FF2B5EF4-FFF2-40B4-BE49-F238E27FC236}">
                <a16:creationId xmlns:a16="http://schemas.microsoft.com/office/drawing/2014/main" id="{55FE752C-45A1-07D0-4240-44893A0DB9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DD99C-C480-C729-0ECD-BEDE124E840E}"/>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780093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D6FA-24BB-7D09-4CC6-34096CAB0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60CEAA-CE7A-1BBF-BDA9-B387E6B8B16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19DD54-A44F-A8AE-D4E9-3EB63270C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6B6FD-902D-C3AC-D0C4-9E348A977E8B}"/>
              </a:ext>
            </a:extLst>
          </p:cNvPr>
          <p:cNvSpPr>
            <a:spLocks noGrp="1"/>
          </p:cNvSpPr>
          <p:nvPr>
            <p:ph type="dt" sz="half" idx="10"/>
          </p:nvPr>
        </p:nvSpPr>
        <p:spPr/>
        <p:txBody>
          <a:bodyPr/>
          <a:lstStyle/>
          <a:p>
            <a:fld id="{6EBA79C2-4FE3-4D0C-AFFB-D4FCE050D5EA}" type="datetimeFigureOut">
              <a:rPr lang="en-IN" smtClean="0"/>
              <a:t>10-10-2026</a:t>
            </a:fld>
            <a:endParaRPr lang="en-IN"/>
          </a:p>
        </p:txBody>
      </p:sp>
      <p:sp>
        <p:nvSpPr>
          <p:cNvPr id="6" name="Footer Placeholder 5">
            <a:extLst>
              <a:ext uri="{FF2B5EF4-FFF2-40B4-BE49-F238E27FC236}">
                <a16:creationId xmlns:a16="http://schemas.microsoft.com/office/drawing/2014/main" id="{A0D6BDC1-316A-149B-EB15-04EF4D60E7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C24CD2-3C56-F4F2-57FB-AA714E5021A0}"/>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5027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3211F-A80A-9BAC-AAEC-067CCDA5C0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8AD45D-5A88-1664-D692-069F5C5D1A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32EEB4-BA21-8613-2094-72EEFB7929B4}"/>
              </a:ext>
            </a:extLst>
          </p:cNvPr>
          <p:cNvSpPr>
            <a:spLocks noGrp="1"/>
          </p:cNvSpPr>
          <p:nvPr>
            <p:ph type="dt" sz="half" idx="10"/>
          </p:nvPr>
        </p:nvSpPr>
        <p:spPr/>
        <p:txBody>
          <a:bodyPr/>
          <a:lstStyle/>
          <a:p>
            <a:fld id="{6EBA79C2-4FE3-4D0C-AFFB-D4FCE050D5EA}" type="datetimeFigureOut">
              <a:rPr lang="en-IN" smtClean="0"/>
              <a:t>10-10-2026</a:t>
            </a:fld>
            <a:endParaRPr lang="en-IN"/>
          </a:p>
        </p:txBody>
      </p:sp>
      <p:sp>
        <p:nvSpPr>
          <p:cNvPr id="5" name="Footer Placeholder 4">
            <a:extLst>
              <a:ext uri="{FF2B5EF4-FFF2-40B4-BE49-F238E27FC236}">
                <a16:creationId xmlns:a16="http://schemas.microsoft.com/office/drawing/2014/main" id="{A9ECE1A2-6F93-B3CC-3837-CD60E48CF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E5D015-61E2-E514-FC97-B282920D986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8298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873E00-8852-9872-6FBC-5371745539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02A146-0150-F26C-6A86-1CA1FD558A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077DF1-F7DE-4956-6F82-6161FC02210A}"/>
              </a:ext>
            </a:extLst>
          </p:cNvPr>
          <p:cNvSpPr>
            <a:spLocks noGrp="1"/>
          </p:cNvSpPr>
          <p:nvPr>
            <p:ph type="dt" sz="half" idx="10"/>
          </p:nvPr>
        </p:nvSpPr>
        <p:spPr/>
        <p:txBody>
          <a:bodyPr/>
          <a:lstStyle/>
          <a:p>
            <a:fld id="{6EBA79C2-4FE3-4D0C-AFFB-D4FCE050D5EA}" type="datetimeFigureOut">
              <a:rPr lang="en-IN" smtClean="0"/>
              <a:t>10-10-2026</a:t>
            </a:fld>
            <a:endParaRPr lang="en-IN"/>
          </a:p>
        </p:txBody>
      </p:sp>
      <p:sp>
        <p:nvSpPr>
          <p:cNvPr id="5" name="Footer Placeholder 4">
            <a:extLst>
              <a:ext uri="{FF2B5EF4-FFF2-40B4-BE49-F238E27FC236}">
                <a16:creationId xmlns:a16="http://schemas.microsoft.com/office/drawing/2014/main" id="{3637416A-6960-5BA0-E825-F9D0B514C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C46A03-0511-8AD1-FB2D-69E35F8F158D}"/>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67707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5CC290-6B0D-273C-46F1-4BC124934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E82B2E-EDC9-AB14-8964-7BE30F8DB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485163-E247-487C-9AA7-8A7054D4A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A79C2-4FE3-4D0C-AFFB-D4FCE050D5EA}" type="datetimeFigureOut">
              <a:rPr lang="en-IN" smtClean="0"/>
              <a:t>10-10-2026</a:t>
            </a:fld>
            <a:endParaRPr lang="en-IN"/>
          </a:p>
        </p:txBody>
      </p:sp>
      <p:sp>
        <p:nvSpPr>
          <p:cNvPr id="5" name="Footer Placeholder 4">
            <a:extLst>
              <a:ext uri="{FF2B5EF4-FFF2-40B4-BE49-F238E27FC236}">
                <a16:creationId xmlns:a16="http://schemas.microsoft.com/office/drawing/2014/main" id="{85A01BDB-2D7B-79FC-D492-3CFF792A8A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C906FC-E273-8A6D-0868-0A5274678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9ED41020-D2C1-2A7A-0E52-12FBDC02B9EA}"/>
              </a:ext>
            </a:extLst>
          </p:cNvPr>
          <p:cNvPicPr>
            <a:picLocks noChangeAspect="1"/>
          </p:cNvPicPr>
          <p:nvPr userDrawn="1"/>
        </p:nvPicPr>
        <p:blipFill>
          <a:blip r:embed="rId13">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823822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DABF93-EAE1-9723-AD3B-4FBE348EBF7E}"/>
              </a:ext>
            </a:extLst>
          </p:cNvPr>
          <p:cNvSpPr txBox="1"/>
          <p:nvPr/>
        </p:nvSpPr>
        <p:spPr>
          <a:xfrm>
            <a:off x="2379726" y="1142322"/>
            <a:ext cx="7742682" cy="2677656"/>
          </a:xfrm>
          <a:prstGeom prst="rect">
            <a:avLst/>
          </a:prstGeom>
          <a:noFill/>
        </p:spPr>
        <p:txBody>
          <a:bodyPr wrap="square">
            <a:spAutoFit/>
          </a:bodyPr>
          <a:lstStyle/>
          <a:p>
            <a:pPr>
              <a:buNone/>
            </a:pPr>
            <a:r>
              <a:rPr lang="en-IN" sz="2400" b="1">
                <a:solidFill>
                  <a:schemeClr val="accent6">
                    <a:lumMod val="60000"/>
                    <a:lumOff val="40000"/>
                  </a:schemeClr>
                </a:solidFill>
              </a:rPr>
              <a:t>AI for Documents — Word</a:t>
            </a:r>
          </a:p>
          <a:p>
            <a:pPr>
              <a:buNone/>
            </a:pPr>
            <a:r>
              <a:rPr lang="en-IN" sz="2400">
                <a:solidFill>
                  <a:schemeClr val="accent6">
                    <a:lumMod val="60000"/>
                    <a:lumOff val="40000"/>
                  </a:schemeClr>
                </a:solidFill>
              </a:rPr>
              <a:t>Business writing and documentation</a:t>
            </a:r>
          </a:p>
          <a:p>
            <a:pPr marL="342900" lvl="0" indent="-342900">
              <a:buFont typeface="Arial" panose="020B0604020202020204" pitchFamily="34" charset="0"/>
              <a:buChar char="•"/>
            </a:pPr>
            <a:r>
              <a:rPr lang="en-IN" sz="2400">
                <a:solidFill>
                  <a:schemeClr val="accent6">
                    <a:lumMod val="60000"/>
                    <a:lumOff val="40000"/>
                  </a:schemeClr>
                </a:solidFill>
              </a:rPr>
              <a:t>Draft business proposals, memos, and emails.</a:t>
            </a:r>
          </a:p>
          <a:p>
            <a:pPr marL="342900" lvl="0" indent="-342900">
              <a:buFont typeface="Arial" panose="020B0604020202020204" pitchFamily="34" charset="0"/>
              <a:buChar char="•"/>
            </a:pPr>
            <a:r>
              <a:rPr lang="en-IN" sz="2400">
                <a:solidFill>
                  <a:schemeClr val="accent6">
                    <a:lumMod val="60000"/>
                    <a:lumOff val="40000"/>
                  </a:schemeClr>
                </a:solidFill>
              </a:rPr>
              <a:t>Summarize lengthy reports and meeting minutes.</a:t>
            </a:r>
          </a:p>
          <a:p>
            <a:pPr marL="342900" lvl="0" indent="-342900">
              <a:buFont typeface="Arial" panose="020B0604020202020204" pitchFamily="34" charset="0"/>
              <a:buChar char="•"/>
            </a:pPr>
            <a:r>
              <a:rPr lang="en-IN" sz="2400">
                <a:solidFill>
                  <a:schemeClr val="accent6">
                    <a:lumMod val="60000"/>
                    <a:lumOff val="40000"/>
                  </a:schemeClr>
                </a:solidFill>
              </a:rPr>
              <a:t>Convert rough notes into formal documents.</a:t>
            </a:r>
          </a:p>
          <a:p>
            <a:pPr marL="342900" lvl="0" indent="-342900">
              <a:buFont typeface="Arial" panose="020B0604020202020204" pitchFamily="34" charset="0"/>
              <a:buChar char="•"/>
            </a:pPr>
            <a:r>
              <a:rPr lang="en-IN" sz="2400">
                <a:solidFill>
                  <a:schemeClr val="accent6">
                    <a:lumMod val="60000"/>
                    <a:lumOff val="40000"/>
                  </a:schemeClr>
                </a:solidFill>
              </a:rPr>
              <a:t>Create SOPs, policy documents, and business plans.</a:t>
            </a:r>
          </a:p>
          <a:p>
            <a:pPr marL="342900" lvl="0" indent="-342900">
              <a:buFont typeface="Arial" panose="020B0604020202020204" pitchFamily="34" charset="0"/>
              <a:buChar char="•"/>
            </a:pPr>
            <a:r>
              <a:rPr lang="en-IN" sz="2400">
                <a:solidFill>
                  <a:schemeClr val="accent6">
                    <a:lumMod val="60000"/>
                    <a:lumOff val="40000"/>
                  </a:schemeClr>
                </a:solidFill>
              </a:rPr>
              <a:t>Review documents for clarity, tone, and grammar.</a:t>
            </a:r>
          </a:p>
        </p:txBody>
      </p:sp>
    </p:spTree>
    <p:extLst>
      <p:ext uri="{BB962C8B-B14F-4D97-AF65-F5344CB8AC3E}">
        <p14:creationId xmlns:p14="http://schemas.microsoft.com/office/powerpoint/2010/main" val="368688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D05E50D-A32D-2E1E-FD05-AA45219E75E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0679AED-D2B4-6691-7262-95771EF1DF26}"/>
              </a:ext>
            </a:extLst>
          </p:cNvPr>
          <p:cNvSpPr txBox="1"/>
          <p:nvPr/>
        </p:nvSpPr>
        <p:spPr>
          <a:xfrm>
            <a:off x="390144" y="2581716"/>
            <a:ext cx="11686032" cy="1015663"/>
          </a:xfrm>
          <a:prstGeom prst="rect">
            <a:avLst/>
          </a:prstGeom>
          <a:noFill/>
        </p:spPr>
        <p:txBody>
          <a:bodyPr wrap="square">
            <a:spAutoFit/>
          </a:bodyPr>
          <a:lstStyle/>
          <a:p>
            <a:pPr algn="ctr">
              <a:buNone/>
            </a:pPr>
            <a:r>
              <a:rPr lang="en-IN" sz="6000" b="1">
                <a:solidFill>
                  <a:schemeClr val="accent6">
                    <a:lumMod val="60000"/>
                    <a:lumOff val="40000"/>
                  </a:schemeClr>
                </a:solidFill>
              </a:rPr>
              <a:t>Create a business proposal</a:t>
            </a:r>
          </a:p>
        </p:txBody>
      </p:sp>
    </p:spTree>
    <p:extLst>
      <p:ext uri="{BB962C8B-B14F-4D97-AF65-F5344CB8AC3E}">
        <p14:creationId xmlns:p14="http://schemas.microsoft.com/office/powerpoint/2010/main" val="2286833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1A9E2D1-F63C-CE03-E705-AB9F8710666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0B943CC-C5B2-0361-8DCB-D4119A14FB24}"/>
              </a:ext>
            </a:extLst>
          </p:cNvPr>
          <p:cNvSpPr txBox="1"/>
          <p:nvPr/>
        </p:nvSpPr>
        <p:spPr>
          <a:xfrm>
            <a:off x="252984" y="277428"/>
            <a:ext cx="11686032" cy="5632311"/>
          </a:xfrm>
          <a:prstGeom prst="rect">
            <a:avLst/>
          </a:prstGeom>
          <a:noFill/>
        </p:spPr>
        <p:txBody>
          <a:bodyPr wrap="square">
            <a:spAutoFit/>
          </a:bodyPr>
          <a:lstStyle/>
          <a:p>
            <a:pPr>
              <a:buNone/>
            </a:pPr>
            <a:r>
              <a:rPr lang="en-IN" sz="2400" b="1">
                <a:solidFill>
                  <a:schemeClr val="accent6">
                    <a:lumMod val="60000"/>
                    <a:lumOff val="40000"/>
                  </a:schemeClr>
                </a:solidFill>
              </a:rPr>
              <a:t>Activity — Create a business proposal</a:t>
            </a:r>
          </a:p>
          <a:p>
            <a:pPr>
              <a:buNone/>
            </a:pPr>
            <a:endParaRPr lang="en-IN" sz="2400">
              <a:solidFill>
                <a:schemeClr val="accent6">
                  <a:lumMod val="60000"/>
                  <a:lumOff val="40000"/>
                </a:schemeClr>
              </a:solidFill>
            </a:endParaRPr>
          </a:p>
          <a:p>
            <a:pPr>
              <a:buNone/>
            </a:pPr>
            <a:r>
              <a:rPr lang="en-IN" sz="2400" b="1">
                <a:solidFill>
                  <a:schemeClr val="accent6">
                    <a:lumMod val="60000"/>
                    <a:lumOff val="40000"/>
                  </a:schemeClr>
                </a:solidFill>
              </a:rPr>
              <a:t>Skill:</a:t>
            </a:r>
            <a:r>
              <a:rPr lang="en-IN" sz="2400">
                <a:solidFill>
                  <a:schemeClr val="accent6">
                    <a:lumMod val="60000"/>
                    <a:lumOff val="40000"/>
                  </a:schemeClr>
                </a:solidFill>
              </a:rPr>
              <a:t> Professional writing and structured documentation</a:t>
            </a:r>
          </a:p>
          <a:p>
            <a:pPr>
              <a:buNone/>
            </a:pPr>
            <a:endParaRPr lang="en-IN" sz="2400">
              <a:solidFill>
                <a:schemeClr val="accent6">
                  <a:lumMod val="60000"/>
                  <a:lumOff val="40000"/>
                </a:schemeClr>
              </a:solidFill>
            </a:endParaRPr>
          </a:p>
          <a:p>
            <a:pPr>
              <a:buNone/>
            </a:pPr>
            <a:r>
              <a:rPr lang="en-IN" sz="2400">
                <a:solidFill>
                  <a:schemeClr val="accent6">
                    <a:lumMod val="60000"/>
                    <a:lumOff val="40000"/>
                  </a:schemeClr>
                </a:solidFill>
              </a:rPr>
              <a:t>Prompt to try in MS Word CoPilot:</a:t>
            </a:r>
          </a:p>
          <a:p>
            <a:pPr>
              <a:buNone/>
            </a:pPr>
            <a:r>
              <a:rPr lang="en-IN" sz="2400" b="1" i="1">
                <a:solidFill>
                  <a:schemeClr val="accent6">
                    <a:lumMod val="60000"/>
                    <a:lumOff val="40000"/>
                  </a:schemeClr>
                </a:solidFill>
              </a:rPr>
              <a:t>You are a business development manager at Loxford Retail Ltd. </a:t>
            </a:r>
          </a:p>
          <a:p>
            <a:pPr>
              <a:buNone/>
            </a:pPr>
            <a:r>
              <a:rPr lang="en-IN" sz="2400" b="1" i="1">
                <a:solidFill>
                  <a:schemeClr val="accent6">
                    <a:lumMod val="60000"/>
                    <a:lumOff val="40000"/>
                  </a:schemeClr>
                </a:solidFill>
              </a:rPr>
              <a:t>Prepare a business proposal for launching an online clothing store in three new cities having warm climate. The clothing  items would be for school children for class 10 to 12.</a:t>
            </a:r>
          </a:p>
          <a:p>
            <a:pPr>
              <a:buNone/>
            </a:pPr>
            <a:endParaRPr lang="en-IN" sz="2400" b="1" i="1">
              <a:solidFill>
                <a:schemeClr val="accent6">
                  <a:lumMod val="60000"/>
                  <a:lumOff val="40000"/>
                </a:schemeClr>
              </a:solidFill>
            </a:endParaRPr>
          </a:p>
          <a:p>
            <a:pPr>
              <a:buNone/>
            </a:pPr>
            <a:r>
              <a:rPr lang="en-IN" sz="2400" b="1" i="1">
                <a:solidFill>
                  <a:schemeClr val="accent6">
                    <a:lumMod val="60000"/>
                    <a:lumOff val="40000"/>
                  </a:schemeClr>
                </a:solidFill>
              </a:rPr>
              <a:t>Include the business objective, target customers, proposed strategy, resource requirements, estimated budget categories, potential risks, implementation timeline, and success metrics. </a:t>
            </a:r>
          </a:p>
          <a:p>
            <a:pPr>
              <a:buNone/>
            </a:pPr>
            <a:endParaRPr lang="en-IN" sz="2400" b="1" i="1">
              <a:solidFill>
                <a:schemeClr val="accent6">
                  <a:lumMod val="60000"/>
                  <a:lumOff val="40000"/>
                </a:schemeClr>
              </a:solidFill>
            </a:endParaRPr>
          </a:p>
          <a:p>
            <a:pPr>
              <a:buNone/>
            </a:pPr>
            <a:r>
              <a:rPr lang="en-IN" sz="2400" b="1" i="1">
                <a:solidFill>
                  <a:schemeClr val="accent6">
                    <a:lumMod val="60000"/>
                    <a:lumOff val="40000"/>
                  </a:schemeClr>
                </a:solidFill>
              </a:rPr>
              <a:t>Use a professional management-report format. </a:t>
            </a:r>
          </a:p>
          <a:p>
            <a:pPr>
              <a:buNone/>
            </a:pPr>
            <a:r>
              <a:rPr lang="en-IN" sz="2400" b="1" i="1">
                <a:solidFill>
                  <a:schemeClr val="accent6">
                    <a:lumMod val="60000"/>
                    <a:lumOff val="40000"/>
                  </a:schemeClr>
                </a:solidFill>
              </a:rPr>
              <a:t>Clearly label any assumptions rather than inventing actual business data.</a:t>
            </a:r>
          </a:p>
        </p:txBody>
      </p:sp>
    </p:spTree>
    <p:extLst>
      <p:ext uri="{BB962C8B-B14F-4D97-AF65-F5344CB8AC3E}">
        <p14:creationId xmlns:p14="http://schemas.microsoft.com/office/powerpoint/2010/main" val="713978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4AC0FF7-F5F3-301B-D739-0BB9956029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D61E915-79B7-82DD-5739-5219742D98E9}"/>
              </a:ext>
            </a:extLst>
          </p:cNvPr>
          <p:cNvSpPr txBox="1"/>
          <p:nvPr/>
        </p:nvSpPr>
        <p:spPr>
          <a:xfrm>
            <a:off x="0" y="0"/>
            <a:ext cx="5269992" cy="461665"/>
          </a:xfrm>
          <a:prstGeom prst="rect">
            <a:avLst/>
          </a:prstGeom>
          <a:noFill/>
        </p:spPr>
        <p:txBody>
          <a:bodyPr wrap="square">
            <a:spAutoFit/>
          </a:bodyPr>
          <a:lstStyle/>
          <a:p>
            <a:pPr>
              <a:buNone/>
            </a:pPr>
            <a:r>
              <a:rPr lang="en-IN" sz="2400" b="1">
                <a:solidFill>
                  <a:schemeClr val="accent6">
                    <a:lumMod val="60000"/>
                    <a:lumOff val="40000"/>
                  </a:schemeClr>
                </a:solidFill>
              </a:rPr>
              <a:t>Output: </a:t>
            </a:r>
            <a:r>
              <a:rPr lang="en-IN" sz="2400">
                <a:solidFill>
                  <a:schemeClr val="accent6">
                    <a:lumMod val="60000"/>
                    <a:lumOff val="40000"/>
                  </a:schemeClr>
                </a:solidFill>
              </a:rPr>
              <a:t> An 8 – page proposal</a:t>
            </a:r>
            <a:endParaRPr lang="en-IN" sz="2400" b="1" i="1">
              <a:solidFill>
                <a:schemeClr val="accent6">
                  <a:lumMod val="60000"/>
                  <a:lumOff val="40000"/>
                </a:schemeClr>
              </a:solidFill>
            </a:endParaRPr>
          </a:p>
        </p:txBody>
      </p:sp>
      <p:pic>
        <p:nvPicPr>
          <p:cNvPr id="3" name="Picture 2">
            <a:extLst>
              <a:ext uri="{FF2B5EF4-FFF2-40B4-BE49-F238E27FC236}">
                <a16:creationId xmlns:a16="http://schemas.microsoft.com/office/drawing/2014/main" id="{B9E66DDE-6B3E-2DFA-FDB7-433E3AEA5A56}"/>
              </a:ext>
            </a:extLst>
          </p:cNvPr>
          <p:cNvPicPr>
            <a:picLocks noChangeAspect="1"/>
          </p:cNvPicPr>
          <p:nvPr/>
        </p:nvPicPr>
        <p:blipFill>
          <a:blip r:embed="rId2"/>
          <a:stretch>
            <a:fillRect/>
          </a:stretch>
        </p:blipFill>
        <p:spPr>
          <a:xfrm>
            <a:off x="56029" y="832104"/>
            <a:ext cx="12135971" cy="6025896"/>
          </a:xfrm>
          <a:prstGeom prst="rect">
            <a:avLst/>
          </a:prstGeom>
        </p:spPr>
      </p:pic>
    </p:spTree>
    <p:extLst>
      <p:ext uri="{BB962C8B-B14F-4D97-AF65-F5344CB8AC3E}">
        <p14:creationId xmlns:p14="http://schemas.microsoft.com/office/powerpoint/2010/main" val="1858217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A0BB751-4A99-489A-03A2-7D65213B7E1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930F25-5A9C-2091-10FE-FB613B0EDAD9}"/>
              </a:ext>
            </a:extLst>
          </p:cNvPr>
          <p:cNvSpPr txBox="1"/>
          <p:nvPr/>
        </p:nvSpPr>
        <p:spPr>
          <a:xfrm>
            <a:off x="252984" y="277428"/>
            <a:ext cx="11686032" cy="3046988"/>
          </a:xfrm>
          <a:prstGeom prst="rect">
            <a:avLst/>
          </a:prstGeom>
          <a:noFill/>
        </p:spPr>
        <p:txBody>
          <a:bodyPr wrap="square">
            <a:spAutoFit/>
          </a:bodyPr>
          <a:lstStyle/>
          <a:p>
            <a:r>
              <a:rPr lang="en-IN" sz="2400" b="1">
                <a:solidFill>
                  <a:schemeClr val="accent6">
                    <a:lumMod val="60000"/>
                    <a:lumOff val="40000"/>
                  </a:schemeClr>
                </a:solidFill>
              </a:rPr>
              <a:t>Activity —</a:t>
            </a:r>
            <a:r>
              <a:rPr lang="en-IN" sz="2400">
                <a:solidFill>
                  <a:schemeClr val="accent6">
                    <a:lumMod val="60000"/>
                    <a:lumOff val="40000"/>
                  </a:schemeClr>
                </a:solidFill>
              </a:rPr>
              <a:t> Convert rough notes into an SOP</a:t>
            </a:r>
          </a:p>
          <a:p>
            <a:endParaRPr lang="en-IN" sz="2400">
              <a:solidFill>
                <a:schemeClr val="accent6">
                  <a:lumMod val="60000"/>
                  <a:lumOff val="40000"/>
                </a:schemeClr>
              </a:solidFill>
            </a:endParaRPr>
          </a:p>
          <a:p>
            <a:r>
              <a:rPr lang="en-IN" sz="2400" b="1" i="1">
                <a:solidFill>
                  <a:schemeClr val="accent6">
                    <a:lumMod val="60000"/>
                    <a:lumOff val="40000"/>
                  </a:schemeClr>
                </a:solidFill>
              </a:rPr>
              <a:t>Convert the following rough notes into a Standard Operating Procedure (SOP) for handling customer complaints. Include purpose, scope, responsibilities, step-by-step procedures, escalation rules, response-time targets, and documentation requirements. </a:t>
            </a:r>
          </a:p>
          <a:p>
            <a:r>
              <a:rPr lang="en-IN" sz="2400" b="1" i="1">
                <a:solidFill>
                  <a:schemeClr val="accent6">
                    <a:lumMod val="60000"/>
                    <a:lumOff val="40000"/>
                  </a:schemeClr>
                </a:solidFill>
              </a:rPr>
              <a:t>Identify missing policies that management must confirm instead of making them up.</a:t>
            </a:r>
          </a:p>
          <a:p>
            <a:endParaRPr lang="en-IN" sz="2400" b="1" i="1">
              <a:solidFill>
                <a:schemeClr val="accent6">
                  <a:lumMod val="60000"/>
                  <a:lumOff val="40000"/>
                </a:schemeClr>
              </a:solidFill>
            </a:endParaRPr>
          </a:p>
          <a:p>
            <a:r>
              <a:rPr lang="en-IN" sz="2400" b="1" i="1">
                <a:solidFill>
                  <a:schemeClr val="accent6">
                    <a:lumMod val="60000"/>
                    <a:lumOff val="40000"/>
                  </a:schemeClr>
                </a:solidFill>
              </a:rPr>
              <a:t>(PTO)</a:t>
            </a:r>
          </a:p>
        </p:txBody>
      </p:sp>
    </p:spTree>
    <p:extLst>
      <p:ext uri="{BB962C8B-B14F-4D97-AF65-F5344CB8AC3E}">
        <p14:creationId xmlns:p14="http://schemas.microsoft.com/office/powerpoint/2010/main" val="4069888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6842D48-05AE-DA5A-561B-DAD910299E6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697581A-D528-B9A5-681A-73F55AE46B32}"/>
              </a:ext>
            </a:extLst>
          </p:cNvPr>
          <p:cNvSpPr txBox="1"/>
          <p:nvPr/>
        </p:nvSpPr>
        <p:spPr>
          <a:xfrm>
            <a:off x="252984" y="2581716"/>
            <a:ext cx="11686032" cy="830997"/>
          </a:xfrm>
          <a:prstGeom prst="rect">
            <a:avLst/>
          </a:prstGeom>
          <a:noFill/>
        </p:spPr>
        <p:txBody>
          <a:bodyPr wrap="square">
            <a:spAutoFit/>
          </a:bodyPr>
          <a:lstStyle/>
          <a:p>
            <a:pPr algn="ctr"/>
            <a:r>
              <a:rPr lang="en-IN" sz="4800" b="1">
                <a:solidFill>
                  <a:schemeClr val="accent6">
                    <a:lumMod val="60000"/>
                    <a:lumOff val="40000"/>
                  </a:schemeClr>
                </a:solidFill>
              </a:rPr>
              <a:t>Rough Notes to Formal documents</a:t>
            </a:r>
          </a:p>
        </p:txBody>
      </p:sp>
    </p:spTree>
    <p:extLst>
      <p:ext uri="{BB962C8B-B14F-4D97-AF65-F5344CB8AC3E}">
        <p14:creationId xmlns:p14="http://schemas.microsoft.com/office/powerpoint/2010/main" val="4042957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316E42B-94A3-7879-BA55-12317B69F7E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1A78366-B00A-ACDB-0086-08936A0263E7}"/>
              </a:ext>
            </a:extLst>
          </p:cNvPr>
          <p:cNvSpPr txBox="1"/>
          <p:nvPr/>
        </p:nvSpPr>
        <p:spPr>
          <a:xfrm>
            <a:off x="252984" y="277428"/>
            <a:ext cx="11686032" cy="6555641"/>
          </a:xfrm>
          <a:prstGeom prst="rect">
            <a:avLst/>
          </a:prstGeom>
          <a:noFill/>
        </p:spPr>
        <p:txBody>
          <a:bodyPr wrap="square">
            <a:spAutoFit/>
          </a:bodyPr>
          <a:lstStyle/>
          <a:p>
            <a:r>
              <a:rPr lang="en-IN" b="1">
                <a:solidFill>
                  <a:schemeClr val="accent6">
                    <a:lumMod val="60000"/>
                    <a:lumOff val="40000"/>
                  </a:schemeClr>
                </a:solidFill>
              </a:rPr>
              <a:t>Activity — Rough Notes: Customer Complaint Process (Draft) – (From Text file)</a:t>
            </a:r>
          </a:p>
          <a:p>
            <a:endParaRPr lang="en-IN" b="1">
              <a:solidFill>
                <a:schemeClr val="accent6">
                  <a:lumMod val="60000"/>
                  <a:lumOff val="40000"/>
                </a:schemeClr>
              </a:solidFill>
            </a:endParaRPr>
          </a:p>
          <a:p>
            <a:pPr lvl="0"/>
            <a:r>
              <a:rPr lang="en-IN" b="1">
                <a:solidFill>
                  <a:schemeClr val="accent6">
                    <a:lumMod val="60000"/>
                    <a:lumOff val="40000"/>
                  </a:schemeClr>
                </a:solidFill>
              </a:rPr>
              <a:t>Goal:</a:t>
            </a:r>
            <a:r>
              <a:rPr lang="en-IN">
                <a:solidFill>
                  <a:schemeClr val="accent6">
                    <a:lumMod val="60000"/>
                    <a:lumOff val="40000"/>
                  </a:schemeClr>
                </a:solidFill>
              </a:rPr>
              <a:t> Need a way to fix customer complaints so people don’t post bad reviews online and we keep our QA standards good.</a:t>
            </a:r>
          </a:p>
          <a:p>
            <a:pPr lvl="0"/>
            <a:r>
              <a:rPr lang="en-IN" b="1">
                <a:solidFill>
                  <a:schemeClr val="accent6">
                    <a:lumMod val="60000"/>
                    <a:lumOff val="40000"/>
                  </a:schemeClr>
                </a:solidFill>
              </a:rPr>
              <a:t>Channels:</a:t>
            </a:r>
            <a:r>
              <a:rPr lang="en-IN">
                <a:solidFill>
                  <a:schemeClr val="accent6">
                    <a:lumMod val="60000"/>
                    <a:lumOff val="40000"/>
                  </a:schemeClr>
                </a:solidFill>
              </a:rPr>
              <a:t> Complaints come arrive via support emails, phone calls to the front desk, and sometimes direct messages on our official Instagram page.</a:t>
            </a:r>
          </a:p>
          <a:p>
            <a:pPr lvl="0"/>
            <a:r>
              <a:rPr lang="en-IN" b="1">
                <a:solidFill>
                  <a:schemeClr val="accent6">
                    <a:lumMod val="60000"/>
                    <a:lumOff val="40000"/>
                  </a:schemeClr>
                </a:solidFill>
              </a:rPr>
              <a:t>First Steps:</a:t>
            </a:r>
            <a:r>
              <a:rPr lang="en-IN">
                <a:solidFill>
                  <a:schemeClr val="accent6">
                    <a:lumMod val="60000"/>
                    <a:lumOff val="40000"/>
                  </a:schemeClr>
                </a:solidFill>
              </a:rPr>
              <a:t> Whoever sees the complaint needs to write down what happened. Front desk handles phone calls, social media manager handles Instagram, and the support team handles the ticketing queue. </a:t>
            </a:r>
          </a:p>
          <a:p>
            <a:pPr lvl="0"/>
            <a:r>
              <a:rPr lang="en-IN" b="1">
                <a:solidFill>
                  <a:schemeClr val="accent6">
                    <a:lumMod val="60000"/>
                    <a:lumOff val="40000"/>
                  </a:schemeClr>
                </a:solidFill>
              </a:rPr>
              <a:t>Logging:</a:t>
            </a:r>
            <a:r>
              <a:rPr lang="en-IN">
                <a:solidFill>
                  <a:schemeClr val="accent6">
                    <a:lumMod val="60000"/>
                    <a:lumOff val="40000"/>
                  </a:schemeClr>
                </a:solidFill>
              </a:rPr>
              <a:t> Put the details somewhere. Right now, few people use the Excel sheet on the shared drive, and others just update the Zendesk ticket. We need a single system.</a:t>
            </a:r>
          </a:p>
          <a:p>
            <a:pPr lvl="0"/>
            <a:r>
              <a:rPr lang="en-IN" b="1">
                <a:solidFill>
                  <a:schemeClr val="accent6">
                    <a:lumMod val="60000"/>
                    <a:lumOff val="40000"/>
                  </a:schemeClr>
                </a:solidFill>
              </a:rPr>
              <a:t>Investigation:</a:t>
            </a:r>
            <a:r>
              <a:rPr lang="en-IN">
                <a:solidFill>
                  <a:schemeClr val="accent6">
                    <a:lumMod val="60000"/>
                    <a:lumOff val="40000"/>
                  </a:schemeClr>
                </a:solidFill>
              </a:rPr>
              <a:t> Basic tech issues go to IT. Product defects go to the Quality Assurance (QA) team. Billing error isssues, goes to Finance. The person investigating needs to find the root cause, but if it takes more than a week, they should probably update someone.</a:t>
            </a:r>
          </a:p>
          <a:p>
            <a:pPr lvl="0"/>
            <a:r>
              <a:rPr lang="en-IN" b="1">
                <a:solidFill>
                  <a:schemeClr val="accent6">
                    <a:lumMod val="60000"/>
                    <a:lumOff val="40000"/>
                  </a:schemeClr>
                </a:solidFill>
              </a:rPr>
              <a:t>Resolution:</a:t>
            </a:r>
            <a:r>
              <a:rPr lang="en-IN">
                <a:solidFill>
                  <a:schemeClr val="accent6">
                    <a:lumMod val="60000"/>
                    <a:lumOff val="40000"/>
                  </a:schemeClr>
                </a:solidFill>
              </a:rPr>
              <a:t> Once fixed, email the customer the solution. But what if they want a refund?  Right now, tier 1 agents just ask a manager, but there’s no clear rule on how much money an agent can refund on their own before needing approval.</a:t>
            </a:r>
          </a:p>
          <a:p>
            <a:pPr lvl="0"/>
            <a:r>
              <a:rPr lang="en-IN" b="1">
                <a:solidFill>
                  <a:schemeClr val="accent6">
                    <a:lumMod val="60000"/>
                    <a:lumOff val="40000"/>
                  </a:schemeClr>
                </a:solidFill>
              </a:rPr>
              <a:t>Escalation stuff:</a:t>
            </a:r>
            <a:r>
              <a:rPr lang="en-IN">
                <a:solidFill>
                  <a:schemeClr val="accent6">
                    <a:lumMod val="60000"/>
                    <a:lumOff val="40000"/>
                  </a:schemeClr>
                </a:solidFill>
              </a:rPr>
              <a:t> If a customer starts swearing or threatens to sue us, the agent should immediately pass it to a manager. Also, if a high-value enterprise client complains, it needs to go straight to the Director of Support. What defines a "high-value client"? We usually just know based on the company name.</a:t>
            </a:r>
          </a:p>
          <a:p>
            <a:pPr lvl="0"/>
            <a:r>
              <a:rPr lang="en-IN" b="1">
                <a:solidFill>
                  <a:schemeClr val="accent6">
                    <a:lumMod val="60000"/>
                    <a:lumOff val="40000"/>
                  </a:schemeClr>
                </a:solidFill>
              </a:rPr>
              <a:t>Timelines:</a:t>
            </a:r>
            <a:r>
              <a:rPr lang="en-IN">
                <a:solidFill>
                  <a:schemeClr val="accent6">
                    <a:lumMod val="60000"/>
                    <a:lumOff val="40000"/>
                  </a:schemeClr>
                </a:solidFill>
              </a:rPr>
              <a:t> Try to reply fast. Maybe acknowledge it within a day? And try to close the whole thing in 5 to 10 days, depending on how complicated it is. Priority items (like system downtime) need to be handled faster, but we don't have exact hours written down for SLAs.</a:t>
            </a:r>
          </a:p>
          <a:p>
            <a:pPr lvl="0"/>
            <a:r>
              <a:rPr lang="en-IN" b="1">
                <a:solidFill>
                  <a:schemeClr val="accent6">
                    <a:lumMod val="60000"/>
                    <a:lumOff val="40000"/>
                  </a:schemeClr>
                </a:solidFill>
              </a:rPr>
              <a:t>Closing it out:</a:t>
            </a:r>
            <a:r>
              <a:rPr lang="en-IN">
                <a:solidFill>
                  <a:schemeClr val="accent6">
                    <a:lumMod val="60000"/>
                    <a:lumOff val="40000"/>
                  </a:schemeClr>
                </a:solidFill>
              </a:rPr>
              <a:t> Mark the ticket as closed. We should probably keep a record of these for a few years in case audits happen, but nobody knows what the exact corporate data retention policy is for compliance.</a:t>
            </a:r>
          </a:p>
          <a:p>
            <a:pPr lvl="0"/>
            <a:endParaRPr lang="en-IN">
              <a:solidFill>
                <a:schemeClr val="accent6">
                  <a:lumMod val="60000"/>
                  <a:lumOff val="40000"/>
                </a:schemeClr>
              </a:solidFill>
            </a:endParaRPr>
          </a:p>
        </p:txBody>
      </p:sp>
    </p:spTree>
    <p:extLst>
      <p:ext uri="{BB962C8B-B14F-4D97-AF65-F5344CB8AC3E}">
        <p14:creationId xmlns:p14="http://schemas.microsoft.com/office/powerpoint/2010/main" val="2722709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4A72A63-35E5-5C3D-6AF5-AE1A0807540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A1B787-8735-AF19-604E-A3926012EE9D}"/>
              </a:ext>
            </a:extLst>
          </p:cNvPr>
          <p:cNvSpPr txBox="1"/>
          <p:nvPr/>
        </p:nvSpPr>
        <p:spPr>
          <a:xfrm>
            <a:off x="252984" y="277428"/>
            <a:ext cx="11686032" cy="369332"/>
          </a:xfrm>
          <a:prstGeom prst="rect">
            <a:avLst/>
          </a:prstGeom>
          <a:noFill/>
        </p:spPr>
        <p:txBody>
          <a:bodyPr wrap="square">
            <a:spAutoFit/>
          </a:bodyPr>
          <a:lstStyle/>
          <a:p>
            <a:r>
              <a:rPr lang="en-IN" b="1">
                <a:solidFill>
                  <a:schemeClr val="accent6">
                    <a:lumMod val="60000"/>
                    <a:lumOff val="40000"/>
                  </a:schemeClr>
                </a:solidFill>
              </a:rPr>
              <a:t>Sample output</a:t>
            </a:r>
            <a:endParaRPr lang="en-IN">
              <a:solidFill>
                <a:schemeClr val="accent6">
                  <a:lumMod val="60000"/>
                  <a:lumOff val="40000"/>
                </a:schemeClr>
              </a:solidFill>
            </a:endParaRPr>
          </a:p>
        </p:txBody>
      </p:sp>
      <p:pic>
        <p:nvPicPr>
          <p:cNvPr id="3" name="Picture 2">
            <a:extLst>
              <a:ext uri="{FF2B5EF4-FFF2-40B4-BE49-F238E27FC236}">
                <a16:creationId xmlns:a16="http://schemas.microsoft.com/office/drawing/2014/main" id="{14249314-1384-E5FA-EACA-626FF1B27850}"/>
              </a:ext>
            </a:extLst>
          </p:cNvPr>
          <p:cNvPicPr>
            <a:picLocks noChangeAspect="1"/>
          </p:cNvPicPr>
          <p:nvPr/>
        </p:nvPicPr>
        <p:blipFill>
          <a:blip r:embed="rId2"/>
          <a:stretch>
            <a:fillRect/>
          </a:stretch>
        </p:blipFill>
        <p:spPr>
          <a:xfrm>
            <a:off x="0" y="1953303"/>
            <a:ext cx="12192000" cy="4524161"/>
          </a:xfrm>
          <a:prstGeom prst="rect">
            <a:avLst/>
          </a:prstGeom>
        </p:spPr>
      </p:pic>
    </p:spTree>
    <p:extLst>
      <p:ext uri="{BB962C8B-B14F-4D97-AF65-F5344CB8AC3E}">
        <p14:creationId xmlns:p14="http://schemas.microsoft.com/office/powerpoint/2010/main" val="2611190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D4EF7DA-124F-4BFF-55EF-94ED5A216D0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AD03B3-353B-3824-1208-571DBCBB0A31}"/>
              </a:ext>
            </a:extLst>
          </p:cNvPr>
          <p:cNvSpPr txBox="1"/>
          <p:nvPr/>
        </p:nvSpPr>
        <p:spPr>
          <a:xfrm>
            <a:off x="252984" y="2124516"/>
            <a:ext cx="11686032" cy="1200329"/>
          </a:xfrm>
          <a:prstGeom prst="rect">
            <a:avLst/>
          </a:prstGeom>
          <a:noFill/>
        </p:spPr>
        <p:txBody>
          <a:bodyPr wrap="square">
            <a:spAutoFit/>
          </a:bodyPr>
          <a:lstStyle/>
          <a:p>
            <a:pPr algn="ctr"/>
            <a:r>
              <a:rPr lang="en-IN" sz="7200" b="1">
                <a:solidFill>
                  <a:schemeClr val="accent6">
                    <a:lumMod val="60000"/>
                    <a:lumOff val="40000"/>
                  </a:schemeClr>
                </a:solidFill>
              </a:rPr>
              <a:t>Meeting Minutes</a:t>
            </a:r>
            <a:endParaRPr lang="en-IN" sz="7200">
              <a:solidFill>
                <a:schemeClr val="accent6">
                  <a:lumMod val="60000"/>
                  <a:lumOff val="40000"/>
                </a:schemeClr>
              </a:solidFill>
            </a:endParaRPr>
          </a:p>
        </p:txBody>
      </p:sp>
    </p:spTree>
    <p:extLst>
      <p:ext uri="{BB962C8B-B14F-4D97-AF65-F5344CB8AC3E}">
        <p14:creationId xmlns:p14="http://schemas.microsoft.com/office/powerpoint/2010/main" val="1195436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56F9F76-B0FC-2C23-E9DE-66B94FD3B8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9372E32-C16A-6688-BC4B-14D2F02549EB}"/>
              </a:ext>
            </a:extLst>
          </p:cNvPr>
          <p:cNvSpPr txBox="1"/>
          <p:nvPr/>
        </p:nvSpPr>
        <p:spPr>
          <a:xfrm>
            <a:off x="124968" y="133060"/>
            <a:ext cx="11686032" cy="830997"/>
          </a:xfrm>
          <a:prstGeom prst="rect">
            <a:avLst/>
          </a:prstGeom>
          <a:noFill/>
        </p:spPr>
        <p:txBody>
          <a:bodyPr wrap="square">
            <a:spAutoFit/>
          </a:bodyPr>
          <a:lstStyle/>
          <a:p>
            <a:r>
              <a:rPr lang="en-IN" sz="2400" b="1">
                <a:solidFill>
                  <a:schemeClr val="accent6">
                    <a:lumMod val="60000"/>
                    <a:lumOff val="40000"/>
                  </a:schemeClr>
                </a:solidFill>
              </a:rPr>
              <a:t>Activity — </a:t>
            </a:r>
            <a:r>
              <a:rPr lang="en-IN" sz="2400">
                <a:solidFill>
                  <a:schemeClr val="accent6">
                    <a:lumMod val="60000"/>
                    <a:lumOff val="40000"/>
                  </a:schemeClr>
                </a:solidFill>
              </a:rPr>
              <a:t>Upload the sample_meeting_transcript.docx onto Microsoft copilot</a:t>
            </a:r>
          </a:p>
          <a:p>
            <a:r>
              <a:rPr lang="en-IN" sz="2400">
                <a:solidFill>
                  <a:schemeClr val="accent6">
                    <a:lumMod val="60000"/>
                    <a:lumOff val="40000"/>
                  </a:schemeClr>
                </a:solidFill>
              </a:rPr>
              <a:t>Ask: </a:t>
            </a:r>
            <a:r>
              <a:rPr lang="en-IN" sz="2400" b="1" i="1">
                <a:solidFill>
                  <a:schemeClr val="accent6">
                    <a:lumMod val="60000"/>
                    <a:lumOff val="40000"/>
                  </a:schemeClr>
                </a:solidFill>
              </a:rPr>
              <a:t>Create meeting minutes from attachment</a:t>
            </a:r>
          </a:p>
        </p:txBody>
      </p:sp>
      <p:pic>
        <p:nvPicPr>
          <p:cNvPr id="3" name="Picture 2">
            <a:extLst>
              <a:ext uri="{FF2B5EF4-FFF2-40B4-BE49-F238E27FC236}">
                <a16:creationId xmlns:a16="http://schemas.microsoft.com/office/drawing/2014/main" id="{2C012AD9-502A-CCA1-E68D-F5474BB1B4EA}"/>
              </a:ext>
            </a:extLst>
          </p:cNvPr>
          <p:cNvPicPr>
            <a:picLocks noChangeAspect="1"/>
          </p:cNvPicPr>
          <p:nvPr/>
        </p:nvPicPr>
        <p:blipFill>
          <a:blip r:embed="rId2"/>
          <a:stretch>
            <a:fillRect/>
          </a:stretch>
        </p:blipFill>
        <p:spPr>
          <a:xfrm>
            <a:off x="65237" y="1042416"/>
            <a:ext cx="11293391" cy="5682524"/>
          </a:xfrm>
          <a:prstGeom prst="rect">
            <a:avLst/>
          </a:prstGeom>
        </p:spPr>
      </p:pic>
    </p:spTree>
    <p:extLst>
      <p:ext uri="{BB962C8B-B14F-4D97-AF65-F5344CB8AC3E}">
        <p14:creationId xmlns:p14="http://schemas.microsoft.com/office/powerpoint/2010/main" val="1276991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DA57F39-66A5-01AF-62A6-B2B5A12EABD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88556C8-2F02-6AFF-023B-8EB0CD704028}"/>
              </a:ext>
            </a:extLst>
          </p:cNvPr>
          <p:cNvSpPr txBox="1"/>
          <p:nvPr/>
        </p:nvSpPr>
        <p:spPr>
          <a:xfrm>
            <a:off x="252984" y="2124516"/>
            <a:ext cx="11686032" cy="1200329"/>
          </a:xfrm>
          <a:prstGeom prst="rect">
            <a:avLst/>
          </a:prstGeom>
          <a:noFill/>
        </p:spPr>
        <p:txBody>
          <a:bodyPr wrap="square">
            <a:spAutoFit/>
          </a:bodyPr>
          <a:lstStyle/>
          <a:p>
            <a:pPr algn="ctr"/>
            <a:r>
              <a:rPr lang="en-IN" sz="7200">
                <a:solidFill>
                  <a:schemeClr val="accent6">
                    <a:lumMod val="60000"/>
                    <a:lumOff val="40000"/>
                  </a:schemeClr>
                </a:solidFill>
              </a:rPr>
              <a:t>Summarize lengthy reports</a:t>
            </a:r>
          </a:p>
        </p:txBody>
      </p:sp>
    </p:spTree>
    <p:extLst>
      <p:ext uri="{BB962C8B-B14F-4D97-AF65-F5344CB8AC3E}">
        <p14:creationId xmlns:p14="http://schemas.microsoft.com/office/powerpoint/2010/main" val="3342547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8004F2F-A6D1-1332-98B0-01BCED2183C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1E21759-9CC9-25C5-DDDB-CE17FA8988B3}"/>
              </a:ext>
            </a:extLst>
          </p:cNvPr>
          <p:cNvSpPr txBox="1"/>
          <p:nvPr/>
        </p:nvSpPr>
        <p:spPr>
          <a:xfrm>
            <a:off x="124968" y="133060"/>
            <a:ext cx="11686032" cy="3046988"/>
          </a:xfrm>
          <a:prstGeom prst="rect">
            <a:avLst/>
          </a:prstGeom>
          <a:noFill/>
        </p:spPr>
        <p:txBody>
          <a:bodyPr wrap="square">
            <a:spAutoFit/>
          </a:bodyPr>
          <a:lstStyle/>
          <a:p>
            <a:r>
              <a:rPr lang="en-IN" sz="2400" b="1">
                <a:solidFill>
                  <a:schemeClr val="accent6">
                    <a:lumMod val="60000"/>
                    <a:lumOff val="40000"/>
                  </a:schemeClr>
                </a:solidFill>
              </a:rPr>
              <a:t>Activity — </a:t>
            </a:r>
            <a:r>
              <a:rPr lang="en-IN" sz="2400">
                <a:solidFill>
                  <a:schemeClr val="accent6">
                    <a:lumMod val="60000"/>
                    <a:lumOff val="40000"/>
                  </a:schemeClr>
                </a:solidFill>
              </a:rPr>
              <a:t>Upload the sample_Businessreport.pdf onto Microsoft copilot</a:t>
            </a:r>
          </a:p>
          <a:p>
            <a:endParaRPr lang="en-IN" sz="2400">
              <a:solidFill>
                <a:schemeClr val="accent6">
                  <a:lumMod val="60000"/>
                  <a:lumOff val="40000"/>
                </a:schemeClr>
              </a:solidFill>
            </a:endParaRPr>
          </a:p>
          <a:p>
            <a:r>
              <a:rPr lang="en-IN" sz="2400">
                <a:solidFill>
                  <a:schemeClr val="accent6">
                    <a:lumMod val="60000"/>
                    <a:lumOff val="40000"/>
                  </a:schemeClr>
                </a:solidFill>
              </a:rPr>
              <a:t>Ask: </a:t>
            </a:r>
          </a:p>
          <a:p>
            <a:r>
              <a:rPr lang="en-IN" sz="2400" b="1" i="1">
                <a:solidFill>
                  <a:schemeClr val="accent6">
                    <a:lumMod val="60000"/>
                    <a:lumOff val="40000"/>
                  </a:schemeClr>
                </a:solidFill>
              </a:rPr>
              <a:t>Summarize this business report for a busy department manager. </a:t>
            </a:r>
          </a:p>
          <a:p>
            <a:r>
              <a:rPr lang="en-IN" sz="2400" b="1" i="1">
                <a:solidFill>
                  <a:schemeClr val="accent6">
                    <a:lumMod val="60000"/>
                    <a:lumOff val="40000"/>
                  </a:schemeClr>
                </a:solidFill>
              </a:rPr>
              <a:t>Provide an executive summary, five key findings, major risks, important numerical results, and three recommended actions. </a:t>
            </a:r>
          </a:p>
          <a:p>
            <a:r>
              <a:rPr lang="en-IN" sz="2400" b="1" i="1">
                <a:solidFill>
                  <a:schemeClr val="accent6">
                    <a:lumMod val="60000"/>
                    <a:lumOff val="40000"/>
                  </a:schemeClr>
                </a:solidFill>
              </a:rPr>
              <a:t>Separate facts stated in the report from your own interpretations. </a:t>
            </a:r>
          </a:p>
          <a:p>
            <a:r>
              <a:rPr lang="en-IN" sz="2400" b="1" i="1">
                <a:solidFill>
                  <a:schemeClr val="accent6">
                    <a:lumMod val="60000"/>
                    <a:lumOff val="40000"/>
                  </a:schemeClr>
                </a:solidFill>
              </a:rPr>
              <a:t>Cite page numbers or sections when available.</a:t>
            </a:r>
            <a:endParaRPr lang="en-IN" sz="3200" b="1" i="1">
              <a:solidFill>
                <a:schemeClr val="accent6">
                  <a:lumMod val="60000"/>
                  <a:lumOff val="40000"/>
                </a:schemeClr>
              </a:solidFill>
            </a:endParaRPr>
          </a:p>
        </p:txBody>
      </p:sp>
    </p:spTree>
    <p:extLst>
      <p:ext uri="{BB962C8B-B14F-4D97-AF65-F5344CB8AC3E}">
        <p14:creationId xmlns:p14="http://schemas.microsoft.com/office/powerpoint/2010/main" val="1633232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6D682E8-0BE5-890D-F02B-EC064BBE47A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C011C9-A8F2-E259-FBA8-2E709D7233B2}"/>
              </a:ext>
            </a:extLst>
          </p:cNvPr>
          <p:cNvSpPr txBox="1"/>
          <p:nvPr/>
        </p:nvSpPr>
        <p:spPr>
          <a:xfrm>
            <a:off x="124968" y="133060"/>
            <a:ext cx="11686032" cy="461665"/>
          </a:xfrm>
          <a:prstGeom prst="rect">
            <a:avLst/>
          </a:prstGeom>
          <a:noFill/>
        </p:spPr>
        <p:txBody>
          <a:bodyPr wrap="square">
            <a:spAutoFit/>
          </a:bodyPr>
          <a:lstStyle/>
          <a:p>
            <a:r>
              <a:rPr lang="en-IN" sz="2400">
                <a:solidFill>
                  <a:schemeClr val="accent6">
                    <a:lumMod val="60000"/>
                    <a:lumOff val="40000"/>
                  </a:schemeClr>
                </a:solidFill>
              </a:rPr>
              <a:t>Sample output</a:t>
            </a:r>
            <a:endParaRPr lang="en-IN" sz="3200" b="1" i="1">
              <a:solidFill>
                <a:schemeClr val="accent6">
                  <a:lumMod val="60000"/>
                  <a:lumOff val="40000"/>
                </a:schemeClr>
              </a:solidFill>
            </a:endParaRPr>
          </a:p>
        </p:txBody>
      </p:sp>
      <p:pic>
        <p:nvPicPr>
          <p:cNvPr id="3" name="Picture 2">
            <a:extLst>
              <a:ext uri="{FF2B5EF4-FFF2-40B4-BE49-F238E27FC236}">
                <a16:creationId xmlns:a16="http://schemas.microsoft.com/office/drawing/2014/main" id="{F4AF17A7-5789-5565-D32C-F5C8733A4701}"/>
              </a:ext>
            </a:extLst>
          </p:cNvPr>
          <p:cNvPicPr>
            <a:picLocks noChangeAspect="1"/>
          </p:cNvPicPr>
          <p:nvPr/>
        </p:nvPicPr>
        <p:blipFill>
          <a:blip r:embed="rId3"/>
          <a:stretch>
            <a:fillRect/>
          </a:stretch>
        </p:blipFill>
        <p:spPr>
          <a:xfrm>
            <a:off x="313944" y="891810"/>
            <a:ext cx="11024616" cy="5833130"/>
          </a:xfrm>
          <a:prstGeom prst="rect">
            <a:avLst/>
          </a:prstGeom>
        </p:spPr>
      </p:pic>
    </p:spTree>
    <p:extLst>
      <p:ext uri="{BB962C8B-B14F-4D97-AF65-F5344CB8AC3E}">
        <p14:creationId xmlns:p14="http://schemas.microsoft.com/office/powerpoint/2010/main" val="33552771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TotalTime>
  <Words>736</Words>
  <Application>Microsoft Office PowerPoint</Application>
  <PresentationFormat>Widescreen</PresentationFormat>
  <Paragraphs>54</Paragraphs>
  <Slides>13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23</cp:revision>
  <dcterms:created xsi:type="dcterms:W3CDTF">2026-09-25T02:37:34Z</dcterms:created>
  <dcterms:modified xsi:type="dcterms:W3CDTF">2026-10-10T05:15:58Z</dcterms:modified>
</cp:coreProperties>
</file>