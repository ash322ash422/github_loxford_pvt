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7" r:id="rId2"/>
    <p:sldId id="279" r:id="rId3"/>
    <p:sldId id="297" r:id="rId4"/>
    <p:sldId id="298" r:id="rId5"/>
    <p:sldId id="292" r:id="rId6"/>
    <p:sldId id="293" r:id="rId7"/>
    <p:sldId id="291" r:id="rId8"/>
    <p:sldId id="276" r:id="rId9"/>
    <p:sldId id="277" r:id="rId10"/>
    <p:sldId id="278" r:id="rId11"/>
    <p:sldId id="275" r:id="rId12"/>
    <p:sldId id="281" r:id="rId13"/>
    <p:sldId id="282" r:id="rId14"/>
    <p:sldId id="283" r:id="rId15"/>
    <p:sldId id="284" r:id="rId16"/>
    <p:sldId id="285" r:id="rId17"/>
    <p:sldId id="280" r:id="rId18"/>
    <p:sldId id="286" r:id="rId19"/>
    <p:sldId id="289" r:id="rId20"/>
    <p:sldId id="288" r:id="rId21"/>
    <p:sldId id="290" r:id="rId22"/>
    <p:sldId id="287" r:id="rId23"/>
    <p:sldId id="299" r:id="rId24"/>
    <p:sldId id="295" r:id="rId25"/>
    <p:sldId id="300" r:id="rId26"/>
    <p:sldId id="296" r:id="rId27"/>
    <p:sldId id="294" r:id="rId28"/>
    <p:sldId id="302" r:id="rId29"/>
    <p:sldId id="303" r:id="rId30"/>
    <p:sldId id="304" r:id="rId31"/>
    <p:sldId id="301" r:id="rId32"/>
    <p:sldId id="310" r:id="rId33"/>
    <p:sldId id="311" r:id="rId34"/>
    <p:sldId id="312" r:id="rId35"/>
    <p:sldId id="305" r:id="rId36"/>
    <p:sldId id="306" r:id="rId37"/>
    <p:sldId id="308" r:id="rId38"/>
    <p:sldId id="307" r:id="rId39"/>
    <p:sldId id="30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10:17.4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1 431 24575,'0'-1'0,"0"1"0,0-1 0,0 1 0,0-1 0,0 1 0,0-1 0,1 1 0,-1-1 0,0 1 0,0-1 0,0 1 0,1-1 0,-1 1 0,0-1 0,1 1 0,-1 0 0,0-1 0,1 1 0,-1-1 0,0 1 0,1 0 0,-1 0 0,1-1 0,-1 1 0,1 0 0,-1-1 0,1 1 0,-1 0 0,1 0 0,-1 0 0,1 0 0,-1 0 0,1 0 0,-1-1 0,1 1 0,-1 0 0,1 0 0,-1 1 0,1-1 0,-1 0 0,1 0 0,-1 0 0,1 0 0,-1 0 0,1 0 0,-1 1 0,1-1 0,-1 0 0,1 0 0,-1 1 0,1-1 0,-1 0 0,0 1 0,1-1 0,-1 1 0,1-1 0,26 20 0,26 49 0,-43-54 0,0 0 0,2-1 0,-1 0 0,22 18 0,-30-30 0,1 1 0,-1-2 0,1 1 0,0 0 0,-1-1 0,1 1 0,0-1 0,0 0 0,0-1 0,0 1 0,0-1 0,0 1 0,0-1 0,0 0 0,0-1 0,0 1 0,0-1 0,0 0 0,0 0 0,0 0 0,0 0 0,0-1 0,-1 1 0,1-1 0,5-3 0,8-5 0,0-1 0,-1-1 0,27-24 0,20-19 0,130-126 0,-185 171 0,-1-1 0,0 1 0,0-1 0,-1-1 0,0 1 0,4-15 0,23-39 0,-18 43-341,2 1 0,0 0-1,34-30 1,-20 24-6485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10:24.7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1961 54 24575,'0'-2'0,"0"1"0,-1-1 0,1 1 0,0-1 0,0 1 0,-1-1 0,1 1 0,-1 0 0,0-1 0,1 1 0,-1 0 0,0-1 0,0 1 0,0 0 0,1 0 0,-1-1 0,-1 1 0,1 0 0,0 0 0,0 0 0,0 1 0,0-1 0,-1 0 0,1 0 0,0 1 0,-1-1 0,1 0 0,-1 1 0,-2-1 0,-53-6 0,36 6 0,-747-10 0,446 14 0,299-4 0,-1 2 0,2 0 0,-1 2 0,0 0 0,0 2 0,1 0 0,-29 12 0,28-8 0,-56 22 0,-107 58 0,164-77 0,1 1 0,1 1 0,0 1 0,1 1 0,0 0 0,2 2 0,0 0 0,0 0 0,-22 36 0,31-38 0,0 0 0,1 1 0,0 0 0,2 1 0,0-1 0,1 1 0,0 0 0,2 0 0,0 1 0,1 23 0,1-20 0,2 0 0,0 0 0,2 0 0,0 0 0,1 0 0,2-1 0,0 0 0,10 21 0,-12-33 0,0-1 0,0 0 0,0 0 0,1 0 0,1-1 0,-1 0 0,1 0 0,0 0 0,0-1 0,1 0 0,0-1 0,0 1 0,1-2 0,13 7 0,7 0 0,0-1 0,2-2 0,35 5 0,9 4 0,54 14 0,238 25 0,-362-56 0,469 25 0,-362-24 0,109-3 0,-204-1 0,0-1 0,-1-1 0,0 0 0,0-1 0,0-1 0,0 0 0,-1-1 0,0-1 0,-1 0 0,18-15 0,42-24 0,-61 40 0,22-11 0,53-39 0,-79 51 0,-1 0 0,1-1 0,-1 0 0,0 0 0,-1-1 0,0 0 0,-1 0 0,0-1 0,0 0 0,7-16 0,10-38 0,15-72 0,-32 109 0,-1-1 0,-1 0 0,-2 0 0,0 0 0,-4-40 0,0 59 0,-1 0 0,0 0 0,0 0 0,0 0 0,-1 1 0,-1 0 0,1 0 0,-1 0 0,-1 0 0,1 1 0,-1-1 0,-1 1 0,1 1 0,-10-8 0,-12-10 0,-2 2 0,-35-21 0,-10-6-1365,53 33-5461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14:50.7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0 264 24575,'1'21'0,"0"0"0,2 0 0,0 0 0,7 24 0,-8-36 0,1 0 0,0 0 0,0-1 0,1 0 0,0 1 0,1-1 0,0-1 0,0 1 0,0-1 0,1 0 0,0 0 0,8 7 0,-10-12 0,1 1 0,0-1 0,-1 0 0,1 0 0,0 0 0,0-1 0,0 1 0,0-1 0,1-1 0,-1 1 0,0-1 0,0 0 0,0 0 0,1 0 0,-1-1 0,0 1 0,0-1 0,0-1 0,0 1 0,0-1 0,6-2 0,9-5 0,-1 0 0,1-1 0,32-23 0,-18 8 24,-2-2 0,0-1 0,-2-2 0,43-55 0,-20 14-767,52-92 1,-94 143-6084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14:53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467 51 24575,'0'-1'0,"-1"0"0,0 0 0,1 0 0,-1 0 0,0 0 0,1 0 0,-1 0 0,0 1 0,0-1 0,1 0 0,-1 0 0,0 1 0,0-1 0,0 1 0,0-1 0,0 1 0,0-1 0,0 1 0,0-1 0,-1 1 0,1 0 0,0 0 0,-2-1 0,-34-6 0,27 6 0,-49-10 0,-1 3 0,0 3 0,-67 2 0,123 3 0,0 0 0,-1 0 0,1 1 0,-1-1 0,1 1 0,0 0 0,0 1 0,-1-1 0,1 1 0,0-1 0,0 1 0,0 0 0,1 1 0,-7 3 0,8-3 0,-1 0 0,1 0 0,0 0 0,0 1 0,0-1 0,0 1 0,1-1 0,-1 1 0,1 0 0,0-1 0,0 1 0,0 0 0,1 0 0,-1 0 0,1 0 0,0 5 0,5 216 0,0-48 0,-7 35 0,5 230 0,5-367 0,34 141 0,-26-152 0,-3 0 0,-2 1 0,1 74 0,-6-41 0,4 0 0,27 113 0,2 21 0,-30-127 0,-9 175 0,0 8 0,1-284 0,-1 1 0,1-1 0,0 0 0,0 1 0,1-1 0,0 0 0,-1 0 0,1 0 0,0 0 0,1 0 0,-1 0 0,1-1 0,0 1 0,0-1 0,0 1 0,0-1 0,0 0 0,1-1 0,-1 1 0,1 0 0,0-1 0,4 2 0,11 5 0,0-1 0,0-1 0,33 8 0,-13-4 0,472 162-1365,-444-150-5461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14:56.3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23380,'2108'76'0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17:27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667 2 24575,'-143'-1'0,"-155"3"0,290-1 0,1 1 0,0-1 0,0 1 0,1 0 0,-1 1 0,0 0 0,1 0 0,-1 0 0,1 1 0,0 0 0,0 0 0,1 1 0,-1-1 0,1 1 0,0 1 0,0-1 0,1 0 0,-1 1 0,1 0 0,0 0 0,1 1 0,0-1 0,-4 9 0,-6 18 0,2-1 0,0 2 0,-8 48 0,17-70 0,-11 62 0,3 0 0,0 81 0,12 153 0,2-107 0,-4-178 0,-2 31 0,4 1 0,1 0 0,21 99 0,-23-149 0,1 0 0,0-1 0,0 1 0,0 0 0,1-1 0,0 0 0,0 0 0,0 0 0,0 0 0,0 0 0,1-1 0,0 1 0,0-1 0,0 0 0,0 0 0,0 0 0,0-1 0,1 1 0,0-1 0,-1 0 0,1-1 0,0 1 0,8 1 0,14 2 0,-1-1 0,1-1 0,38-2 0,-26 0 0,654 2-426,-573-4-513,-15 0-5887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17:30.5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1296 24575,'1'-1'0,"1"0"0,-1 0 0,0 0 0,0 0 0,0 0 0,1 0 0,-1 1 0,0-1 0,1 0 0,-1 1 0,0-1 0,1 1 0,-1 0 0,1-1 0,-1 1 0,1 0 0,-1 0 0,1 0 0,-1 0 0,1 0 0,2 1 0,0 0 0,0 0 0,0 0 0,0 1 0,-1 0 0,1 0 0,0 0 0,6 5 0,2 3 0,0 1 0,-1 0 0,12 14 0,3 10 0,45 78 0,-48-74 0,1-1 0,29 35 0,-51-71 0,-1 0 0,0-1 0,1 1 0,0-1 0,-1 1 0,1-1 0,0 0 0,0 1 0,0-1 0,0 0 0,0-1 0,0 1 0,0 0 0,0 0 0,0-1 0,0 1 0,0-1 0,1 0 0,-1 0 0,0 1 0,3-2 0,-1 1 0,0-1 0,1 0 0,-1-1 0,0 1 0,0-1 0,0 0 0,0 0 0,0 0 0,-1 0 0,5-4 0,9-8 0,-1-1 0,-1-1 0,20-26 0,-30 36 0,230-327 0,-128 173 0,576-795 0,-619 862-1365,-49 70-5461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29:32.1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1 434 24575,'2'15'0,"0"0"0,1 0 0,1-1 0,0 1 0,1-1 0,1 0 0,13 25 0,-1-1 0,11 32 0,-11-25 0,3 0 0,27 47 0,-47-90 0,0 0 0,0-1 0,1 1 0,-1 0 0,0-1 0,1 1 0,-1-1 0,1 1 0,-1-1 0,1 0 0,0 1 0,-1-1 0,1 0 0,0 0 0,0 0 0,0-1 0,0 1 0,0 0 0,0-1 0,0 1 0,0-1 0,0 0 0,0 1 0,0-1 0,0 0 0,0 0 0,0-1 0,3 1 0,2-3 0,0 1 0,0-1 0,0 0 0,0-1 0,-1 1 0,0-1 0,10-8 0,172-145 0,-61 48 0,436-325 0,-435 338 0,-78 60-1365,-15 12-5461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29:36.7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53 24575,'1280'0'0,"-1254"-1"0,0-2 0,-1-1 0,48-14 0,-47 11 0,1 0 0,0 2 0,43-3 0,299 11-1365,-335-3-5461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29:38.0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24575,'5'0'0,"5"0"0,14 0 0,16 0 0,23 0 0,17 0 0,13 0 0,17 0 0,6 0 0,2 0 0,-7 0 0,-10 0 0,-17 0 0,-14 0 0,-19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29:39.4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80 24575,'0'-1'0,"1"-1"0,0 0 0,0 1 0,0-1 0,1 1 0,-1-1 0,0 1 0,0 0 0,1-1 0,-1 1 0,1 0 0,-1 0 0,1 0 0,0 0 0,-1 0 0,1 1 0,0-1 0,0 0 0,-1 1 0,1-1 0,0 1 0,0 0 0,2-1 0,1 0 0,44-12 0,1 2 0,100-8 0,107 11 0,-192 7 0,1032 0 93,-507 3-1551,-525-2-5368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29:40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 24575,'4'-5'0,"11"0"0,19-1 0,22 2 0,18 1 0,18 1 0,24 1 0,14 0 0,10 1 0,17 1 0,2-1 0,-12 0 0,-19 0 0,-21 0 0,-26 1 0,-26-1-8191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1:47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0 305 24575,'2'7'0,"-1"0"0,1-1 0,0 1 0,1-1 0,0 0 0,0 1 0,0-1 0,1 0 0,0-1 0,5 7 0,1 4 0,18 31 0,-18-27 0,2 0 0,18 23 0,-29-41 0,1 0 0,0 0 0,-1 0 0,1-1 0,0 1 0,0 0 0,0-1 0,1 0 0,-1 1 0,0-1 0,0 0 0,1 0 0,-1 0 0,1 0 0,-1-1 0,1 1 0,-1-1 0,1 0 0,-1 1 0,1-1 0,-1 0 0,1 0 0,-1-1 0,1 1 0,-1 0 0,1-1 0,-1 0 0,1 1 0,-1-1 0,0 0 0,1 0 0,-1-1 0,0 1 0,4-3 0,7-5 0,-1-1 0,0 0 0,-1-1 0,16-19 0,-18 20 0,162-208 129,-16 19-1623,-119 159-5332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1:49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0 356 24575,'5'4'0,"5"7"0,5 8 0,1 7 0,-3 3 0,0-4 0,4 3 0,1-4 0,12-14 0,14-22 0,16-26 0,15-28 0,4-21 0,-3-3 0,-1 0 0,-10 7 0,-15 17-8191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1:51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24575,'788'0'-1365,"-762"0"-5461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1:53.7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 24575,'0'-1'0,"1"1"0,-1-1 0,0 0 0,1 1 0,-1-1 0,1 0 0,-1 1 0,1-1 0,-1 1 0,1-1 0,0 1 0,-1-1 0,1 1 0,0-1 0,-1 1 0,1 0 0,0-1 0,-1 1 0,1 0 0,0 0 0,0-1 0,-1 1 0,1 0 0,0 0 0,1 0 0,27-4 0,-23 3 0,584-12 0,-376 16 0,278-3-1365,-430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1:54.6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79 24575,'4'-4'0,"19"-6"0,32-6 0,36 1 0,28 2 0,26 3 0,21 4 0,13 3 0,-6 1 0,-20 2 0,-23 1 0,-30-1 0,-31 1-8191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1:56.4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 24575,'0'-5'0,"4"-1"0,11 1 0,19 0 0,30 2 0,48 1 0,43 1 0,43 1 0,22 0 0,-9 0 0,-31 0 0,-47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1:58.0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24063,'915'0'0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00.7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24575,'788'0'-1365,"-766"0"-5461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03.8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28 24575,'0'-5'0,"9"0"0,19-1 0,23 1 0,25 2 0,29 1 0,9 1 0,-1 1 0,-7 0 0,-13 0 0,-18 0 0,-17 0 0,-15 1 0,-9-1 0,-12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05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24575,'17'0'0,"23"-9"0,36-2 0,38 0 0,48-2 0,48 1 0,32 3 0,26 2 0,11 3 0,-3 2-622,-32 1 622,-43 1 0,-57 1-7569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06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24575,'4'-5'0,"19"0"0,23-1 0,24 2 0,24 1 0,24 1 0,15 1 0,1 1 0,-8 0 0,-18 0 0,-22 0 0,-27 0-8191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07.6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73 24575,'5'-5'0,"18"0"0,26-5 0,28 0 0,17 1 0,10 3 0,14 1 0,-1-1 0,-7-1 0,-18 1 0,-25 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08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98 24575,'0'-4'0,"17"-7"0,37 0 0,42 1 0,37 3 0,11-3 0,9 2 0,-14-4 0,-26 2 0,-24 1 0,-27 3-8191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4T16:42:41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customXml" Target="../ink/ink4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30.png"/><Relationship Id="rId18" Type="http://schemas.openxmlformats.org/officeDocument/2006/relationships/customXml" Target="../ink/ink20.xml"/><Relationship Id="rId26" Type="http://schemas.openxmlformats.org/officeDocument/2006/relationships/customXml" Target="../ink/ink24.xml"/><Relationship Id="rId3" Type="http://schemas.openxmlformats.org/officeDocument/2006/relationships/image" Target="../media/image25.png"/><Relationship Id="rId21" Type="http://schemas.openxmlformats.org/officeDocument/2006/relationships/image" Target="../media/image34.png"/><Relationship Id="rId7" Type="http://schemas.openxmlformats.org/officeDocument/2006/relationships/image" Target="../media/image27.png"/><Relationship Id="rId12" Type="http://schemas.openxmlformats.org/officeDocument/2006/relationships/customXml" Target="../ink/ink17.xml"/><Relationship Id="rId17" Type="http://schemas.openxmlformats.org/officeDocument/2006/relationships/image" Target="../media/image32.png"/><Relationship Id="rId25" Type="http://schemas.openxmlformats.org/officeDocument/2006/relationships/image" Target="../media/image36.png"/><Relationship Id="rId2" Type="http://schemas.openxmlformats.org/officeDocument/2006/relationships/image" Target="../media/image24.png"/><Relationship Id="rId16" Type="http://schemas.openxmlformats.org/officeDocument/2006/relationships/customXml" Target="../ink/ink19.xml"/><Relationship Id="rId20" Type="http://schemas.openxmlformats.org/officeDocument/2006/relationships/customXml" Target="../ink/ink21.xml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29.png"/><Relationship Id="rId24" Type="http://schemas.openxmlformats.org/officeDocument/2006/relationships/customXml" Target="../ink/ink23.xml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23" Type="http://schemas.openxmlformats.org/officeDocument/2006/relationships/image" Target="../media/image35.png"/><Relationship Id="rId28" Type="http://schemas.openxmlformats.org/officeDocument/2006/relationships/customXml" Target="../ink/ink25.xml"/><Relationship Id="rId10" Type="http://schemas.openxmlformats.org/officeDocument/2006/relationships/customXml" Target="../ink/ink16.xml"/><Relationship Id="rId19" Type="http://schemas.openxmlformats.org/officeDocument/2006/relationships/image" Target="../media/image33.png"/><Relationship Id="rId4" Type="http://schemas.openxmlformats.org/officeDocument/2006/relationships/customXml" Target="../ink/ink13.xml"/><Relationship Id="rId9" Type="http://schemas.openxmlformats.org/officeDocument/2006/relationships/image" Target="../media/image28.png"/><Relationship Id="rId14" Type="http://schemas.openxmlformats.org/officeDocument/2006/relationships/customXml" Target="../ink/ink18.xml"/><Relationship Id="rId22" Type="http://schemas.openxmlformats.org/officeDocument/2006/relationships/customXml" Target="../ink/ink22.xml"/><Relationship Id="rId27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0021-1FB5-1ACC-CF6F-A3357CD0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E46D2B-6A30-2CB4-29E8-64519DF69147}"/>
              </a:ext>
            </a:extLst>
          </p:cNvPr>
          <p:cNvSpPr txBox="1"/>
          <p:nvPr/>
        </p:nvSpPr>
        <p:spPr>
          <a:xfrm>
            <a:off x="2834640" y="2249424"/>
            <a:ext cx="4530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DEMONSTRATE using Julius AI</a:t>
            </a:r>
          </a:p>
        </p:txBody>
      </p:sp>
    </p:spTree>
    <p:extLst>
      <p:ext uri="{BB962C8B-B14F-4D97-AF65-F5344CB8AC3E}">
        <p14:creationId xmlns:p14="http://schemas.microsoft.com/office/powerpoint/2010/main" val="417232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7EA0C-8947-5C73-0745-C7E3C698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11F15-86F5-522E-39C7-6EB7EFFE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107145"/>
            <a:ext cx="10573512" cy="56557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2C4B183-6520-5D31-AD83-BF01678A34AA}"/>
                  </a:ext>
                </a:extLst>
              </p14:cNvPr>
              <p14:cNvContentPartPr/>
              <p14:nvPr/>
            </p14:nvContentPartPr>
            <p14:xfrm>
              <a:off x="2304144" y="5587416"/>
              <a:ext cx="305640" cy="223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2C4B183-6520-5D31-AD83-BF01678A34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6123" y="5569416"/>
                <a:ext cx="341322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297BF49-F774-BF3B-937E-7D8618C9554A}"/>
                  </a:ext>
                </a:extLst>
              </p14:cNvPr>
              <p14:cNvContentPartPr/>
              <p14:nvPr/>
            </p14:nvContentPartPr>
            <p14:xfrm>
              <a:off x="1314864" y="1187496"/>
              <a:ext cx="816840" cy="386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297BF49-F774-BF3B-937E-7D8618C955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6864" y="1169479"/>
                <a:ext cx="852480" cy="4219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30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642FA-CB60-0B55-77A3-D7CFC993F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5C710-9EF9-7778-4E83-F0ACED89D6E9}"/>
              </a:ext>
            </a:extLst>
          </p:cNvPr>
          <p:cNvSpPr txBox="1"/>
          <p:nvPr/>
        </p:nvSpPr>
        <p:spPr>
          <a:xfrm>
            <a:off x="2834640" y="2249424"/>
            <a:ext cx="3349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descriptive stats</a:t>
            </a:r>
          </a:p>
        </p:txBody>
      </p:sp>
    </p:spTree>
    <p:extLst>
      <p:ext uri="{BB962C8B-B14F-4D97-AF65-F5344CB8AC3E}">
        <p14:creationId xmlns:p14="http://schemas.microsoft.com/office/powerpoint/2010/main" val="88843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2F815-72B8-659B-2E97-1D3598D49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922F7F-262C-398C-6722-B865D3055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49" y="2274657"/>
            <a:ext cx="9550358" cy="4583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ED29DB-2FAF-06C1-8BCD-E2D4C96D6C62}"/>
              </a:ext>
            </a:extLst>
          </p:cNvPr>
          <p:cNvSpPr txBox="1"/>
          <p:nvPr/>
        </p:nvSpPr>
        <p:spPr>
          <a:xfrm>
            <a:off x="347472" y="301752"/>
            <a:ext cx="10142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count, min, max , standard deviation, 25</a:t>
            </a:r>
            <a:r>
              <a:rPr lang="en-US" sz="2400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percentile of mpg column</a:t>
            </a:r>
          </a:p>
        </p:txBody>
      </p:sp>
    </p:spTree>
    <p:extLst>
      <p:ext uri="{BB962C8B-B14F-4D97-AF65-F5344CB8AC3E}">
        <p14:creationId xmlns:p14="http://schemas.microsoft.com/office/powerpoint/2010/main" val="306137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A724-4ACB-5D93-D5C2-55BFCC72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0ED3D3-8339-D6BB-9D03-2BC8729C2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134727"/>
            <a:ext cx="8176022" cy="65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26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CBF64-34E7-774A-8825-1C3321F33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62BC14-7C1E-D9B4-DF6E-C47673687D80}"/>
              </a:ext>
            </a:extLst>
          </p:cNvPr>
          <p:cNvSpPr txBox="1"/>
          <p:nvPr/>
        </p:nvSpPr>
        <p:spPr>
          <a:xfrm>
            <a:off x="1499616" y="35661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A25FE1-67E0-C973-4635-CA72CA873EA0}"/>
              </a:ext>
            </a:extLst>
          </p:cNvPr>
          <p:cNvSpPr txBox="1"/>
          <p:nvPr/>
        </p:nvSpPr>
        <p:spPr>
          <a:xfrm>
            <a:off x="1152144" y="1018092"/>
            <a:ext cx="90068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→ Analysis (CORE Julius strength)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with simple prompts: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correlation between horsepower and mpg”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factors affect MPG the most?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trends over model years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Julius will: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auto-generate code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visualize results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Key point: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“This replaces manual pandas + matplotlib coding”</a:t>
            </a:r>
          </a:p>
        </p:txBody>
      </p:sp>
    </p:spTree>
    <p:extLst>
      <p:ext uri="{BB962C8B-B14F-4D97-AF65-F5344CB8AC3E}">
        <p14:creationId xmlns:p14="http://schemas.microsoft.com/office/powerpoint/2010/main" val="1857716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A73D3-355C-300D-E796-DD7A99E1B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701767"/>
            <a:ext cx="9536375" cy="59960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47BDCF-4BE3-FC8A-D64A-56AF270A0975}"/>
                  </a:ext>
                </a:extLst>
              </p14:cNvPr>
              <p14:cNvContentPartPr/>
              <p14:nvPr/>
            </p14:nvContentPartPr>
            <p14:xfrm>
              <a:off x="5522904" y="764496"/>
              <a:ext cx="245160" cy="18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47BDCF-4BE3-FC8A-D64A-56AF270A09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4904" y="746496"/>
                <a:ext cx="2808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360F6F-BEC3-9353-64DA-D7BEAF8A496E}"/>
                  </a:ext>
                </a:extLst>
              </p14:cNvPr>
              <p14:cNvContentPartPr/>
              <p14:nvPr/>
            </p14:nvContentPartPr>
            <p14:xfrm>
              <a:off x="1651464" y="2285856"/>
              <a:ext cx="360000" cy="1227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360F6F-BEC3-9353-64DA-D7BEAF8A49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3464" y="2267856"/>
                <a:ext cx="395640" cy="12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AAB9E21-C940-1C5B-4BB2-E4BF9D520AEB}"/>
                  </a:ext>
                </a:extLst>
              </p14:cNvPr>
              <p14:cNvContentPartPr/>
              <p14:nvPr/>
            </p14:nvContentPartPr>
            <p14:xfrm>
              <a:off x="2971584" y="5797296"/>
              <a:ext cx="759240" cy="27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AAB9E21-C940-1C5B-4BB2-E4BF9D520A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3584" y="5779296"/>
                <a:ext cx="794880" cy="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81CD5-6B1F-88CA-DDEF-935B5F73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3049CF-F9FD-89DF-E6A8-9D51A622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8013"/>
            <a:ext cx="10701528" cy="41053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BF15AE-3AA5-EEBF-8150-9D1CC86899C1}"/>
                  </a:ext>
                </a:extLst>
              </p14:cNvPr>
              <p14:cNvContentPartPr/>
              <p14:nvPr/>
            </p14:nvContentPartPr>
            <p14:xfrm>
              <a:off x="948744" y="2358216"/>
              <a:ext cx="442080" cy="560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BF15AE-3AA5-EEBF-8150-9D1CC86899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1104" y="2340576"/>
                <a:ext cx="47772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33B0CB-61B0-3FEB-9CF0-1A0F112C52D3}"/>
                  </a:ext>
                </a:extLst>
              </p14:cNvPr>
              <p14:cNvContentPartPr/>
              <p14:nvPr/>
            </p14:nvContentPartPr>
            <p14:xfrm>
              <a:off x="7552944" y="1664136"/>
              <a:ext cx="579600" cy="604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33B0CB-61B0-3FEB-9CF0-1A0F112C52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4944" y="1646496"/>
                <a:ext cx="615240" cy="64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892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807E-38BF-C1A8-47E2-304C666CC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48EE029-1BFA-0E04-B359-0EACC0AE6B6D}"/>
              </a:ext>
            </a:extLst>
          </p:cNvPr>
          <p:cNvSpPr txBox="1"/>
          <p:nvPr/>
        </p:nvSpPr>
        <p:spPr>
          <a:xfrm>
            <a:off x="585216" y="301752"/>
            <a:ext cx="7863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compare with our python  code that was done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8012FB-4217-734B-4005-54A4D76FE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7" y="763417"/>
            <a:ext cx="6058746" cy="2010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9BAB9-52E5-0F1C-FB2E-F0166003C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131" y="1956817"/>
            <a:ext cx="5781909" cy="473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9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66700" y="43019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2: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Deeper analysis of column mpg 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BBCE5-CF6F-D415-B698-BD7FAAE8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7F21C9-65F8-1379-A843-9080A633094B}"/>
              </a:ext>
            </a:extLst>
          </p:cNvPr>
          <p:cNvSpPr txBox="1"/>
          <p:nvPr/>
        </p:nvSpPr>
        <p:spPr>
          <a:xfrm>
            <a:off x="266700" y="430197"/>
            <a:ext cx="1165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see which columns have lowest and highest correlation  with mpg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325E1B-EFE9-CEC4-E634-949AAB676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93" y="1179577"/>
            <a:ext cx="6829860" cy="2832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A3271A-719D-2808-F891-3D36B5042709}"/>
              </a:ext>
            </a:extLst>
          </p:cNvPr>
          <p:cNvSpPr txBox="1"/>
          <p:nvPr/>
        </p:nvSpPr>
        <p:spPr>
          <a:xfrm>
            <a:off x="266700" y="4551093"/>
            <a:ext cx="1165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the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 code, the answer is weight (-0.831) and acceleration (0.42)</a:t>
            </a:r>
          </a:p>
        </p:txBody>
      </p:sp>
    </p:spTree>
    <p:extLst>
      <p:ext uri="{BB962C8B-B14F-4D97-AF65-F5344CB8AC3E}">
        <p14:creationId xmlns:p14="http://schemas.microsoft.com/office/powerpoint/2010/main" val="2235679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ABEF0-6545-E0D4-067C-4C052B3F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E8C87E-BB88-5EC2-E43D-9FBC56DEB21D}"/>
              </a:ext>
            </a:extLst>
          </p:cNvPr>
          <p:cNvSpPr txBox="1"/>
          <p:nvPr/>
        </p:nvSpPr>
        <p:spPr>
          <a:xfrm>
            <a:off x="266700" y="430197"/>
            <a:ext cx="1165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Julius AI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BC1C8-604D-2FDB-304A-62F0E7883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208946"/>
            <a:ext cx="9042774" cy="54204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4D8121-9CEB-B27E-104F-7244C7DEF3AF}"/>
                  </a:ext>
                </a:extLst>
              </p14:cNvPr>
              <p14:cNvContentPartPr/>
              <p14:nvPr/>
            </p14:nvContentPartPr>
            <p14:xfrm>
              <a:off x="2313144" y="1617696"/>
              <a:ext cx="499320" cy="321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4D8121-9CEB-B27E-104F-7244C7DEF3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5504" y="1600056"/>
                <a:ext cx="53496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4891ED2-9392-1F45-6439-D3B000C0BA0A}"/>
                  </a:ext>
                </a:extLst>
              </p14:cNvPr>
              <p14:cNvContentPartPr/>
              <p14:nvPr/>
            </p14:nvContentPartPr>
            <p14:xfrm>
              <a:off x="6190344" y="4388256"/>
              <a:ext cx="714240" cy="19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4891ED2-9392-1F45-6439-D3B000C0BA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72344" y="4370256"/>
                <a:ext cx="7498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706BD7-2EE5-53F1-4652-51C0A69B3EF0}"/>
                  </a:ext>
                </a:extLst>
              </p14:cNvPr>
              <p14:cNvContentPartPr/>
              <p14:nvPr/>
            </p14:nvContentPartPr>
            <p14:xfrm>
              <a:off x="3163824" y="4425696"/>
              <a:ext cx="387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C706BD7-2EE5-53F1-4652-51C0A69B3E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45824" y="4407696"/>
                <a:ext cx="423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70F5086-B281-8282-9CF3-ED095E3FA0EC}"/>
                  </a:ext>
                </a:extLst>
              </p14:cNvPr>
              <p14:cNvContentPartPr/>
              <p14:nvPr/>
            </p14:nvContentPartPr>
            <p14:xfrm>
              <a:off x="4224384" y="4872456"/>
              <a:ext cx="852120" cy="28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70F5086-B281-8282-9CF3-ED095E3FA0E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06744" y="4854816"/>
                <a:ext cx="88776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B1C1C9C-862E-51C5-749E-78A4ABEB9448}"/>
                  </a:ext>
                </a:extLst>
              </p14:cNvPr>
              <p14:cNvContentPartPr/>
              <p14:nvPr/>
            </p14:nvContentPartPr>
            <p14:xfrm>
              <a:off x="7735824" y="4845816"/>
              <a:ext cx="538200" cy="9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1C1C9C-862E-51C5-749E-78A4ABEB944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17824" y="4827816"/>
                <a:ext cx="573840" cy="4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9828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E3F7-34AE-D804-E01F-E337C4DC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B4CEAA-6501-8B0B-918F-B71F222C6C07}"/>
              </a:ext>
            </a:extLst>
          </p:cNvPr>
          <p:cNvSpPr txBox="1"/>
          <p:nvPr/>
        </p:nvSpPr>
        <p:spPr>
          <a:xfrm>
            <a:off x="266700" y="430197"/>
            <a:ext cx="1165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3: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1568D-59CC-065C-EF67-2DB22ED8B2A6}"/>
              </a:ext>
            </a:extLst>
          </p:cNvPr>
          <p:cNvSpPr txBox="1"/>
          <p:nvPr/>
        </p:nvSpPr>
        <p:spPr>
          <a:xfrm>
            <a:off x="2523744" y="954084"/>
            <a:ext cx="76306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 Visualization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mpg across origin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Plot mpg vs weight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distribution of horsepower</a:t>
            </a:r>
          </a:p>
        </p:txBody>
      </p:sp>
    </p:spTree>
    <p:extLst>
      <p:ext uri="{BB962C8B-B14F-4D97-AF65-F5344CB8AC3E}">
        <p14:creationId xmlns:p14="http://schemas.microsoft.com/office/powerpoint/2010/main" val="784567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78A7-C744-2235-35AB-C10672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9C1E07-4F91-002F-9B04-902E26F8DC7D}"/>
              </a:ext>
            </a:extLst>
          </p:cNvPr>
          <p:cNvSpPr txBox="1"/>
          <p:nvPr/>
        </p:nvSpPr>
        <p:spPr>
          <a:xfrm>
            <a:off x="266700" y="430197"/>
            <a:ext cx="1165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see which cars have better mpg: Is it Japan, Europe or USA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1A8CDF-2AA9-3E8A-F69A-297904EF2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9" y="877824"/>
            <a:ext cx="4338260" cy="1606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F6071-5C10-A5DC-94C7-0E649006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121" y="1195474"/>
            <a:ext cx="5911526" cy="46447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16B706-4F17-CE37-E6C6-2D35EAA66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53" y="4233481"/>
            <a:ext cx="4548106" cy="160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5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E0AE-4879-1D92-A577-04377FB4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0B50B9-FF4C-448E-3512-C88F17CF0DEB}"/>
              </a:ext>
            </a:extLst>
          </p:cNvPr>
          <p:cNvSpPr txBox="1"/>
          <p:nvPr/>
        </p:nvSpPr>
        <p:spPr>
          <a:xfrm>
            <a:off x="-41100" y="995013"/>
            <a:ext cx="2978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using Julius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F6615-D1F3-3D65-80F2-1E792711C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745" y="232152"/>
            <a:ext cx="7773485" cy="962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4C8803-7D64-06BD-49DF-010C78E85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745" y="1847088"/>
            <a:ext cx="8871786" cy="43155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D53AC3-DDFA-5FD0-E24C-02DC57E4BF1E}"/>
                  </a:ext>
                </a:extLst>
              </p14:cNvPr>
              <p14:cNvContentPartPr/>
              <p14:nvPr/>
            </p14:nvContentPartPr>
            <p14:xfrm>
              <a:off x="2395584" y="566856"/>
              <a:ext cx="235800" cy="198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D53AC3-DDFA-5FD0-E24C-02DC57E4BF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77584" y="548856"/>
                <a:ext cx="2714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99659F-7FF9-4B7A-06C5-128D926DE589}"/>
                  </a:ext>
                </a:extLst>
              </p14:cNvPr>
              <p14:cNvContentPartPr/>
              <p14:nvPr/>
            </p14:nvContentPartPr>
            <p14:xfrm>
              <a:off x="2386584" y="1974816"/>
              <a:ext cx="237960" cy="191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199659F-7FF9-4B7A-06C5-128D926DE5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8584" y="1956816"/>
                <a:ext cx="2736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3039EEA-8049-A1B2-3F24-FB7A5EAE7111}"/>
                  </a:ext>
                </a:extLst>
              </p14:cNvPr>
              <p14:cNvContentPartPr/>
              <p14:nvPr/>
            </p14:nvContentPartPr>
            <p14:xfrm>
              <a:off x="3675744" y="2642256"/>
              <a:ext cx="2934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3039EEA-8049-A1B2-3F24-FB7A5EAE71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57744" y="2624616"/>
                <a:ext cx="329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165FB17-3325-2E13-0630-DEBF3226DDD3}"/>
                  </a:ext>
                </a:extLst>
              </p14:cNvPr>
              <p14:cNvContentPartPr/>
              <p14:nvPr/>
            </p14:nvContentPartPr>
            <p14:xfrm>
              <a:off x="2752344" y="3016296"/>
              <a:ext cx="507960" cy="10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165FB17-3325-2E13-0630-DEBF3226DD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4344" y="2998296"/>
                <a:ext cx="5436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D8158B3-4AA3-74C2-91A0-392766FA26CF}"/>
                  </a:ext>
                </a:extLst>
              </p14:cNvPr>
              <p14:cNvContentPartPr/>
              <p14:nvPr/>
            </p14:nvContentPartPr>
            <p14:xfrm>
              <a:off x="3986784" y="3007296"/>
              <a:ext cx="506880" cy="28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D8158B3-4AA3-74C2-91A0-392766FA26C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68784" y="2989296"/>
                <a:ext cx="5425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EF34826-982E-8ACB-D9C8-A39013ECA5E4}"/>
                  </a:ext>
                </a:extLst>
              </p14:cNvPr>
              <p14:cNvContentPartPr/>
              <p14:nvPr/>
            </p14:nvContentPartPr>
            <p14:xfrm>
              <a:off x="7826904" y="3080736"/>
              <a:ext cx="477720" cy="10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EF34826-982E-8ACB-D9C8-A39013ECA5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09264" y="3063096"/>
                <a:ext cx="513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6915821-047D-B9D9-9382-8A70D748BDA6}"/>
                  </a:ext>
                </a:extLst>
              </p14:cNvPr>
              <p14:cNvContentPartPr/>
              <p14:nvPr/>
            </p14:nvContentPartPr>
            <p14:xfrm>
              <a:off x="9143784" y="2990016"/>
              <a:ext cx="3297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6915821-047D-B9D9-9382-8A70D748BDA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25784" y="2972016"/>
                <a:ext cx="365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B9098AC-1051-DDB4-D1D7-DDF5E2CFA2BA}"/>
                  </a:ext>
                </a:extLst>
              </p14:cNvPr>
              <p14:cNvContentPartPr/>
              <p14:nvPr/>
            </p14:nvContentPartPr>
            <p14:xfrm>
              <a:off x="2953224" y="3355776"/>
              <a:ext cx="2919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B9098AC-1051-DDB4-D1D7-DDF5E2CFA2B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35584" y="3337776"/>
                <a:ext cx="327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2FB0A0B-A7FC-44BC-734F-17D16D01D143}"/>
                  </a:ext>
                </a:extLst>
              </p14:cNvPr>
              <p14:cNvContentPartPr/>
              <p14:nvPr/>
            </p14:nvContentPartPr>
            <p14:xfrm>
              <a:off x="2770344" y="4013496"/>
              <a:ext cx="334080" cy="10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2FB0A0B-A7FC-44BC-734F-17D16D01D1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52704" y="3995856"/>
                <a:ext cx="369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9C76FFD-8B54-0DD9-D76A-6DD1D8FB945F}"/>
                  </a:ext>
                </a:extLst>
              </p14:cNvPr>
              <p14:cNvContentPartPr/>
              <p14:nvPr/>
            </p14:nvContentPartPr>
            <p14:xfrm>
              <a:off x="4032144" y="4031496"/>
              <a:ext cx="818640" cy="28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9C76FFD-8B54-0DD9-D76A-6DD1D8FB945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14504" y="4013496"/>
                <a:ext cx="8542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9913B9C-0CD8-10E3-C3F9-AC8956F6CA26}"/>
                  </a:ext>
                </a:extLst>
              </p14:cNvPr>
              <p14:cNvContentPartPr/>
              <p14:nvPr/>
            </p14:nvContentPartPr>
            <p14:xfrm>
              <a:off x="6720624" y="4041216"/>
              <a:ext cx="361080" cy="9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9913B9C-0CD8-10E3-C3F9-AC8956F6CA2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02984" y="4023576"/>
                <a:ext cx="3967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E2795B2-D9B4-19C6-127F-02781770C447}"/>
                  </a:ext>
                </a:extLst>
              </p14:cNvPr>
              <p14:cNvContentPartPr/>
              <p14:nvPr/>
            </p14:nvContentPartPr>
            <p14:xfrm>
              <a:off x="7872984" y="4024656"/>
              <a:ext cx="308520" cy="26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E2795B2-D9B4-19C6-127F-02781770C44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54984" y="4006656"/>
                <a:ext cx="3441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C818571-E53D-8651-3A52-B744A52DA290}"/>
                  </a:ext>
                </a:extLst>
              </p14:cNvPr>
              <p14:cNvContentPartPr/>
              <p14:nvPr/>
            </p14:nvContentPartPr>
            <p14:xfrm>
              <a:off x="9482184" y="3997296"/>
              <a:ext cx="360360" cy="35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C818571-E53D-8651-3A52-B744A52DA29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64184" y="3979296"/>
                <a:ext cx="396000" cy="7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0670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7F015-6824-DFFD-659F-B783443E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182AAA-B8DF-8CC5-BDE2-29B0083DED24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182AAA-B8DF-8CC5-BDE2-29B0083DED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433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A0B0750-872D-9E15-62F2-8DBBDFFDB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022" y="401976"/>
            <a:ext cx="8240275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5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63DC-741B-5738-B2F4-15BFB156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8B22C1-C117-B354-F805-30E83A77213A}"/>
              </a:ext>
            </a:extLst>
          </p:cNvPr>
          <p:cNvSpPr txBox="1"/>
          <p:nvPr/>
        </p:nvSpPr>
        <p:spPr>
          <a:xfrm>
            <a:off x="274320" y="933117"/>
            <a:ext cx="1165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4: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3BD0B8-79FB-09C7-CE56-9846417FF044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3BD0B8-79FB-09C7-CE56-9846417FF0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9393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5CC8-8F12-0DCF-F752-4A663649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A27680-5D9A-3C5A-5779-749089681819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A27680-5D9A-3C5A-5779-7490896818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B264B4-2796-0D54-EE15-781A5AFC489D}"/>
              </a:ext>
            </a:extLst>
          </p:cNvPr>
          <p:cNvSpPr txBox="1"/>
          <p:nvPr/>
        </p:nvSpPr>
        <p:spPr>
          <a:xfrm>
            <a:off x="105156" y="171143"/>
            <a:ext cx="956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ter"/>
              </a:rPr>
              <a:t>Compare the mpg and the model year. Has there been any correlation 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37D8F4-03A3-E0DA-FED5-D61873165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106" y="1149337"/>
            <a:ext cx="6402762" cy="50140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C16677-F06E-8265-3B6E-EF43F0F5C134}"/>
              </a:ext>
            </a:extLst>
          </p:cNvPr>
          <p:cNvSpPr txBox="1"/>
          <p:nvPr/>
        </p:nvSpPr>
        <p:spPr>
          <a:xfrm>
            <a:off x="105156" y="4602935"/>
            <a:ext cx="39639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ter"/>
              </a:rPr>
              <a:t>We see that with years, the mpg has been increasing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B5D0A6-E0B4-224C-4445-93516B655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808"/>
            <a:ext cx="5191027" cy="20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52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51E9C-B694-D39E-57B8-2B03786F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804928-BA97-F38B-E34F-DAEF128B95FA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804928-BA97-F38B-E34F-DAEF128B95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EE934FD-2B35-44B8-1AC3-6ACEF3AB5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603" y="178817"/>
            <a:ext cx="8564170" cy="885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2FE7CB-4737-E8FE-C6BA-675C32A08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100" y="1229359"/>
            <a:ext cx="9291336" cy="54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74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A76A1-DF84-6676-6D23-3AA57684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E76562-4353-60A6-043A-FDB61CFED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865" y="411479"/>
            <a:ext cx="7683846" cy="552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87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22F4-518A-1521-590C-00879F86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F08F93-FE64-5DCA-5124-0268FA0EB047}"/>
              </a:ext>
            </a:extLst>
          </p:cNvPr>
          <p:cNvSpPr txBox="1"/>
          <p:nvPr/>
        </p:nvSpPr>
        <p:spPr>
          <a:xfrm>
            <a:off x="896112" y="797510"/>
            <a:ext cx="62819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Cleaning via AI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MPG dataset often has missing horsepower.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“Check for missing values”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“Fill missing horsepower intelligently”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Julius will: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detect issues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 fixes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Key moment: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AI-assisted preprocessing vs manual cleaning</a:t>
            </a:r>
          </a:p>
        </p:txBody>
      </p:sp>
    </p:spTree>
    <p:extLst>
      <p:ext uri="{BB962C8B-B14F-4D97-AF65-F5344CB8AC3E}">
        <p14:creationId xmlns:p14="http://schemas.microsoft.com/office/powerpoint/2010/main" val="3038818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0F14B-D1F3-2499-AC86-6A259143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00E13B-FB5A-9EE3-BABA-A9688C4F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656727"/>
            <a:ext cx="4934639" cy="466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7C853-0372-5F21-C71D-60F055510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1302199"/>
            <a:ext cx="7680367" cy="425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34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79902-3042-3B12-6558-AB0DBABE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A9942B-5A8C-354F-F4CD-B2C139D3FA06}"/>
              </a:ext>
            </a:extLst>
          </p:cNvPr>
          <p:cNvSpPr txBox="1"/>
          <p:nvPr/>
        </p:nvSpPr>
        <p:spPr>
          <a:xfrm>
            <a:off x="1636776" y="828747"/>
            <a:ext cx="74112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Importance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“Which features impact mpg the most?”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Julius may: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importance ranking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Key points about AI tool: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explainability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reasoning</a:t>
            </a:r>
          </a:p>
        </p:txBody>
      </p:sp>
    </p:spTree>
    <p:extLst>
      <p:ext uri="{BB962C8B-B14F-4D97-AF65-F5344CB8AC3E}">
        <p14:creationId xmlns:p14="http://schemas.microsoft.com/office/powerpoint/2010/main" val="3037376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610A-FB50-18FE-956A-5ABA7042E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EFAD6-DDB5-AFD2-3B3A-28E05C559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978257"/>
            <a:ext cx="7074356" cy="57771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35BE19-B975-F212-DE24-63E1397E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10" y="102641"/>
            <a:ext cx="6203897" cy="75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076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D9EC-7137-1F34-AE19-88A85043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B17940-7153-E104-FAB5-D124F53D4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63" y="1408176"/>
            <a:ext cx="7786041" cy="43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50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625B-A03A-E2AB-FC76-806AF521E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65E138-BDD5-A838-FEB5-86C6C5448E95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65E138-BDD5-A838-FEB5-86C6C5448E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150FBF6-D9B8-9137-CD8D-D8410706D43D}"/>
              </a:ext>
            </a:extLst>
          </p:cNvPr>
          <p:cNvSpPr txBox="1"/>
          <p:nvPr/>
        </p:nvSpPr>
        <p:spPr>
          <a:xfrm>
            <a:off x="777240" y="477256"/>
            <a:ext cx="82067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ML Model (No Code ML)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“Build a model to predict mpg”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“Evaluate the model”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“Improve performance”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Julius handles: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train/test split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training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metrics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End-to-end ML pipeline in minutes</a:t>
            </a:r>
          </a:p>
        </p:txBody>
      </p:sp>
    </p:spTree>
    <p:extLst>
      <p:ext uri="{BB962C8B-B14F-4D97-AF65-F5344CB8AC3E}">
        <p14:creationId xmlns:p14="http://schemas.microsoft.com/office/powerpoint/2010/main" val="2868158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ED28-D5E4-B627-34F8-29DA963E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BC5647-DD1D-5621-9F8A-219C95642D31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BC5647-DD1D-5621-9F8A-219C95642D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3581C0A-5310-D2D5-3499-17E5DE7C0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62" y="77373"/>
            <a:ext cx="6820852" cy="2295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FD6926-F011-7D6A-D776-762BEC1A3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2296" y="2167128"/>
            <a:ext cx="7647881" cy="461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14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AB51A-D5BE-F8BC-3111-EC2ED7EC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EB0347-EB64-44BB-CB70-F5A390BE20C7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EB0347-EB64-44BB-CB70-F5A390BE20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38D19C7-8835-B655-0C04-65F30C14A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98" y="91280"/>
            <a:ext cx="5793401" cy="2487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629743-C6D1-842F-35D1-7E0A3D499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71" y="3493008"/>
            <a:ext cx="3705295" cy="3273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69666-323E-C518-B8C4-BEFF62A4D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594" y="205740"/>
            <a:ext cx="2459316" cy="382321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8AB148-0481-1B18-5010-86EA80B78112}"/>
              </a:ext>
            </a:extLst>
          </p:cNvPr>
          <p:cNvSpPr/>
          <p:nvPr/>
        </p:nvSpPr>
        <p:spPr>
          <a:xfrm rot="5400000">
            <a:off x="1731531" y="2830068"/>
            <a:ext cx="829893" cy="411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04D6680-9884-3D0F-3728-7A85CCFBA7E8}"/>
              </a:ext>
            </a:extLst>
          </p:cNvPr>
          <p:cNvSpPr/>
          <p:nvPr/>
        </p:nvSpPr>
        <p:spPr>
          <a:xfrm rot="13955014">
            <a:off x="5847054" y="1465227"/>
            <a:ext cx="530352" cy="43972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78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26840-6CDB-3A3B-4443-892AD2C0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DB171A-C75A-0D21-59E6-D250B10E81F9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DB171A-C75A-0D21-59E6-D250B10E81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395A29D-1340-6B64-F5F7-AE54D11A6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0" y="140918"/>
            <a:ext cx="3537784" cy="4498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13A9D5-0FD4-9281-EC9A-0F02EDC6D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3" y="5212080"/>
            <a:ext cx="3857166" cy="2077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A417AC-4122-39F1-C1AD-1220ED731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1359" y="1351273"/>
            <a:ext cx="7939701" cy="207772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E4229F8F-12F4-F787-1F23-BDC1F4EF294A}"/>
              </a:ext>
            </a:extLst>
          </p:cNvPr>
          <p:cNvSpPr/>
          <p:nvPr/>
        </p:nvSpPr>
        <p:spPr>
          <a:xfrm rot="18067352">
            <a:off x="3759510" y="4208641"/>
            <a:ext cx="2194362" cy="660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881A1E2-0288-4AB7-C998-F9767E382C19}"/>
              </a:ext>
            </a:extLst>
          </p:cNvPr>
          <p:cNvSpPr/>
          <p:nvPr/>
        </p:nvSpPr>
        <p:spPr>
          <a:xfrm>
            <a:off x="1982807" y="4696519"/>
            <a:ext cx="594360" cy="4583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88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07D4-03AB-92E9-923A-F74C62E92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2D7A95-7A33-8FD4-3E23-40D76CCA3F7B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2D7A95-7A33-8FD4-3E23-40D76CCA3F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D2B1A9C-5B4E-2AAF-5000-0DC2ABA72119}"/>
              </a:ext>
            </a:extLst>
          </p:cNvPr>
          <p:cNvSpPr txBox="1"/>
          <p:nvPr/>
        </p:nvSpPr>
        <p:spPr>
          <a:xfrm>
            <a:off x="100584" y="80278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 asked to improve the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C099BA-54FA-A96B-AA3A-8A851A591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005" y="615956"/>
            <a:ext cx="4753638" cy="495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030C9E-2799-7D01-42C4-3BC09956B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" y="1562365"/>
            <a:ext cx="7659169" cy="43916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6C980D-9EDF-DA8D-60EE-F1C90D8EA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671" y="2724912"/>
            <a:ext cx="3966940" cy="34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85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4A78-1BF2-84E2-7456-EF594B71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6BADC3-4824-9C24-C942-5E88DA8A80F8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6BADC3-4824-9C24-C942-5E88DA8A80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6C81BE6-0E52-BB06-2645-3773A8036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9" y="0"/>
            <a:ext cx="8249382" cy="3162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A5615-4D84-288A-5496-D9B23E243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619" y="3247012"/>
            <a:ext cx="7196312" cy="350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76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1C11-E6D7-7A98-F100-534EDB550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4FCFAE7-BE50-D8F3-E41D-40A43E5410E1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4FCFAE7-BE50-D8F3-E41D-40A43E5410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6F54A1E-737D-F79A-4754-D53B3F876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43" y="313906"/>
            <a:ext cx="7611537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56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48F79-3A7C-BCAC-082F-DC054E6C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A9A2633-9B64-988D-641B-ACACBD0098E2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A9A2633-9B64-988D-641B-ACACBD0098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6C5F9C7-B19C-2D0A-96AA-DE68556108C2}"/>
              </a:ext>
            </a:extLst>
          </p:cNvPr>
          <p:cNvSpPr txBox="1"/>
          <p:nvPr/>
        </p:nvSpPr>
        <p:spPr>
          <a:xfrm>
            <a:off x="1069848" y="592342"/>
            <a:ext cx="75209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Hypothesis Testing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cars from USA have lower mpg than Europe?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Julius may: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distributions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statistical reasoning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Data-driven conclusions</a:t>
            </a:r>
          </a:p>
        </p:txBody>
      </p:sp>
    </p:spTree>
    <p:extLst>
      <p:ext uri="{BB962C8B-B14F-4D97-AF65-F5344CB8AC3E}">
        <p14:creationId xmlns:p14="http://schemas.microsoft.com/office/powerpoint/2010/main" val="4054476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A4BB-EF64-485F-D137-6D316982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A1185D-00C5-BBAC-2AD5-48516ED44D11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A1185D-00C5-BBAC-2AD5-48516ED44D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B1B2CB-CC11-99C5-6350-55B0836A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53" y="117126"/>
            <a:ext cx="6693707" cy="859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572132-30EB-6F07-6D81-2744F1F81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53" y="1143721"/>
            <a:ext cx="7175837" cy="559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00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0241-A272-25C1-F0AF-BE801F5A4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1D1B6D-CD96-BC4A-F14E-2C724966D881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1D1B6D-CD96-BC4A-F14E-2C724966D8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3CD0428-F861-A034-246B-8FEB9938F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1" y="104024"/>
            <a:ext cx="7925906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56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D5C2-BD10-490B-2541-C9CD4804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99EEF2-B89D-20FB-583E-DD9DE8925758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99EEF2-B89D-20FB-583E-DD9DE89257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BD901FF-2643-6F6A-807F-FEC21B554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53" y="75987"/>
            <a:ext cx="7954485" cy="3048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BF51F5-CF53-58E8-3BE3-2857A2C9E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4443" y="1563624"/>
            <a:ext cx="6560575" cy="489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57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7DBB7-437D-2365-1CE7-E5AD2806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23BFBB4-3706-32A7-84D7-6500CC112011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23BFBB4-3706-32A7-84D7-6500CC1120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2518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5C7E6-F956-2E2B-C66A-67FE8EC5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EAAD7-817A-3948-06ED-2F1A3A6171B2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8307DD9-A449-39C2-9AD9-A771EDF57EAE}"/>
                  </a:ext>
                </a:extLst>
              </p14:cNvPr>
              <p14:cNvContentPartPr/>
              <p14:nvPr/>
            </p14:nvContentPartPr>
            <p14:xfrm>
              <a:off x="1298304" y="40197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8307DD9-A449-39C2-9AD9-A771EDF57E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04" y="38397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196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1339</TotalTime>
  <Words>367</Words>
  <Application>Microsoft Office PowerPoint</Application>
  <PresentationFormat>Widescreen</PresentationFormat>
  <Paragraphs>91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227</cp:revision>
  <dcterms:created xsi:type="dcterms:W3CDTF">2025-09-22T02:44:38Z</dcterms:created>
  <dcterms:modified xsi:type="dcterms:W3CDTF">2026-05-05T06:02:59Z</dcterms:modified>
</cp:coreProperties>
</file>