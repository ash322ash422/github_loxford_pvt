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80" r:id="rId3"/>
    <p:sldId id="276" r:id="rId4"/>
    <p:sldId id="275" r:id="rId5"/>
    <p:sldId id="278" r:id="rId6"/>
    <p:sldId id="279" r:id="rId7"/>
    <p:sldId id="27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oftware_framework" TargetMode="External"/><Relationship Id="rId2" Type="http://schemas.openxmlformats.org/officeDocument/2006/relationships/hyperlink" Target="https://en.wikipedia.org/wiki/Open-sourc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Large_language_model" TargetMode="External"/><Relationship Id="rId5" Type="http://schemas.openxmlformats.org/officeDocument/2006/relationships/hyperlink" Target="https://en.wikipedia.org/wiki/Artificial_intelligence" TargetMode="External"/><Relationship Id="rId4" Type="http://schemas.openxmlformats.org/officeDocument/2006/relationships/hyperlink" Target="https://en.wikipedia.org/wiki/Anthropic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578104" y="1918176"/>
            <a:ext cx="1029208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Context Protocol</a:t>
            </a:r>
          </a:p>
          <a:p>
            <a:pPr algn="ctr"/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(MCP)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DED66-F2AD-D6FA-C2AA-D74ED190A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23BA40D-A7B1-78A5-7CDE-BC15B662310B}"/>
              </a:ext>
            </a:extLst>
          </p:cNvPr>
          <p:cNvSpPr txBox="1"/>
          <p:nvPr/>
        </p:nvSpPr>
        <p:spPr>
          <a:xfrm>
            <a:off x="578104" y="1918176"/>
            <a:ext cx="102920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IN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Context Protocol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</a:t>
            </a:r>
            <a:r>
              <a:rPr lang="en-IN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MCP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is an 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 tooltip="Open-sour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open-source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3" tooltip="Software frame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framework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introduced by 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4" tooltip="Anthropi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November 2024 to standardize the way 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5" tooltip="Artificial intelligen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artificial intelligence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(AI) systems (like 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6" tooltip="Large language mod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large language models</a:t>
            </a:r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integrate and share data with external tools and data sources.</a:t>
            </a:r>
            <a:endParaRPr lang="en-US" sz="6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867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949960" y="819056"/>
            <a:ext cx="10292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MCP lets an AI assistant connect to external tools and data sources in a </a:t>
            </a:r>
            <a:r>
              <a:rPr lang="en-IN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standardized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way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0E220A-93B7-9DCD-490B-C40ABEA026A7}"/>
              </a:ext>
            </a:extLst>
          </p:cNvPr>
          <p:cNvSpPr txBox="1"/>
          <p:nvPr/>
        </p:nvSpPr>
        <p:spPr>
          <a:xfrm>
            <a:off x="284035" y="2091732"/>
            <a:ext cx="960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FLOW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3EBD03-C5E0-9ECB-B4F9-51C5FBEA4D3D}"/>
              </a:ext>
            </a:extLst>
          </p:cNvPr>
          <p:cNvSpPr/>
          <p:nvPr/>
        </p:nvSpPr>
        <p:spPr>
          <a:xfrm>
            <a:off x="1612392" y="2961232"/>
            <a:ext cx="1630680" cy="7709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>
                <a:solidFill>
                  <a:schemeClr val="bg1"/>
                </a:solidFill>
              </a:rPr>
              <a:t>AI assistant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B8E857-F883-C635-6F25-0895A3DC2FAD}"/>
              </a:ext>
            </a:extLst>
          </p:cNvPr>
          <p:cNvSpPr/>
          <p:nvPr/>
        </p:nvSpPr>
        <p:spPr>
          <a:xfrm>
            <a:off x="3830193" y="2939072"/>
            <a:ext cx="1630680" cy="7709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MCP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CCDC0F2-DC2D-EE7D-ECC4-28FC66DCF740}"/>
              </a:ext>
            </a:extLst>
          </p:cNvPr>
          <p:cNvSpPr/>
          <p:nvPr/>
        </p:nvSpPr>
        <p:spPr>
          <a:xfrm>
            <a:off x="6748272" y="1485900"/>
            <a:ext cx="2304288" cy="770944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Weather</a:t>
            </a:r>
          </a:p>
          <a:p>
            <a:pPr algn="ctr"/>
            <a:r>
              <a:rPr lang="en-US" sz="2000" dirty="0"/>
              <a:t>Tool</a:t>
            </a:r>
            <a:endParaRPr lang="en-IN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4625E8-8415-89C5-8B67-029598179CD1}"/>
              </a:ext>
            </a:extLst>
          </p:cNvPr>
          <p:cNvSpPr txBox="1"/>
          <p:nvPr/>
        </p:nvSpPr>
        <p:spPr>
          <a:xfrm>
            <a:off x="7036308" y="5372100"/>
            <a:ext cx="17876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 tool/data </a:t>
            </a:r>
            <a:endParaRPr lang="en-IN" sz="28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5D0A2A-2F70-B476-DEDF-BA7548849115}"/>
              </a:ext>
            </a:extLst>
          </p:cNvPr>
          <p:cNvSpPr/>
          <p:nvPr/>
        </p:nvSpPr>
        <p:spPr>
          <a:xfrm>
            <a:off x="6662928" y="2379202"/>
            <a:ext cx="2563368" cy="770944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Travel Booking</a:t>
            </a:r>
          </a:p>
          <a:p>
            <a:pPr algn="ctr"/>
            <a:r>
              <a:rPr lang="en-US" sz="2000" dirty="0"/>
              <a:t>Tool</a:t>
            </a:r>
            <a:endParaRPr lang="en-IN" sz="2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8C04B2C-65F6-5EC2-B0AF-2EAA76AC3468}"/>
              </a:ext>
            </a:extLst>
          </p:cNvPr>
          <p:cNvSpPr/>
          <p:nvPr/>
        </p:nvSpPr>
        <p:spPr>
          <a:xfrm>
            <a:off x="6662928" y="3234528"/>
            <a:ext cx="2563368" cy="770944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File Search</a:t>
            </a:r>
          </a:p>
          <a:p>
            <a:pPr algn="ctr"/>
            <a:r>
              <a:rPr lang="en-US" sz="2000" dirty="0"/>
              <a:t>Tool</a:t>
            </a:r>
            <a:endParaRPr lang="en-IN" sz="2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989E206-6CF4-87AB-132F-F04F5EDE07C1}"/>
              </a:ext>
            </a:extLst>
          </p:cNvPr>
          <p:cNvSpPr/>
          <p:nvPr/>
        </p:nvSpPr>
        <p:spPr>
          <a:xfrm>
            <a:off x="42418" y="2858896"/>
            <a:ext cx="963422" cy="8309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</a:t>
            </a:r>
            <a:endParaRPr lang="en-IN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CBC1BF1-2DA6-4053-9B82-4F8B4307C93A}"/>
              </a:ext>
            </a:extLst>
          </p:cNvPr>
          <p:cNvSpPr/>
          <p:nvPr/>
        </p:nvSpPr>
        <p:spPr>
          <a:xfrm>
            <a:off x="6662928" y="4272634"/>
            <a:ext cx="2563368" cy="770944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Data Search</a:t>
            </a:r>
          </a:p>
          <a:p>
            <a:pPr algn="ctr"/>
            <a:r>
              <a:rPr lang="en-US" sz="2000" dirty="0"/>
              <a:t>Tool</a:t>
            </a:r>
            <a:endParaRPr lang="en-IN" sz="2000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77A27EE-175C-6939-2DAC-FC0466C7BF54}"/>
              </a:ext>
            </a:extLst>
          </p:cNvPr>
          <p:cNvSpPr/>
          <p:nvPr/>
        </p:nvSpPr>
        <p:spPr>
          <a:xfrm>
            <a:off x="1087374" y="3081528"/>
            <a:ext cx="361950" cy="265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C5F0D6E2-C043-DAC9-4E7F-6ED1A89ACFC3}"/>
              </a:ext>
            </a:extLst>
          </p:cNvPr>
          <p:cNvSpPr/>
          <p:nvPr/>
        </p:nvSpPr>
        <p:spPr>
          <a:xfrm>
            <a:off x="3305937" y="3081528"/>
            <a:ext cx="361950" cy="265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18A0DC5-883F-F510-D67B-6ACDCF41F205}"/>
              </a:ext>
            </a:extLst>
          </p:cNvPr>
          <p:cNvSpPr/>
          <p:nvPr/>
        </p:nvSpPr>
        <p:spPr>
          <a:xfrm>
            <a:off x="5623179" y="3009218"/>
            <a:ext cx="703326" cy="265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2166C743-75C0-BD39-B551-682FF22EB83A}"/>
              </a:ext>
            </a:extLst>
          </p:cNvPr>
          <p:cNvSpPr/>
          <p:nvPr/>
        </p:nvSpPr>
        <p:spPr>
          <a:xfrm rot="10800000">
            <a:off x="5615354" y="3402297"/>
            <a:ext cx="703326" cy="265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FB5FCE8E-8047-E684-D84E-10C82A396145}"/>
              </a:ext>
            </a:extLst>
          </p:cNvPr>
          <p:cNvSpPr/>
          <p:nvPr/>
        </p:nvSpPr>
        <p:spPr>
          <a:xfrm rot="10800000">
            <a:off x="3253359" y="3457967"/>
            <a:ext cx="361950" cy="265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8247F809-98FF-84F5-5259-8CD602B78295}"/>
              </a:ext>
            </a:extLst>
          </p:cNvPr>
          <p:cNvSpPr/>
          <p:nvPr/>
        </p:nvSpPr>
        <p:spPr>
          <a:xfrm rot="10800000">
            <a:off x="1063942" y="3402297"/>
            <a:ext cx="361950" cy="265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363FCC-E2F8-8BF7-B1D5-6E187F38D8DF}"/>
              </a:ext>
            </a:extLst>
          </p:cNvPr>
          <p:cNvSpPr txBox="1"/>
          <p:nvPr/>
        </p:nvSpPr>
        <p:spPr>
          <a:xfrm>
            <a:off x="1099090" y="2667885"/>
            <a:ext cx="420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</a:t>
            </a:r>
            <a:endParaRPr lang="en-IN" sz="24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E013E5-F217-08EA-7CF1-08A9923D539D}"/>
              </a:ext>
            </a:extLst>
          </p:cNvPr>
          <p:cNvSpPr txBox="1"/>
          <p:nvPr/>
        </p:nvSpPr>
        <p:spPr>
          <a:xfrm>
            <a:off x="3219546" y="2628063"/>
            <a:ext cx="420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r>
            <a:endParaRPr lang="en-IN" sz="24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6CE5D7-5743-49C0-65C7-1A706F0CC430}"/>
              </a:ext>
            </a:extLst>
          </p:cNvPr>
          <p:cNvSpPr txBox="1"/>
          <p:nvPr/>
        </p:nvSpPr>
        <p:spPr>
          <a:xfrm>
            <a:off x="5756991" y="2688481"/>
            <a:ext cx="420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</a:t>
            </a:r>
            <a:endParaRPr lang="en-IN" sz="24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0F45D1-EC6E-72F9-BF43-04D5FC5022DF}"/>
              </a:ext>
            </a:extLst>
          </p:cNvPr>
          <p:cNvSpPr txBox="1"/>
          <p:nvPr/>
        </p:nvSpPr>
        <p:spPr>
          <a:xfrm>
            <a:off x="5835301" y="3620000"/>
            <a:ext cx="420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</a:t>
            </a:r>
            <a:endParaRPr lang="en-IN" sz="24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A09094-C83E-2B66-104E-D27D0BE8DB18}"/>
              </a:ext>
            </a:extLst>
          </p:cNvPr>
          <p:cNvSpPr txBox="1"/>
          <p:nvPr/>
        </p:nvSpPr>
        <p:spPr>
          <a:xfrm>
            <a:off x="3253358" y="3689893"/>
            <a:ext cx="420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</a:t>
            </a:r>
            <a:endParaRPr lang="en-IN" sz="24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E3537E-B4C9-2737-4C88-F071F32A53CD}"/>
              </a:ext>
            </a:extLst>
          </p:cNvPr>
          <p:cNvSpPr txBox="1"/>
          <p:nvPr/>
        </p:nvSpPr>
        <p:spPr>
          <a:xfrm>
            <a:off x="1058323" y="3667473"/>
            <a:ext cx="420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</a:t>
            </a:r>
            <a:endParaRPr lang="en-IN" sz="24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33D9A9-426B-BBFD-B596-22AF95C98088}"/>
              </a:ext>
            </a:extLst>
          </p:cNvPr>
          <p:cNvSpPr txBox="1"/>
          <p:nvPr/>
        </p:nvSpPr>
        <p:spPr>
          <a:xfrm>
            <a:off x="3778172" y="5316685"/>
            <a:ext cx="22905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Contains MCP Server to connect to tool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7350784-B217-34D3-2EAB-BF17601B20A7}"/>
              </a:ext>
            </a:extLst>
          </p:cNvPr>
          <p:cNvCxnSpPr>
            <a:cxnSpLocks/>
          </p:cNvCxnSpPr>
          <p:nvPr/>
        </p:nvCxnSpPr>
        <p:spPr>
          <a:xfrm>
            <a:off x="4645533" y="3920725"/>
            <a:ext cx="0" cy="12822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7942ED4-0D01-0C33-19EF-5024B11E049C}"/>
              </a:ext>
            </a:extLst>
          </p:cNvPr>
          <p:cNvSpPr txBox="1"/>
          <p:nvPr/>
        </p:nvSpPr>
        <p:spPr>
          <a:xfrm>
            <a:off x="756993" y="5455185"/>
            <a:ext cx="22905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AKA MCP Client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69E321A-26F9-B37E-CF31-A58A6B8CA5E8}"/>
              </a:ext>
            </a:extLst>
          </p:cNvPr>
          <p:cNvCxnSpPr>
            <a:cxnSpLocks/>
          </p:cNvCxnSpPr>
          <p:nvPr/>
        </p:nvCxnSpPr>
        <p:spPr>
          <a:xfrm>
            <a:off x="2264935" y="3920725"/>
            <a:ext cx="0" cy="14513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6B69EA-304D-27D5-47D2-4D6F9FDE1DB1}"/>
              </a:ext>
            </a:extLst>
          </p:cNvPr>
          <p:cNvSpPr txBox="1"/>
          <p:nvPr/>
        </p:nvSpPr>
        <p:spPr>
          <a:xfrm>
            <a:off x="1650492" y="260938"/>
            <a:ext cx="619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Advantage of MCP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7D8D43-8917-6951-74C1-E73EC0F84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064424"/>
              </p:ext>
            </p:extLst>
          </p:nvPr>
        </p:nvGraphicFramePr>
        <p:xfrm>
          <a:off x="381000" y="1254555"/>
          <a:ext cx="9994392" cy="67653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42744">
                  <a:extLst>
                    <a:ext uri="{9D8B030D-6E8A-4147-A177-3AD203B41FA5}">
                      <a16:colId xmlns:a16="http://schemas.microsoft.com/office/drawing/2014/main" val="1640415406"/>
                    </a:ext>
                  </a:extLst>
                </a:gridCol>
                <a:gridCol w="7851648">
                  <a:extLst>
                    <a:ext uri="{9D8B030D-6E8A-4147-A177-3AD203B41FA5}">
                      <a16:colId xmlns:a16="http://schemas.microsoft.com/office/drawing/2014/main" val="1356605085"/>
                    </a:ext>
                  </a:extLst>
                </a:gridCol>
              </a:tblGrid>
              <a:tr h="676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1. Standardization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One common protocol </a:t>
                      </a: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for connecting AI to tools and data instead of creating a custom integration for every tool.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179083965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CB7AA2-889A-545E-1C9C-A84F7BE3C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200413"/>
              </p:ext>
            </p:extLst>
          </p:nvPr>
        </p:nvGraphicFramePr>
        <p:xfrm>
          <a:off x="381000" y="2380424"/>
          <a:ext cx="10518648" cy="35539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64765">
                  <a:extLst>
                    <a:ext uri="{9D8B030D-6E8A-4147-A177-3AD203B41FA5}">
                      <a16:colId xmlns:a16="http://schemas.microsoft.com/office/drawing/2014/main" val="627645866"/>
                    </a:ext>
                  </a:extLst>
                </a:gridCol>
                <a:gridCol w="8253883">
                  <a:extLst>
                    <a:ext uri="{9D8B030D-6E8A-4147-A177-3AD203B41FA5}">
                      <a16:colId xmlns:a16="http://schemas.microsoft.com/office/drawing/2014/main" val="830036404"/>
                    </a:ext>
                  </a:extLst>
                </a:gridCol>
              </a:tblGrid>
              <a:tr h="354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2. Reusable tools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Build an </a:t>
                      </a:r>
                      <a:r>
                        <a:rPr lang="en-IN" sz="2000" b="1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MCP server </a:t>
                      </a: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once and allow </a:t>
                      </a:r>
                      <a:r>
                        <a:rPr lang="en-IN" sz="2000" b="1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multiple</a:t>
                      </a: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AI applications/agents to use it.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2462539017"/>
                  </a:ext>
                </a:extLst>
              </a:tr>
            </a:tbl>
          </a:graphicData>
        </a:graphic>
      </p:graphicFrame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27E3105-F399-34C1-C48A-8662376E8518}"/>
              </a:ext>
            </a:extLst>
          </p:cNvPr>
          <p:cNvSpPr/>
          <p:nvPr/>
        </p:nvSpPr>
        <p:spPr>
          <a:xfrm>
            <a:off x="1456944" y="4077322"/>
            <a:ext cx="1630680" cy="7709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AI agent 1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0F43025-A426-2865-FD2B-F934AFB685D6}"/>
              </a:ext>
            </a:extLst>
          </p:cNvPr>
          <p:cNvSpPr/>
          <p:nvPr/>
        </p:nvSpPr>
        <p:spPr>
          <a:xfrm>
            <a:off x="3830193" y="4539272"/>
            <a:ext cx="1630680" cy="7709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MCP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9934904-9B0F-E14A-1890-D9F53C280C9B}"/>
              </a:ext>
            </a:extLst>
          </p:cNvPr>
          <p:cNvSpPr/>
          <p:nvPr/>
        </p:nvSpPr>
        <p:spPr>
          <a:xfrm>
            <a:off x="1456944" y="5240009"/>
            <a:ext cx="1630680" cy="7709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AI agent 2</a:t>
            </a:r>
          </a:p>
        </p:txBody>
      </p:sp>
      <p:sp>
        <p:nvSpPr>
          <p:cNvPr id="32" name="Arrow: Left-Right 31">
            <a:extLst>
              <a:ext uri="{FF2B5EF4-FFF2-40B4-BE49-F238E27FC236}">
                <a16:creationId xmlns:a16="http://schemas.microsoft.com/office/drawing/2014/main" id="{6CDA7F8E-A4E4-389B-2865-A2B82BB222FA}"/>
              </a:ext>
            </a:extLst>
          </p:cNvPr>
          <p:cNvSpPr/>
          <p:nvPr/>
        </p:nvSpPr>
        <p:spPr>
          <a:xfrm>
            <a:off x="5641657" y="4848266"/>
            <a:ext cx="437769" cy="26463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8F3D73D-3902-93DC-C70C-E4B0419764F2}"/>
              </a:ext>
            </a:extLst>
          </p:cNvPr>
          <p:cNvSpPr/>
          <p:nvPr/>
        </p:nvSpPr>
        <p:spPr>
          <a:xfrm>
            <a:off x="6697980" y="3813808"/>
            <a:ext cx="1143000" cy="85039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Tool 1</a:t>
            </a:r>
            <a:endParaRPr lang="en-IN" sz="2000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32E8E6F-EF63-83FA-AA88-8A58C027565A}"/>
              </a:ext>
            </a:extLst>
          </p:cNvPr>
          <p:cNvSpPr/>
          <p:nvPr/>
        </p:nvSpPr>
        <p:spPr>
          <a:xfrm>
            <a:off x="6697980" y="4775089"/>
            <a:ext cx="1143000" cy="85039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Tool 2</a:t>
            </a:r>
            <a:endParaRPr lang="en-IN" sz="200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CA230D7-C6EC-8AB6-3BEC-AB22B89B8901}"/>
              </a:ext>
            </a:extLst>
          </p:cNvPr>
          <p:cNvSpPr/>
          <p:nvPr/>
        </p:nvSpPr>
        <p:spPr>
          <a:xfrm>
            <a:off x="6697980" y="5736370"/>
            <a:ext cx="1143000" cy="85039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Tool 3</a:t>
            </a:r>
            <a:endParaRPr lang="en-IN" sz="2000" dirty="0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E4E4AEC6-6992-D692-01CC-72D2A5526418}"/>
              </a:ext>
            </a:extLst>
          </p:cNvPr>
          <p:cNvSpPr/>
          <p:nvPr/>
        </p:nvSpPr>
        <p:spPr>
          <a:xfrm rot="2007174">
            <a:off x="3209544" y="4379976"/>
            <a:ext cx="439865" cy="4682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B62F5553-7A1C-6C9A-D5EA-D419E2928000}"/>
              </a:ext>
            </a:extLst>
          </p:cNvPr>
          <p:cNvSpPr/>
          <p:nvPr/>
        </p:nvSpPr>
        <p:spPr>
          <a:xfrm rot="20075192">
            <a:off x="3267054" y="5272012"/>
            <a:ext cx="439865" cy="4682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FEF77-B342-8508-5999-391D1D277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4226F60-C740-C29A-48B4-4E767BC97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52345"/>
              </p:ext>
            </p:extLst>
          </p:nvPr>
        </p:nvGraphicFramePr>
        <p:xfrm>
          <a:off x="501586" y="1239775"/>
          <a:ext cx="11440478" cy="19805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935224">
                  <a:extLst>
                    <a:ext uri="{9D8B030D-6E8A-4147-A177-3AD203B41FA5}">
                      <a16:colId xmlns:a16="http://schemas.microsoft.com/office/drawing/2014/main" val="2866620317"/>
                    </a:ext>
                  </a:extLst>
                </a:gridCol>
                <a:gridCol w="8505254">
                  <a:extLst>
                    <a:ext uri="{9D8B030D-6E8A-4147-A177-3AD203B41FA5}">
                      <a16:colId xmlns:a16="http://schemas.microsoft.com/office/drawing/2014/main" val="1330118772"/>
                    </a:ext>
                  </a:extLst>
                </a:gridCol>
              </a:tblGrid>
              <a:tr h="328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3. Separation of concerns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The AI application </a:t>
                      </a:r>
                      <a:r>
                        <a:rPr lang="en-IN" sz="2000" b="1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doesn't need to contain all the implementation </a:t>
                      </a: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details of each external service.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2075933036"/>
                  </a:ext>
                </a:extLst>
              </a:tr>
              <a:tr h="505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4. Easier maintenance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If </a:t>
                      </a:r>
                      <a:r>
                        <a:rPr lang="en-IN" sz="2000" b="1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tool changes it can handled in the </a:t>
                      </a:r>
                      <a:r>
                        <a:rPr lang="en-IN" sz="2000" b="1" i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MCP server </a:t>
                      </a: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rather than rewriting the entire AI application.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670195072"/>
                  </a:ext>
                </a:extLst>
              </a:tr>
              <a:tr h="505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5. Security/control</a:t>
                      </a:r>
                    </a:p>
                  </a:txBody>
                  <a:tcPr marL="50597" marR="50597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Tool access can be controlled at the </a:t>
                      </a:r>
                      <a:r>
                        <a:rPr lang="en-IN" sz="2000" b="1" i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MCP-server</a:t>
                      </a:r>
                      <a:r>
                        <a:rPr lang="en-IN" sz="2000" b="1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en-IN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level, including which operations an AI is allowed to perform.</a:t>
                      </a:r>
                    </a:p>
                  </a:txBody>
                  <a:tcPr marL="50597" marR="50597" marT="25298" marB="25298" anchor="ctr"/>
                </a:tc>
                <a:extLst>
                  <a:ext uri="{0D108BD9-81ED-4DB2-BD59-A6C34878D82A}">
                    <a16:rowId xmlns:a16="http://schemas.microsoft.com/office/drawing/2014/main" val="392961314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C00AC93-1F6E-EE38-2453-3733C732099E}"/>
              </a:ext>
            </a:extLst>
          </p:cNvPr>
          <p:cNvSpPr txBox="1"/>
          <p:nvPr/>
        </p:nvSpPr>
        <p:spPr>
          <a:xfrm>
            <a:off x="1760220" y="0"/>
            <a:ext cx="619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Advantage of MCP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0F8B429-EC56-4F19-C4DB-E69CDFC82320}"/>
              </a:ext>
            </a:extLst>
          </p:cNvPr>
          <p:cNvSpPr/>
          <p:nvPr/>
        </p:nvSpPr>
        <p:spPr>
          <a:xfrm>
            <a:off x="1456944" y="4077322"/>
            <a:ext cx="1630680" cy="7709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AI agent 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3635B84-B98B-4C8D-64DB-BC2833AF3580}"/>
              </a:ext>
            </a:extLst>
          </p:cNvPr>
          <p:cNvSpPr/>
          <p:nvPr/>
        </p:nvSpPr>
        <p:spPr>
          <a:xfrm>
            <a:off x="3830193" y="4539272"/>
            <a:ext cx="1630680" cy="7709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MCP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7E4F95F-3F3A-D948-FE6B-D18A3AA66694}"/>
              </a:ext>
            </a:extLst>
          </p:cNvPr>
          <p:cNvSpPr/>
          <p:nvPr/>
        </p:nvSpPr>
        <p:spPr>
          <a:xfrm>
            <a:off x="1456944" y="5240009"/>
            <a:ext cx="1630680" cy="7709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AI agent 2</a:t>
            </a:r>
          </a:p>
        </p:txBody>
      </p:sp>
      <p:sp>
        <p:nvSpPr>
          <p:cNvPr id="31" name="Arrow: Left-Right 30">
            <a:extLst>
              <a:ext uri="{FF2B5EF4-FFF2-40B4-BE49-F238E27FC236}">
                <a16:creationId xmlns:a16="http://schemas.microsoft.com/office/drawing/2014/main" id="{22047AEB-C4E1-9B3F-5EAD-E3B75C26867F}"/>
              </a:ext>
            </a:extLst>
          </p:cNvPr>
          <p:cNvSpPr/>
          <p:nvPr/>
        </p:nvSpPr>
        <p:spPr>
          <a:xfrm>
            <a:off x="5641657" y="4848266"/>
            <a:ext cx="437769" cy="26463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BD89A14-E453-0618-0761-FE64C0ED15C0}"/>
              </a:ext>
            </a:extLst>
          </p:cNvPr>
          <p:cNvSpPr/>
          <p:nvPr/>
        </p:nvSpPr>
        <p:spPr>
          <a:xfrm>
            <a:off x="6697980" y="3813808"/>
            <a:ext cx="1143000" cy="85039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Tool 1</a:t>
            </a:r>
            <a:endParaRPr lang="en-IN" sz="20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7B9335E-A839-D7BE-D335-617451D060FF}"/>
              </a:ext>
            </a:extLst>
          </p:cNvPr>
          <p:cNvSpPr/>
          <p:nvPr/>
        </p:nvSpPr>
        <p:spPr>
          <a:xfrm>
            <a:off x="6697980" y="4775089"/>
            <a:ext cx="1143000" cy="85039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Tool 2</a:t>
            </a:r>
            <a:endParaRPr lang="en-IN" sz="20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2EB12D1-D4D1-5B21-3506-33B4DEEE7AF8}"/>
              </a:ext>
            </a:extLst>
          </p:cNvPr>
          <p:cNvSpPr/>
          <p:nvPr/>
        </p:nvSpPr>
        <p:spPr>
          <a:xfrm>
            <a:off x="6697980" y="5736370"/>
            <a:ext cx="1143000" cy="85039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Tool 3</a:t>
            </a:r>
            <a:endParaRPr lang="en-IN" sz="2000" dirty="0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C974060E-4F31-F396-BB3C-CB52E414F9D3}"/>
              </a:ext>
            </a:extLst>
          </p:cNvPr>
          <p:cNvSpPr/>
          <p:nvPr/>
        </p:nvSpPr>
        <p:spPr>
          <a:xfrm rot="2007174">
            <a:off x="3209544" y="4379976"/>
            <a:ext cx="439865" cy="4682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FF9AA360-A54F-CF59-BA62-A16DCA26DBE0}"/>
              </a:ext>
            </a:extLst>
          </p:cNvPr>
          <p:cNvSpPr/>
          <p:nvPr/>
        </p:nvSpPr>
        <p:spPr>
          <a:xfrm rot="20075192">
            <a:off x="3267054" y="5272012"/>
            <a:ext cx="439865" cy="4682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030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A2F2E-231E-8AFC-68B5-74B3B0C26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98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F095C-D104-5DC4-908A-6F94BD073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114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1461</TotalTime>
  <Words>245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205</cp:revision>
  <dcterms:created xsi:type="dcterms:W3CDTF">2025-09-22T02:44:38Z</dcterms:created>
  <dcterms:modified xsi:type="dcterms:W3CDTF">2026-09-23T16:39:48Z</dcterms:modified>
</cp:coreProperties>
</file>