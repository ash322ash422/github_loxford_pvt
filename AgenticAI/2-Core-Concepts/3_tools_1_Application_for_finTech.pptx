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7" r:id="rId2"/>
    <p:sldId id="276" r:id="rId3"/>
    <p:sldId id="277" r:id="rId4"/>
    <p:sldId id="278" r:id="rId5"/>
    <p:sldId id="279" r:id="rId6"/>
    <p:sldId id="280" r:id="rId7"/>
    <p:sldId id="281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82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477520" y="226536"/>
            <a:ext cx="102920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tool, in the context of AI agents, is a function the agent is allowed to call.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the agent decides it needs information or needs to do something it can't do purely from memory, it issues a structured call to a tool — passing in parameters — and waits for a result to come back before continuing.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A0568-AAE2-02A4-313B-3EF895961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A9E651C-C185-E27A-F3E4-7DEB55878332}"/>
              </a:ext>
            </a:extLst>
          </p:cNvPr>
          <p:cNvSpPr txBox="1"/>
          <p:nvPr/>
        </p:nvSpPr>
        <p:spPr>
          <a:xfrm>
            <a:off x="164591" y="226536"/>
            <a:ext cx="1039672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three concepts — tools, APIs, and function calling — are actually three layers of the same idea: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(Application Programming Interface) is the external service or system that does the actual work — a weather service, a database, a payment gateway.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function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the wrapper your code writes around that API — it takes specific inputs, calls the API, and returns a formatted output.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Function calling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the mechanism by which the LLM decides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function to call, with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arguments, at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point in its reasoning. </a:t>
            </a:r>
          </a:p>
        </p:txBody>
      </p:sp>
    </p:spTree>
    <p:extLst>
      <p:ext uri="{BB962C8B-B14F-4D97-AF65-F5344CB8AC3E}">
        <p14:creationId xmlns:p14="http://schemas.microsoft.com/office/powerpoint/2010/main" val="2274495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9CC74-384C-60D6-03AB-C2DB6711C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CF6682-39B7-8203-4FC6-6B424DC78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889" y="987552"/>
            <a:ext cx="8621790" cy="444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590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26631-795A-1FA8-200F-0126D0000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A6AE12-7A48-7165-B766-8276091B282C}"/>
              </a:ext>
            </a:extLst>
          </p:cNvPr>
          <p:cNvSpPr txBox="1"/>
          <p:nvPr/>
        </p:nvSpPr>
        <p:spPr>
          <a:xfrm>
            <a:off x="320040" y="272534"/>
            <a:ext cx="645566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Three Classic Tool Examples in Detail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The Calculator Tool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the most important tool 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LLMs are fundamentally unreliable at arithmetic.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 plausible-looking numbers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they don't actually compute.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well-designed agent never trusts the model's raw arithmetic — it always delegates to a calculator tool.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tool takes an expression as a string input, evaluates it in a proper compute engine, and returns the exact result.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82F8DD-0FC5-3C0D-9799-5A521043D954}"/>
              </a:ext>
            </a:extLst>
          </p:cNvPr>
          <p:cNvSpPr txBox="1"/>
          <p:nvPr/>
        </p:nvSpPr>
        <p:spPr>
          <a:xfrm>
            <a:off x="7347204" y="1061685"/>
            <a:ext cx="4686300" cy="4734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Calculator tool</a:t>
            </a:r>
          </a:p>
          <a:p>
            <a:pPr algn="l">
              <a:buNone/>
            </a:pPr>
            <a:endParaRPr lang="en-US" sz="2000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  <a:p>
            <a:pPr algn="l">
              <a:spcBef>
                <a:spcPts val="150"/>
              </a:spcBef>
              <a:buNone/>
            </a:pPr>
            <a:r>
              <a:rPr lang="en-US" sz="20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compute_expression</a:t>
            </a:r>
            <a:r>
              <a:rPr lang="en-U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(expr)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Task: "What is the total interest I will pay on a ₹30L loan at 8.5% for 15 years?"</a:t>
            </a:r>
          </a:p>
          <a:p>
            <a:pPr algn="l">
              <a:spcAft>
                <a:spcPts val="600"/>
              </a:spcAft>
              <a:buNone/>
            </a:pPr>
            <a:endParaRPr lang="en-US" sz="2000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ui-monospace"/>
            </a:endParaRPr>
          </a:p>
          <a:p>
            <a:pPr algn="l">
              <a:spcAft>
                <a:spcPts val="600"/>
              </a:spcAft>
              <a:buNone/>
            </a:pPr>
            <a:r>
              <a:rPr lang="en-U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ui-monospace"/>
              </a:rPr>
              <a:t>call: </a:t>
            </a:r>
            <a:r>
              <a:rPr lang="en-US" sz="20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ui-monospace"/>
              </a:rPr>
              <a:t>compute_expression</a:t>
            </a:r>
            <a:r>
              <a:rPr lang="en-U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ui-monospace"/>
              </a:rPr>
              <a:t>(</a:t>
            </a:r>
            <a:br>
              <a:rPr lang="en-U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ui-monospace"/>
              </a:rPr>
            </a:br>
            <a:r>
              <a:rPr lang="en-U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ui-monospace"/>
              </a:rPr>
              <a:t> "EMI = 3000000 * 0.085/12 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ui-monospace"/>
              </a:rPr>
              <a:t> / (1-(1+0.085/12)^-180)"</a:t>
            </a:r>
            <a:br>
              <a:rPr lang="en-U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ui-monospace"/>
              </a:rPr>
            </a:br>
            <a:r>
              <a:rPr lang="en-U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ui-monospace"/>
              </a:rPr>
              <a:t>)</a:t>
            </a:r>
          </a:p>
          <a:p>
            <a:pPr algn="l">
              <a:spcAft>
                <a:spcPts val="600"/>
              </a:spcAft>
              <a:buNone/>
            </a:pPr>
            <a:br>
              <a:rPr lang="en-U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ui-monospace"/>
              </a:rPr>
            </a:br>
            <a:r>
              <a:rPr lang="en-U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ui-monospace"/>
              </a:rPr>
              <a:t>result: EMI = ₹29,542</a:t>
            </a:r>
            <a:br>
              <a:rPr lang="en-U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ui-monospace"/>
              </a:rPr>
            </a:br>
            <a:r>
              <a:rPr lang="en-U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ui-monospace"/>
              </a:rPr>
              <a:t>total: ₹53,17,560</a:t>
            </a:r>
            <a:br>
              <a:rPr lang="en-U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ui-monospace"/>
              </a:rPr>
            </a:br>
            <a:r>
              <a:rPr lang="en-U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ui-monospace"/>
              </a:rPr>
              <a:t>interest: ₹23,17,560</a:t>
            </a:r>
          </a:p>
        </p:txBody>
      </p:sp>
    </p:spTree>
    <p:extLst>
      <p:ext uri="{BB962C8B-B14F-4D97-AF65-F5344CB8AC3E}">
        <p14:creationId xmlns:p14="http://schemas.microsoft.com/office/powerpoint/2010/main" val="3179272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1FA77-13C4-DFF0-7DF3-8B5E6FF7B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46206A-2FB3-E7E8-2350-4685CEF218E3}"/>
              </a:ext>
            </a:extLst>
          </p:cNvPr>
          <p:cNvSpPr txBox="1"/>
          <p:nvPr/>
        </p:nvSpPr>
        <p:spPr>
          <a:xfrm>
            <a:off x="320040" y="272534"/>
            <a:ext cx="645566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The Web Search Tool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model's training data has a knowledge cutoff. Anything after that date — interest rates, stock prices, new regulations, recent news — the model simply doesn't know.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search tool bridges this gap. The agent formulates a query, the tool calls a search API (like Google Custom Search or Bing), returns the top results as text, and the model reads and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synthesises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4E15F1-C90D-DCF8-BCA1-E1379A6FBE76}"/>
              </a:ext>
            </a:extLst>
          </p:cNvPr>
          <p:cNvSpPr txBox="1"/>
          <p:nvPr/>
        </p:nvSpPr>
        <p:spPr>
          <a:xfrm>
            <a:off x="7347204" y="1061685"/>
            <a:ext cx="46863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Web search tool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search_web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(query)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Task: "Is SEBI allowing P2P lending platforms to offer liquid funds now?“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call: 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search_web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</a:t>
            </a:r>
            <a:b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"SEBI P2P lending</a:t>
            </a:r>
            <a:b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liquid funds 2025 2026"</a:t>
            </a:r>
            <a:b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b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result: 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[3 web snippets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with source URLs</a:t>
            </a:r>
            <a:b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and publication dates]</a:t>
            </a:r>
          </a:p>
        </p:txBody>
      </p:sp>
    </p:spTree>
    <p:extLst>
      <p:ext uri="{BB962C8B-B14F-4D97-AF65-F5344CB8AC3E}">
        <p14:creationId xmlns:p14="http://schemas.microsoft.com/office/powerpoint/2010/main" val="2102444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13206-6A2E-5D7A-A98A-111588569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5E84D7-8EA9-9AEC-CD1D-8503283DB4C9}"/>
              </a:ext>
            </a:extLst>
          </p:cNvPr>
          <p:cNvSpPr txBox="1"/>
          <p:nvPr/>
        </p:nvSpPr>
        <p:spPr>
          <a:xfrm>
            <a:off x="320040" y="272534"/>
            <a:ext cx="645566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The Database Query Tool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Rather than the model guessing about a customer's account, a DB query tool lets it ask the actual database directly.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constructs a query (or passes parameters to a pre-built query function), the tool executes it against the database, and the result comes back as structured data.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Good practice is to never give the agent raw SQL access — instead, wrap specific permitted queries as named functions: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get_customer_transactions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customer_id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days=30)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get_loan_status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loan_id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F47493-A368-FCEE-B19E-F3A1830E33C8}"/>
              </a:ext>
            </a:extLst>
          </p:cNvPr>
          <p:cNvSpPr txBox="1"/>
          <p:nvPr/>
        </p:nvSpPr>
        <p:spPr>
          <a:xfrm>
            <a:off x="7104888" y="1061685"/>
            <a:ext cx="508711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DB query tool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get_transactions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(id, days)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Task: "Show me unusual spending patterns for customer C-4421 in the last 30 days."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call: 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get_transactions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</a:t>
            </a:r>
            <a:b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customer_id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="C-4421",</a:t>
            </a:r>
            <a:b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days=30</a:t>
            </a:r>
            <a:b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result: 47 transactions,</a:t>
            </a:r>
            <a:b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3 flagged outliers,</a:t>
            </a:r>
            <a:b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JSON structured data</a:t>
            </a:r>
          </a:p>
        </p:txBody>
      </p:sp>
    </p:spTree>
    <p:extLst>
      <p:ext uri="{BB962C8B-B14F-4D97-AF65-F5344CB8AC3E}">
        <p14:creationId xmlns:p14="http://schemas.microsoft.com/office/powerpoint/2010/main" val="863060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92D2C-A572-630E-C968-9F606116C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31E8E3-8CC3-EAC7-25A0-BFCE99140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26" y="1108494"/>
            <a:ext cx="4906060" cy="12384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0F4D85-8409-B807-9ADF-999BF54B5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34" y="327623"/>
            <a:ext cx="7039957" cy="5334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6A4143-E555-6B1A-BB7A-2FC4347CF0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74" y="2392415"/>
            <a:ext cx="6365465" cy="423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238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448DF-85D4-EAE4-1017-A518CD22C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4B8339-B3B7-3692-F62D-C6031B688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28"/>
            <a:ext cx="9321850" cy="67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40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A74D9-3EAF-44D0-BD5A-925843067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88F401-A0DD-1A24-2CAF-453541D25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1" y="109728"/>
            <a:ext cx="10872095" cy="632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56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1DF4E-37CD-1AEE-868D-785667C98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CFE0D6-7CC5-A9F6-2E59-909708486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76" y="109728"/>
            <a:ext cx="9646408" cy="24698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3C8ADE-FA4E-D80C-5B26-5FED0296B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2" y="3127249"/>
            <a:ext cx="11332565" cy="316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88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FCE9F-4374-BCB6-7B06-B1122491E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979556-5871-2B3A-D3E5-4C1349F1E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69" y="0"/>
            <a:ext cx="9640645" cy="3620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C945A6-3E1D-D1F0-FD1B-FA34CE23D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59" y="3719099"/>
            <a:ext cx="7161723" cy="25316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9539B1-003F-D9F4-082C-A0BB81B94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43137"/>
            <a:ext cx="12192000" cy="29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631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41604-8A8F-49DB-A921-1A4517AC5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7FE77AB-6A3B-8CBA-4E47-9698CE76F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57" y="0"/>
            <a:ext cx="9640645" cy="36200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D594B0A-E8F7-5611-8086-FAF38C3B2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7" y="3733476"/>
            <a:ext cx="4648849" cy="19147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5ACA1C-7E1B-D3C5-5E24-63AF2F94B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82600"/>
            <a:ext cx="12192000" cy="25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958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A33DF-1392-7520-FCF7-BC22E193A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717DF8-054B-92B8-5B14-5294EEEB7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5" y="68898"/>
            <a:ext cx="9850225" cy="36295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A6A21F-B3BA-AD9D-2657-5C038BE61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5" y="3698430"/>
            <a:ext cx="4858428" cy="2238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54D7C6-8A5E-AF1D-DB40-D500AE488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39" y="6191985"/>
            <a:ext cx="11984122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25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6E259-6117-D8C6-562D-8CF6AEA74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0E776D-3D0D-5479-51BC-B56BC7A1F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40" y="106764"/>
            <a:ext cx="11174384" cy="42487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8B8010-2714-D146-02DE-BB20E8A8E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0" y="4355507"/>
            <a:ext cx="5191850" cy="18766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99BA33-2501-424C-7FE4-C9C5BC59AA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54" y="6331129"/>
            <a:ext cx="12192000" cy="32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180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A1B37-37A2-0898-6F7E-D7007B364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B57B65-E248-0329-C398-6D0CD4FCD87A}"/>
              </a:ext>
            </a:extLst>
          </p:cNvPr>
          <p:cNvSpPr txBox="1"/>
          <p:nvPr/>
        </p:nvSpPr>
        <p:spPr>
          <a:xfrm>
            <a:off x="320040" y="272534"/>
            <a:ext cx="1065276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Discussion Prompt for Class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"A fintech agent has access to five tools: 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web search,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EMI calculator,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account DB query,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email sender, and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fund transfer.</a:t>
            </a:r>
          </a:p>
          <a:p>
            <a:endParaRPr lang="en-US" sz="24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 customer says: 'Transfer ₹2 lakh to this new account — my friend needs it urgently.’ </a:t>
            </a:r>
          </a:p>
          <a:p>
            <a:endParaRPr lang="en-US" sz="24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tools should the agent use? 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Should it transfer autonomously, or pause for confirmation? What would you build into the system to handle this safely?"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302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1156</TotalTime>
  <Words>724</Words>
  <Application>Microsoft Office PowerPoint</Application>
  <PresentationFormat>Widescreen</PresentationFormat>
  <Paragraphs>76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Anthropic Sans</vt:lpstr>
      <vt:lpstr>Arial</vt:lpstr>
      <vt:lpstr>Calibri</vt:lpstr>
      <vt:lpstr>Calibri Light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202</cp:revision>
  <dcterms:created xsi:type="dcterms:W3CDTF">2025-09-22T02:44:38Z</dcterms:created>
  <dcterms:modified xsi:type="dcterms:W3CDTF">2026-04-29T06:25:57Z</dcterms:modified>
</cp:coreProperties>
</file>