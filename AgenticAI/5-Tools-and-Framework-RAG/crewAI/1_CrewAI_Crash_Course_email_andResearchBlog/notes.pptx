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handoutMasterIdLst>
    <p:handoutMasterId r:id="rId7"/>
  </p:handoutMasterIdLst>
  <p:sldIdLst>
    <p:sldId id="257" r:id="rId2"/>
    <p:sldId id="275" r:id="rId3"/>
    <p:sldId id="277" r:id="rId4"/>
    <p:sldId id="276"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9/18/2026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9/18/2026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9/18/2026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9/18/2026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9/18/2026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9/18/2026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9/18/2026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9/18/2026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9/18/2026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9/18/2026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9/18/2026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9/18/2026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9/18/2026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A94B793-ACE7-B4E6-61BA-CAE52A54EEDC}"/>
              </a:ext>
            </a:extLst>
          </p:cNvPr>
          <p:cNvSpPr txBox="1"/>
          <p:nvPr/>
        </p:nvSpPr>
        <p:spPr>
          <a:xfrm>
            <a:off x="257284" y="1049532"/>
            <a:ext cx="6190488" cy="923330"/>
          </a:xfrm>
          <a:prstGeom prst="rect">
            <a:avLst/>
          </a:prstGeom>
          <a:noFill/>
        </p:spPr>
        <p:txBody>
          <a:bodyPr wrap="square">
            <a:spAutoFit/>
          </a:bodyPr>
          <a:lstStyle/>
          <a:p>
            <a:r>
              <a:rPr lang="en-IN" dirty="0">
                <a:solidFill>
                  <a:schemeClr val="accent6">
                    <a:lumMod val="60000"/>
                    <a:lumOff val="40000"/>
                  </a:schemeClr>
                </a:solidFill>
              </a:rPr>
              <a:t>Install </a:t>
            </a:r>
            <a:r>
              <a:rPr lang="en-IN" dirty="0" err="1">
                <a:solidFill>
                  <a:schemeClr val="accent6">
                    <a:lumMod val="60000"/>
                    <a:lumOff val="40000"/>
                  </a:schemeClr>
                </a:solidFill>
              </a:rPr>
              <a:t>crewai</a:t>
            </a:r>
            <a:r>
              <a:rPr lang="en-IN" dirty="0">
                <a:solidFill>
                  <a:schemeClr val="accent6">
                    <a:lumMod val="60000"/>
                    <a:lumOff val="40000"/>
                  </a:schemeClr>
                </a:solidFill>
              </a:rPr>
              <a:t>:</a:t>
            </a:r>
          </a:p>
          <a:p>
            <a:r>
              <a:rPr lang="en-IN" dirty="0">
                <a:solidFill>
                  <a:schemeClr val="accent6">
                    <a:lumMod val="60000"/>
                    <a:lumOff val="40000"/>
                  </a:schemeClr>
                </a:solidFill>
              </a:rPr>
              <a:t> </a:t>
            </a:r>
          </a:p>
          <a:p>
            <a:r>
              <a:rPr lang="en-IN" dirty="0">
                <a:solidFill>
                  <a:schemeClr val="accent6">
                    <a:lumMod val="60000"/>
                    <a:lumOff val="40000"/>
                  </a:schemeClr>
                </a:solidFill>
              </a:rPr>
              <a:t>&gt; </a:t>
            </a:r>
            <a:r>
              <a:rPr lang="en-IN" dirty="0">
                <a:solidFill>
                  <a:schemeClr val="accent4">
                    <a:lumMod val="60000"/>
                    <a:lumOff val="40000"/>
                  </a:schemeClr>
                </a:solidFill>
              </a:rPr>
              <a:t>python -m pip install </a:t>
            </a:r>
            <a:r>
              <a:rPr lang="en-IN" dirty="0" err="1">
                <a:solidFill>
                  <a:schemeClr val="accent4">
                    <a:lumMod val="60000"/>
                    <a:lumOff val="40000"/>
                  </a:schemeClr>
                </a:solidFill>
              </a:rPr>
              <a:t>crewai</a:t>
            </a:r>
            <a:r>
              <a:rPr lang="en-IN" dirty="0">
                <a:solidFill>
                  <a:schemeClr val="accent4">
                    <a:lumMod val="60000"/>
                    <a:lumOff val="40000"/>
                  </a:schemeClr>
                </a:solidFill>
              </a:rPr>
              <a:t> </a:t>
            </a:r>
            <a:r>
              <a:rPr lang="en-IN" dirty="0" err="1">
                <a:solidFill>
                  <a:schemeClr val="accent4">
                    <a:lumMod val="60000"/>
                    <a:lumOff val="40000"/>
                  </a:schemeClr>
                </a:solidFill>
              </a:rPr>
              <a:t>crewai</a:t>
            </a:r>
            <a:r>
              <a:rPr lang="en-IN" dirty="0">
                <a:solidFill>
                  <a:schemeClr val="accent4">
                    <a:lumMod val="60000"/>
                    <a:lumOff val="40000"/>
                  </a:schemeClr>
                </a:solidFill>
              </a:rPr>
              <a:t>-tools</a:t>
            </a:r>
          </a:p>
        </p:txBody>
      </p:sp>
      <p:sp>
        <p:nvSpPr>
          <p:cNvPr id="10" name="TextBox 9">
            <a:extLst>
              <a:ext uri="{FF2B5EF4-FFF2-40B4-BE49-F238E27FC236}">
                <a16:creationId xmlns:a16="http://schemas.microsoft.com/office/drawing/2014/main" id="{BF3527FC-2D50-E70E-3B7A-04929AB5C9B7}"/>
              </a:ext>
            </a:extLst>
          </p:cNvPr>
          <p:cNvSpPr txBox="1"/>
          <p:nvPr/>
        </p:nvSpPr>
        <p:spPr>
          <a:xfrm>
            <a:off x="257284" y="2201481"/>
            <a:ext cx="6190488" cy="923330"/>
          </a:xfrm>
          <a:prstGeom prst="rect">
            <a:avLst/>
          </a:prstGeom>
          <a:noFill/>
        </p:spPr>
        <p:txBody>
          <a:bodyPr wrap="square">
            <a:spAutoFit/>
          </a:bodyPr>
          <a:lstStyle/>
          <a:p>
            <a:r>
              <a:rPr lang="en-IN" dirty="0">
                <a:solidFill>
                  <a:schemeClr val="accent6">
                    <a:lumMod val="60000"/>
                    <a:lumOff val="40000"/>
                  </a:schemeClr>
                </a:solidFill>
              </a:rPr>
              <a:t>Activate virtual environment:</a:t>
            </a:r>
          </a:p>
          <a:p>
            <a:endParaRPr lang="en-IN" dirty="0">
              <a:solidFill>
                <a:schemeClr val="accent6">
                  <a:lumMod val="60000"/>
                  <a:lumOff val="40000"/>
                </a:schemeClr>
              </a:solidFill>
            </a:endParaRPr>
          </a:p>
          <a:p>
            <a:r>
              <a:rPr lang="en-IN" dirty="0">
                <a:solidFill>
                  <a:schemeClr val="accent4">
                    <a:lumMod val="60000"/>
                    <a:lumOff val="40000"/>
                  </a:schemeClr>
                </a:solidFill>
              </a:rPr>
              <a:t>&gt;   .\.</a:t>
            </a:r>
            <a:r>
              <a:rPr lang="en-IN" dirty="0" err="1">
                <a:solidFill>
                  <a:schemeClr val="accent4">
                    <a:lumMod val="60000"/>
                    <a:lumOff val="40000"/>
                  </a:schemeClr>
                </a:solidFill>
              </a:rPr>
              <a:t>venv</a:t>
            </a:r>
            <a:r>
              <a:rPr lang="en-IN" dirty="0">
                <a:solidFill>
                  <a:schemeClr val="accent4">
                    <a:lumMod val="60000"/>
                    <a:lumOff val="40000"/>
                  </a:schemeClr>
                </a:solidFill>
              </a:rPr>
              <a:t>\Scripts\activate</a:t>
            </a:r>
          </a:p>
        </p:txBody>
      </p:sp>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A0FC9F55-1C01-6F6F-A515-A32ED247A494}"/>
              </a:ext>
            </a:extLst>
          </p:cNvPr>
          <p:cNvSpPr/>
          <p:nvPr/>
        </p:nvSpPr>
        <p:spPr>
          <a:xfrm>
            <a:off x="4381882" y="2582172"/>
            <a:ext cx="2284476" cy="13827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Agent</a:t>
            </a:r>
          </a:p>
          <a:p>
            <a:pPr algn="ctr"/>
            <a:r>
              <a:rPr lang="en-US" dirty="0"/>
              <a:t>Convert Email to Professional Language</a:t>
            </a:r>
          </a:p>
        </p:txBody>
      </p:sp>
      <p:sp>
        <p:nvSpPr>
          <p:cNvPr id="10" name="TextBox 9">
            <a:extLst>
              <a:ext uri="{FF2B5EF4-FFF2-40B4-BE49-F238E27FC236}">
                <a16:creationId xmlns:a16="http://schemas.microsoft.com/office/drawing/2014/main" id="{63436138-0D06-9139-B6F7-7189756750FF}"/>
              </a:ext>
            </a:extLst>
          </p:cNvPr>
          <p:cNvSpPr txBox="1"/>
          <p:nvPr/>
        </p:nvSpPr>
        <p:spPr>
          <a:xfrm>
            <a:off x="2378692" y="0"/>
            <a:ext cx="6190488" cy="369332"/>
          </a:xfrm>
          <a:prstGeom prst="rect">
            <a:avLst/>
          </a:prstGeom>
          <a:noFill/>
        </p:spPr>
        <p:txBody>
          <a:bodyPr wrap="square">
            <a:spAutoFit/>
          </a:bodyPr>
          <a:lstStyle/>
          <a:p>
            <a:r>
              <a:rPr lang="en-US" dirty="0">
                <a:solidFill>
                  <a:schemeClr val="accent6">
                    <a:lumMod val="60000"/>
                    <a:lumOff val="40000"/>
                  </a:schemeClr>
                </a:solidFill>
              </a:rPr>
              <a:t>step1_email_agent_to_make_email_professional.ipynb</a:t>
            </a:r>
            <a:endParaRPr lang="en-IN" dirty="0">
              <a:solidFill>
                <a:schemeClr val="accent4">
                  <a:lumMod val="60000"/>
                  <a:lumOff val="40000"/>
                </a:schemeClr>
              </a:solidFill>
            </a:endParaRPr>
          </a:p>
        </p:txBody>
      </p:sp>
      <p:sp>
        <p:nvSpPr>
          <p:cNvPr id="11" name="TextBox 10">
            <a:extLst>
              <a:ext uri="{FF2B5EF4-FFF2-40B4-BE49-F238E27FC236}">
                <a16:creationId xmlns:a16="http://schemas.microsoft.com/office/drawing/2014/main" id="{4A885D10-848F-CE4B-EB33-A22906551D66}"/>
              </a:ext>
            </a:extLst>
          </p:cNvPr>
          <p:cNvSpPr txBox="1"/>
          <p:nvPr/>
        </p:nvSpPr>
        <p:spPr>
          <a:xfrm>
            <a:off x="60962" y="1390762"/>
            <a:ext cx="4023359" cy="4524315"/>
          </a:xfrm>
          <a:prstGeom prst="rect">
            <a:avLst/>
          </a:prstGeom>
          <a:noFill/>
        </p:spPr>
        <p:txBody>
          <a:bodyPr wrap="square" rtlCol="0">
            <a:spAutoFit/>
          </a:bodyPr>
          <a:lstStyle/>
          <a:p>
            <a:r>
              <a:rPr lang="en-US" b="1" u="sng" dirty="0">
                <a:solidFill>
                  <a:schemeClr val="accent6">
                    <a:lumMod val="60000"/>
                    <a:lumOff val="40000"/>
                  </a:schemeClr>
                </a:solidFill>
              </a:rPr>
              <a:t>Rough email:</a:t>
            </a:r>
          </a:p>
          <a:p>
            <a:endParaRPr lang="en-US" b="1" u="sng" dirty="0">
              <a:solidFill>
                <a:schemeClr val="accent6">
                  <a:lumMod val="60000"/>
                  <a:lumOff val="40000"/>
                </a:schemeClr>
              </a:solidFill>
            </a:endParaRPr>
          </a:p>
          <a:p>
            <a:r>
              <a:rPr lang="en-US" dirty="0">
                <a:solidFill>
                  <a:schemeClr val="accent6">
                    <a:lumMod val="60000"/>
                    <a:lumOff val="40000"/>
                  </a:schemeClr>
                </a:solidFill>
              </a:rPr>
              <a:t>hey everyone, just wanted to tell u that the software is kind of ready.</a:t>
            </a:r>
          </a:p>
          <a:p>
            <a:r>
              <a:rPr lang="en-US" dirty="0">
                <a:solidFill>
                  <a:schemeClr val="accent6">
                    <a:lumMod val="60000"/>
                    <a:lumOff val="40000"/>
                  </a:schemeClr>
                </a:solidFill>
              </a:rPr>
              <a:t>But there's still some loose ends that needs to be fixed.</a:t>
            </a:r>
          </a:p>
          <a:p>
            <a:endParaRPr lang="en-US" dirty="0">
              <a:solidFill>
                <a:schemeClr val="accent6">
                  <a:lumMod val="60000"/>
                  <a:lumOff val="40000"/>
                </a:schemeClr>
              </a:solidFill>
            </a:endParaRPr>
          </a:p>
          <a:p>
            <a:r>
              <a:rPr lang="en-US" dirty="0">
                <a:solidFill>
                  <a:schemeClr val="accent6">
                    <a:lumMod val="60000"/>
                    <a:lumOff val="40000"/>
                  </a:schemeClr>
                </a:solidFill>
              </a:rPr>
              <a:t>Maybe we can show what we have done and say rest is WIP. The clients would be happy to know of progress</a:t>
            </a:r>
          </a:p>
          <a:p>
            <a:endParaRPr lang="en-US" dirty="0">
              <a:solidFill>
                <a:schemeClr val="accent6">
                  <a:lumMod val="60000"/>
                  <a:lumOff val="40000"/>
                </a:schemeClr>
              </a:solidFill>
            </a:endParaRPr>
          </a:p>
          <a:p>
            <a:r>
              <a:rPr lang="en-US" dirty="0">
                <a:solidFill>
                  <a:schemeClr val="accent6">
                    <a:lumMod val="60000"/>
                    <a:lumOff val="40000"/>
                  </a:schemeClr>
                </a:solidFill>
              </a:rPr>
              <a:t>Let me know what u guys think. later.</a:t>
            </a:r>
          </a:p>
          <a:p>
            <a:endParaRPr lang="en-US" dirty="0">
              <a:solidFill>
                <a:schemeClr val="accent6">
                  <a:lumMod val="60000"/>
                  <a:lumOff val="40000"/>
                </a:schemeClr>
              </a:solidFill>
            </a:endParaRPr>
          </a:p>
          <a:p>
            <a:r>
              <a:rPr lang="en-US" dirty="0">
                <a:solidFill>
                  <a:schemeClr val="accent6">
                    <a:lumMod val="60000"/>
                    <a:lumOff val="40000"/>
                  </a:schemeClr>
                </a:solidFill>
              </a:rPr>
              <a:t>BTW: Did anyone solve the bug that John mentioned ?</a:t>
            </a:r>
          </a:p>
          <a:p>
            <a:endParaRPr lang="en-IN" dirty="0">
              <a:solidFill>
                <a:schemeClr val="accent6">
                  <a:lumMod val="60000"/>
                  <a:lumOff val="40000"/>
                </a:schemeClr>
              </a:solidFill>
            </a:endParaRPr>
          </a:p>
        </p:txBody>
      </p:sp>
      <p:sp>
        <p:nvSpPr>
          <p:cNvPr id="12" name="Arrow: Right 11">
            <a:extLst>
              <a:ext uri="{FF2B5EF4-FFF2-40B4-BE49-F238E27FC236}">
                <a16:creationId xmlns:a16="http://schemas.microsoft.com/office/drawing/2014/main" id="{B9B4B17F-5175-32FE-78C5-87DE4547C72A}"/>
              </a:ext>
            </a:extLst>
          </p:cNvPr>
          <p:cNvSpPr/>
          <p:nvPr/>
        </p:nvSpPr>
        <p:spPr>
          <a:xfrm>
            <a:off x="3970402" y="3088883"/>
            <a:ext cx="411480"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F95FB4B7-A521-4379-68B3-6CAFCFE40651}"/>
              </a:ext>
            </a:extLst>
          </p:cNvPr>
          <p:cNvSpPr txBox="1"/>
          <p:nvPr/>
        </p:nvSpPr>
        <p:spPr>
          <a:xfrm>
            <a:off x="6924292" y="467888"/>
            <a:ext cx="5023866" cy="6463308"/>
          </a:xfrm>
          <a:prstGeom prst="rect">
            <a:avLst/>
          </a:prstGeom>
          <a:noFill/>
        </p:spPr>
        <p:txBody>
          <a:bodyPr wrap="square">
            <a:spAutoFit/>
          </a:bodyPr>
          <a:lstStyle/>
          <a:p>
            <a:r>
              <a:rPr lang="en-IN" dirty="0">
                <a:solidFill>
                  <a:schemeClr val="accent6">
                    <a:lumMod val="60000"/>
                    <a:lumOff val="40000"/>
                  </a:schemeClr>
                </a:solidFill>
              </a:rPr>
              <a:t>Subject: Software Readiness Update and Proposed Client Presentation</a:t>
            </a:r>
          </a:p>
          <a:p>
            <a:endParaRPr lang="en-IN" dirty="0">
              <a:solidFill>
                <a:schemeClr val="accent6">
                  <a:lumMod val="60000"/>
                  <a:lumOff val="40000"/>
                </a:schemeClr>
              </a:solidFill>
            </a:endParaRPr>
          </a:p>
          <a:p>
            <a:r>
              <a:rPr lang="en-IN" dirty="0">
                <a:solidFill>
                  <a:schemeClr val="accent6">
                    <a:lumMod val="60000"/>
                    <a:lumOff val="40000"/>
                  </a:schemeClr>
                </a:solidFill>
              </a:rPr>
              <a:t>Hi Team,</a:t>
            </a:r>
          </a:p>
          <a:p>
            <a:r>
              <a:rPr lang="en-IN" dirty="0">
                <a:solidFill>
                  <a:schemeClr val="accent6">
                    <a:lumMod val="60000"/>
                    <a:lumOff val="40000"/>
                  </a:schemeClr>
                </a:solidFill>
              </a:rPr>
              <a:t>I wanted to provide a quick update regarding the current status of the software. We are nearly ready for completion, though a few remaining tasks still need to be addressed.</a:t>
            </a:r>
          </a:p>
          <a:p>
            <a:endParaRPr lang="en-IN" dirty="0">
              <a:solidFill>
                <a:schemeClr val="accent6">
                  <a:lumMod val="60000"/>
                  <a:lumOff val="40000"/>
                </a:schemeClr>
              </a:solidFill>
            </a:endParaRPr>
          </a:p>
          <a:p>
            <a:r>
              <a:rPr lang="en-IN" dirty="0">
                <a:solidFill>
                  <a:schemeClr val="accent6">
                    <a:lumMod val="60000"/>
                    <a:lumOff val="40000"/>
                  </a:schemeClr>
                </a:solidFill>
              </a:rPr>
              <a:t>I propose that we present our current progress to the clients and inform them that the remaining features are currently a Work in Progress. Demonstrating what we have completed so far will keep the clients updated and satisfied with our progress.</a:t>
            </a:r>
          </a:p>
          <a:p>
            <a:endParaRPr lang="en-IN" dirty="0">
              <a:solidFill>
                <a:schemeClr val="accent6">
                  <a:lumMod val="60000"/>
                  <a:lumOff val="40000"/>
                </a:schemeClr>
              </a:solidFill>
            </a:endParaRPr>
          </a:p>
          <a:p>
            <a:r>
              <a:rPr lang="en-IN" dirty="0">
                <a:solidFill>
                  <a:schemeClr val="accent6">
                    <a:lumMod val="60000"/>
                    <a:lumOff val="40000"/>
                  </a:schemeClr>
                </a:solidFill>
              </a:rPr>
              <a:t>Please let me know your thoughts on this approach.</a:t>
            </a:r>
          </a:p>
          <a:p>
            <a:endParaRPr lang="en-IN" dirty="0">
              <a:solidFill>
                <a:schemeClr val="accent6">
                  <a:lumMod val="60000"/>
                  <a:lumOff val="40000"/>
                </a:schemeClr>
              </a:solidFill>
            </a:endParaRPr>
          </a:p>
          <a:p>
            <a:r>
              <a:rPr lang="en-IN" dirty="0">
                <a:solidFill>
                  <a:schemeClr val="accent6">
                    <a:lumMod val="60000"/>
                    <a:lumOff val="40000"/>
                  </a:schemeClr>
                </a:solidFill>
              </a:rPr>
              <a:t>Best regards,  </a:t>
            </a:r>
          </a:p>
          <a:p>
            <a:r>
              <a:rPr lang="en-IN" dirty="0">
                <a:solidFill>
                  <a:schemeClr val="accent6">
                    <a:lumMod val="60000"/>
                    <a:lumOff val="40000"/>
                  </a:schemeClr>
                </a:solidFill>
              </a:rPr>
              <a:t>[Your Name]</a:t>
            </a:r>
          </a:p>
          <a:p>
            <a:endParaRPr lang="en-IN" dirty="0">
              <a:solidFill>
                <a:schemeClr val="accent6">
                  <a:lumMod val="60000"/>
                  <a:lumOff val="40000"/>
                </a:schemeClr>
              </a:solidFill>
            </a:endParaRPr>
          </a:p>
          <a:p>
            <a:r>
              <a:rPr lang="en-IN" dirty="0">
                <a:solidFill>
                  <a:schemeClr val="accent6">
                    <a:lumMod val="60000"/>
                    <a:lumOff val="40000"/>
                  </a:schemeClr>
                </a:solidFill>
              </a:rPr>
              <a:t>P.S. By the way, has anyone had a chance to resolve the bug that John mentioned earlier?</a:t>
            </a:r>
          </a:p>
        </p:txBody>
      </p:sp>
      <p:sp>
        <p:nvSpPr>
          <p:cNvPr id="18" name="Arrow: Right 17">
            <a:extLst>
              <a:ext uri="{FF2B5EF4-FFF2-40B4-BE49-F238E27FC236}">
                <a16:creationId xmlns:a16="http://schemas.microsoft.com/office/drawing/2014/main" id="{6EB6A117-464D-6526-A552-5544A0B0FD72}"/>
              </a:ext>
            </a:extLst>
          </p:cNvPr>
          <p:cNvSpPr/>
          <p:nvPr/>
        </p:nvSpPr>
        <p:spPr>
          <a:xfrm>
            <a:off x="6718552" y="3059668"/>
            <a:ext cx="245367"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6625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FB0CD-9A54-2FEB-3BB5-C04FB26A3F87}"/>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9005696-6EFE-F177-0957-15C91DD79A78}"/>
              </a:ext>
            </a:extLst>
          </p:cNvPr>
          <p:cNvSpPr/>
          <p:nvPr/>
        </p:nvSpPr>
        <p:spPr>
          <a:xfrm>
            <a:off x="4160542" y="2398514"/>
            <a:ext cx="2284476" cy="16916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Agent</a:t>
            </a:r>
          </a:p>
        </p:txBody>
      </p:sp>
      <p:sp>
        <p:nvSpPr>
          <p:cNvPr id="10" name="TextBox 9">
            <a:extLst>
              <a:ext uri="{FF2B5EF4-FFF2-40B4-BE49-F238E27FC236}">
                <a16:creationId xmlns:a16="http://schemas.microsoft.com/office/drawing/2014/main" id="{3BE9FD27-7C42-1A76-27C4-43E85A46645D}"/>
              </a:ext>
            </a:extLst>
          </p:cNvPr>
          <p:cNvSpPr txBox="1"/>
          <p:nvPr/>
        </p:nvSpPr>
        <p:spPr>
          <a:xfrm>
            <a:off x="2378692" y="0"/>
            <a:ext cx="6190488" cy="369332"/>
          </a:xfrm>
          <a:prstGeom prst="rect">
            <a:avLst/>
          </a:prstGeom>
          <a:noFill/>
        </p:spPr>
        <p:txBody>
          <a:bodyPr wrap="square">
            <a:spAutoFit/>
          </a:bodyPr>
          <a:lstStyle/>
          <a:p>
            <a:r>
              <a:rPr lang="en-US" dirty="0">
                <a:solidFill>
                  <a:schemeClr val="accent6">
                    <a:lumMod val="60000"/>
                    <a:lumOff val="40000"/>
                  </a:schemeClr>
                </a:solidFill>
              </a:rPr>
              <a:t>step2_email_agent_with_tool.ipynb</a:t>
            </a:r>
            <a:endParaRPr lang="en-IN" dirty="0">
              <a:solidFill>
                <a:schemeClr val="accent4">
                  <a:lumMod val="60000"/>
                  <a:lumOff val="40000"/>
                </a:schemeClr>
              </a:solidFill>
            </a:endParaRPr>
          </a:p>
        </p:txBody>
      </p:sp>
      <p:sp>
        <p:nvSpPr>
          <p:cNvPr id="11" name="TextBox 10">
            <a:extLst>
              <a:ext uri="{FF2B5EF4-FFF2-40B4-BE49-F238E27FC236}">
                <a16:creationId xmlns:a16="http://schemas.microsoft.com/office/drawing/2014/main" id="{858CD3D3-E7EF-7DC4-44C2-4FD496055905}"/>
              </a:ext>
            </a:extLst>
          </p:cNvPr>
          <p:cNvSpPr txBox="1"/>
          <p:nvPr/>
        </p:nvSpPr>
        <p:spPr>
          <a:xfrm>
            <a:off x="60962" y="1390762"/>
            <a:ext cx="4023359" cy="2862322"/>
          </a:xfrm>
          <a:prstGeom prst="rect">
            <a:avLst/>
          </a:prstGeom>
          <a:noFill/>
        </p:spPr>
        <p:txBody>
          <a:bodyPr wrap="square" rtlCol="0">
            <a:spAutoFit/>
          </a:bodyPr>
          <a:lstStyle/>
          <a:p>
            <a:r>
              <a:rPr lang="en-US" b="1" u="sng" dirty="0">
                <a:solidFill>
                  <a:schemeClr val="accent6">
                    <a:lumMod val="60000"/>
                    <a:lumOff val="40000"/>
                  </a:schemeClr>
                </a:solidFill>
              </a:rPr>
              <a:t>Rough email:</a:t>
            </a:r>
          </a:p>
          <a:p>
            <a:endParaRPr lang="en-US" b="1" u="sng" dirty="0">
              <a:solidFill>
                <a:schemeClr val="accent6">
                  <a:lumMod val="60000"/>
                  <a:lumOff val="40000"/>
                </a:schemeClr>
              </a:solidFill>
            </a:endParaRPr>
          </a:p>
          <a:p>
            <a:r>
              <a:rPr lang="en-US" dirty="0">
                <a:solidFill>
                  <a:schemeClr val="accent6">
                    <a:lumMod val="60000"/>
                    <a:lumOff val="40000"/>
                  </a:schemeClr>
                </a:solidFill>
              </a:rPr>
              <a:t>looping in John. </a:t>
            </a:r>
          </a:p>
          <a:p>
            <a:r>
              <a:rPr lang="en-US" dirty="0">
                <a:solidFill>
                  <a:schemeClr val="accent6">
                    <a:lumMod val="60000"/>
                    <a:lumOff val="40000"/>
                  </a:schemeClr>
                </a:solidFill>
              </a:rPr>
              <a:t>TA and PRG updates are in the deck. </a:t>
            </a:r>
          </a:p>
          <a:p>
            <a:endParaRPr lang="en-US" dirty="0">
              <a:solidFill>
                <a:schemeClr val="accent6">
                  <a:lumMod val="60000"/>
                  <a:lumOff val="40000"/>
                </a:schemeClr>
              </a:solidFill>
            </a:endParaRPr>
          </a:p>
          <a:p>
            <a:r>
              <a:rPr lang="en-US" dirty="0">
                <a:solidFill>
                  <a:schemeClr val="accent6">
                    <a:lumMod val="60000"/>
                    <a:lumOff val="40000"/>
                  </a:schemeClr>
                </a:solidFill>
              </a:rPr>
              <a:t>ETA for PRG integration is Fri.</a:t>
            </a:r>
          </a:p>
          <a:p>
            <a:endParaRPr lang="en-US" dirty="0">
              <a:solidFill>
                <a:schemeClr val="accent6">
                  <a:lumMod val="60000"/>
                  <a:lumOff val="40000"/>
                </a:schemeClr>
              </a:solidFill>
            </a:endParaRPr>
          </a:p>
          <a:p>
            <a:r>
              <a:rPr lang="en-US" dirty="0">
                <a:solidFill>
                  <a:schemeClr val="accent6">
                    <a:lumMod val="60000"/>
                    <a:lumOff val="40000"/>
                  </a:schemeClr>
                </a:solidFill>
              </a:rPr>
              <a:t>Let's sync up tomorrow. </a:t>
            </a:r>
          </a:p>
          <a:p>
            <a:endParaRPr lang="en-US" dirty="0">
              <a:solidFill>
                <a:schemeClr val="accent6">
                  <a:lumMod val="60000"/>
                  <a:lumOff val="40000"/>
                </a:schemeClr>
              </a:solidFill>
            </a:endParaRPr>
          </a:p>
          <a:p>
            <a:r>
              <a:rPr lang="en-US" dirty="0">
                <a:solidFill>
                  <a:schemeClr val="accent6">
                    <a:lumMod val="60000"/>
                    <a:lumOff val="40000"/>
                  </a:schemeClr>
                </a:solidFill>
              </a:rPr>
              <a:t>BTW, ping me if any hurdles.</a:t>
            </a:r>
            <a:endParaRPr lang="en-IN" dirty="0">
              <a:solidFill>
                <a:schemeClr val="accent6">
                  <a:lumMod val="60000"/>
                  <a:lumOff val="40000"/>
                </a:schemeClr>
              </a:solidFill>
            </a:endParaRPr>
          </a:p>
        </p:txBody>
      </p:sp>
      <p:sp>
        <p:nvSpPr>
          <p:cNvPr id="12" name="Arrow: Right 11">
            <a:extLst>
              <a:ext uri="{FF2B5EF4-FFF2-40B4-BE49-F238E27FC236}">
                <a16:creationId xmlns:a16="http://schemas.microsoft.com/office/drawing/2014/main" id="{BF073964-AA48-15BD-E6BB-6DF4818AF1E6}"/>
              </a:ext>
            </a:extLst>
          </p:cNvPr>
          <p:cNvSpPr/>
          <p:nvPr/>
        </p:nvSpPr>
        <p:spPr>
          <a:xfrm>
            <a:off x="3738565" y="3059668"/>
            <a:ext cx="411480"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21C7FC11-8DF0-96A0-4A42-B33F0825EE0D}"/>
              </a:ext>
            </a:extLst>
          </p:cNvPr>
          <p:cNvSpPr txBox="1"/>
          <p:nvPr/>
        </p:nvSpPr>
        <p:spPr>
          <a:xfrm>
            <a:off x="7107172" y="947493"/>
            <a:ext cx="5023866" cy="5632311"/>
          </a:xfrm>
          <a:prstGeom prst="rect">
            <a:avLst/>
          </a:prstGeom>
          <a:noFill/>
        </p:spPr>
        <p:txBody>
          <a:bodyPr wrap="square">
            <a:spAutoFit/>
          </a:bodyPr>
          <a:lstStyle/>
          <a:p>
            <a:r>
              <a:rPr lang="en-US" dirty="0">
                <a:solidFill>
                  <a:schemeClr val="accent6">
                    <a:lumMod val="60000"/>
                    <a:lumOff val="40000"/>
                  </a:schemeClr>
                </a:solidFill>
              </a:rPr>
              <a:t>Subject: Project Status Update: </a:t>
            </a:r>
          </a:p>
          <a:p>
            <a:endParaRPr lang="en-US" dirty="0">
              <a:solidFill>
                <a:schemeClr val="accent6">
                  <a:lumMod val="60000"/>
                  <a:lumOff val="40000"/>
                </a:schemeClr>
              </a:solidFill>
            </a:endParaRPr>
          </a:p>
          <a:p>
            <a:r>
              <a:rPr lang="en-US" dirty="0">
                <a:solidFill>
                  <a:schemeClr val="accent6">
                    <a:lumMod val="60000"/>
                    <a:lumOff val="40000"/>
                  </a:schemeClr>
                </a:solidFill>
              </a:rPr>
              <a:t>Technical Architecture and Project Gemini Integration</a:t>
            </a:r>
          </a:p>
          <a:p>
            <a:endParaRPr lang="en-US" dirty="0">
              <a:solidFill>
                <a:schemeClr val="accent6">
                  <a:lumMod val="60000"/>
                  <a:lumOff val="40000"/>
                </a:schemeClr>
              </a:solidFill>
            </a:endParaRPr>
          </a:p>
          <a:p>
            <a:r>
              <a:rPr lang="en-US" dirty="0">
                <a:solidFill>
                  <a:schemeClr val="accent6">
                    <a:lumMod val="60000"/>
                    <a:lumOff val="40000"/>
                  </a:schemeClr>
                </a:solidFill>
              </a:rPr>
              <a:t>Hi [Recipient Name],</a:t>
            </a:r>
          </a:p>
          <a:p>
            <a:endParaRPr lang="en-US" dirty="0">
              <a:solidFill>
                <a:schemeClr val="accent6">
                  <a:lumMod val="60000"/>
                  <a:lumOff val="40000"/>
                </a:schemeClr>
              </a:solidFill>
            </a:endParaRPr>
          </a:p>
          <a:p>
            <a:r>
              <a:rPr lang="en-US" dirty="0">
                <a:solidFill>
                  <a:schemeClr val="accent6">
                    <a:lumMod val="60000"/>
                    <a:lumOff val="40000"/>
                  </a:schemeClr>
                </a:solidFill>
              </a:rPr>
              <a:t>I have added John to this email thread for visibility.</a:t>
            </a:r>
          </a:p>
          <a:p>
            <a:endParaRPr lang="en-US" dirty="0">
              <a:solidFill>
                <a:schemeClr val="accent6">
                  <a:lumMod val="60000"/>
                  <a:lumOff val="40000"/>
                </a:schemeClr>
              </a:solidFill>
            </a:endParaRPr>
          </a:p>
          <a:p>
            <a:r>
              <a:rPr lang="en-US" dirty="0">
                <a:solidFill>
                  <a:schemeClr val="accent6">
                    <a:lumMod val="60000"/>
                    <a:lumOff val="40000"/>
                  </a:schemeClr>
                </a:solidFill>
              </a:rPr>
              <a:t>The latest updates regarding Technical Architecture and Project Gemini have been uploaded to the presentation deck. Please note that the estimated completion date for the Project Gemini integration is this Friday.</a:t>
            </a:r>
          </a:p>
          <a:p>
            <a:endParaRPr lang="en-US" dirty="0">
              <a:solidFill>
                <a:schemeClr val="accent6">
                  <a:lumMod val="60000"/>
                  <a:lumOff val="40000"/>
                </a:schemeClr>
              </a:solidFill>
            </a:endParaRPr>
          </a:p>
          <a:p>
            <a:r>
              <a:rPr lang="en-US" dirty="0">
                <a:solidFill>
                  <a:schemeClr val="accent6">
                    <a:lumMod val="60000"/>
                    <a:lumOff val="40000"/>
                  </a:schemeClr>
                </a:solidFill>
              </a:rPr>
              <a:t>Let us connect tomorrow to discuss these updates further. By the way, please feel free to reach out to me if you encounter any hurdles or roadblocks in the meantime.</a:t>
            </a:r>
          </a:p>
          <a:p>
            <a:r>
              <a:rPr lang="en-US" dirty="0">
                <a:solidFill>
                  <a:schemeClr val="accent6">
                    <a:lumMod val="60000"/>
                    <a:lumOff val="40000"/>
                  </a:schemeClr>
                </a:solidFill>
              </a:rPr>
              <a:t>Best regards,[Your Name]</a:t>
            </a:r>
            <a:endParaRPr lang="en-IN" dirty="0">
              <a:solidFill>
                <a:schemeClr val="accent6">
                  <a:lumMod val="60000"/>
                  <a:lumOff val="40000"/>
                </a:schemeClr>
              </a:solidFill>
            </a:endParaRPr>
          </a:p>
        </p:txBody>
      </p:sp>
      <p:sp>
        <p:nvSpPr>
          <p:cNvPr id="18" name="Arrow: Right 17">
            <a:extLst>
              <a:ext uri="{FF2B5EF4-FFF2-40B4-BE49-F238E27FC236}">
                <a16:creationId xmlns:a16="http://schemas.microsoft.com/office/drawing/2014/main" id="{62EB35C1-414D-597F-0F79-0A343F99A653}"/>
              </a:ext>
            </a:extLst>
          </p:cNvPr>
          <p:cNvSpPr/>
          <p:nvPr/>
        </p:nvSpPr>
        <p:spPr>
          <a:xfrm>
            <a:off x="6586963" y="2900648"/>
            <a:ext cx="245367"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21B92D34-7F56-6B41-982B-6EF9FD9D7201}"/>
              </a:ext>
            </a:extLst>
          </p:cNvPr>
          <p:cNvSpPr/>
          <p:nvPr/>
        </p:nvSpPr>
        <p:spPr>
          <a:xfrm>
            <a:off x="4296940" y="3486650"/>
            <a:ext cx="2011679" cy="53035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Tool:</a:t>
            </a:r>
          </a:p>
          <a:p>
            <a:pPr algn="ctr"/>
            <a:r>
              <a:rPr lang="en-US" dirty="0"/>
              <a:t>Replace Jargon</a:t>
            </a:r>
            <a:endParaRPr lang="en-IN" dirty="0"/>
          </a:p>
        </p:txBody>
      </p:sp>
    </p:spTree>
    <p:extLst>
      <p:ext uri="{BB962C8B-B14F-4D97-AF65-F5344CB8AC3E}">
        <p14:creationId xmlns:p14="http://schemas.microsoft.com/office/powerpoint/2010/main" val="124403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3D606-6CA0-A329-0CDA-1AC175D2F15D}"/>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30BE1AC-9FF8-3CDE-EEB6-FB9C87CC7558}"/>
              </a:ext>
            </a:extLst>
          </p:cNvPr>
          <p:cNvSpPr/>
          <p:nvPr/>
        </p:nvSpPr>
        <p:spPr>
          <a:xfrm>
            <a:off x="3739896" y="3017520"/>
            <a:ext cx="2203704" cy="10241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Agent</a:t>
            </a:r>
          </a:p>
          <a:p>
            <a:pPr algn="ctr"/>
            <a:r>
              <a:rPr lang="en-US" dirty="0"/>
              <a:t>Researcher</a:t>
            </a:r>
          </a:p>
        </p:txBody>
      </p:sp>
      <p:sp>
        <p:nvSpPr>
          <p:cNvPr id="8" name="Rectangle: Rounded Corners 7">
            <a:extLst>
              <a:ext uri="{FF2B5EF4-FFF2-40B4-BE49-F238E27FC236}">
                <a16:creationId xmlns:a16="http://schemas.microsoft.com/office/drawing/2014/main" id="{F1A46628-AE11-D875-F3CF-275BDCFB0B64}"/>
              </a:ext>
            </a:extLst>
          </p:cNvPr>
          <p:cNvSpPr/>
          <p:nvPr/>
        </p:nvSpPr>
        <p:spPr>
          <a:xfrm>
            <a:off x="7467328" y="2916936"/>
            <a:ext cx="2203704" cy="10241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Agent</a:t>
            </a:r>
          </a:p>
          <a:p>
            <a:pPr algn="ctr"/>
            <a:r>
              <a:rPr lang="en-US" dirty="0"/>
              <a:t>Writer</a:t>
            </a:r>
          </a:p>
        </p:txBody>
      </p:sp>
      <p:sp>
        <p:nvSpPr>
          <p:cNvPr id="3" name="TextBox 2">
            <a:extLst>
              <a:ext uri="{FF2B5EF4-FFF2-40B4-BE49-F238E27FC236}">
                <a16:creationId xmlns:a16="http://schemas.microsoft.com/office/drawing/2014/main" id="{65551D47-3436-1164-5CBD-4EB24546D459}"/>
              </a:ext>
            </a:extLst>
          </p:cNvPr>
          <p:cNvSpPr txBox="1"/>
          <p:nvPr/>
        </p:nvSpPr>
        <p:spPr>
          <a:xfrm>
            <a:off x="2378692" y="0"/>
            <a:ext cx="6190488" cy="369332"/>
          </a:xfrm>
          <a:prstGeom prst="rect">
            <a:avLst/>
          </a:prstGeom>
          <a:noFill/>
        </p:spPr>
        <p:txBody>
          <a:bodyPr wrap="square">
            <a:spAutoFit/>
          </a:bodyPr>
          <a:lstStyle/>
          <a:p>
            <a:r>
              <a:rPr lang="en-US" dirty="0">
                <a:solidFill>
                  <a:schemeClr val="accent6">
                    <a:lumMod val="60000"/>
                    <a:lumOff val="40000"/>
                  </a:schemeClr>
                </a:solidFill>
              </a:rPr>
              <a:t>step4_crew_with_2_agents.ipynb</a:t>
            </a:r>
            <a:endParaRPr lang="en-IN" dirty="0">
              <a:solidFill>
                <a:schemeClr val="accent4">
                  <a:lumMod val="60000"/>
                  <a:lumOff val="40000"/>
                </a:schemeClr>
              </a:solidFill>
            </a:endParaRPr>
          </a:p>
        </p:txBody>
      </p:sp>
      <p:sp>
        <p:nvSpPr>
          <p:cNvPr id="4" name="Arrow: Right 3">
            <a:extLst>
              <a:ext uri="{FF2B5EF4-FFF2-40B4-BE49-F238E27FC236}">
                <a16:creationId xmlns:a16="http://schemas.microsoft.com/office/drawing/2014/main" id="{5EDD3D69-B5FA-666D-2E4C-9FBA23186B92}"/>
              </a:ext>
            </a:extLst>
          </p:cNvPr>
          <p:cNvSpPr/>
          <p:nvPr/>
        </p:nvSpPr>
        <p:spPr>
          <a:xfrm>
            <a:off x="2057400" y="3246120"/>
            <a:ext cx="950976" cy="4480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Right 6">
            <a:extLst>
              <a:ext uri="{FF2B5EF4-FFF2-40B4-BE49-F238E27FC236}">
                <a16:creationId xmlns:a16="http://schemas.microsoft.com/office/drawing/2014/main" id="{DB4D6663-DCCE-6B08-B337-5B311953855A}"/>
              </a:ext>
            </a:extLst>
          </p:cNvPr>
          <p:cNvSpPr/>
          <p:nvPr/>
        </p:nvSpPr>
        <p:spPr>
          <a:xfrm>
            <a:off x="6248402" y="3204972"/>
            <a:ext cx="950976" cy="4480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968579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1684</TotalTime>
  <Words>413</Words>
  <Application>Microsoft Office PowerPoint</Application>
  <PresentationFormat>Widescreen</PresentationFormat>
  <Paragraphs>63</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216</cp:revision>
  <dcterms:created xsi:type="dcterms:W3CDTF">2025-09-22T02:44:38Z</dcterms:created>
  <dcterms:modified xsi:type="dcterms:W3CDTF">2026-09-18T17:58:52Z</dcterms:modified>
</cp:coreProperties>
</file>