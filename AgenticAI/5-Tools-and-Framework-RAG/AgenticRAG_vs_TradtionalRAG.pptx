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6" r:id="rId3"/>
    <p:sldId id="279" r:id="rId4"/>
    <p:sldId id="283" r:id="rId5"/>
    <p:sldId id="277" r:id="rId6"/>
    <p:sldId id="278" r:id="rId7"/>
    <p:sldId id="280" r:id="rId8"/>
    <p:sldId id="281" r:id="rId9"/>
    <p:sldId id="282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RAG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307C0D-4D92-FAD1-E47A-29F2EC0C6518}"/>
              </a:ext>
            </a:extLst>
          </p:cNvPr>
          <p:cNvSpPr/>
          <p:nvPr/>
        </p:nvSpPr>
        <p:spPr>
          <a:xfrm>
            <a:off x="6179274" y="2954813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41351C-5469-2AA5-A6A5-80F4AC91F441}"/>
              </a:ext>
            </a:extLst>
          </p:cNvPr>
          <p:cNvSpPr/>
          <p:nvPr/>
        </p:nvSpPr>
        <p:spPr>
          <a:xfrm>
            <a:off x="10213848" y="2847041"/>
            <a:ext cx="1953288" cy="14250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8E6561-4FDD-AD1F-BDF6-EFDDC34284A8}"/>
              </a:ext>
            </a:extLst>
          </p:cNvPr>
          <p:cNvSpPr/>
          <p:nvPr/>
        </p:nvSpPr>
        <p:spPr>
          <a:xfrm>
            <a:off x="9793246" y="5493547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1AB25F-B46A-1FB2-9782-B5A56E595B67}"/>
              </a:ext>
            </a:extLst>
          </p:cNvPr>
          <p:cNvSpPr/>
          <p:nvPr/>
        </p:nvSpPr>
        <p:spPr>
          <a:xfrm>
            <a:off x="8081045" y="5667283"/>
            <a:ext cx="1566672" cy="11003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06768B-81A2-B9ED-CC2C-835989893EE8}"/>
              </a:ext>
            </a:extLst>
          </p:cNvPr>
          <p:cNvSpPr/>
          <p:nvPr/>
        </p:nvSpPr>
        <p:spPr>
          <a:xfrm>
            <a:off x="8081045" y="3891897"/>
            <a:ext cx="1479351" cy="9621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8737A69-3758-B4B3-D63F-02935F26B5B3}"/>
              </a:ext>
            </a:extLst>
          </p:cNvPr>
          <p:cNvSpPr/>
          <p:nvPr/>
        </p:nvSpPr>
        <p:spPr>
          <a:xfrm rot="2308375">
            <a:off x="7404496" y="3789935"/>
            <a:ext cx="579360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EEE5D9B-CFFD-AA90-4AE3-AD68B4D85F0B}"/>
              </a:ext>
            </a:extLst>
          </p:cNvPr>
          <p:cNvSpPr/>
          <p:nvPr/>
        </p:nvSpPr>
        <p:spPr>
          <a:xfrm rot="19171423">
            <a:off x="9552414" y="3740760"/>
            <a:ext cx="669418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E11573C-B542-142E-9B29-E71DA710058C}"/>
              </a:ext>
            </a:extLst>
          </p:cNvPr>
          <p:cNvSpPr/>
          <p:nvPr/>
        </p:nvSpPr>
        <p:spPr>
          <a:xfrm rot="5400000">
            <a:off x="8197602" y="4955191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1F11FC5-7CF4-160A-A04F-777F8A3AAAD9}"/>
              </a:ext>
            </a:extLst>
          </p:cNvPr>
          <p:cNvSpPr/>
          <p:nvPr/>
        </p:nvSpPr>
        <p:spPr>
          <a:xfrm rot="10800000">
            <a:off x="7508510" y="2946535"/>
            <a:ext cx="2711742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22EF53-9E42-8394-E3D7-312C490CFE25}"/>
              </a:ext>
            </a:extLst>
          </p:cNvPr>
          <p:cNvSpPr txBox="1"/>
          <p:nvPr/>
        </p:nvSpPr>
        <p:spPr>
          <a:xfrm>
            <a:off x="7177598" y="4119426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E66857-0F54-F742-1168-D21FD9C14A99}"/>
              </a:ext>
            </a:extLst>
          </p:cNvPr>
          <p:cNvSpPr txBox="1"/>
          <p:nvPr/>
        </p:nvSpPr>
        <p:spPr>
          <a:xfrm>
            <a:off x="7765966" y="5253791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6D1764-705E-078C-69EB-FE6514D9A3DC}"/>
              </a:ext>
            </a:extLst>
          </p:cNvPr>
          <p:cNvSpPr txBox="1"/>
          <p:nvPr/>
        </p:nvSpPr>
        <p:spPr>
          <a:xfrm>
            <a:off x="9800992" y="4208053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681400-D690-B5B1-948B-E2C2392CEF46}"/>
              </a:ext>
            </a:extLst>
          </p:cNvPr>
          <p:cNvSpPr txBox="1"/>
          <p:nvPr/>
        </p:nvSpPr>
        <p:spPr>
          <a:xfrm>
            <a:off x="8635944" y="2675645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F97F451-727B-A63C-21A3-A4D2716945A2}"/>
              </a:ext>
            </a:extLst>
          </p:cNvPr>
          <p:cNvSpPr/>
          <p:nvPr/>
        </p:nvSpPr>
        <p:spPr>
          <a:xfrm rot="16200000">
            <a:off x="8704276" y="4893355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A74C44-EA2E-B9AB-492B-EC6A7C4897F9}"/>
              </a:ext>
            </a:extLst>
          </p:cNvPr>
          <p:cNvSpPr txBox="1"/>
          <p:nvPr/>
        </p:nvSpPr>
        <p:spPr>
          <a:xfrm>
            <a:off x="9230401" y="5089199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650B04-84CD-8358-7C54-A086E09A070E}"/>
              </a:ext>
            </a:extLst>
          </p:cNvPr>
          <p:cNvSpPr txBox="1"/>
          <p:nvPr/>
        </p:nvSpPr>
        <p:spPr>
          <a:xfrm>
            <a:off x="0" y="616744"/>
            <a:ext cx="70654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 takes a user query, converts it into a vector embedding, 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retriever finds similar chunks from Vector DB,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dumps the text chunks + query into the prompt window,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sends the prompt to the LLM,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LLM generates a response and sends it to the user.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D6485-BEBF-D788-D34C-92C21E309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E78BA241-D9FA-1C1C-406B-735EEF37708D}"/>
              </a:ext>
            </a:extLst>
          </p:cNvPr>
          <p:cNvSpPr txBox="1"/>
          <p:nvPr/>
        </p:nvSpPr>
        <p:spPr>
          <a:xfrm>
            <a:off x="260604" y="0"/>
            <a:ext cx="114894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Compare our Q2 2026 revenue with our main competitor, and explain why our marketing spend didn't yield the expected ROI based on our internal strategy deck.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7DAD9-20FE-B132-7B3E-A561EF3BCCB6}"/>
              </a:ext>
            </a:extLst>
          </p:cNvPr>
          <p:cNvSpPr txBox="1"/>
          <p:nvPr/>
        </p:nvSpPr>
        <p:spPr>
          <a:xfrm>
            <a:off x="182880" y="830997"/>
            <a:ext cx="8623064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❌ Traditional RAG (The Linear Path)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Traditional RAG tries to do everything in </a:t>
            </a: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one single shot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Embedding &amp; Search: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The system converts the entire complex user query into a single vector embedding.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R="0" lvl="0">
              <a:spcBef>
                <a:spcPts val="900"/>
              </a:spcBef>
              <a:spcAft>
                <a:spcPts val="900"/>
              </a:spcAft>
            </a:pPr>
            <a:r>
              <a:rPr lang="en-US" sz="2000" b="0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Cont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….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99B5C1E-67CF-74E9-E2F6-DF42550921E2}"/>
              </a:ext>
            </a:extLst>
          </p:cNvPr>
          <p:cNvSpPr/>
          <p:nvPr/>
        </p:nvSpPr>
        <p:spPr>
          <a:xfrm>
            <a:off x="6179274" y="2954813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1EE4CD-EF78-719A-1285-E6013110AF3D}"/>
              </a:ext>
            </a:extLst>
          </p:cNvPr>
          <p:cNvSpPr/>
          <p:nvPr/>
        </p:nvSpPr>
        <p:spPr>
          <a:xfrm>
            <a:off x="10213848" y="2847041"/>
            <a:ext cx="1953288" cy="14250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A13AEA-B2E7-D8AC-2AE5-A00324671240}"/>
              </a:ext>
            </a:extLst>
          </p:cNvPr>
          <p:cNvSpPr/>
          <p:nvPr/>
        </p:nvSpPr>
        <p:spPr>
          <a:xfrm>
            <a:off x="9793246" y="5493547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C59CDE-138D-9423-C3CF-11E714A642B4}"/>
              </a:ext>
            </a:extLst>
          </p:cNvPr>
          <p:cNvSpPr/>
          <p:nvPr/>
        </p:nvSpPr>
        <p:spPr>
          <a:xfrm>
            <a:off x="8081045" y="5667283"/>
            <a:ext cx="1566672" cy="11003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98A7A22-89F5-429F-D286-1D265095C231}"/>
              </a:ext>
            </a:extLst>
          </p:cNvPr>
          <p:cNvSpPr/>
          <p:nvPr/>
        </p:nvSpPr>
        <p:spPr>
          <a:xfrm>
            <a:off x="8081045" y="3891897"/>
            <a:ext cx="1479351" cy="9621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Retriever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48FC858-E459-8BCE-05EB-92BFE8AD41B5}"/>
              </a:ext>
            </a:extLst>
          </p:cNvPr>
          <p:cNvSpPr/>
          <p:nvPr/>
        </p:nvSpPr>
        <p:spPr>
          <a:xfrm rot="2308375">
            <a:off x="7404496" y="3789935"/>
            <a:ext cx="579360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8FD8B12-0D01-1756-BF2D-9A806FE74D0C}"/>
              </a:ext>
            </a:extLst>
          </p:cNvPr>
          <p:cNvSpPr/>
          <p:nvPr/>
        </p:nvSpPr>
        <p:spPr>
          <a:xfrm rot="19171423">
            <a:off x="9552414" y="3740760"/>
            <a:ext cx="669418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5F18C5B-519E-EFD6-5D15-0B5F45343189}"/>
              </a:ext>
            </a:extLst>
          </p:cNvPr>
          <p:cNvSpPr/>
          <p:nvPr/>
        </p:nvSpPr>
        <p:spPr>
          <a:xfrm rot="5400000">
            <a:off x="8197602" y="4955191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7CA65A4-F3BA-FF04-0EB2-16FDFF236871}"/>
              </a:ext>
            </a:extLst>
          </p:cNvPr>
          <p:cNvSpPr/>
          <p:nvPr/>
        </p:nvSpPr>
        <p:spPr>
          <a:xfrm rot="10800000">
            <a:off x="7508510" y="2946535"/>
            <a:ext cx="2711742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AF4052-8BA8-D56A-D2F9-C5B7B2D9F876}"/>
              </a:ext>
            </a:extLst>
          </p:cNvPr>
          <p:cNvSpPr txBox="1"/>
          <p:nvPr/>
        </p:nvSpPr>
        <p:spPr>
          <a:xfrm>
            <a:off x="7177598" y="4119426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B148F3-EABF-F272-6428-E49A1FD768D6}"/>
              </a:ext>
            </a:extLst>
          </p:cNvPr>
          <p:cNvSpPr txBox="1"/>
          <p:nvPr/>
        </p:nvSpPr>
        <p:spPr>
          <a:xfrm>
            <a:off x="7765966" y="5253791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286B61-9E98-C4A2-75EF-E37AC7393641}"/>
              </a:ext>
            </a:extLst>
          </p:cNvPr>
          <p:cNvSpPr txBox="1"/>
          <p:nvPr/>
        </p:nvSpPr>
        <p:spPr>
          <a:xfrm>
            <a:off x="9800992" y="4208053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0275A1-03D0-D813-3939-03F1BD2FA5C5}"/>
              </a:ext>
            </a:extLst>
          </p:cNvPr>
          <p:cNvSpPr txBox="1"/>
          <p:nvPr/>
        </p:nvSpPr>
        <p:spPr>
          <a:xfrm>
            <a:off x="8635944" y="2675645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B92ABA76-F2DF-F7CD-EEB9-F312845846B4}"/>
              </a:ext>
            </a:extLst>
          </p:cNvPr>
          <p:cNvSpPr/>
          <p:nvPr/>
        </p:nvSpPr>
        <p:spPr>
          <a:xfrm rot="16200000">
            <a:off x="8704276" y="4893355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65773C-66CE-AAD3-68A1-0831889E4322}"/>
              </a:ext>
            </a:extLst>
          </p:cNvPr>
          <p:cNvSpPr txBox="1"/>
          <p:nvPr/>
        </p:nvSpPr>
        <p:spPr>
          <a:xfrm>
            <a:off x="9230401" y="5089199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04669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B377D-D124-C33C-CEEC-5DFBE962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EB9F7E-B6A8-51F0-4A16-6E289153F76D}"/>
              </a:ext>
            </a:extLst>
          </p:cNvPr>
          <p:cNvSpPr txBox="1"/>
          <p:nvPr/>
        </p:nvSpPr>
        <p:spPr>
          <a:xfrm>
            <a:off x="150039" y="90389"/>
            <a:ext cx="862306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900"/>
              </a:spcBef>
              <a:spcAft>
                <a:spcPts val="900"/>
              </a:spcAft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…</a:t>
            </a:r>
            <a:r>
              <a:rPr lang="en-US" sz="2000" b="1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cont</a:t>
            </a:r>
            <a:endParaRPr lang="en-US" sz="2000" b="1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R="0" lvl="0">
              <a:spcBef>
                <a:spcPts val="900"/>
              </a:spcBef>
              <a:spcAft>
                <a:spcPts val="900"/>
              </a:spcAft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2. Retrieval: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It searches the vector database for text blocks matching that vector. It pulls a messy mix of Q2 financial spreadsheets, competitor analysis folders, and marketing strategy presentations.</a:t>
            </a:r>
          </a:p>
          <a:p>
            <a:pPr marR="0" lvl="0">
              <a:spcBef>
                <a:spcPts val="900"/>
              </a:spcBef>
              <a:spcAft>
                <a:spcPts val="900"/>
              </a:spcAft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The Bottleneck: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Because it does only one search, the top 5 retrieved chunks might contain our Q2 revenue numbers, but completely miss the competitor's data or the specific marketing strategy insights.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B5073B-5109-8DC9-AEB9-B35D2BBC4960}"/>
              </a:ext>
            </a:extLst>
          </p:cNvPr>
          <p:cNvSpPr/>
          <p:nvPr/>
        </p:nvSpPr>
        <p:spPr>
          <a:xfrm>
            <a:off x="6179274" y="2954813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A71BB5-8C1F-1EBC-870F-4A66E5C58A7E}"/>
              </a:ext>
            </a:extLst>
          </p:cNvPr>
          <p:cNvSpPr/>
          <p:nvPr/>
        </p:nvSpPr>
        <p:spPr>
          <a:xfrm>
            <a:off x="10213848" y="2847041"/>
            <a:ext cx="1953288" cy="14250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690FDE-4177-1D8B-6E9B-06FD92965DC4}"/>
              </a:ext>
            </a:extLst>
          </p:cNvPr>
          <p:cNvSpPr/>
          <p:nvPr/>
        </p:nvSpPr>
        <p:spPr>
          <a:xfrm>
            <a:off x="9793246" y="5493547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BC6FD9F-B6E2-2FA9-04E9-D89F5C7905A3}"/>
              </a:ext>
            </a:extLst>
          </p:cNvPr>
          <p:cNvSpPr/>
          <p:nvPr/>
        </p:nvSpPr>
        <p:spPr>
          <a:xfrm>
            <a:off x="8081045" y="5667283"/>
            <a:ext cx="1566672" cy="11003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28BBB17-4FCF-1014-7468-194FBE3D1C17}"/>
              </a:ext>
            </a:extLst>
          </p:cNvPr>
          <p:cNvSpPr/>
          <p:nvPr/>
        </p:nvSpPr>
        <p:spPr>
          <a:xfrm>
            <a:off x="8081045" y="3891897"/>
            <a:ext cx="1479351" cy="9621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Retriever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99A1AD6-9625-BEC6-D083-5A8581AF55EB}"/>
              </a:ext>
            </a:extLst>
          </p:cNvPr>
          <p:cNvSpPr/>
          <p:nvPr/>
        </p:nvSpPr>
        <p:spPr>
          <a:xfrm rot="2308375">
            <a:off x="7404496" y="3789935"/>
            <a:ext cx="579360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FB60676-476E-FFC2-0557-DD64D303CEDD}"/>
              </a:ext>
            </a:extLst>
          </p:cNvPr>
          <p:cNvSpPr/>
          <p:nvPr/>
        </p:nvSpPr>
        <p:spPr>
          <a:xfrm rot="19171423">
            <a:off x="9552414" y="3740760"/>
            <a:ext cx="669418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6727ADE-2259-45A1-71B2-99743B423109}"/>
              </a:ext>
            </a:extLst>
          </p:cNvPr>
          <p:cNvSpPr/>
          <p:nvPr/>
        </p:nvSpPr>
        <p:spPr>
          <a:xfrm rot="5400000">
            <a:off x="8197602" y="4955191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D9CF9DB-763B-9C6D-4F23-2E876B3B2178}"/>
              </a:ext>
            </a:extLst>
          </p:cNvPr>
          <p:cNvSpPr/>
          <p:nvPr/>
        </p:nvSpPr>
        <p:spPr>
          <a:xfrm rot="10800000">
            <a:off x="7508510" y="2946535"/>
            <a:ext cx="2711742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5F25C3-218B-E677-38B7-1DFD53DD1166}"/>
              </a:ext>
            </a:extLst>
          </p:cNvPr>
          <p:cNvSpPr txBox="1"/>
          <p:nvPr/>
        </p:nvSpPr>
        <p:spPr>
          <a:xfrm>
            <a:off x="7177598" y="4119426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41FE8F-0766-4E96-07C4-787B4D292E84}"/>
              </a:ext>
            </a:extLst>
          </p:cNvPr>
          <p:cNvSpPr txBox="1"/>
          <p:nvPr/>
        </p:nvSpPr>
        <p:spPr>
          <a:xfrm>
            <a:off x="7765966" y="5253791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E96569-7A74-BEAE-74CC-1073CF88BA19}"/>
              </a:ext>
            </a:extLst>
          </p:cNvPr>
          <p:cNvSpPr txBox="1"/>
          <p:nvPr/>
        </p:nvSpPr>
        <p:spPr>
          <a:xfrm>
            <a:off x="9800992" y="4208053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3EC2EC-1F9A-64F7-3EFA-F75D549CE591}"/>
              </a:ext>
            </a:extLst>
          </p:cNvPr>
          <p:cNvSpPr txBox="1"/>
          <p:nvPr/>
        </p:nvSpPr>
        <p:spPr>
          <a:xfrm>
            <a:off x="8635944" y="2675645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56B8EDE5-D32B-DB5E-1E31-F41A3E060303}"/>
              </a:ext>
            </a:extLst>
          </p:cNvPr>
          <p:cNvSpPr/>
          <p:nvPr/>
        </p:nvSpPr>
        <p:spPr>
          <a:xfrm rot="16200000">
            <a:off x="8704276" y="4893355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10AAC-A1F1-8F69-95ED-3E20F5765B07}"/>
              </a:ext>
            </a:extLst>
          </p:cNvPr>
          <p:cNvSpPr txBox="1"/>
          <p:nvPr/>
        </p:nvSpPr>
        <p:spPr>
          <a:xfrm>
            <a:off x="9230401" y="5089199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866FE-5559-F5B9-0AC9-E221A86165A5}"/>
              </a:ext>
            </a:extLst>
          </p:cNvPr>
          <p:cNvSpPr txBox="1"/>
          <p:nvPr/>
        </p:nvSpPr>
        <p:spPr>
          <a:xfrm>
            <a:off x="279138" y="4004286"/>
            <a:ext cx="6190488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900"/>
              </a:spcBef>
              <a:spcAft>
                <a:spcPts val="900"/>
              </a:spcAft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</a:t>
            </a: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Generation: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The LLM gets a prompt stuffed with incomplete fragments.</a:t>
            </a:r>
          </a:p>
          <a:p>
            <a:pPr marR="0" lvl="0">
              <a:spcBef>
                <a:spcPts val="900"/>
              </a:spcBef>
              <a:spcAft>
                <a:spcPts val="900"/>
              </a:spcAft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Output: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</a:t>
            </a:r>
            <a:r>
              <a:rPr lang="en-US" sz="2000" b="0" i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"According to our documents, Q2 revenue was $10M. However, I cannot find data on our competitor's revenue or the specific marketing ROI breakdown in the context provided."</a:t>
            </a:r>
            <a:endParaRPr lang="en-US" sz="20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333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6875A-5784-9582-05DF-E785EA63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815FE13-ED64-E02A-1FCC-E8A38F08A325}"/>
              </a:ext>
            </a:extLst>
          </p:cNvPr>
          <p:cNvSpPr txBox="1"/>
          <p:nvPr/>
        </p:nvSpPr>
        <p:spPr>
          <a:xfrm>
            <a:off x="486664" y="70339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RAG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EB175D-44DD-953C-93C4-7C3C6F056BA0}"/>
              </a:ext>
            </a:extLst>
          </p:cNvPr>
          <p:cNvSpPr txBox="1"/>
          <p:nvPr/>
        </p:nvSpPr>
        <p:spPr>
          <a:xfrm>
            <a:off x="0" y="616744"/>
            <a:ext cx="11704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cannot handle multi-step reasoning.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your query requires fetching information from Document A, realizing it needs a missing variable, and tracking that variable down in Document B, traditional RAG will usually fail or give an incomplete answer.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0AD4DF-85A1-1A66-0386-7BAC19F819F7}"/>
              </a:ext>
            </a:extLst>
          </p:cNvPr>
          <p:cNvSpPr/>
          <p:nvPr/>
        </p:nvSpPr>
        <p:spPr>
          <a:xfrm>
            <a:off x="6179274" y="2954813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0C488A-210A-2409-9422-CE2719E58094}"/>
              </a:ext>
            </a:extLst>
          </p:cNvPr>
          <p:cNvSpPr/>
          <p:nvPr/>
        </p:nvSpPr>
        <p:spPr>
          <a:xfrm>
            <a:off x="10213848" y="2847041"/>
            <a:ext cx="1953288" cy="14250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8629EA-A02C-0483-C949-A0E0F610D54C}"/>
              </a:ext>
            </a:extLst>
          </p:cNvPr>
          <p:cNvSpPr/>
          <p:nvPr/>
        </p:nvSpPr>
        <p:spPr>
          <a:xfrm>
            <a:off x="9793246" y="5493547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EAE922-E149-D4FC-1E72-04E401169937}"/>
              </a:ext>
            </a:extLst>
          </p:cNvPr>
          <p:cNvSpPr/>
          <p:nvPr/>
        </p:nvSpPr>
        <p:spPr>
          <a:xfrm>
            <a:off x="8081045" y="5667283"/>
            <a:ext cx="1566672" cy="11003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E90337E-41DD-A293-CD6C-AC41E4B1A365}"/>
              </a:ext>
            </a:extLst>
          </p:cNvPr>
          <p:cNvSpPr/>
          <p:nvPr/>
        </p:nvSpPr>
        <p:spPr>
          <a:xfrm>
            <a:off x="8081045" y="3891897"/>
            <a:ext cx="1479351" cy="9621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Retriever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7B56964-D5CC-5B88-81D3-E2202BA524DB}"/>
              </a:ext>
            </a:extLst>
          </p:cNvPr>
          <p:cNvSpPr/>
          <p:nvPr/>
        </p:nvSpPr>
        <p:spPr>
          <a:xfrm rot="2308375">
            <a:off x="7404496" y="3789935"/>
            <a:ext cx="579360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41AD5121-297B-241E-0C30-B6BCA6933F34}"/>
              </a:ext>
            </a:extLst>
          </p:cNvPr>
          <p:cNvSpPr/>
          <p:nvPr/>
        </p:nvSpPr>
        <p:spPr>
          <a:xfrm rot="19171423">
            <a:off x="9552414" y="3740760"/>
            <a:ext cx="669418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0D898309-5ABF-02B5-A69F-FD8C202BF15F}"/>
              </a:ext>
            </a:extLst>
          </p:cNvPr>
          <p:cNvSpPr/>
          <p:nvPr/>
        </p:nvSpPr>
        <p:spPr>
          <a:xfrm rot="5400000">
            <a:off x="8197602" y="4955191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2D31E981-B8C7-ECF1-4BF9-96CE9DD4E74B}"/>
              </a:ext>
            </a:extLst>
          </p:cNvPr>
          <p:cNvSpPr/>
          <p:nvPr/>
        </p:nvSpPr>
        <p:spPr>
          <a:xfrm rot="10800000">
            <a:off x="7508510" y="2946535"/>
            <a:ext cx="2711742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475582-1B85-EA2E-E5EE-0C315EA51CB2}"/>
              </a:ext>
            </a:extLst>
          </p:cNvPr>
          <p:cNvSpPr txBox="1"/>
          <p:nvPr/>
        </p:nvSpPr>
        <p:spPr>
          <a:xfrm>
            <a:off x="7177598" y="4119426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5E5BDF-5930-EC71-B430-FEE21E827804}"/>
              </a:ext>
            </a:extLst>
          </p:cNvPr>
          <p:cNvSpPr txBox="1"/>
          <p:nvPr/>
        </p:nvSpPr>
        <p:spPr>
          <a:xfrm>
            <a:off x="7765966" y="5253791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1C304C-B51C-8C50-4403-9D33592F0968}"/>
              </a:ext>
            </a:extLst>
          </p:cNvPr>
          <p:cNvSpPr txBox="1"/>
          <p:nvPr/>
        </p:nvSpPr>
        <p:spPr>
          <a:xfrm>
            <a:off x="9800992" y="4208053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FC5218-FE5B-E606-D60E-3F7FC0421F74}"/>
              </a:ext>
            </a:extLst>
          </p:cNvPr>
          <p:cNvSpPr txBox="1"/>
          <p:nvPr/>
        </p:nvSpPr>
        <p:spPr>
          <a:xfrm>
            <a:off x="8635944" y="2675645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A0870B4B-1DD4-86C9-ECB3-081E52CA20FE}"/>
              </a:ext>
            </a:extLst>
          </p:cNvPr>
          <p:cNvSpPr/>
          <p:nvPr/>
        </p:nvSpPr>
        <p:spPr>
          <a:xfrm rot="16200000">
            <a:off x="8704276" y="4893355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0057BA-551B-AD89-50BB-D5245C1D777C}"/>
              </a:ext>
            </a:extLst>
          </p:cNvPr>
          <p:cNvSpPr txBox="1"/>
          <p:nvPr/>
        </p:nvSpPr>
        <p:spPr>
          <a:xfrm>
            <a:off x="9230401" y="5089199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520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A15B7-8440-48AF-3379-2ACE2324B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433267-DDD4-A1B0-326E-BB5CC659615B}"/>
              </a:ext>
            </a:extLst>
          </p:cNvPr>
          <p:cNvSpPr txBox="1"/>
          <p:nvPr/>
        </p:nvSpPr>
        <p:spPr>
          <a:xfrm>
            <a:off x="486664" y="70339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Agentic RAG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7BABA0-77D7-35DF-7AEE-B84F43E471F1}"/>
              </a:ext>
            </a:extLst>
          </p:cNvPr>
          <p:cNvSpPr txBox="1"/>
          <p:nvPr/>
        </p:nvSpPr>
        <p:spPr>
          <a:xfrm>
            <a:off x="0" y="616744"/>
            <a:ext cx="117043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RAG system has memory + tool + reasoning capability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Planning &amp; Routing: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analyzes the user prompt and determines an intelligent strategy. For instance, it can look at a query and route it to an SQL database for numbers, or a vector store for policy documentation.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Usage: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treats data stores as tools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tool_use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 It can call a calculator, execute code via an interpreter, or hit an external web API to get real-time info if the local vector storage falls short.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Critique &amp; Reflection: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agent retrieves information and notices a gap or an ambiguity, it rewrites the query, runs a brand-new retrieval pass, or pulls from a secondary system until it is satisfied with the evidence compiled</a:t>
            </a:r>
          </a:p>
        </p:txBody>
      </p:sp>
    </p:spTree>
    <p:extLst>
      <p:ext uri="{BB962C8B-B14F-4D97-AF65-F5344CB8AC3E}">
        <p14:creationId xmlns:p14="http://schemas.microsoft.com/office/powerpoint/2010/main" val="381789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9924-7C6A-5F84-2492-B86AA6395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24BEABE4-5C5E-B629-CB6D-FB2F261D5E26}"/>
              </a:ext>
            </a:extLst>
          </p:cNvPr>
          <p:cNvSpPr txBox="1"/>
          <p:nvPr/>
        </p:nvSpPr>
        <p:spPr>
          <a:xfrm>
            <a:off x="260604" y="0"/>
            <a:ext cx="114894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our Q2 2026 revenue with our main competitor, and explain why our marketing spend didn't yield the expected ROI based on our internal strategy deck.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C48CD-360A-0AB1-B4BE-E8C67C4FD2DD}"/>
              </a:ext>
            </a:extLst>
          </p:cNvPr>
          <p:cNvSpPr txBox="1"/>
          <p:nvPr/>
        </p:nvSpPr>
        <p:spPr>
          <a:xfrm>
            <a:off x="123444" y="1443645"/>
            <a:ext cx="6256391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Agentic RAG (The Dynamic Loop)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Agentic RAG breaks the request into a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multi-step project plan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and executes it sequentially using specialized tools.</a:t>
            </a:r>
            <a:endParaRPr lang="en-US" sz="16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8883EA-33C4-8777-6D83-8C9EA6305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835" y="2206945"/>
            <a:ext cx="5534797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60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C070B-F575-80E0-758A-E528922F8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8C58AA-70FF-9778-CF75-D1556B4DAB16}"/>
              </a:ext>
            </a:extLst>
          </p:cNvPr>
          <p:cNvSpPr txBox="1"/>
          <p:nvPr/>
        </p:nvSpPr>
        <p:spPr>
          <a:xfrm>
            <a:off x="141732" y="117693"/>
            <a:ext cx="112059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(Internal Data Lookup):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identifies that it needs precise company revenue. It calls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 Database 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run a query: </a:t>
            </a: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revenue FROM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financial_reports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WHERE quarter='Q2_2026’. 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retrieves precisely: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$10 Million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(Competitor Research):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realizes competitor data isn't in the internal SQL db. It switches tools and triggers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Search 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"Competitor X Q2 2026 revenue earnings report"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It retrieves: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$12 Million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258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FFC3-9E30-0C3B-7575-030065E1E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6BD02B-91C7-2078-D00C-B0D81965D532}"/>
              </a:ext>
            </a:extLst>
          </p:cNvPr>
          <p:cNvSpPr txBox="1"/>
          <p:nvPr/>
        </p:nvSpPr>
        <p:spPr>
          <a:xfrm>
            <a:off x="141732" y="117693"/>
            <a:ext cx="112059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(Internal Qualitative Analysis):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uses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DB Search 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query the marketing folder for keywords like "marketing spend ROI failure Q2". It pulls chunks explaining that a major ad platform went down during their main campaign week.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(Evaluation &amp; Synthesis):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reviews its gathered notes. If it notices that the ad platform breakdown isn't fully explained, it loop-backs and searches the engineering logs. Once satisfied, it compiles the final answer.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"In Q2 2026, our revenue was $10M, lagging behind our competitor's $12M. Our marketing ROI fell short because $2M of our budget was allocated to Platform X, which suffered a massive global outage during our peak launch week, as detailed in our internal strategy deck."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67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1510</TotalTime>
  <Words>843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210</cp:revision>
  <dcterms:created xsi:type="dcterms:W3CDTF">2025-09-22T02:44:38Z</dcterms:created>
  <dcterms:modified xsi:type="dcterms:W3CDTF">2026-09-21T19:02:20Z</dcterms:modified>
</cp:coreProperties>
</file>