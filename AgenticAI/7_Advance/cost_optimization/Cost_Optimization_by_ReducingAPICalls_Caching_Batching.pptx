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1" r:id="rId6"/>
    <p:sldId id="270" r:id="rId7"/>
    <p:sldId id="260" r:id="rId8"/>
    <p:sldId id="262" r:id="rId9"/>
    <p:sldId id="263" r:id="rId10"/>
    <p:sldId id="264" r:id="rId11"/>
    <p:sldId id="271" r:id="rId12"/>
    <p:sldId id="272" r:id="rId13"/>
    <p:sldId id="274" r:id="rId14"/>
    <p:sldId id="265" r:id="rId15"/>
    <p:sldId id="273" r:id="rId16"/>
    <p:sldId id="278" r:id="rId17"/>
    <p:sldId id="277" r:id="rId18"/>
    <p:sldId id="268" r:id="rId19"/>
    <p:sldId id="269" r:id="rId20"/>
    <p:sldId id="275" r:id="rId21"/>
    <p:sldId id="276" r:id="rId22"/>
    <p:sldId id="266" r:id="rId23"/>
    <p:sldId id="26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F52C58-C20E-25C9-850D-4EBE6D0DBE80}"/>
              </a:ext>
            </a:extLst>
          </p:cNvPr>
          <p:cNvSpPr txBox="1"/>
          <p:nvPr/>
        </p:nvSpPr>
        <p:spPr>
          <a:xfrm>
            <a:off x="2185416" y="2397061"/>
            <a:ext cx="7962138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Cost Optimization for AI Agents:</a:t>
            </a:r>
          </a:p>
          <a:p>
            <a:pPr marL="742950" marR="0" indent="-742950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Caching,</a:t>
            </a:r>
          </a:p>
          <a:p>
            <a:pPr marL="742950" indent="-742950">
              <a:spcAft>
                <a:spcPts val="1200"/>
              </a:spcAft>
              <a:buFont typeface="+mj-lt"/>
              <a:buAutoNum type="arabicPeriod"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Batching &amp;</a:t>
            </a:r>
            <a:endParaRPr lang="en-IN" sz="3600" b="1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742950" marR="0" indent="-742950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Reducing API Calls</a:t>
            </a:r>
            <a:endParaRPr lang="en-IN" sz="3600" b="1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40394-A603-917D-6153-24624CCD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DA73E0-FD49-1A3B-900E-66FF5E1990A2}"/>
              </a:ext>
            </a:extLst>
          </p:cNvPr>
          <p:cNvSpPr txBox="1"/>
          <p:nvPr/>
        </p:nvSpPr>
        <p:spPr>
          <a:xfrm>
            <a:off x="2242566" y="2430965"/>
            <a:ext cx="7998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Example Context: A Data Analysis Agent</a:t>
            </a:r>
            <a:endParaRPr lang="en-IN" sz="32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17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19136-BC40-5FC3-4AFC-A504BA01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096E6B-EA85-8874-854A-350B552B51FD}"/>
              </a:ext>
            </a:extLst>
          </p:cNvPr>
          <p:cNvSpPr txBox="1"/>
          <p:nvPr/>
        </p:nvSpPr>
        <p:spPr>
          <a:xfrm>
            <a:off x="365760" y="437573"/>
            <a:ext cx="116494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Why Cost Optimization Matters for Data Agents</a:t>
            </a: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Problem:</a:t>
            </a:r>
            <a:b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 data analysis agent is expensive. It doesn't just answer one question—it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plans,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queries databases,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inspects DB schemas,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retries failed SQL, and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synthesizes results.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Each of these steps is a separate model API call.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84403A-276B-F639-C40C-0BB2E6B455BE}"/>
              </a:ext>
            </a:extLst>
          </p:cNvPr>
          <p:cNvSpPr txBox="1"/>
          <p:nvPr/>
        </p:nvSpPr>
        <p:spPr>
          <a:xfrm>
            <a:off x="365760" y="4549676"/>
            <a:ext cx="116494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Cost Multiplier:</a:t>
            </a: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A simple chatbot: ~1 API call per interaction.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A DA agent: </a:t>
            </a: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5–15 API calls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 per user question (planning, tool selection, SQL generation, error correction, summarization). If each call re-reads a 10,000-token context, you pay for </a:t>
            </a: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100,000+ tokens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 for a single query.</a:t>
            </a:r>
          </a:p>
          <a:p>
            <a:endParaRPr lang="en-IN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Goal: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 Reduce redundant API calls, avoid paying for the same context repeatedly, and process bulk work efficiently.</a:t>
            </a:r>
          </a:p>
        </p:txBody>
      </p:sp>
    </p:spTree>
    <p:extLst>
      <p:ext uri="{BB962C8B-B14F-4D97-AF65-F5344CB8AC3E}">
        <p14:creationId xmlns:p14="http://schemas.microsoft.com/office/powerpoint/2010/main" val="396396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2C179-7BFC-B404-C596-E85A9C974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CD17AC-264A-2DAF-EA3B-A681C8B40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637846"/>
              </p:ext>
            </p:extLst>
          </p:nvPr>
        </p:nvGraphicFramePr>
        <p:xfrm>
          <a:off x="182880" y="1350463"/>
          <a:ext cx="11539728" cy="32912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8616">
                  <a:extLst>
                    <a:ext uri="{9D8B030D-6E8A-4147-A177-3AD203B41FA5}">
                      <a16:colId xmlns:a16="http://schemas.microsoft.com/office/drawing/2014/main" val="412707680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38215118"/>
                    </a:ext>
                  </a:extLst>
                </a:gridCol>
                <a:gridCol w="5221224">
                  <a:extLst>
                    <a:ext uri="{9D8B030D-6E8A-4147-A177-3AD203B41FA5}">
                      <a16:colId xmlns:a16="http://schemas.microsoft.com/office/drawing/2014/main" val="3201500574"/>
                    </a:ext>
                  </a:extLst>
                </a:gridCol>
                <a:gridCol w="2761488">
                  <a:extLst>
                    <a:ext uri="{9D8B030D-6E8A-4147-A177-3AD203B41FA5}">
                      <a16:colId xmlns:a16="http://schemas.microsoft.com/office/drawing/2014/main" val="744026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Lever</a:t>
                      </a:r>
                      <a:endParaRPr lang="en-IN" sz="18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What It Cuts</a:t>
                      </a:r>
                      <a:endParaRPr lang="en-IN" sz="18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Best For (Data Agent Example)</a:t>
                      </a:r>
                      <a:endParaRPr lang="en-IN" sz="18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Typical Savings</a:t>
                      </a:r>
                      <a:endParaRPr lang="en-IN" sz="18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183047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Caching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Repeated input tokens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Reusing schema definitions, system prompts, and prior query results across similar questions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75–90% on cached tokens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1899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Batching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Per-call overhead &amp; time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Running the same analysis across 100 different datasets or time periods non-urgently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50% on input &amp; output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731443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Reducing API Calls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Total number of round-trips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Bundling independent tool calls (e.g., querying 3 tables at once) instead of sequential calls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60–80% fewer calls</a:t>
                      </a:r>
                      <a:endParaRPr lang="en-IN" sz="18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822278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D279A3-48FB-93AA-B43D-250AD5E989D5}"/>
              </a:ext>
            </a:extLst>
          </p:cNvPr>
          <p:cNvSpPr txBox="1"/>
          <p:nvPr/>
        </p:nvSpPr>
        <p:spPr>
          <a:xfrm>
            <a:off x="0" y="22097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The Three Levers (At a Glance)</a:t>
            </a:r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71362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DDA25F-6F09-0968-77BF-7B38C797D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8E8ABE-A7B5-2A33-3E4A-D8DF7FB377B9}"/>
              </a:ext>
            </a:extLst>
          </p:cNvPr>
          <p:cNvSpPr txBox="1"/>
          <p:nvPr/>
        </p:nvSpPr>
        <p:spPr>
          <a:xfrm>
            <a:off x="445008" y="2386982"/>
            <a:ext cx="113019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sz="7200" b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1. Caching</a:t>
            </a:r>
            <a:endParaRPr lang="en-IN" sz="7200" b="0" i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355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E8A65-4D04-6D29-F433-1F80FBDAA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0B3B1E-21B8-CDC7-17E2-40FB55CBD707}"/>
              </a:ext>
            </a:extLst>
          </p:cNvPr>
          <p:cNvSpPr txBox="1"/>
          <p:nvPr/>
        </p:nvSpPr>
        <p:spPr>
          <a:xfrm>
            <a:off x="110790" y="86463"/>
            <a:ext cx="114094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Caching Strategy #1 — Prompt/Context Caching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is: 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Storing large, stable parts of your prompt (system instructions, tool definitions, database schema) so the model doesn't re-process them from scratch on every turn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 save around 75–90% on cached tokens.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provided by the Model providers. (2026 -&gt;)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  <a:latin typeface="quote-cjk-patch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406ED8-302E-BC62-2E19-6B72A98EF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885" y="1646372"/>
            <a:ext cx="6630325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4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4D30B5-0C19-A06C-22BD-BEF7AC87F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7D40A5-D5ED-49ED-B71F-1351B1277ADA}"/>
              </a:ext>
            </a:extLst>
          </p:cNvPr>
          <p:cNvSpPr txBox="1"/>
          <p:nvPr/>
        </p:nvSpPr>
        <p:spPr>
          <a:xfrm>
            <a:off x="82296" y="444467"/>
            <a:ext cx="117226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Data Agent Example:</a:t>
            </a: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caching: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time the agent decides which table to query, you send: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full system prompt (2k tokens) +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complete database schema (15k tokens) +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user's question. 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You pay for 17k+ input tokens per turn.</a:t>
            </a: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With caching: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system prompt and schema are cached. You only pay full price for the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user's question and the agent's new reasoning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The Numbers: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Gemini: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Implicit caching gives a 90% discount on cached tokens.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Anthropic Claude: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Cache reads cost ~0.1x the base input price.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Break-even: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just one read on a 5-minute TTL </a:t>
            </a: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(Time-to-Live)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cache.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IMPORTANT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: “Place large, common content (schema, system prompt) at the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beginning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of your prompt. Send similar requests in a short timeframe to maximize cache hits.”</a:t>
            </a:r>
          </a:p>
        </p:txBody>
      </p:sp>
    </p:spTree>
    <p:extLst>
      <p:ext uri="{BB962C8B-B14F-4D97-AF65-F5344CB8AC3E}">
        <p14:creationId xmlns:p14="http://schemas.microsoft.com/office/powerpoint/2010/main" val="983170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EA34A-CA7C-3C59-5F79-D600AE31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6B9B86-1159-984C-7E78-BA320A3944DA}"/>
              </a:ext>
            </a:extLst>
          </p:cNvPr>
          <p:cNvSpPr txBox="1"/>
          <p:nvPr/>
        </p:nvSpPr>
        <p:spPr>
          <a:xfrm>
            <a:off x="118872" y="590771"/>
            <a:ext cx="117226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Caching Strategy #2 — Result/Response Caching</a:t>
            </a: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is: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Storing the </a:t>
            </a:r>
            <a:r>
              <a:rPr lang="en-IN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of an expensive operation so you don't re-run it if the same request comes again.</a:t>
            </a:r>
          </a:p>
        </p:txBody>
      </p:sp>
    </p:spTree>
    <p:extLst>
      <p:ext uri="{BB962C8B-B14F-4D97-AF65-F5344CB8AC3E}">
        <p14:creationId xmlns:p14="http://schemas.microsoft.com/office/powerpoint/2010/main" val="62635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C9DF7-D980-09E6-D51C-8373BF3B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6298B2-74C1-35F1-5AD7-CDCB9F932810}"/>
              </a:ext>
            </a:extLst>
          </p:cNvPr>
          <p:cNvSpPr txBox="1"/>
          <p:nvPr/>
        </p:nvSpPr>
        <p:spPr>
          <a:xfrm>
            <a:off x="82296" y="444467"/>
            <a:ext cx="1172260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Agent Example: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 user asks: </a:t>
            </a:r>
            <a:r>
              <a:rPr lang="en-IN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“What were our top 10 products by revenue last quarter?”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runs SQL, gets the result, and spends tokens summarizing it.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An hour later, another user asks the same question.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result caching: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Full agent run again (planning + SQL + summary).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With result caching: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Return the stored answer instantly. </a:t>
            </a: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Zero API calls.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Cache Key Strategies for Data Agents: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Exact match: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Hash of the normalized SQL query (case-insensitive, whitespace-normalized).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similarity: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Embed the user's question; if a previous question is 95% similar, reuse the result.</a:t>
            </a: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Watch Out: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changes. 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Set a </a:t>
            </a: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TTL (Time-to-Live)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appropriate for your data freshness needs (e.g., 1 hour for operational dashboards, 1 day for historical reports).</a:t>
            </a:r>
          </a:p>
        </p:txBody>
      </p:sp>
    </p:spTree>
    <p:extLst>
      <p:ext uri="{BB962C8B-B14F-4D97-AF65-F5344CB8AC3E}">
        <p14:creationId xmlns:p14="http://schemas.microsoft.com/office/powerpoint/2010/main" val="409333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656585-6ACF-4590-1A01-7CFB2278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1F95340-F2A8-525D-72FC-D59AC70F3ADF}"/>
              </a:ext>
            </a:extLst>
          </p:cNvPr>
          <p:cNvSpPr txBox="1"/>
          <p:nvPr/>
        </p:nvSpPr>
        <p:spPr>
          <a:xfrm>
            <a:off x="384048" y="3288251"/>
            <a:ext cx="117226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2. Batching</a:t>
            </a:r>
            <a:endParaRPr lang="en-IN" sz="5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91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1D7EB-00CD-9CDE-90ED-82AB774D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756935-37E0-7966-36A5-E498ACED19D7}"/>
              </a:ext>
            </a:extLst>
          </p:cNvPr>
          <p:cNvSpPr txBox="1"/>
          <p:nvPr/>
        </p:nvSpPr>
        <p:spPr>
          <a:xfrm>
            <a:off x="82296" y="243299"/>
            <a:ext cx="117226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Batching — Processing Bulk Work at Half Price</a:t>
            </a: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is: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Sending many independent requests as a single batch job, accepting asynchronous delivery (results in minutes to hours, not seconds).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You save around 50% on input &amp; output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276709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0F5DBD-CECE-D164-58E3-67915D749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45E705-F4E2-1A7C-F268-6B172B7B24F9}"/>
              </a:ext>
            </a:extLst>
          </p:cNvPr>
          <p:cNvSpPr txBox="1"/>
          <p:nvPr/>
        </p:nvSpPr>
        <p:spPr>
          <a:xfrm>
            <a:off x="146304" y="179291"/>
            <a:ext cx="1081735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Data Agent Example: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to run the </a:t>
            </a:r>
            <a:r>
              <a:rPr lang="en-IN" sz="2000" b="1" i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same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anomaly detection analysis across 200 different store locations.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Sequential: 200 separate API calls, paying full price and waiting for each.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Batched: Submit all 200 as one batch job.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The Economics: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50% discount on both input and output tokens for batch API usage.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Stacks with caching: A cached-batch input token can reach ~0.05x the standard input price.</a:t>
            </a:r>
          </a:p>
        </p:txBody>
      </p:sp>
    </p:spTree>
    <p:extLst>
      <p:ext uri="{BB962C8B-B14F-4D97-AF65-F5344CB8AC3E}">
        <p14:creationId xmlns:p14="http://schemas.microsoft.com/office/powerpoint/2010/main" val="2878106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A598E-D9DB-4A14-484B-E47C6C83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F38AAA-C8EF-6F53-120E-2E3D6E568FBD}"/>
              </a:ext>
            </a:extLst>
          </p:cNvPr>
          <p:cNvSpPr txBox="1"/>
          <p:nvPr/>
        </p:nvSpPr>
        <p:spPr>
          <a:xfrm>
            <a:off x="85344" y="252443"/>
            <a:ext cx="1180185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It for Data Agents: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Overnight report generation.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Backfilling analyses across historical periods.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Bulk classification of data quality issues.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Never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for interactive user queries.</a:t>
            </a:r>
          </a:p>
        </p:txBody>
      </p:sp>
    </p:spTree>
    <p:extLst>
      <p:ext uri="{BB962C8B-B14F-4D97-AF65-F5344CB8AC3E}">
        <p14:creationId xmlns:p14="http://schemas.microsoft.com/office/powerpoint/2010/main" val="4009304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581A91-2F3B-05C5-9FFF-46C2DFA55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8055522-4962-A9E4-341F-DF0FF7A6DDD6}"/>
              </a:ext>
            </a:extLst>
          </p:cNvPr>
          <p:cNvSpPr txBox="1"/>
          <p:nvPr/>
        </p:nvSpPr>
        <p:spPr>
          <a:xfrm>
            <a:off x="164592" y="2666459"/>
            <a:ext cx="117226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3. Reducing API Calls</a:t>
            </a:r>
            <a:endParaRPr lang="en-IN" sz="5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511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D1E45E-A9C3-A858-78B9-6CB6D08F9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5A52E4-A1F1-28EB-54D3-AB86E5AE8BD1}"/>
              </a:ext>
            </a:extLst>
          </p:cNvPr>
          <p:cNvSpPr txBox="1"/>
          <p:nvPr/>
        </p:nvSpPr>
        <p:spPr>
          <a:xfrm>
            <a:off x="82296" y="243299"/>
            <a:ext cx="117226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Reducing API Calls — Bundling queries</a:t>
            </a: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are chatty. They call a tool, wait, think, call another tool, wait again. 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Each “wait” is a full model round-trip where you re-read the entire context.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Fix: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Bundle queries</a:t>
            </a:r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627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DA754-5CB3-0A10-2FEC-9D1043D6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5F5CD6-FB08-7741-71E2-787CF648D54C}"/>
              </a:ext>
            </a:extLst>
          </p:cNvPr>
          <p:cNvSpPr txBox="1"/>
          <p:nvPr/>
        </p:nvSpPr>
        <p:spPr>
          <a:xfrm>
            <a:off x="82296" y="243299"/>
            <a:ext cx="117226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Agent Example: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asks: </a:t>
            </a:r>
            <a:r>
              <a:rPr lang="en-IN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“Compare 2020 month's sales to the 2019 month's sales (same month last year)”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D8BE54-0811-19F9-83D7-78531D8014DD}"/>
              </a:ext>
            </a:extLst>
          </p:cNvPr>
          <p:cNvSpPr txBox="1"/>
          <p:nvPr/>
        </p:nvSpPr>
        <p:spPr>
          <a:xfrm>
            <a:off x="67056" y="1111628"/>
            <a:ext cx="52501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Naive agent workflow: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457200" lvl="0" indent="-457200">
              <a:buAutoNum type="arabicParenBoth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sales table for </a:t>
            </a:r>
            <a:r>
              <a:rPr lang="en-IN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2020 monthly sales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457200" lvl="0" indent="-457200">
              <a:buAutoNum type="arabicParenBoth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Wait for result </a:t>
            </a:r>
          </a:p>
          <a:p>
            <a:pPr marL="457200" lvl="0" indent="-457200">
              <a:buAutoNum type="arabicParenBoth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sales table for </a:t>
            </a:r>
            <a:r>
              <a:rPr lang="en-IN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2019 monthly sales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457200" lvl="0" indent="-457200">
              <a:buAutoNum type="arabicParenBoth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Wait  </a:t>
            </a:r>
          </a:p>
          <a:p>
            <a:pPr marL="457200" lvl="0" indent="-457200">
              <a:buAutoNum type="arabicParenBoth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F33F0-7DF1-EFD9-D6BF-EC6ACC2CCEBA}"/>
              </a:ext>
            </a:extLst>
          </p:cNvPr>
          <p:cNvSpPr txBox="1"/>
          <p:nvPr/>
        </p:nvSpPr>
        <p:spPr>
          <a:xfrm>
            <a:off x="0" y="4468516"/>
            <a:ext cx="561441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Optimized agent: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Bundle both queries in one dispatch.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457200" lvl="0" indent="-457200">
              <a:buAutoNum type="arabicParenBoth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sales table for </a:t>
            </a:r>
            <a:r>
              <a:rPr lang="en-IN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2020 monthly and 2019 monthly sales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457200" lvl="0" indent="-457200">
              <a:buAutoNum type="arabicParenBoth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Wait for result </a:t>
            </a:r>
          </a:p>
          <a:p>
            <a:pPr marL="457200" lvl="0" indent="-457200">
              <a:buAutoNum type="arabicParenBoth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Compare.</a:t>
            </a:r>
          </a:p>
          <a:p>
            <a:pPr lvl="0"/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4E09F-0D90-2050-0244-70F40D43C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454" y="1182231"/>
            <a:ext cx="7102490" cy="22467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D894F5-F865-CD68-02DD-5DD596E95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784409"/>
            <a:ext cx="5324235" cy="293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04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3B48A-C4F1-4731-FC03-BA95879C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BB570E-57C4-E741-B6B6-249C4243813F}"/>
              </a:ext>
            </a:extLst>
          </p:cNvPr>
          <p:cNvSpPr txBox="1"/>
          <p:nvPr/>
        </p:nvSpPr>
        <p:spPr>
          <a:xfrm>
            <a:off x="234696" y="4522691"/>
            <a:ext cx="117226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Data:</a:t>
            </a:r>
            <a:b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Snowflake’s internal data agent reduced </a:t>
            </a: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~79,000 tokens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of idle context by loading tools on demand instead of upfront. They also collapsed three independent retrievals (Slack, Jira, warehouse) into a single round-trip using “Programmatic Tool Calling”.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4FFF8-6CFA-3B45-3D5B-EDADCFC59D52}"/>
              </a:ext>
            </a:extLst>
          </p:cNvPr>
          <p:cNvSpPr txBox="1"/>
          <p:nvPr/>
        </p:nvSpPr>
        <p:spPr>
          <a:xfrm>
            <a:off x="234696" y="493776"/>
            <a:ext cx="9585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IMPORTANT: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i="1">
                <a:solidFill>
                  <a:schemeClr val="accent6">
                    <a:lumMod val="60000"/>
                    <a:lumOff val="40000"/>
                  </a:schemeClr>
                </a:solidFill>
              </a:rPr>
              <a:t>“If two tool calls don't depend on each other's output, they should not be two separate model turns.”</a:t>
            </a: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013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BE165-A495-1196-8329-EC1381DE0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7EB3F7-3F33-DA0D-58AF-EED77CB47C1F}"/>
              </a:ext>
            </a:extLst>
          </p:cNvPr>
          <p:cNvSpPr txBox="1"/>
          <p:nvPr/>
        </p:nvSpPr>
        <p:spPr>
          <a:xfrm>
            <a:off x="82296" y="243299"/>
            <a:ext cx="1172260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Reducing API Calls — Tool Output Compaction</a:t>
            </a: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A data agent queries a table and gets back a massive JSON payload (100 rows × 50 columns). That entire payload enters the context window and is </a:t>
            </a: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re-read on every subsequent turn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Fix: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Don't put raw data in the context. Put a </a:t>
            </a: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reference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to it.</a:t>
            </a: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Agent Example (Snowflake Pattern):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sending the raw SQL result to the model, offload it to a </a:t>
            </a: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persistent Python REPL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0"/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receives: </a:t>
            </a:r>
            <a:r>
              <a:rPr lang="en-IN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“Result stored in variable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df_sales</a:t>
            </a:r>
            <a:r>
              <a:rPr lang="en-IN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. 10,000 rows, 12 columns. Schema: [compact summary].”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can then say: </a:t>
            </a:r>
            <a:r>
              <a:rPr lang="en-IN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“Show me the top 5 rows”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IN" sz="20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“What's the sum of column X?”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and the REPL executes it without re-reading the full dataset into context.</a:t>
            </a: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Impact: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“Oversized results… are offloaded and held as variables… the agent gets a reference to the data instead of the data itself”.</a:t>
            </a:r>
          </a:p>
        </p:txBody>
      </p:sp>
    </p:spTree>
    <p:extLst>
      <p:ext uri="{BB962C8B-B14F-4D97-AF65-F5344CB8AC3E}">
        <p14:creationId xmlns:p14="http://schemas.microsoft.com/office/powerpoint/2010/main" val="344852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16AAD-EFCD-6275-7F0F-571BD0FFC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3674B0-9907-BE4A-ACD3-08619D0C38F3}"/>
              </a:ext>
            </a:extLst>
          </p:cNvPr>
          <p:cNvSpPr txBox="1"/>
          <p:nvPr/>
        </p:nvSpPr>
        <p:spPr>
          <a:xfrm>
            <a:off x="234696" y="2693891"/>
            <a:ext cx="117226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Putting It Together</a:t>
            </a:r>
          </a:p>
        </p:txBody>
      </p:sp>
    </p:spTree>
    <p:extLst>
      <p:ext uri="{BB962C8B-B14F-4D97-AF65-F5344CB8AC3E}">
        <p14:creationId xmlns:p14="http://schemas.microsoft.com/office/powerpoint/2010/main" val="85210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4ADDB-B7B5-80E9-5819-777F55AA3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DBAF00A-4711-E024-82AC-206AAB5E8826}"/>
              </a:ext>
            </a:extLst>
          </p:cNvPr>
          <p:cNvSpPr txBox="1"/>
          <p:nvPr/>
        </p:nvSpPr>
        <p:spPr>
          <a:xfrm>
            <a:off x="82296" y="243299"/>
            <a:ext cx="11722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Putting It Together — A Cost-Optimized Data Agent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FA377-1988-1219-2281-32F831A1C956}"/>
              </a:ext>
            </a:extLst>
          </p:cNvPr>
          <p:cNvSpPr txBox="1"/>
          <p:nvPr/>
        </p:nvSpPr>
        <p:spPr>
          <a:xfrm>
            <a:off x="82296" y="793261"/>
            <a:ext cx="70225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Optimization: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Load full schema + all tool definitions into context.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 question.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calls query tool for Table A.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Raw result enters context.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calls query tool for Table B.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Raw result enters context.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generates answer, re-reading all prior context.</a:t>
            </a:r>
          </a:p>
        </p:txBody>
      </p:sp>
    </p:spTree>
    <p:extLst>
      <p:ext uri="{BB962C8B-B14F-4D97-AF65-F5344CB8AC3E}">
        <p14:creationId xmlns:p14="http://schemas.microsoft.com/office/powerpoint/2010/main" val="399146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19FBE-A9F1-44DC-A7D2-B4E4DFD9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FBFAC7-F8DD-DD7B-037D-7521F8E5251D}"/>
              </a:ext>
            </a:extLst>
          </p:cNvPr>
          <p:cNvSpPr txBox="1"/>
          <p:nvPr/>
        </p:nvSpPr>
        <p:spPr>
          <a:xfrm>
            <a:off x="82296" y="243299"/>
            <a:ext cx="11722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Putting It Together — A Cost-Optimized Data Agent 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DF4B6-11F0-4BBD-BDCF-1E2233E7CDEC}"/>
              </a:ext>
            </a:extLst>
          </p:cNvPr>
          <p:cNvSpPr txBox="1"/>
          <p:nvPr/>
        </p:nvSpPr>
        <p:spPr>
          <a:xfrm>
            <a:off x="215646" y="793261"/>
            <a:ext cx="968730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After Optimization: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Load schema on demand (only the tables relevant to the question).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Cache the system prompt and core schema.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independent queries into one dispatch.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Offload raw results to a REPL; pass only references + summaries to the model.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Cache the final answer for repeated questions.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Result: Fewer round-trips, smaller context, lower bill.</a:t>
            </a:r>
          </a:p>
        </p:txBody>
      </p:sp>
    </p:spTree>
    <p:extLst>
      <p:ext uri="{BB962C8B-B14F-4D97-AF65-F5344CB8AC3E}">
        <p14:creationId xmlns:p14="http://schemas.microsoft.com/office/powerpoint/2010/main" val="2638900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58A3C3-1910-1733-163B-C400D564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0B6C02-E76B-9FD0-5F4C-9E344D157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504970"/>
              </p:ext>
            </p:extLst>
          </p:nvPr>
        </p:nvGraphicFramePr>
        <p:xfrm>
          <a:off x="1490472" y="1717356"/>
          <a:ext cx="8869680" cy="37578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8968">
                  <a:extLst>
                    <a:ext uri="{9D8B030D-6E8A-4147-A177-3AD203B41FA5}">
                      <a16:colId xmlns:a16="http://schemas.microsoft.com/office/drawing/2014/main" val="1828742399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159489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Situation</a:t>
                      </a:r>
                      <a:endParaRPr lang="en-IN" sz="1800" b="1" u="sng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800" b="1" u="sng">
                          <a:effectLst/>
                        </a:rPr>
                        <a:t>Use This Lever</a:t>
                      </a:r>
                      <a:endParaRPr lang="en-IN" sz="1800" b="1" u="sng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665667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Same large system prompt/schema used every turn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Prompt Caching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70719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User asks a question that was asked before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Result Caching (with TTL)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677506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Running analysis across 100+ datasets non-urgently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Batch API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29017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Agent needs to query 3 independent tables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Bundle into one dispatch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980843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Tool returns a 50MB JSON payload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Offload to REPL, pass reference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731901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Agent always loads 50 tools but only needs 2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On-demand tool loading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285330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7172E3F-39E1-1154-717E-4ADD15E3C96B}"/>
              </a:ext>
            </a:extLst>
          </p:cNvPr>
          <p:cNvSpPr txBox="1"/>
          <p:nvPr/>
        </p:nvSpPr>
        <p:spPr>
          <a:xfrm>
            <a:off x="825246" y="629773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Quick Reference — Decision Guide</a:t>
            </a:r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837813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FB3A3-3ACA-42C1-3086-1D405A4CD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4C4E73-0681-484E-344D-F2F1EDE1953C}"/>
              </a:ext>
            </a:extLst>
          </p:cNvPr>
          <p:cNvSpPr txBox="1"/>
          <p:nvPr/>
        </p:nvSpPr>
        <p:spPr>
          <a:xfrm>
            <a:off x="82296" y="243299"/>
            <a:ext cx="1172260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Key Takeaways (Speaker Notes)</a:t>
            </a:r>
          </a:p>
          <a:p>
            <a:pPr lvl="0"/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Measure first.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Instrument every API call with token counts and cost. You can't optimize what you don't measure.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Caching is not optional.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At 90% discount on cached tokens, paying full price for repeated context is burning money.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Batch everything non-interactive.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If a human isn't waiting for the answer, use the batch API for 50% savings.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chattiest agent is the most expensive.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Count your API calls per user question. If it's &gt;5, look for independent calls to bundle.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Don't put raw data in context.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A data agent's job is to analyze data, not to read it into the model's memory. Use REPLs, references, and compaction.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87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1536</Words>
  <Application>Microsoft Office PowerPoint</Application>
  <PresentationFormat>Widescreen</PresentationFormat>
  <Paragraphs>178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42</cp:revision>
  <dcterms:created xsi:type="dcterms:W3CDTF">2026-09-25T02:37:34Z</dcterms:created>
  <dcterms:modified xsi:type="dcterms:W3CDTF">2026-10-19T11:23:43Z</dcterms:modified>
</cp:coreProperties>
</file>