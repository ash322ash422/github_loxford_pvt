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72" r:id="rId5"/>
    <p:sldId id="264" r:id="rId6"/>
    <p:sldId id="262" r:id="rId7"/>
    <p:sldId id="263" r:id="rId8"/>
    <p:sldId id="261" r:id="rId9"/>
    <p:sldId id="273" r:id="rId10"/>
    <p:sldId id="258" r:id="rId11"/>
    <p:sldId id="265" r:id="rId12"/>
    <p:sldId id="267" r:id="rId13"/>
    <p:sldId id="268" r:id="rId14"/>
    <p:sldId id="269" r:id="rId15"/>
    <p:sldId id="259" r:id="rId16"/>
    <p:sldId id="266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0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2211 24575,'27'-30'0,"-2"-1"0,40-64 0,-41 57 0,51-61 0,-21 34 0,58-93 0,38-45 0,-130 182 0,2 1 0,0 1 0,43-28 0,-44 33 0,0-1 0,-1-1 0,-1 0 0,0-1 0,29-36 0,-37 38 0,2 1 0,0 0 0,0 1 0,1 1 0,1 0 0,0 1 0,1 0 0,0 1 0,25-11 0,-5-1 0,-1-2 0,56-47 0,-3 0 0,-62 55 0,0 0 0,1 2 0,1 1 0,37-12 0,-27 11 0,59-32 0,-52 21 0,54-34 0,200-84 0,-231 117 0,-5 1 0,2 2 0,0 3 0,96-16 0,-73 19 0,134-42 0,-105 25 0,-9 1 0,-59 17 0,1 2 0,0 2 0,57-5 0,395 9 0,-284 11 0,-146-3 0,634 18 0,133-4 0,-524-16 0,-91 4 0,246-5 0,-445 2 0,-5 1 0,0-1 0,0 0 0,0-2 0,-1 0 0,1-1 0,-1-1 0,25-10 0,-43 15 0,0 0 0,0-1 0,0 1 0,0-1 0,0 1 0,0-1 0,0 0 0,0 1 0,0-1 0,-1 0 0,1 0 0,0 0 0,-1 1 0,1-1 0,0 0 0,-1 0 0,1 0 0,-1 0 0,0 0 0,1 0 0,-1 0 0,0 0 0,1 0 0,-1 0 0,0 0 0,0 0 0,0-2 0,-1 1 0,1 0 0,-1 0 0,0 0 0,0 0 0,0 0 0,0 0 0,0 0 0,0 0 0,-1 1 0,1-1 0,-1 0 0,-2-2 0,-9-6 0,1 0 0,-2 1 0,-14-8 0,19 12 0,-31-18 0,0 2 0,-1 2 0,-75-24 0,75 31 0,62 18 0,67 23 0,158 76 0,-226-95 0,0 0 0,-1 1 0,-1 1 0,1 1 0,28 27 0,-46-39 0,0-1 0,-1 1 0,1-1 0,0 1 0,0 0 0,-1-1 0,1 1 0,-1 0 0,1 0 0,0-1 0,-1 1 0,0 0 0,1 0 0,-1 0 0,1 0 0,-1 0 0,0-1 0,0 1 0,1 0 0,-1 0 0,0 0 0,0 0 0,0 0 0,0 0 0,0 0 0,0 0 0,0 0 0,-1 0 0,1 0 0,0 0 0,0 0 0,-1 0 0,1-1 0,0 1 0,-1 0 0,1 0 0,-1 0 0,1-1 0,-1 1 0,0 0 0,-1 1 0,-3 1 0,0 0 0,0-1 0,-1 1 0,1-1 0,-1 0 0,-6 1 0,-22 10 0,-128 115 0,81-60 0,65-54-170,0-1-1,-1-1 0,0 0 1,-1-2-1,0 0 0,-1 0 1,-29 9-1,19-12-6655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7:36:09.6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1 978 24575,'1'-3'0,"0"0"0,1 0 0,-1 0 0,1 0 0,0 0 0,0 1 0,0-1 0,0 1 0,0-1 0,0 1 0,1 0 0,-1 0 0,1 0 0,3-2 0,4-5 0,39-39 0,1 2 0,3 3 0,1 2 0,93-53 0,-92 64 0,2 2 0,1 2 0,1 3 0,121-29 0,416-13 0,-376 48 0,248-50 0,-72-5 0,472-51 0,341 35 0,-675 40 0,-383 36 0,1 6 0,173 16 0,-22 23 0,-149-14 0,-76-7 0,116 35 0,-28-5 0,198 54 0,-244-69 0,-15-5 0,91 29 0,344 108 0,-509-145 0,-2 1 0,1 2 0,-2 0 0,28 24 0,31 18 0,438 218 0,-487-257-56,-1 2 0,-1 1-1,34 30 1,-27-21-1084,-20-15-5686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7:36:10.8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757 0 24575,'1'17'0,"1"-1"0,1 1 0,0-1 0,1 0 0,8 21 0,35 74 0,-36-86 0,1-1 0,1 0 0,1-1 0,1 0 0,1-1 0,28 29 0,-34-41 0,0 0 0,-1 0 0,-1 1 0,1 0 0,-2 1 0,0-1 0,0 1 0,5 14 0,-10-22 0,-1 0 0,1 0 0,-1 1 0,0-1 0,0 0 0,0 1 0,0-1 0,-1 1 0,0-1 0,0 0 0,0 1 0,-1-1 0,1 1 0,-1-1 0,0 0 0,0 1 0,-1-1 0,1 0 0,-1 0 0,0 0 0,0 0 0,0 0 0,-1 0 0,1-1 0,-1 1 0,0-1 0,0 1 0,-4 2 0,-13 10 0,-1-2 0,-1 0 0,0-1 0,-1-1 0,-32 11 0,-131 37 0,165-54 0,-489 109-1365,384-91-5461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7:36:14.0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8559 0 24575,'-4'30'0,"-1"0"0,-1-1 0,-2 0 0,0 0 0,-2 0 0,-15 28 0,19-42 0,-10 25 0,-1-2 0,-3 0 0,0-1 0,-3-2 0,-1 0 0,-42 47 0,28-36 0,2 2 0,-33 55 0,-39 53 0,82-126 0,-1-1 0,-1-2 0,-47 36 0,-106 62 0,124-87 0,-25 11 0,-109 47 0,109-56 0,6-5 0,-2-4 0,-108 28 0,-169 23 0,269-64 0,-279 40 0,244-42 0,-89 20 0,96-15 0,-163 9 0,-86-27 0,-100 5 0,-155 31 0,421-28 0,0-8 0,-214-25 0,346 12 0,-69-18 0,75 13 0,-101-11 0,82 17 0,-113-30 0,26 3 0,102 26 0,0-3 0,1-3 0,-75-30 0,-382-211 0,495 244 0,-19-12 0,-1 2 0,-1 1 0,-1 3 0,-61-17 0,55 20 0,2-2 0,0-2 0,1-2 0,-69-43 0,-21-9 0,111 61 0,-17-7 0,1-2 0,0-2 0,2-2 0,-63-50 0,-174-136 0,243 187 0,31 21 0,-3-2 0,0 0 0,-1 0 0,0 1 0,0 0 0,0 1 0,-13-5 0,22 9 0,-1 0 0,1 0 0,-1 0 0,0-1 0,1 1 0,-1 0 0,0 0 0,1 0 0,-1 0 0,1 1 0,-1-1 0,0 0 0,1 0 0,-1 0 0,0 0 0,1 1 0,-1-1 0,1 0 0,-1 0 0,1 1 0,-1-1 0,1 0 0,-1 1 0,1-1 0,-1 1 0,1-1 0,-1 1 0,1-1 0,0 1 0,-1-1 0,1 1 0,0-1 0,-1 1 0,1-1 0,0 1 0,0 0 0,0-1 0,-1 1 0,1 0 0,0-1 0,0 1 0,0-1 0,0 1 0,0 0 0,0-1 0,0 1 0,0 0 0,1-1 0,-1 1 0,0-1 0,0 1 0,0 0 0,1-1 0,-1 1 0,13 37 0,-13-37 0,35 72 0,54 84 0,10 17 0,-99-174 0,0 0 0,0 0 0,0 0 0,0 1 0,0-1 0,0 0 0,0 0 0,0 1 0,0-1 0,0 0 0,0 0 0,0 1 0,0-1 0,0 0 0,0 0 0,0 0 0,0 1 0,0-1 0,0 0 0,0 0 0,0 0 0,1 1 0,-1-1 0,0 0 0,0 0 0,0 0 0,0 0 0,1 1 0,-1-1 0,0 0 0,0 0 0,0 0 0,1 0 0,-1 0 0,0 0 0,0 0 0,0 1 0,1-1 0,-1 0 0,0 0 0,0 0 0,1 0 0,-1 0 0,0 0 0,0 0 0,1 0 0,-1 0 0,0 0 0,0 0 0,0 0 0,1-1 0,-1 1 0,0 0 0,0 0 0,0 0 0,1 0 0,-1 0 0,0 0 0,0 0 0,0-1 0,1 1 0,-1 0 0,0 0 0,0 0 0,0 0 0,1-1 0,3-25 0,-3-38 0,-8 1 0,-26-108 0,7 51 0,0 20 0,17 75 0,2 0 0,-7-53 0,13 75 0,1 1 0,-1 0 0,1-1 0,0 1 0,0 0 0,0-1 0,0 1 0,1 0 0,-1-1 0,1 1 0,-1 0 0,1-1 0,0 1 0,0 0 0,0 0 0,0 0 0,0 0 0,0 0 0,0 0 0,1 0 0,-1 0 0,1 0 0,0 1 0,-1-1 0,1 1 0,0-1 0,0 1 0,0 0 0,0-1 0,0 1 0,0 0 0,0 0 0,1 1 0,3-2 0,6 0 0,1 1 0,-1 0 0,0 1 0,1 0 0,20 4 0,-10-2 0,366 44 125,-18-1-1615,-261-36-5336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38.1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24357,'3983'1004'0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0.6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337 1 24575,'-1'0'0,"0"1"0,0-1 0,0 1 0,0-1 0,0 1 0,0 0 0,0-1 0,0 1 0,0 0 0,1 0 0,-1 0 0,0 0 0,0 0 0,1 0 0,-1 0 0,0 0 0,1 0 0,-1 0 0,1 0 0,0 0 0,-1 0 0,1 0 0,0 1 0,0-1 0,-1 0 0,1 0 0,0 0 0,0 1 0,1 0 0,-2 38 0,8-11 0,1 0 0,1-1 0,1 0 0,1-1 0,24 40 0,-19-39 0,2-1 0,32 38 0,-31-41 0,0 0 0,30 53 0,-16-27 0,-24-39 0,-1 1 0,0 0 0,7 16 0,-13-25 0,-1 1 0,0-1 0,1 1 0,-1-1 0,-1 1 0,1-1 0,-1 1 0,1 0 0,-1-1 0,0 1 0,0 0 0,-1-1 0,1 1 0,-1-1 0,1 1 0,-1 0 0,-2 4 0,-3 1 0,0 1 0,0-1 0,-1 0 0,0 0 0,-1-1 0,1 0 0,-2 0 0,1-1 0,-1 0 0,0-1 0,-1 1 0,1-2 0,-20 9 0,-16 6 0,-80 24 0,-41 17 134,33-10-1633,87-36-5327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8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3956 200 24575,'0'-1'0,"-1"-1"0,0 0 0,1 0 0,-1 1 0,0-1 0,0 0 0,0 1 0,0-1 0,0 1 0,0-1 0,0 1 0,0 0 0,-1-1 0,1 1 0,0 0 0,-1 0 0,1 0 0,-1 0 0,0 0 0,1 0 0,-1 0 0,-2 0 0,-41-15 0,44 16 0,-35-7 0,0 1 0,0 2 0,-70 0 0,8 2 0,-218-42 0,25 3 0,74 35 0,-14-2 0,231 8 0,-213-15 0,174 15 0,1 1 0,0 2 0,-59 13 0,43-3 0,2 2 0,0 3 0,0 2 0,-55 31 0,27-15 0,-106 35 0,129-51 0,41-13 0,0 0 0,0 1 0,1 0 0,0 2 0,-25 20 0,-62 66 0,52-46 0,17-18 0,0 1 0,3 2 0,1 1 0,-29 46 0,-207 364 0,250-415 0,1 1 0,2 0 0,1 0 0,-8 43 0,-2 6 0,-2 11 0,4 0 0,5 1 0,-5 174 0,7-138 0,-5-1 0,-46 172 0,1-9 0,-110 439 0,147-625 0,4 1 0,4 1 0,5 1 0,4 179 0,13-83 0,-10 402 0,-7-510 0,-4 0 0,-32 101 0,25-109 0,3 0 0,-15 153 0,35 252 0,4-219 0,-4-243 0,25 539 0,42 331 0,-63-768 0,13 222 0,-8-193 0,-8-90 0,4 0 0,3 0 0,19 78 0,6-19 0,35 124 0,0 35 0,-3-6 0,68 158 0,-89-291 0,43 124 0,44 31 0,-96-238 0,3-2 0,62 85 0,201 216 0,-252-316 0,1-3 0,2-2 0,2-2 0,109 66 0,-114-81 0,2-3 0,0-2 0,2-2 0,101 28 0,273 69 0,-337-92 0,-29-9 0,-33-12 0,-1 2 0,0 1 0,-1 1 0,33 18 0,14 17 0,-49-28 0,1-1 0,0-1 0,1-2 0,1 0 0,0-2 0,1-1 0,0-1 0,29 6 0,3-10 0,0-2 0,111-10 0,-52 1 0,23 1 0,-1-6 0,0-6 0,232-60 0,27-52 0,-299 86 0,143-84 0,-103 50 0,357-201 0,-360 190 0,188-155 0,-274 196 0,-3-2 0,-1-2 0,-3-2 0,60-94 0,124-253 0,-155 261 0,126-184 0,-32 55 0,-73 98 0,101-256 0,-150 304 0,-5-2 0,-7-1 0,22-144 0,-3-376 0,-52-5 0,-4 335 0,3 59 0,-32-775 0,8 868 0,-72-253 0,48 229 0,-186-617 0,140 507 0,-117-322 0,161 493 0,-82-190 0,101 252 0,-3 1 0,-75-104 0,44 82 0,-141-178 0,-125-73 0,141 151 0,119 114 0,-1 0 0,3-3 0,-76-104 0,127 149 0,2 0 0,-15-40 0,21 44 0,-1 1 0,-2 0 0,0 1 0,-25-33 0,-44-43 0,-29-38 0,-220-209 0,193 245 0,61 48 0,-515-345 0,517 359-7,-141-52 0,103 47-1344,61 23-5475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4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30.png"/><Relationship Id="rId4" Type="http://schemas.openxmlformats.org/officeDocument/2006/relationships/customXml" Target="../ink/ink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ustomXml" Target="../ink/ink6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F3B2BE-7E13-0924-686B-6750A925C2B4}"/>
              </a:ext>
            </a:extLst>
          </p:cNvPr>
          <p:cNvSpPr txBox="1"/>
          <p:nvPr/>
        </p:nvSpPr>
        <p:spPr>
          <a:xfrm>
            <a:off x="457200" y="2209421"/>
            <a:ext cx="11023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buAutoNum type="arabicPeriod"/>
            </a:pPr>
            <a:r>
              <a:rPr lang="en-IN" sz="40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Measuring ROI in an Agentic World</a:t>
            </a:r>
          </a:p>
          <a:p>
            <a:pPr marL="457200" indent="-457200">
              <a:buFontTx/>
              <a:buAutoNum type="arabicPeriod"/>
            </a:pPr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Risk Management &amp; Autonomous Governance</a:t>
            </a:r>
          </a:p>
          <a:p>
            <a:pPr marL="457200" indent="-457200">
              <a:buFontTx/>
              <a:buAutoNum type="arabicPeriod"/>
            </a:pPr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Choosing Vendors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3CB37-004C-72E6-23D0-3E21FFE0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E38DEA-987A-E3E2-9812-B6AD39FD31E8}"/>
              </a:ext>
            </a:extLst>
          </p:cNvPr>
          <p:cNvSpPr txBox="1"/>
          <p:nvPr/>
        </p:nvSpPr>
        <p:spPr>
          <a:xfrm>
            <a:off x="293510" y="2852889"/>
            <a:ext cx="114469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 algn="ctr">
              <a:buAutoNum type="arabicPeriod"/>
            </a:pPr>
            <a:r>
              <a:rPr lang="en-IN" sz="4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Measuring ROI in an Agentic World</a:t>
            </a:r>
          </a:p>
        </p:txBody>
      </p:sp>
    </p:spTree>
    <p:extLst>
      <p:ext uri="{BB962C8B-B14F-4D97-AF65-F5344CB8AC3E}">
        <p14:creationId xmlns:p14="http://schemas.microsoft.com/office/powerpoint/2010/main" val="370879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61246-164A-15D6-D64D-02056669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48B64F-C6E8-0815-2224-F0DF36FE8A06}"/>
              </a:ext>
            </a:extLst>
          </p:cNvPr>
          <p:cNvSpPr txBox="1"/>
          <p:nvPr/>
        </p:nvSpPr>
        <p:spPr>
          <a:xfrm>
            <a:off x="220815" y="2862971"/>
            <a:ext cx="114469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8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Traditional AI ROI looks at time saved per task. </a:t>
            </a:r>
          </a:p>
          <a:p>
            <a:pPr marL="0" marR="0">
              <a:buNone/>
            </a:pPr>
            <a:endParaRPr lang="en-IN" sz="2800" b="0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IN" sz="28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Agentic AI ROI must be measured like hiring a human employee.</a:t>
            </a:r>
          </a:p>
        </p:txBody>
      </p:sp>
    </p:spTree>
    <p:extLst>
      <p:ext uri="{BB962C8B-B14F-4D97-AF65-F5344CB8AC3E}">
        <p14:creationId xmlns:p14="http://schemas.microsoft.com/office/powerpoint/2010/main" val="132059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BA65E-7791-9A7C-347F-AF742EDC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2B54D6F-99BB-4035-6244-368580FA9A79}"/>
              </a:ext>
            </a:extLst>
          </p:cNvPr>
          <p:cNvSpPr txBox="1"/>
          <p:nvPr/>
        </p:nvSpPr>
        <p:spPr>
          <a:xfrm>
            <a:off x="0" y="4265657"/>
            <a:ext cx="11277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Step1: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The ML model looks at the invoice — vendor name, line-item description, amount, historical patterns — and predicts the correct GL code, e.g.: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"Acme Cloud Services → GL 6200 (Software Subscriptions) — 94% confidence“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Step2: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Then clerk reviews and confirms (or overrides).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picking from hundreds of accounts manually, they just approve a suggestion.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1BE3936-07E2-07A1-CE0D-FEF6A99FB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37766"/>
              </p:ext>
            </p:extLst>
          </p:nvPr>
        </p:nvGraphicFramePr>
        <p:xfrm>
          <a:off x="6423376" y="1855938"/>
          <a:ext cx="576862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3">
                  <a:extLst>
                    <a:ext uri="{9D8B030D-6E8A-4147-A177-3AD203B41FA5}">
                      <a16:colId xmlns:a16="http://schemas.microsoft.com/office/drawing/2014/main" val="1950732313"/>
                    </a:ext>
                  </a:extLst>
                </a:gridCol>
                <a:gridCol w="1298221">
                  <a:extLst>
                    <a:ext uri="{9D8B030D-6E8A-4147-A177-3AD203B41FA5}">
                      <a16:colId xmlns:a16="http://schemas.microsoft.com/office/drawing/2014/main" val="3757048013"/>
                    </a:ext>
                  </a:extLst>
                </a:gridCol>
                <a:gridCol w="2144890">
                  <a:extLst>
                    <a:ext uri="{9D8B030D-6E8A-4147-A177-3AD203B41FA5}">
                      <a16:colId xmlns:a16="http://schemas.microsoft.com/office/drawing/2014/main" val="1173655349"/>
                    </a:ext>
                  </a:extLst>
                </a:gridCol>
                <a:gridCol w="1207910">
                  <a:extLst>
                    <a:ext uri="{9D8B030D-6E8A-4147-A177-3AD203B41FA5}">
                      <a16:colId xmlns:a16="http://schemas.microsoft.com/office/drawing/2014/main" val="417859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Invoice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ML_Predict_GL_code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Confidence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Approve by clerk ?</a:t>
                      </a:r>
                      <a:endParaRPr lang="en-IN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23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inv1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GL 6200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94%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✅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719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Inv2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GL 4500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62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Inv3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GL 4500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98%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✅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20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….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4307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084B66-8219-001A-7D2C-FFDAF63EBEAE}"/>
              </a:ext>
            </a:extLst>
          </p:cNvPr>
          <p:cNvSpPr txBox="1"/>
          <p:nvPr/>
        </p:nvSpPr>
        <p:spPr>
          <a:xfrm>
            <a:off x="136732" y="0"/>
            <a:ext cx="100267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 ROI (Time Saved per Task)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You deploy an ML model that takes input invoices and suggests General Ledger accounts (GL code 6200 or 4500).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02FCBC-237B-14B2-620C-174DB6EBF10C}"/>
              </a:ext>
            </a:extLst>
          </p:cNvPr>
          <p:cNvSpPr/>
          <p:nvPr/>
        </p:nvSpPr>
        <p:spPr>
          <a:xfrm>
            <a:off x="1681654" y="2511973"/>
            <a:ext cx="1818290" cy="103001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ML Model</a:t>
            </a:r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25797-9191-9822-D2D5-A44752A08A3B}"/>
              </a:ext>
            </a:extLst>
          </p:cNvPr>
          <p:cNvSpPr/>
          <p:nvPr/>
        </p:nvSpPr>
        <p:spPr>
          <a:xfrm>
            <a:off x="262758" y="2157680"/>
            <a:ext cx="903890" cy="151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Invoice</a:t>
            </a:r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F95E9A5-A692-80F1-2FDA-F83F84266F18}"/>
              </a:ext>
            </a:extLst>
          </p:cNvPr>
          <p:cNvSpPr/>
          <p:nvPr/>
        </p:nvSpPr>
        <p:spPr>
          <a:xfrm>
            <a:off x="1250730" y="2675920"/>
            <a:ext cx="346842" cy="483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89DE3-B22C-8ECD-8061-E1CCE60FB9C1}"/>
              </a:ext>
            </a:extLst>
          </p:cNvPr>
          <p:cNvSpPr/>
          <p:nvPr/>
        </p:nvSpPr>
        <p:spPr>
          <a:xfrm>
            <a:off x="4088570" y="2708435"/>
            <a:ext cx="1061547" cy="478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GL XXXX</a:t>
            </a:r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339AD3D-4B5C-5827-B417-702334C6FD89}"/>
              </a:ext>
            </a:extLst>
          </p:cNvPr>
          <p:cNvSpPr/>
          <p:nvPr/>
        </p:nvSpPr>
        <p:spPr>
          <a:xfrm>
            <a:off x="3620836" y="2675920"/>
            <a:ext cx="346842" cy="483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70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8D449-1CCB-09FD-5CAA-42E9A6AD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B3AE1A-B26B-F4BD-14A5-E4188ACA0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11511"/>
              </p:ext>
            </p:extLst>
          </p:nvPr>
        </p:nvGraphicFramePr>
        <p:xfrm>
          <a:off x="7255935" y="1724687"/>
          <a:ext cx="4710288" cy="4831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3867">
                  <a:extLst>
                    <a:ext uri="{9D8B030D-6E8A-4147-A177-3AD203B41FA5}">
                      <a16:colId xmlns:a16="http://schemas.microsoft.com/office/drawing/2014/main" val="2279576689"/>
                    </a:ext>
                  </a:extLst>
                </a:gridCol>
                <a:gridCol w="2136421">
                  <a:extLst>
                    <a:ext uri="{9D8B030D-6E8A-4147-A177-3AD203B41FA5}">
                      <a16:colId xmlns:a16="http://schemas.microsoft.com/office/drawing/2014/main" val="933764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Metric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Value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11130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Time saved per invoice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2 minutes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55300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Invoices/month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10,000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86753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Hours saved/month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~333 hrs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17703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Loaded labor rate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$35/hr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5367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Monthly savings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~$11,650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16553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Annual savings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~$140,000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8695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Implementation cost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$150,000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53412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Payback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~13 months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642140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8A269ED-5960-4555-ACA6-1849642B911F}"/>
              </a:ext>
            </a:extLst>
          </p:cNvPr>
          <p:cNvSpPr txBox="1"/>
          <p:nvPr/>
        </p:nvSpPr>
        <p:spPr>
          <a:xfrm>
            <a:off x="127000" y="143807"/>
            <a:ext cx="10191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logic: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AI accelerates a task a human still owns.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ROI = (time saved × volume × rate) − cost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5F09C-8735-8FCE-80F9-46D94E0D2603}"/>
              </a:ext>
            </a:extLst>
          </p:cNvPr>
          <p:cNvSpPr txBox="1"/>
          <p:nvPr/>
        </p:nvSpPr>
        <p:spPr>
          <a:xfrm>
            <a:off x="127000" y="257075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limitation: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human is still in the loop. You saved keystrokes, not headcount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( The clerk still touches every invoice and sends it to the GL account)</a:t>
            </a:r>
          </a:p>
        </p:txBody>
      </p:sp>
    </p:spTree>
    <p:extLst>
      <p:ext uri="{BB962C8B-B14F-4D97-AF65-F5344CB8AC3E}">
        <p14:creationId xmlns:p14="http://schemas.microsoft.com/office/powerpoint/2010/main" val="3458399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2B6FF-D8C9-515B-D573-9AC4131A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6D1053-9572-A9A8-8E50-18E22DC5DE49}"/>
              </a:ext>
            </a:extLst>
          </p:cNvPr>
          <p:cNvSpPr txBox="1"/>
          <p:nvPr/>
        </p:nvSpPr>
        <p:spPr>
          <a:xfrm>
            <a:off x="115711" y="12680"/>
            <a:ext cx="86078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Agentic AI ROI (Hiring an Employee / Outsourcing a Process)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Now you deploy an agent that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owns end-end workflow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1. ingests invoices,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2. matches Pos and resolves mismatches by emailing vendors,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3. codes exceptions,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4.  routes for approval, and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5. posts to the ERP.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B205F2-577E-70E1-8B43-D3711115A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31910"/>
              </p:ext>
            </p:extLst>
          </p:nvPr>
        </p:nvGraphicFramePr>
        <p:xfrm>
          <a:off x="5119511" y="2033948"/>
          <a:ext cx="7162800" cy="45204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8644">
                  <a:extLst>
                    <a:ext uri="{9D8B030D-6E8A-4147-A177-3AD203B41FA5}">
                      <a16:colId xmlns:a16="http://schemas.microsoft.com/office/drawing/2014/main" val="1515851729"/>
                    </a:ext>
                  </a:extLst>
                </a:gridCol>
                <a:gridCol w="3474156">
                  <a:extLst>
                    <a:ext uri="{9D8B030D-6E8A-4147-A177-3AD203B41FA5}">
                      <a16:colId xmlns:a16="http://schemas.microsoft.com/office/drawing/2014/main" val="1981930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Metric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Value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5187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Fully-loaded cost of 3 AP clerks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$210,000/yr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11228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Agent platform + inference + integration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$60,000/yr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29299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Human exception reviewer </a:t>
                      </a:r>
                    </a:p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(=0.5 FTE, half of full-time employee)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$35,000/yr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1707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Net annual savings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$115,000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81509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Cost per invoice processed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drops from ~$1.75 → ~$0.79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21461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Capacity added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3× volume with no new hires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779894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AE3772-85FA-3747-0814-60B945424DC9}"/>
              </a:ext>
            </a:extLst>
          </p:cNvPr>
          <p:cNvSpPr txBox="1"/>
          <p:nvPr/>
        </p:nvSpPr>
        <p:spPr>
          <a:xfrm>
            <a:off x="115711" y="5068284"/>
            <a:ext cx="4715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 human only reviews flagged exceptions.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You're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replacing a role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80576B-98C9-4304-C632-2DF55AFBCA67}"/>
                  </a:ext>
                </a:extLst>
              </p14:cNvPr>
              <p14:cNvContentPartPr/>
              <p14:nvPr/>
            </p14:nvContentPartPr>
            <p14:xfrm>
              <a:off x="2333239" y="4406785"/>
              <a:ext cx="2483280" cy="795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80576B-98C9-4304-C632-2DF55AFBCA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5239" y="4389145"/>
                <a:ext cx="2518920" cy="83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1581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6BEA0-4BC8-0B41-A542-7D1693DC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AF01C5-9647-37E0-DC86-3FDA822FD5D7}"/>
              </a:ext>
            </a:extLst>
          </p:cNvPr>
          <p:cNvSpPr txBox="1"/>
          <p:nvPr/>
        </p:nvSpPr>
        <p:spPr>
          <a:xfrm>
            <a:off x="115711" y="151302"/>
            <a:ext cx="114469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logic mirrors a hiring decision: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Cost to "employ"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(licensing + inference + oversight)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Throughput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it delivers (invoices/day, no ramp time, 24/7)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Quality/error rate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vs. the human baseline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Scalability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— can it handle 3× volume without 3× cost?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Retention risk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— none (vs. turnover, training, hiring lag)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Payback period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— often measured in months, not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Would you rather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hire 3 more clerks at $210K/yr,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outsource to a BPO at $150K/yr, or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"hire" an agent at $95K/yr that never sleeps and scales instantly?</a:t>
            </a:r>
          </a:p>
        </p:txBody>
      </p:sp>
    </p:spTree>
    <p:extLst>
      <p:ext uri="{BB962C8B-B14F-4D97-AF65-F5344CB8AC3E}">
        <p14:creationId xmlns:p14="http://schemas.microsoft.com/office/powerpoint/2010/main" val="179207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F2F89-FF12-320E-0751-6A5FFF7B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0BB5AE-65C3-8032-F148-ADF1CF7846B3}"/>
              </a:ext>
            </a:extLst>
          </p:cNvPr>
          <p:cNvSpPr txBox="1"/>
          <p:nvPr/>
        </p:nvSpPr>
        <p:spPr>
          <a:xfrm>
            <a:off x="156098" y="369723"/>
            <a:ext cx="11446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Arial" panose="020B0604020202020204" pitchFamily="34" charset="0"/>
              <a:buChar char="•"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From Efficiency to Outcomes: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</a:p>
          <a:p>
            <a:pPr marR="0" lvl="0"/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Shift focus from </a:t>
            </a:r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“How fast did the AI write an email?”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to </a:t>
            </a:r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“Did the AI autonomous agent successfully resolve the customer billing dispute from end to end?”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AF754-279A-253F-7EA7-807745228E59}"/>
              </a:ext>
            </a:extLst>
          </p:cNvPr>
          <p:cNvSpPr txBox="1"/>
          <p:nvPr/>
        </p:nvSpPr>
        <p:spPr>
          <a:xfrm>
            <a:off x="124177" y="3222211"/>
            <a:ext cx="5087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“How fast did the AI write an email?”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7D9A7-BB91-6EAC-B80D-1C3BDC372421}"/>
              </a:ext>
            </a:extLst>
          </p:cNvPr>
          <p:cNvSpPr txBox="1"/>
          <p:nvPr/>
        </p:nvSpPr>
        <p:spPr>
          <a:xfrm>
            <a:off x="5980386" y="3037544"/>
            <a:ext cx="63291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“Did the AI autonomous agent resolve the customer billing dispute from end to end?”</a:t>
            </a:r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2FA7ED0-EBDB-EA0F-B1A1-568D15714FBB}"/>
              </a:ext>
            </a:extLst>
          </p:cNvPr>
          <p:cNvSpPr/>
          <p:nvPr/>
        </p:nvSpPr>
        <p:spPr>
          <a:xfrm>
            <a:off x="5122820" y="3105835"/>
            <a:ext cx="756745" cy="646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14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03DE3-4CD6-B378-AE72-1E67459B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E1CCE-F3B0-ABD3-B412-8BA5B5B673E7}"/>
              </a:ext>
            </a:extLst>
          </p:cNvPr>
          <p:cNvSpPr txBox="1"/>
          <p:nvPr/>
        </p:nvSpPr>
        <p:spPr>
          <a:xfrm>
            <a:off x="-170113" y="0"/>
            <a:ext cx="11446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Arial" panose="020B0604020202020204" pitchFamily="34" charset="0"/>
              <a:buChar char="•"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 "Cost-per-Task" Metric: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Leaders c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alculate the token and computational costs of an agent executing a loop (e.g., searching databases, checking compliance, updating CRM) versus the hourly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wage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of a human doing the same manual process.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9827B7-892E-1835-F09D-EA76F3C51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44" y="1183657"/>
            <a:ext cx="5978816" cy="5527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2EF9AD-FA0C-91C3-6558-E7CA61CB8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03" y="2017986"/>
            <a:ext cx="1148406" cy="48400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3C253D-5A9F-F1EF-661A-9C7E8F2CC6DF}"/>
              </a:ext>
            </a:extLst>
          </p:cNvPr>
          <p:cNvSpPr txBox="1"/>
          <p:nvPr/>
        </p:nvSpPr>
        <p:spPr>
          <a:xfrm>
            <a:off x="2816774" y="5108423"/>
            <a:ext cx="1576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Or use this one</a:t>
            </a:r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9388D5F-9F76-1D0B-F96B-C6168C34496B}"/>
              </a:ext>
            </a:extLst>
          </p:cNvPr>
          <p:cNvSpPr/>
          <p:nvPr/>
        </p:nvSpPr>
        <p:spPr>
          <a:xfrm rot="11351650">
            <a:off x="2312276" y="5328745"/>
            <a:ext cx="504498" cy="46245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18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8D961-99D7-D76B-CE64-EA967FBF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D0CB69-95A1-0538-830B-E0C644C0BB05}"/>
              </a:ext>
            </a:extLst>
          </p:cNvPr>
          <p:cNvSpPr txBox="1"/>
          <p:nvPr/>
        </p:nvSpPr>
        <p:spPr>
          <a:xfrm>
            <a:off x="372533" y="2070671"/>
            <a:ext cx="11446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2. Risk Management &amp; Autonomous Governance</a:t>
            </a:r>
          </a:p>
        </p:txBody>
      </p:sp>
    </p:spTree>
    <p:extLst>
      <p:ext uri="{BB962C8B-B14F-4D97-AF65-F5344CB8AC3E}">
        <p14:creationId xmlns:p14="http://schemas.microsoft.com/office/powerpoint/2010/main" val="3199415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99BE4-A01F-995B-5CDB-1D63160B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16A993-A8DE-16C2-76DA-B7A9FB3AD1DE}"/>
              </a:ext>
            </a:extLst>
          </p:cNvPr>
          <p:cNvSpPr txBox="1"/>
          <p:nvPr/>
        </p:nvSpPr>
        <p:spPr>
          <a:xfrm>
            <a:off x="158044" y="117693"/>
            <a:ext cx="114469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give AI the agency to act, click buttons, and spend money, the risk profile changes drastically. </a:t>
            </a:r>
          </a:p>
          <a:p>
            <a:endParaRPr lang="en-IN" sz="2400" b="1" u="sng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Leaders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must build an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Agent Governance Framework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D28E9-1574-E3B9-6AC3-C3096FCD4DB4}"/>
              </a:ext>
            </a:extLst>
          </p:cNvPr>
          <p:cNvSpPr txBox="1"/>
          <p:nvPr/>
        </p:nvSpPr>
        <p:spPr>
          <a:xfrm>
            <a:off x="2269066" y="342394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3 key concepts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Cascading Agent Failures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Liability and Accountability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812188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07F4E-1F14-54E7-6512-D9E00F3E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EC3B2-5D58-FC7B-D3E4-5350EB669DD1}"/>
              </a:ext>
            </a:extLst>
          </p:cNvPr>
          <p:cNvSpPr txBox="1"/>
          <p:nvPr/>
        </p:nvSpPr>
        <p:spPr>
          <a:xfrm>
            <a:off x="0" y="177387"/>
            <a:ext cx="11446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"Human-in-the-Loop" Threshold: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Define explicit financial or operational guardrails.</a:t>
            </a:r>
          </a:p>
          <a:p>
            <a:pPr lvl="1"/>
            <a:r>
              <a:rPr lang="en-IN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An agent can autonomously issue client refunds up to ₹5,000, but requires a human manager's digital signature for anything higher.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1A7904-DA8C-3E49-8396-C06685AB5BCE}"/>
              </a:ext>
            </a:extLst>
          </p:cNvPr>
          <p:cNvSpPr/>
          <p:nvPr/>
        </p:nvSpPr>
        <p:spPr>
          <a:xfrm>
            <a:off x="2449689" y="2777068"/>
            <a:ext cx="2077156" cy="18936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Refund</a:t>
            </a:r>
          </a:p>
          <a:p>
            <a:pPr algn="ctr"/>
            <a:r>
              <a:rPr lang="en-US" sz="2800"/>
              <a:t>Agent</a:t>
            </a:r>
            <a:endParaRPr lang="en-IN" sz="2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DFDCAC-57DC-E907-605F-41459C7B0C9C}"/>
              </a:ext>
            </a:extLst>
          </p:cNvPr>
          <p:cNvSpPr/>
          <p:nvPr/>
        </p:nvSpPr>
        <p:spPr>
          <a:xfrm>
            <a:off x="6886222" y="2926644"/>
            <a:ext cx="3420534" cy="1004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Need</a:t>
            </a:r>
            <a:r>
              <a:rPr lang="en-IN" sz="2400">
                <a:solidFill>
                  <a:schemeClr val="bg1"/>
                </a:solidFill>
              </a:rPr>
              <a:t> human manager's digital signature</a:t>
            </a:r>
            <a:r>
              <a:rPr lang="en-US" sz="2400">
                <a:solidFill>
                  <a:schemeClr val="bg1"/>
                </a:solidFill>
              </a:rPr>
              <a:t> </a:t>
            </a:r>
            <a:endParaRPr lang="en-IN" sz="240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B5438A-7415-CACA-9879-B33CCB8D1EA2}"/>
              </a:ext>
            </a:extLst>
          </p:cNvPr>
          <p:cNvSpPr/>
          <p:nvPr/>
        </p:nvSpPr>
        <p:spPr>
          <a:xfrm>
            <a:off x="6920088" y="4866352"/>
            <a:ext cx="3386668" cy="1004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Automatically approve the refund</a:t>
            </a:r>
            <a:endParaRPr lang="en-IN" sz="240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C7336E4-C238-95FC-0506-30B955F70E82}"/>
              </a:ext>
            </a:extLst>
          </p:cNvPr>
          <p:cNvSpPr/>
          <p:nvPr/>
        </p:nvSpPr>
        <p:spPr>
          <a:xfrm rot="20604399">
            <a:off x="4978399" y="3216625"/>
            <a:ext cx="1444978" cy="541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8FCF158-2E21-DA12-03A6-CF222CDCA2DD}"/>
              </a:ext>
            </a:extLst>
          </p:cNvPr>
          <p:cNvSpPr/>
          <p:nvPr/>
        </p:nvSpPr>
        <p:spPr>
          <a:xfrm rot="1218229">
            <a:off x="4978399" y="4592972"/>
            <a:ext cx="1444978" cy="541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15349-F0B8-E975-1A51-693B28455156}"/>
              </a:ext>
            </a:extLst>
          </p:cNvPr>
          <p:cNvSpPr txBox="1"/>
          <p:nvPr/>
        </p:nvSpPr>
        <p:spPr>
          <a:xfrm>
            <a:off x="4628444" y="2695811"/>
            <a:ext cx="2483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Amount &gt; 5,000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E6BAC-83CE-C641-1ECC-3CD86ABDA6C0}"/>
              </a:ext>
            </a:extLst>
          </p:cNvPr>
          <p:cNvSpPr txBox="1"/>
          <p:nvPr/>
        </p:nvSpPr>
        <p:spPr>
          <a:xfrm>
            <a:off x="4402666" y="5244878"/>
            <a:ext cx="2483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Amount &lt; 5,000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240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F35DC-3BC9-1D01-1647-77324EBA3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20BEAB-707F-DB1B-8B4E-08BC1ECD2CFD}"/>
              </a:ext>
            </a:extLst>
          </p:cNvPr>
          <p:cNvSpPr txBox="1"/>
          <p:nvPr/>
        </p:nvSpPr>
        <p:spPr>
          <a:xfrm>
            <a:off x="215268" y="142683"/>
            <a:ext cx="114469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Cascading Agent Failures: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risk of "agent loops," where two autonomous systems get stuck in a feedback loop (e.g., an automated purchasing agent arguing with an automated pricing agent), draining computing budgets in minutes.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F72BA0-D1DF-4448-0E71-821250732D00}"/>
              </a:ext>
            </a:extLst>
          </p:cNvPr>
          <p:cNvSpPr/>
          <p:nvPr/>
        </p:nvSpPr>
        <p:spPr>
          <a:xfrm>
            <a:off x="694267" y="3014133"/>
            <a:ext cx="2709333" cy="22351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Purchasing</a:t>
            </a:r>
          </a:p>
          <a:p>
            <a:pPr algn="ctr"/>
            <a:r>
              <a:rPr lang="en-US" sz="2800"/>
              <a:t>Agent</a:t>
            </a:r>
            <a:endParaRPr lang="en-IN" sz="2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D29740-52A7-BFBE-5727-ABA557810A2C}"/>
              </a:ext>
            </a:extLst>
          </p:cNvPr>
          <p:cNvSpPr/>
          <p:nvPr/>
        </p:nvSpPr>
        <p:spPr>
          <a:xfrm>
            <a:off x="6677378" y="3098800"/>
            <a:ext cx="2709333" cy="22351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Pricing</a:t>
            </a:r>
          </a:p>
          <a:p>
            <a:pPr algn="ctr"/>
            <a:r>
              <a:rPr lang="en-US" sz="2800"/>
              <a:t>Agent</a:t>
            </a:r>
            <a:endParaRPr lang="en-IN" sz="2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F5EEE16-991E-F088-D7EE-60E6A5656AF2}"/>
              </a:ext>
            </a:extLst>
          </p:cNvPr>
          <p:cNvGrpSpPr/>
          <p:nvPr/>
        </p:nvGrpSpPr>
        <p:grpSpPr>
          <a:xfrm>
            <a:off x="3397649" y="2978191"/>
            <a:ext cx="3297960" cy="525960"/>
            <a:chOff x="3397649" y="2978191"/>
            <a:chExt cx="329796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FF29C4D-7334-21D9-F221-E5513B223AB4}"/>
                    </a:ext>
                  </a:extLst>
                </p14:cNvPr>
                <p14:cNvContentPartPr/>
                <p14:nvPr/>
              </p14:nvContentPartPr>
              <p14:xfrm>
                <a:off x="3397649" y="2978191"/>
                <a:ext cx="3232080" cy="40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FF29C4D-7334-21D9-F221-E5513B223A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80009" y="2960191"/>
                  <a:ext cx="32677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487662-4AFF-2FE8-CDA6-1BC4F1224233}"/>
                    </a:ext>
                  </a:extLst>
                </p14:cNvPr>
                <p14:cNvContentPartPr/>
                <p14:nvPr/>
              </p14:nvContentPartPr>
              <p14:xfrm>
                <a:off x="6320129" y="3160711"/>
                <a:ext cx="375480" cy="343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487662-4AFF-2FE8-CDA6-1BC4F12242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02489" y="3142711"/>
                  <a:ext cx="411120" cy="37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ED5FB9E-66ED-C688-542F-3C9BC3F2983A}"/>
                  </a:ext>
                </a:extLst>
              </p14:cNvPr>
              <p14:cNvContentPartPr/>
              <p14:nvPr/>
            </p14:nvContentPartPr>
            <p14:xfrm>
              <a:off x="3522929" y="4538071"/>
              <a:ext cx="3081240" cy="667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ED5FB9E-66ED-C688-542F-3C9BC3F298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04929" y="4520071"/>
                <a:ext cx="3116880" cy="7030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42C235A-0372-AE7D-B828-8A41291CDC9B}"/>
              </a:ext>
            </a:extLst>
          </p:cNvPr>
          <p:cNvSpPr txBox="1"/>
          <p:nvPr/>
        </p:nvSpPr>
        <p:spPr>
          <a:xfrm>
            <a:off x="4120444" y="2516526"/>
            <a:ext cx="2823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Needs better price</a:t>
            </a: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8F05CF-72ED-3A0E-5A7B-15B17B2438B8}"/>
              </a:ext>
            </a:extLst>
          </p:cNvPr>
          <p:cNvSpPr txBox="1"/>
          <p:nvPr/>
        </p:nvSpPr>
        <p:spPr>
          <a:xfrm>
            <a:off x="3805856" y="5333999"/>
            <a:ext cx="4988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price offered is discounted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628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18E98-328A-1E1E-4DD3-E1DE15FD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D2CB39-77A9-0F06-786A-589933DDAF4F}"/>
              </a:ext>
            </a:extLst>
          </p:cNvPr>
          <p:cNvSpPr txBox="1"/>
          <p:nvPr/>
        </p:nvSpPr>
        <p:spPr>
          <a:xfrm>
            <a:off x="158044" y="117693"/>
            <a:ext cx="114469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Liability and Accountability: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Establish who owns the mistake when an agent makes an unauthorized commitment—is it the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software vendor,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prompt engineer, 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department head?</a:t>
            </a:r>
          </a:p>
        </p:txBody>
      </p:sp>
    </p:spTree>
    <p:extLst>
      <p:ext uri="{BB962C8B-B14F-4D97-AF65-F5344CB8AC3E}">
        <p14:creationId xmlns:p14="http://schemas.microsoft.com/office/powerpoint/2010/main" val="76132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9BA22-C570-4353-15C2-36A8E7FA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8146BE-331C-0279-BAA0-673C05132E97}"/>
              </a:ext>
            </a:extLst>
          </p:cNvPr>
          <p:cNvSpPr txBox="1"/>
          <p:nvPr/>
        </p:nvSpPr>
        <p:spPr>
          <a:xfrm>
            <a:off x="519288" y="2736715"/>
            <a:ext cx="11446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3. Choosing Vendors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05937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53809-017E-CBED-270B-FF7CF9BF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5944F-82BC-905B-E149-9CA0F35DC6E6}"/>
              </a:ext>
            </a:extLst>
          </p:cNvPr>
          <p:cNvSpPr txBox="1"/>
          <p:nvPr/>
        </p:nvSpPr>
        <p:spPr>
          <a:xfrm>
            <a:off x="158044" y="117693"/>
            <a:ext cx="114469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Leaders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must be able to cut through marketing hype to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the technical foundations of enterprise agent platforms.</a:t>
            </a:r>
          </a:p>
          <a:p>
            <a:pPr lvl="0"/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Proprietary Ecosystems vs. Open Frameworks: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the pros and cons of ecosystem-locked solutions (like Microsoft Copilot Studio or Salesforce Agentforce) against open-source orchestration frameworks (like LangChain or AutoGen).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50BD80-4BE7-5D74-BCD6-C8A78D426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610980"/>
              </p:ext>
            </p:extLst>
          </p:nvPr>
        </p:nvGraphicFramePr>
        <p:xfrm>
          <a:off x="1535289" y="2601186"/>
          <a:ext cx="10498667" cy="4139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1645">
                  <a:extLst>
                    <a:ext uri="{9D8B030D-6E8A-4147-A177-3AD203B41FA5}">
                      <a16:colId xmlns:a16="http://schemas.microsoft.com/office/drawing/2014/main" val="3889499739"/>
                    </a:ext>
                  </a:extLst>
                </a:gridCol>
                <a:gridCol w="4218257">
                  <a:extLst>
                    <a:ext uri="{9D8B030D-6E8A-4147-A177-3AD203B41FA5}">
                      <a16:colId xmlns:a16="http://schemas.microsoft.com/office/drawing/2014/main" val="61664902"/>
                    </a:ext>
                  </a:extLst>
                </a:gridCol>
                <a:gridCol w="3988765">
                  <a:extLst>
                    <a:ext uri="{9D8B030D-6E8A-4147-A177-3AD203B41FA5}">
                      <a16:colId xmlns:a16="http://schemas.microsoft.com/office/drawing/2014/main" val="2450402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Aspect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Proprietary Ecosystems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Open Frameworks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814158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Best For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deep integration with a specific vendor stack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Complex, custom logic, multi-model flexibility, and avoiding vendor lock-in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05210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Speed to Market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Fast (days to weeks)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Slower (weeks to months)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3676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Customization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Low to Moderate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Maximum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93341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Lock-in Risk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High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Low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8422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Operational Burden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Low (vendor-managed)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High (self-managed)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5811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Ideal User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Business teams, citizen developers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AI engineers, hardcore developers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6505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358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18847-38CD-E42B-35F1-D3B12D824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7F2E24-3A05-936B-807F-0E65AFCBD2FC}"/>
              </a:ext>
            </a:extLst>
          </p:cNvPr>
          <p:cNvSpPr txBox="1"/>
          <p:nvPr/>
        </p:nvSpPr>
        <p:spPr>
          <a:xfrm>
            <a:off x="158044" y="117693"/>
            <a:ext cx="514773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and Integration Capabilities:</a:t>
            </a:r>
          </a:p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 true enterprise agent needs </a:t>
            </a:r>
          </a:p>
          <a:p>
            <a:pPr lvl="0"/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robust </a:t>
            </a:r>
            <a:r>
              <a:rPr lang="en-IN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memory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(remembering past user interactions) and </a:t>
            </a:r>
          </a:p>
          <a:p>
            <a:pPr marL="457200" lvl="0" indent="-457200">
              <a:buFont typeface="+mj-lt"/>
              <a:buAutoNum type="arabicPeriod"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easy </a:t>
            </a:r>
            <a:r>
              <a:rPr lang="en-IN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API integrations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into legacy systems (ERP, HR systems, core databases).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672FA-8221-88F8-5FE0-BA811D5C9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0925"/>
            <a:ext cx="6025929" cy="63161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1FE6563-6F5A-1DE9-C5E5-E3099AB0A855}"/>
                  </a:ext>
                </a:extLst>
              </p14:cNvPr>
              <p14:cNvContentPartPr/>
              <p14:nvPr/>
            </p14:nvContentPartPr>
            <p14:xfrm>
              <a:off x="3995969" y="2223631"/>
              <a:ext cx="1434240" cy="361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1FE6563-6F5A-1DE9-C5E5-E3099AB0A8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7969" y="2205631"/>
                <a:ext cx="146988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509E707-8F8D-0AB6-CF54-306EE8697C31}"/>
                  </a:ext>
                </a:extLst>
              </p14:cNvPr>
              <p14:cNvContentPartPr/>
              <p14:nvPr/>
            </p14:nvContentPartPr>
            <p14:xfrm>
              <a:off x="5184329" y="2347831"/>
              <a:ext cx="234720" cy="364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509E707-8F8D-0AB6-CF54-306EE8697C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6689" y="2330191"/>
                <a:ext cx="27036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7189D40-F911-FE4F-60A9-8AB0DE8758C5}"/>
                  </a:ext>
                </a:extLst>
              </p14:cNvPr>
              <p14:cNvContentPartPr/>
              <p14:nvPr/>
            </p14:nvContentPartPr>
            <p14:xfrm>
              <a:off x="5699129" y="1948591"/>
              <a:ext cx="2746440" cy="4612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7189D40-F911-FE4F-60A9-8AB0DE8758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81489" y="1930951"/>
                <a:ext cx="2782080" cy="464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7879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709EF-18C5-93C8-7C19-CC73F9F9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E29216-95FE-B550-1AA1-6161BC7A59F4}"/>
              </a:ext>
            </a:extLst>
          </p:cNvPr>
          <p:cNvSpPr txBox="1"/>
          <p:nvPr/>
        </p:nvSpPr>
        <p:spPr>
          <a:xfrm>
            <a:off x="112889" y="121483"/>
            <a:ext cx="11582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Sovereignty and Security:</a:t>
            </a:r>
          </a:p>
          <a:p>
            <a:pPr lvl="0"/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Ensure vendors comply with strict localized data laws.</a:t>
            </a:r>
          </a:p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and customer data must remain sandboxed within the corporate cloud tenant rather than passing through third-party servers.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8FE82-E910-B380-83F0-C6B756C0A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934" y="2028439"/>
            <a:ext cx="6399093" cy="4708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CB020C-FCCE-2E02-25FA-EA3F725CF689}"/>
              </a:ext>
            </a:extLst>
          </p:cNvPr>
          <p:cNvSpPr txBox="1"/>
          <p:nvPr/>
        </p:nvSpPr>
        <p:spPr>
          <a:xfrm>
            <a:off x="2065867" y="4933245"/>
            <a:ext cx="2438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No PII,</a:t>
            </a:r>
          </a:p>
          <a:p>
            <a:r>
              <a:rPr 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No Salary of Employees</a:t>
            </a:r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440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1048</Words>
  <Application>Microsoft Office PowerPoint</Application>
  <PresentationFormat>Widescreen</PresentationFormat>
  <Paragraphs>172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43</cp:revision>
  <dcterms:created xsi:type="dcterms:W3CDTF">2026-09-25T02:37:34Z</dcterms:created>
  <dcterms:modified xsi:type="dcterms:W3CDTF">2026-10-14T11:09:12Z</dcterms:modified>
</cp:coreProperties>
</file>