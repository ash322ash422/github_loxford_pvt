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86" r:id="rId3"/>
    <p:sldId id="285" r:id="rId4"/>
    <p:sldId id="276" r:id="rId5"/>
    <p:sldId id="277" r:id="rId6"/>
    <p:sldId id="278" r:id="rId7"/>
    <p:sldId id="284" r:id="rId8"/>
    <p:sldId id="279" r:id="rId9"/>
    <p:sldId id="280" r:id="rId10"/>
    <p:sldId id="281" r:id="rId11"/>
    <p:sldId id="282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2:08:22.4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24 253 24575,'-1'17'0,"-1"-1"0,-7 32 0,6-38 0,1 0 0,-1 0 0,2 1 0,0-1 0,0 1 0,1-1 0,0 1 0,1-1 0,2 15 0,-2-22 0,0-1 0,-1 0 0,1 0 0,0 1 0,1-1 0,-1 0 0,0 0 0,0 0 0,1 0 0,0 0 0,-1-1 0,1 1 0,0 0 0,0-1 0,0 1 0,0-1 0,0 0 0,0 1 0,0-1 0,0 0 0,0 0 0,1-1 0,-1 1 0,0 0 0,1-1 0,-1 1 0,1-1 0,-1 0 0,0 0 0,1 0 0,-1 0 0,1 0 0,-1 0 0,1-1 0,-1 1 0,0-1 0,1 0 0,-1 0 0,3-1 0,9-3 0,0-1 0,0-1 0,-1 0 0,24-17 0,89-74 0,-84 62 0,2 2 0,73-43 0,-16 25-28,113-68-1309,-182 98-5489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2:08:32.5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79 24575,'0'-2'0,"0"0"0,0 0 0,1 0 0,-1 0 0,1-1 0,-1 1 0,1 0 0,0 0 0,0 0 0,0 0 0,0 0 0,0 0 0,0 1 0,0-1 0,1 0 0,-1 1 0,1-1 0,-1 0 0,3 0 0,1-2 0,0 1 0,0 0 0,0 0 0,0 0 0,1 1 0,11-3 0,2 0 0,0 1 0,1 1 0,25 0 0,424 1 0,-219 5 0,1731-3-1365,-1959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ED23-1B0B-5BBF-99DE-E50DD306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21DA7-B6A8-988D-D4AC-32BF34C96E94}"/>
              </a:ext>
            </a:extLst>
          </p:cNvPr>
          <p:cNvSpPr txBox="1"/>
          <p:nvPr/>
        </p:nvSpPr>
        <p:spPr>
          <a:xfrm>
            <a:off x="217584" y="334400"/>
            <a:ext cx="5123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example of AI Automation Agent from real life experience</a:t>
            </a: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E592C-B16B-3B23-8A5C-B4EFF4B2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31" y="1232405"/>
            <a:ext cx="4917890" cy="5291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9279A-2CE9-A0E4-EC7F-BEB2663B5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909" y="1627632"/>
            <a:ext cx="5221795" cy="489596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B7FCA7A-32A4-D0D7-582B-1B71C6751120}"/>
              </a:ext>
            </a:extLst>
          </p:cNvPr>
          <p:cNvSpPr/>
          <p:nvPr/>
        </p:nvSpPr>
        <p:spPr>
          <a:xfrm>
            <a:off x="5695826" y="3191256"/>
            <a:ext cx="867757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399D7-59D1-0281-0E85-6AF97B36C2A4}"/>
              </a:ext>
            </a:extLst>
          </p:cNvPr>
          <p:cNvSpPr txBox="1"/>
          <p:nvPr/>
        </p:nvSpPr>
        <p:spPr>
          <a:xfrm>
            <a:off x="6243366" y="398550"/>
            <a:ext cx="512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type of email, Agent forwards the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Email to Support, Refund, Accounts, etc. department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37AF2F-A6E5-6A7F-A5F4-737A78DBE211}"/>
                  </a:ext>
                </a:extLst>
              </p14:cNvPr>
              <p14:cNvContentPartPr/>
              <p14:nvPr/>
            </p14:nvContentPartPr>
            <p14:xfrm>
              <a:off x="8184384" y="2825856"/>
              <a:ext cx="307440" cy="178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37AF2F-A6E5-6A7F-A5F4-737A78DBE2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66744" y="2807856"/>
                <a:ext cx="3430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356BB75-4E83-EF60-82DB-1FB5BF41DB46}"/>
                  </a:ext>
                </a:extLst>
              </p14:cNvPr>
              <p14:cNvContentPartPr/>
              <p14:nvPr/>
            </p14:nvContentPartPr>
            <p14:xfrm>
              <a:off x="7250904" y="6463656"/>
              <a:ext cx="1041840" cy="28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356BB75-4E83-EF60-82DB-1FB5BF41DB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33264" y="6445656"/>
                <a:ext cx="1077480" cy="6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1931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C1E8-1F0D-8CBA-0F5D-F6B04CC5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D71729-8AE9-EE1E-5945-AC4BED4B5289}"/>
              </a:ext>
            </a:extLst>
          </p:cNvPr>
          <p:cNvSpPr txBox="1"/>
          <p:nvPr/>
        </p:nvSpPr>
        <p:spPr>
          <a:xfrm>
            <a:off x="477520" y="100377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Three Generations: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Rule-Based Bot → LLM Chatbot → Autonomous Agent</a:t>
            </a: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891A8-414D-14C5-38AF-022D469DA94C}"/>
              </a:ext>
            </a:extLst>
          </p:cNvPr>
          <p:cNvSpPr txBox="1"/>
          <p:nvPr/>
        </p:nvSpPr>
        <p:spPr>
          <a:xfrm>
            <a:off x="246888" y="2459504"/>
            <a:ext cx="11945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"When a customer says  'I think someone hacked my account’ </a:t>
            </a: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what does each system actually do?"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069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3FF23E-61AB-7189-3981-F9ED68A0CBAF}"/>
              </a:ext>
            </a:extLst>
          </p:cNvPr>
          <p:cNvSpPr txBox="1"/>
          <p:nvPr/>
        </p:nvSpPr>
        <p:spPr>
          <a:xfrm>
            <a:off x="64008" y="153198"/>
            <a:ext cx="84582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1: The Rule-Based Bot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rule-based bot is essentially a decision tree. Someone wrote every possible path in advance. The bot matches your input to a pattern, and returns a pre-written response.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has no understanding of language — it pattern-matches. If a customer types "I think someone hacked my account,.." the bot looks for keywords: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"hacked," "account."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finds a matching rule and returns: </a:t>
            </a:r>
          </a:p>
          <a:p>
            <a:pPr>
              <a:buNone/>
            </a:pPr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"For account security,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press 1 for password reset,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press 2 to speak to an agent.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bot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memory, no reasoning, and no ability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act on anything.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E9E164-D736-164B-3C9B-024DAE587921}"/>
              </a:ext>
            </a:extLst>
          </p:cNvPr>
          <p:cNvSpPr/>
          <p:nvPr/>
        </p:nvSpPr>
        <p:spPr>
          <a:xfrm>
            <a:off x="8887968" y="1036738"/>
            <a:ext cx="2798064" cy="10424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 think someone hacked my account,..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BA6249-8B7B-71B8-C2DA-043DCA1177D6}"/>
              </a:ext>
            </a:extLst>
          </p:cNvPr>
          <p:cNvSpPr/>
          <p:nvPr/>
        </p:nvSpPr>
        <p:spPr>
          <a:xfrm>
            <a:off x="8439912" y="3410641"/>
            <a:ext cx="1682496" cy="2505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i="1" dirty="0">
                <a:solidFill>
                  <a:schemeClr val="bg1"/>
                </a:solidFill>
              </a:rPr>
              <a:t>For account security,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press 1 for password reset,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press 2 to speak to an agent.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E0BA9F-857A-F358-F751-B3C3DAE0F6DA}"/>
              </a:ext>
            </a:extLst>
          </p:cNvPr>
          <p:cNvSpPr/>
          <p:nvPr/>
        </p:nvSpPr>
        <p:spPr>
          <a:xfrm>
            <a:off x="10445496" y="3429000"/>
            <a:ext cx="1682496" cy="2505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i="1" dirty="0">
                <a:solidFill>
                  <a:schemeClr val="bg1"/>
                </a:solidFill>
              </a:rPr>
              <a:t>For refund,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press 1 for returning an  item,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press 2 to speak to someone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05848-6FB4-5511-7439-487FE4C6E055}"/>
              </a:ext>
            </a:extLst>
          </p:cNvPr>
          <p:cNvSpPr txBox="1"/>
          <p:nvPr/>
        </p:nvSpPr>
        <p:spPr>
          <a:xfrm>
            <a:off x="8949348" y="3059668"/>
            <a:ext cx="1496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Hack, account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ECADF39-932A-B14E-9110-C5670F53D855}"/>
              </a:ext>
            </a:extLst>
          </p:cNvPr>
          <p:cNvSpPr/>
          <p:nvPr/>
        </p:nvSpPr>
        <p:spPr>
          <a:xfrm rot="1076481">
            <a:off x="9020193" y="2139709"/>
            <a:ext cx="490728" cy="9509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251C55D-3507-34BC-63D0-394F19E981D2}"/>
              </a:ext>
            </a:extLst>
          </p:cNvPr>
          <p:cNvSpPr/>
          <p:nvPr/>
        </p:nvSpPr>
        <p:spPr>
          <a:xfrm rot="20680479">
            <a:off x="11078357" y="2214593"/>
            <a:ext cx="490728" cy="9509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8FCADE-3463-33D7-931B-89BDFDDECD64}"/>
              </a:ext>
            </a:extLst>
          </p:cNvPr>
          <p:cNvSpPr txBox="1"/>
          <p:nvPr/>
        </p:nvSpPr>
        <p:spPr>
          <a:xfrm>
            <a:off x="10769671" y="3041309"/>
            <a:ext cx="1358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Return, item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912D-6EAB-0C09-E365-D30BFF39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3C6A2-047B-B0E6-7CA3-F8D896EB8A71}"/>
              </a:ext>
            </a:extLst>
          </p:cNvPr>
          <p:cNvSpPr txBox="1"/>
          <p:nvPr/>
        </p:nvSpPr>
        <p:spPr>
          <a:xfrm>
            <a:off x="64008" y="153198"/>
            <a:ext cx="114208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2: The LLM Chatbot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chatbot understands language semantics.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can handle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"hacked," "compromised," "someone got into my account," "unauthorized access"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all the same.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6E0079-C1A5-49FA-7626-9052CE703D20}"/>
              </a:ext>
            </a:extLst>
          </p:cNvPr>
          <p:cNvSpPr/>
          <p:nvPr/>
        </p:nvSpPr>
        <p:spPr>
          <a:xfrm>
            <a:off x="5377339" y="2634187"/>
            <a:ext cx="2066544" cy="1569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LLM ChatBot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3BA64-6538-7C90-19FD-C4EC53233A9B}"/>
              </a:ext>
            </a:extLst>
          </p:cNvPr>
          <p:cNvSpPr txBox="1"/>
          <p:nvPr/>
        </p:nvSpPr>
        <p:spPr>
          <a:xfrm>
            <a:off x="7688391" y="2677656"/>
            <a:ext cx="44396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 can tell the customer </a:t>
            </a:r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to reset a password.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 can explain </a:t>
            </a:r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what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to look for in suspicious activity.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8F9D8-BBBA-286C-3CD4-2FBE8F8D3661}"/>
              </a:ext>
            </a:extLst>
          </p:cNvPr>
          <p:cNvSpPr txBox="1"/>
          <p:nvPr/>
        </p:nvSpPr>
        <p:spPr>
          <a:xfrm>
            <a:off x="197596" y="4929910"/>
            <a:ext cx="10167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here's the ceiling: it cannot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anything –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look up the account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freeze the card,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file an incident report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5615D-C569-18C7-2128-D7E3A2130CC4}"/>
              </a:ext>
            </a:extLst>
          </p:cNvPr>
          <p:cNvSpPr txBox="1"/>
          <p:nvPr/>
        </p:nvSpPr>
        <p:spPr>
          <a:xfrm>
            <a:off x="148161" y="2448922"/>
            <a:ext cx="485360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think someone </a:t>
            </a:r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hacked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into my account.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My </a:t>
            </a:r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account is compromised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</a:t>
            </a:r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unauthorized access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to my account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110E115-63C3-AB4F-9FF7-DBCEA96E8340}"/>
              </a:ext>
            </a:extLst>
          </p:cNvPr>
          <p:cNvSpPr/>
          <p:nvPr/>
        </p:nvSpPr>
        <p:spPr>
          <a:xfrm>
            <a:off x="4764024" y="3191256"/>
            <a:ext cx="521207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E2695D9-2C21-B702-E029-A429FB44CCE0}"/>
              </a:ext>
            </a:extLst>
          </p:cNvPr>
          <p:cNvSpPr/>
          <p:nvPr/>
        </p:nvSpPr>
        <p:spPr>
          <a:xfrm>
            <a:off x="7535991" y="3142488"/>
            <a:ext cx="521207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40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D49B-BEDB-4054-46CE-5FBD9A0F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337815-C730-1611-7D14-27064D53A27E}"/>
              </a:ext>
            </a:extLst>
          </p:cNvPr>
          <p:cNvSpPr txBox="1"/>
          <p:nvPr/>
        </p:nvSpPr>
        <p:spPr>
          <a:xfrm>
            <a:off x="64008" y="153198"/>
            <a:ext cx="11018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Generation 3: The Autonomous AI Agent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understands language like the LLM chatbot — but it also can </a:t>
            </a:r>
            <a:r>
              <a:rPr lang="en-US" sz="24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actions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49DBA5-E065-0BBF-F9DC-987FABBEF47B}"/>
              </a:ext>
            </a:extLst>
          </p:cNvPr>
          <p:cNvSpPr/>
          <p:nvPr/>
        </p:nvSpPr>
        <p:spPr>
          <a:xfrm>
            <a:off x="3328416" y="1775722"/>
            <a:ext cx="2679192" cy="1353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Agent</a:t>
            </a:r>
          </a:p>
          <a:p>
            <a:pPr algn="ctr"/>
            <a:r>
              <a:rPr lang="en-US" dirty="0"/>
              <a:t>LLM + Tools + Memory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E4181-569F-13DA-F861-E45F67C4BCD8}"/>
              </a:ext>
            </a:extLst>
          </p:cNvPr>
          <p:cNvSpPr txBox="1"/>
          <p:nvPr/>
        </p:nvSpPr>
        <p:spPr>
          <a:xfrm>
            <a:off x="-13716" y="1899720"/>
            <a:ext cx="3502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says:</a:t>
            </a:r>
          </a:p>
          <a:p>
            <a:r>
              <a:rPr lang="en-US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think someone hacked my account,….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9ECE2-A1DB-A5F2-A60A-CEE53D0F6F24}"/>
              </a:ext>
            </a:extLst>
          </p:cNvPr>
          <p:cNvSpPr txBox="1"/>
          <p:nvPr/>
        </p:nvSpPr>
        <p:spPr>
          <a:xfrm>
            <a:off x="6567678" y="1559820"/>
            <a:ext cx="55641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Agent can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simultaneously pull the account transaction history,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cross-reference it with fraud signals,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temporarily freeze the card,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send a confirmation SMS,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open a support ticket, and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draft a case summary for the fraud team 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37DE898-B8E2-3A16-0D78-208FDFB0CEE6}"/>
              </a:ext>
            </a:extLst>
          </p:cNvPr>
          <p:cNvSpPr/>
          <p:nvPr/>
        </p:nvSpPr>
        <p:spPr>
          <a:xfrm>
            <a:off x="6096000" y="2049595"/>
            <a:ext cx="396240" cy="4154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7E39D2F-F9F6-0A2F-E5BA-DE6A149A2085}"/>
              </a:ext>
            </a:extLst>
          </p:cNvPr>
          <p:cNvSpPr/>
          <p:nvPr/>
        </p:nvSpPr>
        <p:spPr>
          <a:xfrm>
            <a:off x="2894457" y="2003741"/>
            <a:ext cx="396240" cy="4154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E6A703-FD30-541C-E2CE-F961C0D1BE2F}"/>
              </a:ext>
            </a:extLst>
          </p:cNvPr>
          <p:cNvSpPr txBox="1"/>
          <p:nvPr/>
        </p:nvSpPr>
        <p:spPr>
          <a:xfrm>
            <a:off x="514350" y="5646974"/>
            <a:ext cx="9992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shift:  Agent's job isn't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it is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resolve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5105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292608" y="528288"/>
            <a:ext cx="93360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an autonomous software system designed to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perceive its environment,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independent decisions, and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tools to achieve a specific goal.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operates on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"Think-Plan-Act" loop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81AFBC-CFD4-FAE6-78FB-5444EC7382A7}"/>
              </a:ext>
            </a:extLst>
          </p:cNvPr>
          <p:cNvSpPr/>
          <p:nvPr/>
        </p:nvSpPr>
        <p:spPr>
          <a:xfrm>
            <a:off x="2935224" y="3904488"/>
            <a:ext cx="5266944" cy="2705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dirty="0"/>
              <a:t>AI Agent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C7C3BF-7B99-7282-7262-4AC206BD3DAC}"/>
              </a:ext>
            </a:extLst>
          </p:cNvPr>
          <p:cNvSpPr/>
          <p:nvPr/>
        </p:nvSpPr>
        <p:spPr>
          <a:xfrm>
            <a:off x="3065781" y="5348040"/>
            <a:ext cx="966724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FE5BEB-850F-7F50-6FE1-0696184AF3CE}"/>
              </a:ext>
            </a:extLst>
          </p:cNvPr>
          <p:cNvSpPr/>
          <p:nvPr/>
        </p:nvSpPr>
        <p:spPr>
          <a:xfrm>
            <a:off x="5954522" y="5170814"/>
            <a:ext cx="2051812" cy="121645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</a:p>
          <a:p>
            <a:pPr algn="ctr"/>
            <a:r>
              <a:rPr lang="en-US" dirty="0"/>
              <a:t>Web-search,</a:t>
            </a:r>
          </a:p>
          <a:p>
            <a:pPr algn="ctr"/>
            <a:r>
              <a:rPr lang="en-US" dirty="0"/>
              <a:t>Calculator, etc.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F36849-3913-0948-3394-AC539C130CB3}"/>
              </a:ext>
            </a:extLst>
          </p:cNvPr>
          <p:cNvSpPr/>
          <p:nvPr/>
        </p:nvSpPr>
        <p:spPr>
          <a:xfrm>
            <a:off x="4230878" y="5383715"/>
            <a:ext cx="1527810" cy="7321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5ED62-B95B-D484-EFD2-FEA9704B8D3C}"/>
              </a:ext>
            </a:extLst>
          </p:cNvPr>
          <p:cNvSpPr txBox="1"/>
          <p:nvPr/>
        </p:nvSpPr>
        <p:spPr>
          <a:xfrm>
            <a:off x="114300" y="3220177"/>
            <a:ext cx="8563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Architecture of a single AI agent (3 main components)</a:t>
            </a:r>
          </a:p>
        </p:txBody>
      </p:sp>
    </p:spTree>
    <p:extLst>
      <p:ext uri="{BB962C8B-B14F-4D97-AF65-F5344CB8AC3E}">
        <p14:creationId xmlns:p14="http://schemas.microsoft.com/office/powerpoint/2010/main" val="3632060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F9C59-1F1D-40E5-CCB2-84DF2EF5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10E52-E754-AAC0-04B5-8596AFFF6DFB}"/>
              </a:ext>
            </a:extLst>
          </p:cNvPr>
          <p:cNvSpPr txBox="1"/>
          <p:nvPr/>
        </p:nvSpPr>
        <p:spPr>
          <a:xfrm>
            <a:off x="124968" y="269024"/>
            <a:ext cx="11018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with an 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Customer: "I haven't received my refund from 6 days ago and I'm really frustrated."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9BC48-95C9-6F13-D52E-8A0D99B7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" y="1207747"/>
            <a:ext cx="3033334" cy="4131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F11D7-5E7A-347B-929B-BCEE40924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974" y="1235179"/>
            <a:ext cx="3185930" cy="4709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901DD5-4B54-85E7-A0D7-E7970C469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577" y="1235179"/>
            <a:ext cx="2838846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7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76BF-E8B3-60C7-9DF5-724AF376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F45271-8DB7-2DFF-655B-92DB9E79194D}"/>
              </a:ext>
            </a:extLst>
          </p:cNvPr>
          <p:cNvSpPr txBox="1"/>
          <p:nvPr/>
        </p:nvSpPr>
        <p:spPr>
          <a:xfrm>
            <a:off x="60960" y="70902"/>
            <a:ext cx="11018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example of AI Agent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BEF3D-A032-1FC8-37F4-CAC3624939E8}"/>
              </a:ext>
            </a:extLst>
          </p:cNvPr>
          <p:cNvSpPr txBox="1"/>
          <p:nvPr/>
        </p:nvSpPr>
        <p:spPr>
          <a:xfrm>
            <a:off x="158496" y="1969806"/>
            <a:ext cx="3215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Book me cheapest Delta Airlines flight from New York To Moscow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841CA2-65D8-F887-C909-61A07DD21C58}"/>
              </a:ext>
            </a:extLst>
          </p:cNvPr>
          <p:cNvSpPr/>
          <p:nvPr/>
        </p:nvSpPr>
        <p:spPr>
          <a:xfrm>
            <a:off x="3943350" y="1978561"/>
            <a:ext cx="3150108" cy="1353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Agent</a:t>
            </a:r>
          </a:p>
          <a:p>
            <a:pPr algn="ctr"/>
            <a:r>
              <a:rPr lang="en-US" sz="2400" dirty="0"/>
              <a:t>LLM + Tools + Memory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6DCB7-6105-1CC4-C052-399CCD35688A}"/>
              </a:ext>
            </a:extLst>
          </p:cNvPr>
          <p:cNvSpPr txBox="1"/>
          <p:nvPr/>
        </p:nvSpPr>
        <p:spPr>
          <a:xfrm>
            <a:off x="4093464" y="3456874"/>
            <a:ext cx="40050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Search Flights</a:t>
            </a: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Find the cheapest flight</a:t>
            </a: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Book the ticket</a:t>
            </a: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Sends you an E-mail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8E75FF5-DC82-EE72-76D4-47B9AD25539F}"/>
              </a:ext>
            </a:extLst>
          </p:cNvPr>
          <p:cNvSpPr/>
          <p:nvPr/>
        </p:nvSpPr>
        <p:spPr>
          <a:xfrm>
            <a:off x="3424428" y="2436148"/>
            <a:ext cx="411480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29E2EF-E72F-9436-68E9-AF6A86EF9ADD}"/>
              </a:ext>
            </a:extLst>
          </p:cNvPr>
          <p:cNvSpPr/>
          <p:nvPr/>
        </p:nvSpPr>
        <p:spPr>
          <a:xfrm>
            <a:off x="3983736" y="700951"/>
            <a:ext cx="2679192" cy="5232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Expedia</a:t>
            </a:r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0AA73220-4825-48F3-257A-83AE1CDCB7FA}"/>
              </a:ext>
            </a:extLst>
          </p:cNvPr>
          <p:cNvSpPr/>
          <p:nvPr/>
        </p:nvSpPr>
        <p:spPr>
          <a:xfrm>
            <a:off x="5143500" y="1339756"/>
            <a:ext cx="374904" cy="52322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C6C44C-DBA6-2BC2-4227-20CFD19250DC}"/>
              </a:ext>
            </a:extLst>
          </p:cNvPr>
          <p:cNvSpPr txBox="1"/>
          <p:nvPr/>
        </p:nvSpPr>
        <p:spPr>
          <a:xfrm>
            <a:off x="5570220" y="1401311"/>
            <a:ext cx="1367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calls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ADAE39-15B5-7D97-B616-159540850F20}"/>
              </a:ext>
            </a:extLst>
          </p:cNvPr>
          <p:cNvSpPr txBox="1"/>
          <p:nvPr/>
        </p:nvSpPr>
        <p:spPr>
          <a:xfrm>
            <a:off x="7936992" y="2046296"/>
            <a:ext cx="3215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Books cheapest Delta Airlines flight from New York To Moscow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76CD573-3A13-26A5-0C53-612C854DC45B}"/>
              </a:ext>
            </a:extLst>
          </p:cNvPr>
          <p:cNvSpPr/>
          <p:nvPr/>
        </p:nvSpPr>
        <p:spPr>
          <a:xfrm>
            <a:off x="7200900" y="2377440"/>
            <a:ext cx="411480" cy="420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208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55DC5-7B47-CEE0-33C7-92ED9368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FBAEF6-BDD8-6A48-289F-B48137D4B61E}"/>
              </a:ext>
            </a:extLst>
          </p:cNvPr>
          <p:cNvSpPr txBox="1"/>
          <p:nvPr/>
        </p:nvSpPr>
        <p:spPr>
          <a:xfrm>
            <a:off x="228600" y="272290"/>
            <a:ext cx="11430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 can </a:t>
            </a:r>
            <a:r>
              <a:rPr lang="en-US" sz="28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receives a goal, breaks it into steps, uses </a:t>
            </a:r>
            <a:r>
              <a:rPr lang="en-US" sz="2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(web search, code execution, APIs), checks its own output, and iterates — all without a human driving every step.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73C5F2-CF75-13AC-9758-9C3197737211}"/>
              </a:ext>
            </a:extLst>
          </p:cNvPr>
          <p:cNvSpPr/>
          <p:nvPr/>
        </p:nvSpPr>
        <p:spPr>
          <a:xfrm>
            <a:off x="2587752" y="3337560"/>
            <a:ext cx="3150108" cy="1353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Agent</a:t>
            </a:r>
          </a:p>
          <a:p>
            <a:pPr algn="ctr"/>
            <a:r>
              <a:rPr lang="en-US" sz="2400" dirty="0"/>
              <a:t>LLM + Tools + Memory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B9301-16F9-0E28-0264-033798AFB8D5}"/>
              </a:ext>
            </a:extLst>
          </p:cNvPr>
          <p:cNvSpPr txBox="1"/>
          <p:nvPr/>
        </p:nvSpPr>
        <p:spPr>
          <a:xfrm>
            <a:off x="228600" y="3629160"/>
            <a:ext cx="1636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Goal / 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CE0F2-8DB3-2B41-6CDB-8272422C3491}"/>
              </a:ext>
            </a:extLst>
          </p:cNvPr>
          <p:cNvSpPr txBox="1"/>
          <p:nvPr/>
        </p:nvSpPr>
        <p:spPr>
          <a:xfrm>
            <a:off x="2433828" y="4769829"/>
            <a:ext cx="4005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Breaks task into smaller tasks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91DF13-EF5F-E320-06B9-129EFA7C3541}"/>
              </a:ext>
            </a:extLst>
          </p:cNvPr>
          <p:cNvSpPr/>
          <p:nvPr/>
        </p:nvSpPr>
        <p:spPr>
          <a:xfrm>
            <a:off x="2894076" y="2291120"/>
            <a:ext cx="2679192" cy="5232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 search, Code Execution, API call</a:t>
            </a:r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53108634-64DD-37B1-6296-D04CE227F2A8}"/>
              </a:ext>
            </a:extLst>
          </p:cNvPr>
          <p:cNvSpPr/>
          <p:nvPr/>
        </p:nvSpPr>
        <p:spPr>
          <a:xfrm>
            <a:off x="3944112" y="2814340"/>
            <a:ext cx="374904" cy="52322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4CF6C-C843-7EB7-C0A9-7A1580270165}"/>
              </a:ext>
            </a:extLst>
          </p:cNvPr>
          <p:cNvSpPr txBox="1"/>
          <p:nvPr/>
        </p:nvSpPr>
        <p:spPr>
          <a:xfrm>
            <a:off x="6306312" y="3629160"/>
            <a:ext cx="1636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Task done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852A351-D286-117B-92DB-57672AA04D2A}"/>
              </a:ext>
            </a:extLst>
          </p:cNvPr>
          <p:cNvSpPr/>
          <p:nvPr/>
        </p:nvSpPr>
        <p:spPr>
          <a:xfrm>
            <a:off x="1865376" y="3629160"/>
            <a:ext cx="568452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0E04D5F-6F35-4088-C77E-17F290D1E3DA}"/>
              </a:ext>
            </a:extLst>
          </p:cNvPr>
          <p:cNvSpPr/>
          <p:nvPr/>
        </p:nvSpPr>
        <p:spPr>
          <a:xfrm>
            <a:off x="5775960" y="3629160"/>
            <a:ext cx="568452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63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CE86D-EF25-800A-6BF1-CA6EE56C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38D18B-AE90-95C0-C949-64200AEC9E22}"/>
              </a:ext>
            </a:extLst>
          </p:cNvPr>
          <p:cNvSpPr txBox="1"/>
          <p:nvPr/>
        </p:nvSpPr>
        <p:spPr>
          <a:xfrm>
            <a:off x="228600" y="1012954"/>
            <a:ext cx="110185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for Class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 bank deploys an autonomous agent that can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access accounts,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move money, and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close disputes </a:t>
            </a:r>
          </a:p>
          <a:p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all without a human approving each action. </a:t>
            </a:r>
          </a:p>
          <a:p>
            <a:endParaRPr lang="en-US" sz="28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conditions would need to be true for you to trust that system 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would make you distrust it ?"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521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1209</TotalTime>
  <Words>676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236</cp:revision>
  <dcterms:created xsi:type="dcterms:W3CDTF">2025-09-22T02:44:38Z</dcterms:created>
  <dcterms:modified xsi:type="dcterms:W3CDTF">2026-09-24T02:09:30Z</dcterms:modified>
</cp:coreProperties>
</file>