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9" r:id="rId3"/>
    <p:sldId id="280" r:id="rId4"/>
    <p:sldId id="281" r:id="rId5"/>
    <p:sldId id="28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A3D19-3F4C-A7C5-0389-AFAF4B44F689}"/>
              </a:ext>
            </a:extLst>
          </p:cNvPr>
          <p:cNvSpPr txBox="1"/>
          <p:nvPr/>
        </p:nvSpPr>
        <p:spPr>
          <a:xfrm>
            <a:off x="2848356" y="2531102"/>
            <a:ext cx="6190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Plan - Execute Agent</a:t>
            </a:r>
            <a:endParaRPr lang="en-US" sz="4000" b="1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32555-35F7-DBF5-3C76-AC5801E7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1B9F00-0626-7E6B-82AC-BC1D5D38AD0E}"/>
              </a:ext>
            </a:extLst>
          </p:cNvPr>
          <p:cNvSpPr txBox="1"/>
          <p:nvPr/>
        </p:nvSpPr>
        <p:spPr>
          <a:xfrm>
            <a:off x="763524" y="980408"/>
            <a:ext cx="91119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Plan-and-Execute Agents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a type of AI agent architecture where the system is divided into two main roles: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3BBEA1-806B-5B29-6691-E14A43044E93}"/>
              </a:ext>
            </a:extLst>
          </p:cNvPr>
          <p:cNvSpPr/>
          <p:nvPr/>
        </p:nvSpPr>
        <p:spPr>
          <a:xfrm>
            <a:off x="1240536" y="2002536"/>
            <a:ext cx="2130552" cy="1572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2400" b="1" dirty="0">
                <a:solidFill>
                  <a:schemeClr val="bg1"/>
                </a:solidFill>
              </a:rPr>
              <a:t>1. Planner</a:t>
            </a:r>
          </a:p>
          <a:p>
            <a:pPr lvl="0"/>
            <a:r>
              <a:rPr lang="en-IN" sz="2400" dirty="0">
                <a:solidFill>
                  <a:schemeClr val="bg1"/>
                </a:solidFill>
              </a:rPr>
              <a:t>Decides </a:t>
            </a:r>
            <a:r>
              <a:rPr lang="en-IN" sz="2400" i="1" dirty="0">
                <a:solidFill>
                  <a:schemeClr val="bg1"/>
                </a:solidFill>
              </a:rPr>
              <a:t>what needs to be done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5FD7E9-2528-A3E9-6666-851F398F0D32}"/>
              </a:ext>
            </a:extLst>
          </p:cNvPr>
          <p:cNvSpPr/>
          <p:nvPr/>
        </p:nvSpPr>
        <p:spPr>
          <a:xfrm>
            <a:off x="4912614" y="2002536"/>
            <a:ext cx="2599944" cy="1572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2400" b="1" dirty="0">
                <a:solidFill>
                  <a:schemeClr val="bg1"/>
                </a:solidFill>
              </a:rPr>
              <a:t>2. Executor</a:t>
            </a:r>
          </a:p>
          <a:p>
            <a:pPr lvl="0"/>
            <a:r>
              <a:rPr lang="en-IN" sz="2400" dirty="0">
                <a:solidFill>
                  <a:schemeClr val="bg1"/>
                </a:solidFill>
              </a:rPr>
              <a:t>Actually </a:t>
            </a:r>
            <a:r>
              <a:rPr lang="en-IN" sz="2400" i="1" dirty="0">
                <a:solidFill>
                  <a:schemeClr val="bg1"/>
                </a:solidFill>
              </a:rPr>
              <a:t>does those tasks</a:t>
            </a:r>
            <a:r>
              <a:rPr lang="en-IN" sz="2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1997C-BCE4-BD19-22B3-B87453C8D572}"/>
              </a:ext>
            </a:extLst>
          </p:cNvPr>
          <p:cNvSpPr txBox="1"/>
          <p:nvPr/>
        </p:nvSpPr>
        <p:spPr>
          <a:xfrm>
            <a:off x="498348" y="5581180"/>
            <a:ext cx="8828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essentially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Planner vs Executor separation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4ED57C6-B621-D472-DB23-E5ABBBA4F028}"/>
              </a:ext>
            </a:extLst>
          </p:cNvPr>
          <p:cNvSpPr/>
          <p:nvPr/>
        </p:nvSpPr>
        <p:spPr>
          <a:xfrm>
            <a:off x="3721608" y="2414016"/>
            <a:ext cx="740664" cy="630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4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0619-D939-E676-4490-99DE9F49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8F44A7-442E-0AE0-1026-446D9EB10F3C}"/>
              </a:ext>
            </a:extLst>
          </p:cNvPr>
          <p:cNvSpPr txBox="1"/>
          <p:nvPr/>
        </p:nvSpPr>
        <p:spPr>
          <a:xfrm>
            <a:off x="1559052" y="276320"/>
            <a:ext cx="720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says: </a:t>
            </a:r>
            <a:r>
              <a:rPr lang="en-IN" sz="2400" b="1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this sales data and give me a report.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05D000-A4D5-0CB3-3538-7DFDE8AAA403}"/>
              </a:ext>
            </a:extLst>
          </p:cNvPr>
          <p:cNvSpPr/>
          <p:nvPr/>
        </p:nvSpPr>
        <p:spPr>
          <a:xfrm>
            <a:off x="1597152" y="982533"/>
            <a:ext cx="2782824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000" b="1" dirty="0">
                <a:solidFill>
                  <a:schemeClr val="bg1"/>
                </a:solidFill>
              </a:rPr>
              <a:t>Planner</a:t>
            </a:r>
          </a:p>
          <a:p>
            <a:pPr lvl="0" algn="ctr"/>
            <a:r>
              <a:rPr lang="en-IN" sz="2000" dirty="0">
                <a:solidFill>
                  <a:schemeClr val="bg1"/>
                </a:solidFill>
              </a:rPr>
              <a:t>“What should I do ?”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E3FCD-FA12-BAF0-4836-667884059EE5}"/>
              </a:ext>
            </a:extLst>
          </p:cNvPr>
          <p:cNvSpPr txBox="1"/>
          <p:nvPr/>
        </p:nvSpPr>
        <p:spPr>
          <a:xfrm>
            <a:off x="3262122" y="1681603"/>
            <a:ext cx="1522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Plan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A315824-2A4F-EB7D-55E8-4CE6D2B4E02F}"/>
              </a:ext>
            </a:extLst>
          </p:cNvPr>
          <p:cNvSpPr/>
          <p:nvPr/>
        </p:nvSpPr>
        <p:spPr>
          <a:xfrm>
            <a:off x="1588008" y="2132338"/>
            <a:ext cx="2782824" cy="15709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PLAN</a:t>
            </a:r>
          </a:p>
          <a:p>
            <a:pPr marL="342900" indent="-342900">
              <a:buAutoNum type="arabicPeriod"/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Search data</a:t>
            </a:r>
          </a:p>
          <a:p>
            <a:pPr marL="342900" indent="-342900">
              <a:buAutoNum type="arabicPeriod"/>
            </a:pPr>
            <a:r>
              <a:rPr lang="en-IN" sz="2000" dirty="0" err="1">
                <a:solidFill>
                  <a:schemeClr val="bg1">
                    <a:lumMod val="95000"/>
                  </a:schemeClr>
                </a:solidFill>
              </a:rPr>
              <a:t>Analyze</a:t>
            </a: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 data </a:t>
            </a:r>
          </a:p>
          <a:p>
            <a:pPr marL="342900" indent="-342900">
              <a:buAutoNum type="arabicPeriod"/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Create chart</a:t>
            </a:r>
          </a:p>
          <a:p>
            <a:pPr marL="342900" indent="-342900">
              <a:buAutoNum type="arabicPeriod"/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Write report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770A195-0D54-0F8E-F2EC-52CCD4CC44C7}"/>
              </a:ext>
            </a:extLst>
          </p:cNvPr>
          <p:cNvSpPr/>
          <p:nvPr/>
        </p:nvSpPr>
        <p:spPr>
          <a:xfrm>
            <a:off x="2377440" y="1681603"/>
            <a:ext cx="475488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A2090C-1872-2B22-3B80-DE5EE09862D7}"/>
              </a:ext>
            </a:extLst>
          </p:cNvPr>
          <p:cNvSpPr/>
          <p:nvPr/>
        </p:nvSpPr>
        <p:spPr>
          <a:xfrm>
            <a:off x="960120" y="4019050"/>
            <a:ext cx="4123944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000" b="1" dirty="0">
                <a:solidFill>
                  <a:schemeClr val="bg1"/>
                </a:solidFill>
              </a:rPr>
              <a:t>Executor</a:t>
            </a:r>
          </a:p>
          <a:p>
            <a:pPr lvl="0" algn="ctr"/>
            <a:r>
              <a:rPr lang="en-IN" sz="2000" dirty="0">
                <a:solidFill>
                  <a:schemeClr val="bg1"/>
                </a:solidFill>
              </a:rPr>
              <a:t>“Do the task?”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933C8C-4DD2-D9E4-EFF2-F099C77FFA66}"/>
              </a:ext>
            </a:extLst>
          </p:cNvPr>
          <p:cNvSpPr/>
          <p:nvPr/>
        </p:nvSpPr>
        <p:spPr>
          <a:xfrm>
            <a:off x="341376" y="5097673"/>
            <a:ext cx="1798320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Search Tool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0DAA5E-B553-0BBD-C209-FE506D9F445D}"/>
              </a:ext>
            </a:extLst>
          </p:cNvPr>
          <p:cNvSpPr/>
          <p:nvPr/>
        </p:nvSpPr>
        <p:spPr>
          <a:xfrm>
            <a:off x="2377440" y="5097672"/>
            <a:ext cx="1798320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Python Tool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047315-DA8A-2AF4-A4DC-5176A5418E79}"/>
              </a:ext>
            </a:extLst>
          </p:cNvPr>
          <p:cNvSpPr/>
          <p:nvPr/>
        </p:nvSpPr>
        <p:spPr>
          <a:xfrm>
            <a:off x="4413504" y="5097671"/>
            <a:ext cx="1798320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File Tool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A7DF57-B0B5-92D5-5BEE-18833DD0BCAD}"/>
              </a:ext>
            </a:extLst>
          </p:cNvPr>
          <p:cNvSpPr/>
          <p:nvPr/>
        </p:nvSpPr>
        <p:spPr>
          <a:xfrm>
            <a:off x="1953768" y="6128943"/>
            <a:ext cx="1798320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Final Result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ED925106-D756-582B-7BCF-ACE9DF02C51D}"/>
              </a:ext>
            </a:extLst>
          </p:cNvPr>
          <p:cNvSpPr/>
          <p:nvPr/>
        </p:nvSpPr>
        <p:spPr>
          <a:xfrm>
            <a:off x="2520696" y="5671435"/>
            <a:ext cx="484632" cy="4616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4B406948-9F9C-85EC-34E0-1DDD996670F3}"/>
              </a:ext>
            </a:extLst>
          </p:cNvPr>
          <p:cNvSpPr/>
          <p:nvPr/>
        </p:nvSpPr>
        <p:spPr>
          <a:xfrm>
            <a:off x="1074420" y="4718302"/>
            <a:ext cx="484632" cy="3384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53F35B4A-BCE3-486E-D25B-70BF2CFFC4C9}"/>
              </a:ext>
            </a:extLst>
          </p:cNvPr>
          <p:cNvSpPr/>
          <p:nvPr/>
        </p:nvSpPr>
        <p:spPr>
          <a:xfrm>
            <a:off x="2852928" y="4714148"/>
            <a:ext cx="484632" cy="3384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28CA466B-7ECC-8FE9-382E-8AE5B63F6350}"/>
              </a:ext>
            </a:extLst>
          </p:cNvPr>
          <p:cNvSpPr/>
          <p:nvPr/>
        </p:nvSpPr>
        <p:spPr>
          <a:xfrm>
            <a:off x="4542282" y="4714148"/>
            <a:ext cx="484632" cy="3384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5CF74785-A4E6-7A6E-A3B8-B755A950972B}"/>
              </a:ext>
            </a:extLst>
          </p:cNvPr>
          <p:cNvSpPr/>
          <p:nvPr/>
        </p:nvSpPr>
        <p:spPr>
          <a:xfrm>
            <a:off x="2494788" y="3748360"/>
            <a:ext cx="484632" cy="2872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2C39F9-9156-B6F6-28AC-F777565EDC56}"/>
              </a:ext>
            </a:extLst>
          </p:cNvPr>
          <p:cNvSpPr txBox="1"/>
          <p:nvPr/>
        </p:nvSpPr>
        <p:spPr>
          <a:xfrm>
            <a:off x="7247382" y="1173519"/>
            <a:ext cx="44759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Load the sales dataset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Inspect columns and data types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Check missing values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Clean the data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Calculate total sales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Find the best-selling products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monthly sales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 Create charts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9. Generate a report</a:t>
            </a:r>
          </a:p>
        </p:txBody>
      </p:sp>
    </p:spTree>
    <p:extLst>
      <p:ext uri="{BB962C8B-B14F-4D97-AF65-F5344CB8AC3E}">
        <p14:creationId xmlns:p14="http://schemas.microsoft.com/office/powerpoint/2010/main" val="21688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49AC-A4F3-70BE-D657-C0C15C7C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9E2945-1961-C73A-4A7E-176D79597E44}"/>
              </a:ext>
            </a:extLst>
          </p:cNvPr>
          <p:cNvSpPr txBox="1"/>
          <p:nvPr/>
        </p:nvSpPr>
        <p:spPr>
          <a:xfrm>
            <a:off x="1559052" y="276320"/>
            <a:ext cx="720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says: </a:t>
            </a:r>
            <a:r>
              <a:rPr lang="en-IN" sz="2400" b="1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this sales data and give me a report.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0F28DB-1033-FE4A-3235-0672C64972CB}"/>
              </a:ext>
            </a:extLst>
          </p:cNvPr>
          <p:cNvSpPr/>
          <p:nvPr/>
        </p:nvSpPr>
        <p:spPr>
          <a:xfrm>
            <a:off x="1597152" y="982533"/>
            <a:ext cx="2782824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000" b="1" dirty="0">
                <a:solidFill>
                  <a:schemeClr val="bg1"/>
                </a:solidFill>
              </a:rPr>
              <a:t>Planner</a:t>
            </a:r>
          </a:p>
          <a:p>
            <a:pPr lvl="0" algn="ctr"/>
            <a:r>
              <a:rPr lang="en-IN" sz="2000" dirty="0">
                <a:solidFill>
                  <a:schemeClr val="bg1"/>
                </a:solidFill>
              </a:rPr>
              <a:t>“What should I do ?”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51463-9D9D-4992-7D2E-FAAF411176E4}"/>
              </a:ext>
            </a:extLst>
          </p:cNvPr>
          <p:cNvSpPr txBox="1"/>
          <p:nvPr/>
        </p:nvSpPr>
        <p:spPr>
          <a:xfrm>
            <a:off x="3262122" y="1681603"/>
            <a:ext cx="1522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Plan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11875A-DC15-2657-E312-7AD8F2805D2A}"/>
              </a:ext>
            </a:extLst>
          </p:cNvPr>
          <p:cNvSpPr/>
          <p:nvPr/>
        </p:nvSpPr>
        <p:spPr>
          <a:xfrm>
            <a:off x="1588008" y="2132338"/>
            <a:ext cx="2782824" cy="15709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PLAN</a:t>
            </a:r>
          </a:p>
          <a:p>
            <a:pPr marL="342900" indent="-342900">
              <a:buAutoNum type="arabicPeriod"/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Search data</a:t>
            </a:r>
          </a:p>
          <a:p>
            <a:pPr marL="342900" indent="-342900">
              <a:buAutoNum type="arabicPeriod"/>
            </a:pPr>
            <a:r>
              <a:rPr lang="en-IN" sz="2000" dirty="0" err="1">
                <a:solidFill>
                  <a:schemeClr val="bg1">
                    <a:lumMod val="95000"/>
                  </a:schemeClr>
                </a:solidFill>
              </a:rPr>
              <a:t>Analyze</a:t>
            </a: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 data </a:t>
            </a:r>
          </a:p>
          <a:p>
            <a:pPr marL="342900" indent="-342900">
              <a:buAutoNum type="arabicPeriod"/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Create chart</a:t>
            </a:r>
          </a:p>
          <a:p>
            <a:pPr marL="342900" indent="-342900">
              <a:buAutoNum type="arabicPeriod"/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Write report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1D76BBB-F9AD-EA79-881A-850F29A89073}"/>
              </a:ext>
            </a:extLst>
          </p:cNvPr>
          <p:cNvSpPr/>
          <p:nvPr/>
        </p:nvSpPr>
        <p:spPr>
          <a:xfrm>
            <a:off x="2377440" y="1681603"/>
            <a:ext cx="475488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A81FDBF-8397-58D8-6732-B0E94B6FC71C}"/>
              </a:ext>
            </a:extLst>
          </p:cNvPr>
          <p:cNvSpPr/>
          <p:nvPr/>
        </p:nvSpPr>
        <p:spPr>
          <a:xfrm>
            <a:off x="960120" y="4019050"/>
            <a:ext cx="4123944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2000" b="1" dirty="0">
                <a:solidFill>
                  <a:schemeClr val="bg1"/>
                </a:solidFill>
              </a:rPr>
              <a:t>Executor</a:t>
            </a:r>
          </a:p>
          <a:p>
            <a:pPr lvl="0" algn="ctr"/>
            <a:r>
              <a:rPr lang="en-IN" sz="2000" dirty="0">
                <a:solidFill>
                  <a:schemeClr val="bg1"/>
                </a:solidFill>
              </a:rPr>
              <a:t>“Do the task?”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1A5093-AD4D-82D7-C725-222756F6AB72}"/>
              </a:ext>
            </a:extLst>
          </p:cNvPr>
          <p:cNvSpPr/>
          <p:nvPr/>
        </p:nvSpPr>
        <p:spPr>
          <a:xfrm>
            <a:off x="341376" y="5097673"/>
            <a:ext cx="1798320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Search Tool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6D9270-3F00-D9F6-8110-BE9D6A1A4372}"/>
              </a:ext>
            </a:extLst>
          </p:cNvPr>
          <p:cNvSpPr/>
          <p:nvPr/>
        </p:nvSpPr>
        <p:spPr>
          <a:xfrm>
            <a:off x="2377440" y="5097672"/>
            <a:ext cx="1798320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Python Tool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8A7756-53E7-BD3C-3271-7041C99BE866}"/>
              </a:ext>
            </a:extLst>
          </p:cNvPr>
          <p:cNvSpPr/>
          <p:nvPr/>
        </p:nvSpPr>
        <p:spPr>
          <a:xfrm>
            <a:off x="4413504" y="5097671"/>
            <a:ext cx="1798320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File Tool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A49696-5D1B-DB3C-0A06-C77372770FD6}"/>
              </a:ext>
            </a:extLst>
          </p:cNvPr>
          <p:cNvSpPr/>
          <p:nvPr/>
        </p:nvSpPr>
        <p:spPr>
          <a:xfrm>
            <a:off x="1953768" y="6128943"/>
            <a:ext cx="1798320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Final Result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7F3C9F09-DA8F-26DC-F590-62F2423EF7E7}"/>
              </a:ext>
            </a:extLst>
          </p:cNvPr>
          <p:cNvSpPr/>
          <p:nvPr/>
        </p:nvSpPr>
        <p:spPr>
          <a:xfrm>
            <a:off x="2520696" y="5671435"/>
            <a:ext cx="484632" cy="4616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A66AABBB-5501-2F53-B596-709BED18DBAF}"/>
              </a:ext>
            </a:extLst>
          </p:cNvPr>
          <p:cNvSpPr/>
          <p:nvPr/>
        </p:nvSpPr>
        <p:spPr>
          <a:xfrm>
            <a:off x="1074420" y="4718302"/>
            <a:ext cx="484632" cy="3384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755A581C-8469-6A03-FAEC-D20203DB116A}"/>
              </a:ext>
            </a:extLst>
          </p:cNvPr>
          <p:cNvSpPr/>
          <p:nvPr/>
        </p:nvSpPr>
        <p:spPr>
          <a:xfrm>
            <a:off x="2852928" y="4714148"/>
            <a:ext cx="484632" cy="3384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E31460C-415E-FD9E-4E39-F52E0FF6E282}"/>
              </a:ext>
            </a:extLst>
          </p:cNvPr>
          <p:cNvSpPr/>
          <p:nvPr/>
        </p:nvSpPr>
        <p:spPr>
          <a:xfrm>
            <a:off x="4542282" y="4714148"/>
            <a:ext cx="484632" cy="3384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D6AE9E12-E446-1FC0-50C2-4C7AD7367828}"/>
              </a:ext>
            </a:extLst>
          </p:cNvPr>
          <p:cNvSpPr/>
          <p:nvPr/>
        </p:nvSpPr>
        <p:spPr>
          <a:xfrm>
            <a:off x="2494788" y="3748360"/>
            <a:ext cx="484632" cy="2872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AE3865-F94C-BCCA-14FB-AEF21A3BEE21}"/>
              </a:ext>
            </a:extLst>
          </p:cNvPr>
          <p:cNvSpPr txBox="1"/>
          <p:nvPr/>
        </p:nvSpPr>
        <p:spPr>
          <a:xfrm>
            <a:off x="7283958" y="1516451"/>
            <a:ext cx="44759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Executor</a:t>
            </a:r>
          </a:p>
          <a:p>
            <a:endParaRPr lang="en-IN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1 → Python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2 → Python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3 → Python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4 → Python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5 → Python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6 → Python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7 → Python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8 → Visualization tool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9 → LLM</a:t>
            </a:r>
          </a:p>
        </p:txBody>
      </p:sp>
    </p:spTree>
    <p:extLst>
      <p:ext uri="{BB962C8B-B14F-4D97-AF65-F5344CB8AC3E}">
        <p14:creationId xmlns:p14="http://schemas.microsoft.com/office/powerpoint/2010/main" val="142700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48D28-70DF-1F89-234E-B9C01676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39EFE3-AD67-069F-4C50-6705FFAE6D4F}"/>
              </a:ext>
            </a:extLst>
          </p:cNvPr>
          <p:cNvSpPr txBox="1"/>
          <p:nvPr/>
        </p:nvSpPr>
        <p:spPr>
          <a:xfrm>
            <a:off x="1705356" y="527227"/>
            <a:ext cx="89108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separate Planner and Executor?</a:t>
            </a:r>
          </a:p>
          <a:p>
            <a:pPr>
              <a:buNone/>
            </a:pPr>
            <a:endParaRPr lang="en-IN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 idea is </a:t>
            </a: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separation of responsibilities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85ACAC-0812-6DCC-E741-CF29E2182BD6}"/>
              </a:ext>
            </a:extLst>
          </p:cNvPr>
          <p:cNvSpPr/>
          <p:nvPr/>
        </p:nvSpPr>
        <p:spPr>
          <a:xfrm>
            <a:off x="722376" y="2404873"/>
            <a:ext cx="4727448" cy="2568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u="sng" dirty="0"/>
              <a:t>Planner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Thinks about the overall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Creates a sequence of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Decides dependencies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Can revise the plan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2D0BF2-C77A-93F4-0FDC-2C1274278D40}"/>
              </a:ext>
            </a:extLst>
          </p:cNvPr>
          <p:cNvSpPr/>
          <p:nvPr/>
        </p:nvSpPr>
        <p:spPr>
          <a:xfrm>
            <a:off x="6297168" y="2404873"/>
            <a:ext cx="5004816" cy="2568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u="sng" dirty="0"/>
              <a:t>Executor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Performs individual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Executes the sequence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Handles tool outputs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Reports execution results</a:t>
            </a:r>
          </a:p>
        </p:txBody>
      </p:sp>
    </p:spTree>
    <p:extLst>
      <p:ext uri="{BB962C8B-B14F-4D97-AF65-F5344CB8AC3E}">
        <p14:creationId xmlns:p14="http://schemas.microsoft.com/office/powerpoint/2010/main" val="251510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1870</TotalTime>
  <Words>269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229</cp:revision>
  <dcterms:created xsi:type="dcterms:W3CDTF">2025-09-22T02:44:38Z</dcterms:created>
  <dcterms:modified xsi:type="dcterms:W3CDTF">2026-09-21T02:41:57Z</dcterms:modified>
</cp:coreProperties>
</file>