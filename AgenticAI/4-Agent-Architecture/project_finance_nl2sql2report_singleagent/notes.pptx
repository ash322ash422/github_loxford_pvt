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5"/>
  </p:handoutMasterIdLst>
  <p:sldIdLst>
    <p:sldId id="257" r:id="rId2"/>
    <p:sldId id="259" r:id="rId3"/>
    <p:sldId id="265" r:id="rId4"/>
    <p:sldId id="266" r:id="rId5"/>
    <p:sldId id="267" r:id="rId6"/>
    <p:sldId id="264" r:id="rId7"/>
    <p:sldId id="262" r:id="rId8"/>
    <p:sldId id="263" r:id="rId9"/>
    <p:sldId id="261" r:id="rId10"/>
    <p:sldId id="268" r:id="rId11"/>
    <p:sldId id="269" r:id="rId12"/>
    <p:sldId id="270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08:50:01.31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0 228 24575,'4'0'0,"2"5"0,8-4 0,19-14 0,13-14 0,2-11 0,11-12 0,4-6 0,-9 6-8191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08:50:02.22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0 714 24575,'0'-4'0,"5"-2"0,9 1 0,33-8 0,39-32 0,39-39 0,29-26 0,22-20 0,-5 2 0,-28 20 0,-38 28-8191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08:50:04.1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1 553 24575,'4'9'0,"6"11"0,2 11 0,2 9 0,4-3 0,-2-2 0,1-4 0,-2 2 0,5-5 0,3-16 0,24-48 0,20-53 0,18-42 0,1-15 0,0 3 0,-10 18 0,-14 31 0,-18 30-8191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08:50:05.5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1 612 24575,'4'0'0,"2"9"0,4 7 0,9 14 0,1 6 0,-3 1 0,0-1 0,-2-3 0,-1-2 0,12-16 0,30-39 0,33-56 0,26-35 0,29-24 0,15-6 0,-1 9 0,-16 14 0,-31 29-8191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08:50:10.9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0 527 24575,'7'9'0,"0"0"0,-1 1 0,-1-1 0,1 1 0,-1 0 0,-1 1 0,0-1 0,-1 1 0,0-1 0,3 18 0,5 17 0,-2-16 0,2 9 0,2-1 0,1 0 0,20 37 0,-33-72 0,0 0 0,0 0 0,0 0 0,1 0 0,-1-1 0,1 1 0,-1 0 0,1-1 0,0 1 0,-1-1 0,1 0 0,0 1 0,0-1 0,0 0 0,0 0 0,0 0 0,0 0 0,0-1 0,1 1 0,-1-1 0,0 1 0,0-1 0,1 0 0,-1 0 0,0 0 0,0 0 0,1 0 0,-1 0 0,0 0 0,0-1 0,3 0 0,6-3 0,1-1 0,-1 0 0,-1-1 0,20-13 0,-20 13 0,300-206 0,76-47 0,317-122-1365,-604 338-5461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08:50:12.85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0 583 24575,'2'12'0,"1"0"0,-1-1 0,2 1 0,0 0 0,0-1 0,1 0 0,0 0 0,1-1 0,13 19 0,-3-2 0,32 62 0,-25-43 0,2-1 0,36 48 0,-60-92 0,0 0 0,0 0 0,0 0 0,0 0 0,0 0 0,1-1 0,-1 1 0,0 0 0,0 0 0,1-1 0,-1 1 0,0-1 0,0 1 0,1-1 0,-1 0 0,1 0 0,-1 1 0,0-1 0,1 0 0,-1 0 0,1 0 0,-1 0 0,0-1 0,1 1 0,-1 0 0,0-1 0,1 1 0,-1 0 0,0-1 0,1 0 0,-1 1 0,0-1 0,0 0 0,0 0 0,0 1 0,0-1 0,1 0 0,-1-1 0,10-7 0,-2 0 0,1-1 0,10-13 0,-9 10 0,45-52 0,82-92 0,167-150 0,157-48-1365,-361 288-5461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08:50:18.94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80 24575,'256'-14'0,"-117"4"0,161-20 0,-135 12 0,281 10 0,-248 11 0,1070-3 0,-1107 13 0,-13 0 0,659-13 0,3 1 0,-510 24 0,-5 0 0,-136-23-1365,-95-2-5461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08:50:22.05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1 623 24575,'4'0'0,"6"4"0,6 7 0,-1 8 0,11 3 0,22-25 0,30-38 0,26-29 0,31-20 0,31-11 0,17-3 0,4 9 0,-25 16 0,-37 21 0,-39 20-8191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08:50:23.9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1 228 24575,'3'2'0,"-1"0"0,1 1 0,-1-1 0,1 0 0,-1 1 0,0 0 0,0-1 0,0 1 0,0 0 0,0 0 0,0 0 0,0 4 0,3 1 0,84 158 0,-87-163 0,0-1 0,0 1 0,0-1 0,0 1 0,1-1 0,-1 0 0,1 0 0,-1 0 0,1 0 0,0-1 0,-1 1 0,1-1 0,0 1 0,0-1 0,0 0 0,0 0 0,1-1 0,-1 1 0,0 0 0,0-1 0,0 0 0,1 0 0,-1 0 0,0 0 0,0 0 0,0-1 0,0 0 0,1 1 0,4-3 0,10-3 0,0-2 0,0 0 0,32-19 0,-27 14 0,117-66-111,38-22-516,247-100 0,-355 175-6199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08:50:38.4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0 272 24575,'3'1'0,"-1"0"0,0 0 0,1 1 0,-1-1 0,0 0 0,0 1 0,0-1 0,0 1 0,0 0 0,-1-1 0,1 1 0,0 0 0,2 4 0,0-1 0,18 24 0,-2 1 0,-1 1 0,-2 1 0,-1 0 0,18 50 0,-18-44 0,-14-33 0,0 1 0,1-1 0,0 0 0,0 0 0,0 0 0,0-1 0,1 1 0,0-1 0,6 6 0,-9-9 0,1 0 0,0 0 0,0 0 0,0 0 0,0 0 0,0 0 0,0 0 0,0 0 0,0-1 0,0 1 0,1-1 0,-1 0 0,0 0 0,0 0 0,0 0 0,1 0 0,-1 0 0,0 0 0,0-1 0,0 1 0,0-1 0,0 0 0,0 1 0,0-1 0,0 0 0,0 0 0,0 0 0,3-3 0,20-14 0,-2-1 0,1-1 0,21-25 0,18-17 0,443-338-920,-473 376 475,21-17-6381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08:50:40.45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1 554 24575,'0'5'0,"0"9"0,4 12 0,6 9 0,6 4 0,-1 3 0,3-1 0,14-11 0,24-42 0,24-44 0,25-30 0,19-23 0,20-9 0,11-2 0,5 15 0,-21 21 0,-29 25 0,-33 22-8191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08:51:14.6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1 1 24575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2.xm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customXml" Target="../ink/ink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customXml" Target="../ink/ink5.xml"/><Relationship Id="rId7" Type="http://schemas.openxmlformats.org/officeDocument/2006/relationships/customXml" Target="../ink/ink7.xml"/><Relationship Id="rId12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customXml" Target="../ink/ink9.xml"/><Relationship Id="rId5" Type="http://schemas.openxmlformats.org/officeDocument/2006/relationships/customXml" Target="../ink/ink6.xml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customXml" Target="../ink/ink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.xml"/><Relationship Id="rId5" Type="http://schemas.openxmlformats.org/officeDocument/2006/relationships/image" Target="../media/image15.png"/><Relationship Id="rId4" Type="http://schemas.openxmlformats.org/officeDocument/2006/relationships/customXml" Target="../ink/ink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6DEE5-8E24-E600-A096-C6D1F8718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D6233E-2F3C-FB01-C2D0-FC5D7640EB09}"/>
              </a:ext>
            </a:extLst>
          </p:cNvPr>
          <p:cNvSpPr txBox="1"/>
          <p:nvPr/>
        </p:nvSpPr>
        <p:spPr>
          <a:xfrm>
            <a:off x="5244084" y="2174254"/>
            <a:ext cx="362559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Packages required:</a:t>
            </a:r>
          </a:p>
          <a:p>
            <a:pPr marL="457200" indent="-457200">
              <a:buAutoNum type="arabicParenR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langgraph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==1.2.4</a:t>
            </a: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langchain-openai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==1.2.2</a:t>
            </a: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reportlab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==4.5.1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matplotlib==3.10.9</a:t>
            </a:r>
          </a:p>
        </p:txBody>
      </p:sp>
    </p:spTree>
    <p:extLst>
      <p:ext uri="{BB962C8B-B14F-4D97-AF65-F5344CB8AC3E}">
        <p14:creationId xmlns:p14="http://schemas.microsoft.com/office/powerpoint/2010/main" val="2092803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8E29B-D9CE-FA8A-E345-D37F1195A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FA2E0D8-D10D-07B3-E5C4-BD1B6E3D8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912" y="1024128"/>
            <a:ext cx="10261127" cy="574725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59CB59C-75D7-610E-C644-228D140ED5E0}"/>
                  </a:ext>
                </a:extLst>
              </p14:cNvPr>
              <p14:cNvContentPartPr/>
              <p14:nvPr/>
            </p14:nvContentPartPr>
            <p14:xfrm>
              <a:off x="3072384" y="5120856"/>
              <a:ext cx="118080" cy="84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59CB59C-75D7-610E-C644-228D140ED5E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54384" y="5102856"/>
                <a:ext cx="15372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BB04833-1CEB-F4D5-6F26-6748B4A8EC93}"/>
                  </a:ext>
                </a:extLst>
              </p14:cNvPr>
              <p14:cNvContentPartPr/>
              <p14:nvPr/>
            </p14:nvContentPartPr>
            <p14:xfrm>
              <a:off x="3309984" y="5750496"/>
              <a:ext cx="369720" cy="2570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BB04833-1CEB-F4D5-6F26-6748B4A8EC9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91984" y="5732856"/>
                <a:ext cx="40536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C690817-0FE8-0889-1EB8-5A5563F6C273}"/>
                  </a:ext>
                </a:extLst>
              </p14:cNvPr>
              <p14:cNvContentPartPr/>
              <p14:nvPr/>
            </p14:nvContentPartPr>
            <p14:xfrm>
              <a:off x="4196664" y="4345416"/>
              <a:ext cx="253080" cy="2984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C690817-0FE8-0889-1EB8-5A5563F6C27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179024" y="4327776"/>
                <a:ext cx="288720" cy="33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6B80367-7AFF-639C-10F6-9EC7743DCD86}"/>
                  </a:ext>
                </a:extLst>
              </p14:cNvPr>
              <p14:cNvContentPartPr/>
              <p14:nvPr/>
            </p14:nvContentPartPr>
            <p14:xfrm>
              <a:off x="5906664" y="5110416"/>
              <a:ext cx="404640" cy="3081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6B80367-7AFF-639C-10F6-9EC7743DCD8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89024" y="5092776"/>
                <a:ext cx="440280" cy="34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85965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8BFF3-B038-8687-F67D-9BF0F8FE8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43267C-D84C-77D8-0781-24BC6B81A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1426691"/>
            <a:ext cx="11515344" cy="543130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13730DC-C239-2F53-EFB7-BC406984DFFA}"/>
                  </a:ext>
                </a:extLst>
              </p14:cNvPr>
              <p14:cNvContentPartPr/>
              <p14:nvPr/>
            </p14:nvContentPartPr>
            <p14:xfrm>
              <a:off x="7260264" y="2635776"/>
              <a:ext cx="645840" cy="339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13730DC-C239-2F53-EFB7-BC406984DFF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42264" y="2618136"/>
                <a:ext cx="681480" cy="37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AA7F2F0-14ED-8EC3-518E-3B5BC467700E}"/>
                  </a:ext>
                </a:extLst>
              </p14:cNvPr>
              <p14:cNvContentPartPr/>
              <p14:nvPr/>
            </p14:nvContentPartPr>
            <p14:xfrm>
              <a:off x="2386584" y="3521016"/>
              <a:ext cx="504000" cy="369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AA7F2F0-14ED-8EC3-518E-3B5BC467700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68584" y="3503016"/>
                <a:ext cx="539640" cy="40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5D76489-A35F-77A1-E148-757D7A56E945}"/>
                  </a:ext>
                </a:extLst>
              </p14:cNvPr>
              <p14:cNvContentPartPr/>
              <p14:nvPr/>
            </p14:nvContentPartPr>
            <p14:xfrm>
              <a:off x="1966104" y="5073696"/>
              <a:ext cx="1986120" cy="298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5D76489-A35F-77A1-E148-757D7A56E94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48104" y="5055696"/>
                <a:ext cx="202176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F90D609-716A-FCDD-9B72-BFDCACC5CC60}"/>
                  </a:ext>
                </a:extLst>
              </p14:cNvPr>
              <p14:cNvContentPartPr/>
              <p14:nvPr/>
            </p14:nvContentPartPr>
            <p14:xfrm>
              <a:off x="2331504" y="5490576"/>
              <a:ext cx="484560" cy="2448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F90D609-716A-FCDD-9B72-BFDCACC5CC6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313864" y="5472576"/>
                <a:ext cx="52020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7EB45E1-4D9C-6582-B06E-6227E39342BD}"/>
                  </a:ext>
                </a:extLst>
              </p14:cNvPr>
              <p14:cNvContentPartPr/>
              <p14:nvPr/>
            </p14:nvContentPartPr>
            <p14:xfrm>
              <a:off x="9701424" y="5587056"/>
              <a:ext cx="415440" cy="1710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7EB45E1-4D9C-6582-B06E-6227E39342B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683784" y="5569056"/>
                <a:ext cx="451080" cy="20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60343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E4D5B-B34C-0D75-D7F3-19AA125C6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64D1B2-B05C-7432-607A-74A911AB3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696" y="378948"/>
            <a:ext cx="7588273" cy="50525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3697C5-AB17-D20C-697D-F534E6A51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9696" y="5528388"/>
            <a:ext cx="5788322" cy="113674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0A55F71-D2BD-A582-51F2-7ABD695EAB52}"/>
                  </a:ext>
                </a:extLst>
              </p14:cNvPr>
              <p14:cNvContentPartPr/>
              <p14:nvPr/>
            </p14:nvContentPartPr>
            <p14:xfrm>
              <a:off x="4270104" y="551016"/>
              <a:ext cx="378720" cy="2307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0A55F71-D2BD-A582-51F2-7ABD695EAB5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52104" y="533016"/>
                <a:ext cx="41436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5E09787-955F-EE70-D0CE-EB74E63011B3}"/>
                  </a:ext>
                </a:extLst>
              </p14:cNvPr>
              <p14:cNvContentPartPr/>
              <p14:nvPr/>
            </p14:nvContentPartPr>
            <p14:xfrm>
              <a:off x="5120424" y="5597856"/>
              <a:ext cx="448560" cy="2833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5E09787-955F-EE70-D0CE-EB74E63011B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02784" y="5579856"/>
                <a:ext cx="484200" cy="318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4140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461D3-8F87-02BF-685B-1E2BB5C59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9D0938-28EF-32D0-C50A-091866F2B80C}"/>
              </a:ext>
            </a:extLst>
          </p:cNvPr>
          <p:cNvSpPr txBox="1"/>
          <p:nvPr/>
        </p:nvSpPr>
        <p:spPr>
          <a:xfrm>
            <a:off x="286512" y="241959"/>
            <a:ext cx="1150010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question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│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▼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LangGraph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Node 1]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generate_sql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→ LLM reads schema, writes a SELECT query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│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▼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LangGraph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Node 2]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execute_sql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→ Runs against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lending.db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DataFrame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│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▼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LangGraph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Node 3] summarize   → LLM writes a 2-4 sentence plain-English summary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│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▼</a:t>
            </a: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Streamlit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renders: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SQL block · AI summary · Data table · Chart · PDF download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6933A5D-8931-CB09-4E65-2695671E8C2E}"/>
                  </a:ext>
                </a:extLst>
              </p14:cNvPr>
              <p14:cNvContentPartPr/>
              <p14:nvPr/>
            </p14:nvContentPartPr>
            <p14:xfrm>
              <a:off x="2450304" y="5102136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6933A5D-8931-CB09-4E65-2695671E8C2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32664" y="5084496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68949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7DE02-E881-4CFA-9FB8-040EE7132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0C8798D-A68B-3A3A-A977-FCD5D5DC1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2916" y="100584"/>
            <a:ext cx="9247633" cy="4346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682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6105D-6228-3140-E024-4462D9AFC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E31D6C-E8B3-6532-ECC6-11B0873C462F}"/>
              </a:ext>
            </a:extLst>
          </p:cNvPr>
          <p:cNvSpPr txBox="1"/>
          <p:nvPr/>
        </p:nvSpPr>
        <p:spPr>
          <a:xfrm>
            <a:off x="212541" y="1248031"/>
            <a:ext cx="55549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First create sample database: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python database/seed_db.py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will populate the DB.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Run the app: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python -m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streamlit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run app.py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FBD609-5FC8-16B2-07D9-7F2228C1A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24440"/>
            <a:ext cx="5657792" cy="1316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217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87962-D939-0647-B210-C3220E297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4A782C4-5604-8A30-C213-89E891E44255}"/>
              </a:ext>
            </a:extLst>
          </p:cNvPr>
          <p:cNvSpPr txBox="1"/>
          <p:nvPr/>
        </p:nvSpPr>
        <p:spPr>
          <a:xfrm>
            <a:off x="2052828" y="26521"/>
            <a:ext cx="56007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Single-Agent Workflow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entry point is app.py, which is a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Streamlit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UI around a single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LangGraph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-based agent.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input &amp; setup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app.py renders a sidebar where the user can: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- enter a natural-language question about the loan DB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- optionally choose an example prompt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- provide an OpenAI API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C6B555-FFEF-27BC-0390-67E042721A0B}"/>
              </a:ext>
            </a:extLst>
          </p:cNvPr>
          <p:cNvSpPr txBox="1"/>
          <p:nvPr/>
        </p:nvSpPr>
        <p:spPr>
          <a:xfrm>
            <a:off x="1892808" y="5484846"/>
            <a:ext cx="109545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Run button triggers the agent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the user clicks -&gt; `🚀 Run Analysis`, app.py calls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run_agent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(question)</a:t>
            </a:r>
          </a:p>
        </p:txBody>
      </p:sp>
    </p:spTree>
    <p:extLst>
      <p:ext uri="{BB962C8B-B14F-4D97-AF65-F5344CB8AC3E}">
        <p14:creationId xmlns:p14="http://schemas.microsoft.com/office/powerpoint/2010/main" val="4104495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95FD1-C2C8-50E2-A364-933469EB8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53A325-75BF-84BF-1A75-5121038F7C76}"/>
              </a:ext>
            </a:extLst>
          </p:cNvPr>
          <p:cNvSpPr txBox="1"/>
          <p:nvPr/>
        </p:nvSpPr>
        <p:spPr>
          <a:xfrm>
            <a:off x="1618488" y="415463"/>
            <a:ext cx="10689336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Agent pipeline in `utils/agent.py`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single agent is implemented as a simple graph with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 sequential nodes: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a. `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generate_sql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`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- reads the DB schema from `utils/db.py`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- prompts the LLM (`gpt-4o-mini`) to convert the user question into raw SQL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- enforces rules:</a:t>
            </a:r>
          </a:p>
          <a:p>
            <a:pPr lvl="1"/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- output only SQL</a:t>
            </a:r>
          </a:p>
          <a:p>
            <a:pPr lvl="1"/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- SELECT-only</a:t>
            </a:r>
          </a:p>
          <a:p>
            <a:pPr lvl="1"/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- use table/column names exactly</a:t>
            </a:r>
          </a:p>
          <a:p>
            <a:pPr lvl="1"/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- limit to 500 rows unless question implies otherwise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b. `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execute_sql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`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- runs the generated SQL against the SQLite database at `database/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lending.db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`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- uses `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run_query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()` from `utils/db.py`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- returns a pandas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DataFrame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or captures an error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c. `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summarise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`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- sends a data preview and the original question back to the LLM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- asks for a concise 2–4 sentence summary of the query results</a:t>
            </a:r>
          </a:p>
        </p:txBody>
      </p:sp>
    </p:spTree>
    <p:extLst>
      <p:ext uri="{BB962C8B-B14F-4D97-AF65-F5344CB8AC3E}">
        <p14:creationId xmlns:p14="http://schemas.microsoft.com/office/powerpoint/2010/main" val="1925059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B9C94-E209-9DFF-A7F2-DA3DB9022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B951A6-AAA4-0F74-5C68-AE13C327FDB4}"/>
              </a:ext>
            </a:extLst>
          </p:cNvPr>
          <p:cNvSpPr txBox="1"/>
          <p:nvPr/>
        </p:nvSpPr>
        <p:spPr>
          <a:xfrm>
            <a:off x="2135124" y="192685"/>
            <a:ext cx="619048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Render results in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Streamlit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After `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run_agent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` returns, app.py displays: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the generated SQL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any error message if execution failed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the LLM summary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the result table via `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st.dataframe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`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90FB26-541D-3190-4810-FD9854913EE2}"/>
              </a:ext>
            </a:extLst>
          </p:cNvPr>
          <p:cNvSpPr txBox="1"/>
          <p:nvPr/>
        </p:nvSpPr>
        <p:spPr>
          <a:xfrm>
            <a:off x="2135124" y="3072348"/>
            <a:ext cx="952652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Auto-chart generation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app.py calls `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graphs.charts.auto_chart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df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question)`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`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auto_chart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` heuristically chooses a chart type based on the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DataFrame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 lvl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- line chart if it finds date + numeric</a:t>
            </a:r>
          </a:p>
          <a:p>
            <a:pPr lvl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- bar chart if it finds text + numeric</a:t>
            </a:r>
          </a:p>
          <a:p>
            <a:pPr lvl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- histogram if only one numeric column</a:t>
            </a:r>
          </a:p>
          <a:p>
            <a:pPr lvl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- scatter if two numeric columns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If a chart can be created, it is shown in the UI</a:t>
            </a:r>
          </a:p>
        </p:txBody>
      </p:sp>
    </p:spTree>
    <p:extLst>
      <p:ext uri="{BB962C8B-B14F-4D97-AF65-F5344CB8AC3E}">
        <p14:creationId xmlns:p14="http://schemas.microsoft.com/office/powerpoint/2010/main" val="709012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A3DDB-1800-CD0A-6890-4BA52976B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CCC472-DA9A-26E0-214F-54AA2E14849A}"/>
              </a:ext>
            </a:extLst>
          </p:cNvPr>
          <p:cNvSpPr txBox="1"/>
          <p:nvPr/>
        </p:nvSpPr>
        <p:spPr>
          <a:xfrm>
            <a:off x="1920240" y="690247"/>
            <a:ext cx="982065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6. PDF report creation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app.py calls `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reports.pdf_report.generate_pdf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(...)`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that function builds a PDF containing:</a:t>
            </a:r>
          </a:p>
          <a:p>
            <a:pPr lvl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- the original question</a:t>
            </a:r>
          </a:p>
          <a:p>
            <a:pPr lvl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- generated SQL</a:t>
            </a:r>
          </a:p>
          <a:p>
            <a:pPr lvl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- the AI summary</a:t>
            </a:r>
          </a:p>
          <a:p>
            <a:pPr lvl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- the chart image (if available)</a:t>
            </a:r>
          </a:p>
          <a:p>
            <a:pPr lvl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- a table preview of the query results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The PDF is returned as bytes and offered as a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Streamlit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download button</a:t>
            </a:r>
          </a:p>
        </p:txBody>
      </p:sp>
    </p:spTree>
    <p:extLst>
      <p:ext uri="{BB962C8B-B14F-4D97-AF65-F5344CB8AC3E}">
        <p14:creationId xmlns:p14="http://schemas.microsoft.com/office/powerpoint/2010/main" val="3587827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1AE24-1A41-5668-3626-020BBEFB8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6428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1229</TotalTime>
  <Words>602</Words>
  <Application>Microsoft Office PowerPoint</Application>
  <PresentationFormat>Widescreen</PresentationFormat>
  <Paragraphs>89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124</cp:revision>
  <dcterms:created xsi:type="dcterms:W3CDTF">2025-09-22T02:44:38Z</dcterms:created>
  <dcterms:modified xsi:type="dcterms:W3CDTF">2026-06-06T09:14:06Z</dcterms:modified>
</cp:coreProperties>
</file>