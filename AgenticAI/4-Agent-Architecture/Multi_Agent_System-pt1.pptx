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77" r:id="rId3"/>
    <p:sldId id="296" r:id="rId4"/>
    <p:sldId id="278" r:id="rId5"/>
    <p:sldId id="305" r:id="rId6"/>
    <p:sldId id="265" r:id="rId7"/>
    <p:sldId id="307" r:id="rId8"/>
    <p:sldId id="300" r:id="rId9"/>
    <p:sldId id="306" r:id="rId10"/>
    <p:sldId id="301" r:id="rId11"/>
    <p:sldId id="304" r:id="rId12"/>
    <p:sldId id="303" r:id="rId13"/>
    <p:sldId id="302" r:id="rId14"/>
    <p:sldId id="298" r:id="rId15"/>
    <p:sldId id="29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C61E-CECD-25BE-A83A-A6AA11F7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36831D-748F-7A07-727C-4942071B0B17}"/>
              </a:ext>
            </a:extLst>
          </p:cNvPr>
          <p:cNvCxnSpPr>
            <a:cxnSpLocks/>
          </p:cNvCxnSpPr>
          <p:nvPr/>
        </p:nvCxnSpPr>
        <p:spPr>
          <a:xfrm flipH="1">
            <a:off x="9320252" y="3429000"/>
            <a:ext cx="396240" cy="6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EC233E-A037-CE13-DC3F-74E57274C847}"/>
              </a:ext>
            </a:extLst>
          </p:cNvPr>
          <p:cNvCxnSpPr>
            <a:cxnSpLocks/>
          </p:cNvCxnSpPr>
          <p:nvPr/>
        </p:nvCxnSpPr>
        <p:spPr>
          <a:xfrm flipH="1" flipV="1">
            <a:off x="10103455" y="3447456"/>
            <a:ext cx="233238" cy="62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DCB63B-9CB8-FA21-BD86-507B833F9532}"/>
              </a:ext>
            </a:extLst>
          </p:cNvPr>
          <p:cNvSpPr txBox="1"/>
          <p:nvPr/>
        </p:nvSpPr>
        <p:spPr>
          <a:xfrm>
            <a:off x="77125" y="1369964"/>
            <a:ext cx="95552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agent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and its limitations: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 relies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LLM or tool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perform all tasks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 work well for simple workflows.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Natural Language to PDF Report Generator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 single agent is sufficient to handle this whole workflow because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workflow is strictly linear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Every step depends on the previous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 single agent using 4 different tools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BD9BFB3-44C7-4F41-D01D-482EAF8B375C}"/>
              </a:ext>
            </a:extLst>
          </p:cNvPr>
          <p:cNvSpPr/>
          <p:nvPr/>
        </p:nvSpPr>
        <p:spPr>
          <a:xfrm>
            <a:off x="9454297" y="868112"/>
            <a:ext cx="2466364" cy="896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 </a:t>
            </a:r>
          </a:p>
          <a:p>
            <a:pPr algn="ctr"/>
            <a:r>
              <a:rPr lang="en-US" dirty="0"/>
              <a:t>Generate report on profit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9B05C6-D1A3-DB6F-D1E8-33CDD2CA9B5D}"/>
              </a:ext>
            </a:extLst>
          </p:cNvPr>
          <p:cNvSpPr/>
          <p:nvPr/>
        </p:nvSpPr>
        <p:spPr>
          <a:xfrm>
            <a:off x="9546469" y="2075509"/>
            <a:ext cx="2368296" cy="779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Statement</a:t>
            </a:r>
          </a:p>
          <a:p>
            <a:pPr algn="ctr"/>
            <a:r>
              <a:rPr lang="en-US" dirty="0"/>
              <a:t>Tool1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4A665C-7A0A-2573-38ED-588E2940DC18}"/>
              </a:ext>
            </a:extLst>
          </p:cNvPr>
          <p:cNvSpPr/>
          <p:nvPr/>
        </p:nvSpPr>
        <p:spPr>
          <a:xfrm>
            <a:off x="9716492" y="3078124"/>
            <a:ext cx="2198273" cy="8270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SQL</a:t>
            </a:r>
          </a:p>
          <a:p>
            <a:pPr algn="ctr"/>
            <a:r>
              <a:rPr lang="en-US" dirty="0"/>
              <a:t>Tool2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C8657B-18FA-E147-FD93-7DE97C61CBA0}"/>
              </a:ext>
            </a:extLst>
          </p:cNvPr>
          <p:cNvSpPr/>
          <p:nvPr/>
        </p:nvSpPr>
        <p:spPr>
          <a:xfrm>
            <a:off x="9789643" y="4238344"/>
            <a:ext cx="2198273" cy="8270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Summarize</a:t>
            </a:r>
          </a:p>
          <a:p>
            <a:pPr algn="ctr"/>
            <a:r>
              <a:rPr lang="en-US" dirty="0"/>
              <a:t>Tool3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48B834-7833-9E7B-B0C4-4F48F919E9E9}"/>
              </a:ext>
            </a:extLst>
          </p:cNvPr>
          <p:cNvSpPr/>
          <p:nvPr/>
        </p:nvSpPr>
        <p:spPr>
          <a:xfrm>
            <a:off x="9789644" y="5306791"/>
            <a:ext cx="2198273" cy="8270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PDF Report</a:t>
            </a:r>
          </a:p>
          <a:p>
            <a:pPr algn="ctr"/>
            <a:r>
              <a:rPr lang="en-US" dirty="0"/>
              <a:t>Tool4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ECBC2D0-B696-9F1D-40E4-F7E0BA98DB02}"/>
              </a:ext>
            </a:extLst>
          </p:cNvPr>
          <p:cNvSpPr/>
          <p:nvPr/>
        </p:nvSpPr>
        <p:spPr>
          <a:xfrm>
            <a:off x="10596171" y="1822508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8232334-C9CC-51C1-72BD-B8BBD22607F5}"/>
              </a:ext>
            </a:extLst>
          </p:cNvPr>
          <p:cNvSpPr/>
          <p:nvPr/>
        </p:nvSpPr>
        <p:spPr>
          <a:xfrm>
            <a:off x="10584313" y="2854519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5382A54-BDC2-B18B-92F6-559E5464C886}"/>
              </a:ext>
            </a:extLst>
          </p:cNvPr>
          <p:cNvSpPr/>
          <p:nvPr/>
        </p:nvSpPr>
        <p:spPr>
          <a:xfrm>
            <a:off x="10640167" y="3963494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5A85EFF-209B-CD70-2089-1B713B8A1C71}"/>
              </a:ext>
            </a:extLst>
          </p:cNvPr>
          <p:cNvSpPr/>
          <p:nvPr/>
        </p:nvSpPr>
        <p:spPr>
          <a:xfrm>
            <a:off x="10687479" y="5123714"/>
            <a:ext cx="292608" cy="1830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4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1E54-8466-2A19-2D90-D1ECC861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F557D-446C-7BC2-3B22-1BD92EFCC398}"/>
              </a:ext>
            </a:extLst>
          </p:cNvPr>
          <p:cNvSpPr txBox="1"/>
          <p:nvPr/>
        </p:nvSpPr>
        <p:spPr>
          <a:xfrm>
            <a:off x="182879" y="162462"/>
            <a:ext cx="93726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Challenges of Single-Agent Systems: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Tool Overload: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Handling numerous tools can confuse decision-making.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Incorrect decisions in tool selection can cascade, causing failures in subsequent steps.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Empirical observations suggest that a sweet spot exists for single agent tool usage: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5-10 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993A7D-9179-CC0A-3B0C-89992F8ECB9D}"/>
              </a:ext>
            </a:extLst>
          </p:cNvPr>
          <p:cNvSpPr/>
          <p:nvPr/>
        </p:nvSpPr>
        <p:spPr>
          <a:xfrm>
            <a:off x="179702" y="3888075"/>
            <a:ext cx="4279392" cy="1773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  <a:p>
            <a:pPr algn="ctr"/>
            <a:r>
              <a:rPr lang="en-US" dirty="0"/>
              <a:t>has 15 tools like,</a:t>
            </a:r>
          </a:p>
          <a:p>
            <a:pPr algn="ctr"/>
            <a:r>
              <a:rPr lang="en-US" dirty="0" err="1"/>
              <a:t>fetch_user_profile</a:t>
            </a:r>
            <a:endParaRPr lang="en-US" dirty="0"/>
          </a:p>
          <a:p>
            <a:pPr algn="ctr"/>
            <a:r>
              <a:rPr lang="en-US" dirty="0" err="1"/>
              <a:t>query_customer_database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C9C52-85D3-1EAF-475C-F1BCADE25FA5}"/>
              </a:ext>
            </a:extLst>
          </p:cNvPr>
          <p:cNvSpPr txBox="1"/>
          <p:nvPr/>
        </p:nvSpPr>
        <p:spPr>
          <a:xfrm>
            <a:off x="3566160" y="5679875"/>
            <a:ext cx="5754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may struggle and end up using wrong tool: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fetch_user_profile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intead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query_customer_database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F0DADF-A095-77FD-54FF-9C74BC9852FF}"/>
              </a:ext>
            </a:extLst>
          </p:cNvPr>
          <p:cNvSpPr/>
          <p:nvPr/>
        </p:nvSpPr>
        <p:spPr>
          <a:xfrm>
            <a:off x="9966960" y="1363487"/>
            <a:ext cx="1792224" cy="6390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52B7C0-F9D0-57CB-70B3-C830201B2DC7}"/>
              </a:ext>
            </a:extLst>
          </p:cNvPr>
          <p:cNvSpPr/>
          <p:nvPr/>
        </p:nvSpPr>
        <p:spPr>
          <a:xfrm>
            <a:off x="9966960" y="2331765"/>
            <a:ext cx="1792224" cy="5576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B13101-B9DE-FB6A-58AE-72085B1ECE9B}"/>
              </a:ext>
            </a:extLst>
          </p:cNvPr>
          <p:cNvSpPr/>
          <p:nvPr/>
        </p:nvSpPr>
        <p:spPr>
          <a:xfrm>
            <a:off x="10103455" y="3273081"/>
            <a:ext cx="1792224" cy="7824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fetch_user_profile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48149C-5574-4B9E-F60A-77020E950AD7}"/>
              </a:ext>
            </a:extLst>
          </p:cNvPr>
          <p:cNvSpPr/>
          <p:nvPr/>
        </p:nvSpPr>
        <p:spPr>
          <a:xfrm>
            <a:off x="10103455" y="4702620"/>
            <a:ext cx="1792224" cy="5576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E3027F-AF9A-A590-1285-E140127FB942}"/>
              </a:ext>
            </a:extLst>
          </p:cNvPr>
          <p:cNvSpPr/>
          <p:nvPr/>
        </p:nvSpPr>
        <p:spPr>
          <a:xfrm>
            <a:off x="9735183" y="5494513"/>
            <a:ext cx="2456817" cy="10156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query_customer_database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49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4E14-7142-AD62-E7BB-71138E6E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1239105-9C39-4996-3E91-8F3D305693D5}"/>
              </a:ext>
            </a:extLst>
          </p:cNvPr>
          <p:cNvSpPr/>
          <p:nvPr/>
        </p:nvSpPr>
        <p:spPr>
          <a:xfrm>
            <a:off x="9208008" y="2493758"/>
            <a:ext cx="2888972" cy="28628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Retrieve Data</a:t>
            </a:r>
          </a:p>
          <a:p>
            <a:pPr algn="ctr"/>
            <a:r>
              <a:rPr lang="en-US" dirty="0"/>
              <a:t>Analyze Data</a:t>
            </a:r>
          </a:p>
          <a:p>
            <a:pPr algn="ctr"/>
            <a:r>
              <a:rPr lang="en-US" dirty="0"/>
              <a:t>Generate Report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750C72-FD5C-E213-9923-F7B4B573CA08}"/>
              </a:ext>
            </a:extLst>
          </p:cNvPr>
          <p:cNvCxnSpPr>
            <a:cxnSpLocks/>
          </p:cNvCxnSpPr>
          <p:nvPr/>
        </p:nvCxnSpPr>
        <p:spPr>
          <a:xfrm flipH="1">
            <a:off x="9320252" y="3429000"/>
            <a:ext cx="396240" cy="62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C65C91-75D5-2E2E-194A-D97A711114D8}"/>
              </a:ext>
            </a:extLst>
          </p:cNvPr>
          <p:cNvCxnSpPr>
            <a:cxnSpLocks/>
          </p:cNvCxnSpPr>
          <p:nvPr/>
        </p:nvCxnSpPr>
        <p:spPr>
          <a:xfrm flipH="1" flipV="1">
            <a:off x="10103455" y="3447456"/>
            <a:ext cx="233238" cy="62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0EB6BA-0294-D505-621E-3274F3FD04D9}"/>
              </a:ext>
            </a:extLst>
          </p:cNvPr>
          <p:cNvSpPr txBox="1"/>
          <p:nvPr/>
        </p:nvSpPr>
        <p:spPr>
          <a:xfrm>
            <a:off x="197459" y="474345"/>
            <a:ext cx="1083020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Contextual Limitations: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SA system, LLMs struggle to maintain effective performance when overloaded with growing context. LLM have a finite context window, which determines how much information they can process at once.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agent’s contextual memory is overwhelmed by the growing number of tasks, tool outputs, and user interactions, then this leads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performance drop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an agent interacting with a user and calling tools to: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Retrieve data       - Consumes 10K tokens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Analyze it              - Consumes 30K tokens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Generate a report  - Consumes 40K token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time it reaches step 3, the LLM may have lost critical details from step 1 due to context overflow, resulting in flawed outputs.</a:t>
            </a:r>
          </a:p>
        </p:txBody>
      </p:sp>
    </p:spTree>
    <p:extLst>
      <p:ext uri="{BB962C8B-B14F-4D97-AF65-F5344CB8AC3E}">
        <p14:creationId xmlns:p14="http://schemas.microsoft.com/office/powerpoint/2010/main" val="381334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563B6-8C0B-A87B-7000-5FBB0D96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46AF679-D4F7-1272-7E13-A93E85F77920}"/>
              </a:ext>
            </a:extLst>
          </p:cNvPr>
          <p:cNvSpPr/>
          <p:nvPr/>
        </p:nvSpPr>
        <p:spPr>
          <a:xfrm>
            <a:off x="7781874" y="919149"/>
            <a:ext cx="4228899" cy="14308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 Project Timeline</a:t>
            </a:r>
          </a:p>
          <a:p>
            <a:pPr algn="ctr"/>
            <a:r>
              <a:rPr lang="en-US" dirty="0"/>
              <a:t>Write Python script</a:t>
            </a:r>
          </a:p>
          <a:p>
            <a:pPr algn="ctr"/>
            <a:r>
              <a:rPr lang="en-US" dirty="0"/>
              <a:t>Generate Financial Forecast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B15D7-AAEF-78CC-ED94-3044D9E59017}"/>
              </a:ext>
            </a:extLst>
          </p:cNvPr>
          <p:cNvSpPr txBox="1"/>
          <p:nvPr/>
        </p:nvSpPr>
        <p:spPr>
          <a:xfrm>
            <a:off x="250529" y="269906"/>
            <a:ext cx="926784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Specialization Deficiency: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cannot excel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diverse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tasks requiring varied expertise.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user needs an AI assistant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 a project timeline.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Python script for automation.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 financial forecast.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may struggle to excel in all three areas simultaneously, leading to suboptimal results.</a:t>
            </a:r>
          </a:p>
        </p:txBody>
      </p:sp>
    </p:spTree>
    <p:extLst>
      <p:ext uri="{BB962C8B-B14F-4D97-AF65-F5344CB8AC3E}">
        <p14:creationId xmlns:p14="http://schemas.microsoft.com/office/powerpoint/2010/main" val="156508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65C09E-CCA2-7DB6-55CC-49E879FCCDB6}"/>
              </a:ext>
            </a:extLst>
          </p:cNvPr>
          <p:cNvSpPr txBox="1"/>
          <p:nvPr/>
        </p:nvSpPr>
        <p:spPr>
          <a:xfrm>
            <a:off x="307848" y="1284839"/>
            <a:ext cx="11045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is a framework that allows -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AI agents to collaborate to solve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CFB232-7719-8109-6B34-D417113661B0}"/>
              </a:ext>
            </a:extLst>
          </p:cNvPr>
          <p:cNvSpPr/>
          <p:nvPr/>
        </p:nvSpPr>
        <p:spPr>
          <a:xfrm>
            <a:off x="542544" y="2799519"/>
            <a:ext cx="4376928" cy="36027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Single Agent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87C4E-3F23-FC86-D610-773DA125EEFB}"/>
              </a:ext>
            </a:extLst>
          </p:cNvPr>
          <p:cNvSpPr txBox="1"/>
          <p:nvPr/>
        </p:nvSpPr>
        <p:spPr>
          <a:xfrm>
            <a:off x="2459736" y="314468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Multi-Agent Systems - MAS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AC6821-5F9E-3820-5740-DC42F829DB3B}"/>
              </a:ext>
            </a:extLst>
          </p:cNvPr>
          <p:cNvSpPr/>
          <p:nvPr/>
        </p:nvSpPr>
        <p:spPr>
          <a:xfrm>
            <a:off x="6748272" y="2401114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303D44-05F6-4E45-161F-88B117F0561A}"/>
              </a:ext>
            </a:extLst>
          </p:cNvPr>
          <p:cNvSpPr/>
          <p:nvPr/>
        </p:nvSpPr>
        <p:spPr>
          <a:xfrm>
            <a:off x="8650224" y="3392596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87F099-4C91-77BF-0957-FB3651CF76BE}"/>
              </a:ext>
            </a:extLst>
          </p:cNvPr>
          <p:cNvSpPr/>
          <p:nvPr/>
        </p:nvSpPr>
        <p:spPr>
          <a:xfrm>
            <a:off x="6885432" y="4980481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Agent3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DF4C0E-3503-BDE3-9A0E-313C665EA6A2}"/>
              </a:ext>
            </a:extLst>
          </p:cNvPr>
          <p:cNvSpPr/>
          <p:nvPr/>
        </p:nvSpPr>
        <p:spPr>
          <a:xfrm>
            <a:off x="5093208" y="4274750"/>
            <a:ext cx="1618488" cy="652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5DC42F-276B-F76F-2511-AFC07F21B23D}"/>
              </a:ext>
            </a:extLst>
          </p:cNvPr>
          <p:cNvSpPr/>
          <p:nvPr/>
        </p:nvSpPr>
        <p:spPr>
          <a:xfrm>
            <a:off x="9208008" y="4927023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Agent4</a:t>
            </a:r>
          </a:p>
        </p:txBody>
      </p:sp>
    </p:spTree>
    <p:extLst>
      <p:ext uri="{BB962C8B-B14F-4D97-AF65-F5344CB8AC3E}">
        <p14:creationId xmlns:p14="http://schemas.microsoft.com/office/powerpoint/2010/main" val="411798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EE70-721B-9923-775F-377CD2D6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055730-41E5-820E-70EF-7B2EEEDF39FF}"/>
              </a:ext>
            </a:extLst>
          </p:cNvPr>
          <p:cNvSpPr txBox="1"/>
          <p:nvPr/>
        </p:nvSpPr>
        <p:spPr>
          <a:xfrm>
            <a:off x="379476" y="80014"/>
            <a:ext cx="11045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framework solves the problems that SA cannot effectively handle:</a:t>
            </a:r>
          </a:p>
          <a:p>
            <a:pPr marL="0" indent="0" fontAlgn="base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-&gt; Single Agent is taking too much time. The task can be parallelized.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521185-7603-BBFE-FDB6-55C425946A62}"/>
              </a:ext>
            </a:extLst>
          </p:cNvPr>
          <p:cNvSpPr/>
          <p:nvPr/>
        </p:nvSpPr>
        <p:spPr>
          <a:xfrm>
            <a:off x="8141209" y="3034657"/>
            <a:ext cx="3051045" cy="6486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Agent1- History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B1D435-A59B-97B4-DBFD-436749DD9D51}"/>
              </a:ext>
            </a:extLst>
          </p:cNvPr>
          <p:cNvSpPr/>
          <p:nvPr/>
        </p:nvSpPr>
        <p:spPr>
          <a:xfrm>
            <a:off x="8088631" y="4070851"/>
            <a:ext cx="3366514" cy="652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 – Fraud Score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03E703-590F-016C-E81D-B799F684DB8E}"/>
              </a:ext>
            </a:extLst>
          </p:cNvPr>
          <p:cNvSpPr/>
          <p:nvPr/>
        </p:nvSpPr>
        <p:spPr>
          <a:xfrm>
            <a:off x="7845552" y="5004327"/>
            <a:ext cx="3922776" cy="652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 – Blacklist verify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08C36F-565B-C62C-61A1-7B7CF8358F2E}"/>
              </a:ext>
            </a:extLst>
          </p:cNvPr>
          <p:cNvSpPr/>
          <p:nvPr/>
        </p:nvSpPr>
        <p:spPr>
          <a:xfrm>
            <a:off x="8281417" y="1699440"/>
            <a:ext cx="2839211" cy="8423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Fraud Detection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365EA1-BFD4-2491-6D12-FE8580B9C47F}"/>
              </a:ext>
            </a:extLst>
          </p:cNvPr>
          <p:cNvSpPr/>
          <p:nvPr/>
        </p:nvSpPr>
        <p:spPr>
          <a:xfrm>
            <a:off x="8281417" y="6021412"/>
            <a:ext cx="3051045" cy="6486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Agent1- Decision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F23825B-8E1F-9C3E-8E6C-C29B6217978A}"/>
              </a:ext>
            </a:extLst>
          </p:cNvPr>
          <p:cNvSpPr/>
          <p:nvPr/>
        </p:nvSpPr>
        <p:spPr>
          <a:xfrm>
            <a:off x="9508236" y="2625432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BBF4CF4-5174-FC89-B9E8-C6385EF50687}"/>
              </a:ext>
            </a:extLst>
          </p:cNvPr>
          <p:cNvSpPr/>
          <p:nvPr/>
        </p:nvSpPr>
        <p:spPr>
          <a:xfrm>
            <a:off x="9479279" y="3725062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FE92DF9-F9BA-3A01-E614-2B9F0808C521}"/>
              </a:ext>
            </a:extLst>
          </p:cNvPr>
          <p:cNvSpPr/>
          <p:nvPr/>
        </p:nvSpPr>
        <p:spPr>
          <a:xfrm>
            <a:off x="9526526" y="4651708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A923C3D-4960-A20F-1540-CE4E69827A65}"/>
              </a:ext>
            </a:extLst>
          </p:cNvPr>
          <p:cNvSpPr/>
          <p:nvPr/>
        </p:nvSpPr>
        <p:spPr>
          <a:xfrm>
            <a:off x="9584436" y="5673328"/>
            <a:ext cx="374904" cy="3489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5C122-11F2-990D-3138-A6D8490CAC6B}"/>
              </a:ext>
            </a:extLst>
          </p:cNvPr>
          <p:cNvSpPr txBox="1"/>
          <p:nvPr/>
        </p:nvSpPr>
        <p:spPr>
          <a:xfrm>
            <a:off x="228598" y="1746473"/>
            <a:ext cx="76794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— Fraud detection at a bank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comes in.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needs to simultaneously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the customer's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, ~40ms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transaction for fraud patterns, ~60ms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verify telephone against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blacklist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~20ms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the banks makes the decision. In SA, total time=120ms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would perform task in sequential manner -&gt; take more time than necessary.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A503E-D3A8-27ED-0C15-19C732CE15A8}"/>
              </a:ext>
            </a:extLst>
          </p:cNvPr>
          <p:cNvSpPr txBox="1"/>
          <p:nvPr/>
        </p:nvSpPr>
        <p:spPr>
          <a:xfrm>
            <a:off x="150876" y="5946989"/>
            <a:ext cx="7584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-&gt; Split single agent into multiple agent. Each agent can work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</a:t>
            </a:r>
          </a:p>
        </p:txBody>
      </p:sp>
    </p:spTree>
    <p:extLst>
      <p:ext uri="{BB962C8B-B14F-4D97-AF65-F5344CB8AC3E}">
        <p14:creationId xmlns:p14="http://schemas.microsoft.com/office/powerpoint/2010/main" val="585791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774B-F17B-EF6A-4809-DCDE1CCD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18620-27D8-AF22-A648-623CFA20A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79703"/>
            <a:ext cx="7903464" cy="5937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DEF0A8-E375-A3E7-3AB7-35E0D1FA1BCC}"/>
              </a:ext>
            </a:extLst>
          </p:cNvPr>
          <p:cNvSpPr txBox="1"/>
          <p:nvPr/>
        </p:nvSpPr>
        <p:spPr>
          <a:xfrm>
            <a:off x="115824" y="171143"/>
            <a:ext cx="74828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MAS: 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AI agents. </a:t>
            </a:r>
          </a:p>
          <a:p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Orchestrator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(Fans out tasks in parallel)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History agent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(Analyzes past behavior and average spend)</a:t>
            </a:r>
          </a:p>
          <a:p>
            <a:pPr lvl="0"/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Fraud scorer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(Evaluates ML risk score)</a:t>
            </a:r>
          </a:p>
          <a:p>
            <a:pPr marL="457200" lvl="0" indent="-457200">
              <a:buFont typeface="+mj-lt"/>
              <a:buAutoNum type="arabicPeriod"/>
            </a:pP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Blacklist agent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(Checks sanctions and stolen card databases)</a:t>
            </a:r>
          </a:p>
          <a:p>
            <a:pPr marL="457200" lvl="0" indent="-457200">
              <a:buFont typeface="+mj-lt"/>
              <a:buAutoNum type="arabicPeriod"/>
            </a:pP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Decision agent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/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(Merges all signals and applies final rules)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739C9-06B5-B01C-57BC-4B8777CA3E14}"/>
              </a:ext>
            </a:extLst>
          </p:cNvPr>
          <p:cNvSpPr txBox="1"/>
          <p:nvPr/>
        </p:nvSpPr>
        <p:spPr>
          <a:xfrm>
            <a:off x="188976" y="5657671"/>
            <a:ext cx="6175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latency = ~60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slowest agent)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wins</a:t>
            </a:r>
          </a:p>
        </p:txBody>
      </p:sp>
    </p:spTree>
    <p:extLst>
      <p:ext uri="{BB962C8B-B14F-4D97-AF65-F5344CB8AC3E}">
        <p14:creationId xmlns:p14="http://schemas.microsoft.com/office/powerpoint/2010/main" val="699267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F587-F557-FC4B-1232-168618FD9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4F55FF-CD12-5F0B-BD5D-AA1593688468}"/>
              </a:ext>
            </a:extLst>
          </p:cNvPr>
          <p:cNvSpPr txBox="1"/>
          <p:nvPr/>
        </p:nvSpPr>
        <p:spPr>
          <a:xfrm>
            <a:off x="379476" y="283953"/>
            <a:ext cx="110459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-&gt; Data privacy requires that step2 should not see the PII ( Personal Identifiable Information ) generated from  step1. Single Agent cannot do this</a:t>
            </a:r>
          </a:p>
          <a:p>
            <a:pPr marL="0" indent="0" fontAlgn="base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-&gt; Split single agent into 2 agent. Agent 1 handles sensitive data, and sanitizes the output and then gives it to Agent 2. 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797D93-B17F-3876-E654-D96189BCF4AB}"/>
              </a:ext>
            </a:extLst>
          </p:cNvPr>
          <p:cNvSpPr/>
          <p:nvPr/>
        </p:nvSpPr>
        <p:spPr>
          <a:xfrm>
            <a:off x="1152144" y="3292566"/>
            <a:ext cx="2980944" cy="26166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Single Agent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C92BE6-4986-3287-3294-5F6A84660779}"/>
              </a:ext>
            </a:extLst>
          </p:cNvPr>
          <p:cNvSpPr/>
          <p:nvPr/>
        </p:nvSpPr>
        <p:spPr>
          <a:xfrm>
            <a:off x="6647688" y="2836320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E605DC9-4F23-7847-1981-36FF42DB9553}"/>
              </a:ext>
            </a:extLst>
          </p:cNvPr>
          <p:cNvSpPr/>
          <p:nvPr/>
        </p:nvSpPr>
        <p:spPr>
          <a:xfrm>
            <a:off x="6693407" y="4945880"/>
            <a:ext cx="1490471" cy="1185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Agent2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C5DFC14-7810-73A4-0E1C-16D56C5F2CA1}"/>
              </a:ext>
            </a:extLst>
          </p:cNvPr>
          <p:cNvSpPr/>
          <p:nvPr/>
        </p:nvSpPr>
        <p:spPr>
          <a:xfrm>
            <a:off x="4357116" y="4157643"/>
            <a:ext cx="1618488" cy="652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AC04355-239C-230A-1681-00639F8A1980}"/>
              </a:ext>
            </a:extLst>
          </p:cNvPr>
          <p:cNvSpPr/>
          <p:nvPr/>
        </p:nvSpPr>
        <p:spPr>
          <a:xfrm>
            <a:off x="7278621" y="4157643"/>
            <a:ext cx="269749" cy="652273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7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D56C-61E2-EF48-9C26-700C19EB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C36C67-618B-9684-D677-7C61D2E80DC7}"/>
              </a:ext>
            </a:extLst>
          </p:cNvPr>
          <p:cNvSpPr txBox="1"/>
          <p:nvPr/>
        </p:nvSpPr>
        <p:spPr>
          <a:xfrm>
            <a:off x="115824" y="379583"/>
            <a:ext cx="74828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— AI-powered hiring pipeline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resume arrives.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agent extracts skills and experience.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agent checks for bias in the language used by the recruiter's job description.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third agent matches the candidate against the role.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bias checker must never see the candidate's name or demographic signals — it only reads the job description.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 permissions problem.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single agent that handles everything would be impossible to audit and legally risky.</a:t>
            </a:r>
          </a:p>
        </p:txBody>
      </p:sp>
    </p:spTree>
    <p:extLst>
      <p:ext uri="{BB962C8B-B14F-4D97-AF65-F5344CB8AC3E}">
        <p14:creationId xmlns:p14="http://schemas.microsoft.com/office/powerpoint/2010/main" val="305202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A863-C645-96FA-83B9-E972EF0B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255665-AD28-F6A3-AA9D-92F4651F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427"/>
            <a:ext cx="7566251" cy="25922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27E1AE-5697-30F8-5BD7-F272F5856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26" y="2684671"/>
            <a:ext cx="4663345" cy="3839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9A2372-FE84-E71F-B524-0C44AA157697}"/>
              </a:ext>
            </a:extLst>
          </p:cNvPr>
          <p:cNvSpPr txBox="1"/>
          <p:nvPr/>
        </p:nvSpPr>
        <p:spPr>
          <a:xfrm>
            <a:off x="5686193" y="2896074"/>
            <a:ext cx="6190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Bias Checker agent is legally and architecturally forbidden from seeing the candidate's name, age, or any demographic signal — it only ever receives the job description text.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cannot enforce that boundary inside a single agent that holds all the data. Separate agents with separate data inputs is the only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auditable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</a:t>
            </a:r>
          </a:p>
        </p:txBody>
      </p:sp>
    </p:spTree>
    <p:extLst>
      <p:ext uri="{BB962C8B-B14F-4D97-AF65-F5344CB8AC3E}">
        <p14:creationId xmlns:p14="http://schemas.microsoft.com/office/powerpoint/2010/main" val="1196586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ED1D-A24C-C92D-934E-F3F2D18B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90AA2-D104-FE18-CC5B-3F3C8DDDB052}"/>
              </a:ext>
            </a:extLst>
          </p:cNvPr>
          <p:cNvSpPr txBox="1"/>
          <p:nvPr/>
        </p:nvSpPr>
        <p:spPr>
          <a:xfrm>
            <a:off x="115824" y="379583"/>
            <a:ext cx="7482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— Autonomous investment research report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fund manager asks: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"Give me a full report on Tesla before markets open."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things need to happen: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scrape today's news,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pull the latest financials,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SEC filings,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analyst sentiment,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the report. </a:t>
            </a:r>
          </a:p>
        </p:txBody>
      </p:sp>
    </p:spTree>
    <p:extLst>
      <p:ext uri="{BB962C8B-B14F-4D97-AF65-F5344CB8AC3E}">
        <p14:creationId xmlns:p14="http://schemas.microsoft.com/office/powerpoint/2010/main" val="1391792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1DAD-0525-DCBB-8DAB-851539A3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8F913-EAB2-107A-BDB1-1DE11C021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5" y="0"/>
            <a:ext cx="9088118" cy="4248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94BF36-463A-941E-EDE2-FA89678F4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00" y="4321895"/>
            <a:ext cx="5344271" cy="2372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34DB18-4823-9C0A-320A-2C025CD66BE1}"/>
              </a:ext>
            </a:extLst>
          </p:cNvPr>
          <p:cNvSpPr txBox="1"/>
          <p:nvPr/>
        </p:nvSpPr>
        <p:spPr>
          <a:xfrm>
            <a:off x="7378246" y="4634331"/>
            <a:ext cx="461258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Latency -&gt; Total time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slowest agent(~12 s) + writing time (~2 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~14 seconds.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Scale -&gt; 4 external APIs firing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simult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71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98698-3AB2-C1BA-A49B-E667CF03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9AE8F6-6BCD-0441-FF23-FCA55ED862AF}"/>
              </a:ext>
            </a:extLst>
          </p:cNvPr>
          <p:cNvSpPr txBox="1"/>
          <p:nvPr/>
        </p:nvSpPr>
        <p:spPr>
          <a:xfrm>
            <a:off x="280416" y="1177558"/>
            <a:ext cx="110733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several benefits over systems consisting of a single AI agent:</a:t>
            </a:r>
          </a:p>
          <a:p>
            <a:pPr marL="0" indent="0" fontAlgn="base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capable of taking on more complex tasks: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key reason for this is that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in MAS can learn from the behavior of other agents as well as their environment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modular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hence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scalable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additional agents can be instantiated if the existing system isn’t up to the task, or can’t cope with growing demand.   </a:t>
            </a:r>
          </a:p>
        </p:txBody>
      </p:sp>
    </p:spTree>
    <p:extLst>
      <p:ext uri="{BB962C8B-B14F-4D97-AF65-F5344CB8AC3E}">
        <p14:creationId xmlns:p14="http://schemas.microsoft.com/office/powerpoint/2010/main" val="1315916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5ECA-3FBB-821E-90FD-3E115F1A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37E03A-462A-414B-AF4C-944D060B7CDC}"/>
              </a:ext>
            </a:extLst>
          </p:cNvPr>
          <p:cNvSpPr txBox="1"/>
          <p:nvPr/>
        </p:nvSpPr>
        <p:spPr>
          <a:xfrm>
            <a:off x="408432" y="610630"/>
            <a:ext cx="11073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genuinely need multiple agents ?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B8F7D0-559D-1943-C1FC-59F1C7045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581822"/>
              </p:ext>
            </p:extLst>
          </p:nvPr>
        </p:nvGraphicFramePr>
        <p:xfrm>
          <a:off x="408432" y="1441627"/>
          <a:ext cx="11460480" cy="4206240"/>
        </p:xfrm>
        <a:graphic>
          <a:graphicData uri="http://schemas.openxmlformats.org/drawingml/2006/table">
            <a:tbl>
              <a:tblPr/>
              <a:tblGrid>
                <a:gridCol w="3961536">
                  <a:extLst>
                    <a:ext uri="{9D8B030D-6E8A-4147-A177-3AD203B41FA5}">
                      <a16:colId xmlns:a16="http://schemas.microsoft.com/office/drawing/2014/main" val="1127790839"/>
                    </a:ext>
                  </a:extLst>
                </a:gridCol>
                <a:gridCol w="7498944">
                  <a:extLst>
                    <a:ext uri="{9D8B030D-6E8A-4147-A177-3AD203B41FA5}">
                      <a16:colId xmlns:a16="http://schemas.microsoft.com/office/drawing/2014/main" val="298013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multi-agent helps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44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Tasks can run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 parallel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 A fetches data while Agent B queries an API simultaneously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5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Agents need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different models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Analyst uses GPT-4o, Reporter uses a fine-tuned summarization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28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Agents have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different permissions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agent has DB write access, another is read-only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302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Tasks are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 and independent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Research agent and writing agent work on separate subtasks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275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agent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validates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another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critic agent reviews and rejects the SQL agent's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767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5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1347</TotalTime>
  <Words>1076</Words>
  <Application>Microsoft Office PowerPoint</Application>
  <PresentationFormat>Widescreen</PresentationFormat>
  <Paragraphs>162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252</cp:revision>
  <dcterms:created xsi:type="dcterms:W3CDTF">2025-09-22T02:44:38Z</dcterms:created>
  <dcterms:modified xsi:type="dcterms:W3CDTF">2026-09-04T18:28:08Z</dcterms:modified>
</cp:coreProperties>
</file>