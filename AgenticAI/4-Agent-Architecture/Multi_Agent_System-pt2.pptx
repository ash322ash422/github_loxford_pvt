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7" r:id="rId2"/>
    <p:sldId id="294" r:id="rId3"/>
    <p:sldId id="280" r:id="rId4"/>
    <p:sldId id="281" r:id="rId5"/>
    <p:sldId id="282" r:id="rId6"/>
    <p:sldId id="283" r:id="rId7"/>
    <p:sldId id="284" r:id="rId8"/>
    <p:sldId id="285" r:id="rId9"/>
    <p:sldId id="292" r:id="rId10"/>
    <p:sldId id="287" r:id="rId11"/>
    <p:sldId id="288" r:id="rId12"/>
    <p:sldId id="289" r:id="rId13"/>
    <p:sldId id="290" r:id="rId14"/>
    <p:sldId id="291" r:id="rId15"/>
    <p:sldId id="295"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14"/>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6/6/2026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6/6/2026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6/6/2026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6/6/2026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6/6/2026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6/6/2026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6/6/2026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6/6/2026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6/6/2026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6/6/2026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6/6/2026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6/6/2026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6/6/2026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6/6/2026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0642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612BC-4AC2-9333-5364-8E40434BE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3C87C-9544-DB01-698E-2C50C3A77CD9}"/>
              </a:ext>
            </a:extLst>
          </p:cNvPr>
          <p:cNvSpPr>
            <a:spLocks noGrp="1"/>
          </p:cNvSpPr>
          <p:nvPr>
            <p:ph type="title"/>
          </p:nvPr>
        </p:nvSpPr>
        <p:spPr>
          <a:xfrm>
            <a:off x="838200" y="104994"/>
            <a:ext cx="10515600" cy="539062"/>
          </a:xfrm>
        </p:spPr>
        <p:txBody>
          <a:bodyPr>
            <a:noAutofit/>
          </a:bodyPr>
          <a:lstStyle/>
          <a:p>
            <a:r>
              <a:rPr lang="en-US" sz="3600" b="1" dirty="0"/>
              <a:t>Multi-Agent Systems(p1)</a:t>
            </a:r>
            <a:endParaRPr lang="en-US" sz="3600" dirty="0"/>
          </a:p>
        </p:txBody>
      </p:sp>
      <p:sp>
        <p:nvSpPr>
          <p:cNvPr id="3" name="Content Placeholder 2">
            <a:extLst>
              <a:ext uri="{FF2B5EF4-FFF2-40B4-BE49-F238E27FC236}">
                <a16:creationId xmlns:a16="http://schemas.microsoft.com/office/drawing/2014/main" id="{1FFC0898-8EC1-50A3-DC65-6F2B318DFC6D}"/>
              </a:ext>
            </a:extLst>
          </p:cNvPr>
          <p:cNvSpPr>
            <a:spLocks noGrp="1"/>
          </p:cNvSpPr>
          <p:nvPr>
            <p:ph idx="1"/>
          </p:nvPr>
        </p:nvSpPr>
        <p:spPr>
          <a:xfrm>
            <a:off x="167779" y="673563"/>
            <a:ext cx="11811699" cy="3794999"/>
          </a:xfrm>
        </p:spPr>
        <p:txBody>
          <a:bodyPr>
            <a:normAutofit/>
          </a:bodyPr>
          <a:lstStyle/>
          <a:p>
            <a:pPr marL="0" indent="0" fontAlgn="base">
              <a:buNone/>
            </a:pPr>
            <a:r>
              <a:rPr lang="en-US" sz="2400" dirty="0"/>
              <a:t> -  MAS are more </a:t>
            </a:r>
            <a:r>
              <a:rPr lang="en-US" sz="2400" b="1" dirty="0"/>
              <a:t>fault-tolerant</a:t>
            </a:r>
            <a:r>
              <a:rPr lang="en-US" sz="2400" dirty="0"/>
              <a:t> to individual agent failures than single-agent systems. This offers higher availability, which is desirable if the agent-powered system represents a critical function. </a:t>
            </a:r>
          </a:p>
          <a:p>
            <a:pPr fontAlgn="base">
              <a:buFontTx/>
              <a:buChar char="-"/>
            </a:pPr>
            <a:r>
              <a:rPr lang="en-US" sz="2400" dirty="0"/>
              <a:t>MAS can achieve its given goal is to have </a:t>
            </a:r>
            <a:r>
              <a:rPr lang="en-US" sz="2400" b="1" dirty="0"/>
              <a:t>agents cooperate to reach a desired objective</a:t>
            </a:r>
            <a:r>
              <a:rPr lang="en-US" sz="2400" dirty="0"/>
              <a:t>. This could involve agents sharing information about the measures they have taken so far, so other agents avoid wasting effort. </a:t>
            </a:r>
          </a:p>
          <a:p>
            <a:pPr fontAlgn="base">
              <a:buFontTx/>
              <a:buChar char="-"/>
            </a:pPr>
            <a:r>
              <a:rPr lang="en-US" sz="2400" dirty="0"/>
              <a:t>You can create multiple </a:t>
            </a:r>
            <a:r>
              <a:rPr lang="en-US" sz="2400" b="1" dirty="0"/>
              <a:t>specialized agents</a:t>
            </a:r>
            <a:r>
              <a:rPr lang="en-US" sz="2400" dirty="0"/>
              <a:t> that are expert in their domain</a:t>
            </a:r>
          </a:p>
          <a:p>
            <a:pPr marL="0" indent="0" fontAlgn="base">
              <a:buNone/>
            </a:pPr>
            <a:r>
              <a:rPr lang="en-US" sz="2400" b="1" dirty="0"/>
              <a:t>Types of MAS</a:t>
            </a:r>
            <a:r>
              <a:rPr lang="en-US" sz="2400" dirty="0"/>
              <a:t>: Network, Supervisor, Hierarchical, Custom (Explained later)</a:t>
            </a:r>
          </a:p>
          <a:p>
            <a:pPr fontAlgn="base">
              <a:buFontTx/>
              <a:buChar char="-"/>
            </a:pPr>
            <a:endParaRPr lang="en-US" sz="2400" dirty="0"/>
          </a:p>
        </p:txBody>
      </p:sp>
      <p:pic>
        <p:nvPicPr>
          <p:cNvPr id="7" name="Picture 6">
            <a:extLst>
              <a:ext uri="{FF2B5EF4-FFF2-40B4-BE49-F238E27FC236}">
                <a16:creationId xmlns:a16="http://schemas.microsoft.com/office/drawing/2014/main" id="{1D40B319-23FA-E7CB-1CDD-93DABDA0A5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976" y="4524203"/>
            <a:ext cx="1432684" cy="2103302"/>
          </a:xfrm>
          <a:prstGeom prst="rect">
            <a:avLst/>
          </a:prstGeom>
        </p:spPr>
      </p:pic>
      <p:pic>
        <p:nvPicPr>
          <p:cNvPr id="9" name="Picture 8">
            <a:extLst>
              <a:ext uri="{FF2B5EF4-FFF2-40B4-BE49-F238E27FC236}">
                <a16:creationId xmlns:a16="http://schemas.microsoft.com/office/drawing/2014/main" id="{FDAE4B83-6384-362D-76D4-0D1FB958F3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4687" y="4501012"/>
            <a:ext cx="1661304" cy="2133785"/>
          </a:xfrm>
          <a:prstGeom prst="rect">
            <a:avLst/>
          </a:prstGeom>
        </p:spPr>
      </p:pic>
      <p:pic>
        <p:nvPicPr>
          <p:cNvPr id="11" name="Picture 10">
            <a:extLst>
              <a:ext uri="{FF2B5EF4-FFF2-40B4-BE49-F238E27FC236}">
                <a16:creationId xmlns:a16="http://schemas.microsoft.com/office/drawing/2014/main" id="{8F4A1D68-ECCE-22AA-3B48-5D3A76F996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3293" y="4541100"/>
            <a:ext cx="1798476" cy="2149026"/>
          </a:xfrm>
          <a:prstGeom prst="rect">
            <a:avLst/>
          </a:prstGeom>
        </p:spPr>
      </p:pic>
      <p:pic>
        <p:nvPicPr>
          <p:cNvPr id="13" name="Picture 12">
            <a:extLst>
              <a:ext uri="{FF2B5EF4-FFF2-40B4-BE49-F238E27FC236}">
                <a16:creationId xmlns:a16="http://schemas.microsoft.com/office/drawing/2014/main" id="{BB60FC29-9E7F-F79B-A4FB-32F479C0A2F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7085" y="4558648"/>
            <a:ext cx="1851820" cy="2225233"/>
          </a:xfrm>
          <a:prstGeom prst="rect">
            <a:avLst/>
          </a:prstGeom>
        </p:spPr>
      </p:pic>
      <p:pic>
        <p:nvPicPr>
          <p:cNvPr id="15" name="Picture 14">
            <a:extLst>
              <a:ext uri="{FF2B5EF4-FFF2-40B4-BE49-F238E27FC236}">
                <a16:creationId xmlns:a16="http://schemas.microsoft.com/office/drawing/2014/main" id="{569129E8-FD37-258B-FFC5-679844BB2D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31988" y="4524355"/>
            <a:ext cx="1851820" cy="2293819"/>
          </a:xfrm>
          <a:prstGeom prst="rect">
            <a:avLst/>
          </a:prstGeom>
        </p:spPr>
      </p:pic>
    </p:spTree>
    <p:extLst>
      <p:ext uri="{BB962C8B-B14F-4D97-AF65-F5344CB8AC3E}">
        <p14:creationId xmlns:p14="http://schemas.microsoft.com/office/powerpoint/2010/main" val="1979119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43CA3-9C69-C764-8938-74E3B3006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ACE71-5236-327A-57D8-401F98390D1A}"/>
              </a:ext>
            </a:extLst>
          </p:cNvPr>
          <p:cNvSpPr>
            <a:spLocks noGrp="1"/>
          </p:cNvSpPr>
          <p:nvPr>
            <p:ph type="title"/>
          </p:nvPr>
        </p:nvSpPr>
        <p:spPr>
          <a:xfrm>
            <a:off x="838200" y="256068"/>
            <a:ext cx="10515600" cy="700277"/>
          </a:xfrm>
        </p:spPr>
        <p:txBody>
          <a:bodyPr/>
          <a:lstStyle/>
          <a:p>
            <a:r>
              <a:rPr lang="en-US" b="1" dirty="0"/>
              <a:t>Multi-Agent Systems Architecture(p5)</a:t>
            </a:r>
            <a:endParaRPr lang="en-US" dirty="0"/>
          </a:p>
        </p:txBody>
      </p:sp>
      <p:sp>
        <p:nvSpPr>
          <p:cNvPr id="5" name="Content Placeholder 4">
            <a:extLst>
              <a:ext uri="{FF2B5EF4-FFF2-40B4-BE49-F238E27FC236}">
                <a16:creationId xmlns:a16="http://schemas.microsoft.com/office/drawing/2014/main" id="{ED58B222-F8D7-79C1-48BD-29D6CF85038F}"/>
              </a:ext>
            </a:extLst>
          </p:cNvPr>
          <p:cNvSpPr>
            <a:spLocks noGrp="1"/>
          </p:cNvSpPr>
          <p:nvPr>
            <p:ph idx="1"/>
          </p:nvPr>
        </p:nvSpPr>
        <p:spPr>
          <a:xfrm>
            <a:off x="294198" y="1261079"/>
            <a:ext cx="9057080" cy="2849745"/>
          </a:xfrm>
        </p:spPr>
        <p:txBody>
          <a:bodyPr>
            <a:normAutofit fontScale="70000" lnSpcReduction="20000"/>
          </a:bodyPr>
          <a:lstStyle/>
          <a:p>
            <a:pPr marL="0" indent="0">
              <a:buNone/>
            </a:pPr>
            <a:r>
              <a:rPr lang="en-US" b="1" dirty="0"/>
              <a:t>4 types of MAS:</a:t>
            </a:r>
          </a:p>
          <a:p>
            <a:pPr marL="514350" indent="-514350">
              <a:buAutoNum type="arabicPeriod"/>
            </a:pPr>
            <a:r>
              <a:rPr lang="en-US" b="1" dirty="0"/>
              <a:t>Network MAS: </a:t>
            </a:r>
            <a:r>
              <a:rPr lang="en-US" b="0" i="0" dirty="0">
                <a:effectLst/>
                <a:latin typeface="Helvetica Neue"/>
              </a:rPr>
              <a:t>multiple agents operate independently, each equipped with their own tools, and communicate by routing tasks among themselves. This architecture leverages collaboration and coordination between agents for solving complex problems.</a:t>
            </a:r>
          </a:p>
          <a:p>
            <a:pPr marL="0" indent="0">
              <a:buNone/>
            </a:pPr>
            <a:r>
              <a:rPr lang="en-US" b="0" i="0" dirty="0">
                <a:effectLst/>
                <a:latin typeface="Helvetica Neue"/>
              </a:rPr>
              <a:t>Framework like Swarm, </a:t>
            </a:r>
            <a:r>
              <a:rPr lang="en-US" b="0" i="0" dirty="0" err="1">
                <a:effectLst/>
                <a:latin typeface="Helvetica Neue"/>
              </a:rPr>
              <a:t>CrewAI</a:t>
            </a:r>
            <a:r>
              <a:rPr lang="en-US" b="0" i="0" dirty="0">
                <a:effectLst/>
                <a:latin typeface="Helvetica Neue"/>
              </a:rPr>
              <a:t>, </a:t>
            </a:r>
            <a:r>
              <a:rPr lang="en-US" b="0" i="0" dirty="0" err="1">
                <a:effectLst/>
                <a:latin typeface="Helvetica Neue"/>
              </a:rPr>
              <a:t>LangGraph</a:t>
            </a:r>
            <a:r>
              <a:rPr lang="en-US" b="0" i="0" dirty="0">
                <a:effectLst/>
                <a:latin typeface="Helvetica Neue"/>
              </a:rPr>
              <a:t> use this architecture.</a:t>
            </a:r>
          </a:p>
          <a:p>
            <a:pPr marL="0" indent="0">
              <a:buNone/>
            </a:pPr>
            <a:endParaRPr lang="en-US" dirty="0">
              <a:latin typeface="Helvetica Neue"/>
            </a:endParaRPr>
          </a:p>
          <a:p>
            <a:pPr marL="0" indent="0">
              <a:buNone/>
            </a:pPr>
            <a:r>
              <a:rPr lang="en-US" dirty="0">
                <a:latin typeface="Helvetica Neue"/>
              </a:rPr>
              <a:t>SA's communicate by determining the next agent in the sequence to handle a task. Routing decisions are made dynamically, based on the current task and agent capabilities.</a:t>
            </a:r>
          </a:p>
        </p:txBody>
      </p:sp>
      <p:pic>
        <p:nvPicPr>
          <p:cNvPr id="4" name="Picture 3">
            <a:extLst>
              <a:ext uri="{FF2B5EF4-FFF2-40B4-BE49-F238E27FC236}">
                <a16:creationId xmlns:a16="http://schemas.microsoft.com/office/drawing/2014/main" id="{3C85B217-0CB3-70CB-DF27-E4A9E1B0B8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51278" y="1609708"/>
            <a:ext cx="2712955" cy="2270957"/>
          </a:xfrm>
          <a:prstGeom prst="rect">
            <a:avLst/>
          </a:prstGeom>
        </p:spPr>
      </p:pic>
      <p:sp>
        <p:nvSpPr>
          <p:cNvPr id="9" name="Content Placeholder 4">
            <a:extLst>
              <a:ext uri="{FF2B5EF4-FFF2-40B4-BE49-F238E27FC236}">
                <a16:creationId xmlns:a16="http://schemas.microsoft.com/office/drawing/2014/main" id="{FE59196A-D447-6D38-FACB-B672FE032BD0}"/>
              </a:ext>
            </a:extLst>
          </p:cNvPr>
          <p:cNvSpPr txBox="1">
            <a:spLocks/>
          </p:cNvSpPr>
          <p:nvPr/>
        </p:nvSpPr>
        <p:spPr>
          <a:xfrm>
            <a:off x="310099" y="4309607"/>
            <a:ext cx="10853532" cy="21468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solidFill>
                  <a:schemeClr val="accent6">
                    <a:lumMod val="60000"/>
                    <a:lumOff val="40000"/>
                  </a:schemeClr>
                </a:solidFill>
                <a:latin typeface="Helvetica Neue"/>
              </a:rPr>
              <a:t>Advantage of network MAS</a:t>
            </a:r>
          </a:p>
          <a:p>
            <a:r>
              <a:rPr lang="en-US" sz="1800" dirty="0">
                <a:solidFill>
                  <a:schemeClr val="accent6">
                    <a:lumMod val="60000"/>
                    <a:lumOff val="40000"/>
                  </a:schemeClr>
                </a:solidFill>
                <a:latin typeface="Helvetica Neue"/>
              </a:rPr>
              <a:t>Decentralized Decision-Making: Agents can make independent decisions, reducing reliance on a single central controller.</a:t>
            </a:r>
          </a:p>
          <a:p>
            <a:r>
              <a:rPr lang="en-US" sz="1800" dirty="0">
                <a:solidFill>
                  <a:schemeClr val="accent6">
                    <a:lumMod val="60000"/>
                    <a:lumOff val="40000"/>
                  </a:schemeClr>
                </a:solidFill>
                <a:latin typeface="Helvetica Neue"/>
              </a:rPr>
              <a:t>Flexibility: The architecture can adapt dynamically to changing task requirements or agent capabilities.</a:t>
            </a:r>
          </a:p>
          <a:p>
            <a:r>
              <a:rPr lang="en-US" sz="1800" dirty="0">
                <a:solidFill>
                  <a:schemeClr val="accent6">
                    <a:lumMod val="60000"/>
                    <a:lumOff val="40000"/>
                  </a:schemeClr>
                </a:solidFill>
                <a:latin typeface="Helvetica Neue"/>
              </a:rPr>
              <a:t>Parallelism: Multiple agents can operate concurrently, improving system throughput for tasks that can be processed in parallel.</a:t>
            </a:r>
          </a:p>
          <a:p>
            <a:pPr marL="0" indent="0">
              <a:buFont typeface="Arial" panose="020B0604020202020204" pitchFamily="34" charset="0"/>
              <a:buNone/>
            </a:pPr>
            <a:endParaRPr lang="en-US" sz="1800" dirty="0">
              <a:solidFill>
                <a:schemeClr val="accent6">
                  <a:lumMod val="60000"/>
                  <a:lumOff val="40000"/>
                </a:schemeClr>
              </a:solidFill>
              <a:latin typeface="Helvetica Neue"/>
            </a:endParaRPr>
          </a:p>
        </p:txBody>
      </p:sp>
    </p:spTree>
    <p:extLst>
      <p:ext uri="{BB962C8B-B14F-4D97-AF65-F5344CB8AC3E}">
        <p14:creationId xmlns:p14="http://schemas.microsoft.com/office/powerpoint/2010/main" val="1499887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F4F98-23DB-F807-C2B0-B1F52A65E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C3F5A7-B7CE-DC0A-44E9-DAE13428C9B5}"/>
              </a:ext>
            </a:extLst>
          </p:cNvPr>
          <p:cNvSpPr>
            <a:spLocks noGrp="1"/>
          </p:cNvSpPr>
          <p:nvPr>
            <p:ph type="title"/>
          </p:nvPr>
        </p:nvSpPr>
        <p:spPr>
          <a:xfrm>
            <a:off x="838200" y="256068"/>
            <a:ext cx="10515600" cy="700277"/>
          </a:xfrm>
        </p:spPr>
        <p:txBody>
          <a:bodyPr/>
          <a:lstStyle/>
          <a:p>
            <a:r>
              <a:rPr lang="en-US" b="1" dirty="0"/>
              <a:t>Multi-Agent Systems Architecture(p6)</a:t>
            </a:r>
            <a:endParaRPr lang="en-US" dirty="0"/>
          </a:p>
        </p:txBody>
      </p:sp>
      <p:sp>
        <p:nvSpPr>
          <p:cNvPr id="5" name="Content Placeholder 4">
            <a:extLst>
              <a:ext uri="{FF2B5EF4-FFF2-40B4-BE49-F238E27FC236}">
                <a16:creationId xmlns:a16="http://schemas.microsoft.com/office/drawing/2014/main" id="{7AECEBBC-3956-0F6E-0371-B75F2AE28BAC}"/>
              </a:ext>
            </a:extLst>
          </p:cNvPr>
          <p:cNvSpPr>
            <a:spLocks noGrp="1"/>
          </p:cNvSpPr>
          <p:nvPr>
            <p:ph idx="1"/>
          </p:nvPr>
        </p:nvSpPr>
        <p:spPr>
          <a:xfrm>
            <a:off x="294198" y="1261079"/>
            <a:ext cx="9057080" cy="2923890"/>
          </a:xfrm>
        </p:spPr>
        <p:txBody>
          <a:bodyPr>
            <a:normAutofit fontScale="62500" lnSpcReduction="20000"/>
          </a:bodyPr>
          <a:lstStyle/>
          <a:p>
            <a:pPr marL="0" indent="0">
              <a:buNone/>
            </a:pPr>
            <a:r>
              <a:rPr lang="en-US" b="1" dirty="0">
                <a:latin typeface="Helvetica Neue"/>
              </a:rPr>
              <a:t>Disadvantages of Network MAS</a:t>
            </a:r>
          </a:p>
          <a:p>
            <a:r>
              <a:rPr lang="en-US" dirty="0">
                <a:latin typeface="Helvetica Neue"/>
              </a:rPr>
              <a:t>Loose Communication Patterns: Lack of strict control over how agents communicate leads to unpredictability. Agents may route tasks inefficiently, causing delays or redundant work.</a:t>
            </a:r>
          </a:p>
          <a:p>
            <a:r>
              <a:rPr lang="en-US" dirty="0">
                <a:latin typeface="Helvetica Neue"/>
              </a:rPr>
              <a:t>High Costs: Frequent communication between agents results in excessive LLM calls, increasing operational costs. Agents may unnecessarily route tasks back and forth, compounding expenses.</a:t>
            </a:r>
          </a:p>
          <a:p>
            <a:r>
              <a:rPr lang="en-US" dirty="0">
                <a:latin typeface="Helvetica Neue"/>
              </a:rPr>
              <a:t>Unreliability in Production: The decentralized nature makes debugging and error handling challenging. Inconsistent task routing can lead to failed workflows or incomplete results.</a:t>
            </a:r>
          </a:p>
          <a:p>
            <a:r>
              <a:rPr lang="en-US" dirty="0">
                <a:latin typeface="Helvetica Neue"/>
              </a:rPr>
              <a:t>Coordination Overhead: With no central control, maintaining coordination across agents requires complex protocols, adding computational overhead.</a:t>
            </a:r>
          </a:p>
        </p:txBody>
      </p:sp>
      <p:pic>
        <p:nvPicPr>
          <p:cNvPr id="3" name="Picture 2">
            <a:extLst>
              <a:ext uri="{FF2B5EF4-FFF2-40B4-BE49-F238E27FC236}">
                <a16:creationId xmlns:a16="http://schemas.microsoft.com/office/drawing/2014/main" id="{92632D47-B718-0653-068A-4D691D9934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51278" y="1609708"/>
            <a:ext cx="2712955" cy="2270957"/>
          </a:xfrm>
          <a:prstGeom prst="rect">
            <a:avLst/>
          </a:prstGeom>
        </p:spPr>
      </p:pic>
      <p:sp>
        <p:nvSpPr>
          <p:cNvPr id="4" name="Content Placeholder 4">
            <a:extLst>
              <a:ext uri="{FF2B5EF4-FFF2-40B4-BE49-F238E27FC236}">
                <a16:creationId xmlns:a16="http://schemas.microsoft.com/office/drawing/2014/main" id="{689A5FB4-1EF6-1D16-7B33-F74508F4AF37}"/>
              </a:ext>
            </a:extLst>
          </p:cNvPr>
          <p:cNvSpPr txBox="1">
            <a:spLocks/>
          </p:cNvSpPr>
          <p:nvPr/>
        </p:nvSpPr>
        <p:spPr>
          <a:xfrm>
            <a:off x="461175" y="4304234"/>
            <a:ext cx="11219291" cy="24726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b="1" dirty="0">
                <a:solidFill>
                  <a:schemeClr val="accent6">
                    <a:lumMod val="60000"/>
                    <a:lumOff val="40000"/>
                  </a:schemeClr>
                </a:solidFill>
                <a:latin typeface="Helvetica Neue"/>
              </a:rPr>
              <a:t>Practical Applications of N/w MAS</a:t>
            </a:r>
          </a:p>
          <a:p>
            <a:pPr marL="0" indent="0">
              <a:buFont typeface="Arial" panose="020B0604020202020204" pitchFamily="34" charset="0"/>
              <a:buNone/>
            </a:pPr>
            <a:r>
              <a:rPr lang="en-US" sz="1800" dirty="0">
                <a:solidFill>
                  <a:schemeClr val="accent6">
                    <a:lumMod val="60000"/>
                    <a:lumOff val="40000"/>
                  </a:schemeClr>
                </a:solidFill>
                <a:latin typeface="Helvetica Neue"/>
              </a:rPr>
              <a:t>While the network of agents architecture is rarely recommended for production due to its inefficiencies, it has niche applications in:</a:t>
            </a:r>
          </a:p>
          <a:p>
            <a:pPr marL="0" indent="0">
              <a:buFont typeface="Arial" panose="020B0604020202020204" pitchFamily="34" charset="0"/>
              <a:buNone/>
            </a:pPr>
            <a:r>
              <a:rPr lang="en-US" sz="1800" dirty="0">
                <a:solidFill>
                  <a:schemeClr val="accent6">
                    <a:lumMod val="60000"/>
                    <a:lumOff val="40000"/>
                  </a:schemeClr>
                </a:solidFill>
                <a:latin typeface="Helvetica Neue"/>
              </a:rPr>
              <a:t>- Exploratory Systems: Research prototypes or academic experiments where flexibility and dynamic task routing are prioritized over cost and reliability.</a:t>
            </a:r>
          </a:p>
          <a:p>
            <a:pPr marL="0" indent="0">
              <a:buFont typeface="Arial" panose="020B0604020202020204" pitchFamily="34" charset="0"/>
              <a:buNone/>
            </a:pPr>
            <a:r>
              <a:rPr lang="en-US" sz="1800" dirty="0">
                <a:solidFill>
                  <a:schemeClr val="accent6">
                    <a:lumMod val="60000"/>
                    <a:lumOff val="40000"/>
                  </a:schemeClr>
                </a:solidFill>
                <a:latin typeface="Helvetica Neue"/>
              </a:rPr>
              <a:t>- Distributed Problem Solving: Use cases like swarm intelligence, where decentralized agents simulate behaviors found in natural systems (e.g., ant colonies, bird flocks).</a:t>
            </a:r>
          </a:p>
        </p:txBody>
      </p:sp>
    </p:spTree>
    <p:extLst>
      <p:ext uri="{BB962C8B-B14F-4D97-AF65-F5344CB8AC3E}">
        <p14:creationId xmlns:p14="http://schemas.microsoft.com/office/powerpoint/2010/main" val="1226526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B0C53-D16E-3D2F-B425-DECE8A28A3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3F5CF-D922-9B40-C1C7-758959E7F089}"/>
              </a:ext>
            </a:extLst>
          </p:cNvPr>
          <p:cNvSpPr>
            <a:spLocks noGrp="1"/>
          </p:cNvSpPr>
          <p:nvPr>
            <p:ph type="title"/>
          </p:nvPr>
        </p:nvSpPr>
        <p:spPr>
          <a:xfrm>
            <a:off x="838200" y="256068"/>
            <a:ext cx="10515600" cy="700277"/>
          </a:xfrm>
        </p:spPr>
        <p:txBody>
          <a:bodyPr/>
          <a:lstStyle/>
          <a:p>
            <a:r>
              <a:rPr lang="en-US" b="1" dirty="0"/>
              <a:t>Multi-Agent Systems Architecture(p7)</a:t>
            </a:r>
            <a:endParaRPr lang="en-US" dirty="0"/>
          </a:p>
        </p:txBody>
      </p:sp>
      <p:sp>
        <p:nvSpPr>
          <p:cNvPr id="5" name="Content Placeholder 4">
            <a:extLst>
              <a:ext uri="{FF2B5EF4-FFF2-40B4-BE49-F238E27FC236}">
                <a16:creationId xmlns:a16="http://schemas.microsoft.com/office/drawing/2014/main" id="{610AE5BA-B8D2-B13A-BD40-669436033F1A}"/>
              </a:ext>
            </a:extLst>
          </p:cNvPr>
          <p:cNvSpPr>
            <a:spLocks noGrp="1"/>
          </p:cNvSpPr>
          <p:nvPr>
            <p:ph idx="1"/>
          </p:nvPr>
        </p:nvSpPr>
        <p:spPr>
          <a:xfrm>
            <a:off x="294197" y="956344"/>
            <a:ext cx="10089055" cy="5645587"/>
          </a:xfrm>
        </p:spPr>
        <p:txBody>
          <a:bodyPr>
            <a:normAutofit fontScale="62500" lnSpcReduction="20000"/>
          </a:bodyPr>
          <a:lstStyle/>
          <a:p>
            <a:pPr marL="0" indent="0">
              <a:buNone/>
            </a:pPr>
            <a:r>
              <a:rPr lang="en-US" sz="3800" dirty="0">
                <a:latin typeface="Helvetica Neue"/>
              </a:rPr>
              <a:t>2. </a:t>
            </a:r>
            <a:r>
              <a:rPr lang="en-US" sz="3800" b="1" dirty="0">
                <a:latin typeface="Helvetica Neue"/>
              </a:rPr>
              <a:t>S</a:t>
            </a:r>
            <a:r>
              <a:rPr lang="en-IN" sz="3800" b="1" i="0" dirty="0" err="1">
                <a:solidFill>
                  <a:srgbClr val="242424"/>
                </a:solidFill>
                <a:effectLst/>
                <a:latin typeface="sohne"/>
              </a:rPr>
              <a:t>upervisor</a:t>
            </a:r>
            <a:r>
              <a:rPr lang="en-IN" sz="3800" b="1" i="0" dirty="0">
                <a:solidFill>
                  <a:srgbClr val="242424"/>
                </a:solidFill>
                <a:effectLst/>
                <a:latin typeface="sohne"/>
              </a:rPr>
              <a:t> Agent</a:t>
            </a:r>
            <a:r>
              <a:rPr lang="en-IN" b="1" i="0" dirty="0">
                <a:solidFill>
                  <a:srgbClr val="242424"/>
                </a:solidFill>
                <a:effectLst/>
                <a:latin typeface="sohne"/>
              </a:rPr>
              <a:t> </a:t>
            </a:r>
          </a:p>
          <a:p>
            <a:pPr marL="0" indent="0">
              <a:buNone/>
            </a:pPr>
            <a:r>
              <a:rPr lang="en-US" b="1" dirty="0">
                <a:latin typeface="Helvetica Neue"/>
              </a:rPr>
              <a:t>How It Works</a:t>
            </a:r>
          </a:p>
          <a:p>
            <a:pPr marL="0" indent="0">
              <a:buNone/>
            </a:pPr>
            <a:r>
              <a:rPr lang="en-US" dirty="0">
                <a:latin typeface="Helvetica Neue"/>
              </a:rPr>
              <a:t>Supervisor Agent:</a:t>
            </a:r>
          </a:p>
          <a:p>
            <a:pPr marL="0" indent="0">
              <a:buNone/>
            </a:pPr>
            <a:r>
              <a:rPr lang="en-US" dirty="0">
                <a:latin typeface="Helvetica Neue"/>
              </a:rPr>
              <a:t>- Acts as the central controller.</a:t>
            </a:r>
          </a:p>
          <a:p>
            <a:pPr marL="0" indent="0">
              <a:buNone/>
            </a:pPr>
            <a:r>
              <a:rPr lang="en-US" dirty="0">
                <a:latin typeface="Helvetica Neue"/>
              </a:rPr>
              <a:t>- Decides which sub-agent should handle a specific task based on the task requirements.</a:t>
            </a:r>
          </a:p>
          <a:p>
            <a:pPr marL="0" indent="0">
              <a:buNone/>
            </a:pPr>
            <a:r>
              <a:rPr lang="en-US" dirty="0">
                <a:latin typeface="Helvetica Neue"/>
              </a:rPr>
              <a:t>- Manages the overall workflow and ensures the completion of tasks in a structured manner.</a:t>
            </a:r>
          </a:p>
          <a:p>
            <a:pPr marL="0" indent="0">
              <a:buNone/>
            </a:pPr>
            <a:endParaRPr lang="en-US" dirty="0">
              <a:latin typeface="Helvetica Neue"/>
            </a:endParaRPr>
          </a:p>
          <a:p>
            <a:pPr marL="0" indent="0">
              <a:buNone/>
            </a:pPr>
            <a:r>
              <a:rPr lang="en-US" dirty="0">
                <a:latin typeface="Helvetica Neue"/>
              </a:rPr>
              <a:t>Sub-Agents:</a:t>
            </a:r>
          </a:p>
          <a:p>
            <a:pPr marL="0" indent="0">
              <a:buNone/>
            </a:pPr>
            <a:r>
              <a:rPr lang="en-US" dirty="0">
                <a:latin typeface="Helvetica Neue"/>
              </a:rPr>
              <a:t>- Specialized agents with expertise in specific domains (e.g., data analysis, coding, content generation).</a:t>
            </a:r>
          </a:p>
          <a:p>
            <a:pPr marL="0" indent="0">
              <a:buNone/>
            </a:pPr>
            <a:r>
              <a:rPr lang="en-US" dirty="0">
                <a:latin typeface="Helvetica Neue"/>
              </a:rPr>
              <a:t>- Perform their tasks independently without worrying about routing or decision-making.</a:t>
            </a:r>
          </a:p>
          <a:p>
            <a:pPr marL="0" indent="0">
              <a:buNone/>
            </a:pPr>
            <a:endParaRPr lang="en-US" dirty="0">
              <a:latin typeface="Helvetica Neue"/>
            </a:endParaRPr>
          </a:p>
          <a:p>
            <a:pPr marL="0" indent="0">
              <a:buNone/>
            </a:pPr>
            <a:r>
              <a:rPr lang="en-US" dirty="0">
                <a:latin typeface="Helvetica Neue"/>
              </a:rPr>
              <a:t>Communication Flow:</a:t>
            </a:r>
          </a:p>
          <a:p>
            <a:pPr marL="0" indent="0">
              <a:buNone/>
            </a:pPr>
            <a:r>
              <a:rPr lang="en-US" dirty="0">
                <a:latin typeface="Helvetica Neue"/>
              </a:rPr>
              <a:t>- The supervisor receives a task, analyzes it, and routes it to the appropriate sub-agent.</a:t>
            </a:r>
          </a:p>
          <a:p>
            <a:pPr marL="0" indent="0">
              <a:buNone/>
            </a:pPr>
            <a:r>
              <a:rPr lang="en-US" dirty="0">
                <a:latin typeface="Helvetica Neue"/>
              </a:rPr>
              <a:t>- The sub-agent processes the task and returns results to the supervisor, which then decides the next steps.</a:t>
            </a:r>
          </a:p>
          <a:p>
            <a:pPr marL="0" indent="0">
              <a:buNone/>
            </a:pPr>
            <a:endParaRPr lang="en-US" dirty="0">
              <a:latin typeface="Helvetica Neue"/>
            </a:endParaRPr>
          </a:p>
        </p:txBody>
      </p:sp>
      <p:pic>
        <p:nvPicPr>
          <p:cNvPr id="3" name="Picture 2">
            <a:extLst>
              <a:ext uri="{FF2B5EF4-FFF2-40B4-BE49-F238E27FC236}">
                <a16:creationId xmlns:a16="http://schemas.microsoft.com/office/drawing/2014/main" id="{CE298F75-D1E7-B2E6-DB93-6C88E528E2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3405458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A17B8-5AD8-6458-CC7C-0781E3B353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CE3EE-0A80-A054-E568-2299D1779773}"/>
              </a:ext>
            </a:extLst>
          </p:cNvPr>
          <p:cNvSpPr>
            <a:spLocks noGrp="1"/>
          </p:cNvSpPr>
          <p:nvPr>
            <p:ph type="title"/>
          </p:nvPr>
        </p:nvSpPr>
        <p:spPr>
          <a:xfrm>
            <a:off x="838200" y="256068"/>
            <a:ext cx="10515600" cy="700277"/>
          </a:xfrm>
        </p:spPr>
        <p:txBody>
          <a:bodyPr/>
          <a:lstStyle/>
          <a:p>
            <a:r>
              <a:rPr lang="en-US" b="1" dirty="0"/>
              <a:t>Multi-Agent Systems Architecture(p8)</a:t>
            </a:r>
            <a:endParaRPr lang="en-US" dirty="0"/>
          </a:p>
        </p:txBody>
      </p:sp>
      <p:sp>
        <p:nvSpPr>
          <p:cNvPr id="5" name="Content Placeholder 4">
            <a:extLst>
              <a:ext uri="{FF2B5EF4-FFF2-40B4-BE49-F238E27FC236}">
                <a16:creationId xmlns:a16="http://schemas.microsoft.com/office/drawing/2014/main" id="{85391171-0C2E-29E2-F285-BF3D802A7372}"/>
              </a:ext>
            </a:extLst>
          </p:cNvPr>
          <p:cNvSpPr>
            <a:spLocks noGrp="1"/>
          </p:cNvSpPr>
          <p:nvPr>
            <p:ph idx="1"/>
          </p:nvPr>
        </p:nvSpPr>
        <p:spPr>
          <a:xfrm>
            <a:off x="294197" y="956344"/>
            <a:ext cx="10185308" cy="4734593"/>
          </a:xfrm>
        </p:spPr>
        <p:txBody>
          <a:bodyPr>
            <a:normAutofit fontScale="47500" lnSpcReduction="20000"/>
          </a:bodyPr>
          <a:lstStyle/>
          <a:p>
            <a:pPr marL="0" indent="0">
              <a:buNone/>
            </a:pPr>
            <a:r>
              <a:rPr lang="en-US" sz="3800" b="1" dirty="0">
                <a:latin typeface="Helvetica Neue"/>
              </a:rPr>
              <a:t>Advantages of Supervisor MAS</a:t>
            </a:r>
          </a:p>
          <a:p>
            <a:pPr marL="0" indent="0">
              <a:buNone/>
            </a:pPr>
            <a:endParaRPr lang="en-US" sz="3800" dirty="0">
              <a:latin typeface="Helvetica Neue"/>
            </a:endParaRPr>
          </a:p>
          <a:p>
            <a:pPr marL="0" indent="0">
              <a:buNone/>
            </a:pPr>
            <a:r>
              <a:rPr lang="en-US" sz="3800" dirty="0">
                <a:latin typeface="Helvetica Neue"/>
              </a:rPr>
              <a:t>a) Simplified Sub-Agent Roles: Sub-agents focus exclusively on their tasks, without needing to handle routing or inter-agent communication. This improves their efficiency and accuracy.</a:t>
            </a:r>
          </a:p>
          <a:p>
            <a:pPr marL="0" indent="0">
              <a:buNone/>
            </a:pPr>
            <a:endParaRPr lang="en-US" sz="3800" dirty="0">
              <a:latin typeface="Helvetica Neue"/>
            </a:endParaRPr>
          </a:p>
          <a:p>
            <a:pPr marL="0" indent="0">
              <a:buNone/>
            </a:pPr>
            <a:r>
              <a:rPr lang="en-US" sz="3800" dirty="0">
                <a:latin typeface="Helvetica Neue"/>
              </a:rPr>
              <a:t>b) Centralized Control:</a:t>
            </a:r>
          </a:p>
          <a:p>
            <a:pPr marL="0" indent="0">
              <a:buNone/>
            </a:pPr>
            <a:r>
              <a:rPr lang="en-US" sz="3800" dirty="0">
                <a:latin typeface="Helvetica Neue"/>
              </a:rPr>
              <a:t>The supervisor ensures that tasks are executed in the correct sequence, reducing errors caused by miscommunication.</a:t>
            </a:r>
          </a:p>
          <a:p>
            <a:pPr marL="0" indent="0">
              <a:buNone/>
            </a:pPr>
            <a:r>
              <a:rPr lang="en-US" sz="3800" dirty="0">
                <a:latin typeface="Helvetica Neue"/>
              </a:rPr>
              <a:t>It provides a clear view of the overall workflow, making it easier to debug and maintain.</a:t>
            </a:r>
          </a:p>
          <a:p>
            <a:pPr marL="0" indent="0">
              <a:buNone/>
            </a:pPr>
            <a:endParaRPr lang="en-US" sz="3800" dirty="0">
              <a:latin typeface="Helvetica Neue"/>
            </a:endParaRPr>
          </a:p>
          <a:p>
            <a:pPr marL="0" indent="0">
              <a:buNone/>
            </a:pPr>
            <a:r>
              <a:rPr lang="en-US" sz="3800" dirty="0">
                <a:latin typeface="Helvetica Neue"/>
              </a:rPr>
              <a:t>c) Scalability:</a:t>
            </a:r>
          </a:p>
          <a:p>
            <a:pPr marL="0" indent="0">
              <a:buNone/>
            </a:pPr>
            <a:r>
              <a:rPr lang="en-US" sz="3800" dirty="0">
                <a:latin typeface="Helvetica Neue"/>
              </a:rPr>
              <a:t>New sub-agents can be added to the system without disrupting the existing architecture.</a:t>
            </a:r>
          </a:p>
          <a:p>
            <a:pPr marL="0" indent="0">
              <a:buNone/>
            </a:pPr>
            <a:r>
              <a:rPr lang="en-US" sz="3800" dirty="0">
                <a:latin typeface="Helvetica Neue"/>
              </a:rPr>
              <a:t>The supervisor can dynamically allocate tasks to the most suitable agent.</a:t>
            </a:r>
          </a:p>
          <a:p>
            <a:pPr marL="0" indent="0">
              <a:buNone/>
            </a:pPr>
            <a:endParaRPr lang="en-US" sz="3800" dirty="0">
              <a:latin typeface="Helvetica Neue"/>
            </a:endParaRPr>
          </a:p>
          <a:p>
            <a:pPr marL="0" indent="0">
              <a:buNone/>
            </a:pPr>
            <a:r>
              <a:rPr lang="en-US" sz="3800" dirty="0">
                <a:latin typeface="Helvetica Neue"/>
              </a:rPr>
              <a:t>d) Improved Resource Management: The supervisor optimizes task routing to minimize redundant LLM calls and computational overhead.</a:t>
            </a:r>
          </a:p>
        </p:txBody>
      </p:sp>
      <p:pic>
        <p:nvPicPr>
          <p:cNvPr id="3" name="Picture 2">
            <a:extLst>
              <a:ext uri="{FF2B5EF4-FFF2-40B4-BE49-F238E27FC236}">
                <a16:creationId xmlns:a16="http://schemas.microsoft.com/office/drawing/2014/main" id="{A3B31C21-A508-82D5-A734-1BEA96BEB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3572143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8B4AB-7FAE-AD84-4BB6-1B032C0E9C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C7630-A104-D30E-7D33-06D028779B5F}"/>
              </a:ext>
            </a:extLst>
          </p:cNvPr>
          <p:cNvSpPr>
            <a:spLocks noGrp="1"/>
          </p:cNvSpPr>
          <p:nvPr>
            <p:ph type="title"/>
          </p:nvPr>
        </p:nvSpPr>
        <p:spPr>
          <a:xfrm>
            <a:off x="838200" y="256068"/>
            <a:ext cx="10515600" cy="700277"/>
          </a:xfrm>
        </p:spPr>
        <p:txBody>
          <a:bodyPr/>
          <a:lstStyle/>
          <a:p>
            <a:r>
              <a:rPr lang="en-US" b="1" dirty="0"/>
              <a:t>Multi-Agent Systems Architecture(p9)</a:t>
            </a:r>
            <a:endParaRPr lang="en-US" dirty="0"/>
          </a:p>
        </p:txBody>
      </p:sp>
      <p:sp>
        <p:nvSpPr>
          <p:cNvPr id="5" name="Content Placeholder 4">
            <a:extLst>
              <a:ext uri="{FF2B5EF4-FFF2-40B4-BE49-F238E27FC236}">
                <a16:creationId xmlns:a16="http://schemas.microsoft.com/office/drawing/2014/main" id="{308B728E-F6E6-8547-686A-BEAB4BBD7A6A}"/>
              </a:ext>
            </a:extLst>
          </p:cNvPr>
          <p:cNvSpPr>
            <a:spLocks noGrp="1"/>
          </p:cNvSpPr>
          <p:nvPr>
            <p:ph idx="1"/>
          </p:nvPr>
        </p:nvSpPr>
        <p:spPr>
          <a:xfrm>
            <a:off x="294196" y="956344"/>
            <a:ext cx="10515599" cy="5372267"/>
          </a:xfrm>
        </p:spPr>
        <p:txBody>
          <a:bodyPr>
            <a:normAutofit fontScale="55000" lnSpcReduction="20000"/>
          </a:bodyPr>
          <a:lstStyle/>
          <a:p>
            <a:pPr marL="0" indent="0">
              <a:buNone/>
            </a:pPr>
            <a:r>
              <a:rPr lang="en-US" sz="3800" b="1" dirty="0">
                <a:latin typeface="Helvetica Neue"/>
              </a:rPr>
              <a:t>Challenges of supervisor MAS</a:t>
            </a:r>
          </a:p>
          <a:p>
            <a:pPr marL="0" indent="0">
              <a:buNone/>
            </a:pPr>
            <a:endParaRPr lang="en-US" sz="3800" dirty="0">
              <a:latin typeface="Helvetica Neue"/>
            </a:endParaRPr>
          </a:p>
          <a:p>
            <a:pPr marL="0" indent="0">
              <a:buNone/>
            </a:pPr>
            <a:r>
              <a:rPr lang="en-US" sz="3800" dirty="0">
                <a:latin typeface="Helvetica Neue"/>
              </a:rPr>
              <a:t>Supervisor Bottleneck:</a:t>
            </a:r>
          </a:p>
          <a:p>
            <a:pPr marL="0" indent="0">
              <a:buNone/>
            </a:pPr>
            <a:r>
              <a:rPr lang="en-US" sz="3800" dirty="0">
                <a:latin typeface="Helvetica Neue"/>
              </a:rPr>
              <a:t>If the supervisor becomes overloaded with too many tasks or too much decision-making, it can slow down the entire system.</a:t>
            </a:r>
          </a:p>
          <a:p>
            <a:pPr marL="0" indent="0">
              <a:buNone/>
            </a:pPr>
            <a:r>
              <a:rPr lang="en-US" sz="3800" dirty="0">
                <a:latin typeface="Helvetica Neue"/>
              </a:rPr>
              <a:t>Mitigation: Using a hierarchical approach where supervisors manage groups of sub-agents.</a:t>
            </a:r>
          </a:p>
          <a:p>
            <a:pPr marL="0" indent="0">
              <a:buNone/>
            </a:pPr>
            <a:endParaRPr lang="en-US" sz="3800" dirty="0">
              <a:latin typeface="Helvetica Neue"/>
            </a:endParaRPr>
          </a:p>
          <a:p>
            <a:pPr marL="0" indent="0">
              <a:buNone/>
            </a:pPr>
            <a:r>
              <a:rPr lang="en-US" sz="3800" dirty="0">
                <a:latin typeface="Helvetica Neue"/>
              </a:rPr>
              <a:t>Complex Supervisor Logic:</a:t>
            </a:r>
          </a:p>
          <a:p>
            <a:pPr marL="0" indent="0">
              <a:buNone/>
            </a:pPr>
            <a:r>
              <a:rPr lang="en-US" sz="3800" dirty="0">
                <a:latin typeface="Helvetica Neue"/>
              </a:rPr>
              <a:t>Designing the supervisor’s task-routing logic can become complex, especially in dynamic environments with many sub-agents.</a:t>
            </a:r>
          </a:p>
          <a:p>
            <a:pPr marL="0" indent="0">
              <a:buNone/>
            </a:pPr>
            <a:endParaRPr lang="en-US" sz="3800" dirty="0">
              <a:latin typeface="Helvetica Neue"/>
            </a:endParaRPr>
          </a:p>
          <a:p>
            <a:pPr marL="0" indent="0">
              <a:buNone/>
            </a:pPr>
            <a:r>
              <a:rPr lang="en-US" sz="3800" dirty="0">
                <a:latin typeface="Helvetica Neue"/>
              </a:rPr>
              <a:t>Single Point of Failure:</a:t>
            </a:r>
          </a:p>
          <a:p>
            <a:pPr marL="0" indent="0">
              <a:buNone/>
            </a:pPr>
            <a:r>
              <a:rPr lang="en-US" sz="3800" dirty="0">
                <a:latin typeface="Helvetica Neue"/>
              </a:rPr>
              <a:t>The system’s functionality heavily depends on the supervisor. If it fails, the entire workflow is disrupted.</a:t>
            </a:r>
          </a:p>
          <a:p>
            <a:pPr marL="0" indent="0">
              <a:buNone/>
            </a:pPr>
            <a:r>
              <a:rPr lang="en-US" sz="3800" dirty="0">
                <a:latin typeface="Helvetica Neue"/>
              </a:rPr>
              <a:t>Mitigation: Implementing redundancy or fallback mechanisms.</a:t>
            </a:r>
          </a:p>
        </p:txBody>
      </p:sp>
      <p:pic>
        <p:nvPicPr>
          <p:cNvPr id="3" name="Picture 2">
            <a:extLst>
              <a:ext uri="{FF2B5EF4-FFF2-40B4-BE49-F238E27FC236}">
                <a16:creationId xmlns:a16="http://schemas.microsoft.com/office/drawing/2014/main" id="{886B1A9D-9791-2614-5459-D4A58879E7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1772080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49B49-E779-B0EE-3EB6-0F0A96915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69C70-19D2-FC2F-85F8-216CC66E24BD}"/>
              </a:ext>
            </a:extLst>
          </p:cNvPr>
          <p:cNvSpPr>
            <a:spLocks noGrp="1"/>
          </p:cNvSpPr>
          <p:nvPr>
            <p:ph type="title"/>
          </p:nvPr>
        </p:nvSpPr>
        <p:spPr>
          <a:xfrm>
            <a:off x="838200" y="256068"/>
            <a:ext cx="10515600" cy="700277"/>
          </a:xfrm>
        </p:spPr>
        <p:txBody>
          <a:bodyPr/>
          <a:lstStyle/>
          <a:p>
            <a:r>
              <a:rPr lang="en-US" b="1" dirty="0"/>
              <a:t>Multi-Agent Systems Architecture(p10)</a:t>
            </a:r>
            <a:endParaRPr lang="en-US" dirty="0"/>
          </a:p>
        </p:txBody>
      </p:sp>
      <p:sp>
        <p:nvSpPr>
          <p:cNvPr id="5" name="Content Placeholder 4">
            <a:extLst>
              <a:ext uri="{FF2B5EF4-FFF2-40B4-BE49-F238E27FC236}">
                <a16:creationId xmlns:a16="http://schemas.microsoft.com/office/drawing/2014/main" id="{2C602BCC-21AB-28D7-A13B-C8345EBD94E8}"/>
              </a:ext>
            </a:extLst>
          </p:cNvPr>
          <p:cNvSpPr>
            <a:spLocks noGrp="1"/>
          </p:cNvSpPr>
          <p:nvPr>
            <p:ph idx="1"/>
          </p:nvPr>
        </p:nvSpPr>
        <p:spPr>
          <a:xfrm>
            <a:off x="294197" y="956344"/>
            <a:ext cx="10113120" cy="5372267"/>
          </a:xfrm>
        </p:spPr>
        <p:txBody>
          <a:bodyPr>
            <a:normAutofit fontScale="85000" lnSpcReduction="20000"/>
          </a:bodyPr>
          <a:lstStyle/>
          <a:p>
            <a:pPr marL="0" indent="0">
              <a:buNone/>
            </a:pPr>
            <a:r>
              <a:rPr lang="en-US" sz="3800" b="1" dirty="0">
                <a:latin typeface="Helvetica Neue"/>
              </a:rPr>
              <a:t>Example Use Case of supervisor MAS</a:t>
            </a:r>
          </a:p>
          <a:p>
            <a:pPr marL="0" indent="0">
              <a:buNone/>
            </a:pPr>
            <a:endParaRPr lang="en-US" sz="3800" dirty="0">
              <a:latin typeface="Helvetica Neue"/>
            </a:endParaRPr>
          </a:p>
          <a:p>
            <a:pPr marL="0" indent="0">
              <a:buNone/>
            </a:pPr>
            <a:r>
              <a:rPr lang="en-US" sz="3800" dirty="0">
                <a:latin typeface="Helvetica Neue"/>
              </a:rPr>
              <a:t>A company develops an AI-powered business assistant:</a:t>
            </a:r>
          </a:p>
          <a:p>
            <a:pPr marL="0" indent="0">
              <a:buNone/>
            </a:pPr>
            <a:r>
              <a:rPr lang="en-US" sz="3800" dirty="0">
                <a:latin typeface="Helvetica Neue"/>
              </a:rPr>
              <a:t>1. The supervisor agent handles user requests and delegates them to sub-agents. Example: A user asks for a project timeline and budget analysis.</a:t>
            </a:r>
          </a:p>
          <a:p>
            <a:pPr marL="0" indent="0">
              <a:buNone/>
            </a:pPr>
            <a:r>
              <a:rPr lang="en-US" sz="3800" dirty="0">
                <a:latin typeface="Helvetica Neue"/>
              </a:rPr>
              <a:t>2. Sub-agent 1 (Planner) creates the project timeline.</a:t>
            </a:r>
          </a:p>
          <a:p>
            <a:pPr marL="0" indent="0">
              <a:buNone/>
            </a:pPr>
            <a:r>
              <a:rPr lang="en-US" sz="3800" dirty="0">
                <a:latin typeface="Helvetica Neue"/>
              </a:rPr>
              <a:t>3. Sub-agent 2 (Finance Expert) performs budget analysis.</a:t>
            </a:r>
          </a:p>
          <a:p>
            <a:pPr marL="0" indent="0">
              <a:buNone/>
            </a:pPr>
            <a:r>
              <a:rPr lang="en-US" sz="3800" dirty="0">
                <a:latin typeface="Helvetica Neue"/>
              </a:rPr>
              <a:t>4. Results are returned to the supervisor, which consolidates and delivers the final output to the user.</a:t>
            </a:r>
          </a:p>
          <a:p>
            <a:pPr marL="0" indent="0">
              <a:buNone/>
            </a:pPr>
            <a:endParaRPr lang="en-US" sz="3800" dirty="0">
              <a:latin typeface="Helvetica Neue"/>
            </a:endParaRPr>
          </a:p>
        </p:txBody>
      </p:sp>
      <p:pic>
        <p:nvPicPr>
          <p:cNvPr id="3" name="Picture 2">
            <a:extLst>
              <a:ext uri="{FF2B5EF4-FFF2-40B4-BE49-F238E27FC236}">
                <a16:creationId xmlns:a16="http://schemas.microsoft.com/office/drawing/2014/main" id="{453C7378-F975-4093-E86C-2235A9B8F6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49385" y="895522"/>
            <a:ext cx="1798476" cy="2149026"/>
          </a:xfrm>
          <a:prstGeom prst="rect">
            <a:avLst/>
          </a:prstGeom>
        </p:spPr>
      </p:pic>
    </p:spTree>
    <p:extLst>
      <p:ext uri="{BB962C8B-B14F-4D97-AF65-F5344CB8AC3E}">
        <p14:creationId xmlns:p14="http://schemas.microsoft.com/office/powerpoint/2010/main" val="3335107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1E656-A1DB-6057-6662-781ADC271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E4EFA8-1161-9725-E041-FB8B78765B57}"/>
              </a:ext>
            </a:extLst>
          </p:cNvPr>
          <p:cNvSpPr>
            <a:spLocks noGrp="1"/>
          </p:cNvSpPr>
          <p:nvPr>
            <p:ph type="title"/>
          </p:nvPr>
        </p:nvSpPr>
        <p:spPr>
          <a:xfrm>
            <a:off x="838200" y="256068"/>
            <a:ext cx="10515600" cy="700277"/>
          </a:xfrm>
        </p:spPr>
        <p:txBody>
          <a:bodyPr/>
          <a:lstStyle/>
          <a:p>
            <a:r>
              <a:rPr lang="en-US" b="1" dirty="0"/>
              <a:t>Multi-Agent Systems Architecture(p11)</a:t>
            </a:r>
            <a:endParaRPr lang="en-US" dirty="0"/>
          </a:p>
        </p:txBody>
      </p:sp>
      <p:sp>
        <p:nvSpPr>
          <p:cNvPr id="5" name="Content Placeholder 4">
            <a:extLst>
              <a:ext uri="{FF2B5EF4-FFF2-40B4-BE49-F238E27FC236}">
                <a16:creationId xmlns:a16="http://schemas.microsoft.com/office/drawing/2014/main" id="{CDE71B14-C4EB-C119-D0B1-EA41DA729E06}"/>
              </a:ext>
            </a:extLst>
          </p:cNvPr>
          <p:cNvSpPr>
            <a:spLocks noGrp="1"/>
          </p:cNvSpPr>
          <p:nvPr>
            <p:ph idx="1"/>
          </p:nvPr>
        </p:nvSpPr>
        <p:spPr>
          <a:xfrm>
            <a:off x="294196" y="956345"/>
            <a:ext cx="11725351" cy="3338930"/>
          </a:xfrm>
        </p:spPr>
        <p:txBody>
          <a:bodyPr>
            <a:normAutofit fontScale="62500" lnSpcReduction="20000"/>
          </a:bodyPr>
          <a:lstStyle/>
          <a:p>
            <a:pPr marL="0" indent="0">
              <a:buNone/>
            </a:pPr>
            <a:r>
              <a:rPr lang="en-US" sz="3800" b="1" dirty="0">
                <a:latin typeface="Helvetica Neue"/>
              </a:rPr>
              <a:t>Example Use Case of supervisor MAS: </a:t>
            </a:r>
            <a:r>
              <a:rPr lang="en-US" sz="2800" b="0" i="0" dirty="0">
                <a:solidFill>
                  <a:srgbClr val="555555"/>
                </a:solidFill>
                <a:effectLst/>
                <a:latin typeface="Helvetica Neue"/>
              </a:rPr>
              <a:t>MAS to generate a report on a specific topic we want</a:t>
            </a:r>
          </a:p>
          <a:p>
            <a:pPr marL="0" indent="0" algn="l" fontAlgn="base">
              <a:buNone/>
            </a:pPr>
            <a:r>
              <a:rPr lang="en-US" sz="2800" b="0" dirty="0">
                <a:solidFill>
                  <a:srgbClr val="555555"/>
                </a:solidFill>
                <a:effectLst/>
                <a:latin typeface="Helvetica Neue"/>
              </a:rPr>
              <a:t>The structure detail is simple; we will have four specialized agents:</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Web researcher agent</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Trend analyst agent</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Report writer agent</a:t>
            </a:r>
          </a:p>
          <a:p>
            <a:pPr algn="l" fontAlgn="base">
              <a:spcAft>
                <a:spcPts val="1125"/>
              </a:spcAft>
              <a:buFont typeface="+mj-lt"/>
              <a:buAutoNum type="arabicPeriod"/>
            </a:pPr>
            <a:r>
              <a:rPr lang="en-US" sz="2800" b="0" i="0" dirty="0">
                <a:solidFill>
                  <a:srgbClr val="404040"/>
                </a:solidFill>
                <a:effectLst/>
                <a:latin typeface="Arial" panose="020B0604020202020204" pitchFamily="34" charset="0"/>
              </a:rPr>
              <a:t>Proofreader agent</a:t>
            </a:r>
          </a:p>
          <a:p>
            <a:pPr marL="0" indent="0" algn="l" fontAlgn="base">
              <a:buNone/>
            </a:pPr>
            <a:r>
              <a:rPr lang="en-US" sz="2800" b="0" dirty="0">
                <a:solidFill>
                  <a:srgbClr val="555555"/>
                </a:solidFill>
                <a:effectLst/>
                <a:latin typeface="Helvetica Neue"/>
              </a:rPr>
              <a:t>The manager agent supervises all of these agents which only perform their tasks if directed. Additionally, the web researcher agent has access to the web search tool to access the internet to research the intended topic.</a:t>
            </a:r>
          </a:p>
          <a:p>
            <a:pPr marL="0" indent="0">
              <a:buNone/>
            </a:pPr>
            <a:endParaRPr lang="en-US" sz="3800" dirty="0">
              <a:latin typeface="Helvetica Neue"/>
            </a:endParaRPr>
          </a:p>
        </p:txBody>
      </p:sp>
      <p:pic>
        <p:nvPicPr>
          <p:cNvPr id="6" name="Picture 5">
            <a:extLst>
              <a:ext uri="{FF2B5EF4-FFF2-40B4-BE49-F238E27FC236}">
                <a16:creationId xmlns:a16="http://schemas.microsoft.com/office/drawing/2014/main" id="{88DB2C31-E135-EFCA-14D1-E35E62E5A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3577" y="4295275"/>
            <a:ext cx="8950455" cy="2406323"/>
          </a:xfrm>
          <a:prstGeom prst="rect">
            <a:avLst/>
          </a:prstGeom>
        </p:spPr>
      </p:pic>
    </p:spTree>
    <p:extLst>
      <p:ext uri="{BB962C8B-B14F-4D97-AF65-F5344CB8AC3E}">
        <p14:creationId xmlns:p14="http://schemas.microsoft.com/office/powerpoint/2010/main" val="2559069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FEB13-27AD-EC4D-0218-4459FF84B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7CFFE-67C8-3790-B93A-813A66E0254B}"/>
              </a:ext>
            </a:extLst>
          </p:cNvPr>
          <p:cNvSpPr>
            <a:spLocks noGrp="1"/>
          </p:cNvSpPr>
          <p:nvPr>
            <p:ph type="title"/>
          </p:nvPr>
        </p:nvSpPr>
        <p:spPr>
          <a:xfrm>
            <a:off x="838200" y="256068"/>
            <a:ext cx="10515600" cy="700277"/>
          </a:xfrm>
        </p:spPr>
        <p:txBody>
          <a:bodyPr/>
          <a:lstStyle/>
          <a:p>
            <a:r>
              <a:rPr lang="en-US" b="1" dirty="0"/>
              <a:t>Multi-Agent Systems Architecture(p12)</a:t>
            </a:r>
            <a:endParaRPr lang="en-US" dirty="0"/>
          </a:p>
        </p:txBody>
      </p:sp>
      <p:sp>
        <p:nvSpPr>
          <p:cNvPr id="5" name="Content Placeholder 4">
            <a:extLst>
              <a:ext uri="{FF2B5EF4-FFF2-40B4-BE49-F238E27FC236}">
                <a16:creationId xmlns:a16="http://schemas.microsoft.com/office/drawing/2014/main" id="{A0AB5444-E12D-7C20-1392-F8CE2897E373}"/>
              </a:ext>
            </a:extLst>
          </p:cNvPr>
          <p:cNvSpPr>
            <a:spLocks noGrp="1"/>
          </p:cNvSpPr>
          <p:nvPr>
            <p:ph idx="1"/>
          </p:nvPr>
        </p:nvSpPr>
        <p:spPr>
          <a:xfrm>
            <a:off x="294197" y="956344"/>
            <a:ext cx="10642508" cy="5645588"/>
          </a:xfrm>
        </p:spPr>
        <p:txBody>
          <a:bodyPr>
            <a:noAutofit/>
          </a:bodyPr>
          <a:lstStyle/>
          <a:p>
            <a:pPr marL="0" indent="0">
              <a:buNone/>
            </a:pPr>
            <a:r>
              <a:rPr lang="en-US" sz="1600" b="1" dirty="0">
                <a:latin typeface="Helvetica Neue"/>
              </a:rPr>
              <a:t>3. Hierarchical MAS</a:t>
            </a:r>
          </a:p>
          <a:p>
            <a:pPr marL="0" indent="0">
              <a:buNone/>
            </a:pPr>
            <a:r>
              <a:rPr lang="en-US" sz="1600" b="1" dirty="0">
                <a:latin typeface="Helvetica Neue"/>
              </a:rPr>
              <a:t>How It Works</a:t>
            </a:r>
          </a:p>
          <a:p>
            <a:pPr marL="0" indent="0">
              <a:buNone/>
            </a:pPr>
            <a:r>
              <a:rPr lang="en-US" sz="1600" dirty="0">
                <a:latin typeface="Helvetica Neue"/>
              </a:rPr>
              <a:t>Layered Supervision:</a:t>
            </a:r>
          </a:p>
          <a:p>
            <a:pPr marL="0" indent="0">
              <a:buNone/>
            </a:pPr>
            <a:r>
              <a:rPr lang="en-US" sz="1600" dirty="0">
                <a:latin typeface="Helvetica Neue"/>
              </a:rPr>
              <a:t>A top-level supervisor agent manages high-level tasks and delegates them to mid-level supervisor agents. These mid-level supervisors handle specific groups of sub-agents, each specializing in distinct domains or tasks.</a:t>
            </a:r>
          </a:p>
          <a:p>
            <a:pPr marL="0" indent="0">
              <a:buNone/>
            </a:pPr>
            <a:endParaRPr lang="en-US" sz="1600" dirty="0">
              <a:latin typeface="Helvetica Neue"/>
            </a:endParaRPr>
          </a:p>
          <a:p>
            <a:pPr marL="0" indent="0">
              <a:buNone/>
            </a:pPr>
            <a:r>
              <a:rPr lang="en-US" sz="1600" dirty="0">
                <a:latin typeface="Helvetica Neue"/>
              </a:rPr>
              <a:t>Sub-Agents:</a:t>
            </a:r>
          </a:p>
          <a:p>
            <a:pPr marL="0" indent="0">
              <a:buNone/>
            </a:pPr>
            <a:r>
              <a:rPr lang="en-US" sz="1600" dirty="0">
                <a:latin typeface="Helvetica Neue"/>
              </a:rPr>
              <a:t> Operate at the lowest level, performing specific tasks based on instructions from their respective supervisors.  Sub-agents focus solely on execution, leaving routing and decision-making to their assigned supervisors.</a:t>
            </a:r>
          </a:p>
          <a:p>
            <a:pPr marL="0" indent="0">
              <a:buNone/>
            </a:pPr>
            <a:endParaRPr lang="en-US" sz="1600" dirty="0">
              <a:latin typeface="Helvetica Neue"/>
            </a:endParaRPr>
          </a:p>
          <a:p>
            <a:pPr marL="0" indent="0">
              <a:buNone/>
            </a:pPr>
            <a:r>
              <a:rPr lang="en-US" sz="1600" dirty="0">
                <a:latin typeface="Helvetica Neue"/>
              </a:rPr>
              <a:t>Task Flow:</a:t>
            </a:r>
          </a:p>
          <a:p>
            <a:pPr marL="0" indent="0">
              <a:buNone/>
            </a:pPr>
            <a:r>
              <a:rPr lang="en-US" sz="1600" dirty="0">
                <a:latin typeface="Helvetica Neue"/>
              </a:rPr>
              <a:t>- Tasks are broken down at each hierarchical level. The top-level supervisor divides a large task into manageable subtasks. Mid-level supervisors further refine and distribute these subtasks to sub-agents.</a:t>
            </a:r>
          </a:p>
          <a:p>
            <a:pPr marL="0" indent="0">
              <a:buNone/>
            </a:pPr>
            <a:endParaRPr lang="en-US" sz="1600" dirty="0">
              <a:latin typeface="Helvetica Neue"/>
            </a:endParaRPr>
          </a:p>
          <a:p>
            <a:pPr marL="0" indent="0">
              <a:buNone/>
            </a:pPr>
            <a:r>
              <a:rPr lang="en-US" sz="1600" dirty="0">
                <a:latin typeface="Helvetica Neue"/>
              </a:rPr>
              <a:t>Communication:</a:t>
            </a:r>
          </a:p>
          <a:p>
            <a:pPr marL="0" indent="0">
              <a:buNone/>
            </a:pPr>
            <a:r>
              <a:rPr lang="en-US" sz="1600" dirty="0">
                <a:latin typeface="Helvetica Neue"/>
              </a:rPr>
              <a:t>- Supervisors communicate with their direct subordinates (other supervisors or sub-agents).</a:t>
            </a:r>
          </a:p>
          <a:p>
            <a:pPr marL="0" indent="0">
              <a:buNone/>
            </a:pPr>
            <a:r>
              <a:rPr lang="en-US" sz="1600" dirty="0">
                <a:latin typeface="Helvetica Neue"/>
              </a:rPr>
              <a:t>- Results flow upward through the hierarchy for aggregation and final output.</a:t>
            </a:r>
          </a:p>
          <a:p>
            <a:pPr marL="0" indent="0">
              <a:buNone/>
            </a:pPr>
            <a:endParaRPr lang="en-US" sz="1600" dirty="0">
              <a:latin typeface="Helvetica Neue"/>
            </a:endParaRPr>
          </a:p>
        </p:txBody>
      </p:sp>
      <p:pic>
        <p:nvPicPr>
          <p:cNvPr id="4" name="Picture 3">
            <a:extLst>
              <a:ext uri="{FF2B5EF4-FFF2-40B4-BE49-F238E27FC236}">
                <a16:creationId xmlns:a16="http://schemas.microsoft.com/office/drawing/2014/main" id="{8DE82F62-C92C-8F69-D545-0977EEA7B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2736973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F7F7D-F91F-A95C-D6D1-C803795404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4DEAF8-6AD2-2539-79CA-F222CC162FC0}"/>
              </a:ext>
            </a:extLst>
          </p:cNvPr>
          <p:cNvSpPr>
            <a:spLocks noGrp="1"/>
          </p:cNvSpPr>
          <p:nvPr>
            <p:ph type="title"/>
          </p:nvPr>
        </p:nvSpPr>
        <p:spPr>
          <a:xfrm>
            <a:off x="838200" y="256068"/>
            <a:ext cx="10515600" cy="700277"/>
          </a:xfrm>
        </p:spPr>
        <p:txBody>
          <a:bodyPr/>
          <a:lstStyle/>
          <a:p>
            <a:r>
              <a:rPr lang="en-US" b="1" dirty="0"/>
              <a:t>Multi-Agent Systems Architecture(p13)</a:t>
            </a:r>
            <a:endParaRPr lang="en-US" dirty="0"/>
          </a:p>
        </p:txBody>
      </p:sp>
      <p:sp>
        <p:nvSpPr>
          <p:cNvPr id="5" name="Content Placeholder 4">
            <a:extLst>
              <a:ext uri="{FF2B5EF4-FFF2-40B4-BE49-F238E27FC236}">
                <a16:creationId xmlns:a16="http://schemas.microsoft.com/office/drawing/2014/main" id="{3BE743DE-CAA9-C16D-A74C-9A73AA4DA976}"/>
              </a:ext>
            </a:extLst>
          </p:cNvPr>
          <p:cNvSpPr>
            <a:spLocks noGrp="1"/>
          </p:cNvSpPr>
          <p:nvPr>
            <p:ph idx="1"/>
          </p:nvPr>
        </p:nvSpPr>
        <p:spPr>
          <a:xfrm>
            <a:off x="294197" y="956344"/>
            <a:ext cx="10642508" cy="5645588"/>
          </a:xfrm>
        </p:spPr>
        <p:txBody>
          <a:bodyPr>
            <a:noAutofit/>
          </a:bodyPr>
          <a:lstStyle/>
          <a:p>
            <a:pPr marL="0" indent="0">
              <a:buNone/>
            </a:pPr>
            <a:r>
              <a:rPr lang="en-US" sz="1600" b="1" dirty="0">
                <a:latin typeface="Helvetica Neue"/>
              </a:rPr>
              <a:t>Advantages Hierarchical MAS</a:t>
            </a:r>
          </a:p>
          <a:p>
            <a:pPr marL="0" indent="0">
              <a:buNone/>
            </a:pPr>
            <a:r>
              <a:rPr lang="en-US" sz="1600" b="1" dirty="0">
                <a:latin typeface="Helvetica Neue"/>
              </a:rPr>
              <a:t>Scalability</a:t>
            </a:r>
            <a:r>
              <a:rPr lang="en-US" sz="1600" dirty="0">
                <a:latin typeface="Helvetica Neue"/>
              </a:rPr>
              <a:t>:</a:t>
            </a:r>
          </a:p>
          <a:p>
            <a:pPr marL="0" indent="0">
              <a:buNone/>
            </a:pPr>
            <a:r>
              <a:rPr lang="en-US" sz="1600" dirty="0">
                <a:latin typeface="Helvetica Neue"/>
              </a:rPr>
              <a:t>The hierarchical structure supports systems with a large number of sub-agents by distributing the workload across multiple layers.</a:t>
            </a:r>
          </a:p>
          <a:p>
            <a:pPr marL="0" indent="0">
              <a:buNone/>
            </a:pPr>
            <a:r>
              <a:rPr lang="en-US" sz="1600" dirty="0">
                <a:latin typeface="Helvetica Neue"/>
              </a:rPr>
              <a:t>Each supervisor only needs to manage a subset of the overall tasks, reducing bottlenecks.</a:t>
            </a:r>
          </a:p>
          <a:p>
            <a:pPr marL="0" indent="0">
              <a:buNone/>
            </a:pPr>
            <a:endParaRPr lang="en-US" sz="1600" dirty="0">
              <a:latin typeface="Helvetica Neue"/>
            </a:endParaRPr>
          </a:p>
          <a:p>
            <a:pPr marL="0" indent="0">
              <a:buNone/>
            </a:pPr>
            <a:r>
              <a:rPr lang="en-US" sz="1600" b="1" dirty="0">
                <a:latin typeface="Helvetica Neue"/>
              </a:rPr>
              <a:t>Specialization</a:t>
            </a:r>
            <a:r>
              <a:rPr lang="en-US" sz="1600" dirty="0">
                <a:latin typeface="Helvetica Neue"/>
              </a:rPr>
              <a:t>:</a:t>
            </a:r>
          </a:p>
          <a:p>
            <a:pPr marL="0" indent="0">
              <a:buNone/>
            </a:pPr>
            <a:r>
              <a:rPr lang="en-US" sz="1600" dirty="0">
                <a:latin typeface="Helvetica Neue"/>
              </a:rPr>
              <a:t>Mid-level supervisors can manage groups of sub-agents specializing in particular domains (e.g., financial analysis, content generation). This enables highly modular and efficient task execution.</a:t>
            </a:r>
          </a:p>
          <a:p>
            <a:pPr marL="0" indent="0">
              <a:buNone/>
            </a:pPr>
            <a:endParaRPr lang="en-US" sz="1600" dirty="0">
              <a:latin typeface="Helvetica Neue"/>
            </a:endParaRPr>
          </a:p>
          <a:p>
            <a:pPr marL="0" indent="0">
              <a:buNone/>
            </a:pPr>
            <a:r>
              <a:rPr lang="en-US" sz="1600" b="1" dirty="0">
                <a:latin typeface="Helvetica Neue"/>
              </a:rPr>
              <a:t>Improved Efficiency:</a:t>
            </a:r>
            <a:r>
              <a:rPr lang="en-US" sz="1600" dirty="0">
                <a:latin typeface="Helvetica Neue"/>
              </a:rPr>
              <a:t> Breaking tasks into smaller subtasks and routing them to appropriate agents minimizes processing delays and resource usage.</a:t>
            </a:r>
          </a:p>
          <a:p>
            <a:pPr marL="0" indent="0">
              <a:buNone/>
            </a:pPr>
            <a:endParaRPr lang="en-US" sz="1600" dirty="0">
              <a:latin typeface="Helvetica Neue"/>
            </a:endParaRPr>
          </a:p>
          <a:p>
            <a:pPr marL="0" indent="0">
              <a:buNone/>
            </a:pPr>
            <a:r>
              <a:rPr lang="en-US" sz="1600" b="1" dirty="0">
                <a:latin typeface="Helvetica Neue"/>
              </a:rPr>
              <a:t>Enhanced Debugging and Maintenance</a:t>
            </a:r>
            <a:r>
              <a:rPr lang="en-US" sz="1600" dirty="0">
                <a:latin typeface="Helvetica Neue"/>
              </a:rPr>
              <a:t>:</a:t>
            </a:r>
          </a:p>
          <a:p>
            <a:pPr marL="0" indent="0">
              <a:buNone/>
            </a:pPr>
            <a:r>
              <a:rPr lang="en-US" sz="1600" dirty="0">
                <a:latin typeface="Helvetica Neue"/>
              </a:rPr>
              <a:t>The layered structure allows pinpointing of errors or bottlenecks to a specific supervisor or sub-agent.</a:t>
            </a:r>
          </a:p>
          <a:p>
            <a:pPr marL="0" indent="0">
              <a:buNone/>
            </a:pPr>
            <a:r>
              <a:rPr lang="en-US" sz="1600" dirty="0">
                <a:latin typeface="Helvetica Neue"/>
              </a:rPr>
              <a:t>Maintenance is easier since changes in one layer do not necessarily affect others.</a:t>
            </a:r>
          </a:p>
          <a:p>
            <a:pPr marL="0" indent="0">
              <a:buNone/>
            </a:pPr>
            <a:endParaRPr lang="en-US" sz="1600" dirty="0">
              <a:latin typeface="Helvetica Neue"/>
            </a:endParaRPr>
          </a:p>
        </p:txBody>
      </p:sp>
      <p:pic>
        <p:nvPicPr>
          <p:cNvPr id="4" name="Picture 3">
            <a:extLst>
              <a:ext uri="{FF2B5EF4-FFF2-40B4-BE49-F238E27FC236}">
                <a16:creationId xmlns:a16="http://schemas.microsoft.com/office/drawing/2014/main" id="{3504C6B1-4D59-CD5C-5713-0A2835D12D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1846867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2E810-E3D2-4E1F-36E4-4E50A949F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0D91D4-0C3E-7F8A-0B66-015188657D8A}"/>
              </a:ext>
            </a:extLst>
          </p:cNvPr>
          <p:cNvSpPr>
            <a:spLocks noGrp="1"/>
          </p:cNvSpPr>
          <p:nvPr>
            <p:ph type="title"/>
          </p:nvPr>
        </p:nvSpPr>
        <p:spPr>
          <a:xfrm>
            <a:off x="838200" y="256068"/>
            <a:ext cx="10515600" cy="700277"/>
          </a:xfrm>
        </p:spPr>
        <p:txBody>
          <a:bodyPr/>
          <a:lstStyle/>
          <a:p>
            <a:r>
              <a:rPr lang="en-US" b="1" dirty="0"/>
              <a:t>Multi-Agent Systems Architecture(p14)</a:t>
            </a:r>
            <a:endParaRPr lang="en-US" dirty="0"/>
          </a:p>
        </p:txBody>
      </p:sp>
      <p:sp>
        <p:nvSpPr>
          <p:cNvPr id="5" name="Content Placeholder 4">
            <a:extLst>
              <a:ext uri="{FF2B5EF4-FFF2-40B4-BE49-F238E27FC236}">
                <a16:creationId xmlns:a16="http://schemas.microsoft.com/office/drawing/2014/main" id="{4486B55B-5810-9A50-71E5-8C4237A5A7C4}"/>
              </a:ext>
            </a:extLst>
          </p:cNvPr>
          <p:cNvSpPr>
            <a:spLocks noGrp="1"/>
          </p:cNvSpPr>
          <p:nvPr>
            <p:ph idx="1"/>
          </p:nvPr>
        </p:nvSpPr>
        <p:spPr>
          <a:xfrm>
            <a:off x="294197" y="956344"/>
            <a:ext cx="10642508" cy="5645588"/>
          </a:xfrm>
        </p:spPr>
        <p:txBody>
          <a:bodyPr>
            <a:noAutofit/>
          </a:bodyPr>
          <a:lstStyle/>
          <a:p>
            <a:pPr marL="0" indent="0">
              <a:buNone/>
            </a:pPr>
            <a:r>
              <a:rPr lang="en-US" sz="1600" b="1" dirty="0">
                <a:latin typeface="Helvetica Neue"/>
              </a:rPr>
              <a:t>Challenges of Hierarchical MAS</a:t>
            </a:r>
            <a:endParaRPr lang="en-US" sz="1600" dirty="0">
              <a:latin typeface="Helvetica Neue"/>
            </a:endParaRPr>
          </a:p>
          <a:p>
            <a:pPr marL="0" indent="0">
              <a:buNone/>
            </a:pPr>
            <a:r>
              <a:rPr lang="en-US" sz="1600" b="1" dirty="0">
                <a:latin typeface="Helvetica Neue"/>
              </a:rPr>
              <a:t>Design Complexity:</a:t>
            </a:r>
          </a:p>
          <a:p>
            <a:pPr marL="0" indent="0">
              <a:buNone/>
            </a:pPr>
            <a:r>
              <a:rPr lang="en-US" sz="1600" dirty="0">
                <a:latin typeface="Helvetica Neue"/>
              </a:rPr>
              <a:t>Building a multi-layered supervisor system requires careful planning to ensure tasks are routed efficiently.</a:t>
            </a:r>
          </a:p>
          <a:p>
            <a:pPr marL="0" indent="0">
              <a:buNone/>
            </a:pPr>
            <a:r>
              <a:rPr lang="en-US" sz="1600" dirty="0">
                <a:latin typeface="Helvetica Neue"/>
              </a:rPr>
              <a:t>Designing logic for supervisors at each level can be time-consuming and prone to errors if not well-structured.</a:t>
            </a:r>
          </a:p>
          <a:p>
            <a:pPr marL="0" indent="0">
              <a:buNone/>
            </a:pPr>
            <a:endParaRPr lang="en-US" sz="1600" dirty="0">
              <a:latin typeface="Helvetica Neue"/>
            </a:endParaRPr>
          </a:p>
          <a:p>
            <a:pPr marL="0" indent="0">
              <a:buNone/>
            </a:pPr>
            <a:r>
              <a:rPr lang="en-US" sz="1600" b="1" dirty="0">
                <a:latin typeface="Helvetica Neue"/>
              </a:rPr>
              <a:t>Communication Overhead:</a:t>
            </a:r>
          </a:p>
          <a:p>
            <a:pPr marL="0" indent="0">
              <a:buNone/>
            </a:pPr>
            <a:r>
              <a:rPr lang="en-US" sz="1600" dirty="0">
                <a:latin typeface="Helvetica Neue"/>
              </a:rPr>
              <a:t>Hierarchical communication can introduce latency as information flows through multiple layers.</a:t>
            </a:r>
          </a:p>
          <a:p>
            <a:pPr marL="0" indent="0">
              <a:buNone/>
            </a:pPr>
            <a:r>
              <a:rPr lang="en-US" sz="1600" dirty="0">
                <a:latin typeface="Helvetica Neue"/>
              </a:rPr>
              <a:t>Mitigation: Optimize task granularity to reduce unnecessary back-and-forth between layers.</a:t>
            </a:r>
          </a:p>
          <a:p>
            <a:pPr marL="0" indent="0">
              <a:buNone/>
            </a:pPr>
            <a:endParaRPr lang="en-US" sz="1600" dirty="0">
              <a:latin typeface="Helvetica Neue"/>
            </a:endParaRPr>
          </a:p>
          <a:p>
            <a:pPr marL="0" indent="0">
              <a:buNone/>
            </a:pPr>
            <a:r>
              <a:rPr lang="en-US" sz="1600" b="1" dirty="0">
                <a:latin typeface="Helvetica Neue"/>
              </a:rPr>
              <a:t>Single Point of Failure at the Top:</a:t>
            </a:r>
          </a:p>
          <a:p>
            <a:pPr marL="0" indent="0">
              <a:buNone/>
            </a:pPr>
            <a:r>
              <a:rPr lang="en-US" sz="1600" dirty="0">
                <a:latin typeface="Helvetica Neue"/>
              </a:rPr>
              <a:t>The top-level supervisor is critical to system functionality. If it fails, the entire hierarchy is disrupted.</a:t>
            </a:r>
          </a:p>
          <a:p>
            <a:pPr marL="0" indent="0">
              <a:buNone/>
            </a:pPr>
            <a:r>
              <a:rPr lang="en-US" sz="1600" dirty="0">
                <a:latin typeface="Helvetica Neue"/>
              </a:rPr>
              <a:t>Mitigation: Introduce redundancy or a failover mechanism for the top-level supervisor.</a:t>
            </a:r>
          </a:p>
          <a:p>
            <a:pPr marL="0" indent="0">
              <a:buNone/>
            </a:pPr>
            <a:endParaRPr lang="en-US" sz="1600" dirty="0">
              <a:latin typeface="Helvetica Neue"/>
            </a:endParaRPr>
          </a:p>
          <a:p>
            <a:pPr marL="0" indent="0">
              <a:buNone/>
            </a:pPr>
            <a:r>
              <a:rPr lang="en-US" sz="1600" b="1" dirty="0">
                <a:latin typeface="Helvetica Neue"/>
              </a:rPr>
              <a:t>Resource Management:</a:t>
            </a:r>
          </a:p>
          <a:p>
            <a:pPr marL="0" indent="0">
              <a:buNone/>
            </a:pPr>
            <a:r>
              <a:rPr lang="en-US" sz="1600" dirty="0">
                <a:latin typeface="Helvetica Neue"/>
              </a:rPr>
              <a:t>Large systems with many layers can consume significant computational resources.</a:t>
            </a:r>
          </a:p>
          <a:p>
            <a:pPr marL="0" indent="0">
              <a:buNone/>
            </a:pPr>
            <a:r>
              <a:rPr lang="en-US" sz="1600" dirty="0">
                <a:latin typeface="Helvetica Neue"/>
              </a:rPr>
              <a:t>Mitigation: Monitor and optimize resource allocation, ensuring supervisors at all levels operate efficiently.</a:t>
            </a:r>
          </a:p>
          <a:p>
            <a:pPr marL="0" indent="0">
              <a:buNone/>
            </a:pPr>
            <a:endParaRPr lang="en-US" sz="1600" dirty="0">
              <a:latin typeface="Helvetica Neue"/>
            </a:endParaRPr>
          </a:p>
        </p:txBody>
      </p:sp>
      <p:pic>
        <p:nvPicPr>
          <p:cNvPr id="4" name="Picture 3">
            <a:extLst>
              <a:ext uri="{FF2B5EF4-FFF2-40B4-BE49-F238E27FC236}">
                <a16:creationId xmlns:a16="http://schemas.microsoft.com/office/drawing/2014/main" id="{3124048E-A4CA-9655-59A7-4A90F60FD6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954826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F063C-99F0-F64B-C650-6CAB7AA7B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4B40A-30A1-679C-9D37-A4208040E872}"/>
              </a:ext>
            </a:extLst>
          </p:cNvPr>
          <p:cNvSpPr>
            <a:spLocks noGrp="1"/>
          </p:cNvSpPr>
          <p:nvPr>
            <p:ph type="title"/>
          </p:nvPr>
        </p:nvSpPr>
        <p:spPr>
          <a:xfrm>
            <a:off x="838200" y="256068"/>
            <a:ext cx="10515600" cy="700277"/>
          </a:xfrm>
        </p:spPr>
        <p:txBody>
          <a:bodyPr/>
          <a:lstStyle/>
          <a:p>
            <a:r>
              <a:rPr lang="en-US" b="1" dirty="0"/>
              <a:t>Multi-Agent Systems Architecture(p15)</a:t>
            </a:r>
            <a:endParaRPr lang="en-US" dirty="0"/>
          </a:p>
        </p:txBody>
      </p:sp>
      <p:sp>
        <p:nvSpPr>
          <p:cNvPr id="5" name="Content Placeholder 4">
            <a:extLst>
              <a:ext uri="{FF2B5EF4-FFF2-40B4-BE49-F238E27FC236}">
                <a16:creationId xmlns:a16="http://schemas.microsoft.com/office/drawing/2014/main" id="{B7DE9FB3-868F-6267-3796-ECDD14B4CA58}"/>
              </a:ext>
            </a:extLst>
          </p:cNvPr>
          <p:cNvSpPr>
            <a:spLocks noGrp="1"/>
          </p:cNvSpPr>
          <p:nvPr>
            <p:ph idx="1"/>
          </p:nvPr>
        </p:nvSpPr>
        <p:spPr>
          <a:xfrm>
            <a:off x="294197" y="956344"/>
            <a:ext cx="9944677" cy="5645588"/>
          </a:xfrm>
        </p:spPr>
        <p:txBody>
          <a:bodyPr>
            <a:noAutofit/>
          </a:bodyPr>
          <a:lstStyle/>
          <a:p>
            <a:pPr marL="0" indent="0">
              <a:buNone/>
            </a:pPr>
            <a:r>
              <a:rPr lang="en-US" sz="1800" dirty="0">
                <a:latin typeface="Helvetica Neue"/>
              </a:rPr>
              <a:t>Practical Applications of </a:t>
            </a:r>
            <a:r>
              <a:rPr lang="en-US" sz="1800" dirty="0" err="1">
                <a:latin typeface="Helvetica Neue"/>
              </a:rPr>
              <a:t>hier</a:t>
            </a:r>
            <a:r>
              <a:rPr lang="en-US" sz="1800" dirty="0">
                <a:latin typeface="Helvetica Neue"/>
              </a:rPr>
              <a:t>. MAS</a:t>
            </a:r>
          </a:p>
          <a:p>
            <a:pPr marL="0" indent="0">
              <a:buNone/>
            </a:pPr>
            <a:r>
              <a:rPr lang="en-US" sz="1800" dirty="0">
                <a:latin typeface="Helvetica Neue"/>
              </a:rPr>
              <a:t>Enterprise Automation: Complex workflows requiring task division across multiple departments, such as project planning, resource allocation, and reporting.</a:t>
            </a:r>
          </a:p>
          <a:p>
            <a:pPr marL="0" indent="0">
              <a:buNone/>
            </a:pPr>
            <a:endParaRPr lang="en-US" sz="1800" dirty="0">
              <a:latin typeface="Helvetica Neue"/>
            </a:endParaRPr>
          </a:p>
          <a:p>
            <a:pPr marL="0" indent="0">
              <a:buNone/>
            </a:pPr>
            <a:r>
              <a:rPr lang="en-US" sz="1800" dirty="0">
                <a:latin typeface="Helvetica Neue"/>
              </a:rPr>
              <a:t>Autonomous Systems: Scenarios like autonomous vehicles, where high-level supervisors manage route planning while lower layers handle obstacle avoidance and vehicle control.</a:t>
            </a:r>
          </a:p>
          <a:p>
            <a:pPr marL="0" indent="0">
              <a:buNone/>
            </a:pPr>
            <a:endParaRPr lang="en-US" sz="1800" dirty="0">
              <a:latin typeface="Helvetica Neue"/>
            </a:endParaRPr>
          </a:p>
          <a:p>
            <a:pPr marL="0" indent="0">
              <a:buNone/>
            </a:pPr>
            <a:r>
              <a:rPr lang="en-US" sz="1800" dirty="0">
                <a:latin typeface="Helvetica Neue"/>
              </a:rPr>
              <a:t>Dynamic Multi-Agent Systems: Real-time decision-making systems, such as financial trading bots, where tasks must be delegated and resolved quickly across layers.</a:t>
            </a:r>
          </a:p>
          <a:p>
            <a:pPr marL="0" indent="0">
              <a:buNone/>
            </a:pPr>
            <a:endParaRPr lang="en-US" sz="1800" dirty="0">
              <a:latin typeface="Helvetica Neue"/>
            </a:endParaRPr>
          </a:p>
        </p:txBody>
      </p:sp>
      <p:pic>
        <p:nvPicPr>
          <p:cNvPr id="4" name="Picture 3">
            <a:extLst>
              <a:ext uri="{FF2B5EF4-FFF2-40B4-BE49-F238E27FC236}">
                <a16:creationId xmlns:a16="http://schemas.microsoft.com/office/drawing/2014/main" id="{6BFBD0D6-465B-B940-12D6-29D4773731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1744108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00EA5-11A4-AE35-8A20-718E0A407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839F4B-DD1E-192B-D36C-BF36C91DB006}"/>
              </a:ext>
            </a:extLst>
          </p:cNvPr>
          <p:cNvSpPr>
            <a:spLocks noGrp="1"/>
          </p:cNvSpPr>
          <p:nvPr>
            <p:ph type="title"/>
          </p:nvPr>
        </p:nvSpPr>
        <p:spPr>
          <a:xfrm>
            <a:off x="838200" y="256068"/>
            <a:ext cx="10515600" cy="700277"/>
          </a:xfrm>
        </p:spPr>
        <p:txBody>
          <a:bodyPr/>
          <a:lstStyle/>
          <a:p>
            <a:r>
              <a:rPr lang="en-US" b="1" dirty="0"/>
              <a:t>Multi-Agent Systems Architecture(p16)</a:t>
            </a:r>
            <a:endParaRPr lang="en-US" dirty="0"/>
          </a:p>
        </p:txBody>
      </p:sp>
      <p:sp>
        <p:nvSpPr>
          <p:cNvPr id="5" name="Content Placeholder 4">
            <a:extLst>
              <a:ext uri="{FF2B5EF4-FFF2-40B4-BE49-F238E27FC236}">
                <a16:creationId xmlns:a16="http://schemas.microsoft.com/office/drawing/2014/main" id="{FD0275BF-CED8-8998-3977-26FC05BD7443}"/>
              </a:ext>
            </a:extLst>
          </p:cNvPr>
          <p:cNvSpPr>
            <a:spLocks noGrp="1"/>
          </p:cNvSpPr>
          <p:nvPr>
            <p:ph idx="1"/>
          </p:nvPr>
        </p:nvSpPr>
        <p:spPr>
          <a:xfrm>
            <a:off x="294197" y="956344"/>
            <a:ext cx="10173277" cy="5645588"/>
          </a:xfrm>
        </p:spPr>
        <p:txBody>
          <a:bodyPr>
            <a:noAutofit/>
          </a:bodyPr>
          <a:lstStyle/>
          <a:p>
            <a:pPr marL="0" indent="0">
              <a:buNone/>
            </a:pPr>
            <a:r>
              <a:rPr lang="en-US" sz="1600" b="1" dirty="0">
                <a:latin typeface="Helvetica Neue"/>
              </a:rPr>
              <a:t>Example Use Case of Hier. MAS: AI-Powered Research Platform</a:t>
            </a:r>
          </a:p>
          <a:p>
            <a:pPr marL="0" indent="0">
              <a:buNone/>
            </a:pPr>
            <a:endParaRPr lang="en-US" sz="1600" dirty="0">
              <a:latin typeface="Helvetica Neue"/>
            </a:endParaRPr>
          </a:p>
          <a:p>
            <a:pPr marL="0" indent="0">
              <a:buNone/>
            </a:pPr>
            <a:r>
              <a:rPr lang="en-US" sz="1600" dirty="0">
                <a:latin typeface="Helvetica Neue"/>
              </a:rPr>
              <a:t>Top-Level Supervisor:</a:t>
            </a:r>
          </a:p>
          <a:p>
            <a:pPr marL="0" indent="0">
              <a:buNone/>
            </a:pPr>
            <a:r>
              <a:rPr lang="en-US" sz="1600" dirty="0">
                <a:latin typeface="Helvetica Neue"/>
              </a:rPr>
              <a:t>Receives a request to generate a comprehensive research report.</a:t>
            </a:r>
          </a:p>
          <a:p>
            <a:pPr marL="0" indent="0">
              <a:buNone/>
            </a:pPr>
            <a:r>
              <a:rPr lang="en-US" sz="1600" dirty="0">
                <a:latin typeface="Helvetica Neue"/>
              </a:rPr>
              <a:t>Breaks the task into subtasks: literature review, data analysis, and report writing.</a:t>
            </a:r>
          </a:p>
          <a:p>
            <a:pPr marL="0" indent="0">
              <a:buNone/>
            </a:pPr>
            <a:endParaRPr lang="en-US" sz="1600" dirty="0">
              <a:latin typeface="Helvetica Neue"/>
            </a:endParaRPr>
          </a:p>
          <a:p>
            <a:pPr marL="0" indent="0">
              <a:buNone/>
            </a:pPr>
            <a:r>
              <a:rPr lang="en-US" sz="1600" dirty="0">
                <a:latin typeface="Helvetica Neue"/>
              </a:rPr>
              <a:t>Mid-Level Supervisors:</a:t>
            </a:r>
          </a:p>
          <a:p>
            <a:pPr marL="0" indent="0">
              <a:buNone/>
            </a:pPr>
            <a:r>
              <a:rPr lang="en-US" sz="1600" dirty="0">
                <a:latin typeface="Helvetica Neue"/>
              </a:rPr>
              <a:t>Literature Supervisor: Manages sub-agents specialized in retrieving and summarizing articles.</a:t>
            </a:r>
          </a:p>
          <a:p>
            <a:pPr marL="0" indent="0">
              <a:buNone/>
            </a:pPr>
            <a:r>
              <a:rPr lang="en-US" sz="1600" dirty="0">
                <a:latin typeface="Helvetica Neue"/>
              </a:rPr>
              <a:t>Data Supervisor: Delegates tasks to agents performing data collection and statistical analysis.</a:t>
            </a:r>
          </a:p>
          <a:p>
            <a:pPr marL="0" indent="0">
              <a:buNone/>
            </a:pPr>
            <a:r>
              <a:rPr lang="en-US" sz="1600" dirty="0">
                <a:latin typeface="Helvetica Neue"/>
              </a:rPr>
              <a:t>Content Supervisor: Coordinates agents responsible for drafting and editing the report.</a:t>
            </a:r>
          </a:p>
          <a:p>
            <a:pPr marL="0" indent="0">
              <a:buNone/>
            </a:pPr>
            <a:endParaRPr lang="en-US" sz="1600" dirty="0">
              <a:latin typeface="Helvetica Neue"/>
            </a:endParaRPr>
          </a:p>
          <a:p>
            <a:pPr marL="0" indent="0">
              <a:buNone/>
            </a:pPr>
            <a:r>
              <a:rPr lang="en-US" sz="1600" dirty="0">
                <a:latin typeface="Helvetica Neue"/>
              </a:rPr>
              <a:t>Sub-Agents:</a:t>
            </a:r>
          </a:p>
          <a:p>
            <a:pPr marL="0" indent="0">
              <a:buNone/>
            </a:pPr>
            <a:r>
              <a:rPr lang="en-US" sz="1600" dirty="0">
                <a:latin typeface="Helvetica Neue"/>
              </a:rPr>
              <a:t>Each sub-agent performs its specific role (e.g., searching academic databases, running statistical tests, or refining written content).</a:t>
            </a:r>
          </a:p>
          <a:p>
            <a:pPr marL="0" indent="0">
              <a:buNone/>
            </a:pPr>
            <a:endParaRPr lang="en-US" sz="1600" dirty="0">
              <a:latin typeface="Helvetica Neue"/>
            </a:endParaRPr>
          </a:p>
          <a:p>
            <a:pPr marL="0" indent="0">
              <a:buNone/>
            </a:pPr>
            <a:r>
              <a:rPr lang="en-US" sz="1600" dirty="0">
                <a:latin typeface="Helvetica Neue"/>
              </a:rPr>
              <a:t>Results Aggregation:</a:t>
            </a:r>
          </a:p>
          <a:p>
            <a:pPr marL="0" indent="0">
              <a:buNone/>
            </a:pPr>
            <a:r>
              <a:rPr lang="en-US" sz="1600" dirty="0">
                <a:latin typeface="Helvetica Neue"/>
              </a:rPr>
              <a:t>Results flow back up the hierarchy, where the top-level supervisor consolidates them into the final output.</a:t>
            </a:r>
          </a:p>
        </p:txBody>
      </p:sp>
      <p:pic>
        <p:nvPicPr>
          <p:cNvPr id="4" name="Picture 3">
            <a:extLst>
              <a:ext uri="{FF2B5EF4-FFF2-40B4-BE49-F238E27FC236}">
                <a16:creationId xmlns:a16="http://schemas.microsoft.com/office/drawing/2014/main" id="{AD41409C-DED7-1CA2-DEB8-D3113D57C3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1394" y="780722"/>
            <a:ext cx="1851820" cy="2225233"/>
          </a:xfrm>
          <a:prstGeom prst="rect">
            <a:avLst/>
          </a:prstGeom>
        </p:spPr>
      </p:pic>
    </p:spTree>
    <p:extLst>
      <p:ext uri="{BB962C8B-B14F-4D97-AF65-F5344CB8AC3E}">
        <p14:creationId xmlns:p14="http://schemas.microsoft.com/office/powerpoint/2010/main" val="2524768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0AEF2-B1A6-8092-2AEA-73715BDC77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C2B05-643B-C04D-AA0C-7CEC0BBF0A8B}"/>
              </a:ext>
            </a:extLst>
          </p:cNvPr>
          <p:cNvSpPr>
            <a:spLocks noGrp="1"/>
          </p:cNvSpPr>
          <p:nvPr>
            <p:ph type="title"/>
          </p:nvPr>
        </p:nvSpPr>
        <p:spPr>
          <a:xfrm>
            <a:off x="838200" y="256068"/>
            <a:ext cx="10515600" cy="700277"/>
          </a:xfrm>
        </p:spPr>
        <p:txBody>
          <a:bodyPr/>
          <a:lstStyle/>
          <a:p>
            <a:r>
              <a:rPr lang="en-US" b="1" dirty="0"/>
              <a:t>Multi-Agent Systems(p2)</a:t>
            </a:r>
            <a:endParaRPr lang="en-US" dirty="0"/>
          </a:p>
        </p:txBody>
      </p:sp>
      <p:sp>
        <p:nvSpPr>
          <p:cNvPr id="3" name="Content Placeholder 2">
            <a:extLst>
              <a:ext uri="{FF2B5EF4-FFF2-40B4-BE49-F238E27FC236}">
                <a16:creationId xmlns:a16="http://schemas.microsoft.com/office/drawing/2014/main" id="{01581A92-E873-F75A-FCA8-B3D7D7A331FC}"/>
              </a:ext>
            </a:extLst>
          </p:cNvPr>
          <p:cNvSpPr>
            <a:spLocks noGrp="1"/>
          </p:cNvSpPr>
          <p:nvPr>
            <p:ph idx="1"/>
          </p:nvPr>
        </p:nvSpPr>
        <p:spPr>
          <a:xfrm>
            <a:off x="167779" y="928002"/>
            <a:ext cx="11811699" cy="3794999"/>
          </a:xfrm>
        </p:spPr>
        <p:txBody>
          <a:bodyPr>
            <a:normAutofit/>
          </a:bodyPr>
          <a:lstStyle/>
          <a:p>
            <a:pPr marL="0" indent="0" fontAlgn="base">
              <a:buNone/>
            </a:pPr>
            <a:r>
              <a:rPr lang="en-US" sz="1600" b="1" i="0" dirty="0">
                <a:effectLst/>
              </a:rPr>
              <a:t>Examples of MAS:</a:t>
            </a:r>
          </a:p>
          <a:p>
            <a:pPr fontAlgn="base"/>
            <a:r>
              <a:rPr lang="en-US" sz="1600" b="1" i="0" dirty="0">
                <a:effectLst/>
              </a:rPr>
              <a:t>Stock market simulation</a:t>
            </a:r>
            <a:r>
              <a:rPr lang="en-US" sz="1600" b="0" i="0" dirty="0">
                <a:effectLst/>
              </a:rPr>
              <a:t> :A classic example of MAS is a stock market simulation where multiple "agent" programs representing different traders interact with each other, buying and selling stocks based on their own algorithms and strategies, simulating real market dynamics and competition. </a:t>
            </a:r>
          </a:p>
          <a:p>
            <a:pPr>
              <a:spcBef>
                <a:spcPts val="750"/>
              </a:spcBef>
              <a:spcAft>
                <a:spcPts val="600"/>
              </a:spcAft>
            </a:pPr>
            <a:r>
              <a:rPr lang="en-US" sz="1600" b="1" i="0" dirty="0">
                <a:effectLst/>
              </a:rPr>
              <a:t>Robot soccer team: </a:t>
            </a:r>
            <a:r>
              <a:rPr lang="en-US" sz="1600" b="0" i="0" dirty="0">
                <a:effectLst/>
              </a:rPr>
              <a:t>Multiple robots on a field act as individual agents, coordinating their movements and actions to play against another team, simulating real soccer strategies. </a:t>
            </a:r>
          </a:p>
          <a:p>
            <a:pPr>
              <a:spcBef>
                <a:spcPts val="750"/>
              </a:spcBef>
              <a:spcAft>
                <a:spcPts val="600"/>
              </a:spcAft>
            </a:pPr>
            <a:r>
              <a:rPr lang="en-US" sz="1600" b="0" i="0" dirty="0">
                <a:effectLst/>
              </a:rPr>
              <a:t>MAS can be used for tasks like coordinating multiple robots to perform complex jobs, such as search and rescue</a:t>
            </a:r>
          </a:p>
          <a:p>
            <a:pPr marL="0" indent="0" fontAlgn="base">
              <a:buNone/>
            </a:pPr>
            <a:endParaRPr lang="en-US" sz="1600" dirty="0"/>
          </a:p>
        </p:txBody>
      </p:sp>
    </p:spTree>
    <p:extLst>
      <p:ext uri="{BB962C8B-B14F-4D97-AF65-F5344CB8AC3E}">
        <p14:creationId xmlns:p14="http://schemas.microsoft.com/office/powerpoint/2010/main" val="148976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E1B75-886E-0812-B2FD-DD250C225521}"/>
              </a:ext>
            </a:extLst>
          </p:cNvPr>
          <p:cNvSpPr>
            <a:spLocks noGrp="1"/>
          </p:cNvSpPr>
          <p:nvPr>
            <p:ph type="title"/>
          </p:nvPr>
        </p:nvSpPr>
        <p:spPr>
          <a:xfrm>
            <a:off x="274320" y="136525"/>
            <a:ext cx="11466576" cy="832739"/>
          </a:xfrm>
        </p:spPr>
        <p:txBody>
          <a:bodyPr>
            <a:normAutofit/>
          </a:bodyPr>
          <a:lstStyle/>
          <a:p>
            <a:r>
              <a:rPr lang="en-US" sz="3600" dirty="0"/>
              <a:t>EXTRA</a:t>
            </a:r>
          </a:p>
        </p:txBody>
      </p:sp>
      <p:sp>
        <p:nvSpPr>
          <p:cNvPr id="4" name="TextBox 3">
            <a:extLst>
              <a:ext uri="{FF2B5EF4-FFF2-40B4-BE49-F238E27FC236}">
                <a16:creationId xmlns:a16="http://schemas.microsoft.com/office/drawing/2014/main" id="{902F8BE4-9CEA-0DAD-0357-E0A8215F169D}"/>
              </a:ext>
            </a:extLst>
          </p:cNvPr>
          <p:cNvSpPr txBox="1"/>
          <p:nvPr/>
        </p:nvSpPr>
        <p:spPr>
          <a:xfrm>
            <a:off x="274320" y="933117"/>
            <a:ext cx="11658600" cy="1477328"/>
          </a:xfrm>
          <a:prstGeom prst="rect">
            <a:avLst/>
          </a:prstGeom>
          <a:noFill/>
        </p:spPr>
        <p:txBody>
          <a:bodyPr wrap="square">
            <a:spAutoFit/>
          </a:bodyPr>
          <a:lstStyle/>
          <a:p>
            <a:pPr marL="0" indent="0">
              <a:buNone/>
            </a:pPr>
            <a:r>
              <a:rPr lang="en-US" dirty="0" err="1">
                <a:solidFill>
                  <a:schemeClr val="accent6">
                    <a:lumMod val="60000"/>
                    <a:lumOff val="40000"/>
                  </a:schemeClr>
                </a:solidFill>
              </a:rPr>
              <a:t>Ffnbksdfd</a:t>
            </a: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Fdslj;f</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a:p>
            <a:pPr marL="0" indent="0">
              <a:buNone/>
            </a:pPr>
            <a:r>
              <a:rPr lang="en-US" dirty="0" err="1">
                <a:solidFill>
                  <a:schemeClr val="accent6">
                    <a:lumMod val="60000"/>
                    <a:lumOff val="40000"/>
                  </a:schemeClr>
                </a:solidFill>
              </a:rPr>
              <a:t>Fl;ds</a:t>
            </a:r>
            <a:endParaRPr lang="en-US" dirty="0">
              <a:solidFill>
                <a:schemeClr val="accent6">
                  <a:lumMod val="60000"/>
                  <a:lumOff val="40000"/>
                </a:schemeClr>
              </a:solidFill>
            </a:endParaRPr>
          </a:p>
          <a:p>
            <a:pPr marL="0" indent="0">
              <a:buNone/>
            </a:pPr>
            <a:endParaRPr lang="en-US" dirty="0">
              <a:solidFill>
                <a:schemeClr val="accent6">
                  <a:lumMod val="60000"/>
                  <a:lumOff val="40000"/>
                </a:schemeClr>
              </a:solidFill>
            </a:endParaRPr>
          </a:p>
        </p:txBody>
      </p:sp>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1148</TotalTime>
  <Words>1738</Words>
  <Application>Microsoft Office PowerPoint</Application>
  <PresentationFormat>Widescreen</PresentationFormat>
  <Paragraphs>163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 Neue</vt:lpstr>
      <vt:lpstr>sohne</vt:lpstr>
      <vt:lpstr>Office Theme</vt:lpstr>
      <vt:lpstr>PowerPoint Presentation</vt:lpstr>
      <vt:lpstr>Multi-Agent Systems(p1)</vt:lpstr>
      <vt:lpstr>Multi-Agent Systems Architecture(p5)</vt:lpstr>
      <vt:lpstr>Multi-Agent Systems Architecture(p6)</vt:lpstr>
      <vt:lpstr>Multi-Agent Systems Architecture(p7)</vt:lpstr>
      <vt:lpstr>Multi-Agent Systems Architecture(p8)</vt:lpstr>
      <vt:lpstr>Multi-Agent Systems Architecture(p9)</vt:lpstr>
      <vt:lpstr>Multi-Agent Systems Architecture(p10)</vt:lpstr>
      <vt:lpstr>Multi-Agent Systems Architecture(p11)</vt:lpstr>
      <vt:lpstr>Multi-Agent Systems Architecture(p12)</vt:lpstr>
      <vt:lpstr>Multi-Agent Systems Architecture(p13)</vt:lpstr>
      <vt:lpstr>Multi-Agent Systems Architecture(p14)</vt:lpstr>
      <vt:lpstr>Multi-Agent Systems Architecture(p15)</vt:lpstr>
      <vt:lpstr>Multi-Agent Systems Architecture(p16)</vt:lpstr>
      <vt:lpstr>Multi-Agent Systems(p2)</vt:lpstr>
      <vt:lpstr>EXTRA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207</cp:revision>
  <dcterms:created xsi:type="dcterms:W3CDTF">2025-09-22T02:44:38Z</dcterms:created>
  <dcterms:modified xsi:type="dcterms:W3CDTF">2026-06-06T06:42:56Z</dcterms:modified>
</cp:coreProperties>
</file>