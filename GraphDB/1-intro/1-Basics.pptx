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7" r:id="rId2"/>
    <p:sldId id="275" r:id="rId3"/>
    <p:sldId id="290" r:id="rId4"/>
    <p:sldId id="299" r:id="rId5"/>
    <p:sldId id="301" r:id="rId6"/>
    <p:sldId id="300" r:id="rId7"/>
    <p:sldId id="278" r:id="rId8"/>
    <p:sldId id="279" r:id="rId9"/>
    <p:sldId id="289" r:id="rId10"/>
    <p:sldId id="280" r:id="rId11"/>
    <p:sldId id="281" r:id="rId12"/>
    <p:sldId id="288" r:id="rId13"/>
    <p:sldId id="291" r:id="rId14"/>
    <p:sldId id="296" r:id="rId15"/>
    <p:sldId id="295" r:id="rId16"/>
    <p:sldId id="298" r:id="rId17"/>
    <p:sldId id="284" r:id="rId18"/>
    <p:sldId id="294" r:id="rId19"/>
    <p:sldId id="297" r:id="rId20"/>
    <p:sldId id="293" r:id="rId21"/>
    <p:sldId id="283" r:id="rId22"/>
    <p:sldId id="277" r:id="rId23"/>
    <p:sldId id="286" r:id="rId24"/>
    <p:sldId id="302" r:id="rId25"/>
    <p:sldId id="287" r:id="rId26"/>
    <p:sldId id="285"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7/30/2026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0T15:58:29.838"/>
    </inkml:context>
    <inkml:brush xml:id="br0">
      <inkml:brushProperty name="width" value="0.2" units="cm"/>
      <inkml:brushProperty name="height" value="0.2" units="cm"/>
      <inkml:brushProperty name="color" value="#F6630D"/>
    </inkml:brush>
  </inkml:definitions>
  <inkml:trace contextRef="#ctx0" brushRef="#br0">5076 1 24575,'-11'13'0,"0"0"0,1 1 0,0 1 0,1 0 0,-7 16 0,-13 22 0,-102 126 0,107-146 0,-1-1 0,-2-2 0,-1 0 0,-1-2 0,-1-1 0,-2-2 0,-37 24 0,32-27 0,-1-2 0,-1-1 0,-1-2 0,-60 17 0,-172 29 0,191-50 0,-1-4 0,0-3 0,0-4 0,0-3 0,-118-18 0,-223-9 0,341 25 0,-525-2 0,553 10 0,0 2 0,-88 24 0,66-13 0,-35 9 0,2 5 0,-151 65 0,217-81 0,-1-2 0,-1-2 0,-89 12 0,-51 13 0,168-32 0,0 1 0,1 0 0,0 1 0,0 1 0,0 1 0,1 0 0,0 1 0,1 0 0,0 1 0,1 1 0,0 0 0,1 1 0,0 0 0,1 1 0,1 0 0,0 1 0,1 0 0,-10 21 0,-52 100 0,43-86 0,2 1 0,-22 61 0,39-85 0,1 0 0,1 0 0,2 0 0,0 1 0,2 0 0,0 34 0,2-27 0,-12 64 0,3-30 0,8-55 0,-2 1 0,1-1 0,-11 24 0,-6 29 0,10-41 0,10-26 0,0 1 0,-1-1 0,1 1 0,-1-1 0,1 1 0,-1-1 0,1 1 0,-1-1 0,1 1 0,-1-1 0,1 0 0,-1 1 0,0-1 0,1 0 0,-1 0 0,1 1 0,-1-1 0,0 0 0,1 0 0,-1 0 0,0 0 0,-1 0 0,-1-1 0,0 0 0,0 0 0,0-1 0,0 0 0,0 1 0,0-1 0,0 0 0,0 0 0,1-1 0,-1 1 0,1-1 0,-4-4 0,-79-90 0,-138-209 0,72 61 0,149 242 0,0 0 0,1 1 0,0-1 0,-1-1 0,1 1 0,0 0 0,1 0 0,-1 0 0,0 0 0,1-1 0,0 1 0,0 0 0,0-1 0,0-3 0,1 6 0,-1 1 0,0-1 0,0 0 0,0 1 0,1-1 0,-1 0 0,0 1 0,1-1 0,-1 1 0,1-1 0,-1 1 0,1-1 0,-1 1 0,1-1 0,-1 1 0,1-1 0,-1 1 0,1 0 0,0-1 0,-1 1 0,1 0 0,-1 0 0,1-1 0,0 1 0,0 0 0,1 0 0,0 0 0,1 0 0,-1 0 0,0 0 0,0 1 0,0-1 0,0 1 0,0-1 0,0 1 0,0 0 0,0 0 0,2 2 0,5 2 0,0 1 0,-1 0 0,0 0 0,-1 1 0,0 0 0,0 1 0,10 13 0,40 65 0,-49-72 0,170 278 0,-139-231 0,54 120 0,-91-176 0,0 0 0,0 0 0,1 0 0,0 0 0,-1-1 0,1 1 0,1-1 0,-1 0 0,1 0 0,6 6 0,-7-8 0,0-1 0,0 0 0,0 1 0,1-1 0,-1 0 0,1 0 0,-1-1 0,1 1 0,-1-1 0,1 0 0,-1 0 0,1 0 0,-1 0 0,1 0 0,-1-1 0,1 0 0,-1 0 0,5-1 0,295-99 0,-113 33 0,-62 28-1365,-25 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0T15:58:32.688"/>
    </inkml:context>
    <inkml:brush xml:id="br0">
      <inkml:brushProperty name="width" value="0.2" units="cm"/>
      <inkml:brushProperty name="height" value="0.2" units="cm"/>
      <inkml:brushProperty name="color" value="#F6630D"/>
    </inkml:brush>
  </inkml:definitions>
  <inkml:trace contextRef="#ctx0" brushRef="#br0">1 0 24575,'2'0'0,"1"0"0,-1 1 0,1-1 0,-1 1 0,0-1 0,1 1 0,-1 0 0,1 0 0,-1 0 0,0 0 0,0 0 0,0 0 0,0 1 0,0-1 0,0 1 0,0-1 0,3 4 0,23 39 0,-16-24 0,280 397 0,-172-253 0,-107-145 0,-2 0 0,-1 0 0,0 2 0,-1-1 0,-1 1 0,-1 0 0,-1 1 0,-1-1 0,3 39 0,-2 17 0,-7 115 0,-2-72 0,1-71 0,-9 53 0,4-53 0,0 56 0,7-94 0,1-1 0,-1 1 0,0-1 0,-1 0 0,-1 1 0,-3 16 0,4-26 0,1 1 0,-1-1 0,1 0 0,-1 1 0,0-1 0,0 0 0,0 1 0,0-1 0,0 0 0,0 0 0,0 1 0,0-1 0,0 0 0,0 0 0,-1-1 0,1 1 0,0 0 0,-2 1 0,0-2 0,1 1 0,0-1 0,0 0 0,0 0 0,-1 0 0,1 0 0,0 0 0,0-1 0,-1 1 0,1 0 0,0-1 0,0 0 0,0 1 0,0-1 0,0 0 0,-4-2 0,-9-8 0,0 0 0,1 0 0,0-1 0,1-1 0,0-1 0,-13-18 0,5 8 0,-126-172 0,127 172 0,1-2 0,1 0 0,2-1 0,-15-32 0,25 26 0,9 23 0,8 18 0,14 30 0,24 50 0,-31-54 0,1-1 0,1-1 0,30 36 0,62 48 0,-73-79 0,-2 1 0,-2 2 0,37 54 0,-44-53 0,44 49 0,-72-89 0,1 0 0,0 0 0,-1-1 0,1 1 0,0 0 0,0-1 0,0 1 0,-1-1 0,1 1 0,0-1 0,0 1 0,0-1 0,0 1 0,0-1 0,0 0 0,0 0 0,0 0 0,0 1 0,0-1 0,0 0 0,0 0 0,0 0 0,0 0 0,0-1 0,0 1 0,1 0 0,1-1 0,-1 0 0,1-1 0,-1 1 0,1-1 0,-1 1 0,0-1 0,0 0 0,0 0 0,4-4 0,5-8 0,-1 0 0,15-26 0,-16 25 0,5-8-78,53-87-565,130-161-1,-163 233-6182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7/30/2026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2.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461665"/>
          </a:xfrm>
          <a:prstGeom prst="rect">
            <a:avLst/>
          </a:prstGeom>
          <a:noFill/>
        </p:spPr>
        <p:txBody>
          <a:bodyPr wrap="square">
            <a:spAutoFit/>
          </a:bodyPr>
          <a:lstStyle/>
          <a:p>
            <a:pPr>
              <a:buNone/>
            </a:pPr>
            <a:r>
              <a:rPr lang="en-US" sz="2400" b="1" dirty="0">
                <a:solidFill>
                  <a:schemeClr val="accent6">
                    <a:lumMod val="60000"/>
                    <a:lumOff val="40000"/>
                  </a:schemeClr>
                </a:solidFill>
              </a:rPr>
              <a:t>Graph DB</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E1C549-05C2-509B-7E55-FC53425D92E1}"/>
              </a:ext>
            </a:extLst>
          </p:cNvPr>
          <p:cNvSpPr txBox="1"/>
          <p:nvPr/>
        </p:nvSpPr>
        <p:spPr>
          <a:xfrm>
            <a:off x="841248" y="989552"/>
            <a:ext cx="8362188" cy="1938992"/>
          </a:xfrm>
          <a:prstGeom prst="rect">
            <a:avLst/>
          </a:prstGeom>
          <a:noFill/>
        </p:spPr>
        <p:txBody>
          <a:bodyPr wrap="square">
            <a:spAutoFit/>
          </a:bodyPr>
          <a:lstStyle/>
          <a:p>
            <a:pPr>
              <a:buNone/>
            </a:pPr>
            <a:r>
              <a:rPr lang="en-US" sz="2400" dirty="0">
                <a:solidFill>
                  <a:schemeClr val="accent6">
                    <a:lumMod val="60000"/>
                    <a:lumOff val="40000"/>
                  </a:schemeClr>
                </a:solidFill>
              </a:rPr>
              <a:t>A </a:t>
            </a:r>
            <a:r>
              <a:rPr lang="en-US" sz="2400" b="1" dirty="0">
                <a:solidFill>
                  <a:schemeClr val="accent6">
                    <a:lumMod val="60000"/>
                    <a:lumOff val="40000"/>
                  </a:schemeClr>
                </a:solidFill>
              </a:rPr>
              <a:t>Graph Database (Graph DB)</a:t>
            </a:r>
            <a:r>
              <a:rPr lang="en-US" sz="2400" dirty="0">
                <a:solidFill>
                  <a:schemeClr val="accent6">
                    <a:lumMod val="60000"/>
                    <a:lumOff val="40000"/>
                  </a:schemeClr>
                </a:solidFill>
              </a:rPr>
              <a:t> is a type of database designed to store and manage data based on </a:t>
            </a:r>
            <a:r>
              <a:rPr lang="en-US" sz="2400" b="1" dirty="0">
                <a:solidFill>
                  <a:schemeClr val="accent6">
                    <a:lumMod val="60000"/>
                    <a:lumOff val="40000"/>
                  </a:schemeClr>
                </a:solidFill>
              </a:rPr>
              <a:t>relationships</a:t>
            </a:r>
            <a:r>
              <a:rPr lang="en-US" sz="2400" dirty="0">
                <a:solidFill>
                  <a:schemeClr val="accent6">
                    <a:lumMod val="60000"/>
                    <a:lumOff val="40000"/>
                  </a:schemeClr>
                </a:solidFill>
              </a:rPr>
              <a:t> rather than tables.</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Instead of rows and columns (like in SQL), it uses a structure similar to a </a:t>
            </a:r>
            <a:r>
              <a:rPr lang="en-US" sz="2400" b="1" dirty="0">
                <a:solidFill>
                  <a:schemeClr val="accent6">
                    <a:lumMod val="60000"/>
                    <a:lumOff val="40000"/>
                  </a:schemeClr>
                </a:solidFill>
              </a:rPr>
              <a:t>network or graph</a:t>
            </a:r>
            <a:r>
              <a:rPr lang="en-US" sz="2400" dirty="0">
                <a:solidFill>
                  <a:schemeClr val="accent6">
                    <a:lumMod val="60000"/>
                    <a:lumOff val="40000"/>
                  </a:schemeClr>
                </a:solidFill>
              </a:rPr>
              <a:t>.</a:t>
            </a:r>
          </a:p>
        </p:txBody>
      </p:sp>
      <p:pic>
        <p:nvPicPr>
          <p:cNvPr id="3" name="Picture 2">
            <a:extLst>
              <a:ext uri="{FF2B5EF4-FFF2-40B4-BE49-F238E27FC236}">
                <a16:creationId xmlns:a16="http://schemas.microsoft.com/office/drawing/2014/main" id="{33357497-60C1-D8BA-160F-FE18D4B40CCD}"/>
              </a:ext>
            </a:extLst>
          </p:cNvPr>
          <p:cNvPicPr>
            <a:picLocks noChangeAspect="1"/>
          </p:cNvPicPr>
          <p:nvPr/>
        </p:nvPicPr>
        <p:blipFill>
          <a:blip r:embed="rId2"/>
          <a:stretch>
            <a:fillRect/>
          </a:stretch>
        </p:blipFill>
        <p:spPr>
          <a:xfrm>
            <a:off x="3542256" y="3429000"/>
            <a:ext cx="4092278" cy="2945117"/>
          </a:xfrm>
          <a:prstGeom prst="rect">
            <a:avLst/>
          </a:prstGeom>
        </p:spPr>
      </p:pic>
    </p:spTree>
    <p:extLst>
      <p:ext uri="{BB962C8B-B14F-4D97-AF65-F5344CB8AC3E}">
        <p14:creationId xmlns:p14="http://schemas.microsoft.com/office/powerpoint/2010/main" val="36662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EF1A-D973-97F6-D12B-C34DEE6718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63C7BE-DCC7-D15B-3489-D924D3AF0960}"/>
              </a:ext>
            </a:extLst>
          </p:cNvPr>
          <p:cNvSpPr txBox="1"/>
          <p:nvPr/>
        </p:nvSpPr>
        <p:spPr>
          <a:xfrm>
            <a:off x="256032" y="117693"/>
            <a:ext cx="11823192" cy="6740307"/>
          </a:xfrm>
          <a:prstGeom prst="rect">
            <a:avLst/>
          </a:prstGeom>
          <a:noFill/>
        </p:spPr>
        <p:txBody>
          <a:bodyPr wrap="square">
            <a:spAutoFit/>
          </a:bodyPr>
          <a:lstStyle/>
          <a:p>
            <a:r>
              <a:rPr lang="en-US" sz="2400" b="1" dirty="0">
                <a:solidFill>
                  <a:schemeClr val="accent6">
                    <a:lumMod val="60000"/>
                    <a:lumOff val="40000"/>
                  </a:schemeClr>
                </a:solidFill>
              </a:rPr>
              <a:t>Need for Graph DB: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Vector DB fail when an AI needs to understand </a:t>
            </a:r>
            <a:r>
              <a:rPr lang="en-US" sz="2400" b="1" dirty="0">
                <a:solidFill>
                  <a:schemeClr val="accent6">
                    <a:lumMod val="60000"/>
                    <a:lumOff val="40000"/>
                  </a:schemeClr>
                </a:solidFill>
              </a:rPr>
              <a:t>multi-hop relationships, exact logic, or structural hierarchies</a:t>
            </a:r>
            <a:r>
              <a:rPr lang="en-US" sz="2400" dirty="0">
                <a:solidFill>
                  <a:schemeClr val="accent6">
                    <a:lumMod val="60000"/>
                    <a:lumOff val="40000"/>
                  </a:schemeClr>
                </a:solidFill>
              </a:rPr>
              <a:t>, because vectors only measure superficial semantic similarity (how close words are in meaning), not actual connections.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prime example where a Vector DB fails</a:t>
            </a:r>
          </a:p>
          <a:p>
            <a:pPr marL="457200" indent="-457200">
              <a:buAutoNum type="arabicParenR"/>
            </a:pPr>
            <a:r>
              <a:rPr lang="en-US" sz="2400" b="1" dirty="0">
                <a:solidFill>
                  <a:schemeClr val="accent6">
                    <a:lumMod val="60000"/>
                    <a:lumOff val="40000"/>
                  </a:schemeClr>
                </a:solidFill>
              </a:rPr>
              <a:t>Social Networking: </a:t>
            </a:r>
          </a:p>
          <a:p>
            <a:r>
              <a:rPr lang="en-US" sz="2400" dirty="0">
                <a:solidFill>
                  <a:schemeClr val="accent6">
                    <a:lumMod val="60000"/>
                    <a:lumOff val="40000"/>
                  </a:schemeClr>
                </a:solidFill>
              </a:rPr>
              <a:t>Ash work in Loxford. Ash also owns restaurants. He owns a house in Berlin and lives here. His friends ….(more text here)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He follows posts by Jay and Nancy. They both work in Loxford. The type of post that Jay, Indian resident, writes about is Math and Chemistry but he does not like it. On the other hand, Nancy, she writes posts about Poems and Literature and she likes Literature.  Nancy is living near Ash.</a:t>
            </a:r>
          </a:p>
          <a:p>
            <a:endParaRPr lang="en-US" sz="2400" dirty="0">
              <a:solidFill>
                <a:schemeClr val="accent6">
                  <a:lumMod val="60000"/>
                  <a:lumOff val="40000"/>
                </a:schemeClr>
              </a:solidFill>
            </a:endParaRPr>
          </a:p>
          <a:p>
            <a:r>
              <a:rPr lang="en-US" sz="2400" i="1" dirty="0">
                <a:solidFill>
                  <a:schemeClr val="accent4">
                    <a:lumMod val="60000"/>
                    <a:lumOff val="40000"/>
                  </a:schemeClr>
                </a:solidFill>
              </a:rPr>
              <a:t>“Find people who work in Loxford and live in Berlin ?”   </a:t>
            </a:r>
            <a:r>
              <a:rPr lang="en-US" sz="2400" i="1" dirty="0">
                <a:solidFill>
                  <a:schemeClr val="accent4">
                    <a:lumMod val="60000"/>
                    <a:lumOff val="40000"/>
                  </a:schemeClr>
                </a:solidFill>
                <a:sym typeface="Wingdings" panose="05000000000000000000" pitchFamily="2" charset="2"/>
              </a:rPr>
              <a:t> Answer: Ash and Nancy</a:t>
            </a:r>
            <a:endParaRPr lang="en-US" sz="2400" dirty="0">
              <a:solidFill>
                <a:schemeClr val="accent4">
                  <a:lumMod val="60000"/>
                  <a:lumOff val="40000"/>
                </a:schemeClr>
              </a:solidFill>
            </a:endParaRPr>
          </a:p>
          <a:p>
            <a:r>
              <a:rPr lang="en-US" sz="2400" i="1" dirty="0">
                <a:solidFill>
                  <a:schemeClr val="accent4">
                    <a:lumMod val="60000"/>
                    <a:lumOff val="40000"/>
                  </a:schemeClr>
                </a:solidFill>
              </a:rPr>
              <a:t>“Find topics liked by people Ash follows ?”                        </a:t>
            </a:r>
            <a:r>
              <a:rPr lang="en-US" sz="2400" i="1" dirty="0">
                <a:solidFill>
                  <a:schemeClr val="accent4">
                    <a:lumMod val="60000"/>
                    <a:lumOff val="40000"/>
                  </a:schemeClr>
                </a:solidFill>
                <a:sym typeface="Wingdings" panose="05000000000000000000" pitchFamily="2" charset="2"/>
              </a:rPr>
              <a:t> Answer: Literature</a:t>
            </a:r>
            <a:endParaRPr lang="en-US" sz="2400" i="1" dirty="0">
              <a:solidFill>
                <a:schemeClr val="accent4">
                  <a:lumMod val="60000"/>
                  <a:lumOff val="40000"/>
                </a:schemeClr>
              </a:solidFill>
            </a:endParaRPr>
          </a:p>
        </p:txBody>
      </p:sp>
    </p:spTree>
    <p:extLst>
      <p:ext uri="{BB962C8B-B14F-4D97-AF65-F5344CB8AC3E}">
        <p14:creationId xmlns:p14="http://schemas.microsoft.com/office/powerpoint/2010/main" val="4104936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F4B19-98A8-9DD9-3729-AA08FE9374F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BF03E52-C50F-CB31-2A7B-EA563365096A}"/>
              </a:ext>
            </a:extLst>
          </p:cNvPr>
          <p:cNvSpPr txBox="1"/>
          <p:nvPr/>
        </p:nvSpPr>
        <p:spPr>
          <a:xfrm>
            <a:off x="431292" y="294939"/>
            <a:ext cx="11329416" cy="1200329"/>
          </a:xfrm>
          <a:prstGeom prst="rect">
            <a:avLst/>
          </a:prstGeom>
          <a:noFill/>
        </p:spPr>
        <p:txBody>
          <a:bodyPr wrap="square">
            <a:spAutoFit/>
          </a:bodyPr>
          <a:lstStyle/>
          <a:p>
            <a:r>
              <a:rPr lang="en-US" sz="2400" b="1" dirty="0">
                <a:solidFill>
                  <a:schemeClr val="accent6">
                    <a:lumMod val="60000"/>
                    <a:lumOff val="40000"/>
                  </a:schemeClr>
                </a:solidFill>
              </a:rPr>
              <a:t>Need for Graph DB: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2) </a:t>
            </a:r>
            <a:r>
              <a:rPr lang="en-US" sz="2400" b="1" dirty="0">
                <a:solidFill>
                  <a:schemeClr val="accent6">
                    <a:lumMod val="60000"/>
                    <a:lumOff val="40000"/>
                  </a:schemeClr>
                </a:solidFill>
              </a:rPr>
              <a:t>Accuracy of vector DB drops as documents increase</a:t>
            </a:r>
          </a:p>
        </p:txBody>
      </p:sp>
      <p:pic>
        <p:nvPicPr>
          <p:cNvPr id="3" name="Picture 2">
            <a:extLst>
              <a:ext uri="{FF2B5EF4-FFF2-40B4-BE49-F238E27FC236}">
                <a16:creationId xmlns:a16="http://schemas.microsoft.com/office/drawing/2014/main" id="{8444A526-15AF-9A19-322C-D637AA229192}"/>
              </a:ext>
            </a:extLst>
          </p:cNvPr>
          <p:cNvPicPr>
            <a:picLocks noChangeAspect="1"/>
          </p:cNvPicPr>
          <p:nvPr/>
        </p:nvPicPr>
        <p:blipFill>
          <a:blip r:embed="rId2"/>
          <a:stretch>
            <a:fillRect/>
          </a:stretch>
        </p:blipFill>
        <p:spPr>
          <a:xfrm>
            <a:off x="731520" y="1806226"/>
            <a:ext cx="7924498" cy="4022958"/>
          </a:xfrm>
          <a:prstGeom prst="rect">
            <a:avLst/>
          </a:prstGeom>
        </p:spPr>
      </p:pic>
      <p:sp>
        <p:nvSpPr>
          <p:cNvPr id="5" name="TextBox 4">
            <a:extLst>
              <a:ext uri="{FF2B5EF4-FFF2-40B4-BE49-F238E27FC236}">
                <a16:creationId xmlns:a16="http://schemas.microsoft.com/office/drawing/2014/main" id="{BF097E3F-D9CA-62B0-261A-13A43FC0EF34}"/>
              </a:ext>
            </a:extLst>
          </p:cNvPr>
          <p:cNvSpPr txBox="1"/>
          <p:nvPr/>
        </p:nvSpPr>
        <p:spPr>
          <a:xfrm>
            <a:off x="237744" y="6140142"/>
            <a:ext cx="11850624" cy="461665"/>
          </a:xfrm>
          <a:prstGeom prst="rect">
            <a:avLst/>
          </a:prstGeom>
          <a:noFill/>
        </p:spPr>
        <p:txBody>
          <a:bodyPr wrap="square">
            <a:spAutoFit/>
          </a:bodyPr>
          <a:lstStyle/>
          <a:p>
            <a:r>
              <a:rPr lang="en-US" sz="2400" dirty="0">
                <a:solidFill>
                  <a:schemeClr val="accent6">
                    <a:lumMod val="60000"/>
                    <a:lumOff val="40000"/>
                  </a:schemeClr>
                </a:solidFill>
              </a:rPr>
              <a:t>Reason -&gt; More document -&gt; More Vector in embedding  space -&gt; harder to find right vectors</a:t>
            </a:r>
          </a:p>
        </p:txBody>
      </p:sp>
    </p:spTree>
    <p:extLst>
      <p:ext uri="{BB962C8B-B14F-4D97-AF65-F5344CB8AC3E}">
        <p14:creationId xmlns:p14="http://schemas.microsoft.com/office/powerpoint/2010/main" val="4119184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42BA-3CB5-4CEA-D80B-A368E1BD291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F2F6530-D00E-BE88-1D1B-5B8D1FDDDAEB}"/>
              </a:ext>
            </a:extLst>
          </p:cNvPr>
          <p:cNvSpPr txBox="1"/>
          <p:nvPr/>
        </p:nvSpPr>
        <p:spPr>
          <a:xfrm>
            <a:off x="566928" y="487025"/>
            <a:ext cx="10735056" cy="461665"/>
          </a:xfrm>
          <a:prstGeom prst="rect">
            <a:avLst/>
          </a:prstGeom>
          <a:noFill/>
        </p:spPr>
        <p:txBody>
          <a:bodyPr wrap="square">
            <a:spAutoFit/>
          </a:bodyPr>
          <a:lstStyle/>
          <a:p>
            <a:r>
              <a:rPr lang="en-US" sz="2400" b="1" dirty="0">
                <a:solidFill>
                  <a:schemeClr val="accent6">
                    <a:lumMod val="60000"/>
                    <a:lumOff val="40000"/>
                  </a:schemeClr>
                </a:solidFill>
              </a:rPr>
              <a:t>Need for Graph DB: </a:t>
            </a:r>
          </a:p>
        </p:txBody>
      </p:sp>
      <p:sp>
        <p:nvSpPr>
          <p:cNvPr id="3" name="TextBox 2">
            <a:extLst>
              <a:ext uri="{FF2B5EF4-FFF2-40B4-BE49-F238E27FC236}">
                <a16:creationId xmlns:a16="http://schemas.microsoft.com/office/drawing/2014/main" id="{13DCC3C4-A9B3-5A67-3FD3-7CB508D79200}"/>
              </a:ext>
            </a:extLst>
          </p:cNvPr>
          <p:cNvSpPr txBox="1"/>
          <p:nvPr/>
        </p:nvSpPr>
        <p:spPr>
          <a:xfrm>
            <a:off x="417576" y="1032617"/>
            <a:ext cx="11231880" cy="4893647"/>
          </a:xfrm>
          <a:prstGeom prst="rect">
            <a:avLst/>
          </a:prstGeom>
          <a:noFill/>
        </p:spPr>
        <p:txBody>
          <a:bodyPr wrap="square">
            <a:spAutoFit/>
          </a:bodyPr>
          <a:lstStyle/>
          <a:p>
            <a:r>
              <a:rPr lang="en-US" sz="2400" b="1" dirty="0">
                <a:solidFill>
                  <a:schemeClr val="accent6">
                    <a:lumMod val="60000"/>
                    <a:lumOff val="40000"/>
                  </a:schemeClr>
                </a:solidFill>
              </a:rPr>
              <a:t>3) Vector DB struggles if information is spread across the whole document.</a:t>
            </a:r>
          </a:p>
          <a:p>
            <a:endParaRPr lang="en-US" sz="2400" i="1" dirty="0">
              <a:solidFill>
                <a:schemeClr val="accent6">
                  <a:lumMod val="60000"/>
                  <a:lumOff val="40000"/>
                </a:schemeClr>
              </a:solidFill>
            </a:endParaRPr>
          </a:p>
          <a:p>
            <a:r>
              <a:rPr lang="en-US" sz="2400" dirty="0">
                <a:solidFill>
                  <a:schemeClr val="accent6">
                    <a:lumMod val="60000"/>
                    <a:lumOff val="40000"/>
                  </a:schemeClr>
                </a:solidFill>
              </a:rPr>
              <a:t>&lt;Paragraph about company Loxford detailing its history&gt;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&lt;Paragraph about Loxford and its business partners and its suppliers&gt;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&lt;Paragraph about all the companies that have been blacklisted by Brazil&gt;</a:t>
            </a:r>
          </a:p>
          <a:p>
            <a:endParaRPr lang="en-US" sz="2400" i="1" dirty="0">
              <a:solidFill>
                <a:schemeClr val="accent6">
                  <a:lumMod val="60000"/>
                  <a:lumOff val="40000"/>
                </a:schemeClr>
              </a:solidFill>
            </a:endParaRPr>
          </a:p>
          <a:p>
            <a:r>
              <a:rPr lang="en-US" sz="2400" dirty="0">
                <a:solidFill>
                  <a:schemeClr val="accent6">
                    <a:lumMod val="60000"/>
                    <a:lumOff val="40000"/>
                  </a:schemeClr>
                </a:solidFill>
              </a:rPr>
              <a:t>&lt;Paragraph about all the companies that have trade embargo&gt;</a:t>
            </a:r>
          </a:p>
          <a:p>
            <a:endParaRPr lang="en-US" sz="2400" i="1" dirty="0">
              <a:solidFill>
                <a:schemeClr val="accent6">
                  <a:lumMod val="60000"/>
                  <a:lumOff val="40000"/>
                </a:schemeClr>
              </a:solidFill>
            </a:endParaRPr>
          </a:p>
          <a:p>
            <a:endParaRPr lang="en-US" sz="2400" i="1" dirty="0">
              <a:solidFill>
                <a:schemeClr val="accent6">
                  <a:lumMod val="60000"/>
                  <a:lumOff val="40000"/>
                </a:schemeClr>
              </a:solidFill>
            </a:endParaRPr>
          </a:p>
          <a:p>
            <a:r>
              <a:rPr lang="en-US" sz="2400" i="1" dirty="0">
                <a:solidFill>
                  <a:schemeClr val="accent6">
                    <a:lumMod val="60000"/>
                    <a:lumOff val="40000"/>
                  </a:schemeClr>
                </a:solidFill>
              </a:rPr>
              <a:t>“Is Loxford sourcing components from any supplier owned by or connected to </a:t>
            </a:r>
            <a:r>
              <a:rPr lang="en-US" sz="2400" b="1" i="1" dirty="0">
                <a:solidFill>
                  <a:schemeClr val="accent6">
                    <a:lumMod val="60000"/>
                    <a:lumOff val="40000"/>
                  </a:schemeClr>
                </a:solidFill>
              </a:rPr>
              <a:t>Company X</a:t>
            </a:r>
            <a:r>
              <a:rPr lang="en-US" sz="2400" i="1" dirty="0">
                <a:solidFill>
                  <a:schemeClr val="accent6">
                    <a:lumMod val="60000"/>
                    <a:lumOff val="40000"/>
                  </a:schemeClr>
                </a:solidFill>
              </a:rPr>
              <a:t>, which was recently blacklisted by the Government of Brazil due to trade embargo? "</a:t>
            </a:r>
          </a:p>
        </p:txBody>
      </p:sp>
    </p:spTree>
    <p:extLst>
      <p:ext uri="{BB962C8B-B14F-4D97-AF65-F5344CB8AC3E}">
        <p14:creationId xmlns:p14="http://schemas.microsoft.com/office/powerpoint/2010/main" val="1149316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B36A8-A791-9559-F668-26774B4A191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2E55FC5-B8D7-123F-BEFE-1D6153980A8B}"/>
              </a:ext>
            </a:extLst>
          </p:cNvPr>
          <p:cNvSpPr txBox="1"/>
          <p:nvPr/>
        </p:nvSpPr>
        <p:spPr>
          <a:xfrm>
            <a:off x="566928" y="487025"/>
            <a:ext cx="10735056" cy="461665"/>
          </a:xfrm>
          <a:prstGeom prst="rect">
            <a:avLst/>
          </a:prstGeom>
          <a:noFill/>
        </p:spPr>
        <p:txBody>
          <a:bodyPr wrap="square">
            <a:spAutoFit/>
          </a:bodyPr>
          <a:lstStyle/>
          <a:p>
            <a:r>
              <a:rPr lang="en-US" sz="2400" b="1" dirty="0">
                <a:solidFill>
                  <a:schemeClr val="accent6">
                    <a:lumMod val="60000"/>
                    <a:lumOff val="40000"/>
                  </a:schemeClr>
                </a:solidFill>
              </a:rPr>
              <a:t>Need for Graph DB: </a:t>
            </a:r>
          </a:p>
        </p:txBody>
      </p:sp>
      <p:sp>
        <p:nvSpPr>
          <p:cNvPr id="5" name="TextBox 4">
            <a:extLst>
              <a:ext uri="{FF2B5EF4-FFF2-40B4-BE49-F238E27FC236}">
                <a16:creationId xmlns:a16="http://schemas.microsoft.com/office/drawing/2014/main" id="{98C79A60-008E-B1A5-3DFE-7A9E8F51FBCC}"/>
              </a:ext>
            </a:extLst>
          </p:cNvPr>
          <p:cNvSpPr txBox="1"/>
          <p:nvPr/>
        </p:nvSpPr>
        <p:spPr>
          <a:xfrm>
            <a:off x="429768" y="1194161"/>
            <a:ext cx="10735056" cy="1200329"/>
          </a:xfrm>
          <a:prstGeom prst="rect">
            <a:avLst/>
          </a:prstGeom>
          <a:noFill/>
        </p:spPr>
        <p:txBody>
          <a:bodyPr wrap="square">
            <a:spAutoFit/>
          </a:bodyPr>
          <a:lstStyle/>
          <a:p>
            <a:r>
              <a:rPr lang="en-US" sz="2400" b="1" dirty="0">
                <a:solidFill>
                  <a:schemeClr val="accent6">
                    <a:lumMod val="60000"/>
                    <a:lumOff val="40000"/>
                  </a:schemeClr>
                </a:solidFill>
              </a:rPr>
              <a:t>4)</a:t>
            </a:r>
            <a:r>
              <a:rPr lang="en-US" sz="2400" dirty="0">
                <a:solidFill>
                  <a:schemeClr val="accent6">
                    <a:lumMod val="60000"/>
                    <a:lumOff val="40000"/>
                  </a:schemeClr>
                </a:solidFill>
              </a:rPr>
              <a:t> </a:t>
            </a:r>
            <a:r>
              <a:rPr lang="en-US" sz="2400" b="1" dirty="0">
                <a:solidFill>
                  <a:schemeClr val="accent6">
                    <a:lumMod val="60000"/>
                    <a:lumOff val="40000"/>
                  </a:schemeClr>
                </a:solidFill>
              </a:rPr>
              <a:t>Vector DB cannot provide Holistic view</a:t>
            </a:r>
            <a:endParaRPr lang="en-US" sz="2400" dirty="0">
              <a:solidFill>
                <a:schemeClr val="accent6">
                  <a:lumMod val="60000"/>
                  <a:lumOff val="40000"/>
                </a:schemeClr>
              </a:solidFill>
            </a:endParaRPr>
          </a:p>
          <a:p>
            <a:endParaRPr lang="en-US" sz="2400" i="1" dirty="0">
              <a:solidFill>
                <a:schemeClr val="accent6">
                  <a:lumMod val="60000"/>
                  <a:lumOff val="40000"/>
                </a:schemeClr>
              </a:solidFill>
            </a:endParaRPr>
          </a:p>
          <a:p>
            <a:r>
              <a:rPr lang="en-US" sz="2400" i="1" dirty="0">
                <a:solidFill>
                  <a:schemeClr val="accent6">
                    <a:lumMod val="60000"/>
                    <a:lumOff val="40000"/>
                  </a:schemeClr>
                </a:solidFill>
              </a:rPr>
              <a:t>“What are the top 3 main themes of this research paper? "</a:t>
            </a:r>
          </a:p>
        </p:txBody>
      </p:sp>
    </p:spTree>
    <p:extLst>
      <p:ext uri="{BB962C8B-B14F-4D97-AF65-F5344CB8AC3E}">
        <p14:creationId xmlns:p14="http://schemas.microsoft.com/office/powerpoint/2010/main" val="177488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0E893-7F9C-7B65-4546-F74D9CD5B3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F0745DE-AD65-16EA-9D5F-160AF14831F8}"/>
              </a:ext>
            </a:extLst>
          </p:cNvPr>
          <p:cNvSpPr txBox="1"/>
          <p:nvPr/>
        </p:nvSpPr>
        <p:spPr>
          <a:xfrm>
            <a:off x="256032" y="395957"/>
            <a:ext cx="5321808" cy="2677656"/>
          </a:xfrm>
          <a:prstGeom prst="rect">
            <a:avLst/>
          </a:prstGeom>
          <a:noFill/>
        </p:spPr>
        <p:txBody>
          <a:bodyPr wrap="square">
            <a:spAutoFit/>
          </a:bodyPr>
          <a:lstStyle/>
          <a:p>
            <a:r>
              <a:rPr lang="en-US" sz="2400" b="1" dirty="0">
                <a:solidFill>
                  <a:schemeClr val="accent6">
                    <a:lumMod val="60000"/>
                    <a:lumOff val="40000"/>
                  </a:schemeClr>
                </a:solidFill>
              </a:rPr>
              <a:t>Core Idea (Intuition)</a:t>
            </a:r>
          </a:p>
          <a:p>
            <a:pPr marL="457200" indent="-457200">
              <a:buAutoNum type="arabicPeriod"/>
            </a:pPr>
            <a:endParaRPr lang="en-US" sz="2400" b="1" dirty="0">
              <a:solidFill>
                <a:schemeClr val="accent6">
                  <a:lumMod val="60000"/>
                  <a:lumOff val="40000"/>
                </a:schemeClr>
              </a:solidFill>
            </a:endParaRPr>
          </a:p>
          <a:p>
            <a:r>
              <a:rPr lang="en-US" sz="2400" dirty="0">
                <a:solidFill>
                  <a:schemeClr val="accent6">
                    <a:lumMod val="60000"/>
                    <a:lumOff val="40000"/>
                  </a:schemeClr>
                </a:solidFill>
              </a:rPr>
              <a:t>Think of social media:</a:t>
            </a:r>
          </a:p>
          <a:p>
            <a:pPr marL="342900" indent="-342900">
              <a:buFont typeface="Arial" panose="020B0604020202020204" pitchFamily="34" charset="0"/>
              <a:buChar char="•"/>
            </a:pPr>
            <a:r>
              <a:rPr lang="en-US" sz="2400" dirty="0">
                <a:solidFill>
                  <a:schemeClr val="accent6">
                    <a:lumMod val="60000"/>
                    <a:lumOff val="40000"/>
                  </a:schemeClr>
                </a:solidFill>
              </a:rPr>
              <a:t>You → follow → your friend </a:t>
            </a:r>
          </a:p>
          <a:p>
            <a:pPr marL="342900" indent="-342900">
              <a:buFont typeface="Arial" panose="020B0604020202020204" pitchFamily="34" charset="0"/>
              <a:buChar char="•"/>
            </a:pPr>
            <a:r>
              <a:rPr lang="en-US" sz="2400" dirty="0">
                <a:solidFill>
                  <a:schemeClr val="accent6">
                    <a:lumMod val="60000"/>
                    <a:lumOff val="40000"/>
                  </a:schemeClr>
                </a:solidFill>
              </a:rPr>
              <a:t>Your friend → likes → a post </a:t>
            </a:r>
          </a:p>
          <a:p>
            <a:pPr marL="342900" indent="-342900">
              <a:buFont typeface="Arial" panose="020B0604020202020204" pitchFamily="34" charset="0"/>
              <a:buChar char="•"/>
            </a:pPr>
            <a:r>
              <a:rPr lang="en-US" sz="2400" dirty="0">
                <a:solidFill>
                  <a:schemeClr val="accent6">
                    <a:lumMod val="60000"/>
                    <a:lumOff val="40000"/>
                  </a:schemeClr>
                </a:solidFill>
              </a:rPr>
              <a:t>That post → belongs to → a topic </a:t>
            </a:r>
          </a:p>
          <a:p>
            <a:r>
              <a:rPr lang="en-US" sz="2400" dirty="0">
                <a:solidFill>
                  <a:schemeClr val="accent6">
                    <a:lumMod val="60000"/>
                    <a:lumOff val="40000"/>
                  </a:schemeClr>
                </a:solidFill>
              </a:rPr>
              <a:t>This is </a:t>
            </a:r>
            <a:r>
              <a:rPr lang="en-US" sz="2400" b="1" dirty="0">
                <a:solidFill>
                  <a:schemeClr val="accent6">
                    <a:lumMod val="60000"/>
                    <a:lumOff val="40000"/>
                  </a:schemeClr>
                </a:solidFill>
              </a:rPr>
              <a:t>naturally a graph</a:t>
            </a:r>
            <a:r>
              <a:rPr lang="en-US" sz="2400" dirty="0">
                <a:solidFill>
                  <a:schemeClr val="accent6">
                    <a:lumMod val="60000"/>
                    <a:lumOff val="40000"/>
                  </a:schemeClr>
                </a:solidFill>
              </a:rPr>
              <a:t>, not a table.</a:t>
            </a:r>
          </a:p>
        </p:txBody>
      </p:sp>
      <p:sp>
        <p:nvSpPr>
          <p:cNvPr id="2" name="Oval 1">
            <a:extLst>
              <a:ext uri="{FF2B5EF4-FFF2-40B4-BE49-F238E27FC236}">
                <a16:creationId xmlns:a16="http://schemas.microsoft.com/office/drawing/2014/main" id="{6C65B778-7039-6828-A88B-096C16F546C3}"/>
              </a:ext>
            </a:extLst>
          </p:cNvPr>
          <p:cNvSpPr/>
          <p:nvPr/>
        </p:nvSpPr>
        <p:spPr>
          <a:xfrm>
            <a:off x="1648336" y="4617720"/>
            <a:ext cx="1122295" cy="9509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Ash</a:t>
            </a:r>
          </a:p>
        </p:txBody>
      </p:sp>
      <p:sp>
        <p:nvSpPr>
          <p:cNvPr id="4" name="Oval 3">
            <a:extLst>
              <a:ext uri="{FF2B5EF4-FFF2-40B4-BE49-F238E27FC236}">
                <a16:creationId xmlns:a16="http://schemas.microsoft.com/office/drawing/2014/main" id="{5AF522B1-2673-8467-5BBF-49BE56B24A45}"/>
              </a:ext>
            </a:extLst>
          </p:cNvPr>
          <p:cNvSpPr/>
          <p:nvPr/>
        </p:nvSpPr>
        <p:spPr>
          <a:xfrm>
            <a:off x="3920957" y="4558391"/>
            <a:ext cx="1463894" cy="114441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Fredo</a:t>
            </a:r>
          </a:p>
          <a:p>
            <a:pPr algn="ctr"/>
            <a:r>
              <a:rPr lang="en-US" sz="2000" dirty="0"/>
              <a:t>(Friend)</a:t>
            </a:r>
          </a:p>
        </p:txBody>
      </p:sp>
      <p:sp>
        <p:nvSpPr>
          <p:cNvPr id="5" name="Arrow: Right 4">
            <a:extLst>
              <a:ext uri="{FF2B5EF4-FFF2-40B4-BE49-F238E27FC236}">
                <a16:creationId xmlns:a16="http://schemas.microsoft.com/office/drawing/2014/main" id="{63313806-64CE-069D-474A-2A5519CF224C}"/>
              </a:ext>
            </a:extLst>
          </p:cNvPr>
          <p:cNvSpPr/>
          <p:nvPr/>
        </p:nvSpPr>
        <p:spPr>
          <a:xfrm>
            <a:off x="2889504" y="4974336"/>
            <a:ext cx="749808"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7A2013B-BBDA-D424-B522-6CD50DD3B47E}"/>
              </a:ext>
            </a:extLst>
          </p:cNvPr>
          <p:cNvSpPr/>
          <p:nvPr/>
        </p:nvSpPr>
        <p:spPr>
          <a:xfrm>
            <a:off x="7202967" y="4649724"/>
            <a:ext cx="1141990" cy="9509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Post</a:t>
            </a:r>
            <a:endParaRPr lang="en-US" sz="2800" dirty="0"/>
          </a:p>
        </p:txBody>
      </p:sp>
      <p:sp>
        <p:nvSpPr>
          <p:cNvPr id="10" name="Arrow: Right 9">
            <a:extLst>
              <a:ext uri="{FF2B5EF4-FFF2-40B4-BE49-F238E27FC236}">
                <a16:creationId xmlns:a16="http://schemas.microsoft.com/office/drawing/2014/main" id="{C653BA85-B94E-9777-4EEA-A440E25AA5CF}"/>
              </a:ext>
            </a:extLst>
          </p:cNvPr>
          <p:cNvSpPr/>
          <p:nvPr/>
        </p:nvSpPr>
        <p:spPr>
          <a:xfrm>
            <a:off x="6036859" y="5084879"/>
            <a:ext cx="749808"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98CC8A8-43DF-A148-8574-DEA20DACDB36}"/>
              </a:ext>
            </a:extLst>
          </p:cNvPr>
          <p:cNvSpPr/>
          <p:nvPr/>
        </p:nvSpPr>
        <p:spPr>
          <a:xfrm>
            <a:off x="10272571" y="4732844"/>
            <a:ext cx="1249680"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Stocks</a:t>
            </a:r>
          </a:p>
        </p:txBody>
      </p:sp>
      <p:sp>
        <p:nvSpPr>
          <p:cNvPr id="14" name="Arrow: Right 13">
            <a:extLst>
              <a:ext uri="{FF2B5EF4-FFF2-40B4-BE49-F238E27FC236}">
                <a16:creationId xmlns:a16="http://schemas.microsoft.com/office/drawing/2014/main" id="{74890C8F-F060-5BD4-677F-BCEE460A70C8}"/>
              </a:ext>
            </a:extLst>
          </p:cNvPr>
          <p:cNvSpPr/>
          <p:nvPr/>
        </p:nvSpPr>
        <p:spPr>
          <a:xfrm>
            <a:off x="9153144" y="5079492"/>
            <a:ext cx="749808"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B291F78-CFBC-155C-CFB9-7FAA9D025CFF}"/>
              </a:ext>
            </a:extLst>
          </p:cNvPr>
          <p:cNvSpPr txBox="1"/>
          <p:nvPr/>
        </p:nvSpPr>
        <p:spPr>
          <a:xfrm>
            <a:off x="2666685" y="4512671"/>
            <a:ext cx="1122295"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Follows</a:t>
            </a:r>
          </a:p>
        </p:txBody>
      </p:sp>
      <p:sp>
        <p:nvSpPr>
          <p:cNvPr id="17" name="TextBox 16">
            <a:extLst>
              <a:ext uri="{FF2B5EF4-FFF2-40B4-BE49-F238E27FC236}">
                <a16:creationId xmlns:a16="http://schemas.microsoft.com/office/drawing/2014/main" id="{6CDA9414-6804-8464-1994-88915D945373}"/>
              </a:ext>
            </a:extLst>
          </p:cNvPr>
          <p:cNvSpPr txBox="1"/>
          <p:nvPr/>
        </p:nvSpPr>
        <p:spPr>
          <a:xfrm>
            <a:off x="5223510" y="3633086"/>
            <a:ext cx="788677"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Likes</a:t>
            </a:r>
          </a:p>
        </p:txBody>
      </p:sp>
      <p:sp>
        <p:nvSpPr>
          <p:cNvPr id="19" name="TextBox 18">
            <a:extLst>
              <a:ext uri="{FF2B5EF4-FFF2-40B4-BE49-F238E27FC236}">
                <a16:creationId xmlns:a16="http://schemas.microsoft.com/office/drawing/2014/main" id="{43DEDC61-D9D7-EB39-3802-C83B0DA505A5}"/>
              </a:ext>
            </a:extLst>
          </p:cNvPr>
          <p:cNvSpPr txBox="1"/>
          <p:nvPr/>
        </p:nvSpPr>
        <p:spPr>
          <a:xfrm>
            <a:off x="8778059" y="4475279"/>
            <a:ext cx="1494512"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Belongs to</a:t>
            </a:r>
          </a:p>
        </p:txBody>
      </p:sp>
      <p:sp>
        <p:nvSpPr>
          <p:cNvPr id="6" name="Oval 5">
            <a:extLst>
              <a:ext uri="{FF2B5EF4-FFF2-40B4-BE49-F238E27FC236}">
                <a16:creationId xmlns:a16="http://schemas.microsoft.com/office/drawing/2014/main" id="{2929C3CC-324A-9B65-E1B6-7C4989281BDE}"/>
              </a:ext>
            </a:extLst>
          </p:cNvPr>
          <p:cNvSpPr/>
          <p:nvPr/>
        </p:nvSpPr>
        <p:spPr>
          <a:xfrm>
            <a:off x="9433378" y="2060254"/>
            <a:ext cx="1494512" cy="11798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Finance</a:t>
            </a:r>
          </a:p>
        </p:txBody>
      </p:sp>
      <p:sp>
        <p:nvSpPr>
          <p:cNvPr id="11" name="Arrow: Right 10">
            <a:extLst>
              <a:ext uri="{FF2B5EF4-FFF2-40B4-BE49-F238E27FC236}">
                <a16:creationId xmlns:a16="http://schemas.microsoft.com/office/drawing/2014/main" id="{BA93A1BB-9761-6FB9-4ECA-26DD877C104D}"/>
              </a:ext>
            </a:extLst>
          </p:cNvPr>
          <p:cNvSpPr/>
          <p:nvPr/>
        </p:nvSpPr>
        <p:spPr>
          <a:xfrm rot="18887279">
            <a:off x="8304503" y="3696998"/>
            <a:ext cx="1386271" cy="382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00DE703-01B4-6D3F-9120-A5D26A9137AB}"/>
              </a:ext>
            </a:extLst>
          </p:cNvPr>
          <p:cNvSpPr/>
          <p:nvPr/>
        </p:nvSpPr>
        <p:spPr>
          <a:xfrm>
            <a:off x="6763161" y="2840887"/>
            <a:ext cx="1360885" cy="10855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Movies</a:t>
            </a:r>
          </a:p>
        </p:txBody>
      </p:sp>
      <p:sp>
        <p:nvSpPr>
          <p:cNvPr id="20" name="Arrow: Right 19">
            <a:extLst>
              <a:ext uri="{FF2B5EF4-FFF2-40B4-BE49-F238E27FC236}">
                <a16:creationId xmlns:a16="http://schemas.microsoft.com/office/drawing/2014/main" id="{493B3E65-78B7-6200-084A-A88C4731D542}"/>
              </a:ext>
            </a:extLst>
          </p:cNvPr>
          <p:cNvSpPr/>
          <p:nvPr/>
        </p:nvSpPr>
        <p:spPr>
          <a:xfrm rot="19233492">
            <a:off x="5133073" y="4007400"/>
            <a:ext cx="1544045"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B86FE38-644D-7191-8C61-6AA42825FD66}"/>
              </a:ext>
            </a:extLst>
          </p:cNvPr>
          <p:cNvSpPr txBox="1"/>
          <p:nvPr/>
        </p:nvSpPr>
        <p:spPr>
          <a:xfrm>
            <a:off x="6036859" y="4645259"/>
            <a:ext cx="788677"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Likes</a:t>
            </a:r>
          </a:p>
        </p:txBody>
      </p:sp>
      <p:sp>
        <p:nvSpPr>
          <p:cNvPr id="24" name="TextBox 23">
            <a:extLst>
              <a:ext uri="{FF2B5EF4-FFF2-40B4-BE49-F238E27FC236}">
                <a16:creationId xmlns:a16="http://schemas.microsoft.com/office/drawing/2014/main" id="{1A756FF5-D082-3AE4-1C01-7C7649249D3F}"/>
              </a:ext>
            </a:extLst>
          </p:cNvPr>
          <p:cNvSpPr txBox="1"/>
          <p:nvPr/>
        </p:nvSpPr>
        <p:spPr>
          <a:xfrm>
            <a:off x="9533115" y="3409980"/>
            <a:ext cx="1494512"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Belongs to</a:t>
            </a:r>
          </a:p>
        </p:txBody>
      </p:sp>
      <p:sp>
        <p:nvSpPr>
          <p:cNvPr id="9" name="Oval 8">
            <a:extLst>
              <a:ext uri="{FF2B5EF4-FFF2-40B4-BE49-F238E27FC236}">
                <a16:creationId xmlns:a16="http://schemas.microsoft.com/office/drawing/2014/main" id="{D648B8EE-996F-C46B-4563-F08A3628D898}"/>
              </a:ext>
            </a:extLst>
          </p:cNvPr>
          <p:cNvSpPr/>
          <p:nvPr/>
        </p:nvSpPr>
        <p:spPr>
          <a:xfrm>
            <a:off x="6763161" y="451205"/>
            <a:ext cx="1207008" cy="108557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Action</a:t>
            </a:r>
          </a:p>
        </p:txBody>
      </p:sp>
      <p:sp>
        <p:nvSpPr>
          <p:cNvPr id="18" name="Arrow: Right 17">
            <a:extLst>
              <a:ext uri="{FF2B5EF4-FFF2-40B4-BE49-F238E27FC236}">
                <a16:creationId xmlns:a16="http://schemas.microsoft.com/office/drawing/2014/main" id="{1BAB2101-B04F-F769-5AC2-0033A15742E6}"/>
              </a:ext>
            </a:extLst>
          </p:cNvPr>
          <p:cNvSpPr/>
          <p:nvPr/>
        </p:nvSpPr>
        <p:spPr>
          <a:xfrm rot="16200000">
            <a:off x="6696309" y="2038149"/>
            <a:ext cx="1179870"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1229425-9DE4-8B66-508A-2F93C5198F41}"/>
              </a:ext>
            </a:extLst>
          </p:cNvPr>
          <p:cNvSpPr txBox="1"/>
          <p:nvPr/>
        </p:nvSpPr>
        <p:spPr>
          <a:xfrm>
            <a:off x="7475203" y="1886787"/>
            <a:ext cx="950901"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About</a:t>
            </a:r>
          </a:p>
        </p:txBody>
      </p:sp>
      <p:sp>
        <p:nvSpPr>
          <p:cNvPr id="13" name="Oval 12">
            <a:extLst>
              <a:ext uri="{FF2B5EF4-FFF2-40B4-BE49-F238E27FC236}">
                <a16:creationId xmlns:a16="http://schemas.microsoft.com/office/drawing/2014/main" id="{E2669EC4-3B42-6FA5-B2C0-AD0902A1697E}"/>
              </a:ext>
            </a:extLst>
          </p:cNvPr>
          <p:cNvSpPr/>
          <p:nvPr/>
        </p:nvSpPr>
        <p:spPr>
          <a:xfrm>
            <a:off x="256032" y="5747828"/>
            <a:ext cx="1122295" cy="95097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Tom</a:t>
            </a:r>
          </a:p>
        </p:txBody>
      </p:sp>
      <p:sp>
        <p:nvSpPr>
          <p:cNvPr id="25" name="Arrow: Right 24">
            <a:extLst>
              <a:ext uri="{FF2B5EF4-FFF2-40B4-BE49-F238E27FC236}">
                <a16:creationId xmlns:a16="http://schemas.microsoft.com/office/drawing/2014/main" id="{093F0E2A-F359-9DB5-3332-CDA396EEDA66}"/>
              </a:ext>
            </a:extLst>
          </p:cNvPr>
          <p:cNvSpPr/>
          <p:nvPr/>
        </p:nvSpPr>
        <p:spPr>
          <a:xfrm rot="8844236">
            <a:off x="1191305" y="5569520"/>
            <a:ext cx="749808" cy="2651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185BCC18-D04D-2A4B-CAD0-81287F3CE501}"/>
              </a:ext>
            </a:extLst>
          </p:cNvPr>
          <p:cNvSpPr txBox="1"/>
          <p:nvPr/>
        </p:nvSpPr>
        <p:spPr>
          <a:xfrm>
            <a:off x="385218" y="5240443"/>
            <a:ext cx="1122295" cy="461665"/>
          </a:xfrm>
          <a:prstGeom prst="rect">
            <a:avLst/>
          </a:prstGeom>
          <a:noFill/>
        </p:spPr>
        <p:txBody>
          <a:bodyPr wrap="none" rtlCol="0">
            <a:spAutoFit/>
          </a:bodyPr>
          <a:lstStyle/>
          <a:p>
            <a:r>
              <a:rPr lang="en-US" sz="2400" dirty="0">
                <a:solidFill>
                  <a:schemeClr val="accent6">
                    <a:lumMod val="60000"/>
                    <a:lumOff val="40000"/>
                  </a:schemeClr>
                </a:solidFill>
                <a:highlight>
                  <a:srgbClr val="800000"/>
                </a:highlight>
              </a:rPr>
              <a:t>Follows</a:t>
            </a:r>
          </a:p>
        </p:txBody>
      </p:sp>
    </p:spTree>
    <p:extLst>
      <p:ext uri="{BB962C8B-B14F-4D97-AF65-F5344CB8AC3E}">
        <p14:creationId xmlns:p14="http://schemas.microsoft.com/office/powerpoint/2010/main" val="1955919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FF0D5-D219-B491-9B65-F647D9E9B1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9B09B9-B553-1672-86C9-B105DF8AC0BB}"/>
              </a:ext>
            </a:extLst>
          </p:cNvPr>
          <p:cNvSpPr txBox="1"/>
          <p:nvPr/>
        </p:nvSpPr>
        <p:spPr>
          <a:xfrm>
            <a:off x="1618488" y="1401032"/>
            <a:ext cx="8362188" cy="2308324"/>
          </a:xfrm>
          <a:prstGeom prst="rect">
            <a:avLst/>
          </a:prstGeom>
          <a:noFill/>
        </p:spPr>
        <p:txBody>
          <a:bodyPr wrap="square">
            <a:spAutoFit/>
          </a:bodyPr>
          <a:lstStyle/>
          <a:p>
            <a:r>
              <a:rPr lang="en-US" sz="3600" b="1" dirty="0">
                <a:solidFill>
                  <a:schemeClr val="accent6">
                    <a:lumMod val="60000"/>
                    <a:lumOff val="40000"/>
                  </a:schemeClr>
                </a:solidFill>
              </a:rPr>
              <a:t>Basic Components of a Graph DB</a:t>
            </a:r>
          </a:p>
          <a:p>
            <a:pPr marL="571500" indent="-571500">
              <a:buFont typeface="Arial" panose="020B0604020202020204" pitchFamily="34" charset="0"/>
              <a:buChar char="•"/>
            </a:pPr>
            <a:r>
              <a:rPr lang="en-US" sz="3600" dirty="0">
                <a:solidFill>
                  <a:schemeClr val="accent6">
                    <a:lumMod val="60000"/>
                    <a:lumOff val="40000"/>
                  </a:schemeClr>
                </a:solidFill>
              </a:rPr>
              <a:t>Nodes</a:t>
            </a:r>
          </a:p>
          <a:p>
            <a:pPr marL="571500" indent="-571500">
              <a:buFont typeface="Arial" panose="020B0604020202020204" pitchFamily="34" charset="0"/>
              <a:buChar char="•"/>
            </a:pPr>
            <a:r>
              <a:rPr lang="en-US" sz="3600" dirty="0">
                <a:solidFill>
                  <a:schemeClr val="accent6">
                    <a:lumMod val="60000"/>
                    <a:lumOff val="40000"/>
                  </a:schemeClr>
                </a:solidFill>
              </a:rPr>
              <a:t>Relationship</a:t>
            </a:r>
          </a:p>
          <a:p>
            <a:pPr marL="571500" indent="-571500">
              <a:buFont typeface="Arial" panose="020B0604020202020204" pitchFamily="34" charset="0"/>
              <a:buChar char="•"/>
            </a:pPr>
            <a:r>
              <a:rPr lang="en-US" sz="3600" dirty="0">
                <a:solidFill>
                  <a:schemeClr val="accent6">
                    <a:lumMod val="60000"/>
                    <a:lumOff val="40000"/>
                  </a:schemeClr>
                </a:solidFill>
              </a:rPr>
              <a:t>Properties</a:t>
            </a:r>
          </a:p>
        </p:txBody>
      </p:sp>
    </p:spTree>
    <p:extLst>
      <p:ext uri="{BB962C8B-B14F-4D97-AF65-F5344CB8AC3E}">
        <p14:creationId xmlns:p14="http://schemas.microsoft.com/office/powerpoint/2010/main" val="677728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44EE-1EF6-3983-2656-03DFA273BD3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4FC7FFC-5144-36AE-4D2A-B29E05728C43}"/>
              </a:ext>
            </a:extLst>
          </p:cNvPr>
          <p:cNvSpPr txBox="1"/>
          <p:nvPr/>
        </p:nvSpPr>
        <p:spPr>
          <a:xfrm>
            <a:off x="192024" y="331184"/>
            <a:ext cx="8362188" cy="2677656"/>
          </a:xfrm>
          <a:prstGeom prst="rect">
            <a:avLst/>
          </a:prstGeom>
          <a:noFill/>
        </p:spPr>
        <p:txBody>
          <a:bodyPr wrap="square">
            <a:spAutoFit/>
          </a:bodyPr>
          <a:lstStyle/>
          <a:p>
            <a:pPr marL="457200" indent="-457200">
              <a:buAutoNum type="arabicPeriod"/>
            </a:pPr>
            <a:r>
              <a:rPr lang="en-US" sz="2400" b="1" dirty="0">
                <a:solidFill>
                  <a:schemeClr val="accent6">
                    <a:lumMod val="60000"/>
                    <a:lumOff val="40000"/>
                  </a:schemeClr>
                </a:solidFill>
              </a:rPr>
              <a:t>Nodes (Entities)</a:t>
            </a:r>
          </a:p>
          <a:p>
            <a:pPr marL="457200" indent="-457200">
              <a:buAutoNum type="arabicPeriod"/>
            </a:pPr>
            <a:endParaRPr lang="en-US" sz="2400" b="1" dirty="0">
              <a:solidFill>
                <a:schemeClr val="accent6">
                  <a:lumMod val="60000"/>
                  <a:lumOff val="40000"/>
                </a:schemeClr>
              </a:solidFill>
            </a:endParaRPr>
          </a:p>
          <a:p>
            <a:r>
              <a:rPr lang="en-US" sz="2400" dirty="0">
                <a:solidFill>
                  <a:schemeClr val="accent6">
                    <a:lumMod val="60000"/>
                    <a:lumOff val="40000"/>
                  </a:schemeClr>
                </a:solidFill>
              </a:rPr>
              <a:t>Represent objects  -  Example: Person, Product, City </a:t>
            </a:r>
          </a:p>
          <a:p>
            <a:r>
              <a:rPr lang="en-US" sz="2400" dirty="0">
                <a:solidFill>
                  <a:schemeClr val="accent6">
                    <a:lumMod val="60000"/>
                    <a:lumOff val="40000"/>
                  </a:schemeClr>
                </a:solidFill>
              </a:rPr>
              <a:t>👉 Example:</a:t>
            </a:r>
          </a:p>
          <a:p>
            <a:r>
              <a:rPr lang="en-US" sz="2400" dirty="0">
                <a:solidFill>
                  <a:schemeClr val="accent6">
                    <a:lumMod val="60000"/>
                    <a:lumOff val="40000"/>
                  </a:schemeClr>
                </a:solidFill>
              </a:rPr>
              <a:t>Node: </a:t>
            </a:r>
            <a:r>
              <a:rPr lang="en-US" sz="2400" i="1" dirty="0">
                <a:solidFill>
                  <a:schemeClr val="accent6">
                    <a:lumMod val="60000"/>
                    <a:lumOff val="40000"/>
                  </a:schemeClr>
                </a:solidFill>
              </a:rPr>
              <a:t>Ash</a:t>
            </a:r>
            <a:r>
              <a:rPr lang="en-US" sz="2400" dirty="0">
                <a:solidFill>
                  <a:schemeClr val="accent6">
                    <a:lumMod val="60000"/>
                    <a:lumOff val="40000"/>
                  </a:schemeClr>
                </a:solidFill>
              </a:rPr>
              <a:t> </a:t>
            </a:r>
          </a:p>
          <a:p>
            <a:r>
              <a:rPr lang="en-US" sz="2400" dirty="0">
                <a:solidFill>
                  <a:schemeClr val="accent6">
                    <a:lumMod val="60000"/>
                    <a:lumOff val="40000"/>
                  </a:schemeClr>
                </a:solidFill>
              </a:rPr>
              <a:t>Node: </a:t>
            </a:r>
            <a:r>
              <a:rPr lang="en-US" sz="2400" i="1" dirty="0">
                <a:solidFill>
                  <a:schemeClr val="accent6">
                    <a:lumMod val="60000"/>
                    <a:lumOff val="40000"/>
                  </a:schemeClr>
                </a:solidFill>
              </a:rPr>
              <a:t>Course</a:t>
            </a:r>
            <a:r>
              <a:rPr lang="en-US" sz="2400" dirty="0">
                <a:solidFill>
                  <a:schemeClr val="accent6">
                    <a:lumMod val="60000"/>
                    <a:lumOff val="40000"/>
                  </a:schemeClr>
                </a:solidFill>
              </a:rPr>
              <a:t> </a:t>
            </a:r>
          </a:p>
          <a:p>
            <a:r>
              <a:rPr lang="en-US" sz="2400" dirty="0">
                <a:solidFill>
                  <a:schemeClr val="accent6">
                    <a:lumMod val="60000"/>
                    <a:lumOff val="40000"/>
                  </a:schemeClr>
                </a:solidFill>
              </a:rPr>
              <a:t>Node: </a:t>
            </a:r>
            <a:r>
              <a:rPr lang="en-US" sz="2400" i="1" dirty="0">
                <a:solidFill>
                  <a:schemeClr val="accent6">
                    <a:lumMod val="60000"/>
                    <a:lumOff val="40000"/>
                  </a:schemeClr>
                </a:solidFill>
              </a:rPr>
              <a:t>Delhi</a:t>
            </a:r>
            <a:endParaRPr lang="en-US" sz="2400" dirty="0">
              <a:solidFill>
                <a:schemeClr val="accent6">
                  <a:lumMod val="60000"/>
                  <a:lumOff val="40000"/>
                </a:schemeClr>
              </a:solidFill>
            </a:endParaRPr>
          </a:p>
        </p:txBody>
      </p:sp>
      <p:sp>
        <p:nvSpPr>
          <p:cNvPr id="6" name="Oval 5">
            <a:extLst>
              <a:ext uri="{FF2B5EF4-FFF2-40B4-BE49-F238E27FC236}">
                <a16:creationId xmlns:a16="http://schemas.microsoft.com/office/drawing/2014/main" id="{2C9C4981-71A4-F4DA-0BDB-E4732FE304E8}"/>
              </a:ext>
            </a:extLst>
          </p:cNvPr>
          <p:cNvSpPr/>
          <p:nvPr/>
        </p:nvSpPr>
        <p:spPr>
          <a:xfrm>
            <a:off x="722376" y="3008840"/>
            <a:ext cx="2679192" cy="14534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Ash</a:t>
            </a:r>
          </a:p>
        </p:txBody>
      </p:sp>
      <p:sp>
        <p:nvSpPr>
          <p:cNvPr id="9" name="Oval 8">
            <a:extLst>
              <a:ext uri="{FF2B5EF4-FFF2-40B4-BE49-F238E27FC236}">
                <a16:creationId xmlns:a16="http://schemas.microsoft.com/office/drawing/2014/main" id="{55272EC6-C67F-EA6F-247E-564769059879}"/>
              </a:ext>
            </a:extLst>
          </p:cNvPr>
          <p:cNvSpPr/>
          <p:nvPr/>
        </p:nvSpPr>
        <p:spPr>
          <a:xfrm>
            <a:off x="6440426" y="3429000"/>
            <a:ext cx="2868166" cy="10332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Course</a:t>
            </a:r>
          </a:p>
        </p:txBody>
      </p:sp>
      <p:sp>
        <p:nvSpPr>
          <p:cNvPr id="3" name="Oval 2">
            <a:extLst>
              <a:ext uri="{FF2B5EF4-FFF2-40B4-BE49-F238E27FC236}">
                <a16:creationId xmlns:a16="http://schemas.microsoft.com/office/drawing/2014/main" id="{461B88D9-B868-C46D-7968-1816F787D596}"/>
              </a:ext>
            </a:extLst>
          </p:cNvPr>
          <p:cNvSpPr/>
          <p:nvPr/>
        </p:nvSpPr>
        <p:spPr>
          <a:xfrm>
            <a:off x="6821424" y="5212080"/>
            <a:ext cx="3474720" cy="11618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Delhi</a:t>
            </a:r>
          </a:p>
        </p:txBody>
      </p:sp>
    </p:spTree>
    <p:extLst>
      <p:ext uri="{BB962C8B-B14F-4D97-AF65-F5344CB8AC3E}">
        <p14:creationId xmlns:p14="http://schemas.microsoft.com/office/powerpoint/2010/main" val="2682543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2DBA7-B16F-2E9F-9E8C-D916F0B21A8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66BA6E-8A83-2CCF-9BA8-6FBB1A4417CF}"/>
              </a:ext>
            </a:extLst>
          </p:cNvPr>
          <p:cNvSpPr txBox="1"/>
          <p:nvPr/>
        </p:nvSpPr>
        <p:spPr>
          <a:xfrm>
            <a:off x="192024" y="331184"/>
            <a:ext cx="8362188" cy="2308324"/>
          </a:xfrm>
          <a:prstGeom prst="rect">
            <a:avLst/>
          </a:prstGeom>
          <a:noFill/>
        </p:spPr>
        <p:txBody>
          <a:bodyPr wrap="square">
            <a:spAutoFit/>
          </a:bodyPr>
          <a:lstStyle/>
          <a:p>
            <a:r>
              <a:rPr lang="en-US" sz="2400" b="1" dirty="0">
                <a:solidFill>
                  <a:schemeClr val="accent6">
                    <a:lumMod val="60000"/>
                    <a:lumOff val="40000"/>
                  </a:schemeClr>
                </a:solidFill>
              </a:rPr>
              <a:t>2. Relationships (Edges)</a:t>
            </a:r>
          </a:p>
          <a:p>
            <a:pPr marL="342900" indent="-342900">
              <a:buFont typeface="Arial" panose="020B0604020202020204" pitchFamily="34" charset="0"/>
              <a:buChar char="•"/>
            </a:pPr>
            <a:r>
              <a:rPr lang="en-US" sz="2400" dirty="0">
                <a:solidFill>
                  <a:schemeClr val="accent6">
                    <a:lumMod val="60000"/>
                    <a:lumOff val="40000"/>
                  </a:schemeClr>
                </a:solidFill>
              </a:rPr>
              <a:t>Define how nodes are connected, i.e. related.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Example:</a:t>
            </a:r>
          </a:p>
          <a:p>
            <a:pPr marL="342900" indent="-342900">
              <a:buFont typeface="Arial" panose="020B0604020202020204" pitchFamily="34" charset="0"/>
              <a:buChar char="•"/>
            </a:pPr>
            <a:r>
              <a:rPr lang="en-US" sz="2400" dirty="0">
                <a:solidFill>
                  <a:schemeClr val="accent6">
                    <a:lumMod val="60000"/>
                    <a:lumOff val="40000"/>
                  </a:schemeClr>
                </a:solidFill>
              </a:rPr>
              <a:t>Ash → </a:t>
            </a:r>
            <a:r>
              <a:rPr lang="en-US" sz="2400" b="1" dirty="0">
                <a:solidFill>
                  <a:schemeClr val="accent6">
                    <a:lumMod val="60000"/>
                    <a:lumOff val="40000"/>
                  </a:schemeClr>
                </a:solidFill>
              </a:rPr>
              <a:t>TEACHES</a:t>
            </a:r>
            <a:r>
              <a:rPr lang="en-US" sz="2400" dirty="0">
                <a:solidFill>
                  <a:schemeClr val="accent6">
                    <a:lumMod val="60000"/>
                    <a:lumOff val="40000"/>
                  </a:schemeClr>
                </a:solidFill>
              </a:rPr>
              <a:t> → Course </a:t>
            </a:r>
          </a:p>
          <a:p>
            <a:pPr marL="342900" indent="-342900">
              <a:buFont typeface="Arial" panose="020B0604020202020204" pitchFamily="34" charset="0"/>
              <a:buChar char="•"/>
            </a:pPr>
            <a:r>
              <a:rPr lang="en-US" sz="2400" dirty="0">
                <a:solidFill>
                  <a:schemeClr val="accent6">
                    <a:lumMod val="60000"/>
                    <a:lumOff val="40000"/>
                  </a:schemeClr>
                </a:solidFill>
              </a:rPr>
              <a:t>Ash → </a:t>
            </a:r>
            <a:r>
              <a:rPr lang="en-US" sz="2400" b="1" dirty="0">
                <a:solidFill>
                  <a:schemeClr val="accent6">
                    <a:lumMod val="60000"/>
                    <a:lumOff val="40000"/>
                  </a:schemeClr>
                </a:solidFill>
              </a:rPr>
              <a:t>LIVES_IN</a:t>
            </a:r>
            <a:r>
              <a:rPr lang="en-US" sz="2400" dirty="0">
                <a:solidFill>
                  <a:schemeClr val="accent6">
                    <a:lumMod val="60000"/>
                    <a:lumOff val="40000"/>
                  </a:schemeClr>
                </a:solidFill>
              </a:rPr>
              <a:t> → Delhi</a:t>
            </a:r>
          </a:p>
        </p:txBody>
      </p:sp>
      <p:sp>
        <p:nvSpPr>
          <p:cNvPr id="17" name="Oval 16">
            <a:extLst>
              <a:ext uri="{FF2B5EF4-FFF2-40B4-BE49-F238E27FC236}">
                <a16:creationId xmlns:a16="http://schemas.microsoft.com/office/drawing/2014/main" id="{0C3257FE-A44F-AA81-1768-D48C7FC9242C}"/>
              </a:ext>
            </a:extLst>
          </p:cNvPr>
          <p:cNvSpPr/>
          <p:nvPr/>
        </p:nvSpPr>
        <p:spPr>
          <a:xfrm>
            <a:off x="722376" y="3008840"/>
            <a:ext cx="2679192" cy="14534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Ash</a:t>
            </a:r>
          </a:p>
        </p:txBody>
      </p:sp>
      <p:sp>
        <p:nvSpPr>
          <p:cNvPr id="19" name="Oval 18">
            <a:extLst>
              <a:ext uri="{FF2B5EF4-FFF2-40B4-BE49-F238E27FC236}">
                <a16:creationId xmlns:a16="http://schemas.microsoft.com/office/drawing/2014/main" id="{C4845B29-7BDB-99E5-D8B3-117C97BE827B}"/>
              </a:ext>
            </a:extLst>
          </p:cNvPr>
          <p:cNvSpPr/>
          <p:nvPr/>
        </p:nvSpPr>
        <p:spPr>
          <a:xfrm>
            <a:off x="6440426" y="3429000"/>
            <a:ext cx="2868166" cy="103327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Course</a:t>
            </a:r>
          </a:p>
        </p:txBody>
      </p:sp>
      <p:sp>
        <p:nvSpPr>
          <p:cNvPr id="21" name="Arrow: Right 20">
            <a:extLst>
              <a:ext uri="{FF2B5EF4-FFF2-40B4-BE49-F238E27FC236}">
                <a16:creationId xmlns:a16="http://schemas.microsoft.com/office/drawing/2014/main" id="{E499FEC1-708E-E774-5B7F-69C872D0C6F6}"/>
              </a:ext>
            </a:extLst>
          </p:cNvPr>
          <p:cNvSpPr/>
          <p:nvPr/>
        </p:nvSpPr>
        <p:spPr>
          <a:xfrm>
            <a:off x="3931920" y="3679513"/>
            <a:ext cx="1819656" cy="4754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64CFDA6-1860-A432-E2F3-E3700DD74B61}"/>
              </a:ext>
            </a:extLst>
          </p:cNvPr>
          <p:cNvSpPr txBox="1"/>
          <p:nvPr/>
        </p:nvSpPr>
        <p:spPr>
          <a:xfrm>
            <a:off x="4012312" y="3217848"/>
            <a:ext cx="1817370" cy="461665"/>
          </a:xfrm>
          <a:prstGeom prst="rect">
            <a:avLst/>
          </a:prstGeom>
          <a:noFill/>
        </p:spPr>
        <p:txBody>
          <a:bodyPr wrap="square">
            <a:spAutoFit/>
          </a:bodyPr>
          <a:lstStyle/>
          <a:p>
            <a:pPr algn="ctr"/>
            <a:r>
              <a:rPr lang="en-US" sz="2400" b="1" dirty="0">
                <a:solidFill>
                  <a:schemeClr val="accent6">
                    <a:lumMod val="60000"/>
                    <a:lumOff val="40000"/>
                  </a:schemeClr>
                </a:solidFill>
                <a:highlight>
                  <a:srgbClr val="800000"/>
                </a:highlight>
              </a:rPr>
              <a:t>TEACHES</a:t>
            </a:r>
          </a:p>
        </p:txBody>
      </p:sp>
      <p:sp>
        <p:nvSpPr>
          <p:cNvPr id="27" name="Arrow: Right 26">
            <a:extLst>
              <a:ext uri="{FF2B5EF4-FFF2-40B4-BE49-F238E27FC236}">
                <a16:creationId xmlns:a16="http://schemas.microsoft.com/office/drawing/2014/main" id="{99CC68BD-7F9C-1E39-97BC-B2D86A5002AF}"/>
              </a:ext>
            </a:extLst>
          </p:cNvPr>
          <p:cNvSpPr/>
          <p:nvPr/>
        </p:nvSpPr>
        <p:spPr>
          <a:xfrm rot="1414725">
            <a:off x="3539774" y="4849335"/>
            <a:ext cx="3035772" cy="4754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150A6F2-F838-B06E-D636-EE3D88AD9920}"/>
              </a:ext>
            </a:extLst>
          </p:cNvPr>
          <p:cNvSpPr txBox="1"/>
          <p:nvPr/>
        </p:nvSpPr>
        <p:spPr>
          <a:xfrm>
            <a:off x="3931920" y="5450478"/>
            <a:ext cx="1813941" cy="461665"/>
          </a:xfrm>
          <a:prstGeom prst="rect">
            <a:avLst/>
          </a:prstGeom>
          <a:noFill/>
        </p:spPr>
        <p:txBody>
          <a:bodyPr wrap="square">
            <a:spAutoFit/>
          </a:bodyPr>
          <a:lstStyle/>
          <a:p>
            <a:pPr algn="ctr"/>
            <a:r>
              <a:rPr lang="en-US" sz="2400" b="1" dirty="0">
                <a:solidFill>
                  <a:schemeClr val="accent6">
                    <a:lumMod val="60000"/>
                    <a:lumOff val="40000"/>
                  </a:schemeClr>
                </a:solidFill>
                <a:highlight>
                  <a:srgbClr val="800000"/>
                </a:highlight>
              </a:rPr>
              <a:t>LIVES_IN</a:t>
            </a:r>
          </a:p>
        </p:txBody>
      </p:sp>
      <p:sp>
        <p:nvSpPr>
          <p:cNvPr id="3" name="Oval 2">
            <a:extLst>
              <a:ext uri="{FF2B5EF4-FFF2-40B4-BE49-F238E27FC236}">
                <a16:creationId xmlns:a16="http://schemas.microsoft.com/office/drawing/2014/main" id="{825D7BD3-0085-5E13-F4C3-CB7C51A564C2}"/>
              </a:ext>
            </a:extLst>
          </p:cNvPr>
          <p:cNvSpPr/>
          <p:nvPr/>
        </p:nvSpPr>
        <p:spPr>
          <a:xfrm>
            <a:off x="6821424" y="5212080"/>
            <a:ext cx="3474720" cy="11618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Delhi</a:t>
            </a:r>
          </a:p>
        </p:txBody>
      </p:sp>
    </p:spTree>
    <p:extLst>
      <p:ext uri="{BB962C8B-B14F-4D97-AF65-F5344CB8AC3E}">
        <p14:creationId xmlns:p14="http://schemas.microsoft.com/office/powerpoint/2010/main" val="2009317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CAD47-E728-E3B5-F9E6-5BD10351860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3AD63E1-85D4-E65E-544E-D370AE6D9C80}"/>
              </a:ext>
            </a:extLst>
          </p:cNvPr>
          <p:cNvSpPr txBox="1"/>
          <p:nvPr/>
        </p:nvSpPr>
        <p:spPr>
          <a:xfrm>
            <a:off x="192024" y="331184"/>
            <a:ext cx="8362188" cy="2677656"/>
          </a:xfrm>
          <a:prstGeom prst="rect">
            <a:avLst/>
          </a:prstGeom>
          <a:noFill/>
        </p:spPr>
        <p:txBody>
          <a:bodyPr wrap="square">
            <a:spAutoFit/>
          </a:bodyPr>
          <a:lstStyle/>
          <a:p>
            <a:r>
              <a:rPr lang="en-US" sz="2400" b="1" dirty="0">
                <a:solidFill>
                  <a:schemeClr val="accent6">
                    <a:lumMod val="60000"/>
                    <a:lumOff val="40000"/>
                  </a:schemeClr>
                </a:solidFill>
              </a:rPr>
              <a:t>3. Properties</a:t>
            </a:r>
          </a:p>
          <a:p>
            <a:pPr marL="342900" indent="-342900">
              <a:buFont typeface="Arial" panose="020B0604020202020204" pitchFamily="34" charset="0"/>
              <a:buChar char="•"/>
            </a:pPr>
            <a:r>
              <a:rPr lang="en-US" sz="2400" dirty="0">
                <a:solidFill>
                  <a:schemeClr val="accent6">
                    <a:lumMod val="60000"/>
                    <a:lumOff val="40000"/>
                  </a:schemeClr>
                </a:solidFill>
              </a:rPr>
              <a:t>Additional information about nodes/relationships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Example:</a:t>
            </a:r>
          </a:p>
          <a:p>
            <a:pPr marL="342900" indent="-342900">
              <a:buFont typeface="Arial" panose="020B0604020202020204" pitchFamily="34" charset="0"/>
              <a:buChar char="•"/>
            </a:pPr>
            <a:r>
              <a:rPr lang="en-US" sz="2400" dirty="0">
                <a:solidFill>
                  <a:schemeClr val="accent6">
                    <a:lumMod val="60000"/>
                    <a:lumOff val="40000"/>
                  </a:schemeClr>
                </a:solidFill>
              </a:rPr>
              <a:t>Node (Ash): {age: 30, country: India} </a:t>
            </a:r>
          </a:p>
          <a:p>
            <a:pPr marL="342900" indent="-342900">
              <a:buFont typeface="Arial" panose="020B0604020202020204" pitchFamily="34" charset="0"/>
              <a:buChar char="•"/>
            </a:pPr>
            <a:r>
              <a:rPr lang="en-US" sz="2400" dirty="0">
                <a:solidFill>
                  <a:schemeClr val="accent6">
                    <a:lumMod val="60000"/>
                    <a:lumOff val="40000"/>
                  </a:schemeClr>
                </a:solidFill>
              </a:rPr>
              <a:t>Relationship: { since: 2022 }</a:t>
            </a:r>
          </a:p>
          <a:p>
            <a:endParaRPr lang="en-US" sz="2400" b="1" dirty="0">
              <a:solidFill>
                <a:schemeClr val="accent6">
                  <a:lumMod val="60000"/>
                  <a:lumOff val="40000"/>
                </a:schemeClr>
              </a:solidFill>
            </a:endParaRPr>
          </a:p>
        </p:txBody>
      </p:sp>
      <p:sp>
        <p:nvSpPr>
          <p:cNvPr id="3" name="Oval 2">
            <a:extLst>
              <a:ext uri="{FF2B5EF4-FFF2-40B4-BE49-F238E27FC236}">
                <a16:creationId xmlns:a16="http://schemas.microsoft.com/office/drawing/2014/main" id="{12D2026F-3363-24D3-DC72-F73E81B0E9CB}"/>
              </a:ext>
            </a:extLst>
          </p:cNvPr>
          <p:cNvSpPr/>
          <p:nvPr/>
        </p:nvSpPr>
        <p:spPr>
          <a:xfrm>
            <a:off x="722376" y="3008840"/>
            <a:ext cx="2679192" cy="14534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Ash</a:t>
            </a:r>
          </a:p>
          <a:p>
            <a:pPr algn="ctr"/>
            <a:r>
              <a:rPr lang="en-US" sz="2400" dirty="0">
                <a:solidFill>
                  <a:schemeClr val="accent6">
                    <a:lumMod val="60000"/>
                    <a:lumOff val="40000"/>
                  </a:schemeClr>
                </a:solidFill>
              </a:rPr>
              <a:t>{age: 30,</a:t>
            </a:r>
          </a:p>
          <a:p>
            <a:pPr algn="ctr"/>
            <a:r>
              <a:rPr lang="en-US" sz="2400" dirty="0">
                <a:solidFill>
                  <a:schemeClr val="accent6">
                    <a:lumMod val="60000"/>
                    <a:lumOff val="40000"/>
                  </a:schemeClr>
                </a:solidFill>
              </a:rPr>
              <a:t> role: Trainer}</a:t>
            </a:r>
            <a:endParaRPr lang="en-US" sz="2400" dirty="0"/>
          </a:p>
        </p:txBody>
      </p:sp>
      <p:sp>
        <p:nvSpPr>
          <p:cNvPr id="5" name="Oval 4">
            <a:extLst>
              <a:ext uri="{FF2B5EF4-FFF2-40B4-BE49-F238E27FC236}">
                <a16:creationId xmlns:a16="http://schemas.microsoft.com/office/drawing/2014/main" id="{276705A4-DC33-38B1-D4D8-EA0263F66F91}"/>
              </a:ext>
            </a:extLst>
          </p:cNvPr>
          <p:cNvSpPr/>
          <p:nvPr/>
        </p:nvSpPr>
        <p:spPr>
          <a:xfrm>
            <a:off x="6543920" y="3222498"/>
            <a:ext cx="2868166" cy="134482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Course</a:t>
            </a:r>
          </a:p>
          <a:p>
            <a:pPr algn="ctr"/>
            <a:r>
              <a:rPr lang="en-US" sz="2400" dirty="0">
                <a:solidFill>
                  <a:schemeClr val="accent6">
                    <a:lumMod val="60000"/>
                    <a:lumOff val="40000"/>
                  </a:schemeClr>
                </a:solidFill>
              </a:rPr>
              <a:t>{Cost: 300, Topic: Python}</a:t>
            </a:r>
          </a:p>
        </p:txBody>
      </p:sp>
      <p:sp>
        <p:nvSpPr>
          <p:cNvPr id="8" name="Arrow: Right 7">
            <a:extLst>
              <a:ext uri="{FF2B5EF4-FFF2-40B4-BE49-F238E27FC236}">
                <a16:creationId xmlns:a16="http://schemas.microsoft.com/office/drawing/2014/main" id="{0E79E258-756F-FF7F-AAC2-925933B79093}"/>
              </a:ext>
            </a:extLst>
          </p:cNvPr>
          <p:cNvSpPr/>
          <p:nvPr/>
        </p:nvSpPr>
        <p:spPr>
          <a:xfrm>
            <a:off x="3827905" y="3692532"/>
            <a:ext cx="2497269" cy="4754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8255465-1211-E2AF-90D2-7DB5E0A9A353}"/>
              </a:ext>
            </a:extLst>
          </p:cNvPr>
          <p:cNvSpPr txBox="1"/>
          <p:nvPr/>
        </p:nvSpPr>
        <p:spPr>
          <a:xfrm>
            <a:off x="4367403" y="3018164"/>
            <a:ext cx="1817370" cy="830997"/>
          </a:xfrm>
          <a:prstGeom prst="rect">
            <a:avLst/>
          </a:prstGeom>
          <a:noFill/>
        </p:spPr>
        <p:txBody>
          <a:bodyPr wrap="square">
            <a:spAutoFit/>
          </a:bodyPr>
          <a:lstStyle/>
          <a:p>
            <a:pPr algn="ctr"/>
            <a:r>
              <a:rPr lang="en-US" sz="2400" b="1" dirty="0">
                <a:solidFill>
                  <a:schemeClr val="accent6">
                    <a:lumMod val="60000"/>
                    <a:lumOff val="40000"/>
                  </a:schemeClr>
                </a:solidFill>
                <a:highlight>
                  <a:srgbClr val="800000"/>
                </a:highlight>
              </a:rPr>
              <a:t>TEACHES</a:t>
            </a:r>
          </a:p>
          <a:p>
            <a:pPr algn="ctr"/>
            <a:r>
              <a:rPr lang="en-US" sz="2400" b="1" dirty="0">
                <a:solidFill>
                  <a:schemeClr val="accent6">
                    <a:lumMod val="60000"/>
                    <a:lumOff val="40000"/>
                  </a:schemeClr>
                </a:solidFill>
                <a:highlight>
                  <a:srgbClr val="800000"/>
                </a:highlight>
              </a:rPr>
              <a:t>{since: 2005}</a:t>
            </a:r>
            <a:endParaRPr lang="en-US" dirty="0">
              <a:highlight>
                <a:srgbClr val="800000"/>
              </a:highlight>
            </a:endParaRPr>
          </a:p>
        </p:txBody>
      </p:sp>
      <p:sp>
        <p:nvSpPr>
          <p:cNvPr id="12" name="Oval 11">
            <a:extLst>
              <a:ext uri="{FF2B5EF4-FFF2-40B4-BE49-F238E27FC236}">
                <a16:creationId xmlns:a16="http://schemas.microsoft.com/office/drawing/2014/main" id="{75CABCFF-49C2-15E7-E992-5BB07A246A4F}"/>
              </a:ext>
            </a:extLst>
          </p:cNvPr>
          <p:cNvSpPr/>
          <p:nvPr/>
        </p:nvSpPr>
        <p:spPr>
          <a:xfrm>
            <a:off x="6821424" y="5212080"/>
            <a:ext cx="3474720" cy="11618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Delhi</a:t>
            </a:r>
          </a:p>
          <a:p>
            <a:pPr algn="ctr"/>
            <a:r>
              <a:rPr lang="en-US" sz="2400" dirty="0">
                <a:solidFill>
                  <a:schemeClr val="accent6">
                    <a:lumMod val="60000"/>
                    <a:lumOff val="40000"/>
                  </a:schemeClr>
                </a:solidFill>
              </a:rPr>
              <a:t>{population: 2M}</a:t>
            </a:r>
          </a:p>
        </p:txBody>
      </p:sp>
      <p:sp>
        <p:nvSpPr>
          <p:cNvPr id="14" name="Arrow: Right 13">
            <a:extLst>
              <a:ext uri="{FF2B5EF4-FFF2-40B4-BE49-F238E27FC236}">
                <a16:creationId xmlns:a16="http://schemas.microsoft.com/office/drawing/2014/main" id="{BF24E424-0AE1-17D5-BDF7-DE165A4294A1}"/>
              </a:ext>
            </a:extLst>
          </p:cNvPr>
          <p:cNvSpPr/>
          <p:nvPr/>
        </p:nvSpPr>
        <p:spPr>
          <a:xfrm rot="1181174">
            <a:off x="3612954" y="4871794"/>
            <a:ext cx="2992327" cy="4754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FD0E11D-84A8-933E-D5D3-E3DC93DB236E}"/>
              </a:ext>
            </a:extLst>
          </p:cNvPr>
          <p:cNvSpPr txBox="1"/>
          <p:nvPr/>
        </p:nvSpPr>
        <p:spPr>
          <a:xfrm>
            <a:off x="4120514" y="5713481"/>
            <a:ext cx="1813941" cy="830997"/>
          </a:xfrm>
          <a:prstGeom prst="rect">
            <a:avLst/>
          </a:prstGeom>
          <a:noFill/>
        </p:spPr>
        <p:txBody>
          <a:bodyPr wrap="square">
            <a:spAutoFit/>
          </a:bodyPr>
          <a:lstStyle/>
          <a:p>
            <a:pPr algn="ctr"/>
            <a:r>
              <a:rPr lang="en-US" sz="2400" b="1" dirty="0">
                <a:solidFill>
                  <a:schemeClr val="accent6">
                    <a:lumMod val="60000"/>
                    <a:lumOff val="40000"/>
                  </a:schemeClr>
                </a:solidFill>
                <a:highlight>
                  <a:srgbClr val="800000"/>
                </a:highlight>
              </a:rPr>
              <a:t>LIVES_IN</a:t>
            </a:r>
          </a:p>
          <a:p>
            <a:pPr algn="ctr"/>
            <a:r>
              <a:rPr lang="en-US" sz="2400" b="1" dirty="0">
                <a:solidFill>
                  <a:schemeClr val="accent6">
                    <a:lumMod val="60000"/>
                    <a:lumOff val="40000"/>
                  </a:schemeClr>
                </a:solidFill>
                <a:highlight>
                  <a:srgbClr val="800000"/>
                </a:highlight>
              </a:rPr>
              <a:t>{since: 1998}</a:t>
            </a:r>
            <a:endParaRPr lang="en-US" dirty="0">
              <a:highlight>
                <a:srgbClr val="800000"/>
              </a:highlight>
            </a:endParaRPr>
          </a:p>
        </p:txBody>
      </p:sp>
    </p:spTree>
    <p:extLst>
      <p:ext uri="{BB962C8B-B14F-4D97-AF65-F5344CB8AC3E}">
        <p14:creationId xmlns:p14="http://schemas.microsoft.com/office/powerpoint/2010/main" val="1757293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D031-8990-B1BC-F83A-48A2A0F9CF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228D394-F464-2836-2C33-38A70D0A243A}"/>
              </a:ext>
            </a:extLst>
          </p:cNvPr>
          <p:cNvSpPr txBox="1"/>
          <p:nvPr/>
        </p:nvSpPr>
        <p:spPr>
          <a:xfrm>
            <a:off x="192024" y="271570"/>
            <a:ext cx="5660136" cy="5632311"/>
          </a:xfrm>
          <a:prstGeom prst="rect">
            <a:avLst/>
          </a:prstGeom>
          <a:noFill/>
        </p:spPr>
        <p:txBody>
          <a:bodyPr wrap="square">
            <a:spAutoFit/>
          </a:bodyPr>
          <a:lstStyle/>
          <a:p>
            <a:r>
              <a:rPr lang="en-US" sz="2400" b="1" dirty="0">
                <a:solidFill>
                  <a:schemeClr val="accent6">
                    <a:lumMod val="60000"/>
                    <a:lumOff val="40000"/>
                  </a:schemeClr>
                </a:solidFill>
              </a:rPr>
              <a:t>Query example:</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Social Network + Content Graph</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Ash lives in Delhi and follows both Ravi and Neha. Ash created Post1, which is about AI, and likes Post2. Ravi lives in Tokyo, follows Neha, and created Post2. Post2 is about Travel. Meanwhile, Neha likes Post1.</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Nodes:</a:t>
            </a:r>
          </a:p>
          <a:p>
            <a:r>
              <a:rPr lang="en-US" sz="2400" dirty="0">
                <a:solidFill>
                  <a:schemeClr val="accent6">
                    <a:lumMod val="60000"/>
                    <a:lumOff val="40000"/>
                  </a:schemeClr>
                </a:solidFill>
              </a:rPr>
              <a:t>Person: Ash, Ravi, Neha </a:t>
            </a:r>
          </a:p>
          <a:p>
            <a:r>
              <a:rPr lang="en-US" sz="2400" dirty="0">
                <a:solidFill>
                  <a:schemeClr val="accent6">
                    <a:lumMod val="60000"/>
                    <a:lumOff val="40000"/>
                  </a:schemeClr>
                </a:solidFill>
              </a:rPr>
              <a:t>Post: Post1, Post2 </a:t>
            </a:r>
          </a:p>
          <a:p>
            <a:r>
              <a:rPr lang="en-US" sz="2400" dirty="0">
                <a:solidFill>
                  <a:schemeClr val="accent6">
                    <a:lumMod val="60000"/>
                    <a:lumOff val="40000"/>
                  </a:schemeClr>
                </a:solidFill>
              </a:rPr>
              <a:t>City: Delhi, Tokyo</a:t>
            </a:r>
          </a:p>
          <a:p>
            <a:r>
              <a:rPr lang="en-US" sz="2400" dirty="0">
                <a:solidFill>
                  <a:schemeClr val="accent6">
                    <a:lumMod val="60000"/>
                    <a:lumOff val="40000"/>
                  </a:schemeClr>
                </a:solidFill>
              </a:rPr>
              <a:t>Topic: AI, Travel</a:t>
            </a:r>
          </a:p>
        </p:txBody>
      </p:sp>
      <p:sp>
        <p:nvSpPr>
          <p:cNvPr id="5" name="TextBox 4">
            <a:extLst>
              <a:ext uri="{FF2B5EF4-FFF2-40B4-BE49-F238E27FC236}">
                <a16:creationId xmlns:a16="http://schemas.microsoft.com/office/drawing/2014/main" id="{EE797C98-9965-ED3F-9993-7389712A5CC3}"/>
              </a:ext>
            </a:extLst>
          </p:cNvPr>
          <p:cNvSpPr txBox="1"/>
          <p:nvPr/>
        </p:nvSpPr>
        <p:spPr>
          <a:xfrm>
            <a:off x="192024" y="5903881"/>
            <a:ext cx="6190488" cy="830997"/>
          </a:xfrm>
          <a:prstGeom prst="rect">
            <a:avLst/>
          </a:prstGeom>
          <a:noFill/>
        </p:spPr>
        <p:txBody>
          <a:bodyPr wrap="square">
            <a:spAutoFit/>
          </a:bodyPr>
          <a:lstStyle/>
          <a:p>
            <a:r>
              <a:rPr lang="en-US" sz="2400" dirty="0">
                <a:solidFill>
                  <a:schemeClr val="accent6">
                    <a:lumMod val="60000"/>
                    <a:lumOff val="40000"/>
                  </a:schemeClr>
                </a:solidFill>
              </a:rPr>
              <a:t>Suppose you want to answer following: </a:t>
            </a:r>
          </a:p>
          <a:p>
            <a:r>
              <a:rPr lang="en-US" sz="2400" dirty="0">
                <a:solidFill>
                  <a:schemeClr val="accent6">
                    <a:lumMod val="60000"/>
                    <a:lumOff val="40000"/>
                  </a:schemeClr>
                </a:solidFill>
              </a:rPr>
              <a:t> Find topics liked by people Ash follows ?</a:t>
            </a:r>
          </a:p>
        </p:txBody>
      </p:sp>
      <p:sp>
        <p:nvSpPr>
          <p:cNvPr id="4" name="TextBox 3">
            <a:extLst>
              <a:ext uri="{FF2B5EF4-FFF2-40B4-BE49-F238E27FC236}">
                <a16:creationId xmlns:a16="http://schemas.microsoft.com/office/drawing/2014/main" id="{DAC2F19D-BA93-FAE5-FC1E-CCDE6E508696}"/>
              </a:ext>
            </a:extLst>
          </p:cNvPr>
          <p:cNvSpPr txBox="1"/>
          <p:nvPr/>
        </p:nvSpPr>
        <p:spPr>
          <a:xfrm>
            <a:off x="7379208" y="887123"/>
            <a:ext cx="4901184" cy="5016758"/>
          </a:xfrm>
          <a:prstGeom prst="rect">
            <a:avLst/>
          </a:prstGeom>
          <a:noFill/>
        </p:spPr>
        <p:txBody>
          <a:bodyPr wrap="square">
            <a:spAutoFit/>
          </a:bodyPr>
          <a:lstStyle/>
          <a:p>
            <a:pPr>
              <a:buNone/>
            </a:pPr>
            <a:r>
              <a:rPr lang="en-US" sz="2000" b="1" dirty="0">
                <a:solidFill>
                  <a:schemeClr val="accent6">
                    <a:lumMod val="60000"/>
                    <a:lumOff val="40000"/>
                  </a:schemeClr>
                </a:solidFill>
              </a:rPr>
              <a:t>Relationships:</a:t>
            </a:r>
          </a:p>
          <a:p>
            <a:pPr rtl="0">
              <a:buNone/>
            </a:pPr>
            <a:r>
              <a:rPr lang="en-US" sz="2000" dirty="0">
                <a:solidFill>
                  <a:schemeClr val="accent6">
                    <a:lumMod val="60000"/>
                    <a:lumOff val="40000"/>
                  </a:schemeClr>
                </a:solidFill>
                <a:latin typeface="Courier New" panose="02070309020205020404" pitchFamily="49" charset="0"/>
              </a:rPr>
              <a:t>(Ash) ---FOLLOWS---&gt; (Ravi)</a:t>
            </a:r>
          </a:p>
          <a:p>
            <a:pPr rtl="0">
              <a:buNone/>
            </a:pPr>
            <a:r>
              <a:rPr lang="en-US" sz="2000" dirty="0">
                <a:solidFill>
                  <a:schemeClr val="accent6">
                    <a:lumMod val="60000"/>
                    <a:lumOff val="40000"/>
                  </a:schemeClr>
                </a:solidFill>
                <a:latin typeface="Courier New" panose="02070309020205020404" pitchFamily="49" charset="0"/>
              </a:rPr>
              <a:t>(Ash) ---FOLLOWS---&gt; (Neha)</a:t>
            </a:r>
          </a:p>
          <a:p>
            <a:pPr rtl="0">
              <a:buNone/>
            </a:pPr>
            <a:r>
              <a:rPr lang="en-US" sz="2000" dirty="0">
                <a:solidFill>
                  <a:schemeClr val="accent6">
                    <a:lumMod val="60000"/>
                    <a:lumOff val="40000"/>
                  </a:schemeClr>
                </a:solidFill>
                <a:latin typeface="Courier New" panose="02070309020205020404" pitchFamily="49" charset="0"/>
              </a:rPr>
              <a:t>(Ravi) ---FOLLOWS---&gt; (Neha)</a:t>
            </a:r>
          </a:p>
          <a:p>
            <a:pPr rtl="0">
              <a:buNone/>
            </a:pPr>
            <a:endParaRPr lang="en-US" sz="2000" dirty="0">
              <a:solidFill>
                <a:schemeClr val="accent6">
                  <a:lumMod val="60000"/>
                  <a:lumOff val="40000"/>
                </a:schemeClr>
              </a:solidFill>
              <a:latin typeface="Courier New" panose="02070309020205020404" pitchFamily="49" charset="0"/>
            </a:endParaRPr>
          </a:p>
          <a:p>
            <a:pPr rtl="0">
              <a:buNone/>
            </a:pPr>
            <a:r>
              <a:rPr lang="en-US" sz="2000" dirty="0">
                <a:solidFill>
                  <a:schemeClr val="accent6">
                    <a:lumMod val="60000"/>
                    <a:lumOff val="40000"/>
                  </a:schemeClr>
                </a:solidFill>
                <a:latin typeface="Courier New" panose="02070309020205020404" pitchFamily="49" charset="0"/>
              </a:rPr>
              <a:t>(Ash) ---CREATED---&gt; (Post1)</a:t>
            </a:r>
          </a:p>
          <a:p>
            <a:pPr rtl="0">
              <a:buNone/>
            </a:pPr>
            <a:r>
              <a:rPr lang="en-US" sz="2000" dirty="0">
                <a:solidFill>
                  <a:schemeClr val="accent6">
                    <a:lumMod val="60000"/>
                    <a:lumOff val="40000"/>
                  </a:schemeClr>
                </a:solidFill>
                <a:latin typeface="Courier New" panose="02070309020205020404" pitchFamily="49" charset="0"/>
              </a:rPr>
              <a:t>(Ravi) ---CREATED---&gt; (Post2)</a:t>
            </a:r>
          </a:p>
          <a:p>
            <a:pPr rtl="0">
              <a:buNone/>
            </a:pPr>
            <a:endParaRPr lang="en-US" sz="2000" dirty="0">
              <a:solidFill>
                <a:schemeClr val="accent6">
                  <a:lumMod val="60000"/>
                  <a:lumOff val="40000"/>
                </a:schemeClr>
              </a:solidFill>
              <a:latin typeface="Courier New" panose="02070309020205020404" pitchFamily="49" charset="0"/>
            </a:endParaRPr>
          </a:p>
          <a:p>
            <a:pPr rtl="0">
              <a:buNone/>
            </a:pPr>
            <a:r>
              <a:rPr lang="en-US" sz="2000" dirty="0">
                <a:solidFill>
                  <a:schemeClr val="accent6">
                    <a:lumMod val="60000"/>
                    <a:lumOff val="40000"/>
                  </a:schemeClr>
                </a:solidFill>
                <a:latin typeface="Courier New" panose="02070309020205020404" pitchFamily="49" charset="0"/>
              </a:rPr>
              <a:t>(Post1) ---ABOUT---&gt; (AI)</a:t>
            </a:r>
          </a:p>
          <a:p>
            <a:pPr rtl="0">
              <a:buNone/>
            </a:pPr>
            <a:r>
              <a:rPr lang="en-US" sz="2000" dirty="0">
                <a:solidFill>
                  <a:schemeClr val="accent6">
                    <a:lumMod val="60000"/>
                    <a:lumOff val="40000"/>
                  </a:schemeClr>
                </a:solidFill>
                <a:latin typeface="Courier New" panose="02070309020205020404" pitchFamily="49" charset="0"/>
              </a:rPr>
              <a:t>(Post2) ---ABOUT---&gt; (Travel)</a:t>
            </a:r>
          </a:p>
          <a:p>
            <a:pPr rtl="0">
              <a:buNone/>
            </a:pPr>
            <a:endParaRPr lang="en-US" sz="2000" dirty="0">
              <a:solidFill>
                <a:schemeClr val="accent6">
                  <a:lumMod val="60000"/>
                  <a:lumOff val="40000"/>
                </a:schemeClr>
              </a:solidFill>
              <a:latin typeface="Courier New" panose="02070309020205020404" pitchFamily="49" charset="0"/>
            </a:endParaRPr>
          </a:p>
          <a:p>
            <a:pPr rtl="0">
              <a:buNone/>
            </a:pPr>
            <a:r>
              <a:rPr lang="en-US" sz="2000" dirty="0">
                <a:solidFill>
                  <a:schemeClr val="accent6">
                    <a:lumMod val="60000"/>
                    <a:lumOff val="40000"/>
                  </a:schemeClr>
                </a:solidFill>
                <a:latin typeface="Courier New" panose="02070309020205020404" pitchFamily="49" charset="0"/>
              </a:rPr>
              <a:t>(Neha) ---LIKES---&gt; (Post1)</a:t>
            </a:r>
          </a:p>
          <a:p>
            <a:pPr rtl="0">
              <a:buNone/>
            </a:pPr>
            <a:r>
              <a:rPr lang="en-US" sz="2000" dirty="0">
                <a:solidFill>
                  <a:schemeClr val="accent6">
                    <a:lumMod val="60000"/>
                    <a:lumOff val="40000"/>
                  </a:schemeClr>
                </a:solidFill>
                <a:latin typeface="Courier New" panose="02070309020205020404" pitchFamily="49" charset="0"/>
              </a:rPr>
              <a:t>(Ash) ---LIKES---&gt; (Post2)</a:t>
            </a:r>
          </a:p>
          <a:p>
            <a:pPr rtl="0">
              <a:buNone/>
            </a:pPr>
            <a:endParaRPr lang="en-US" sz="2000" dirty="0">
              <a:solidFill>
                <a:schemeClr val="accent6">
                  <a:lumMod val="60000"/>
                  <a:lumOff val="40000"/>
                </a:schemeClr>
              </a:solidFill>
              <a:latin typeface="Courier New" panose="02070309020205020404" pitchFamily="49" charset="0"/>
            </a:endParaRPr>
          </a:p>
          <a:p>
            <a:pPr rtl="0">
              <a:buNone/>
            </a:pPr>
            <a:r>
              <a:rPr lang="en-US" sz="2000" dirty="0">
                <a:solidFill>
                  <a:schemeClr val="accent6">
                    <a:lumMod val="60000"/>
                    <a:lumOff val="40000"/>
                  </a:schemeClr>
                </a:solidFill>
                <a:latin typeface="Courier New" panose="02070309020205020404" pitchFamily="49" charset="0"/>
              </a:rPr>
              <a:t>(Ash) ---LIVES_IN---&gt; (Delhi)</a:t>
            </a:r>
          </a:p>
          <a:p>
            <a:pPr rtl="0">
              <a:buNone/>
            </a:pPr>
            <a:r>
              <a:rPr lang="en-US" sz="2000" dirty="0">
                <a:solidFill>
                  <a:schemeClr val="accent6">
                    <a:lumMod val="60000"/>
                    <a:lumOff val="40000"/>
                  </a:schemeClr>
                </a:solidFill>
                <a:latin typeface="Courier New" panose="02070309020205020404" pitchFamily="49" charset="0"/>
              </a:rPr>
              <a:t>(Ravi) ---LIVES_IN---&gt; (Tokyo)</a:t>
            </a:r>
          </a:p>
        </p:txBody>
      </p:sp>
    </p:spTree>
    <p:extLst>
      <p:ext uri="{BB962C8B-B14F-4D97-AF65-F5344CB8AC3E}">
        <p14:creationId xmlns:p14="http://schemas.microsoft.com/office/powerpoint/2010/main" val="1966452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20EC3-D3C2-A977-B3F9-83643DBFC8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17C54C-D7FF-26D3-9D34-334248B7CC57}"/>
              </a:ext>
            </a:extLst>
          </p:cNvPr>
          <p:cNvSpPr txBox="1"/>
          <p:nvPr/>
        </p:nvSpPr>
        <p:spPr>
          <a:xfrm>
            <a:off x="7653528" y="603659"/>
            <a:ext cx="5166360" cy="5940088"/>
          </a:xfrm>
          <a:prstGeom prst="rect">
            <a:avLst/>
          </a:prstGeom>
          <a:noFill/>
        </p:spPr>
        <p:txBody>
          <a:bodyPr wrap="square">
            <a:spAutoFit/>
          </a:bodyPr>
          <a:lstStyle/>
          <a:p>
            <a:pPr>
              <a:buNone/>
            </a:pPr>
            <a:r>
              <a:rPr lang="en-US" sz="2000" dirty="0">
                <a:solidFill>
                  <a:schemeClr val="accent6">
                    <a:lumMod val="60000"/>
                    <a:lumOff val="40000"/>
                  </a:schemeClr>
                </a:solidFill>
              </a:rPr>
              <a:t>// 1. Create the People (Pink Nodes)</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ash:Person</a:t>
            </a:r>
            <a:r>
              <a:rPr lang="en-US" sz="2000" dirty="0">
                <a:solidFill>
                  <a:schemeClr val="accent6">
                    <a:lumMod val="60000"/>
                    <a:lumOff val="40000"/>
                  </a:schemeClr>
                </a:solidFill>
              </a:rPr>
              <a:t> {name: 'Ash'})</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ravi:Person</a:t>
            </a:r>
            <a:r>
              <a:rPr lang="en-US" sz="2000" dirty="0">
                <a:solidFill>
                  <a:schemeClr val="accent6">
                    <a:lumMod val="60000"/>
                    <a:lumOff val="40000"/>
                  </a:schemeClr>
                </a:solidFill>
              </a:rPr>
              <a:t> {name: 'Ravi'})</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neha:Person</a:t>
            </a:r>
            <a:r>
              <a:rPr lang="en-US" sz="2000" dirty="0">
                <a:solidFill>
                  <a:schemeClr val="accent6">
                    <a:lumMod val="60000"/>
                    <a:lumOff val="40000"/>
                  </a:schemeClr>
                </a:solidFill>
              </a:rPr>
              <a:t> {name: 'Neha'})</a:t>
            </a: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 2. Create the Cities (Blue Nodes)</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delhi:City</a:t>
            </a:r>
            <a:r>
              <a:rPr lang="en-US" sz="2000" dirty="0">
                <a:solidFill>
                  <a:schemeClr val="accent6">
                    <a:lumMod val="60000"/>
                    <a:lumOff val="40000"/>
                  </a:schemeClr>
                </a:solidFill>
              </a:rPr>
              <a:t> {name: 'Delhi'})</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tokyo:City</a:t>
            </a:r>
            <a:r>
              <a:rPr lang="en-US" sz="2000" dirty="0">
                <a:solidFill>
                  <a:schemeClr val="accent6">
                    <a:lumMod val="60000"/>
                    <a:lumOff val="40000"/>
                  </a:schemeClr>
                </a:solidFill>
              </a:rPr>
              <a:t> {name: 'Tokyo'})</a:t>
            </a: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 3. Create the Posts (Green Nodes)</a:t>
            </a:r>
          </a:p>
          <a:p>
            <a:pPr>
              <a:buNone/>
            </a:pPr>
            <a:r>
              <a:rPr lang="en-US" sz="2000" dirty="0">
                <a:solidFill>
                  <a:schemeClr val="accent6">
                    <a:lumMod val="60000"/>
                    <a:lumOff val="40000"/>
                  </a:schemeClr>
                </a:solidFill>
              </a:rPr>
              <a:t>CREATE (post1:Post {name: 'Post1'})</a:t>
            </a:r>
          </a:p>
          <a:p>
            <a:pPr>
              <a:buNone/>
            </a:pPr>
            <a:r>
              <a:rPr lang="en-US" sz="2000" dirty="0">
                <a:solidFill>
                  <a:schemeClr val="accent6">
                    <a:lumMod val="60000"/>
                    <a:lumOff val="40000"/>
                  </a:schemeClr>
                </a:solidFill>
              </a:rPr>
              <a:t>CREATE (post2:Post {name: 'Post2'})</a:t>
            </a:r>
          </a:p>
          <a:p>
            <a:pPr>
              <a:buNone/>
            </a:pPr>
            <a:endParaRPr lang="en-US" sz="2000" dirty="0">
              <a:solidFill>
                <a:schemeClr val="accent6">
                  <a:lumMod val="60000"/>
                  <a:lumOff val="40000"/>
                </a:schemeClr>
              </a:solidFill>
            </a:endParaRP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 4. Create the Topics (Yellow Nodes)</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ai:Topic</a:t>
            </a:r>
            <a:r>
              <a:rPr lang="en-US" sz="2000" dirty="0">
                <a:solidFill>
                  <a:schemeClr val="accent6">
                    <a:lumMod val="60000"/>
                    <a:lumOff val="40000"/>
                  </a:schemeClr>
                </a:solidFill>
              </a:rPr>
              <a:t> {name: 'AI'})</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travel:Topic</a:t>
            </a:r>
            <a:r>
              <a:rPr lang="en-US" sz="2000" dirty="0">
                <a:solidFill>
                  <a:schemeClr val="accent6">
                    <a:lumMod val="60000"/>
                    <a:lumOff val="40000"/>
                  </a:schemeClr>
                </a:solidFill>
              </a:rPr>
              <a:t> {name: 'Travel'})</a:t>
            </a:r>
          </a:p>
        </p:txBody>
      </p:sp>
      <p:sp>
        <p:nvSpPr>
          <p:cNvPr id="5" name="TextBox 4">
            <a:extLst>
              <a:ext uri="{FF2B5EF4-FFF2-40B4-BE49-F238E27FC236}">
                <a16:creationId xmlns:a16="http://schemas.microsoft.com/office/drawing/2014/main" id="{83787867-27DA-0FD5-0ABC-EBFF826EE92F}"/>
              </a:ext>
            </a:extLst>
          </p:cNvPr>
          <p:cNvSpPr txBox="1"/>
          <p:nvPr/>
        </p:nvSpPr>
        <p:spPr>
          <a:xfrm>
            <a:off x="406908" y="5676638"/>
            <a:ext cx="6190488" cy="461665"/>
          </a:xfrm>
          <a:prstGeom prst="rect">
            <a:avLst/>
          </a:prstGeom>
          <a:noFill/>
        </p:spPr>
        <p:txBody>
          <a:bodyPr wrap="square">
            <a:spAutoFit/>
          </a:bodyPr>
          <a:lstStyle/>
          <a:p>
            <a:r>
              <a:rPr lang="en-US" sz="2400" dirty="0">
                <a:solidFill>
                  <a:schemeClr val="accent6">
                    <a:lumMod val="60000"/>
                    <a:lumOff val="40000"/>
                  </a:schemeClr>
                </a:solidFill>
              </a:rPr>
              <a:t>STEP1: Create Nodes</a:t>
            </a:r>
          </a:p>
        </p:txBody>
      </p:sp>
      <p:pic>
        <p:nvPicPr>
          <p:cNvPr id="8" name="Picture 7">
            <a:extLst>
              <a:ext uri="{FF2B5EF4-FFF2-40B4-BE49-F238E27FC236}">
                <a16:creationId xmlns:a16="http://schemas.microsoft.com/office/drawing/2014/main" id="{099C9994-3724-135B-E0F7-74CFFEF62D98}"/>
              </a:ext>
            </a:extLst>
          </p:cNvPr>
          <p:cNvPicPr>
            <a:picLocks noChangeAspect="1"/>
          </p:cNvPicPr>
          <p:nvPr/>
        </p:nvPicPr>
        <p:blipFill>
          <a:blip r:embed="rId2"/>
          <a:stretch>
            <a:fillRect/>
          </a:stretch>
        </p:blipFill>
        <p:spPr>
          <a:xfrm>
            <a:off x="86792" y="1"/>
            <a:ext cx="7248166" cy="4654296"/>
          </a:xfrm>
          <a:prstGeom prst="rect">
            <a:avLst/>
          </a:prstGeom>
        </p:spPr>
      </p:pic>
    </p:spTree>
    <p:extLst>
      <p:ext uri="{BB962C8B-B14F-4D97-AF65-F5344CB8AC3E}">
        <p14:creationId xmlns:p14="http://schemas.microsoft.com/office/powerpoint/2010/main" val="1467984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D2822-B526-60A3-36D5-EB04325AA85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B47A1E-21BE-4262-DC51-2A72F5E38E6E}"/>
              </a:ext>
            </a:extLst>
          </p:cNvPr>
          <p:cNvSpPr txBox="1"/>
          <p:nvPr/>
        </p:nvSpPr>
        <p:spPr>
          <a:xfrm>
            <a:off x="7516368" y="731675"/>
            <a:ext cx="5166360" cy="4708981"/>
          </a:xfrm>
          <a:prstGeom prst="rect">
            <a:avLst/>
          </a:prstGeom>
          <a:noFill/>
        </p:spPr>
        <p:txBody>
          <a:bodyPr wrap="square">
            <a:spAutoFit/>
          </a:bodyPr>
          <a:lstStyle/>
          <a:p>
            <a:pPr>
              <a:buNone/>
            </a:pPr>
            <a:r>
              <a:rPr lang="en-US" sz="2000" dirty="0">
                <a:solidFill>
                  <a:schemeClr val="accent6">
                    <a:lumMod val="60000"/>
                    <a:lumOff val="40000"/>
                  </a:schemeClr>
                </a:solidFill>
              </a:rPr>
              <a:t>// 5. Connect the Relationships</a:t>
            </a:r>
          </a:p>
          <a:p>
            <a:pPr>
              <a:buNone/>
            </a:pPr>
            <a:r>
              <a:rPr lang="en-US" sz="2000" dirty="0">
                <a:solidFill>
                  <a:schemeClr val="accent6">
                    <a:lumMod val="60000"/>
                    <a:lumOff val="40000"/>
                  </a:schemeClr>
                </a:solidFill>
              </a:rPr>
              <a:t>CREATE (ash)-[:</a:t>
            </a:r>
            <a:r>
              <a:rPr lang="en-US" sz="2000" dirty="0" err="1">
                <a:solidFill>
                  <a:schemeClr val="accent6">
                    <a:lumMod val="60000"/>
                    <a:lumOff val="40000"/>
                  </a:schemeClr>
                </a:solidFill>
              </a:rPr>
              <a:t>Lives_in</a:t>
            </a:r>
            <a:r>
              <a:rPr lang="en-US" sz="2000" dirty="0">
                <a:solidFill>
                  <a:schemeClr val="accent6">
                    <a:lumMod val="60000"/>
                    <a:lumOff val="40000"/>
                  </a:schemeClr>
                </a:solidFill>
              </a:rPr>
              <a:t>]-&gt;(</a:t>
            </a:r>
            <a:r>
              <a:rPr lang="en-US" sz="2000" dirty="0" err="1">
                <a:solidFill>
                  <a:schemeClr val="accent6">
                    <a:lumMod val="60000"/>
                    <a:lumOff val="40000"/>
                  </a:schemeClr>
                </a:solidFill>
              </a:rPr>
              <a:t>delhi</a:t>
            </a:r>
            <a:r>
              <a:rPr lang="en-US" sz="2000" dirty="0">
                <a:solidFill>
                  <a:schemeClr val="accent6">
                    <a:lumMod val="60000"/>
                    <a:lumOff val="40000"/>
                  </a:schemeClr>
                </a:solidFill>
              </a:rPr>
              <a:t>)</a:t>
            </a:r>
          </a:p>
          <a:p>
            <a:pPr>
              <a:buNone/>
            </a:pPr>
            <a:r>
              <a:rPr lang="en-US" sz="2000" dirty="0">
                <a:solidFill>
                  <a:schemeClr val="accent6">
                    <a:lumMod val="60000"/>
                    <a:lumOff val="40000"/>
                  </a:schemeClr>
                </a:solidFill>
              </a:rPr>
              <a:t>CREATE (ash)-[:Follows]-&gt;(</a:t>
            </a:r>
            <a:r>
              <a:rPr lang="en-US" sz="2000" dirty="0" err="1">
                <a:solidFill>
                  <a:schemeClr val="accent6">
                    <a:lumMod val="60000"/>
                    <a:lumOff val="40000"/>
                  </a:schemeClr>
                </a:solidFill>
              </a:rPr>
              <a:t>ravi</a:t>
            </a:r>
            <a:r>
              <a:rPr lang="en-US" sz="2000" dirty="0">
                <a:solidFill>
                  <a:schemeClr val="accent6">
                    <a:lumMod val="60000"/>
                    <a:lumOff val="40000"/>
                  </a:schemeClr>
                </a:solidFill>
              </a:rPr>
              <a:t>)</a:t>
            </a:r>
          </a:p>
          <a:p>
            <a:pPr>
              <a:buNone/>
            </a:pPr>
            <a:r>
              <a:rPr lang="en-US" sz="2000" dirty="0">
                <a:solidFill>
                  <a:schemeClr val="accent6">
                    <a:lumMod val="60000"/>
                    <a:lumOff val="40000"/>
                  </a:schemeClr>
                </a:solidFill>
              </a:rPr>
              <a:t>CREATE (ash)-[:Follows]-&gt;(</a:t>
            </a:r>
            <a:r>
              <a:rPr lang="en-US" sz="2000" dirty="0" err="1">
                <a:solidFill>
                  <a:schemeClr val="accent6">
                    <a:lumMod val="60000"/>
                    <a:lumOff val="40000"/>
                  </a:schemeClr>
                </a:solidFill>
              </a:rPr>
              <a:t>neha</a:t>
            </a:r>
            <a:r>
              <a:rPr lang="en-US" sz="2000" dirty="0">
                <a:solidFill>
                  <a:schemeClr val="accent6">
                    <a:lumMod val="60000"/>
                    <a:lumOff val="40000"/>
                  </a:schemeClr>
                </a:solidFill>
              </a:rPr>
              <a:t>)</a:t>
            </a:r>
          </a:p>
          <a:p>
            <a:pPr>
              <a:buNone/>
            </a:pPr>
            <a:r>
              <a:rPr lang="en-US" sz="2000" dirty="0">
                <a:solidFill>
                  <a:schemeClr val="accent6">
                    <a:lumMod val="60000"/>
                    <a:lumOff val="40000"/>
                  </a:schemeClr>
                </a:solidFill>
              </a:rPr>
              <a:t>CREATE (ash)-[:Created]-&gt;(post1)</a:t>
            </a:r>
          </a:p>
          <a:p>
            <a:pPr>
              <a:buNone/>
            </a:pPr>
            <a:r>
              <a:rPr lang="en-US" sz="2000" dirty="0">
                <a:solidFill>
                  <a:schemeClr val="accent6">
                    <a:lumMod val="60000"/>
                    <a:lumOff val="40000"/>
                  </a:schemeClr>
                </a:solidFill>
              </a:rPr>
              <a:t>CREATE (ash)-[:Likes]-&gt;(post2)</a:t>
            </a: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ravi</a:t>
            </a:r>
            <a:r>
              <a:rPr lang="en-US" sz="2000" dirty="0">
                <a:solidFill>
                  <a:schemeClr val="accent6">
                    <a:lumMod val="60000"/>
                    <a:lumOff val="40000"/>
                  </a:schemeClr>
                </a:solidFill>
              </a:rPr>
              <a:t>)-[:Follows]-&gt;(</a:t>
            </a:r>
            <a:r>
              <a:rPr lang="en-US" sz="2000" dirty="0" err="1">
                <a:solidFill>
                  <a:schemeClr val="accent6">
                    <a:lumMod val="60000"/>
                    <a:lumOff val="40000"/>
                  </a:schemeClr>
                </a:solidFill>
              </a:rPr>
              <a:t>neha</a:t>
            </a:r>
            <a:r>
              <a:rPr lang="en-US" sz="2000" dirty="0">
                <a:solidFill>
                  <a:schemeClr val="accent6">
                    <a:lumMod val="60000"/>
                    <a:lumOff val="40000"/>
                  </a:schemeClr>
                </a:solidFill>
              </a:rPr>
              <a:t>)</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ravi</a:t>
            </a:r>
            <a:r>
              <a:rPr lang="en-US" sz="2000" dirty="0">
                <a:solidFill>
                  <a:schemeClr val="accent6">
                    <a:lumMod val="60000"/>
                    <a:lumOff val="40000"/>
                  </a:schemeClr>
                </a:solidFill>
              </a:rPr>
              <a:t>)-[:Created]-&gt;(post2)</a:t>
            </a: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ravi</a:t>
            </a:r>
            <a:r>
              <a:rPr lang="en-US" sz="2000" dirty="0">
                <a:solidFill>
                  <a:schemeClr val="accent6">
                    <a:lumMod val="60000"/>
                    <a:lumOff val="40000"/>
                  </a:schemeClr>
                </a:solidFill>
              </a:rPr>
              <a:t>)-[:</a:t>
            </a:r>
            <a:r>
              <a:rPr lang="en-US" sz="2000" dirty="0" err="1">
                <a:solidFill>
                  <a:schemeClr val="accent6">
                    <a:lumMod val="60000"/>
                    <a:lumOff val="40000"/>
                  </a:schemeClr>
                </a:solidFill>
              </a:rPr>
              <a:t>Lives_in</a:t>
            </a:r>
            <a:r>
              <a:rPr lang="en-US" sz="2000" dirty="0">
                <a:solidFill>
                  <a:schemeClr val="accent6">
                    <a:lumMod val="60000"/>
                    <a:lumOff val="40000"/>
                  </a:schemeClr>
                </a:solidFill>
              </a:rPr>
              <a:t>]-&gt;(</a:t>
            </a:r>
            <a:r>
              <a:rPr lang="en-US" sz="2000" dirty="0" err="1">
                <a:solidFill>
                  <a:schemeClr val="accent6">
                    <a:lumMod val="60000"/>
                    <a:lumOff val="40000"/>
                  </a:schemeClr>
                </a:solidFill>
              </a:rPr>
              <a:t>tokyo</a:t>
            </a:r>
            <a:r>
              <a:rPr lang="en-US" sz="2000" dirty="0">
                <a:solidFill>
                  <a:schemeClr val="accent6">
                    <a:lumMod val="60000"/>
                    <a:lumOff val="40000"/>
                  </a:schemeClr>
                </a:solidFill>
              </a:rPr>
              <a:t>)</a:t>
            </a: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CREATE (</a:t>
            </a:r>
            <a:r>
              <a:rPr lang="en-US" sz="2000" dirty="0" err="1">
                <a:solidFill>
                  <a:schemeClr val="accent6">
                    <a:lumMod val="60000"/>
                    <a:lumOff val="40000"/>
                  </a:schemeClr>
                </a:solidFill>
              </a:rPr>
              <a:t>neha</a:t>
            </a:r>
            <a:r>
              <a:rPr lang="en-US" sz="2000" dirty="0">
                <a:solidFill>
                  <a:schemeClr val="accent6">
                    <a:lumMod val="60000"/>
                    <a:lumOff val="40000"/>
                  </a:schemeClr>
                </a:solidFill>
              </a:rPr>
              <a:t>)-[:Likes]-&gt;(post1)</a:t>
            </a:r>
          </a:p>
          <a:p>
            <a:pPr>
              <a:buNone/>
            </a:pPr>
            <a:endParaRPr lang="en-US" sz="2000" dirty="0">
              <a:solidFill>
                <a:schemeClr val="accent6">
                  <a:lumMod val="60000"/>
                  <a:lumOff val="40000"/>
                </a:schemeClr>
              </a:solidFill>
            </a:endParaRPr>
          </a:p>
          <a:p>
            <a:pPr>
              <a:buNone/>
            </a:pPr>
            <a:r>
              <a:rPr lang="en-US" sz="2000" dirty="0">
                <a:solidFill>
                  <a:schemeClr val="accent6">
                    <a:lumMod val="60000"/>
                    <a:lumOff val="40000"/>
                  </a:schemeClr>
                </a:solidFill>
              </a:rPr>
              <a:t>CREATE (post1)-[:About]-&gt;(ai)</a:t>
            </a:r>
          </a:p>
          <a:p>
            <a:pPr>
              <a:buNone/>
            </a:pPr>
            <a:r>
              <a:rPr lang="en-US" sz="2000" dirty="0">
                <a:solidFill>
                  <a:schemeClr val="accent6">
                    <a:lumMod val="60000"/>
                    <a:lumOff val="40000"/>
                  </a:schemeClr>
                </a:solidFill>
              </a:rPr>
              <a:t>CREATE (post2)-[:About]-&gt;(travel)</a:t>
            </a:r>
          </a:p>
        </p:txBody>
      </p:sp>
      <p:sp>
        <p:nvSpPr>
          <p:cNvPr id="5" name="TextBox 4">
            <a:extLst>
              <a:ext uri="{FF2B5EF4-FFF2-40B4-BE49-F238E27FC236}">
                <a16:creationId xmlns:a16="http://schemas.microsoft.com/office/drawing/2014/main" id="{584E2BA8-1CD3-5CD7-AC38-187956145B73}"/>
              </a:ext>
            </a:extLst>
          </p:cNvPr>
          <p:cNvSpPr txBox="1"/>
          <p:nvPr/>
        </p:nvSpPr>
        <p:spPr>
          <a:xfrm>
            <a:off x="425196" y="5630918"/>
            <a:ext cx="6190488" cy="461665"/>
          </a:xfrm>
          <a:prstGeom prst="rect">
            <a:avLst/>
          </a:prstGeom>
          <a:noFill/>
        </p:spPr>
        <p:txBody>
          <a:bodyPr wrap="square">
            <a:spAutoFit/>
          </a:bodyPr>
          <a:lstStyle/>
          <a:p>
            <a:r>
              <a:rPr lang="en-US" sz="2400" dirty="0">
                <a:solidFill>
                  <a:schemeClr val="accent6">
                    <a:lumMod val="60000"/>
                    <a:lumOff val="40000"/>
                  </a:schemeClr>
                </a:solidFill>
              </a:rPr>
              <a:t>STEP2: Create relationships</a:t>
            </a:r>
          </a:p>
        </p:txBody>
      </p:sp>
      <p:pic>
        <p:nvPicPr>
          <p:cNvPr id="8" name="Picture 7">
            <a:extLst>
              <a:ext uri="{FF2B5EF4-FFF2-40B4-BE49-F238E27FC236}">
                <a16:creationId xmlns:a16="http://schemas.microsoft.com/office/drawing/2014/main" id="{F434049E-52EB-C0F5-19A3-7159FD893D2A}"/>
              </a:ext>
            </a:extLst>
          </p:cNvPr>
          <p:cNvPicPr>
            <a:picLocks noChangeAspect="1"/>
          </p:cNvPicPr>
          <p:nvPr/>
        </p:nvPicPr>
        <p:blipFill>
          <a:blip r:embed="rId2"/>
          <a:stretch>
            <a:fillRect/>
          </a:stretch>
        </p:blipFill>
        <p:spPr>
          <a:xfrm>
            <a:off x="86792" y="1"/>
            <a:ext cx="7248166" cy="4654296"/>
          </a:xfrm>
          <a:prstGeom prst="rect">
            <a:avLst/>
          </a:prstGeom>
        </p:spPr>
      </p:pic>
    </p:spTree>
    <p:extLst>
      <p:ext uri="{BB962C8B-B14F-4D97-AF65-F5344CB8AC3E}">
        <p14:creationId xmlns:p14="http://schemas.microsoft.com/office/powerpoint/2010/main" val="2274748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D88A5-4913-1606-644D-66939E52DC8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7A6E635-C1CD-6E5A-441B-A8966EFB4DD1}"/>
              </a:ext>
            </a:extLst>
          </p:cNvPr>
          <p:cNvSpPr txBox="1"/>
          <p:nvPr/>
        </p:nvSpPr>
        <p:spPr>
          <a:xfrm>
            <a:off x="7411212" y="1177790"/>
            <a:ext cx="6190488" cy="1569660"/>
          </a:xfrm>
          <a:prstGeom prst="rect">
            <a:avLst/>
          </a:prstGeom>
          <a:noFill/>
        </p:spPr>
        <p:txBody>
          <a:bodyPr wrap="square">
            <a:spAutoFit/>
          </a:bodyPr>
          <a:lstStyle/>
          <a:p>
            <a:r>
              <a:rPr lang="en-US" sz="2400" dirty="0">
                <a:solidFill>
                  <a:schemeClr val="accent6">
                    <a:lumMod val="60000"/>
                    <a:lumOff val="40000"/>
                  </a:schemeClr>
                </a:solidFill>
              </a:rPr>
              <a:t>To view the graph: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MATCH (source)-[r]-&gt;(target)</a:t>
            </a:r>
          </a:p>
          <a:p>
            <a:r>
              <a:rPr lang="en-US" sz="2400" dirty="0">
                <a:solidFill>
                  <a:schemeClr val="accent6">
                    <a:lumMod val="60000"/>
                    <a:lumOff val="40000"/>
                  </a:schemeClr>
                </a:solidFill>
              </a:rPr>
              <a:t>RETURN source, r, target</a:t>
            </a:r>
          </a:p>
        </p:txBody>
      </p:sp>
      <p:pic>
        <p:nvPicPr>
          <p:cNvPr id="8" name="Picture 7">
            <a:extLst>
              <a:ext uri="{FF2B5EF4-FFF2-40B4-BE49-F238E27FC236}">
                <a16:creationId xmlns:a16="http://schemas.microsoft.com/office/drawing/2014/main" id="{1ADC3EA1-01A7-9254-7775-0801CA7F0123}"/>
              </a:ext>
            </a:extLst>
          </p:cNvPr>
          <p:cNvPicPr>
            <a:picLocks noChangeAspect="1"/>
          </p:cNvPicPr>
          <p:nvPr/>
        </p:nvPicPr>
        <p:blipFill>
          <a:blip r:embed="rId2"/>
          <a:stretch>
            <a:fillRect/>
          </a:stretch>
        </p:blipFill>
        <p:spPr>
          <a:xfrm>
            <a:off x="86792" y="1"/>
            <a:ext cx="7248166" cy="4654296"/>
          </a:xfrm>
          <a:prstGeom prst="rect">
            <a:avLst/>
          </a:prstGeom>
        </p:spPr>
      </p:pic>
    </p:spTree>
    <p:extLst>
      <p:ext uri="{BB962C8B-B14F-4D97-AF65-F5344CB8AC3E}">
        <p14:creationId xmlns:p14="http://schemas.microsoft.com/office/powerpoint/2010/main" val="2053784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CADB8-D76A-309B-3D5F-584B63036C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34CFFB0-36C1-1206-DAED-039AF27DACE8}"/>
              </a:ext>
            </a:extLst>
          </p:cNvPr>
          <p:cNvSpPr txBox="1"/>
          <p:nvPr/>
        </p:nvSpPr>
        <p:spPr>
          <a:xfrm>
            <a:off x="406908" y="5676638"/>
            <a:ext cx="6190488" cy="830997"/>
          </a:xfrm>
          <a:prstGeom prst="rect">
            <a:avLst/>
          </a:prstGeom>
          <a:noFill/>
        </p:spPr>
        <p:txBody>
          <a:bodyPr wrap="square">
            <a:spAutoFit/>
          </a:bodyPr>
          <a:lstStyle/>
          <a:p>
            <a:r>
              <a:rPr lang="en-US" sz="2400" dirty="0">
                <a:solidFill>
                  <a:schemeClr val="accent6">
                    <a:lumMod val="60000"/>
                    <a:lumOff val="40000"/>
                  </a:schemeClr>
                </a:solidFill>
              </a:rPr>
              <a:t>Q: Find topics liked by people Ash follows ?</a:t>
            </a:r>
          </a:p>
          <a:p>
            <a:r>
              <a:rPr lang="en-US" sz="2400" dirty="0">
                <a:solidFill>
                  <a:schemeClr val="accent6">
                    <a:lumMod val="60000"/>
                    <a:lumOff val="40000"/>
                  </a:schemeClr>
                </a:solidFill>
              </a:rPr>
              <a:t>Answer (Visually): AI</a:t>
            </a:r>
          </a:p>
        </p:txBody>
      </p:sp>
      <p:pic>
        <p:nvPicPr>
          <p:cNvPr id="8" name="Picture 7">
            <a:extLst>
              <a:ext uri="{FF2B5EF4-FFF2-40B4-BE49-F238E27FC236}">
                <a16:creationId xmlns:a16="http://schemas.microsoft.com/office/drawing/2014/main" id="{418C0460-546D-49EE-BFA7-13395DD90BC8}"/>
              </a:ext>
            </a:extLst>
          </p:cNvPr>
          <p:cNvPicPr>
            <a:picLocks noChangeAspect="1"/>
          </p:cNvPicPr>
          <p:nvPr/>
        </p:nvPicPr>
        <p:blipFill>
          <a:blip r:embed="rId2"/>
          <a:stretch>
            <a:fillRect/>
          </a:stretch>
        </p:blipFill>
        <p:spPr>
          <a:xfrm>
            <a:off x="86792" y="1"/>
            <a:ext cx="7248166" cy="4654296"/>
          </a:xfrm>
          <a:prstGeom prst="rect">
            <a:avLst/>
          </a:prstGeom>
        </p:spPr>
      </p:pic>
    </p:spTree>
    <p:extLst>
      <p:ext uri="{BB962C8B-B14F-4D97-AF65-F5344CB8AC3E}">
        <p14:creationId xmlns:p14="http://schemas.microsoft.com/office/powerpoint/2010/main" val="3092287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E8007-FD01-AE27-11B1-44FFAE3E33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7509A48-5C1C-31CF-2B24-9DED63E06D08}"/>
              </a:ext>
            </a:extLst>
          </p:cNvPr>
          <p:cNvSpPr txBox="1"/>
          <p:nvPr/>
        </p:nvSpPr>
        <p:spPr>
          <a:xfrm>
            <a:off x="137160" y="164360"/>
            <a:ext cx="9015984" cy="3416320"/>
          </a:xfrm>
          <a:prstGeom prst="rect">
            <a:avLst/>
          </a:prstGeom>
          <a:noFill/>
        </p:spPr>
        <p:txBody>
          <a:bodyPr wrap="square">
            <a:spAutoFit/>
          </a:bodyPr>
          <a:lstStyle/>
          <a:p>
            <a:r>
              <a:rPr lang="en-US" sz="2400" b="1" dirty="0">
                <a:solidFill>
                  <a:schemeClr val="accent6">
                    <a:lumMod val="60000"/>
                    <a:lumOff val="40000"/>
                  </a:schemeClr>
                </a:solidFill>
              </a:rPr>
              <a:t>4. Query Example</a:t>
            </a:r>
          </a:p>
          <a:p>
            <a:r>
              <a:rPr lang="en-US" sz="2400" dirty="0">
                <a:solidFill>
                  <a:schemeClr val="accent6">
                    <a:lumMod val="60000"/>
                    <a:lumOff val="40000"/>
                  </a:schemeClr>
                </a:solidFill>
              </a:rPr>
              <a:t>In graph databases like Neo4j, you use </a:t>
            </a:r>
            <a:r>
              <a:rPr lang="en-US" sz="2400" b="1" dirty="0">
                <a:solidFill>
                  <a:schemeClr val="accent6">
                    <a:lumMod val="60000"/>
                    <a:lumOff val="40000"/>
                  </a:schemeClr>
                </a:solidFill>
              </a:rPr>
              <a:t>Cypher query language</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Q: Find out where Ash lives.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MATCH (</a:t>
            </a:r>
            <a:r>
              <a:rPr lang="en-US" sz="2400" dirty="0" err="1">
                <a:solidFill>
                  <a:schemeClr val="accent6">
                    <a:lumMod val="60000"/>
                    <a:lumOff val="40000"/>
                  </a:schemeClr>
                </a:solidFill>
              </a:rPr>
              <a:t>p:Person</a:t>
            </a:r>
            <a:r>
              <a:rPr lang="en-US" sz="2400" dirty="0">
                <a:solidFill>
                  <a:schemeClr val="accent6">
                    <a:lumMod val="60000"/>
                    <a:lumOff val="40000"/>
                  </a:schemeClr>
                </a:solidFill>
              </a:rPr>
              <a:t> {name: 'Ash'})-[:</a:t>
            </a:r>
            <a:r>
              <a:rPr lang="en-US" sz="2400" dirty="0" err="1">
                <a:solidFill>
                  <a:schemeClr val="accent6">
                    <a:lumMod val="60000"/>
                    <a:lumOff val="40000"/>
                  </a:schemeClr>
                </a:solidFill>
              </a:rPr>
              <a:t>Lives_in</a:t>
            </a:r>
            <a:r>
              <a:rPr lang="en-US" sz="2400" dirty="0">
                <a:solidFill>
                  <a:schemeClr val="accent6">
                    <a:lumMod val="60000"/>
                    <a:lumOff val="40000"/>
                  </a:schemeClr>
                </a:solidFill>
              </a:rPr>
              <a:t>]-&gt;(</a:t>
            </a:r>
            <a:r>
              <a:rPr lang="en-US" sz="2400" dirty="0" err="1">
                <a:solidFill>
                  <a:schemeClr val="accent6">
                    <a:lumMod val="60000"/>
                    <a:lumOff val="40000"/>
                  </a:schemeClr>
                </a:solidFill>
              </a:rPr>
              <a:t>c:City</a:t>
            </a:r>
            <a:r>
              <a:rPr lang="en-US" sz="2400" dirty="0">
                <a:solidFill>
                  <a:schemeClr val="accent6">
                    <a:lumMod val="60000"/>
                    <a:lumOff val="40000"/>
                  </a:schemeClr>
                </a:solidFill>
              </a:rPr>
              <a:t>)</a:t>
            </a:r>
          </a:p>
          <a:p>
            <a:r>
              <a:rPr lang="en-US" sz="2400" dirty="0">
                <a:solidFill>
                  <a:schemeClr val="accent6">
                    <a:lumMod val="60000"/>
                    <a:lumOff val="40000"/>
                  </a:schemeClr>
                </a:solidFill>
              </a:rPr>
              <a:t>RETURN c.name AS City</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Answer: Delhi</a:t>
            </a:r>
          </a:p>
        </p:txBody>
      </p:sp>
      <p:pic>
        <p:nvPicPr>
          <p:cNvPr id="3" name="Picture 2">
            <a:extLst>
              <a:ext uri="{FF2B5EF4-FFF2-40B4-BE49-F238E27FC236}">
                <a16:creationId xmlns:a16="http://schemas.microsoft.com/office/drawing/2014/main" id="{3D54CDC4-9EDC-D190-D444-B49D3DCAD703}"/>
              </a:ext>
            </a:extLst>
          </p:cNvPr>
          <p:cNvPicPr>
            <a:picLocks noChangeAspect="1"/>
          </p:cNvPicPr>
          <p:nvPr/>
        </p:nvPicPr>
        <p:blipFill>
          <a:blip r:embed="rId2"/>
          <a:stretch>
            <a:fillRect/>
          </a:stretch>
        </p:blipFill>
        <p:spPr>
          <a:xfrm>
            <a:off x="5774995" y="2825496"/>
            <a:ext cx="6279845" cy="4032504"/>
          </a:xfrm>
          <a:prstGeom prst="rect">
            <a:avLst/>
          </a:prstGeom>
        </p:spPr>
      </p:pic>
    </p:spTree>
    <p:extLst>
      <p:ext uri="{BB962C8B-B14F-4D97-AF65-F5344CB8AC3E}">
        <p14:creationId xmlns:p14="http://schemas.microsoft.com/office/powerpoint/2010/main" val="2424340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62E74-DA92-05FB-1776-C0EB85BE291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1CAC1BD-FE13-6E4C-1150-D75DC1D0FEB4}"/>
              </a:ext>
            </a:extLst>
          </p:cNvPr>
          <p:cNvSpPr txBox="1"/>
          <p:nvPr/>
        </p:nvSpPr>
        <p:spPr>
          <a:xfrm>
            <a:off x="137160" y="164360"/>
            <a:ext cx="11365992" cy="3416320"/>
          </a:xfrm>
          <a:prstGeom prst="rect">
            <a:avLst/>
          </a:prstGeom>
          <a:noFill/>
        </p:spPr>
        <p:txBody>
          <a:bodyPr wrap="square">
            <a:spAutoFit/>
          </a:bodyPr>
          <a:lstStyle/>
          <a:p>
            <a:r>
              <a:rPr lang="en-US" sz="2400" b="1" dirty="0">
                <a:solidFill>
                  <a:schemeClr val="accent6">
                    <a:lumMod val="60000"/>
                    <a:lumOff val="40000"/>
                  </a:schemeClr>
                </a:solidFill>
              </a:rPr>
              <a:t>4. Query Example</a:t>
            </a:r>
          </a:p>
          <a:p>
            <a:r>
              <a:rPr lang="en-US" sz="2400" dirty="0">
                <a:solidFill>
                  <a:schemeClr val="accent6">
                    <a:lumMod val="60000"/>
                    <a:lumOff val="40000"/>
                  </a:schemeClr>
                </a:solidFill>
              </a:rPr>
              <a:t>In graph databases like Neo4j, you use </a:t>
            </a:r>
            <a:r>
              <a:rPr lang="en-US" sz="2400" b="1" dirty="0">
                <a:solidFill>
                  <a:schemeClr val="accent6">
                    <a:lumMod val="60000"/>
                    <a:lumOff val="40000"/>
                  </a:schemeClr>
                </a:solidFill>
              </a:rPr>
              <a:t>Cypher query language</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Q: Find all the people Ash follows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MATCH (</a:t>
            </a:r>
            <a:r>
              <a:rPr lang="en-US" sz="2400" dirty="0" err="1">
                <a:solidFill>
                  <a:schemeClr val="accent6">
                    <a:lumMod val="60000"/>
                    <a:lumOff val="40000"/>
                  </a:schemeClr>
                </a:solidFill>
              </a:rPr>
              <a:t>p:Person</a:t>
            </a:r>
            <a:r>
              <a:rPr lang="en-US" sz="2400" dirty="0">
                <a:solidFill>
                  <a:schemeClr val="accent6">
                    <a:lumMod val="60000"/>
                    <a:lumOff val="40000"/>
                  </a:schemeClr>
                </a:solidFill>
              </a:rPr>
              <a:t> {name: 'Ash'})-[:Follows]-&gt;(</a:t>
            </a:r>
            <a:r>
              <a:rPr lang="en-US" sz="2400" dirty="0" err="1">
                <a:solidFill>
                  <a:schemeClr val="accent6">
                    <a:lumMod val="60000"/>
                    <a:lumOff val="40000"/>
                  </a:schemeClr>
                </a:solidFill>
              </a:rPr>
              <a:t>followedPerson:Person</a:t>
            </a:r>
            <a:r>
              <a:rPr lang="en-US" sz="2400" dirty="0">
                <a:solidFill>
                  <a:schemeClr val="accent6">
                    <a:lumMod val="60000"/>
                    <a:lumOff val="40000"/>
                  </a:schemeClr>
                </a:solidFill>
              </a:rPr>
              <a:t>)</a:t>
            </a:r>
          </a:p>
          <a:p>
            <a:r>
              <a:rPr lang="en-US" sz="2400" dirty="0">
                <a:solidFill>
                  <a:schemeClr val="accent6">
                    <a:lumMod val="60000"/>
                    <a:lumOff val="40000"/>
                  </a:schemeClr>
                </a:solidFill>
              </a:rPr>
              <a:t>RETURN followedPerson.name AS </a:t>
            </a:r>
            <a:r>
              <a:rPr lang="en-US" sz="2400" dirty="0" err="1">
                <a:solidFill>
                  <a:schemeClr val="accent6">
                    <a:lumMod val="60000"/>
                    <a:lumOff val="40000"/>
                  </a:schemeClr>
                </a:solidFill>
              </a:rPr>
              <a:t>FollowedUser</a:t>
            </a:r>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Answer: Ravi and Neha</a:t>
            </a:r>
          </a:p>
        </p:txBody>
      </p:sp>
      <p:pic>
        <p:nvPicPr>
          <p:cNvPr id="3" name="Picture 2">
            <a:extLst>
              <a:ext uri="{FF2B5EF4-FFF2-40B4-BE49-F238E27FC236}">
                <a16:creationId xmlns:a16="http://schemas.microsoft.com/office/drawing/2014/main" id="{0FEFBE84-5012-735D-A516-6128D7C49CDF}"/>
              </a:ext>
            </a:extLst>
          </p:cNvPr>
          <p:cNvPicPr>
            <a:picLocks noChangeAspect="1"/>
          </p:cNvPicPr>
          <p:nvPr/>
        </p:nvPicPr>
        <p:blipFill>
          <a:blip r:embed="rId2"/>
          <a:stretch>
            <a:fillRect/>
          </a:stretch>
        </p:blipFill>
        <p:spPr>
          <a:xfrm>
            <a:off x="5774995" y="2825496"/>
            <a:ext cx="6279845" cy="4032504"/>
          </a:xfrm>
          <a:prstGeom prst="rect">
            <a:avLst/>
          </a:prstGeom>
        </p:spPr>
      </p:pic>
    </p:spTree>
    <p:extLst>
      <p:ext uri="{BB962C8B-B14F-4D97-AF65-F5344CB8AC3E}">
        <p14:creationId xmlns:p14="http://schemas.microsoft.com/office/powerpoint/2010/main" val="1324144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081DD-0B24-17F1-CBD9-CE3413F1EB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44203A-D9EE-64BF-CA52-E9761ACF7E5F}"/>
              </a:ext>
            </a:extLst>
          </p:cNvPr>
          <p:cNvSpPr txBox="1"/>
          <p:nvPr/>
        </p:nvSpPr>
        <p:spPr>
          <a:xfrm>
            <a:off x="137160" y="164360"/>
            <a:ext cx="10789920" cy="3416320"/>
          </a:xfrm>
          <a:prstGeom prst="rect">
            <a:avLst/>
          </a:prstGeom>
          <a:noFill/>
        </p:spPr>
        <p:txBody>
          <a:bodyPr wrap="square">
            <a:spAutoFit/>
          </a:bodyPr>
          <a:lstStyle/>
          <a:p>
            <a:r>
              <a:rPr lang="en-US" sz="2400" b="1" dirty="0">
                <a:solidFill>
                  <a:schemeClr val="accent6">
                    <a:lumMod val="60000"/>
                    <a:lumOff val="40000"/>
                  </a:schemeClr>
                </a:solidFill>
              </a:rPr>
              <a:t>4. Query Example</a:t>
            </a:r>
          </a:p>
          <a:p>
            <a:r>
              <a:rPr lang="en-US" sz="2400" dirty="0">
                <a:solidFill>
                  <a:schemeClr val="accent6">
                    <a:lumMod val="60000"/>
                    <a:lumOff val="40000"/>
                  </a:schemeClr>
                </a:solidFill>
              </a:rPr>
              <a:t>In graph databases like Neo4j, you use </a:t>
            </a:r>
            <a:r>
              <a:rPr lang="en-US" sz="2400" b="1" dirty="0">
                <a:solidFill>
                  <a:schemeClr val="accent6">
                    <a:lumMod val="60000"/>
                    <a:lumOff val="40000"/>
                  </a:schemeClr>
                </a:solidFill>
              </a:rPr>
              <a:t>Cypher query language</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Q: What kind of post Ash likes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MATCH (</a:t>
            </a:r>
            <a:r>
              <a:rPr lang="en-US" sz="2400" dirty="0" err="1">
                <a:solidFill>
                  <a:schemeClr val="accent6">
                    <a:lumMod val="60000"/>
                    <a:lumOff val="40000"/>
                  </a:schemeClr>
                </a:solidFill>
              </a:rPr>
              <a:t>p:Person</a:t>
            </a:r>
            <a:r>
              <a:rPr lang="en-US" sz="2400" dirty="0">
                <a:solidFill>
                  <a:schemeClr val="accent6">
                    <a:lumMod val="60000"/>
                    <a:lumOff val="40000"/>
                  </a:schemeClr>
                </a:solidFill>
              </a:rPr>
              <a:t> {name: 'Ash'})-[:Likes]-&gt;(</a:t>
            </a:r>
            <a:r>
              <a:rPr lang="en-US" sz="2400" dirty="0" err="1">
                <a:solidFill>
                  <a:schemeClr val="accent6">
                    <a:lumMod val="60000"/>
                    <a:lumOff val="40000"/>
                  </a:schemeClr>
                </a:solidFill>
              </a:rPr>
              <a:t>post:Post</a:t>
            </a:r>
            <a:r>
              <a:rPr lang="en-US" sz="2400" dirty="0">
                <a:solidFill>
                  <a:schemeClr val="accent6">
                    <a:lumMod val="60000"/>
                    <a:lumOff val="40000"/>
                  </a:schemeClr>
                </a:solidFill>
              </a:rPr>
              <a:t>)-[:About]-&gt;(</a:t>
            </a:r>
            <a:r>
              <a:rPr lang="en-US" sz="2400" dirty="0" err="1">
                <a:solidFill>
                  <a:schemeClr val="accent6">
                    <a:lumMod val="60000"/>
                    <a:lumOff val="40000"/>
                  </a:schemeClr>
                </a:solidFill>
              </a:rPr>
              <a:t>t:Topic</a:t>
            </a:r>
            <a:r>
              <a:rPr lang="en-US" sz="2400" dirty="0">
                <a:solidFill>
                  <a:schemeClr val="accent6">
                    <a:lumMod val="60000"/>
                    <a:lumOff val="40000"/>
                  </a:schemeClr>
                </a:solidFill>
              </a:rPr>
              <a:t>)</a:t>
            </a:r>
          </a:p>
          <a:p>
            <a:r>
              <a:rPr lang="en-US" sz="2400" dirty="0">
                <a:solidFill>
                  <a:schemeClr val="accent6">
                    <a:lumMod val="60000"/>
                    <a:lumOff val="40000"/>
                  </a:schemeClr>
                </a:solidFill>
              </a:rPr>
              <a:t>RETURN t.name AS Topic</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Answer: Travel</a:t>
            </a:r>
          </a:p>
        </p:txBody>
      </p:sp>
      <p:pic>
        <p:nvPicPr>
          <p:cNvPr id="3" name="Picture 2">
            <a:extLst>
              <a:ext uri="{FF2B5EF4-FFF2-40B4-BE49-F238E27FC236}">
                <a16:creationId xmlns:a16="http://schemas.microsoft.com/office/drawing/2014/main" id="{6BC0B1F2-BA03-A0CD-8DAD-7B3FA4BF15AE}"/>
              </a:ext>
            </a:extLst>
          </p:cNvPr>
          <p:cNvPicPr>
            <a:picLocks noChangeAspect="1"/>
          </p:cNvPicPr>
          <p:nvPr/>
        </p:nvPicPr>
        <p:blipFill>
          <a:blip r:embed="rId2"/>
          <a:stretch>
            <a:fillRect/>
          </a:stretch>
        </p:blipFill>
        <p:spPr>
          <a:xfrm>
            <a:off x="5774995" y="2825496"/>
            <a:ext cx="6279845" cy="4032504"/>
          </a:xfrm>
          <a:prstGeom prst="rect">
            <a:avLst/>
          </a:prstGeom>
        </p:spPr>
      </p:pic>
    </p:spTree>
    <p:extLst>
      <p:ext uri="{BB962C8B-B14F-4D97-AF65-F5344CB8AC3E}">
        <p14:creationId xmlns:p14="http://schemas.microsoft.com/office/powerpoint/2010/main" val="1336088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FCDF-1E3E-AE96-9963-B910F2BFB05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63B7CF-27EF-E10F-E4CF-0C65959701F0}"/>
              </a:ext>
            </a:extLst>
          </p:cNvPr>
          <p:cNvSpPr txBox="1"/>
          <p:nvPr/>
        </p:nvSpPr>
        <p:spPr>
          <a:xfrm>
            <a:off x="137160" y="164360"/>
            <a:ext cx="12054840" cy="4154984"/>
          </a:xfrm>
          <a:prstGeom prst="rect">
            <a:avLst/>
          </a:prstGeom>
          <a:noFill/>
        </p:spPr>
        <p:txBody>
          <a:bodyPr wrap="square">
            <a:spAutoFit/>
          </a:bodyPr>
          <a:lstStyle/>
          <a:p>
            <a:r>
              <a:rPr lang="en-US" sz="2400" dirty="0">
                <a:solidFill>
                  <a:schemeClr val="accent6">
                    <a:lumMod val="60000"/>
                    <a:lumOff val="40000"/>
                  </a:schemeClr>
                </a:solidFill>
              </a:rPr>
              <a:t>Few basic commands: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1) To delete nodes and relations:</a:t>
            </a:r>
          </a:p>
          <a:p>
            <a:endParaRPr lang="en-US" sz="2400" dirty="0">
              <a:solidFill>
                <a:schemeClr val="accent6">
                  <a:lumMod val="60000"/>
                  <a:lumOff val="40000"/>
                </a:schemeClr>
              </a:solidFill>
            </a:endParaRPr>
          </a:p>
          <a:p>
            <a:r>
              <a:rPr lang="pt-BR" sz="2400" dirty="0">
                <a:solidFill>
                  <a:schemeClr val="accent6">
                    <a:lumMod val="60000"/>
                    <a:lumOff val="40000"/>
                  </a:schemeClr>
                </a:solidFill>
              </a:rPr>
              <a:t>MATCH (n) </a:t>
            </a:r>
          </a:p>
          <a:p>
            <a:r>
              <a:rPr lang="pt-BR" sz="2400" dirty="0">
                <a:solidFill>
                  <a:schemeClr val="accent6">
                    <a:lumMod val="60000"/>
                    <a:lumOff val="40000"/>
                  </a:schemeClr>
                </a:solidFill>
              </a:rPr>
              <a:t>DETACH DELETE n</a:t>
            </a:r>
          </a:p>
          <a:p>
            <a:endParaRPr lang="pt-BR" sz="2400" dirty="0">
              <a:solidFill>
                <a:schemeClr val="accent6">
                  <a:lumMod val="60000"/>
                  <a:lumOff val="40000"/>
                </a:schemeClr>
              </a:solidFill>
            </a:endParaRPr>
          </a:p>
          <a:p>
            <a:pPr marL="457200" indent="-457200">
              <a:buAutoNum type="arabicParenR" startAt="2"/>
            </a:pPr>
            <a:r>
              <a:rPr lang="pt-BR" sz="2400" dirty="0">
                <a:solidFill>
                  <a:schemeClr val="accent6">
                    <a:lumMod val="60000"/>
                    <a:lumOff val="40000"/>
                  </a:schemeClr>
                </a:solidFill>
              </a:rPr>
              <a:t>To drop database:</a:t>
            </a:r>
          </a:p>
          <a:p>
            <a:br>
              <a:rPr lang="pt-BR" sz="2400" dirty="0">
                <a:solidFill>
                  <a:schemeClr val="accent6">
                    <a:lumMod val="60000"/>
                    <a:lumOff val="40000"/>
                  </a:schemeClr>
                </a:solidFill>
              </a:rPr>
            </a:br>
            <a:r>
              <a:rPr lang="en-US" sz="2400" dirty="0">
                <a:solidFill>
                  <a:schemeClr val="accent6">
                    <a:lumMod val="60000"/>
                    <a:lumOff val="40000"/>
                  </a:schemeClr>
                </a:solidFill>
              </a:rPr>
              <a:t>:use system</a:t>
            </a:r>
          </a:p>
          <a:p>
            <a:r>
              <a:rPr lang="en-US" sz="2400" dirty="0">
                <a:solidFill>
                  <a:schemeClr val="accent6">
                    <a:lumMod val="60000"/>
                    <a:lumOff val="40000"/>
                  </a:schemeClr>
                </a:solidFill>
              </a:rPr>
              <a:t>DROP DATABASE neo4j;</a:t>
            </a:r>
          </a:p>
        </p:txBody>
      </p:sp>
      <p:pic>
        <p:nvPicPr>
          <p:cNvPr id="3" name="Picture 2">
            <a:extLst>
              <a:ext uri="{FF2B5EF4-FFF2-40B4-BE49-F238E27FC236}">
                <a16:creationId xmlns:a16="http://schemas.microsoft.com/office/drawing/2014/main" id="{4BA41FC6-9539-B25D-E101-02D3F3852285}"/>
              </a:ext>
            </a:extLst>
          </p:cNvPr>
          <p:cNvPicPr>
            <a:picLocks noChangeAspect="1"/>
          </p:cNvPicPr>
          <p:nvPr/>
        </p:nvPicPr>
        <p:blipFill>
          <a:blip r:embed="rId2"/>
          <a:stretch>
            <a:fillRect/>
          </a:stretch>
        </p:blipFill>
        <p:spPr>
          <a:xfrm>
            <a:off x="5774995" y="2825496"/>
            <a:ext cx="6279845" cy="4032504"/>
          </a:xfrm>
          <a:prstGeom prst="rect">
            <a:avLst/>
          </a:prstGeom>
        </p:spPr>
      </p:pic>
    </p:spTree>
    <p:extLst>
      <p:ext uri="{BB962C8B-B14F-4D97-AF65-F5344CB8AC3E}">
        <p14:creationId xmlns:p14="http://schemas.microsoft.com/office/powerpoint/2010/main" val="117749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E9BE-F493-2B54-E8FD-512F9CC7949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2C6E4FA-7879-1E73-CE86-66A185EF38AF}"/>
              </a:ext>
            </a:extLst>
          </p:cNvPr>
          <p:cNvGraphicFramePr>
            <a:graphicFrameLocks noGrp="1"/>
          </p:cNvGraphicFramePr>
          <p:nvPr>
            <p:extLst>
              <p:ext uri="{D42A27DB-BD31-4B8C-83A1-F6EECF244321}">
                <p14:modId xmlns:p14="http://schemas.microsoft.com/office/powerpoint/2010/main" val="96841409"/>
              </p:ext>
            </p:extLst>
          </p:nvPr>
        </p:nvGraphicFramePr>
        <p:xfrm>
          <a:off x="563880" y="1751870"/>
          <a:ext cx="10515600" cy="2286000"/>
        </p:xfrm>
        <a:graphic>
          <a:graphicData uri="http://schemas.openxmlformats.org/drawingml/2006/table">
            <a:tbl>
              <a:tblPr/>
              <a:tblGrid>
                <a:gridCol w="2380488">
                  <a:extLst>
                    <a:ext uri="{9D8B030D-6E8A-4147-A177-3AD203B41FA5}">
                      <a16:colId xmlns:a16="http://schemas.microsoft.com/office/drawing/2014/main" val="1351662544"/>
                    </a:ext>
                  </a:extLst>
                </a:gridCol>
                <a:gridCol w="4261104">
                  <a:extLst>
                    <a:ext uri="{9D8B030D-6E8A-4147-A177-3AD203B41FA5}">
                      <a16:colId xmlns:a16="http://schemas.microsoft.com/office/drawing/2014/main" val="1365095997"/>
                    </a:ext>
                  </a:extLst>
                </a:gridCol>
                <a:gridCol w="3874008">
                  <a:extLst>
                    <a:ext uri="{9D8B030D-6E8A-4147-A177-3AD203B41FA5}">
                      <a16:colId xmlns:a16="http://schemas.microsoft.com/office/drawing/2014/main" val="688384120"/>
                    </a:ext>
                  </a:extLst>
                </a:gridCol>
              </a:tblGrid>
              <a:tr h="0">
                <a:tc>
                  <a:txBody>
                    <a:bodyPr/>
                    <a:lstStyle/>
                    <a:p>
                      <a:pPr algn="ctr">
                        <a:buNone/>
                      </a:pPr>
                      <a:r>
                        <a:rPr lang="en-US" sz="2400" b="1" u="sng" dirty="0">
                          <a:solidFill>
                            <a:schemeClr val="accent6">
                              <a:lumMod val="60000"/>
                              <a:lumOff val="40000"/>
                            </a:schemeClr>
                          </a:solidFill>
                        </a:rPr>
                        <a:t>Feature</a:t>
                      </a:r>
                    </a:p>
                  </a:txBody>
                  <a:tcPr anchor="ctr">
                    <a:lnL>
                      <a:noFill/>
                    </a:lnL>
                    <a:lnR>
                      <a:noFill/>
                    </a:lnR>
                    <a:lnT>
                      <a:noFill/>
                    </a:lnT>
                    <a:lnB>
                      <a:noFill/>
                    </a:lnB>
                    <a:noFill/>
                  </a:tcPr>
                </a:tc>
                <a:tc>
                  <a:txBody>
                    <a:bodyPr/>
                    <a:lstStyle/>
                    <a:p>
                      <a:pPr algn="ctr">
                        <a:buNone/>
                      </a:pPr>
                      <a:r>
                        <a:rPr lang="en-US" sz="2400" b="1" u="sng" dirty="0">
                          <a:solidFill>
                            <a:schemeClr val="accent6">
                              <a:lumMod val="60000"/>
                              <a:lumOff val="40000"/>
                            </a:schemeClr>
                          </a:solidFill>
                        </a:rPr>
                        <a:t>Graph DB</a:t>
                      </a:r>
                    </a:p>
                  </a:txBody>
                  <a:tcPr anchor="ctr">
                    <a:lnL>
                      <a:noFill/>
                    </a:lnL>
                    <a:lnR>
                      <a:noFill/>
                    </a:lnR>
                    <a:lnT>
                      <a:noFill/>
                    </a:lnT>
                    <a:lnB>
                      <a:noFill/>
                    </a:lnB>
                    <a:noFill/>
                  </a:tcPr>
                </a:tc>
                <a:tc>
                  <a:txBody>
                    <a:bodyPr/>
                    <a:lstStyle/>
                    <a:p>
                      <a:pPr algn="ctr">
                        <a:buNone/>
                      </a:pPr>
                      <a:r>
                        <a:rPr lang="en-US" sz="2400" b="1" u="sng" dirty="0">
                          <a:solidFill>
                            <a:schemeClr val="accent6">
                              <a:lumMod val="60000"/>
                              <a:lumOff val="40000"/>
                            </a:schemeClr>
                          </a:solidFill>
                        </a:rPr>
                        <a:t>Relational DB</a:t>
                      </a:r>
                    </a:p>
                  </a:txBody>
                  <a:tcPr anchor="ctr">
                    <a:lnL>
                      <a:noFill/>
                    </a:lnL>
                    <a:lnR>
                      <a:noFill/>
                    </a:lnR>
                    <a:lnT>
                      <a:noFill/>
                    </a:lnT>
                    <a:lnB>
                      <a:noFill/>
                    </a:lnB>
                    <a:noFill/>
                  </a:tcPr>
                </a:tc>
                <a:extLst>
                  <a:ext uri="{0D108BD9-81ED-4DB2-BD59-A6C34878D82A}">
                    <a16:rowId xmlns:a16="http://schemas.microsoft.com/office/drawing/2014/main" val="3181527490"/>
                  </a:ext>
                </a:extLst>
              </a:tr>
              <a:tr h="0">
                <a:tc>
                  <a:txBody>
                    <a:bodyPr/>
                    <a:lstStyle/>
                    <a:p>
                      <a:pPr algn="ctr">
                        <a:buNone/>
                      </a:pPr>
                      <a:r>
                        <a:rPr lang="en-US" sz="2400" b="1" dirty="0">
                          <a:solidFill>
                            <a:schemeClr val="accent6">
                              <a:lumMod val="60000"/>
                              <a:lumOff val="40000"/>
                            </a:schemeClr>
                          </a:solidFill>
                        </a:rPr>
                        <a:t>Structure</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Nodes &amp; Edges</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Tables</a:t>
                      </a:r>
                    </a:p>
                  </a:txBody>
                  <a:tcPr anchor="ctr">
                    <a:lnL>
                      <a:noFill/>
                    </a:lnL>
                    <a:lnR>
                      <a:noFill/>
                    </a:lnR>
                    <a:lnT>
                      <a:noFill/>
                    </a:lnT>
                    <a:lnB>
                      <a:noFill/>
                    </a:lnB>
                    <a:noFill/>
                  </a:tcPr>
                </a:tc>
                <a:extLst>
                  <a:ext uri="{0D108BD9-81ED-4DB2-BD59-A6C34878D82A}">
                    <a16:rowId xmlns:a16="http://schemas.microsoft.com/office/drawing/2014/main" val="2520248330"/>
                  </a:ext>
                </a:extLst>
              </a:tr>
              <a:tr h="0">
                <a:tc>
                  <a:txBody>
                    <a:bodyPr/>
                    <a:lstStyle/>
                    <a:p>
                      <a:pPr algn="ctr">
                        <a:buNone/>
                      </a:pPr>
                      <a:r>
                        <a:rPr lang="en-US" sz="2400" b="1" dirty="0">
                          <a:solidFill>
                            <a:schemeClr val="accent6">
                              <a:lumMod val="60000"/>
                              <a:lumOff val="40000"/>
                            </a:schemeClr>
                          </a:solidFill>
                        </a:rPr>
                        <a:t>Relationships</a:t>
                      </a:r>
                    </a:p>
                  </a:txBody>
                  <a:tcPr anchor="ctr">
                    <a:lnL>
                      <a:noFill/>
                    </a:lnL>
                    <a:lnR>
                      <a:noFill/>
                    </a:lnR>
                    <a:lnT>
                      <a:noFill/>
                    </a:lnT>
                    <a:lnB>
                      <a:noFill/>
                    </a:lnB>
                    <a:noFill/>
                  </a:tcPr>
                </a:tc>
                <a:tc>
                  <a:txBody>
                    <a:bodyPr/>
                    <a:lstStyle/>
                    <a:p>
                      <a:pPr algn="ctr">
                        <a:buNone/>
                      </a:pPr>
                      <a:r>
                        <a:rPr lang="en-US" sz="2400">
                          <a:solidFill>
                            <a:schemeClr val="accent6">
                              <a:lumMod val="60000"/>
                              <a:lumOff val="40000"/>
                            </a:schemeClr>
                          </a:solidFill>
                        </a:rPr>
                        <a:t>Direct &amp; fast</a:t>
                      </a:r>
                    </a:p>
                  </a:txBody>
                  <a:tcPr anchor="ctr">
                    <a:lnL>
                      <a:noFill/>
                    </a:lnL>
                    <a:lnR>
                      <a:noFill/>
                    </a:lnR>
                    <a:lnT>
                      <a:noFill/>
                    </a:lnT>
                    <a:lnB>
                      <a:noFill/>
                    </a:lnB>
                    <a:noFill/>
                  </a:tcPr>
                </a:tc>
                <a:tc>
                  <a:txBody>
                    <a:bodyPr/>
                    <a:lstStyle/>
                    <a:p>
                      <a:pPr algn="ctr">
                        <a:buNone/>
                      </a:pPr>
                      <a:r>
                        <a:rPr lang="en-US" sz="2400">
                          <a:solidFill>
                            <a:schemeClr val="accent6">
                              <a:lumMod val="60000"/>
                              <a:lumOff val="40000"/>
                            </a:schemeClr>
                          </a:solidFill>
                        </a:rPr>
                        <a:t>Via JOINs</a:t>
                      </a:r>
                    </a:p>
                  </a:txBody>
                  <a:tcPr anchor="ctr">
                    <a:lnL>
                      <a:noFill/>
                    </a:lnL>
                    <a:lnR>
                      <a:noFill/>
                    </a:lnR>
                    <a:lnT>
                      <a:noFill/>
                    </a:lnT>
                    <a:lnB>
                      <a:noFill/>
                    </a:lnB>
                    <a:noFill/>
                  </a:tcPr>
                </a:tc>
                <a:extLst>
                  <a:ext uri="{0D108BD9-81ED-4DB2-BD59-A6C34878D82A}">
                    <a16:rowId xmlns:a16="http://schemas.microsoft.com/office/drawing/2014/main" val="3668663524"/>
                  </a:ext>
                </a:extLst>
              </a:tr>
              <a:tr h="0">
                <a:tc>
                  <a:txBody>
                    <a:bodyPr/>
                    <a:lstStyle/>
                    <a:p>
                      <a:pPr algn="ctr">
                        <a:buNone/>
                      </a:pPr>
                      <a:r>
                        <a:rPr lang="en-US" sz="2400" b="1" dirty="0">
                          <a:solidFill>
                            <a:schemeClr val="accent6">
                              <a:lumMod val="60000"/>
                              <a:lumOff val="40000"/>
                            </a:schemeClr>
                          </a:solidFill>
                        </a:rPr>
                        <a:t>Performance</a:t>
                      </a:r>
                    </a:p>
                  </a:txBody>
                  <a:tcPr anchor="ctr">
                    <a:lnL>
                      <a:noFill/>
                    </a:lnL>
                    <a:lnR>
                      <a:noFill/>
                    </a:lnR>
                    <a:lnT>
                      <a:noFill/>
                    </a:lnT>
                    <a:lnB>
                      <a:noFill/>
                    </a:lnB>
                    <a:noFill/>
                  </a:tcPr>
                </a:tc>
                <a:tc>
                  <a:txBody>
                    <a:bodyPr/>
                    <a:lstStyle/>
                    <a:p>
                      <a:pPr algn="ctr">
                        <a:buNone/>
                      </a:pPr>
                      <a:r>
                        <a:rPr lang="en-US" sz="2400">
                          <a:solidFill>
                            <a:schemeClr val="accent6">
                              <a:lumMod val="60000"/>
                              <a:lumOff val="40000"/>
                            </a:schemeClr>
                          </a:solidFill>
                        </a:rPr>
                        <a:t>Fast for connections</a:t>
                      </a:r>
                    </a:p>
                  </a:txBody>
                  <a:tcPr anchor="ctr">
                    <a:lnL>
                      <a:noFill/>
                    </a:lnL>
                    <a:lnR>
                      <a:noFill/>
                    </a:lnR>
                    <a:lnT>
                      <a:noFill/>
                    </a:lnT>
                    <a:lnB>
                      <a:noFill/>
                    </a:lnB>
                    <a:noFill/>
                  </a:tcPr>
                </a:tc>
                <a:tc>
                  <a:txBody>
                    <a:bodyPr/>
                    <a:lstStyle/>
                    <a:p>
                      <a:pPr algn="ctr">
                        <a:buNone/>
                      </a:pPr>
                      <a:r>
                        <a:rPr lang="en-US" sz="2400">
                          <a:solidFill>
                            <a:schemeClr val="accent6">
                              <a:lumMod val="60000"/>
                              <a:lumOff val="40000"/>
                            </a:schemeClr>
                          </a:solidFill>
                        </a:rPr>
                        <a:t>Slow for complex joins</a:t>
                      </a:r>
                    </a:p>
                  </a:txBody>
                  <a:tcPr anchor="ctr">
                    <a:lnL>
                      <a:noFill/>
                    </a:lnL>
                    <a:lnR>
                      <a:noFill/>
                    </a:lnR>
                    <a:lnT>
                      <a:noFill/>
                    </a:lnT>
                    <a:lnB>
                      <a:noFill/>
                    </a:lnB>
                    <a:noFill/>
                  </a:tcPr>
                </a:tc>
                <a:extLst>
                  <a:ext uri="{0D108BD9-81ED-4DB2-BD59-A6C34878D82A}">
                    <a16:rowId xmlns:a16="http://schemas.microsoft.com/office/drawing/2014/main" val="1965196296"/>
                  </a:ext>
                </a:extLst>
              </a:tr>
              <a:tr h="0">
                <a:tc>
                  <a:txBody>
                    <a:bodyPr/>
                    <a:lstStyle/>
                    <a:p>
                      <a:pPr algn="ctr">
                        <a:buNone/>
                      </a:pPr>
                      <a:r>
                        <a:rPr lang="en-US" sz="2400" b="1" dirty="0">
                          <a:solidFill>
                            <a:schemeClr val="accent6">
                              <a:lumMod val="60000"/>
                              <a:lumOff val="40000"/>
                            </a:schemeClr>
                          </a:solidFill>
                        </a:rPr>
                        <a:t>Use Case</a:t>
                      </a:r>
                    </a:p>
                  </a:txBody>
                  <a:tcPr anchor="ctr">
                    <a:lnL>
                      <a:noFill/>
                    </a:lnL>
                    <a:lnR>
                      <a:noFill/>
                    </a:lnR>
                    <a:lnT>
                      <a:noFill/>
                    </a:lnT>
                    <a:lnB>
                      <a:noFill/>
                    </a:lnB>
                    <a:noFill/>
                  </a:tcPr>
                </a:tc>
                <a:tc>
                  <a:txBody>
                    <a:bodyPr/>
                    <a:lstStyle/>
                    <a:p>
                      <a:pPr algn="ctr">
                        <a:buNone/>
                      </a:pPr>
                      <a:r>
                        <a:rPr lang="en-US" sz="2400">
                          <a:solidFill>
                            <a:schemeClr val="accent6">
                              <a:lumMod val="60000"/>
                              <a:lumOff val="40000"/>
                            </a:schemeClr>
                          </a:solidFill>
                        </a:rPr>
                        <a:t>Networks, recommendations</a:t>
                      </a:r>
                    </a:p>
                  </a:txBody>
                  <a:tcPr anchor="ctr">
                    <a:lnL>
                      <a:noFill/>
                    </a:lnL>
                    <a:lnR>
                      <a:noFill/>
                    </a:lnR>
                    <a:lnT>
                      <a:noFill/>
                    </a:lnT>
                    <a:lnB>
                      <a:noFill/>
                    </a:lnB>
                    <a:noFill/>
                  </a:tcPr>
                </a:tc>
                <a:tc>
                  <a:txBody>
                    <a:bodyPr/>
                    <a:lstStyle/>
                    <a:p>
                      <a:pPr algn="ctr">
                        <a:buNone/>
                      </a:pPr>
                      <a:r>
                        <a:rPr lang="en-US" sz="2400" dirty="0">
                          <a:solidFill>
                            <a:schemeClr val="accent6">
                              <a:lumMod val="60000"/>
                              <a:lumOff val="40000"/>
                            </a:schemeClr>
                          </a:solidFill>
                        </a:rPr>
                        <a:t>Structured data</a:t>
                      </a:r>
                    </a:p>
                  </a:txBody>
                  <a:tcPr anchor="ctr">
                    <a:lnL>
                      <a:noFill/>
                    </a:lnL>
                    <a:lnR>
                      <a:noFill/>
                    </a:lnR>
                    <a:lnT>
                      <a:noFill/>
                    </a:lnT>
                    <a:lnB>
                      <a:noFill/>
                    </a:lnB>
                    <a:noFill/>
                  </a:tcPr>
                </a:tc>
                <a:extLst>
                  <a:ext uri="{0D108BD9-81ED-4DB2-BD59-A6C34878D82A}">
                    <a16:rowId xmlns:a16="http://schemas.microsoft.com/office/drawing/2014/main" val="1533982390"/>
                  </a:ext>
                </a:extLst>
              </a:tr>
            </a:tbl>
          </a:graphicData>
        </a:graphic>
      </p:graphicFrame>
      <p:sp>
        <p:nvSpPr>
          <p:cNvPr id="4" name="TextBox 3">
            <a:extLst>
              <a:ext uri="{FF2B5EF4-FFF2-40B4-BE49-F238E27FC236}">
                <a16:creationId xmlns:a16="http://schemas.microsoft.com/office/drawing/2014/main" id="{D0D64B0D-F331-5CF4-38DA-39DA15009DAA}"/>
              </a:ext>
            </a:extLst>
          </p:cNvPr>
          <p:cNvSpPr txBox="1"/>
          <p:nvPr/>
        </p:nvSpPr>
        <p:spPr>
          <a:xfrm>
            <a:off x="859536" y="709875"/>
            <a:ext cx="8343900" cy="461665"/>
          </a:xfrm>
          <a:prstGeom prst="rect">
            <a:avLst/>
          </a:prstGeom>
          <a:noFill/>
        </p:spPr>
        <p:txBody>
          <a:bodyPr wrap="square">
            <a:spAutoFit/>
          </a:bodyPr>
          <a:lstStyle/>
          <a:p>
            <a:r>
              <a:rPr lang="en-US" sz="2400" b="1" dirty="0">
                <a:solidFill>
                  <a:schemeClr val="accent6">
                    <a:lumMod val="60000"/>
                    <a:lumOff val="40000"/>
                  </a:schemeClr>
                </a:solidFill>
              </a:rPr>
              <a:t>Comparison: Graph DB vs Relation DB</a:t>
            </a:r>
          </a:p>
        </p:txBody>
      </p:sp>
    </p:spTree>
    <p:extLst>
      <p:ext uri="{BB962C8B-B14F-4D97-AF65-F5344CB8AC3E}">
        <p14:creationId xmlns:p14="http://schemas.microsoft.com/office/powerpoint/2010/main" val="780506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FDE64-B147-12CE-9BB8-04F7C4B0B3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96F18C-019C-9579-52DD-ACF2F0A2D05F}"/>
              </a:ext>
            </a:extLst>
          </p:cNvPr>
          <p:cNvSpPr txBox="1"/>
          <p:nvPr/>
        </p:nvSpPr>
        <p:spPr>
          <a:xfrm>
            <a:off x="859536" y="709875"/>
            <a:ext cx="8343900" cy="3416320"/>
          </a:xfrm>
          <a:prstGeom prst="rect">
            <a:avLst/>
          </a:prstGeom>
          <a:noFill/>
        </p:spPr>
        <p:txBody>
          <a:bodyPr wrap="square">
            <a:spAutoFit/>
          </a:bodyPr>
          <a:lstStyle/>
          <a:p>
            <a:pPr>
              <a:buNone/>
            </a:pPr>
            <a:r>
              <a:rPr lang="en-US" sz="2400" b="1" dirty="0">
                <a:solidFill>
                  <a:schemeClr val="accent6">
                    <a:lumMod val="60000"/>
                    <a:lumOff val="40000"/>
                  </a:schemeClr>
                </a:solidFill>
              </a:rPr>
              <a:t>6. Why Graph Databases Are Powerful</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a. Relationship-heavy data</a:t>
            </a:r>
          </a:p>
          <a:p>
            <a:pPr marL="342900" indent="-342900">
              <a:buFont typeface="Arial" panose="020B0604020202020204" pitchFamily="34" charset="0"/>
              <a:buChar char="•"/>
            </a:pPr>
            <a:r>
              <a:rPr lang="en-US" sz="2400" dirty="0">
                <a:solidFill>
                  <a:schemeClr val="accent6">
                    <a:lumMod val="60000"/>
                    <a:lumOff val="40000"/>
                  </a:schemeClr>
                </a:solidFill>
              </a:rPr>
              <a:t>Social networks </a:t>
            </a:r>
          </a:p>
          <a:p>
            <a:pPr marL="342900" indent="-342900">
              <a:buFont typeface="Arial" panose="020B0604020202020204" pitchFamily="34" charset="0"/>
              <a:buChar char="•"/>
            </a:pPr>
            <a:r>
              <a:rPr lang="en-US" sz="2400" dirty="0">
                <a:solidFill>
                  <a:schemeClr val="accent6">
                    <a:lumMod val="60000"/>
                    <a:lumOff val="40000"/>
                  </a:schemeClr>
                </a:solidFill>
              </a:rPr>
              <a:t>Fraud detection </a:t>
            </a:r>
          </a:p>
          <a:p>
            <a:pPr marL="342900" indent="-342900">
              <a:buFont typeface="Arial" panose="020B0604020202020204" pitchFamily="34" charset="0"/>
              <a:buChar char="•"/>
            </a:pPr>
            <a:r>
              <a:rPr lang="en-US" sz="2400" dirty="0">
                <a:solidFill>
                  <a:schemeClr val="accent6">
                    <a:lumMod val="60000"/>
                    <a:lumOff val="40000"/>
                  </a:schemeClr>
                </a:solidFill>
              </a:rPr>
              <a:t>Recommendation systems </a:t>
            </a:r>
          </a:p>
          <a:p>
            <a:pPr marL="342900" indent="-342900">
              <a:buFont typeface="Arial" panose="020B0604020202020204" pitchFamily="34" charset="0"/>
              <a:buChar char="•"/>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b. Faster queries for connections</a:t>
            </a:r>
          </a:p>
          <a:p>
            <a:pPr marL="342900" indent="-342900">
              <a:buFont typeface="Arial" panose="020B0604020202020204" pitchFamily="34" charset="0"/>
              <a:buChar char="•"/>
            </a:pPr>
            <a:r>
              <a:rPr lang="en-US" sz="2400" dirty="0">
                <a:solidFill>
                  <a:schemeClr val="accent6">
                    <a:lumMod val="60000"/>
                    <a:lumOff val="40000"/>
                  </a:schemeClr>
                </a:solidFill>
              </a:rPr>
              <a:t>No expensive JOINs </a:t>
            </a:r>
          </a:p>
        </p:txBody>
      </p:sp>
    </p:spTree>
    <p:extLst>
      <p:ext uri="{BB962C8B-B14F-4D97-AF65-F5344CB8AC3E}">
        <p14:creationId xmlns:p14="http://schemas.microsoft.com/office/powerpoint/2010/main" val="1486332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0F53E-BB46-DC58-4679-EBA97A5C8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2A2E83-E46F-10A2-E0E8-A8B487F677B4}"/>
              </a:ext>
            </a:extLst>
          </p:cNvPr>
          <p:cNvSpPr txBox="1"/>
          <p:nvPr/>
        </p:nvSpPr>
        <p:spPr>
          <a:xfrm>
            <a:off x="1746504" y="499563"/>
            <a:ext cx="8343900" cy="461665"/>
          </a:xfrm>
          <a:prstGeom prst="rect">
            <a:avLst/>
          </a:prstGeom>
          <a:noFill/>
        </p:spPr>
        <p:txBody>
          <a:bodyPr wrap="square">
            <a:spAutoFit/>
          </a:bodyPr>
          <a:lstStyle/>
          <a:p>
            <a:r>
              <a:rPr lang="en-US" sz="2400" b="1" dirty="0">
                <a:solidFill>
                  <a:schemeClr val="accent6">
                    <a:lumMod val="60000"/>
                    <a:lumOff val="40000"/>
                  </a:schemeClr>
                </a:solidFill>
              </a:rPr>
              <a:t>When to use Graph RAG vs Traditional Vector DB RAG</a:t>
            </a:r>
          </a:p>
        </p:txBody>
      </p:sp>
      <p:graphicFrame>
        <p:nvGraphicFramePr>
          <p:cNvPr id="2" name="Table 1">
            <a:extLst>
              <a:ext uri="{FF2B5EF4-FFF2-40B4-BE49-F238E27FC236}">
                <a16:creationId xmlns:a16="http://schemas.microsoft.com/office/drawing/2014/main" id="{C288AE9C-9074-F5A2-FCB7-A9F27D9F1A2C}"/>
              </a:ext>
            </a:extLst>
          </p:cNvPr>
          <p:cNvGraphicFramePr>
            <a:graphicFrameLocks noGrp="1"/>
          </p:cNvGraphicFramePr>
          <p:nvPr>
            <p:extLst>
              <p:ext uri="{D42A27DB-BD31-4B8C-83A1-F6EECF244321}">
                <p14:modId xmlns:p14="http://schemas.microsoft.com/office/powerpoint/2010/main" val="1349592929"/>
              </p:ext>
            </p:extLst>
          </p:nvPr>
        </p:nvGraphicFramePr>
        <p:xfrm>
          <a:off x="420624" y="2797334"/>
          <a:ext cx="11301984" cy="2956560"/>
        </p:xfrm>
        <a:graphic>
          <a:graphicData uri="http://schemas.openxmlformats.org/drawingml/2006/table">
            <a:tbl>
              <a:tblPr/>
              <a:tblGrid>
                <a:gridCol w="6017897">
                  <a:extLst>
                    <a:ext uri="{9D8B030D-6E8A-4147-A177-3AD203B41FA5}">
                      <a16:colId xmlns:a16="http://schemas.microsoft.com/office/drawing/2014/main" val="3322410958"/>
                    </a:ext>
                  </a:extLst>
                </a:gridCol>
                <a:gridCol w="5284087">
                  <a:extLst>
                    <a:ext uri="{9D8B030D-6E8A-4147-A177-3AD203B41FA5}">
                      <a16:colId xmlns:a16="http://schemas.microsoft.com/office/drawing/2014/main" val="1080149859"/>
                    </a:ext>
                  </a:extLst>
                </a:gridCol>
              </a:tblGrid>
              <a:tr h="0">
                <a:tc>
                  <a:txBody>
                    <a:bodyPr/>
                    <a:lstStyle/>
                    <a:p>
                      <a:pPr algn="ctr" fontAlgn="t">
                        <a:buNone/>
                      </a:pPr>
                      <a:r>
                        <a:rPr lang="en-US" sz="2400" b="1" dirty="0">
                          <a:solidFill>
                            <a:schemeClr val="accent6">
                              <a:lumMod val="60000"/>
                              <a:lumOff val="40000"/>
                            </a:schemeClr>
                          </a:solidFill>
                          <a:effectLst/>
                        </a:rPr>
                        <a:t>Use </a:t>
                      </a:r>
                      <a:r>
                        <a:rPr lang="en-US" sz="2400" b="1" dirty="0" err="1">
                          <a:solidFill>
                            <a:schemeClr val="accent6">
                              <a:lumMod val="60000"/>
                              <a:lumOff val="40000"/>
                            </a:schemeClr>
                          </a:solidFill>
                          <a:effectLst/>
                        </a:rPr>
                        <a:t>GraphRAG</a:t>
                      </a:r>
                      <a:r>
                        <a:rPr lang="en-US" sz="2400" b="1" dirty="0">
                          <a:solidFill>
                            <a:schemeClr val="accent6">
                              <a:lumMod val="60000"/>
                              <a:lumOff val="40000"/>
                            </a:schemeClr>
                          </a:solidFill>
                          <a:effectLst/>
                        </a:rPr>
                        <a:t> when</a:t>
                      </a:r>
                      <a:endParaRPr lang="en-US" sz="2400" dirty="0">
                        <a:solidFill>
                          <a:schemeClr val="accent6">
                            <a:lumMod val="60000"/>
                            <a:lumOff val="40000"/>
                          </a:schemeClr>
                        </a:solidFill>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t">
                        <a:buNone/>
                      </a:pPr>
                      <a:r>
                        <a:rPr lang="en-US" sz="2400" b="1" dirty="0">
                          <a:solidFill>
                            <a:schemeClr val="accent6">
                              <a:lumMod val="60000"/>
                              <a:lumOff val="40000"/>
                            </a:schemeClr>
                          </a:solidFill>
                          <a:effectLst/>
                        </a:rPr>
                        <a:t>Use Vector RAG when</a:t>
                      </a:r>
                      <a:endParaRPr lang="en-US" sz="2400" dirty="0">
                        <a:solidFill>
                          <a:schemeClr val="accent6">
                            <a:lumMod val="60000"/>
                            <a:lumOff val="40000"/>
                          </a:schemeClr>
                        </a:solidFill>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6622495"/>
                  </a:ext>
                </a:extLst>
              </a:tr>
              <a:tr h="0">
                <a:tc>
                  <a:txBody>
                    <a:bodyPr/>
                    <a:lstStyle/>
                    <a:p>
                      <a:pPr algn="l" fontAlgn="t">
                        <a:buNone/>
                      </a:pPr>
                      <a:r>
                        <a:rPr lang="en-US" sz="2400" dirty="0">
                          <a:solidFill>
                            <a:schemeClr val="accent6">
                              <a:lumMod val="60000"/>
                              <a:lumOff val="40000"/>
                            </a:schemeClr>
                          </a:solidFill>
                          <a:effectLst/>
                        </a:rPr>
                        <a:t>Many interconnected documents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2400">
                          <a:solidFill>
                            <a:schemeClr val="accent6">
                              <a:lumMod val="60000"/>
                              <a:lumOff val="40000"/>
                            </a:schemeClr>
                          </a:solidFill>
                          <a:effectLst/>
                        </a:rPr>
                        <a:t>Small, standalone dataset</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6277863"/>
                  </a:ext>
                </a:extLst>
              </a:tr>
              <a:tr h="0">
                <a:tc>
                  <a:txBody>
                    <a:bodyPr/>
                    <a:lstStyle/>
                    <a:p>
                      <a:pPr algn="l" fontAlgn="t">
                        <a:buNone/>
                      </a:pPr>
                      <a:r>
                        <a:rPr lang="en-US" sz="2400" dirty="0">
                          <a:solidFill>
                            <a:schemeClr val="accent6">
                              <a:lumMod val="60000"/>
                              <a:lumOff val="40000"/>
                            </a:schemeClr>
                          </a:solidFill>
                          <a:effectLst/>
                        </a:rPr>
                        <a:t>Connect facts, trace relationships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2400" dirty="0">
                          <a:solidFill>
                            <a:schemeClr val="accent6">
                              <a:lumMod val="60000"/>
                              <a:lumOff val="40000"/>
                            </a:schemeClr>
                          </a:solidFill>
                          <a:effectLst/>
                        </a:rPr>
                        <a:t>Direct fact lookups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1640669"/>
                  </a:ext>
                </a:extLst>
              </a:tr>
              <a:tr h="0">
                <a:tc>
                  <a:txBody>
                    <a:bodyPr/>
                    <a:lstStyle/>
                    <a:p>
                      <a:pPr algn="l" fontAlgn="t">
                        <a:buNone/>
                      </a:pPr>
                      <a:r>
                        <a:rPr lang="en-US" sz="2400" dirty="0">
                          <a:solidFill>
                            <a:schemeClr val="accent6">
                              <a:lumMod val="60000"/>
                              <a:lumOff val="40000"/>
                            </a:schemeClr>
                          </a:solidFill>
                          <a:effectLst/>
                        </a:rPr>
                        <a:t>Find Themes, trends, full-dataset summaries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2400">
                          <a:solidFill>
                            <a:schemeClr val="accent6">
                              <a:lumMod val="60000"/>
                              <a:lumOff val="40000"/>
                            </a:schemeClr>
                          </a:solidFill>
                          <a:effectLst/>
                        </a:rPr>
                        <a:t>Answer in a single chunk</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718210"/>
                  </a:ext>
                </a:extLst>
              </a:tr>
              <a:tr h="0">
                <a:tc>
                  <a:txBody>
                    <a:bodyPr/>
                    <a:lstStyle/>
                    <a:p>
                      <a:pPr algn="l" fontAlgn="t">
                        <a:buNone/>
                      </a:pPr>
                      <a:r>
                        <a:rPr lang="en-US" sz="2400" dirty="0">
                          <a:solidFill>
                            <a:schemeClr val="accent6">
                              <a:lumMod val="60000"/>
                              <a:lumOff val="40000"/>
                            </a:schemeClr>
                          </a:solidFill>
                          <a:effectLst/>
                        </a:rPr>
                        <a:t>Explainability matters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2400" dirty="0">
                          <a:solidFill>
                            <a:schemeClr val="accent6">
                              <a:lumMod val="60000"/>
                              <a:lumOff val="40000"/>
                            </a:schemeClr>
                          </a:solidFill>
                          <a:effectLst/>
                        </a:rPr>
                        <a:t>Speed and cost are priority</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1206496"/>
                  </a:ext>
                </a:extLst>
              </a:tr>
              <a:tr h="0">
                <a:tc>
                  <a:txBody>
                    <a:bodyPr/>
                    <a:lstStyle/>
                    <a:p>
                      <a:pPr algn="l" fontAlgn="t">
                        <a:buNone/>
                      </a:pPr>
                      <a:r>
                        <a:rPr lang="en-US" sz="2400" dirty="0">
                          <a:solidFill>
                            <a:schemeClr val="accent6">
                              <a:lumMod val="60000"/>
                              <a:lumOff val="40000"/>
                            </a:schemeClr>
                          </a:solidFill>
                          <a:effectLst/>
                        </a:rPr>
                        <a:t>Law, policy, research domains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buNone/>
                      </a:pPr>
                      <a:r>
                        <a:rPr lang="en-US" sz="2400" dirty="0">
                          <a:solidFill>
                            <a:schemeClr val="accent6">
                              <a:lumMod val="60000"/>
                              <a:lumOff val="40000"/>
                            </a:schemeClr>
                          </a:solidFill>
                          <a:effectLst/>
                        </a:rPr>
                        <a:t>No dense cross-doc relationships</a:t>
                      </a: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9681948"/>
                  </a:ext>
                </a:extLst>
              </a:tr>
            </a:tbl>
          </a:graphicData>
        </a:graphic>
      </p:graphicFrame>
    </p:spTree>
    <p:extLst>
      <p:ext uri="{BB962C8B-B14F-4D97-AF65-F5344CB8AC3E}">
        <p14:creationId xmlns:p14="http://schemas.microsoft.com/office/powerpoint/2010/main" val="1825325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C881-BEE3-537D-5BB2-D206DE094B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F2104F4-F545-CBD5-368D-22A6B9665B5D}"/>
              </a:ext>
            </a:extLst>
          </p:cNvPr>
          <p:cNvPicPr>
            <a:picLocks noChangeAspect="1"/>
          </p:cNvPicPr>
          <p:nvPr/>
        </p:nvPicPr>
        <p:blipFill>
          <a:blip r:embed="rId2"/>
          <a:stretch>
            <a:fillRect/>
          </a:stretch>
        </p:blipFill>
        <p:spPr>
          <a:xfrm>
            <a:off x="1515617" y="1810511"/>
            <a:ext cx="7990334" cy="4856261"/>
          </a:xfrm>
          <a:prstGeom prst="rect">
            <a:avLst/>
          </a:prstGeom>
        </p:spPr>
      </p:pic>
      <p:sp>
        <p:nvSpPr>
          <p:cNvPr id="6" name="TextBox 5">
            <a:extLst>
              <a:ext uri="{FF2B5EF4-FFF2-40B4-BE49-F238E27FC236}">
                <a16:creationId xmlns:a16="http://schemas.microsoft.com/office/drawing/2014/main" id="{9E51A119-BD20-857F-BDC7-E325B4141AA1}"/>
              </a:ext>
            </a:extLst>
          </p:cNvPr>
          <p:cNvSpPr txBox="1"/>
          <p:nvPr/>
        </p:nvSpPr>
        <p:spPr>
          <a:xfrm>
            <a:off x="1746504" y="499563"/>
            <a:ext cx="8343900" cy="461665"/>
          </a:xfrm>
          <a:prstGeom prst="rect">
            <a:avLst/>
          </a:prstGeom>
          <a:noFill/>
        </p:spPr>
        <p:txBody>
          <a:bodyPr wrap="square">
            <a:spAutoFit/>
          </a:bodyPr>
          <a:lstStyle/>
          <a:p>
            <a:r>
              <a:rPr lang="en-US" sz="2400" b="1" dirty="0">
                <a:solidFill>
                  <a:schemeClr val="accent6">
                    <a:lumMod val="60000"/>
                    <a:lumOff val="40000"/>
                  </a:schemeClr>
                </a:solidFill>
              </a:rPr>
              <a:t>2 phases to Graph RAG – Ingestion and Retrieval</a:t>
            </a: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CA4E43B-D5E5-CCAA-717E-E10FF2A7CEE2}"/>
                  </a:ext>
                </a:extLst>
              </p14:cNvPr>
              <p14:cNvContentPartPr/>
              <p14:nvPr/>
            </p14:nvContentPartPr>
            <p14:xfrm>
              <a:off x="3713904" y="895896"/>
              <a:ext cx="1827720" cy="819360"/>
            </p14:xfrm>
          </p:contentPart>
        </mc:Choice>
        <mc:Fallback>
          <p:pic>
            <p:nvPicPr>
              <p:cNvPr id="7" name="Ink 6">
                <a:extLst>
                  <a:ext uri="{FF2B5EF4-FFF2-40B4-BE49-F238E27FC236}">
                    <a16:creationId xmlns:a16="http://schemas.microsoft.com/office/drawing/2014/main" id="{5CA4E43B-D5E5-CCAA-717E-E10FF2A7CEE2}"/>
                  </a:ext>
                </a:extLst>
              </p:cNvPr>
              <p:cNvPicPr/>
              <p:nvPr/>
            </p:nvPicPr>
            <p:blipFill>
              <a:blip r:embed="rId4"/>
              <a:stretch>
                <a:fillRect/>
              </a:stretch>
            </p:blipFill>
            <p:spPr>
              <a:xfrm>
                <a:off x="3678264" y="860256"/>
                <a:ext cx="1899360" cy="891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7786E8BB-A311-1A2B-5D41-BE373921944E}"/>
                  </a:ext>
                </a:extLst>
              </p14:cNvPr>
              <p14:cNvContentPartPr/>
              <p14:nvPr/>
            </p14:nvContentPartPr>
            <p14:xfrm>
              <a:off x="7049664" y="996696"/>
              <a:ext cx="399960" cy="700920"/>
            </p14:xfrm>
          </p:contentPart>
        </mc:Choice>
        <mc:Fallback>
          <p:pic>
            <p:nvPicPr>
              <p:cNvPr id="8" name="Ink 7">
                <a:extLst>
                  <a:ext uri="{FF2B5EF4-FFF2-40B4-BE49-F238E27FC236}">
                    <a16:creationId xmlns:a16="http://schemas.microsoft.com/office/drawing/2014/main" id="{7786E8BB-A311-1A2B-5D41-BE373921944E}"/>
                  </a:ext>
                </a:extLst>
              </p:cNvPr>
              <p:cNvPicPr/>
              <p:nvPr/>
            </p:nvPicPr>
            <p:blipFill>
              <a:blip r:embed="rId6"/>
              <a:stretch>
                <a:fillRect/>
              </a:stretch>
            </p:blipFill>
            <p:spPr>
              <a:xfrm>
                <a:off x="7014024" y="960696"/>
                <a:ext cx="471600" cy="772560"/>
              </a:xfrm>
              <a:prstGeom prst="rect">
                <a:avLst/>
              </a:prstGeom>
            </p:spPr>
          </p:pic>
        </mc:Fallback>
      </mc:AlternateContent>
    </p:spTree>
    <p:extLst>
      <p:ext uri="{BB962C8B-B14F-4D97-AF65-F5344CB8AC3E}">
        <p14:creationId xmlns:p14="http://schemas.microsoft.com/office/powerpoint/2010/main" val="1306262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1717B-624E-09F7-87BA-A6E009A70D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DFFEA0-2958-DC67-0D2A-3C162823705C}"/>
              </a:ext>
            </a:extLst>
          </p:cNvPr>
          <p:cNvSpPr txBox="1"/>
          <p:nvPr/>
        </p:nvSpPr>
        <p:spPr>
          <a:xfrm>
            <a:off x="859536" y="709875"/>
            <a:ext cx="8343900" cy="1569660"/>
          </a:xfrm>
          <a:prstGeom prst="rect">
            <a:avLst/>
          </a:prstGeom>
          <a:noFill/>
        </p:spPr>
        <p:txBody>
          <a:bodyPr wrap="square">
            <a:spAutoFit/>
          </a:bodyPr>
          <a:lstStyle/>
          <a:p>
            <a:r>
              <a:rPr lang="en-US" sz="2400" b="1" dirty="0">
                <a:solidFill>
                  <a:schemeClr val="accent6">
                    <a:lumMod val="60000"/>
                    <a:lumOff val="40000"/>
                  </a:schemeClr>
                </a:solidFill>
              </a:rPr>
              <a:t>8. Popular Graph Databases</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Neo4j (most popular) </a:t>
            </a:r>
          </a:p>
          <a:p>
            <a:pPr marL="342900" indent="-342900">
              <a:buFont typeface="Arial" panose="020B0604020202020204" pitchFamily="34" charset="0"/>
              <a:buChar char="•"/>
            </a:pPr>
            <a:r>
              <a:rPr lang="en-US" sz="2400" dirty="0">
                <a:solidFill>
                  <a:schemeClr val="accent6">
                    <a:lumMod val="60000"/>
                    <a:lumOff val="40000"/>
                  </a:schemeClr>
                </a:solidFill>
              </a:rPr>
              <a:t>Amazon Neptune </a:t>
            </a:r>
          </a:p>
        </p:txBody>
      </p:sp>
    </p:spTree>
    <p:extLst>
      <p:ext uri="{BB962C8B-B14F-4D97-AF65-F5344CB8AC3E}">
        <p14:creationId xmlns:p14="http://schemas.microsoft.com/office/powerpoint/2010/main" val="2505950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A39A-1B9F-B70E-2C30-2DD4EB4F2A2A}"/>
            </a:ext>
          </a:extLst>
        </p:cNvPr>
        <p:cNvGrpSpPr/>
        <p:nvPr/>
      </p:nvGrpSpPr>
      <p:grpSpPr>
        <a:xfrm>
          <a:off x="0" y="0"/>
          <a:ext cx="0" cy="0"/>
          <a:chOff x="0" y="0"/>
          <a:chExt cx="0" cy="0"/>
        </a:xfrm>
      </p:grpSpPr>
    </p:spTree>
    <p:extLst>
      <p:ext uri="{BB962C8B-B14F-4D97-AF65-F5344CB8AC3E}">
        <p14:creationId xmlns:p14="http://schemas.microsoft.com/office/powerpoint/2010/main" val="1094631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6EE9-FF52-444E-D66D-C1A35AA86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C4162-5614-3830-1ED3-E415B4C8C63C}"/>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6FD4FBDF-8D62-FF8C-2958-F3850C64BE2B}"/>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2136578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1843</TotalTime>
  <Words>1401</Words>
  <Application>Microsoft Office PowerPoint</Application>
  <PresentationFormat>Widescreen</PresentationFormat>
  <Paragraphs>258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258</cp:revision>
  <dcterms:created xsi:type="dcterms:W3CDTF">2025-09-22T02:44:38Z</dcterms:created>
  <dcterms:modified xsi:type="dcterms:W3CDTF">2026-07-30T15:58:35Z</dcterms:modified>
</cp:coreProperties>
</file>