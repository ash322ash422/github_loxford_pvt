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77" r:id="rId3"/>
    <p:sldId id="278" r:id="rId4"/>
    <p:sldId id="280" r:id="rId5"/>
    <p:sldId id="281" r:id="rId6"/>
    <p:sldId id="276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DB Challenges</a:t>
            </a:r>
            <a:endParaRPr lang="en-US" sz="4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7F69-A3EB-F107-B106-D96A6BE3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B175D63-5328-9435-AB60-629F284E1A89}"/>
              </a:ext>
            </a:extLst>
          </p:cNvPr>
          <p:cNvSpPr txBox="1"/>
          <p:nvPr/>
        </p:nvSpPr>
        <p:spPr>
          <a:xfrm>
            <a:off x="239776" y="117693"/>
            <a:ext cx="828243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Architectural and Scaling Challenges</a:t>
            </a:r>
          </a:p>
          <a:p>
            <a:pPr marL="457200" indent="-457200"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Difficult Distributed Scaling (Sharding)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Splitting a graph database across multiple physical servers (sharding) is difficult: If you cut a graph across servers, a single query might constantly have to jump across the network to follow edges, destroying performance. 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"Super-node" Problem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Nodes with millions of connections (e.g., a celebrity account on social media or a major hub airport) cause massive performance bottlenecks. Querying or updating a super node requires traversing millions of edges, which can slow down or crash the database engine. 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Memory Consumption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Graph databases rely heavily on RAM to keep the network of nodes and relationships readily available for fast traversal (index-free adjacency). This makes hosting them expensive than standard databases.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D788AB-F572-2AC8-AF12-99524A0EF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08" y="108135"/>
            <a:ext cx="3565767" cy="3320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AC7607-35CC-AC64-14C6-A13267AF9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853" y="3255264"/>
            <a:ext cx="2420825" cy="144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897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4FF68-CB9E-E411-F5A2-0754ABB3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F6220E7-A242-306D-DD45-B450AA71CAE4}"/>
              </a:ext>
            </a:extLst>
          </p:cNvPr>
          <p:cNvSpPr txBox="1"/>
          <p:nvPr/>
        </p:nvSpPr>
        <p:spPr>
          <a:xfrm>
            <a:off x="194056" y="117693"/>
            <a:ext cx="78343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Development and Data Modeling Challenges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Steep Learning Curve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Developers must learn completely new, specialized query languages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Cypher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(Neo4j) 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Gremlin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(Apache TinkerPop). Writing efficient graph queries </a:t>
            </a:r>
            <a:r>
              <a:rPr lang="en-US" sz="24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requires thinking in traversals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rather than table joins.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Modeling Flexibility Trap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Because graph databases are often schema-less or schema-flexible, it is easy for a development team to design a messy data model ("spaghetti graph"). 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 Bulk Writes and Inserts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Graph databases </a:t>
            </a:r>
            <a:r>
              <a:rPr lang="en-US" sz="24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excel at reading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connected data, but </a:t>
            </a:r>
            <a:r>
              <a:rPr lang="en-US" sz="2400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data in bulk is relatively slow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Every time you insert a new node, the database engine must also create, index, and link multiple pointer relationships (edges) in memory.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79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3794-CA08-FC55-FEB6-ADF26601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0FA1B9D-B54E-B4E7-D8FE-D2C3954551A5}"/>
              </a:ext>
            </a:extLst>
          </p:cNvPr>
          <p:cNvSpPr txBox="1"/>
          <p:nvPr/>
        </p:nvSpPr>
        <p:spPr>
          <a:xfrm>
            <a:off x="175768" y="263112"/>
            <a:ext cx="10292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Operational and Ecosystem Challenges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Immature Tooling Ecosystem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Compared to the decades of mature tooling available for SQL databases, the graph ecosystem has fewer third-party tools for backup, reporting, data visualization, and Object-Relational Mapping (ORM). 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Lack of Standardization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There is no single universal standard query language for graphs like SQL is for relational databases. If you write your entire application using Neo4j's Cypher language, migrating to a different graph engine later can require a total rewrite of your codebase. </a:t>
            </a:r>
          </a:p>
        </p:txBody>
      </p:sp>
    </p:spTree>
    <p:extLst>
      <p:ext uri="{BB962C8B-B14F-4D97-AF65-F5344CB8AC3E}">
        <p14:creationId xmlns:p14="http://schemas.microsoft.com/office/powerpoint/2010/main" val="51668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4BEB6-070B-3C20-B637-7F8B23BD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ABEA932-2E1C-112F-77F7-0299F651BA75}"/>
              </a:ext>
            </a:extLst>
          </p:cNvPr>
          <p:cNvSpPr txBox="1"/>
          <p:nvPr/>
        </p:nvSpPr>
        <p:spPr>
          <a:xfrm>
            <a:off x="175768" y="263112"/>
            <a:ext cx="81269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Graph Challenges in GenAI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GraphRAG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 are using a graph database specifically to store data for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Generative AI or Retrieval-Augmented Generation (RAG)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pipeline, you will face unique extraction hurdles:</a:t>
            </a:r>
          </a:p>
          <a:p>
            <a:pPr lvl="0"/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LLM Cost for Construction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Building a graph from raw text requires using an LLM to read documents and extract "entities" and "relationships." This takes thousands of LLM API calls, making graph creation slow and expensive.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Entity Resolution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If one document mentions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"AWS"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another mentions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"Amazon Web Services"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system might accidentally create two separate nodes instead of linking them to the same concept, breaking the logic of your graph.</a:t>
            </a:r>
          </a:p>
        </p:txBody>
      </p:sp>
    </p:spTree>
    <p:extLst>
      <p:ext uri="{BB962C8B-B14F-4D97-AF65-F5344CB8AC3E}">
        <p14:creationId xmlns:p14="http://schemas.microsoft.com/office/powerpoint/2010/main" val="58521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6EE9-FF52-444E-D66D-C1A35AA8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578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6FC8-B4FA-7532-A57A-17151561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55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1325</TotalTime>
  <Words>484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206</cp:revision>
  <dcterms:created xsi:type="dcterms:W3CDTF">2025-09-22T02:44:38Z</dcterms:created>
  <dcterms:modified xsi:type="dcterms:W3CDTF">2026-07-29T10:32:53Z</dcterms:modified>
</cp:coreProperties>
</file>