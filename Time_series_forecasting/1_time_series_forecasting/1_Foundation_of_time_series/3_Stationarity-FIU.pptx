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76" r:id="rId2"/>
    <p:sldId id="277" r:id="rId3"/>
    <p:sldId id="278" r:id="rId4"/>
    <p:sldId id="279" r:id="rId5"/>
    <p:sldId id="280" r:id="rId6"/>
    <p:sldId id="257" r:id="rId7"/>
    <p:sldId id="281" r:id="rId8"/>
    <p:sldId id="27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11EDE2-67CD-9B5D-DC1F-053CE8699D9C}"/>
              </a:ext>
            </a:extLst>
          </p:cNvPr>
          <p:cNvSpPr txBox="1"/>
          <p:nvPr/>
        </p:nvSpPr>
        <p:spPr>
          <a:xfrm>
            <a:off x="726948" y="698284"/>
            <a:ext cx="1038301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What is Stationarity?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time series is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stationary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if its statistical properties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 not change over time.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Three conditions must hold: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37E872C-7C9E-146B-7BA6-559E7D90FE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3961020"/>
              </p:ext>
            </p:extLst>
          </p:nvPr>
        </p:nvGraphicFramePr>
        <p:xfrm>
          <a:off x="1514856" y="2406673"/>
          <a:ext cx="8177784" cy="1584960"/>
        </p:xfrm>
        <a:graphic>
          <a:graphicData uri="http://schemas.openxmlformats.org/drawingml/2006/table">
            <a:tbl>
              <a:tblPr/>
              <a:tblGrid>
                <a:gridCol w="1996440">
                  <a:extLst>
                    <a:ext uri="{9D8B030D-6E8A-4147-A177-3AD203B41FA5}">
                      <a16:colId xmlns:a16="http://schemas.microsoft.com/office/drawing/2014/main" val="2916793300"/>
                    </a:ext>
                  </a:extLst>
                </a:gridCol>
                <a:gridCol w="6181344">
                  <a:extLst>
                    <a:ext uri="{9D8B030D-6E8A-4147-A177-3AD203B41FA5}">
                      <a16:colId xmlns:a16="http://schemas.microsoft.com/office/drawing/2014/main" val="2297834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Property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Stationary Means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47342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Mean</a:t>
                      </a:r>
                      <a:endParaRPr lang="en-US" sz="20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Constant over time — no upward/downward drift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246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Variance</a:t>
                      </a:r>
                      <a:endParaRPr lang="en-US" sz="20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Spread of values stays consistent, no widening/narrowing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11959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Autocorrelation</a:t>
                      </a:r>
                      <a:endParaRPr lang="en-US" sz="20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Relationship between past and present stays the same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22998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6361E4C-A517-49ED-D693-9A98EDB7EE75}"/>
              </a:ext>
            </a:extLst>
          </p:cNvPr>
          <p:cNvSpPr txBox="1"/>
          <p:nvPr/>
        </p:nvSpPr>
        <p:spPr>
          <a:xfrm>
            <a:off x="368808" y="4590057"/>
            <a:ext cx="618744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Simple intuition: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you cover the x-axis (dates) and look at any chunk of the series, it should look statistically similar to any other chunk.</a:t>
            </a:r>
          </a:p>
        </p:txBody>
      </p:sp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64298-680C-D5E7-B5DD-FACBB8294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148867-B52C-9AF7-0734-C3FED3C54DB4}"/>
              </a:ext>
            </a:extLst>
          </p:cNvPr>
          <p:cNvSpPr txBox="1"/>
          <p:nvPr/>
        </p:nvSpPr>
        <p:spPr>
          <a:xfrm>
            <a:off x="128016" y="382012"/>
            <a:ext cx="1134770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Why Does It Matter?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Most classical models —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ARIMA, SARIMA, Exponential Smoothing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assume the series is stationary.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your series has a trend or growing variance and you ignore it: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Your model learns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drift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not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pattern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Forecasts will be systematically biased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Confidence intervals become meaningless</a:t>
            </a:r>
          </a:p>
        </p:txBody>
      </p:sp>
    </p:spTree>
    <p:extLst>
      <p:ext uri="{BB962C8B-B14F-4D97-AF65-F5344CB8AC3E}">
        <p14:creationId xmlns:p14="http://schemas.microsoft.com/office/powerpoint/2010/main" val="3203333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037E1-933E-C7B9-F5D0-29AE043D3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72BE93A-C8FC-BFAE-E468-A5F68D248EA3}"/>
              </a:ext>
            </a:extLst>
          </p:cNvPr>
          <p:cNvSpPr txBox="1"/>
          <p:nvPr/>
        </p:nvSpPr>
        <p:spPr>
          <a:xfrm>
            <a:off x="745236" y="272534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Types of Non-Stationarity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4988872-9DF6-F75F-BC21-F48D90588A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168433"/>
              </p:ext>
            </p:extLst>
          </p:nvPr>
        </p:nvGraphicFramePr>
        <p:xfrm>
          <a:off x="353568" y="1358678"/>
          <a:ext cx="9622536" cy="1981200"/>
        </p:xfrm>
        <a:graphic>
          <a:graphicData uri="http://schemas.openxmlformats.org/drawingml/2006/table">
            <a:tbl>
              <a:tblPr/>
              <a:tblGrid>
                <a:gridCol w="1923288">
                  <a:extLst>
                    <a:ext uri="{9D8B030D-6E8A-4147-A177-3AD203B41FA5}">
                      <a16:colId xmlns:a16="http://schemas.microsoft.com/office/drawing/2014/main" val="2595676745"/>
                    </a:ext>
                  </a:extLst>
                </a:gridCol>
                <a:gridCol w="4014216">
                  <a:extLst>
                    <a:ext uri="{9D8B030D-6E8A-4147-A177-3AD203B41FA5}">
                      <a16:colId xmlns:a16="http://schemas.microsoft.com/office/drawing/2014/main" val="2502276051"/>
                    </a:ext>
                  </a:extLst>
                </a:gridCol>
                <a:gridCol w="3685032">
                  <a:extLst>
                    <a:ext uri="{9D8B030D-6E8A-4147-A177-3AD203B41FA5}">
                      <a16:colId xmlns:a16="http://schemas.microsoft.com/office/drawing/2014/main" val="15090990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u="sng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8501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Trend</a:t>
                      </a:r>
                      <a:endParaRPr lang="en-US" sz="20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Mean drifts upward or downward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Stock prices, GDP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4058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Variance</a:t>
                      </a:r>
                      <a:endParaRPr lang="en-US" sz="20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Spread increases over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Volatile asset returns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4575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Seasonality</a:t>
                      </a:r>
                      <a:endParaRPr lang="en-US" sz="20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Repeating patterns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Monthly temperature, retail sales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4385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Structural Break</a:t>
                      </a:r>
                      <a:endParaRPr lang="en-US" sz="20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Sudden permanent shift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COVID impact on travel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54038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52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A6118-C790-0DAF-0B25-13510BCC9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194CFD-4D5C-40D3-CEF2-57554158A83E}"/>
              </a:ext>
            </a:extLst>
          </p:cNvPr>
          <p:cNvSpPr txBox="1"/>
          <p:nvPr/>
        </p:nvSpPr>
        <p:spPr>
          <a:xfrm>
            <a:off x="406908" y="491990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How to Fix Non-Stationarity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95F762D5-9097-9DB2-9A30-88E7530886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13869973"/>
                  </p:ext>
                </p:extLst>
              </p:nvPr>
            </p:nvGraphicFramePr>
            <p:xfrm>
              <a:off x="406908" y="1294670"/>
              <a:ext cx="8452104" cy="1981200"/>
            </p:xfrm>
            <a:graphic>
              <a:graphicData uri="http://schemas.openxmlformats.org/drawingml/2006/table">
                <a:tbl>
                  <a:tblPr/>
                  <a:tblGrid>
                    <a:gridCol w="2901696">
                      <a:extLst>
                        <a:ext uri="{9D8B030D-6E8A-4147-A177-3AD203B41FA5}">
                          <a16:colId xmlns:a16="http://schemas.microsoft.com/office/drawing/2014/main" val="1986359918"/>
                        </a:ext>
                      </a:extLst>
                    </a:gridCol>
                    <a:gridCol w="5550408">
                      <a:extLst>
                        <a:ext uri="{9D8B030D-6E8A-4147-A177-3AD203B41FA5}">
                          <a16:colId xmlns:a16="http://schemas.microsoft.com/office/drawing/2014/main" val="554967182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Problem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Fix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4982067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Trend (mean drift)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**First differencing** —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ar-AE" sz="20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ar-AE" sz="20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ar-AE" sz="20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ar-AE" sz="2000" i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ar-AE" sz="2000" i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ar-AE" sz="20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0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ar-AE" sz="20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ar-AE" sz="2000" i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ar-AE" sz="20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0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ar-AE" sz="20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ar-AE" sz="2000" i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ar-AE" sz="2000" i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endParaRPr lang="ar-AE" sz="2000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9957746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Growing variance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Log transformation</a:t>
                          </a: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 —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200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  <m:r>
                                <a:rPr lang="en-US" sz="2000" i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⁡</m:t>
                              </m:r>
                              <m:d>
                                <m:dPr>
                                  <m:ctrlPr>
                                    <a:rPr lang="ar-AE" sz="20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ar-AE" sz="2000" i="1">
                                          <a:solidFill>
                                            <a:schemeClr val="accent6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sz="2000" i="1">
                                          <a:solidFill>
                                            <a:schemeClr val="accent6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ar-AE" sz="2000" i="1">
                                          <a:solidFill>
                                            <a:schemeClr val="accent6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endParaRPr lang="ar-AE" sz="2000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1746469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Seasonality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**Seasonal differencing** —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ar-AE" sz="20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ar-AE" sz="20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ar-AE" sz="20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ar-AE" sz="2000" i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ar-AE" sz="2000" i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ar-AE" sz="20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0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ar-AE" sz="20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ar-AE" sz="2000" i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ar-AE" sz="20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0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ar-AE" sz="20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ar-AE" sz="2000" i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ar-AE" sz="2000" i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oMath>
                          </a14:m>
                          <a:endParaRPr lang="ar-AE" sz="2000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3999469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Both trend + variance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Log first, then difference</a:t>
                          </a:r>
                          <a:endParaRPr lang="en-US" sz="2000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7806757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95F762D5-9097-9DB2-9A30-88E7530886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13869973"/>
                  </p:ext>
                </p:extLst>
              </p:nvPr>
            </p:nvGraphicFramePr>
            <p:xfrm>
              <a:off x="406908" y="1294670"/>
              <a:ext cx="8452104" cy="1981200"/>
            </p:xfrm>
            <a:graphic>
              <a:graphicData uri="http://schemas.openxmlformats.org/drawingml/2006/table">
                <a:tbl>
                  <a:tblPr/>
                  <a:tblGrid>
                    <a:gridCol w="2901696">
                      <a:extLst>
                        <a:ext uri="{9D8B030D-6E8A-4147-A177-3AD203B41FA5}">
                          <a16:colId xmlns:a16="http://schemas.microsoft.com/office/drawing/2014/main" val="1986359918"/>
                        </a:ext>
                      </a:extLst>
                    </a:gridCol>
                    <a:gridCol w="5550408">
                      <a:extLst>
                        <a:ext uri="{9D8B030D-6E8A-4147-A177-3AD203B41FA5}">
                          <a16:colId xmlns:a16="http://schemas.microsoft.com/office/drawing/2014/main" val="55496718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Problem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Fix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4982067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Trend (mean drift)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l="-52360" t="-107692" b="-32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9957746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Growing variance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l="-52360" t="-204545" b="-22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1746469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Seasonality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l="-52360" t="-309231" b="-1261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3999469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Both trend + variance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Log first, then difference</a:t>
                          </a:r>
                          <a:endParaRPr lang="en-US" sz="2000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7806757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65661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4DE7A-D288-1A78-B4CE-CDD5F4377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C98ACAB-7958-1312-BD3B-3830D19C3873}"/>
                  </a:ext>
                </a:extLst>
              </p:cNvPr>
              <p:cNvSpPr txBox="1"/>
              <p:nvPr/>
            </p:nvSpPr>
            <p:spPr>
              <a:xfrm>
                <a:off x="228600" y="514064"/>
                <a:ext cx="10835640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5. The ADF Test — Augmented Dickey-Fuller</a:t>
                </a:r>
              </a:p>
              <a:p>
                <a:pPr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This is the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formal statistical test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for stationarity.</a:t>
                </a:r>
              </a:p>
              <a:p>
                <a:pPr>
                  <a:buNone/>
                </a:pP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Null Hypothesis (H₀):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Series is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Non-Stationary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(has a unit root) </a:t>
                </a:r>
              </a:p>
              <a:p>
                <a:pPr>
                  <a:buNone/>
                </a:pP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Alternative (H₁):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Series is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Stationary</a:t>
                </a:r>
              </a:p>
              <a:p>
                <a:pPr>
                  <a:buNone/>
                </a:pP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 sz="24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ar-AE" sz="24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ar-AE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ar-AE" sz="24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 sz="2400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2400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sz="24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ar-AE" sz="2400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l-GR" sz="24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 sz="2400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2400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sz="24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ar-AE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C98ACAB-7958-1312-BD3B-3830D19C3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514064"/>
                <a:ext cx="10835640" cy="2308324"/>
              </a:xfrm>
              <a:prstGeom prst="rect">
                <a:avLst/>
              </a:prstGeom>
              <a:blipFill>
                <a:blip r:embed="rId2"/>
                <a:stretch>
                  <a:fillRect l="-900" t="-2111" b="-31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F6CD040-9E0E-54E7-A426-B2D889F081F6}"/>
              </a:ext>
            </a:extLst>
          </p:cNvPr>
          <p:cNvSpPr txBox="1"/>
          <p:nvPr/>
        </p:nvSpPr>
        <p:spPr>
          <a:xfrm>
            <a:off x="228600" y="3635503"/>
            <a:ext cx="87370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don't need to memorize the formula. Just remember the decision rule: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FF3F35E-36AF-92F3-5183-89C2CC25C2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1830827"/>
              </p:ext>
            </p:extLst>
          </p:nvPr>
        </p:nvGraphicFramePr>
        <p:xfrm>
          <a:off x="228600" y="4821296"/>
          <a:ext cx="7626096" cy="118872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76334014"/>
                    </a:ext>
                  </a:extLst>
                </a:gridCol>
                <a:gridCol w="5522976">
                  <a:extLst>
                    <a:ext uri="{9D8B030D-6E8A-4147-A177-3AD203B41FA5}">
                      <a16:colId xmlns:a16="http://schemas.microsoft.com/office/drawing/2014/main" val="21327261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p-value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Decision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26769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 &lt; 0.05</a:t>
                      </a:r>
                      <a:endParaRPr lang="en-US" sz="20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Reject H₀ → Series IS stationary 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99447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 &gt; 0.05</a:t>
                      </a:r>
                      <a:endParaRPr lang="en-US" sz="20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Fail to reject H₀ → Series is NOT stationary 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88242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0428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B91774F-5B05-8082-C7E2-14A365BC9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8831" y="2020825"/>
            <a:ext cx="7271571" cy="373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6A6CD-98C4-FC4D-2440-3F3D8D879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0296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1093</TotalTime>
  <Words>338</Words>
  <Application>Microsoft Office PowerPoint</Application>
  <PresentationFormat>Widescreen</PresentationFormat>
  <Paragraphs>61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177</cp:revision>
  <dcterms:created xsi:type="dcterms:W3CDTF">2025-09-22T02:44:38Z</dcterms:created>
  <dcterms:modified xsi:type="dcterms:W3CDTF">2026-05-16T11:24:35Z</dcterms:modified>
</cp:coreProperties>
</file>