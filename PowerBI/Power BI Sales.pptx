
<file path=[Content_Types].xml><?xml version="1.0" encoding="utf-8"?>
<Types xmlns="http://schemas.openxmlformats.org/package/2006/content-types">
  <Default Extension="png" ContentType="image/png"/>
  <Default Extension="emf" ContentType="image/x-emf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ink/ink1.xml" ContentType="application/inkml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4995" autoAdjust="0"/>
    <p:restoredTop sz="94660"/>
  </p:normalViewPr>
  <p:slideViewPr>
    <p:cSldViewPr snapToGrid="0">
      <p:cViewPr varScale="1">
        <p:scale>
          <a:sx n="108" d="100"/>
          <a:sy n="108" d="100"/>
        </p:scale>
        <p:origin x="714" y="10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viewProps" Target="view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presProps" Target="presProps.xml"/></Relationships>
</file>

<file path=ppt/ink/ink1.xml><?xml version="1.0" encoding="utf-8"?>
<inkml:ink xmlns:inkml="http://www.w3.org/2003/InkML">
  <inkml:definitions>
    <inkml:context xml:id="ctx0">
      <inkml:inkSource xml:id="inkSrc0">
        <inkml:traceFormat>
          <inkml:channel name="X" type="integer" max="1920" units="cm"/>
          <inkml:channel name="Y" type="integer" max="1080" units="cm"/>
          <inkml:channel name="T" type="integer" max="2.14748E9" units="dev"/>
        </inkml:traceFormat>
        <inkml:channelProperties>
          <inkml:channelProperty channel="X" name="resolution" value="36.43264" units="1/cm"/>
          <inkml:channelProperty channel="Y" name="resolution" value="36.48649" units="1/cm"/>
          <inkml:channelProperty channel="T" name="resolution" value="1" units="1/dev"/>
        </inkml:channelProperties>
      </inkml:inkSource>
      <inkml:timestamp xml:id="ts0" timeString="2025-05-25T19:19:19.495"/>
    </inkml:context>
    <inkml:brush xml:id="br0">
      <inkml:brushProperty name="width" value="0.06667" units="cm"/>
      <inkml:brushProperty name="height" value="0.06667" units="cm"/>
      <inkml:brushProperty name="color" value="#ED1C24"/>
      <inkml:brushProperty name="fitToCurve" value="1"/>
    </inkml:brush>
  </inkml:definitions>
  <inkml:traceGroup>
    <inkml:annotationXML>
      <emma:emma xmlns:emma="http://www.w3.org/2003/04/emma" version="1.0">
        <emma:interpretation id="{1D32987C-4EAB-421F-9083-DDC59E5FD153}" emma:medium="tactile" emma:mode="ink">
          <msink:context xmlns:msink="http://schemas.microsoft.com/ink/2010/main" type="writingRegion" rotatedBoundingBox="26534,13267 29444,13267 29444,14451 26534,14451"/>
        </emma:interpretation>
      </emma:emma>
    </inkml:annotationXML>
    <inkml:traceGroup>
      <inkml:annotationXML>
        <emma:emma xmlns:emma="http://www.w3.org/2003/04/emma" version="1.0">
          <emma:interpretation id="{E865A193-9F75-4CF5-AAFA-B77E60D9B9EC}" emma:medium="tactile" emma:mode="ink">
            <msink:context xmlns:msink="http://schemas.microsoft.com/ink/2010/main" type="paragraph" rotatedBoundingBox="26534,13267 29444,13267 29444,14451 26534,14451" alignmentLevel="1"/>
          </emma:interpretation>
        </emma:emma>
      </inkml:annotationXML>
      <inkml:traceGroup>
        <inkml:annotationXML>
          <emma:emma xmlns:emma="http://www.w3.org/2003/04/emma" version="1.0">
            <emma:interpretation id="{17C6D74C-D617-43AB-A205-6B59EB95CC41}" emma:medium="tactile" emma:mode="ink">
              <msink:context xmlns:msink="http://schemas.microsoft.com/ink/2010/main" type="line" rotatedBoundingBox="26534,13267 29444,13267 29444,14451 26534,14451"/>
            </emma:interpretation>
          </emma:emma>
        </inkml:annotationXML>
        <inkml:traceGroup>
          <inkml:annotationXML>
            <emma:emma xmlns:emma="http://www.w3.org/2003/04/emma" version="1.0">
              <emma:interpretation id="{CE5BE631-9501-4DEB-9561-7047521630D4}" emma:medium="tactile" emma:mode="ink">
                <msink:context xmlns:msink="http://schemas.microsoft.com/ink/2010/main" type="inkWord" rotatedBoundingBox="26534,13267 29444,13267 29444,14451 26534,14451"/>
              </emma:interpretation>
              <emma:one-of disjunction-type="recognition" id="oneOf0">
                <emma:interpretation id="interp0" emma:lang="" emma:confidence="1">
                  <emma:literal>.</emma:literal>
                </emma:interpretation>
                <emma:interpretation id="interp1" emma:lang="" emma:confidence="0.5">
                  <emma:literal>°</emma:literal>
                </emma:interpretation>
                <emma:interpretation id="interp2" emma:lang="" emma:confidence="0">
                  <emma:literal>0</emma:literal>
                </emma:interpretation>
                <emma:interpretation id="interp3" emma:lang="" emma:confidence="0">
                  <emma:literal>-</emma:literal>
                </emma:interpretation>
                <emma:interpretation id="interp4" emma:lang="" emma:confidence="0">
                  <emma:literal>a</emma:literal>
                </emma:interpretation>
              </emma:one-of>
            </emma:emma>
          </inkml:annotationXML>
          <inkml:trace contextRef="#ctx0" brushRef="#br0">548 0 0,'-49'0'94,"49"25"-79,-25-25-15,-24 24 16,-25-24 0,50 25-16,-1 0 15,-49-1 1,49-24 0,1 25-16,-1 0 15,-24-1 32,49 1-47,-25-25 16,25 25-1,0 24 1,-49 0 0,49-24 15,0 0 0,0 24-15,0-24-1,-25-1 1,25 26 0,0-26-1,0 1-15,0 0 16,0 49-16,0-50 15,0 26-15,0-26 16,0 1-16,0 24 16,25-24-1,-25-1 32,24 1-47,1-25 16,0 25-1,24-25 1,-24 0-16,24 49 16,0-49-1,1 25 1,-26-25 0,1 24-16,49 1 15,-74 0 1,49-25-16,-24 24 15,-1-24 1,1 0 0,24 0-16,-24 0 15,24 25-15,1 0 16,-1-25 0,-24 0-16,-1 0 15,1 0 1,0 0 15,-1 0 0,26 0-31,-26 0 16,26 0-16,24 0 16,-25 0-16,0 0 15,-24 0-15,24 0 16,-24 0-16,49 0 15,-25 0 1,1 0-16,-26 0 16,26 0-16,24 0 15,-25 0-15,0 0 16,0 0-16,1 0 16,-26 0-16,26 0 15,-26 0-15,26 0 16,-26 0-16,1 0 15,24 0-15,-24 0 16,24 0-16,-24 0 16,49-25-16,-49 25 15,49 0-15,-25 0 16,-24 0-16,24-25 16,-24 1-16,24 24 15,0 0 1,-49-25-16,25 25 15,24-25 1,-24 1 0,0 24-16,-25-25 15,49 25 1,-49-25 0,25 1-1,24-1-15,-49 0 16,49 25-16,-49-24 15,25 24 17,-25-25-17,0 1 48,0-1-63,0 0 31,0-24-15,0 24-1,-25-24-15,1 49 16,-1-49-16,0 24 16,-24 0-16,0-24 15,24 49-15,-24-49 16,24 49-16,-24-25 15,24 25 1,-24-25 0,24 25-16,0-24 15,1 24-15,-1 0 16,0-25-16,-24 25 16,0 0-1,24 0-15,-24-49 16,24 49-16,-49 0 15,49-25-15,-49 25 16,50 0-16,-26-25 16,26 25-1,-1 0-15,0 0 16,1 0-16,-1 0 16,0 0-16,1 0 15,-26 0 1,26 0-16,-1 0 15,-24 0 1,49-24-16,-25 24 16,1 0-1,-1 0-15,0-25 16,1 25 0,-1 0-16,0 0 31,1 0 0,-26-25-15,1 25-16,24 0 15,-24 0 1,0-24 0,24 24-1,0 0 1,1 0-16,-1 0 15,25-25-15,-25 25 16,1 0-16,-1 0 16,0 0-1,1 0-15,-26 0 16,26 0 0,-1 0-1,-24-25 1,24 25-1,0 0-15,1 0 16,-1 0 0,0 0-16,1-24 47,-1 24-32,0 0 1,1 0 15</inkml:trace>
        </inkml:traceGroup>
      </inkml:traceGroup>
    </inkml:traceGroup>
  </inkml:traceGroup>
</inkml:ink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60B905C-827F-4ACB-89C3-C6714CFDF7F7}" type="datetimeFigureOut">
              <a:rPr lang="en-US" smtClean="0"/>
              <a:t>5/26/2025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3FA8E4F-2BA6-48F1-B019-582EB4E7734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4861904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60B905C-827F-4ACB-89C3-C6714CFDF7F7}" type="datetimeFigureOut">
              <a:rPr lang="en-US" smtClean="0"/>
              <a:t>5/26/2025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3FA8E4F-2BA6-48F1-B019-582EB4E7734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6234119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60B905C-827F-4ACB-89C3-C6714CFDF7F7}" type="datetimeFigureOut">
              <a:rPr lang="en-US" smtClean="0"/>
              <a:t>5/26/2025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3FA8E4F-2BA6-48F1-B019-582EB4E7734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8246374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60B905C-827F-4ACB-89C3-C6714CFDF7F7}" type="datetimeFigureOut">
              <a:rPr lang="en-US" smtClean="0"/>
              <a:t>5/26/2025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3FA8E4F-2BA6-48F1-B019-582EB4E7734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3245429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60B905C-827F-4ACB-89C3-C6714CFDF7F7}" type="datetimeFigureOut">
              <a:rPr lang="en-US" smtClean="0"/>
              <a:t>5/26/2025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3FA8E4F-2BA6-48F1-B019-582EB4E7734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3971896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60B905C-827F-4ACB-89C3-C6714CFDF7F7}" type="datetimeFigureOut">
              <a:rPr lang="en-US" smtClean="0"/>
              <a:t>5/26/2025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3FA8E4F-2BA6-48F1-B019-582EB4E7734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609830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60B905C-827F-4ACB-89C3-C6714CFDF7F7}" type="datetimeFigureOut">
              <a:rPr lang="en-US" smtClean="0"/>
              <a:t>5/26/2025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3FA8E4F-2BA6-48F1-B019-582EB4E7734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1126559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60B905C-827F-4ACB-89C3-C6714CFDF7F7}" type="datetimeFigureOut">
              <a:rPr lang="en-US" smtClean="0"/>
              <a:t>5/26/2025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3FA8E4F-2BA6-48F1-B019-582EB4E7734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0104528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60B905C-827F-4ACB-89C3-C6714CFDF7F7}" type="datetimeFigureOut">
              <a:rPr lang="en-US" smtClean="0"/>
              <a:t>5/26/2025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3FA8E4F-2BA6-48F1-B019-582EB4E7734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2626550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60B905C-827F-4ACB-89C3-C6714CFDF7F7}" type="datetimeFigureOut">
              <a:rPr lang="en-US" smtClean="0"/>
              <a:t>5/26/2025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3FA8E4F-2BA6-48F1-B019-582EB4E7734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6371684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60B905C-827F-4ACB-89C3-C6714CFDF7F7}" type="datetimeFigureOut">
              <a:rPr lang="en-US" smtClean="0"/>
              <a:t>5/26/2025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3FA8E4F-2BA6-48F1-B019-582EB4E7734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422172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60B905C-827F-4ACB-89C3-C6714CFDF7F7}" type="datetimeFigureOut">
              <a:rPr lang="en-US" smtClean="0"/>
              <a:t>5/26/2025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F3FA8E4F-2BA6-48F1-B019-582EB4E7734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4001481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customXml" Target="../ink/ink1.xml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.emf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 smtClean="0"/>
              <a:t>Power BI Sales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4598638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270029" y="41211"/>
            <a:ext cx="10515600" cy="1601157"/>
          </a:xfrm>
        </p:spPr>
        <p:txBody>
          <a:bodyPr>
            <a:normAutofit/>
          </a:bodyPr>
          <a:lstStyle/>
          <a:p>
            <a:r>
              <a:rPr lang="en-US" sz="1200" dirty="0" smtClean="0"/>
              <a:t>Open power BI: Import data from excel -&gt; </a:t>
            </a:r>
            <a:r>
              <a:rPr lang="en-US" sz="1200" b="1" dirty="0" smtClean="0"/>
              <a:t>Load</a:t>
            </a:r>
            <a:r>
              <a:rPr lang="en-US" sz="1200" dirty="0" smtClean="0"/>
              <a:t> </a:t>
            </a:r>
            <a:r>
              <a:rPr lang="en-US" sz="1200" dirty="0" err="1" smtClean="0"/>
              <a:t>Sales.order</a:t>
            </a:r>
            <a:r>
              <a:rPr lang="en-US" sz="1200" dirty="0" smtClean="0"/>
              <a:t> data…do not transform since we are not doing any </a:t>
            </a:r>
            <a:r>
              <a:rPr lang="en-US" sz="1200" dirty="0" err="1" smtClean="0"/>
              <a:t>cleaning,etc</a:t>
            </a:r>
            <a:endParaRPr lang="en-US" sz="1200" dirty="0" smtClean="0"/>
          </a:p>
          <a:p>
            <a:r>
              <a:rPr lang="en-US" sz="1200" dirty="0" smtClean="0"/>
              <a:t>In visualization, click </a:t>
            </a:r>
            <a:r>
              <a:rPr lang="en-US" sz="1200" b="1" dirty="0" smtClean="0"/>
              <a:t>stacked bar chart </a:t>
            </a:r>
            <a:r>
              <a:rPr lang="en-US" sz="1200" dirty="0" smtClean="0"/>
              <a:t>and then choose </a:t>
            </a:r>
            <a:r>
              <a:rPr lang="en-US" sz="1200" b="1" dirty="0" smtClean="0"/>
              <a:t>sales + sub-category. </a:t>
            </a:r>
            <a:r>
              <a:rPr lang="en-US" sz="1200" dirty="0" smtClean="0"/>
              <a:t> This will create the bar chart.</a:t>
            </a:r>
            <a:r>
              <a:rPr lang="en-US" sz="1200" b="1" dirty="0" smtClean="0"/>
              <a:t> </a:t>
            </a:r>
            <a:r>
              <a:rPr lang="en-US" sz="1200" dirty="0" smtClean="0"/>
              <a:t>Now click on the </a:t>
            </a:r>
            <a:r>
              <a:rPr lang="en-US" sz="1200" b="1" dirty="0" smtClean="0"/>
              <a:t>region.</a:t>
            </a:r>
          </a:p>
          <a:p>
            <a:r>
              <a:rPr lang="en-US" sz="1200" dirty="0" smtClean="0"/>
              <a:t>Now change it to </a:t>
            </a:r>
            <a:r>
              <a:rPr lang="en-US" sz="1200" b="1" dirty="0" smtClean="0"/>
              <a:t>stacked column chart. </a:t>
            </a:r>
          </a:p>
          <a:p>
            <a:r>
              <a:rPr lang="en-US" sz="1200" dirty="0" smtClean="0"/>
              <a:t>Now change the y-axis to see mean, min, max, etc. Change colors, legend-&gt;position,  Enable data labels and describe </a:t>
            </a:r>
            <a:r>
              <a:rPr lang="en-US" sz="1200" dirty="0" err="1" smtClean="0"/>
              <a:t>this,etc</a:t>
            </a:r>
            <a:r>
              <a:rPr lang="en-US" sz="1200" dirty="0" smtClean="0"/>
              <a:t> </a:t>
            </a:r>
          </a:p>
          <a:p>
            <a:r>
              <a:rPr lang="en-US" sz="1200" dirty="0" smtClean="0"/>
              <a:t>Explain</a:t>
            </a:r>
            <a:r>
              <a:rPr lang="en-US" sz="1200" dirty="0" smtClean="0"/>
              <a:t> Include and exclude(select 2-3 bars with ctrl and then RC…)</a:t>
            </a:r>
            <a:endParaRPr lang="en-US" sz="1200" b="1" dirty="0" smtClean="0"/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56443" y="1807831"/>
            <a:ext cx="10484528" cy="5050169"/>
          </a:xfrm>
          <a:prstGeom prst="rect">
            <a:avLst/>
          </a:prstGeom>
        </p:spPr>
      </p:pic>
      <mc:AlternateContent xmlns:mc="http://schemas.openxmlformats.org/markup-compatibility/2006">
        <mc:Choice xmlns:p14="http://schemas.microsoft.com/office/powerpoint/2010/main" Requires="p14">
          <p:contentPart p14:bwMode="auto" r:id="rId3">
            <p14:nvContentPartPr>
              <p14:cNvPr id="8" name="Ink 7"/>
              <p14:cNvContentPartPr/>
              <p14:nvPr/>
            </p14:nvContentPartPr>
            <p14:xfrm>
              <a:off x="9550237" y="4776162"/>
              <a:ext cx="1051200" cy="432720"/>
            </p14:xfrm>
          </p:contentPart>
        </mc:Choice>
        <mc:Fallback>
          <p:pic>
            <p:nvPicPr>
              <p:cNvPr id="8" name="Ink 7"/>
              <p:cNvPicPr/>
              <p:nvPr/>
            </p:nvPicPr>
            <p:blipFill>
              <a:blip r:embed="rId4"/>
              <a:stretch>
                <a:fillRect/>
              </a:stretch>
            </p:blipFill>
            <p:spPr>
              <a:xfrm>
                <a:off x="9538357" y="4764282"/>
                <a:ext cx="1074960" cy="45648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2100517154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270029" y="41212"/>
            <a:ext cx="10515600" cy="1574524"/>
          </a:xfrm>
        </p:spPr>
        <p:txBody>
          <a:bodyPr>
            <a:normAutofit/>
          </a:bodyPr>
          <a:lstStyle/>
          <a:p>
            <a:r>
              <a:rPr lang="en-US" sz="1200" dirty="0" smtClean="0"/>
              <a:t>Now add a new page and add </a:t>
            </a:r>
            <a:r>
              <a:rPr lang="en-US" sz="1200" b="1" dirty="0" smtClean="0"/>
              <a:t>clustered bar chart, clustered column chart </a:t>
            </a:r>
          </a:p>
          <a:p>
            <a:r>
              <a:rPr lang="en-US" sz="1200" dirty="0" smtClean="0"/>
              <a:t>Now change the y-axis to see mean, min, max, etc. Change colors, legend-&gt;position,  Enable data labels and describe this, </a:t>
            </a:r>
            <a:r>
              <a:rPr lang="en-US" sz="1200" dirty="0" err="1" smtClean="0"/>
              <a:t>etc</a:t>
            </a:r>
            <a:r>
              <a:rPr lang="en-US" sz="1200" dirty="0" smtClean="0"/>
              <a:t>  Enable </a:t>
            </a:r>
            <a:r>
              <a:rPr lang="en-US" sz="1200" b="1" dirty="0" smtClean="0"/>
              <a:t>Total labels</a:t>
            </a:r>
            <a:endParaRPr lang="en-US" sz="1200" dirty="0" smtClean="0"/>
          </a:p>
          <a:p>
            <a:r>
              <a:rPr lang="en-US" sz="1200" dirty="0" smtClean="0"/>
              <a:t>Explain: Export the data</a:t>
            </a:r>
          </a:p>
          <a:p>
            <a:r>
              <a:rPr lang="en-US" sz="1200" dirty="0"/>
              <a:t>E</a:t>
            </a:r>
            <a:r>
              <a:rPr lang="en-US" sz="1200" dirty="0" smtClean="0"/>
              <a:t> </a:t>
            </a:r>
          </a:p>
        </p:txBody>
      </p:sp>
      <p:pic>
        <p:nvPicPr>
          <p:cNvPr id="2" name="Picture 1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00831" y="2073153"/>
            <a:ext cx="10058400" cy="476709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51029775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200" y="618262"/>
            <a:ext cx="10515600" cy="1716565"/>
          </a:xfrm>
        </p:spPr>
        <p:txBody>
          <a:bodyPr/>
          <a:lstStyle/>
          <a:p>
            <a:r>
              <a:rPr lang="en-US" dirty="0" smtClean="0"/>
              <a:t>Now add new page and show </a:t>
            </a:r>
            <a:r>
              <a:rPr lang="en-US" b="1" dirty="0" smtClean="0"/>
              <a:t>conditional formatting</a:t>
            </a:r>
          </a:p>
          <a:p>
            <a:pPr marL="0" indent="0">
              <a:buNone/>
            </a:pPr>
            <a:r>
              <a:rPr lang="en-US" dirty="0" smtClean="0"/>
              <a:t>1) Create bar chart from </a:t>
            </a:r>
            <a:r>
              <a:rPr lang="en-US" b="1" dirty="0" smtClean="0"/>
              <a:t>sales and sub-category.</a:t>
            </a:r>
            <a:r>
              <a:rPr lang="en-US" dirty="0" smtClean="0"/>
              <a:t> -&gt; Format visual -&gt; bars and then </a:t>
            </a:r>
            <a:r>
              <a:rPr lang="en-US" dirty="0" err="1" smtClean="0"/>
              <a:t>color.fx</a:t>
            </a:r>
            <a:r>
              <a:rPr lang="en-US" dirty="0" smtClean="0"/>
              <a:t> 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931585016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0" y="147744"/>
            <a:ext cx="11993732" cy="917576"/>
          </a:xfrm>
        </p:spPr>
        <p:txBody>
          <a:bodyPr>
            <a:normAutofit fontScale="55000" lnSpcReduction="20000"/>
          </a:bodyPr>
          <a:lstStyle/>
          <a:p>
            <a:r>
              <a:rPr lang="en-US" dirty="0" smtClean="0"/>
              <a:t>Pie chart: select region and sales</a:t>
            </a:r>
          </a:p>
          <a:p>
            <a:r>
              <a:rPr lang="en-US" dirty="0" smtClean="0"/>
              <a:t>Format your visual-&gt; visual -&gt; experiment with legend, slice, detail labels, rotation</a:t>
            </a:r>
          </a:p>
          <a:p>
            <a:r>
              <a:rPr lang="en-US" dirty="0" smtClean="0"/>
              <a:t>Format your visual-&gt; general -&gt; experiment with title, effects</a:t>
            </a:r>
          </a:p>
          <a:p>
            <a:endParaRPr lang="en-US" dirty="0"/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72357" y="1894465"/>
            <a:ext cx="10182688" cy="480284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2812396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200" y="440708"/>
            <a:ext cx="10515600" cy="535835"/>
          </a:xfrm>
        </p:spPr>
        <p:txBody>
          <a:bodyPr/>
          <a:lstStyle/>
          <a:p>
            <a:r>
              <a:rPr lang="en-US" dirty="0" smtClean="0"/>
              <a:t>Now show donut chart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355859124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248575" y="440708"/>
            <a:ext cx="11105225" cy="660123"/>
          </a:xfrm>
        </p:spPr>
        <p:txBody>
          <a:bodyPr>
            <a:normAutofit fontScale="70000" lnSpcReduction="20000"/>
          </a:bodyPr>
          <a:lstStyle/>
          <a:p>
            <a:r>
              <a:rPr lang="en-US" dirty="0" smtClean="0"/>
              <a:t>Now show funnel chart: sales and sub-category</a:t>
            </a:r>
          </a:p>
          <a:p>
            <a:r>
              <a:rPr lang="en-US" dirty="0" smtClean="0"/>
              <a:t>Format your visuals: change with things here: visuals -&gt; </a:t>
            </a:r>
            <a:r>
              <a:rPr lang="en-US" dirty="0" err="1" smtClean="0"/>
              <a:t>fx</a:t>
            </a:r>
            <a:r>
              <a:rPr lang="en-US" dirty="0" smtClean="0"/>
              <a:t> -&gt; use </a:t>
            </a:r>
            <a:r>
              <a:rPr lang="en-US" b="1" dirty="0" smtClean="0"/>
              <a:t>rule based</a:t>
            </a:r>
          </a:p>
        </p:txBody>
      </p:sp>
      <p:pic>
        <p:nvPicPr>
          <p:cNvPr id="2" name="Picture 1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12559" y="1370401"/>
            <a:ext cx="10058400" cy="533024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02197145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200" y="928980"/>
            <a:ext cx="10515600" cy="899820"/>
          </a:xfrm>
        </p:spPr>
        <p:txBody>
          <a:bodyPr/>
          <a:lstStyle/>
          <a:p>
            <a:r>
              <a:rPr lang="en-US" dirty="0" smtClean="0"/>
              <a:t>Now show </a:t>
            </a:r>
            <a:r>
              <a:rPr lang="en-US" b="1" dirty="0" smtClean="0"/>
              <a:t>table: </a:t>
            </a:r>
            <a:r>
              <a:rPr lang="en-US" dirty="0" smtClean="0"/>
              <a:t> Use sub-category, sales , profit</a:t>
            </a:r>
            <a:endParaRPr lang="en-US" b="1" dirty="0"/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38200" y="1752944"/>
            <a:ext cx="10058400" cy="480158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88670608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243396" y="369687"/>
            <a:ext cx="10515600" cy="740022"/>
          </a:xfrm>
        </p:spPr>
        <p:txBody>
          <a:bodyPr/>
          <a:lstStyle/>
          <a:p>
            <a:r>
              <a:rPr lang="en-US" dirty="0" smtClean="0"/>
              <a:t>Now show matrix: use sub-category, region , sales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78450109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270028" y="440708"/>
            <a:ext cx="11705949" cy="438181"/>
          </a:xfrm>
        </p:spPr>
        <p:txBody>
          <a:bodyPr>
            <a:normAutofit/>
          </a:bodyPr>
          <a:lstStyle/>
          <a:p>
            <a:r>
              <a:rPr lang="en-US" sz="2000" dirty="0" smtClean="0"/>
              <a:t>Now do scatter plot: use sales and profit…change x/y-axis to </a:t>
            </a:r>
            <a:r>
              <a:rPr lang="en-US" sz="2000" b="1" dirty="0" smtClean="0"/>
              <a:t>do not summarize</a:t>
            </a:r>
            <a:endParaRPr lang="en-US" sz="2000" b="1" dirty="0"/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93802" y="1037539"/>
            <a:ext cx="10058400" cy="582046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54109476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270029" y="263155"/>
            <a:ext cx="11484006" cy="979720"/>
          </a:xfrm>
        </p:spPr>
        <p:txBody>
          <a:bodyPr>
            <a:normAutofit fontScale="77500" lnSpcReduction="20000"/>
          </a:bodyPr>
          <a:lstStyle/>
          <a:p>
            <a:r>
              <a:rPr lang="en-US" dirty="0" smtClean="0"/>
              <a:t>Now we use map: (File -&gt; option and settings -&gt; options -&gt; Global -&gt; security -&gt; check box ‘Use maps and filled maps visuals’)</a:t>
            </a:r>
          </a:p>
          <a:p>
            <a:r>
              <a:rPr lang="en-US" dirty="0" smtClean="0"/>
              <a:t>I used state and sales: </a:t>
            </a:r>
            <a:r>
              <a:rPr lang="en-US" dirty="0" err="1" smtClean="0"/>
              <a:t>Goto</a:t>
            </a:r>
            <a:r>
              <a:rPr lang="en-US" dirty="0" smtClean="0"/>
              <a:t> general -&gt; map settings -&gt; bubbles and change color </a:t>
            </a:r>
            <a:r>
              <a:rPr lang="en-US" dirty="0" err="1" smtClean="0"/>
              <a:t>fx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574338277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8806" y="298665"/>
            <a:ext cx="10515600" cy="1192783"/>
          </a:xfrm>
        </p:spPr>
        <p:txBody>
          <a:bodyPr/>
          <a:lstStyle/>
          <a:p>
            <a:r>
              <a:rPr lang="en-US" dirty="0" smtClean="0"/>
              <a:t>Now we create hierarchies: Click matrix and check category, sales, sub-category, product-id. Drag sub-category and product-id in rows</a:t>
            </a:r>
            <a:endParaRPr lang="en-US" dirty="0"/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296139" y="1265368"/>
            <a:ext cx="9340789" cy="549283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29361632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1123</TotalTime>
  <Words>340</Words>
  <Application>Microsoft Office PowerPoint</Application>
  <PresentationFormat>Widescreen</PresentationFormat>
  <Paragraphs>24</Paragraphs>
  <Slides>12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6" baseType="lpstr">
      <vt:lpstr>Arial</vt:lpstr>
      <vt:lpstr>Calibri</vt:lpstr>
      <vt:lpstr>Calibri Light</vt:lpstr>
      <vt:lpstr>Office Theme</vt:lpstr>
      <vt:lpstr>Power BI Sales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 BI Sales</dc:title>
  <dc:creator>hi</dc:creator>
  <cp:lastModifiedBy>hi</cp:lastModifiedBy>
  <cp:revision>45</cp:revision>
  <dcterms:created xsi:type="dcterms:W3CDTF">2025-05-25T19:05:03Z</dcterms:created>
  <dcterms:modified xsi:type="dcterms:W3CDTF">2025-05-26T13:48:46Z</dcterms:modified>
</cp:coreProperties>
</file>