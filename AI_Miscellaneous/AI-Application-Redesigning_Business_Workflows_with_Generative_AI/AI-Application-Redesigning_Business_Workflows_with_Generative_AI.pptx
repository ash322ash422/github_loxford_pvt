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43FF3-6C40-4107-91BB-30F1D3636FB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656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4EC9E-DDCE-A0D2-EA01-945942EA4C49}"/>
              </a:ext>
            </a:extLst>
          </p:cNvPr>
          <p:cNvSpPr txBox="1"/>
          <p:nvPr/>
        </p:nvSpPr>
        <p:spPr>
          <a:xfrm>
            <a:off x="256032" y="2913909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IN" sz="40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Redesigning Business Workflows with Generative AI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434E8-768D-27B6-9C1B-1AAD3EEC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A8D061-0073-98D1-2C35-5B8E57DD3214}"/>
              </a:ext>
            </a:extLst>
          </p:cNvPr>
          <p:cNvSpPr txBox="1"/>
          <p:nvPr/>
        </p:nvSpPr>
        <p:spPr>
          <a:xfrm>
            <a:off x="82296" y="253005"/>
            <a:ext cx="11430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🗺️ Module 1: The "Deconstruct &amp; Isolate" Framework</a:t>
            </a:r>
          </a:p>
          <a:p>
            <a:pPr marL="0" marR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visually map out a workflow so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we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can spot exactly where generative AI can step in.  Most people fail because they try to automate an entire job at once.</a:t>
            </a:r>
          </a:p>
          <a:p>
            <a:pPr marL="342900" marR="0" lvl="0" indent="-342900">
              <a:buFont typeface="Arial" panose="020B0604020202020204" pitchFamily="34" charset="0"/>
              <a:buChar char="•"/>
            </a:pPr>
            <a:endParaRPr lang="en-IN" sz="2400" b="1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342900" marR="0" lvl="0" indent="-342900">
              <a:buFont typeface="Arial" panose="020B0604020202020204" pitchFamily="34" charset="0"/>
              <a:buChar char="•"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 Anatomy of a Step: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Break down any business task into three distinct parts: </a:t>
            </a:r>
          </a:p>
          <a:p>
            <a:pPr marL="457200" marR="0" lvl="0" indent="-457200">
              <a:buFont typeface="+mj-lt"/>
              <a:buAutoNum type="arabicPeriod"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Input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</a:p>
          <a:p>
            <a:pPr marL="457200" marR="0" lvl="0" indent="-457200">
              <a:buFont typeface="+mj-lt"/>
              <a:buAutoNum type="arabicPeriod"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Process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</a:p>
          <a:p>
            <a:pPr marL="457200" marR="0" lvl="0" indent="-457200">
              <a:buFont typeface="+mj-lt"/>
              <a:buAutoNum type="arabicPeriod"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Output</a:t>
            </a:r>
            <a:endParaRPr lang="en-IN" sz="2400" b="0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1D12A8-B5F5-40CF-2F91-BB1D284A9AB7}"/>
              </a:ext>
            </a:extLst>
          </p:cNvPr>
          <p:cNvSpPr/>
          <p:nvPr/>
        </p:nvSpPr>
        <p:spPr>
          <a:xfrm>
            <a:off x="155448" y="4078224"/>
            <a:ext cx="2971800" cy="12893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chemeClr val="bg1">
                    <a:lumMod val="95000"/>
                  </a:schemeClr>
                </a:solidFill>
              </a:rPr>
              <a:t>Input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algn="ctr"/>
            <a:r>
              <a:rPr lang="en-IN" sz="2400">
                <a:solidFill>
                  <a:schemeClr val="bg1">
                    <a:lumMod val="95000"/>
                  </a:schemeClr>
                </a:solidFill>
              </a:rPr>
              <a:t>(data, files, requests)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6FD4A3-343D-F570-DD68-BFCB8998427B}"/>
              </a:ext>
            </a:extLst>
          </p:cNvPr>
          <p:cNvSpPr/>
          <p:nvPr/>
        </p:nvSpPr>
        <p:spPr>
          <a:xfrm>
            <a:off x="3741420" y="4078224"/>
            <a:ext cx="4985004" cy="12893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chemeClr val="bg1">
                    <a:lumMod val="95000"/>
                  </a:schemeClr>
                </a:solidFill>
              </a:rPr>
              <a:t>Process</a:t>
            </a:r>
          </a:p>
          <a:p>
            <a:r>
              <a:rPr lang="en-IN" sz="2400">
                <a:solidFill>
                  <a:schemeClr val="bg1">
                    <a:lumMod val="95000"/>
                  </a:schemeClr>
                </a:solidFill>
              </a:rPr>
              <a:t>(analysis, transformation, evaluation)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5F5816-D94E-28D5-AC89-43146CE5A682}"/>
              </a:ext>
            </a:extLst>
          </p:cNvPr>
          <p:cNvSpPr/>
          <p:nvPr/>
        </p:nvSpPr>
        <p:spPr>
          <a:xfrm>
            <a:off x="9220200" y="4078224"/>
            <a:ext cx="2971800" cy="12893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chemeClr val="bg1">
                    <a:lumMod val="95000"/>
                  </a:schemeClr>
                </a:solidFill>
              </a:rPr>
              <a:t>Output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algn="ctr"/>
            <a:r>
              <a:rPr lang="en-IN" sz="2400">
                <a:solidFill>
                  <a:schemeClr val="bg1">
                    <a:lumMod val="95000"/>
                  </a:schemeClr>
                </a:solidFill>
              </a:rPr>
              <a:t>(reports, emails, structured data)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3259016-BF8D-5BE2-FF99-E667E0052532}"/>
              </a:ext>
            </a:extLst>
          </p:cNvPr>
          <p:cNvSpPr/>
          <p:nvPr/>
        </p:nvSpPr>
        <p:spPr>
          <a:xfrm>
            <a:off x="3255264" y="4443984"/>
            <a:ext cx="3657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DC8CC3E-941F-352E-ACCA-79C0E605FECF}"/>
              </a:ext>
            </a:extLst>
          </p:cNvPr>
          <p:cNvSpPr/>
          <p:nvPr/>
        </p:nvSpPr>
        <p:spPr>
          <a:xfrm>
            <a:off x="8790432" y="4443984"/>
            <a:ext cx="3657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2E8D7-BD1E-C8AF-4503-DDDBE8EC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BBDCA1-4BDD-DF1C-7897-F87FD79CC0CC}"/>
              </a:ext>
            </a:extLst>
          </p:cNvPr>
          <p:cNvSpPr txBox="1"/>
          <p:nvPr/>
        </p:nvSpPr>
        <p:spPr>
          <a:xfrm>
            <a:off x="246888" y="591333"/>
            <a:ext cx="112288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Arial" panose="020B0604020202020204" pitchFamily="34" charset="0"/>
              <a:buChar char="•"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 AI Suitability Matrix: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Figure out which operational steps go into action buckets:</a:t>
            </a:r>
          </a:p>
          <a:p>
            <a:pPr marL="342900" marR="0" lvl="0" indent="-342900">
              <a:buFont typeface="Arial" panose="020B0604020202020204" pitchFamily="34" charset="0"/>
              <a:buChar char="•"/>
            </a:pPr>
            <a:endParaRPr lang="en-IN" sz="2400" b="0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742950" marR="0" lvl="1" indent="-285750">
              <a:buFont typeface="Arial" panose="020B0604020202020204" pitchFamily="34" charset="0"/>
              <a:buChar char="•"/>
            </a:pPr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Automate entirely: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Repetitive, structured text or format conversion.</a:t>
            </a:r>
          </a:p>
          <a:p>
            <a:pPr marL="742950" marR="0" lvl="1" indent="-285750">
              <a:buFont typeface="Arial" panose="020B0604020202020204" pitchFamily="34" charset="0"/>
              <a:buChar char="•"/>
            </a:pPr>
            <a:endParaRPr lang="en-IN" sz="2400" b="0" i="1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742950" marR="0" lvl="1" indent="-285750">
              <a:buFont typeface="Arial" panose="020B0604020202020204" pitchFamily="34" charset="0"/>
              <a:buChar char="•"/>
            </a:pPr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Augment (Human-in-the-Loop):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Drafting complex variance analyses, writing dispute emails, summary generation.</a:t>
            </a:r>
          </a:p>
          <a:p>
            <a:pPr marL="742950" marR="0" lvl="1" indent="-285750">
              <a:buFont typeface="Arial" panose="020B0604020202020204" pitchFamily="34" charset="0"/>
              <a:buChar char="•"/>
            </a:pPr>
            <a:endParaRPr lang="en-IN" sz="2400" b="0" i="1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742950" marR="0" lvl="1" indent="-285750">
              <a:buFont typeface="Arial" panose="020B0604020202020204" pitchFamily="34" charset="0"/>
              <a:buChar char="•"/>
            </a:pPr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Keep 100% Human: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Final financial sign-offs, risk tolerances, relationship-building.</a:t>
            </a:r>
            <a:endParaRPr lang="en-IN" sz="1600" b="0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154587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357EF-1E66-757A-8AD8-38C9F46EE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3768A7-7B02-9BE1-D5F7-C063CFBEB3D2}"/>
              </a:ext>
            </a:extLst>
          </p:cNvPr>
          <p:cNvSpPr txBox="1"/>
          <p:nvPr/>
        </p:nvSpPr>
        <p:spPr>
          <a:xfrm>
            <a:off x="246888" y="591333"/>
            <a:ext cx="11228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 case study:</a:t>
            </a:r>
          </a:p>
          <a:p>
            <a:pPr marR="0" lvl="0"/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R="0" lvl="0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workflow of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Quarterly Travel &amp; Entertainment (T&amp;E) Expense Auditing</a:t>
            </a:r>
            <a:endParaRPr lang="en-IN" sz="2400" b="0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478746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70D03-8F8E-15C9-C515-BC20C03AF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D0AEE6-6FDF-3BF0-FD2D-AF177A2AFD97}"/>
              </a:ext>
            </a:extLst>
          </p:cNvPr>
          <p:cNvSpPr/>
          <p:nvPr/>
        </p:nvSpPr>
        <p:spPr>
          <a:xfrm>
            <a:off x="0" y="1959715"/>
            <a:ext cx="4017264" cy="2229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49C8A9-A0DB-DB19-B1DC-7BACA15EE267}"/>
              </a:ext>
            </a:extLst>
          </p:cNvPr>
          <p:cNvSpPr/>
          <p:nvPr/>
        </p:nvSpPr>
        <p:spPr>
          <a:xfrm>
            <a:off x="4523232" y="2030635"/>
            <a:ext cx="3843528" cy="2229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0238FC-A993-5B48-2CC7-4A3BD6AEEE66}"/>
              </a:ext>
            </a:extLst>
          </p:cNvPr>
          <p:cNvSpPr/>
          <p:nvPr/>
        </p:nvSpPr>
        <p:spPr>
          <a:xfrm>
            <a:off x="8604504" y="2084832"/>
            <a:ext cx="3587496" cy="2229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23B7E-B9AD-0F75-B911-35C8DA1AF6B1}"/>
              </a:ext>
            </a:extLst>
          </p:cNvPr>
          <p:cNvSpPr txBox="1"/>
          <p:nvPr/>
        </p:nvSpPr>
        <p:spPr>
          <a:xfrm>
            <a:off x="1154430" y="455414"/>
            <a:ext cx="9068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Map the Current "Before"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C83B9-D0B1-65FA-1D44-D513ADBCA1C6}"/>
              </a:ext>
            </a:extLst>
          </p:cNvPr>
          <p:cNvSpPr txBox="1"/>
          <p:nvPr/>
        </p:nvSpPr>
        <p:spPr>
          <a:xfrm>
            <a:off x="0" y="2105120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Corporate Card Statement (CSV) ──&gt; 1. Sort by Department          ──&gt;      Discrepancy Flag Log 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Employee Receipts (JPG/PDF)      ──&gt; 2. Cross-Check Policy Limits ──&gt; Non-Compliant Email Drafts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Expense Policy (PDF)                       ──&gt;3. Verify Receipt Matches Text ──&gt; Approved Audit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FE29B-3B3E-7A5D-2F27-F780B60DD651}"/>
              </a:ext>
            </a:extLst>
          </p:cNvPr>
          <p:cNvSpPr txBox="1"/>
          <p:nvPr/>
        </p:nvSpPr>
        <p:spPr>
          <a:xfrm>
            <a:off x="9822942" y="4704052"/>
            <a:ext cx="175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OUTPUTS</a:t>
            </a:r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1B30FC-BF68-4BB6-E213-0185E919A5EA}"/>
              </a:ext>
            </a:extLst>
          </p:cNvPr>
          <p:cNvSpPr txBox="1"/>
          <p:nvPr/>
        </p:nvSpPr>
        <p:spPr>
          <a:xfrm>
            <a:off x="5398118" y="4704052"/>
            <a:ext cx="1971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5B1EF8-0DA1-4DE7-F139-39B68A5AF836}"/>
              </a:ext>
            </a:extLst>
          </p:cNvPr>
          <p:cNvSpPr txBox="1"/>
          <p:nvPr/>
        </p:nvSpPr>
        <p:spPr>
          <a:xfrm>
            <a:off x="998982" y="4704051"/>
            <a:ext cx="137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INPUTS </a:t>
            </a:r>
          </a:p>
        </p:txBody>
      </p:sp>
    </p:spTree>
    <p:extLst>
      <p:ext uri="{BB962C8B-B14F-4D97-AF65-F5344CB8AC3E}">
        <p14:creationId xmlns:p14="http://schemas.microsoft.com/office/powerpoint/2010/main" val="1977667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387EB-0DA7-97DD-7CAD-D058F834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16B13-8FA0-90DC-8BF9-E80B7EF2A476}"/>
              </a:ext>
            </a:extLst>
          </p:cNvPr>
          <p:cNvSpPr txBox="1"/>
          <p:nvPr/>
        </p:nvSpPr>
        <p:spPr>
          <a:xfrm>
            <a:off x="91440" y="100915"/>
            <a:ext cx="116768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Step 2: Apply the Deconstruction Matrix</a:t>
            </a:r>
          </a:p>
          <a:p>
            <a:pPr marL="0" marR="0">
              <a:buNone/>
            </a:pP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Next, isolate the workflow step-by-step. </a:t>
            </a:r>
          </a:p>
          <a:p>
            <a:pPr marL="0" marR="0">
              <a:buNone/>
            </a:pP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Instead of asking, </a:t>
            </a:r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"Can AI do expense auditing?"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(which is too broad), </a:t>
            </a:r>
          </a:p>
          <a:p>
            <a:pPr marL="0" marR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should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ask, </a:t>
            </a:r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"Which specific step has high friction and fits AI strengths?"</a:t>
            </a:r>
            <a:endParaRPr lang="en-IN" sz="1600" b="0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31C5EF-6AF4-C8FC-AB8D-EBD4D8FE4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555980"/>
              </p:ext>
            </p:extLst>
          </p:nvPr>
        </p:nvGraphicFramePr>
        <p:xfrm>
          <a:off x="175260" y="1910271"/>
          <a:ext cx="11841480" cy="3070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1150">
                  <a:extLst>
                    <a:ext uri="{9D8B030D-6E8A-4147-A177-3AD203B41FA5}">
                      <a16:colId xmlns:a16="http://schemas.microsoft.com/office/drawing/2014/main" val="438026137"/>
                    </a:ext>
                  </a:extLst>
                </a:gridCol>
                <a:gridCol w="1461270">
                  <a:extLst>
                    <a:ext uri="{9D8B030D-6E8A-4147-A177-3AD203B41FA5}">
                      <a16:colId xmlns:a16="http://schemas.microsoft.com/office/drawing/2014/main" val="1965260924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382580094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5833175"/>
                    </a:ext>
                  </a:extLst>
                </a:gridCol>
                <a:gridCol w="2113788">
                  <a:extLst>
                    <a:ext uri="{9D8B030D-6E8A-4147-A177-3AD203B41FA5}">
                      <a16:colId xmlns:a16="http://schemas.microsoft.com/office/drawing/2014/main" val="3837489634"/>
                    </a:ext>
                  </a:extLst>
                </a:gridCol>
              </a:tblGrid>
              <a:tr h="1569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Step # &amp; Description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Manual Friction Level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Is it a good fit for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Gen AI?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Why?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(The Structural Reason)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Action Bucket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extLst>
                  <a:ext uri="{0D108BD9-81ED-4DB2-BD59-A6C34878D82A}">
                    <a16:rowId xmlns:a16="http://schemas.microsoft.com/office/drawing/2014/main" val="3412433746"/>
                  </a:ext>
                </a:extLst>
              </a:tr>
              <a:tr h="402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1: Filter card transactions by department.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Low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❌ 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Excel formulas (VLOOKUP / FILTER) handle structured data faster and with 100% mathematical accuracy.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Keep Regular Automation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extLst>
                  <a:ext uri="{0D108BD9-81ED-4DB2-BD59-A6C34878D82A}">
                    <a16:rowId xmlns:a16="http://schemas.microsoft.com/office/drawing/2014/main" val="967127498"/>
                  </a:ext>
                </a:extLst>
              </a:tr>
              <a:tr h="402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2: Read messy, crumpled receipt photos to extract total and merchant.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High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✅ Yes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Generative AI specializes in Vision &amp; Unstructured Text Extraction. It can read poor handwriting or faded ink instantly.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Delegate to AI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extLst>
                  <a:ext uri="{0D108BD9-81ED-4DB2-BD59-A6C34878D82A}">
                    <a16:rowId xmlns:a16="http://schemas.microsoft.com/office/drawing/2014/main" val="66536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996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0CC26-B9A6-75DB-571D-BAFE4F8F9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8C9E27-D392-CBD8-6A0E-366F640EB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73054"/>
              </p:ext>
            </p:extLst>
          </p:nvPr>
        </p:nvGraphicFramePr>
        <p:xfrm>
          <a:off x="102108" y="1128048"/>
          <a:ext cx="11841480" cy="4601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7668">
                  <a:extLst>
                    <a:ext uri="{9D8B030D-6E8A-4147-A177-3AD203B41FA5}">
                      <a16:colId xmlns:a16="http://schemas.microsoft.com/office/drawing/2014/main" val="438026137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1965260924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382580094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5833175"/>
                    </a:ext>
                  </a:extLst>
                </a:gridCol>
                <a:gridCol w="2141220">
                  <a:extLst>
                    <a:ext uri="{9D8B030D-6E8A-4147-A177-3AD203B41FA5}">
                      <a16:colId xmlns:a16="http://schemas.microsoft.com/office/drawing/2014/main" val="3837489634"/>
                    </a:ext>
                  </a:extLst>
                </a:gridCol>
              </a:tblGrid>
              <a:tr h="1569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Step # &amp; Description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Manual Friction Level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Is it a good fit for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Gen AI?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Why?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 (The Structural Reason)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sng" strike="noStrike">
                          <a:effectLst/>
                        </a:rPr>
                        <a:t>Action Bucket</a:t>
                      </a:r>
                      <a:endParaRPr lang="en-IN" sz="2000" b="1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extLst>
                  <a:ext uri="{0D108BD9-81ED-4DB2-BD59-A6C34878D82A}">
                    <a16:rowId xmlns:a16="http://schemas.microsoft.com/office/drawing/2014/main" val="3412433746"/>
                  </a:ext>
                </a:extLst>
              </a:tr>
              <a:tr h="402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3: Compare receipt totals against the 40-page corporate Expense Policy.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High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✅ Yes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This is a Reconciler &amp; Policy Match pattern. AI excels at holding a large text policy in its context window and finding violations.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Delegate to AI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extLst>
                  <a:ext uri="{0D108BD9-81ED-4DB2-BD59-A6C34878D82A}">
                    <a16:rowId xmlns:a16="http://schemas.microsoft.com/office/drawing/2014/main" val="1276477513"/>
                  </a:ext>
                </a:extLst>
              </a:tr>
              <a:tr h="402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4: Draft policy violation warnings to employees.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Medium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✅ Yes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This is a Text Synthesis/Drafting pattern. AI can auto-populate the exact violation details into a professional email template.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Augment (Human-in-the-Loop)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extLst>
                  <a:ext uri="{0D108BD9-81ED-4DB2-BD59-A6C34878D82A}">
                    <a16:rowId xmlns:a16="http://schemas.microsoft.com/office/drawing/2014/main" val="56814290"/>
                  </a:ext>
                </a:extLst>
              </a:tr>
              <a:tr h="402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5: Final decision to lock account or waive the violation.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High Risk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❌ 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This requires corporate empathy, context, and executive authority. AI cannot make final disciplinary decisions.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Keep 100% Human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76" marR="7476" marT="7476" marB="0" anchor="ctr"/>
                </a:tc>
                <a:extLst>
                  <a:ext uri="{0D108BD9-81ED-4DB2-BD59-A6C34878D82A}">
                    <a16:rowId xmlns:a16="http://schemas.microsoft.com/office/drawing/2014/main" val="1729539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525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21A86-84DE-593A-978F-C87F1424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398B5E-1D8F-32D1-F0DF-FA4F4BAEA0F0}"/>
              </a:ext>
            </a:extLst>
          </p:cNvPr>
          <p:cNvSpPr txBox="1"/>
          <p:nvPr/>
        </p:nvSpPr>
        <p:spPr>
          <a:xfrm>
            <a:off x="128016" y="205279"/>
            <a:ext cx="11750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Step 3: Isolate and Build the "AI Leverage Points“</a:t>
            </a:r>
          </a:p>
          <a:p>
            <a:pPr marL="0" marR="0">
              <a:buNone/>
            </a:pPr>
            <a:endParaRPr lang="en-IN" sz="2400" b="1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Now we ignore the steps Excel or humans do best, and focus </a:t>
            </a:r>
            <a:r>
              <a:rPr lang="en-IN" sz="2400" b="0" i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only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on the AI sweet spots (</a:t>
            </a:r>
            <a:r>
              <a:rPr lang="en-IN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Steps 2, 3, and 4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4074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A1D0F-0497-D902-535B-07C086078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954987-FD53-FD9D-C2A2-5AF8F17C4DF2}"/>
              </a:ext>
            </a:extLst>
          </p:cNvPr>
          <p:cNvSpPr txBox="1"/>
          <p:nvPr/>
        </p:nvSpPr>
        <p:spPr>
          <a:xfrm>
            <a:off x="137922" y="654766"/>
            <a:ext cx="106062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400" b="1" u="sng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 No-Code AI Prompt Solution (Copilot/ChatGPT)</a:t>
            </a:r>
          </a:p>
          <a:p>
            <a:pPr marL="0" marR="0">
              <a:buNone/>
            </a:pPr>
            <a:endParaRPr lang="en-IN" sz="2400" b="1" u="sng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You upload the </a:t>
            </a: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Receipt Image(receipt.png)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, paste the </a:t>
            </a: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Transaction Row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, and upload the </a:t>
            </a:r>
            <a:r>
              <a:rPr lang="en-IN" sz="24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Policy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 (policy_expense_reimbursement.docx)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. </a:t>
            </a:r>
          </a:p>
          <a:p>
            <a:pPr marL="0" marR="0"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marR="0">
              <a:buNone/>
            </a:pPr>
            <a:endParaRPr lang="en-IN" sz="2400" b="0" u="none" strike="noStrike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Then you run this single, repeatable prompt:</a:t>
            </a:r>
          </a:p>
        </p:txBody>
      </p:sp>
    </p:spTree>
    <p:extLst>
      <p:ext uri="{BB962C8B-B14F-4D97-AF65-F5344CB8AC3E}">
        <p14:creationId xmlns:p14="http://schemas.microsoft.com/office/powerpoint/2010/main" val="4070175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BF087-57B5-806C-50C4-797C4EE0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C3A5EB-D0B5-9142-BAC8-88EC9AC78969}"/>
              </a:ext>
            </a:extLst>
          </p:cNvPr>
          <p:cNvSpPr txBox="1"/>
          <p:nvPr/>
        </p:nvSpPr>
        <p:spPr>
          <a:xfrm>
            <a:off x="184022" y="746206"/>
            <a:ext cx="11428857" cy="479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300"/>
              </a:spcBef>
              <a:buNone/>
            </a:pPr>
            <a:r>
              <a:rPr lang="en-IN" sz="2400" b="1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Role: </a:t>
            </a:r>
            <a: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Act as a Corporate Forensic Auditor.</a:t>
            </a:r>
            <a:b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endParaRPr lang="en-IN" sz="2400" b="0" u="none" strike="noStrike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0" marR="0">
              <a:spcBef>
                <a:spcPts val="300"/>
              </a:spcBef>
              <a:buNone/>
            </a:pPr>
            <a:r>
              <a:rPr lang="en-IN" sz="2400" b="1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Action:</a:t>
            </a:r>
            <a: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 Cross-check the attached receipt image, receipt.png, against this transaction row: </a:t>
            </a:r>
          </a:p>
          <a:p>
            <a:pPr marL="0" marR="0">
              <a:spcBef>
                <a:spcPts val="300"/>
              </a:spcBef>
              <a:buNone/>
            </a:pPr>
            <a: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[John Doe | 14 Oct 2026 | Star Steakhouse | $150.00].</a:t>
            </a:r>
            <a:b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endParaRPr lang="en-IN" sz="2400" b="0" u="none" strike="noStrike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>
              <a:spcBef>
                <a:spcPts val="300"/>
              </a:spcBef>
            </a:pPr>
            <a:r>
              <a:rPr lang="en-IN" sz="2400" b="1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Policy Guardrail: </a:t>
            </a:r>
            <a:r>
              <a:rPr lang="en-IN" sz="2400" i="1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The policy files are uploaded as </a:t>
            </a:r>
            <a:r>
              <a:rPr lang="en-IN" sz="2400" i="1">
                <a:solidFill>
                  <a:schemeClr val="accent4">
                    <a:lumMod val="60000"/>
                    <a:lumOff val="40000"/>
                  </a:schemeClr>
                </a:solidFill>
              </a:rPr>
              <a:t>policy_expense_reimbursement.docx</a:t>
            </a:r>
            <a:b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endParaRPr lang="en-IN" sz="2400" b="0" u="none" strike="noStrike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0" marR="0">
              <a:spcBef>
                <a:spcPts val="300"/>
              </a:spcBef>
              <a:buNone/>
            </a:pPr>
            <a:r>
              <a:rPr lang="en-IN" sz="2400" b="1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Task:</a:t>
            </a:r>
            <a:endParaRPr lang="en-IN" sz="2400" b="0" u="none" strike="noStrike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342900" marR="0" lvl="0" indent="-342900">
              <a:spcBef>
                <a:spcPts val="300"/>
              </a:spcBef>
              <a:buFont typeface="+mj-lt"/>
              <a:buAutoNum type="arabicPeriod"/>
            </a:pPr>
            <a: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Does the receipt match the transaction amount?</a:t>
            </a:r>
          </a:p>
          <a:p>
            <a:pPr marL="342900" marR="0" lvl="0" indent="-342900">
              <a:spcBef>
                <a:spcPts val="300"/>
              </a:spcBef>
              <a:buFont typeface="+mj-lt"/>
              <a:buAutoNum type="arabicPeriod"/>
            </a:pPr>
            <a: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Did the employee violate the policy limit or fail to provide an itemized breakdown?</a:t>
            </a:r>
          </a:p>
          <a:p>
            <a:pPr marL="342900" marR="0" lvl="0" indent="-342900">
              <a:spcBef>
                <a:spcPts val="300"/>
              </a:spcBef>
              <a:buFont typeface="+mj-lt"/>
              <a:buAutoNum type="arabicPeriod"/>
            </a:pPr>
            <a:r>
              <a:rPr lang="en-IN" sz="24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If a violation occurred, draft a polite warning email to the employee explaining the exact mismatch.</a:t>
            </a:r>
            <a:endParaRPr lang="en-IN" sz="1600" b="0" u="none" strike="noStrike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040BAF5-0185-BAF2-232A-823D336A775D}"/>
              </a:ext>
            </a:extLst>
          </p:cNvPr>
          <p:cNvSpPr/>
          <p:nvPr/>
        </p:nvSpPr>
        <p:spPr>
          <a:xfrm rot="20589294">
            <a:off x="10481308" y="1232994"/>
            <a:ext cx="566928" cy="39319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C4454-6DBE-9D3C-A53E-0BB3A1774C64}"/>
              </a:ext>
            </a:extLst>
          </p:cNvPr>
          <p:cNvSpPr txBox="1"/>
          <p:nvPr/>
        </p:nvSpPr>
        <p:spPr>
          <a:xfrm>
            <a:off x="11094720" y="1046100"/>
            <a:ext cx="113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Step 2</a:t>
            </a:r>
            <a:endParaRPr lang="en-IN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8E79E-96BA-3BB9-0711-92F7BB830B6F}"/>
              </a:ext>
            </a:extLst>
          </p:cNvPr>
          <p:cNvSpPr txBox="1"/>
          <p:nvPr/>
        </p:nvSpPr>
        <p:spPr>
          <a:xfrm>
            <a:off x="11093044" y="3429000"/>
            <a:ext cx="113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Step 3</a:t>
            </a:r>
            <a:endParaRPr lang="en-IN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66CE907-53FC-291B-50EA-51AC0C9D57DC}"/>
              </a:ext>
            </a:extLst>
          </p:cNvPr>
          <p:cNvSpPr/>
          <p:nvPr/>
        </p:nvSpPr>
        <p:spPr>
          <a:xfrm rot="2455093">
            <a:off x="10733151" y="3129016"/>
            <a:ext cx="566928" cy="39319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E44F1-75DF-A2B4-65EF-91F0CF3E1398}"/>
              </a:ext>
            </a:extLst>
          </p:cNvPr>
          <p:cNvSpPr txBox="1"/>
          <p:nvPr/>
        </p:nvSpPr>
        <p:spPr>
          <a:xfrm>
            <a:off x="11016615" y="5308993"/>
            <a:ext cx="113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latin typeface="+mn-lt"/>
              </a:rPr>
              <a:t>Step 4</a:t>
            </a:r>
            <a:endParaRPr lang="en-IN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027E1C8-6442-FBA3-D694-7C573101DC29}"/>
              </a:ext>
            </a:extLst>
          </p:cNvPr>
          <p:cNvSpPr/>
          <p:nvPr/>
        </p:nvSpPr>
        <p:spPr>
          <a:xfrm rot="2214348">
            <a:off x="10464859" y="5111872"/>
            <a:ext cx="566928" cy="39319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79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727</Words>
  <Application>Microsoft Office PowerPoint</Application>
  <PresentationFormat>Widescreen</PresentationFormat>
  <Paragraphs>97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29</cp:revision>
  <dcterms:created xsi:type="dcterms:W3CDTF">2026-09-25T02:37:34Z</dcterms:created>
  <dcterms:modified xsi:type="dcterms:W3CDTF">2026-10-13T19:06:21Z</dcterms:modified>
</cp:coreProperties>
</file>