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67" r:id="rId3"/>
    <p:sldId id="268" r:id="rId4"/>
    <p:sldId id="269"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54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14-10-2026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accent6">
                    <a:lumMod val="60000"/>
                    <a:lumOff val="40000"/>
                  </a:schemeClr>
                </a:solidFill>
              </a:defRPr>
            </a:lvl1pPr>
          </a:lstStyle>
          <a:p>
            <a:fld id="{6EBA79C2-4FE3-4D0C-AFFB-D4FCE050D5EA}" type="datetimeFigureOut">
              <a:rPr lang="en-IN" smtClean="0"/>
              <a:pPr/>
              <a:t>14-10-2026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accent6">
                    <a:lumMod val="60000"/>
                    <a:lumOff val="40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6">
                    <a:lumMod val="60000"/>
                    <a:lumOff val="40000"/>
                  </a:schemeClr>
                </a:solidFill>
              </a:defRPr>
            </a:lvl1pPr>
          </a:lstStyle>
          <a:p>
            <a:fld id="{023A53CF-6AA3-4EF6-9F05-A0E3059C583D}" type="slidenum">
              <a:rPr lang="en-IN" smtClean="0"/>
              <a:pPr/>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register.com/2024/02/15/air_canada_chatbot_fine/" TargetMode="External"/><Relationship Id="rId2" Type="http://schemas.openxmlformats.org/officeDocument/2006/relationships/hyperlink" Target="https://themarkup.org/news/2024/03/29/nycs-ai-chatbot-tells-businesses-to-break-the-law"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eeoc.gov/newsroom/eeoc-sues-itutorgroup-age-discrimination" TargetMode="External"/><Relationship Id="rId2" Type="http://schemas.openxmlformats.org/officeDocument/2006/relationships/hyperlink" Target="https://www.gtlaw.com/en/insights/2023/8/eeoc-secures-first-workplace-artificial-intelligence-settlement"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A5A54-76DA-2661-F50C-67E1C67997D1}"/>
              </a:ext>
            </a:extLst>
          </p:cNvPr>
          <p:cNvSpPr txBox="1"/>
          <p:nvPr/>
        </p:nvSpPr>
        <p:spPr>
          <a:xfrm>
            <a:off x="3048000" y="3046907"/>
            <a:ext cx="6096000" cy="769441"/>
          </a:xfrm>
          <a:prstGeom prst="rect">
            <a:avLst/>
          </a:prstGeom>
          <a:noFill/>
        </p:spPr>
        <p:txBody>
          <a:bodyPr wrap="square">
            <a:spAutoFit/>
          </a:bodyPr>
          <a:lstStyle/>
          <a:p>
            <a:r>
              <a:rPr lang="en-US" sz="4400" b="1">
                <a:solidFill>
                  <a:schemeClr val="accent6">
                    <a:lumMod val="60000"/>
                    <a:lumOff val="40000"/>
                  </a:schemeClr>
                </a:solidFill>
              </a:rPr>
              <a:t>Example of AI mistakes</a:t>
            </a:r>
            <a:endParaRPr lang="en-IN" b="1">
              <a:solidFill>
                <a:schemeClr val="accent6">
                  <a:lumMod val="60000"/>
                  <a:lumOff val="40000"/>
                </a:schemeClr>
              </a:solidFill>
            </a:endParaRPr>
          </a:p>
        </p:txBody>
      </p:sp>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27F3A62-0AD1-C1D2-8D8D-8B5326DF03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000F2E-75FD-CFB7-3CFD-8B4DE3E1725A}"/>
              </a:ext>
            </a:extLst>
          </p:cNvPr>
          <p:cNvSpPr txBox="1"/>
          <p:nvPr/>
        </p:nvSpPr>
        <p:spPr>
          <a:xfrm>
            <a:off x="73574" y="499893"/>
            <a:ext cx="11676993" cy="4893647"/>
          </a:xfrm>
          <a:prstGeom prst="rect">
            <a:avLst/>
          </a:prstGeom>
          <a:noFill/>
        </p:spPr>
        <p:txBody>
          <a:bodyPr wrap="square">
            <a:spAutoFit/>
          </a:bodyPr>
          <a:lstStyle/>
          <a:p>
            <a:pPr marL="342900" indent="-342900">
              <a:buFont typeface="Arial" panose="020B0604020202020204" pitchFamily="34" charset="0"/>
              <a:buChar char="•"/>
            </a:pPr>
            <a:r>
              <a:rPr lang="en-US" sz="2400">
                <a:solidFill>
                  <a:schemeClr val="accent6">
                    <a:lumMod val="60000"/>
                    <a:lumOff val="40000"/>
                  </a:schemeClr>
                </a:solidFill>
              </a:rPr>
              <a:t>Facebook’s AI systems were supercharging the spread of harmful anti-Rohingya content in Myanmar, leading to killing of Rohingya people in 2017.</a:t>
            </a: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r>
              <a:rPr lang="en-US" sz="2400">
                <a:solidFill>
                  <a:schemeClr val="accent6">
                    <a:lumMod val="60000"/>
                    <a:lumOff val="40000"/>
                  </a:schemeClr>
                </a:solidFill>
              </a:rPr>
              <a:t>In March 2024, </a:t>
            </a:r>
            <a:r>
              <a:rPr lang="en-US" sz="2400" i="1" u="sng">
                <a:solidFill>
                  <a:schemeClr val="accent6">
                    <a:lumMod val="60000"/>
                    <a:lumOff val="40000"/>
                  </a:schemeClr>
                </a:solidFill>
                <a:hlinkClick r:id="rId2">
                  <a:extLst>
                    <a:ext uri="{A12FA001-AC4F-418D-AE19-62706E023703}">
                      <ahyp:hlinkClr xmlns:ahyp="http://schemas.microsoft.com/office/drawing/2018/hyperlinkcolor" val="tx"/>
                    </a:ext>
                  </a:extLst>
                </a:hlinkClick>
              </a:rPr>
              <a:t>The Markup</a:t>
            </a:r>
            <a:r>
              <a:rPr lang="en-US" sz="2400">
                <a:solidFill>
                  <a:schemeClr val="accent6">
                    <a:lumMod val="60000"/>
                    <a:lumOff val="40000"/>
                  </a:schemeClr>
                </a:solidFill>
              </a:rPr>
              <a:t> reported that Microsoft-powered chatbot MyCity was giving entrepreneurs incorrect information that would lead to them break the law. </a:t>
            </a:r>
            <a:r>
              <a:rPr lang="en-US" sz="2400" i="1">
                <a:solidFill>
                  <a:schemeClr val="accent6">
                    <a:lumMod val="60000"/>
                    <a:lumOff val="40000"/>
                  </a:schemeClr>
                </a:solidFill>
              </a:rPr>
              <a:t> </a:t>
            </a:r>
            <a:r>
              <a:rPr lang="en-US" sz="2400">
                <a:solidFill>
                  <a:schemeClr val="accent6">
                    <a:lumMod val="60000"/>
                    <a:lumOff val="40000"/>
                  </a:schemeClr>
                </a:solidFill>
              </a:rPr>
              <a:t>It falsely claimed that business owners could take a cut of their workers’ tips, fire workers who complain of sexual harassment, and serve food that had been nibbled by rodents. It also claimed landlords could discriminate based on source of income.</a:t>
            </a: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r>
              <a:rPr lang="en-US" sz="2400">
                <a:solidFill>
                  <a:schemeClr val="accent6">
                    <a:lumMod val="60000"/>
                    <a:lumOff val="40000"/>
                  </a:schemeClr>
                </a:solidFill>
              </a:rPr>
              <a:t>In February 2024, Air Canada was ordered to </a:t>
            </a:r>
            <a:r>
              <a:rPr lang="en-US" sz="2400" u="sng">
                <a:solidFill>
                  <a:schemeClr val="accent6">
                    <a:lumMod val="60000"/>
                    <a:lumOff val="40000"/>
                  </a:schemeClr>
                </a:solidFill>
                <a:hlinkClick r:id="rId3">
                  <a:extLst>
                    <a:ext uri="{A12FA001-AC4F-418D-AE19-62706E023703}">
                      <ahyp:hlinkClr xmlns:ahyp="http://schemas.microsoft.com/office/drawing/2018/hyperlinkcolor" val="tx"/>
                    </a:ext>
                  </a:extLst>
                </a:hlinkClick>
              </a:rPr>
              <a:t>pay damages to a passenger</a:t>
            </a:r>
            <a:r>
              <a:rPr lang="en-US" sz="2400">
                <a:solidFill>
                  <a:schemeClr val="accent6">
                    <a:lumMod val="60000"/>
                    <a:lumOff val="40000"/>
                  </a:schemeClr>
                </a:solidFill>
              </a:rPr>
              <a:t> after its virtual assistant gave him incorrect information at a particularly difficult time.</a:t>
            </a:r>
          </a:p>
          <a:p>
            <a:endParaRPr lang="en-US" sz="2400">
              <a:solidFill>
                <a:schemeClr val="accent6">
                  <a:lumMod val="60000"/>
                  <a:lumOff val="40000"/>
                </a:schemeClr>
              </a:solidFill>
            </a:endParaRPr>
          </a:p>
        </p:txBody>
      </p:sp>
    </p:spTree>
    <p:extLst>
      <p:ext uri="{BB962C8B-B14F-4D97-AF65-F5344CB8AC3E}">
        <p14:creationId xmlns:p14="http://schemas.microsoft.com/office/powerpoint/2010/main" val="1081281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8FFF066-0A12-9F45-7451-EA5B3A6CC8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5D5641-942F-D227-9EC5-478D7EF9156D}"/>
              </a:ext>
            </a:extLst>
          </p:cNvPr>
          <p:cNvSpPr txBox="1"/>
          <p:nvPr/>
        </p:nvSpPr>
        <p:spPr>
          <a:xfrm>
            <a:off x="73574" y="499893"/>
            <a:ext cx="11676993" cy="4893647"/>
          </a:xfrm>
          <a:prstGeom prst="rect">
            <a:avLst/>
          </a:prstGeom>
          <a:noFill/>
        </p:spPr>
        <p:txBody>
          <a:bodyPr wrap="square">
            <a:spAutoFit/>
          </a:bodyPr>
          <a:lstStyle/>
          <a:p>
            <a:pPr marL="342900" indent="-342900">
              <a:buFont typeface="Arial" panose="020B0604020202020204" pitchFamily="34" charset="0"/>
              <a:buChar char="•"/>
            </a:pPr>
            <a:r>
              <a:rPr lang="en-US" sz="2400">
                <a:solidFill>
                  <a:schemeClr val="accent6">
                    <a:lumMod val="60000"/>
                    <a:lumOff val="40000"/>
                  </a:schemeClr>
                </a:solidFill>
              </a:rPr>
              <a:t>In August 2023, tutoring company iTutor Group </a:t>
            </a:r>
            <a:r>
              <a:rPr lang="en-US" sz="2400" u="sng">
                <a:solidFill>
                  <a:schemeClr val="accent6">
                    <a:lumMod val="60000"/>
                    <a:lumOff val="40000"/>
                  </a:schemeClr>
                </a:solidFill>
                <a:hlinkClick r:id="rId2">
                  <a:extLst>
                    <a:ext uri="{A12FA001-AC4F-418D-AE19-62706E023703}">
                      <ahyp:hlinkClr xmlns:ahyp="http://schemas.microsoft.com/office/drawing/2018/hyperlinkcolor" val="tx"/>
                    </a:ext>
                  </a:extLst>
                </a:hlinkClick>
              </a:rPr>
              <a:t>agreed to pay $365,000</a:t>
            </a:r>
            <a:r>
              <a:rPr lang="en-US" sz="2400">
                <a:solidFill>
                  <a:schemeClr val="accent6">
                    <a:lumMod val="60000"/>
                    <a:lumOff val="40000"/>
                  </a:schemeClr>
                </a:solidFill>
              </a:rPr>
              <a:t> to settle </a:t>
            </a:r>
            <a:r>
              <a:rPr lang="en-US" sz="2400" u="sng">
                <a:solidFill>
                  <a:schemeClr val="accent6">
                    <a:lumMod val="60000"/>
                    <a:lumOff val="40000"/>
                  </a:schemeClr>
                </a:solidFill>
                <a:hlinkClick r:id="rId3">
                  <a:extLst>
                    <a:ext uri="{A12FA001-AC4F-418D-AE19-62706E023703}">
                      <ahyp:hlinkClr xmlns:ahyp="http://schemas.microsoft.com/office/drawing/2018/hyperlinkcolor" val="tx"/>
                    </a:ext>
                  </a:extLst>
                </a:hlinkClick>
              </a:rPr>
              <a:t>a suit</a:t>
            </a:r>
            <a:r>
              <a:rPr lang="en-US" sz="2400">
                <a:solidFill>
                  <a:schemeClr val="accent6">
                    <a:lumMod val="60000"/>
                    <a:lumOff val="40000"/>
                  </a:schemeClr>
                </a:solidFill>
              </a:rPr>
              <a:t> brought by the US Equal Employment Opportunity Commission (EEOC). The federal agency said the company, which provides remote tutoring services to students in China, used AI-powered recruiting software that automatically rejected female applicants ages 55 and older, and male applicants ages 60 and older.</a:t>
            </a: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r>
              <a:rPr lang="en-US" sz="2400">
                <a:solidFill>
                  <a:schemeClr val="accent6">
                    <a:lumMod val="60000"/>
                    <a:lumOff val="40000"/>
                  </a:schemeClr>
                </a:solidFill>
              </a:rPr>
              <a:t>AI Hallucinations: Attorney Steven Schwartz learned when he found himself in hot water with US District Judge Kevin Castel in 2023 after using ChatGPT to research precedents in a suit against Colombian airline Avianca.</a:t>
            </a: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r>
              <a:rPr lang="en-US" sz="2400">
                <a:solidFill>
                  <a:schemeClr val="accent6">
                    <a:lumMod val="60000"/>
                    <a:lumOff val="40000"/>
                  </a:schemeClr>
                </a:solidFill>
              </a:rPr>
              <a:t>MIT Technology Review has chronicled a number of failures, most of which stem from errors in the way the tools were trained or tested. The use of mislabeled data, or data from unknown sources, was a common culprit.</a:t>
            </a:r>
          </a:p>
        </p:txBody>
      </p:sp>
    </p:spTree>
    <p:extLst>
      <p:ext uri="{BB962C8B-B14F-4D97-AF65-F5344CB8AC3E}">
        <p14:creationId xmlns:p14="http://schemas.microsoft.com/office/powerpoint/2010/main" val="347897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4F61A57-4A96-F864-60BD-7074CA6E38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D7D687-665E-E63B-8BD8-4F705DB49B99}"/>
              </a:ext>
            </a:extLst>
          </p:cNvPr>
          <p:cNvSpPr txBox="1"/>
          <p:nvPr/>
        </p:nvSpPr>
        <p:spPr>
          <a:xfrm>
            <a:off x="73574" y="499893"/>
            <a:ext cx="11855667" cy="5262979"/>
          </a:xfrm>
          <a:prstGeom prst="rect">
            <a:avLst/>
          </a:prstGeom>
          <a:noFill/>
        </p:spPr>
        <p:txBody>
          <a:bodyPr wrap="square">
            <a:spAutoFit/>
          </a:bodyPr>
          <a:lstStyle/>
          <a:p>
            <a:pPr marL="342900" indent="-342900">
              <a:buFont typeface="Arial" panose="020B0604020202020204" pitchFamily="34" charset="0"/>
              <a:buChar char="•"/>
            </a:pPr>
            <a:r>
              <a:rPr lang="en-US" sz="2400">
                <a:solidFill>
                  <a:schemeClr val="accent6">
                    <a:lumMod val="60000"/>
                    <a:lumOff val="40000"/>
                  </a:schemeClr>
                </a:solidFill>
              </a:rPr>
              <a:t>ML researcher explored the use of deep learning models for diagnosing the virus. For example, Driggs’ group found that their own model was flawed because it was trained on a data set that included scans of patients that were lying down while scanned, and patients that were standing up. The patients who were lying down were much more likely to be seriously ill, so the algorithm learned to identify COVID risk based on the position of the person in the scan. A similar example includes an algorithm trained with a data set with scans of chests of healthy children. The algorithm learned to identify children, not high-risk patients.</a:t>
            </a: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r>
              <a:rPr lang="en-US" sz="2400">
                <a:solidFill>
                  <a:schemeClr val="accent6">
                    <a:lumMod val="60000"/>
                    <a:lumOff val="40000"/>
                  </a:schemeClr>
                </a:solidFill>
              </a:rPr>
              <a:t>Zillows AI algorithm led it to unintentionally purchase homes at higher prices than its current estimates of future selling prices, resulting in a $304 million inventory write-down in Q3 2021.</a:t>
            </a:r>
          </a:p>
          <a:p>
            <a:pPr marL="342900" indent="-342900">
              <a:buFont typeface="Arial" panose="020B0604020202020204" pitchFamily="34" charset="0"/>
              <a:buChar char="•"/>
            </a:pPr>
            <a:endParaRPr lang="en-US" sz="2400">
              <a:solidFill>
                <a:schemeClr val="accent6">
                  <a:lumMod val="60000"/>
                  <a:lumOff val="40000"/>
                </a:schemeClr>
              </a:solidFill>
            </a:endParaRPr>
          </a:p>
          <a:p>
            <a:pPr marL="342900" indent="-342900">
              <a:buFont typeface="Arial" panose="020B0604020202020204" pitchFamily="34" charset="0"/>
              <a:buChar char="•"/>
            </a:pPr>
            <a:r>
              <a:rPr lang="en-US" sz="2400">
                <a:solidFill>
                  <a:schemeClr val="accent6">
                    <a:lumMod val="60000"/>
                    <a:lumOff val="40000"/>
                  </a:schemeClr>
                </a:solidFill>
              </a:rPr>
              <a:t>Amazon AI-enabled recruitment tool only recommended men</a:t>
            </a:r>
          </a:p>
        </p:txBody>
      </p:sp>
    </p:spTree>
    <p:extLst>
      <p:ext uri="{BB962C8B-B14F-4D97-AF65-F5344CB8AC3E}">
        <p14:creationId xmlns:p14="http://schemas.microsoft.com/office/powerpoint/2010/main" val="1111914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887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430</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cp:revision>
  <dcterms:created xsi:type="dcterms:W3CDTF">2026-09-25T02:37:34Z</dcterms:created>
  <dcterms:modified xsi:type="dcterms:W3CDTF">2026-10-14T18:28:40Z</dcterms:modified>
</cp:coreProperties>
</file>