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72" r:id="rId5"/>
    <p:sldId id="274" r:id="rId6"/>
    <p:sldId id="276" r:id="rId7"/>
    <p:sldId id="275" r:id="rId8"/>
    <p:sldId id="278" r:id="rId9"/>
    <p:sldId id="277" r:id="rId10"/>
    <p:sldId id="262" r:id="rId11"/>
    <p:sldId id="258" r:id="rId12"/>
    <p:sldId id="263" r:id="rId13"/>
    <p:sldId id="264" r:id="rId14"/>
    <p:sldId id="265" r:id="rId15"/>
    <p:sldId id="266" r:id="rId16"/>
    <p:sldId id="267" r:id="rId17"/>
    <p:sldId id="261" r:id="rId18"/>
    <p:sldId id="259" r:id="rId19"/>
    <p:sldId id="2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6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3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65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98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9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7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7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2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24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0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3E8DA-DB11-4D9E-BDED-2F055CAAA2E6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504E5-291F-4806-B344-D05E72B9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44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physiology/articles/10.3389/fphys.2021.808451/full#B35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ontiersin.org/journals/physiology/articles/10.3389/fphys.2021.808451/full#B80" TargetMode="External"/><Relationship Id="rId5" Type="http://schemas.openxmlformats.org/officeDocument/2006/relationships/hyperlink" Target="https://www.frontiersin.org/journals/physiology/articles/10.3389/fphys.2021.808451/full#B79" TargetMode="External"/><Relationship Id="rId4" Type="http://schemas.openxmlformats.org/officeDocument/2006/relationships/hyperlink" Target="https://www.frontiersin.org/journals/physiology/articles/10.3389/fphys.2021.808451/full#B12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AI-ML: </a:t>
            </a:r>
            <a:r>
              <a:rPr lang="en-US"/>
              <a:t>Overview of AI/ML in Biomedical Signal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9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186" y="150763"/>
            <a:ext cx="118872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Right </a:t>
            </a:r>
            <a:r>
              <a:rPr lang="en-US" sz="1200" dirty="0"/>
              <a:t>now, as you sit listening to me, your body is composing the most complex symphony ever written. Your heart is drumming a steady rhythm at roughly 70 beats per minute. Your brain is firing electrical impulses faster than lightning – about 100 billion neurons communicating through trillions of connections. Your muscles are making micro-adjustments to keep you upright, alert, engaged, look right or left.</a:t>
            </a:r>
          </a:p>
          <a:p>
            <a:endParaRPr lang="en-US" sz="1200" dirty="0"/>
          </a:p>
          <a:p>
            <a:r>
              <a:rPr lang="en-US" sz="1200" dirty="0"/>
              <a:t>And here's the fascinating part: </a:t>
            </a:r>
            <a:r>
              <a:rPr lang="en-US" sz="1200" b="1" dirty="0" smtClean="0"/>
              <a:t>every </a:t>
            </a:r>
            <a:r>
              <a:rPr lang="en-US" sz="1200" b="1" dirty="0"/>
              <a:t>single one of these actions is generating numbers</a:t>
            </a:r>
            <a:r>
              <a:rPr lang="en-US" sz="1200" b="1" dirty="0" smtClean="0"/>
              <a:t>. </a:t>
            </a:r>
            <a:r>
              <a:rPr lang="en-US" sz="1200" b="1" dirty="0"/>
              <a:t>Mathematical equations. Electrical signatures that are as unique</a:t>
            </a:r>
            <a:r>
              <a:rPr lang="en-US" sz="1200" dirty="0"/>
              <a:t> to you as your fingerprint.</a:t>
            </a:r>
          </a:p>
          <a:p>
            <a:endParaRPr lang="en-US" sz="1200" dirty="0"/>
          </a:p>
          <a:p>
            <a:r>
              <a:rPr lang="en-US" sz="1200" dirty="0"/>
              <a:t>When you smiled or laughed at something or someone – that created a specific electrical pattern. When your heart skipped slightly because you realized you forgot to do something that  u were supposed to do – that generated a distinct mathematical waveform. Even the tiny movement of your eyes as they track my words is producing measurable electrical signals.</a:t>
            </a:r>
          </a:p>
          <a:p>
            <a:endParaRPr lang="en-US" sz="1200" dirty="0"/>
          </a:p>
          <a:p>
            <a:r>
              <a:rPr lang="en-US" sz="1200" dirty="0" smtClean="0"/>
              <a:t>Your </a:t>
            </a:r>
            <a:r>
              <a:rPr lang="en-US" sz="1200" dirty="0"/>
              <a:t>body is the </a:t>
            </a:r>
            <a:r>
              <a:rPr lang="en-US" sz="1200" dirty="0" smtClean="0"/>
              <a:t>ultimate </a:t>
            </a:r>
            <a:r>
              <a:rPr lang="en-US" sz="1200" dirty="0"/>
              <a:t>sophisticated data generator on Earth? Every breath, every heartbeat, every thought, every emotion – they're all being translated into electrical signals that tell the story of who you are and how you're feeling at this very moment.</a:t>
            </a:r>
          </a:p>
          <a:p>
            <a:r>
              <a:rPr lang="en-US" sz="1200" b="1" dirty="0" smtClean="0"/>
              <a:t>This </a:t>
            </a:r>
            <a:r>
              <a:rPr lang="en-US" sz="1200" b="1" dirty="0"/>
              <a:t>is biomedical signal processing.</a:t>
            </a:r>
          </a:p>
          <a:p>
            <a:endParaRPr lang="en-US" sz="1200" dirty="0"/>
          </a:p>
          <a:p>
            <a:r>
              <a:rPr lang="en-US" sz="1200" dirty="0"/>
              <a:t>Your body speaks in the language of electricity:</a:t>
            </a:r>
          </a:p>
          <a:p>
            <a:r>
              <a:rPr lang="en-US" sz="1200" dirty="0" smtClean="0"/>
              <a:t>- </a:t>
            </a:r>
            <a:r>
              <a:rPr lang="en-US" sz="1200" b="1" dirty="0" smtClean="0"/>
              <a:t>Your heart </a:t>
            </a:r>
            <a:r>
              <a:rPr lang="en-US" sz="1200" b="1" dirty="0"/>
              <a:t>broadcasts its health status through ECG signals </a:t>
            </a:r>
            <a:r>
              <a:rPr lang="en-US" sz="1200" dirty="0"/>
              <a:t>– </a:t>
            </a:r>
            <a:r>
              <a:rPr lang="en-US" sz="1200" b="1" dirty="0" err="1"/>
              <a:t>ElectroCardioGrams</a:t>
            </a:r>
            <a:r>
              <a:rPr lang="en-US" sz="1200" dirty="0"/>
              <a:t> that reveal not just rhythm, but the story of your cardiovascular wellness</a:t>
            </a:r>
          </a:p>
          <a:p>
            <a:r>
              <a:rPr lang="en-US" sz="1200" dirty="0"/>
              <a:t>- </a:t>
            </a:r>
            <a:r>
              <a:rPr lang="en-US" sz="1200" b="1" dirty="0" smtClean="0"/>
              <a:t>Your brain </a:t>
            </a:r>
            <a:r>
              <a:rPr lang="en-US" sz="1200" b="1" dirty="0"/>
              <a:t>transmits its thoughts through EEG waves </a:t>
            </a:r>
            <a:r>
              <a:rPr lang="en-US" sz="1200" dirty="0"/>
              <a:t>– </a:t>
            </a:r>
            <a:r>
              <a:rPr lang="en-US" sz="1200" b="1" dirty="0" err="1"/>
              <a:t>ElectroEncephaloGrams</a:t>
            </a:r>
            <a:r>
              <a:rPr lang="en-US" sz="1200" dirty="0"/>
              <a:t> that can detect everything from sleep patterns to the onset of seizures</a:t>
            </a:r>
          </a:p>
          <a:p>
            <a:r>
              <a:rPr lang="en-US" sz="1200" dirty="0"/>
              <a:t>- </a:t>
            </a:r>
            <a:r>
              <a:rPr lang="en-US" sz="1200" b="1" dirty="0" smtClean="0"/>
              <a:t>Your muscles </a:t>
            </a:r>
            <a:r>
              <a:rPr lang="en-US" sz="1200" b="1" dirty="0"/>
              <a:t>communicate their strength and coordination through EMG signals </a:t>
            </a:r>
            <a:r>
              <a:rPr lang="en-US" sz="1200" dirty="0"/>
              <a:t>– </a:t>
            </a:r>
            <a:r>
              <a:rPr lang="en-US" sz="1200" b="1" dirty="0" err="1"/>
              <a:t>ElectroMyoGrams</a:t>
            </a:r>
            <a:r>
              <a:rPr lang="en-US" sz="1200" dirty="0"/>
              <a:t> that reveal movement, fatigue, and neurological health</a:t>
            </a:r>
          </a:p>
          <a:p>
            <a:r>
              <a:rPr lang="en-US" sz="1200" b="1" dirty="0" smtClean="0"/>
              <a:t>- Your </a:t>
            </a:r>
            <a:r>
              <a:rPr lang="en-US" sz="1200" b="1" dirty="0"/>
              <a:t>blood </a:t>
            </a:r>
            <a:r>
              <a:rPr lang="en-US" sz="1200" b="1" dirty="0" smtClean="0"/>
              <a:t>vessels </a:t>
            </a:r>
            <a:r>
              <a:rPr lang="en-US" sz="1200" b="1" dirty="0"/>
              <a:t>pulse with PPG signals </a:t>
            </a:r>
            <a:r>
              <a:rPr lang="en-US" sz="1200" dirty="0"/>
              <a:t>– </a:t>
            </a:r>
            <a:r>
              <a:rPr lang="en-US" sz="1200" b="1" dirty="0" err="1"/>
              <a:t>PhotoPlethysmoGrams</a:t>
            </a:r>
            <a:r>
              <a:rPr lang="en-US" sz="1200" dirty="0"/>
              <a:t> that monitor circulation and oxygen levels with every </a:t>
            </a:r>
            <a:r>
              <a:rPr lang="en-US" sz="1200" dirty="0" smtClean="0"/>
              <a:t>heartbeat</a:t>
            </a:r>
          </a:p>
          <a:p>
            <a:r>
              <a:rPr lang="en-US" sz="1200" b="1" dirty="0" smtClean="0"/>
              <a:t>- Your eyes generates EOG signals every time it moves</a:t>
            </a:r>
            <a:r>
              <a:rPr lang="en-US" sz="1200" dirty="0" smtClean="0"/>
              <a:t> </a:t>
            </a:r>
            <a:r>
              <a:rPr lang="en-US" sz="1200" dirty="0"/>
              <a:t>- </a:t>
            </a:r>
            <a:r>
              <a:rPr lang="en-US" sz="1200" b="1" dirty="0" err="1" smtClean="0"/>
              <a:t>ElectroOculoGraphy</a:t>
            </a:r>
            <a:r>
              <a:rPr lang="en-US" sz="1200" dirty="0" smtClean="0"/>
              <a:t> </a:t>
            </a:r>
            <a:r>
              <a:rPr lang="en-US" sz="1200" dirty="0"/>
              <a:t>monitors eye movement that helps in controlling external devices, detect micro sleep patterns, </a:t>
            </a:r>
            <a:r>
              <a:rPr lang="en-US" sz="1200" dirty="0" err="1"/>
              <a:t>etc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smtClean="0"/>
              <a:t>But </a:t>
            </a:r>
            <a:r>
              <a:rPr lang="en-US" sz="1200" dirty="0"/>
              <a:t>here's where it gets truly extraordinary: buried within these electrical whispers are </a:t>
            </a:r>
            <a:r>
              <a:rPr lang="en-US" sz="1200" dirty="0" smtClean="0"/>
              <a:t>patterns / secrets </a:t>
            </a:r>
            <a:r>
              <a:rPr lang="en-US" sz="1200" dirty="0"/>
              <a:t>that even the experienced doctors might miss with the naked eye. Subtle irregularities that could predict a heart attack weeks before symptoms appear. Brain wave anomalies that might signal Alzheimer's in its earliest stages. Muscle activation patterns that could prevent athletic injuries before they happen.</a:t>
            </a:r>
          </a:p>
          <a:p>
            <a:endParaRPr lang="en-US" sz="1200" dirty="0"/>
          </a:p>
          <a:p>
            <a:r>
              <a:rPr lang="en-US" sz="1200" dirty="0"/>
              <a:t>This is where artificial intelligence enters the story. Machine learning algorithms can now listen to your body's electricity and hear things we never could before – like having superhuman hearing that can </a:t>
            </a:r>
            <a:r>
              <a:rPr lang="en-US" sz="1200" b="1" dirty="0" smtClean="0"/>
              <a:t>understand</a:t>
            </a:r>
            <a:r>
              <a:rPr lang="en-US" sz="1200" dirty="0" smtClean="0"/>
              <a:t> </a:t>
            </a:r>
            <a:r>
              <a:rPr lang="en-US" sz="1200" dirty="0"/>
              <a:t>the faintest irregular/discordant note.</a:t>
            </a:r>
          </a:p>
          <a:p>
            <a:endParaRPr lang="en-US" sz="1200" dirty="0"/>
          </a:p>
          <a:p>
            <a:r>
              <a:rPr lang="en-US" sz="1200" dirty="0" smtClean="0"/>
              <a:t>Signal </a:t>
            </a:r>
            <a:r>
              <a:rPr lang="en-US" sz="1200" dirty="0"/>
              <a:t>processing techniques are transforming these raw electrical signals from your body into precise, actionable insights. We're not just treating diseases anymore – we're predicting them, preventing them, and personalizing treatments with accuracy.</a:t>
            </a:r>
          </a:p>
          <a:p>
            <a:endParaRPr lang="en-US" sz="1200" dirty="0"/>
          </a:p>
          <a:p>
            <a:r>
              <a:rPr lang="en-US" sz="1200" dirty="0" smtClean="0"/>
              <a:t>This is </a:t>
            </a:r>
            <a:r>
              <a:rPr lang="en-US" sz="1200" dirty="0"/>
              <a:t>where mathematics meets </a:t>
            </a:r>
            <a:r>
              <a:rPr lang="en-US" sz="1200" dirty="0" smtClean="0"/>
              <a:t>medicine. Where </a:t>
            </a:r>
            <a:r>
              <a:rPr lang="en-US" sz="1200" dirty="0"/>
              <a:t>algorithms can read your body's secrets, and where the future of healthcare is being written in the language of electrical signals.</a:t>
            </a:r>
          </a:p>
          <a:p>
            <a:endParaRPr lang="en-US" sz="1200" dirty="0"/>
          </a:p>
          <a:p>
            <a:r>
              <a:rPr lang="en-US" sz="1200" dirty="0"/>
              <a:t>Welcome to the fascinating world of biomedical signal processing – where your body's electrical whispers are becoming medicine's most powerful tool.</a:t>
            </a:r>
          </a:p>
        </p:txBody>
      </p:sp>
    </p:spTree>
    <p:extLst>
      <p:ext uri="{BB962C8B-B14F-4D97-AF65-F5344CB8AC3E}">
        <p14:creationId xmlns:p14="http://schemas.microsoft.com/office/powerpoint/2010/main" val="388424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ECG: See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4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556"/>
          </a:xfrm>
        </p:spPr>
        <p:txBody>
          <a:bodyPr/>
          <a:lstStyle/>
          <a:p>
            <a:r>
              <a:rPr lang="en-US" dirty="0" smtClean="0"/>
              <a:t>EEG (see slides)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29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2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EMG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630" y="1268585"/>
            <a:ext cx="8422547" cy="3143025"/>
          </a:xfrm>
        </p:spPr>
      </p:pic>
      <p:sp>
        <p:nvSpPr>
          <p:cNvPr id="5" name="TextBox 4"/>
          <p:cNvSpPr txBox="1"/>
          <p:nvPr/>
        </p:nvSpPr>
        <p:spPr>
          <a:xfrm>
            <a:off x="6535024" y="377504"/>
            <a:ext cx="394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https://www.youtube.com/watch?v=tn0DQzMeqXk</a:t>
            </a:r>
          </a:p>
        </p:txBody>
      </p:sp>
    </p:spTree>
    <p:extLst>
      <p:ext uri="{BB962C8B-B14F-4D97-AF65-F5344CB8AC3E}">
        <p14:creationId xmlns:p14="http://schemas.microsoft.com/office/powerpoint/2010/main" val="2775199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141" y="247680"/>
            <a:ext cx="4136472" cy="5912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EMG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50" y="1027729"/>
            <a:ext cx="6316910" cy="3668584"/>
          </a:xfrm>
        </p:spPr>
      </p:pic>
      <p:sp>
        <p:nvSpPr>
          <p:cNvPr id="5" name="TextBox 4"/>
          <p:cNvSpPr txBox="1"/>
          <p:nvPr/>
        </p:nvSpPr>
        <p:spPr>
          <a:xfrm>
            <a:off x="6535024" y="243280"/>
            <a:ext cx="394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https://www.youtube.com/watch?v=tn0DQzMeqXk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003" y="5025005"/>
            <a:ext cx="78353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1. Amplitude </a:t>
            </a:r>
            <a:r>
              <a:rPr lang="en-US" b="1" dirty="0"/>
              <a:t>(in µV or </a:t>
            </a:r>
            <a:r>
              <a:rPr lang="en-US" b="1" dirty="0" smtClean="0"/>
              <a:t>mV) i</a:t>
            </a:r>
            <a:r>
              <a:rPr lang="en-US" dirty="0" smtClean="0"/>
              <a:t>ndicates </a:t>
            </a:r>
            <a:r>
              <a:rPr lang="en-US" b="1" dirty="0"/>
              <a:t>muscle contraction strength</a:t>
            </a:r>
            <a:endParaRPr lang="en-US" dirty="0"/>
          </a:p>
          <a:p>
            <a:r>
              <a:rPr lang="en-US" dirty="0"/>
              <a:t>Higher amplitude → stronger contraction</a:t>
            </a:r>
          </a:p>
          <a:p>
            <a:r>
              <a:rPr lang="en-US" b="1" dirty="0" smtClean="0"/>
              <a:t>2. Muscle </a:t>
            </a:r>
            <a:r>
              <a:rPr lang="en-US" b="1" dirty="0"/>
              <a:t>Fatigue Indicators</a:t>
            </a:r>
          </a:p>
          <a:p>
            <a:r>
              <a:rPr lang="en-US" dirty="0"/>
              <a:t>As muscle fatigues:</a:t>
            </a:r>
          </a:p>
          <a:p>
            <a:pPr lvl="1"/>
            <a:r>
              <a:rPr lang="en-US" b="1" dirty="0"/>
              <a:t>Amplitude may increase</a:t>
            </a:r>
            <a:r>
              <a:rPr lang="en-US" dirty="0"/>
              <a:t> (more effort)</a:t>
            </a:r>
          </a:p>
          <a:p>
            <a:pPr lvl="1"/>
            <a:r>
              <a:rPr lang="en-US" b="1" dirty="0"/>
              <a:t>Median frequency decreases</a:t>
            </a:r>
            <a:r>
              <a:rPr lang="en-US" dirty="0"/>
              <a:t> (signal shifts to lower frequencies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913" y="1568435"/>
            <a:ext cx="3854865" cy="235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0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2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Type of EMG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Surface EMG (</a:t>
            </a:r>
            <a:r>
              <a:rPr lang="en-US" b="1" dirty="0" err="1"/>
              <a:t>sEMG</a:t>
            </a:r>
            <a:r>
              <a:rPr lang="en-US" b="1" dirty="0"/>
              <a:t>)</a:t>
            </a:r>
          </a:p>
          <a:p>
            <a:r>
              <a:rPr lang="en-US" dirty="0"/>
              <a:t>Non-invasive; electrodes are placed </a:t>
            </a:r>
            <a:r>
              <a:rPr lang="en-US" b="1" dirty="0"/>
              <a:t>on the skin</a:t>
            </a:r>
            <a:r>
              <a:rPr lang="en-US" dirty="0"/>
              <a:t>.</a:t>
            </a:r>
          </a:p>
          <a:p>
            <a:r>
              <a:rPr lang="en-US" dirty="0"/>
              <a:t>Used for large, superficial muscles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Intramuscular (Needle) EMG</a:t>
            </a:r>
          </a:p>
          <a:p>
            <a:r>
              <a:rPr lang="en-US" dirty="0"/>
              <a:t>Invasive; fine needle inserted into the muscle.</a:t>
            </a:r>
          </a:p>
          <a:p>
            <a:r>
              <a:rPr lang="en-US" dirty="0"/>
              <a:t>Used for </a:t>
            </a:r>
            <a:r>
              <a:rPr lang="en-US" b="1" dirty="0"/>
              <a:t>deep or small muscles</a:t>
            </a:r>
            <a:r>
              <a:rPr lang="en-US" dirty="0"/>
              <a:t> and </a:t>
            </a:r>
            <a:r>
              <a:rPr lang="en-US" b="1" dirty="0"/>
              <a:t>clinical diagnosis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358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72" y="256068"/>
            <a:ext cx="2626454" cy="465385"/>
          </a:xfrm>
        </p:spPr>
        <p:txBody>
          <a:bodyPr>
            <a:noAutofit/>
          </a:bodyPr>
          <a:lstStyle/>
          <a:p>
            <a:r>
              <a:rPr lang="en-US" sz="2800" dirty="0"/>
              <a:t>What is </a:t>
            </a:r>
            <a:r>
              <a:rPr lang="en-US" sz="2800" dirty="0" smtClean="0"/>
              <a:t>PPG?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446167" y="285226"/>
            <a:ext cx="71473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https://www.frontiersin.org/files/Articles/808451/fphys-12-808451-HTML/image_m/fphys-12-808451-g002.jpg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086" y="1527262"/>
            <a:ext cx="8699398" cy="1736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339" y="3875713"/>
            <a:ext cx="116459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Photoplethysmography</a:t>
            </a:r>
            <a:r>
              <a:rPr lang="en-US" dirty="0"/>
              <a:t> (PPG) is a non-invasive method for measuring blood volume changes in a microvascular bed of the skin based on </a:t>
            </a:r>
            <a:r>
              <a:rPr lang="en-US" b="1" dirty="0"/>
              <a:t>optical properties, such as absorption, scattering, and transmission</a:t>
            </a:r>
            <a:r>
              <a:rPr lang="en-US" dirty="0"/>
              <a:t> properties of human body composition under a specific light wavelength (</a:t>
            </a:r>
            <a:r>
              <a:rPr lang="en-US" dirty="0">
                <a:hlinkClick r:id="rId3"/>
              </a:rPr>
              <a:t>Challoner, 1979</a:t>
            </a:r>
            <a:r>
              <a:rPr lang="en-US" dirty="0"/>
              <a:t>). PPG is a compound word that consists of “photo,” meaning light; “</a:t>
            </a:r>
            <a:r>
              <a:rPr lang="en-US" dirty="0" err="1"/>
              <a:t>plethysmo</a:t>
            </a:r>
            <a:r>
              <a:rPr lang="en-US" dirty="0"/>
              <a:t>,” meaning volume; and “</a:t>
            </a:r>
            <a:r>
              <a:rPr lang="en-US" dirty="0" err="1"/>
              <a:t>graphy</a:t>
            </a:r>
            <a:r>
              <a:rPr lang="en-US" dirty="0"/>
              <a:t>,” meaning recording (</a:t>
            </a:r>
            <a:r>
              <a:rPr lang="en-US" dirty="0" err="1">
                <a:hlinkClick r:id="rId4"/>
              </a:rPr>
              <a:t>Alnaeb</a:t>
            </a:r>
            <a:r>
              <a:rPr lang="en-US" dirty="0">
                <a:hlinkClick r:id="rId4"/>
              </a:rPr>
              <a:t> et al., 2007</a:t>
            </a:r>
            <a:r>
              <a:rPr lang="en-US" dirty="0"/>
              <a:t>). In 1937, Hertzman found that the </a:t>
            </a:r>
            <a:r>
              <a:rPr lang="en-US" b="1" dirty="0"/>
              <a:t>amount of light detected by back scattering after irradiating light to the skin was significantly changed according to cardiac activity. </a:t>
            </a:r>
            <a:r>
              <a:rPr lang="en-US" dirty="0"/>
              <a:t>He suggested that PPG was a technique for measuring blood volume changes in a specific area irradiated with light (</a:t>
            </a:r>
            <a:r>
              <a:rPr lang="en-US" dirty="0">
                <a:hlinkClick r:id="rId5"/>
              </a:rPr>
              <a:t>Hertzman, 1937</a:t>
            </a:r>
            <a:r>
              <a:rPr lang="en-US" dirty="0"/>
              <a:t>, </a:t>
            </a:r>
            <a:r>
              <a:rPr lang="en-US" dirty="0">
                <a:hlinkClick r:id="rId6"/>
              </a:rPr>
              <a:t>1938</a:t>
            </a:r>
            <a:r>
              <a:rPr lang="en-US" dirty="0"/>
              <a:t>). PPG records the amount of light transmitted or reflected by the change in concentration of substances in the blood and the optical </a:t>
            </a:r>
            <a:r>
              <a:rPr lang="en-US" dirty="0" smtClean="0"/>
              <a:t>path.</a:t>
            </a:r>
          </a:p>
          <a:p>
            <a:endParaRPr lang="en-US" dirty="0"/>
          </a:p>
          <a:p>
            <a:r>
              <a:rPr lang="en-US" dirty="0"/>
              <a:t>Source: https://www.frontiersin.org/journals/physiology/articles/10.3389/fphys.2021.808451/full</a:t>
            </a:r>
          </a:p>
        </p:txBody>
      </p:sp>
    </p:spTree>
    <p:extLst>
      <p:ext uri="{BB962C8B-B14F-4D97-AF65-F5344CB8AC3E}">
        <p14:creationId xmlns:p14="http://schemas.microsoft.com/office/powerpoint/2010/main" val="339257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1353"/>
            <a:ext cx="6611224" cy="63316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Devices that measures PPG 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83728" y="205734"/>
            <a:ext cx="71288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https://www.researchgate.net/figure/Components-of-PPG-signal-waveform-for-healthy-young-subjects_fig5_277027133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03" y="3084525"/>
            <a:ext cx="68865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61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833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Role of AI/ML in Biomedical Signal Processing</a:t>
            </a:r>
          </a:p>
          <a:p>
            <a:pPr marL="0" indent="0">
              <a:buNone/>
            </a:pPr>
            <a:r>
              <a:rPr lang="en-US" dirty="0"/>
              <a:t>Machine Learning (ML) and Artificial Intelligence (AI) are used to:</a:t>
            </a:r>
          </a:p>
          <a:p>
            <a:r>
              <a:rPr lang="en-US" dirty="0"/>
              <a:t>Identify patterns in complex signals</a:t>
            </a:r>
          </a:p>
          <a:p>
            <a:r>
              <a:rPr lang="en-US" dirty="0"/>
              <a:t>Detect anomalies</a:t>
            </a:r>
          </a:p>
          <a:p>
            <a:r>
              <a:rPr lang="en-US" dirty="0"/>
              <a:t>Predict disease onset earlier than traditional methods</a:t>
            </a:r>
          </a:p>
          <a:p>
            <a:r>
              <a:rPr lang="en-US" dirty="0"/>
              <a:t>Reduce reliance on manual interpretation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883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16" y="105066"/>
            <a:ext cx="8649749" cy="448607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Early Disease </a:t>
            </a:r>
            <a:r>
              <a:rPr lang="en-US" sz="3200" b="1" dirty="0" smtClean="0"/>
              <a:t>Detection(p1)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415" y="768610"/>
            <a:ext cx="11745287" cy="370272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AI/ML </a:t>
            </a:r>
            <a:r>
              <a:rPr lang="en-US" dirty="0"/>
              <a:t>algorithms can analyze complex biomedical signals to identify subtle patterns and biomarkers associated with various diseases, enabling early intervention. </a:t>
            </a:r>
          </a:p>
          <a:p>
            <a:pPr marL="0" indent="0">
              <a:buNone/>
            </a:pPr>
            <a:r>
              <a:rPr lang="en-US" dirty="0" smtClean="0"/>
              <a:t>EXAMPLES:</a:t>
            </a:r>
          </a:p>
          <a:p>
            <a:pPr marL="0" indent="0">
              <a:buNone/>
            </a:pPr>
            <a:r>
              <a:rPr lang="en-US" b="1" dirty="0" smtClean="0"/>
              <a:t>A</a:t>
            </a:r>
            <a:r>
              <a:rPr lang="en-US" b="1" dirty="0"/>
              <a:t>. Cardiovascular Disease – ECG Analysis</a:t>
            </a:r>
          </a:p>
          <a:p>
            <a:pPr marL="0" indent="0">
              <a:buNone/>
            </a:pPr>
            <a:r>
              <a:rPr lang="en-US" b="1" dirty="0"/>
              <a:t>Signal Type</a:t>
            </a:r>
            <a:r>
              <a:rPr lang="en-US" dirty="0"/>
              <a:t>: ECG</a:t>
            </a:r>
            <a:br>
              <a:rPr lang="en-US" dirty="0"/>
            </a:br>
            <a:r>
              <a:rPr lang="en-US" b="1" dirty="0"/>
              <a:t>ML Task</a:t>
            </a:r>
            <a:r>
              <a:rPr lang="en-US" dirty="0"/>
              <a:t>: Classification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Using deep learning (like CNNs) to detect:</a:t>
            </a:r>
          </a:p>
          <a:p>
            <a:r>
              <a:rPr lang="en-US" dirty="0"/>
              <a:t>Atrial fibrillation</a:t>
            </a:r>
          </a:p>
          <a:p>
            <a:r>
              <a:rPr lang="en-US" dirty="0"/>
              <a:t>Myocardial infarction (heart attack)</a:t>
            </a:r>
          </a:p>
          <a:p>
            <a:r>
              <a:rPr lang="en-US" dirty="0"/>
              <a:t>Left ventricular hypertrophy</a:t>
            </a:r>
          </a:p>
          <a:p>
            <a:pPr marL="0" indent="0">
              <a:buNone/>
            </a:pPr>
            <a:r>
              <a:rPr lang="en-US" b="1" dirty="0"/>
              <a:t>Impact</a:t>
            </a:r>
            <a:r>
              <a:rPr lang="en-US" dirty="0"/>
              <a:t>: Early detection of arrhythmias helps in preventing strokes and sudden cardiac death.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42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16" y="105066"/>
            <a:ext cx="8649749" cy="448607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Early Disease </a:t>
            </a:r>
            <a:r>
              <a:rPr lang="en-US" sz="3200" b="1" dirty="0" smtClean="0"/>
              <a:t>Detection(p2)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415" y="768610"/>
            <a:ext cx="11745287" cy="3702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B. Epilepsy Detection – EEG </a:t>
            </a:r>
            <a:r>
              <a:rPr lang="en-US" b="1" dirty="0" smtClean="0"/>
              <a:t>Analysis (</a:t>
            </a:r>
            <a:r>
              <a:rPr lang="en-US" dirty="0" err="1" smtClean="0"/>
              <a:t>ElectroEncephaloGram</a:t>
            </a:r>
            <a:r>
              <a:rPr lang="en-US" dirty="0"/>
              <a:t>) – brain </a:t>
            </a:r>
            <a:r>
              <a:rPr lang="en-US" dirty="0" smtClean="0"/>
              <a:t>activity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Signal Type</a:t>
            </a:r>
            <a:r>
              <a:rPr lang="en-US" dirty="0"/>
              <a:t>: EEG</a:t>
            </a:r>
            <a:br>
              <a:rPr lang="en-US" dirty="0"/>
            </a:br>
            <a:r>
              <a:rPr lang="en-US" b="1" dirty="0"/>
              <a:t>ML Task</a:t>
            </a:r>
            <a:r>
              <a:rPr lang="en-US" dirty="0"/>
              <a:t>: Seizure prediction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Using RNNs or LSTMs to learn temporal patterns in EEG signals.</a:t>
            </a:r>
          </a:p>
          <a:p>
            <a:pPr marL="0" indent="0">
              <a:buNone/>
            </a:pPr>
            <a:r>
              <a:rPr lang="en-US" dirty="0" err="1"/>
              <a:t>Preictal</a:t>
            </a:r>
            <a:r>
              <a:rPr lang="en-US" dirty="0"/>
              <a:t> (before seizure) phases can be predicted, triggering alerts.</a:t>
            </a:r>
          </a:p>
          <a:p>
            <a:pPr marL="0" indent="0">
              <a:buNone/>
            </a:pPr>
            <a:r>
              <a:rPr lang="en-US" b="1" dirty="0"/>
              <a:t>Impact</a:t>
            </a:r>
            <a:r>
              <a:rPr lang="en-US" dirty="0"/>
              <a:t>: Helps patients manage epilepsy proactively.</a:t>
            </a:r>
          </a:p>
        </p:txBody>
      </p:sp>
    </p:spTree>
    <p:extLst>
      <p:ext uri="{BB962C8B-B14F-4D97-AF65-F5344CB8AC3E}">
        <p14:creationId xmlns:p14="http://schemas.microsoft.com/office/powerpoint/2010/main" val="2126472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16" y="105066"/>
            <a:ext cx="8649749" cy="448607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Early Disease </a:t>
            </a:r>
            <a:r>
              <a:rPr lang="en-US" sz="3200" b="1" dirty="0" smtClean="0"/>
              <a:t>Detection(p3)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415" y="768610"/>
            <a:ext cx="11745287" cy="37027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C. Sleep Disorders – EEG, EOG, </a:t>
            </a:r>
            <a:r>
              <a:rPr lang="en-US" b="1" dirty="0" smtClean="0"/>
              <a:t>EMG(</a:t>
            </a:r>
            <a:r>
              <a:rPr lang="en-US" dirty="0" err="1" smtClean="0"/>
              <a:t>ElectroEncephaloGram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??, ??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Signal Type</a:t>
            </a:r>
            <a:r>
              <a:rPr lang="en-US" dirty="0"/>
              <a:t>: EEG, EMG</a:t>
            </a:r>
            <a:br>
              <a:rPr lang="en-US" dirty="0"/>
            </a:br>
            <a:r>
              <a:rPr lang="en-US" b="1" dirty="0"/>
              <a:t>ML Task</a:t>
            </a:r>
            <a:r>
              <a:rPr lang="en-US" dirty="0"/>
              <a:t>: Sleep stage </a:t>
            </a:r>
            <a:r>
              <a:rPr lang="en-US" dirty="0" smtClean="0"/>
              <a:t>classification(</a:t>
            </a:r>
            <a:r>
              <a:rPr lang="en-US" dirty="0" smtClean="0">
                <a:solidFill>
                  <a:srgbClr val="FF0000"/>
                </a:solidFill>
              </a:rPr>
              <a:t>TODO: Talk about different class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Detecting REM Sleep Behavior Disorder (RBD) as an early sign of Parkinson’s Disease.</a:t>
            </a:r>
          </a:p>
          <a:p>
            <a:pPr marL="0" indent="0">
              <a:buNone/>
            </a:pPr>
            <a:r>
              <a:rPr lang="en-US" dirty="0"/>
              <a:t>Using ML to classify sleep stages and flag abnormalities.</a:t>
            </a:r>
          </a:p>
          <a:p>
            <a:pPr marL="0" indent="0">
              <a:buNone/>
            </a:pPr>
            <a:r>
              <a:rPr lang="en-US" b="1" dirty="0"/>
              <a:t>Impact</a:t>
            </a:r>
            <a:r>
              <a:rPr lang="en-US" dirty="0"/>
              <a:t>: Early neurological disorder diagnosis.</a:t>
            </a:r>
          </a:p>
        </p:txBody>
      </p:sp>
    </p:spTree>
    <p:extLst>
      <p:ext uri="{BB962C8B-B14F-4D97-AF65-F5344CB8AC3E}">
        <p14:creationId xmlns:p14="http://schemas.microsoft.com/office/powerpoint/2010/main" val="4250608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16" y="105066"/>
            <a:ext cx="8649749" cy="448607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Early Disease </a:t>
            </a:r>
            <a:r>
              <a:rPr lang="en-US" sz="3200" b="1" dirty="0" smtClean="0"/>
              <a:t>Detection(p4)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415" y="768610"/>
            <a:ext cx="11745287" cy="3702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D. Diabetes &amp; Cardiovascular Risk – </a:t>
            </a:r>
            <a:r>
              <a:rPr lang="en-US" b="1" dirty="0" smtClean="0"/>
              <a:t>PPG </a:t>
            </a:r>
            <a:r>
              <a:rPr lang="en-US" b="1" dirty="0"/>
              <a:t>&amp; Wearables</a:t>
            </a:r>
          </a:p>
          <a:p>
            <a:pPr marL="0" indent="0">
              <a:buNone/>
            </a:pPr>
            <a:r>
              <a:rPr lang="en-US" b="1" dirty="0"/>
              <a:t>Signal Type</a:t>
            </a:r>
            <a:r>
              <a:rPr lang="en-US" dirty="0"/>
              <a:t>: </a:t>
            </a:r>
            <a:r>
              <a:rPr lang="en-US" dirty="0" smtClean="0"/>
              <a:t>PPG(</a:t>
            </a:r>
            <a:r>
              <a:rPr lang="en-US" dirty="0" err="1"/>
              <a:t>PhotoPlethysmoGram</a:t>
            </a:r>
            <a:r>
              <a:rPr lang="en-US" dirty="0" smtClean="0"/>
              <a:t>) </a:t>
            </a:r>
            <a:r>
              <a:rPr lang="en-US" dirty="0"/>
              <a:t>from smartwatches</a:t>
            </a:r>
            <a:br>
              <a:rPr lang="en-US" dirty="0"/>
            </a:br>
            <a:r>
              <a:rPr lang="en-US" b="1" dirty="0"/>
              <a:t>ML Task</a:t>
            </a:r>
            <a:r>
              <a:rPr lang="en-US" dirty="0"/>
              <a:t>: Risk prediction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PPG signals analyzed using ML to monitor HRV (heart rate variability)</a:t>
            </a:r>
          </a:p>
          <a:p>
            <a:pPr marL="0" indent="0">
              <a:buNone/>
            </a:pPr>
            <a:r>
              <a:rPr lang="en-US" dirty="0"/>
              <a:t>Predict onset of hypertension or diabetes-related complications</a:t>
            </a:r>
          </a:p>
          <a:p>
            <a:pPr marL="0" indent="0">
              <a:buNone/>
            </a:pPr>
            <a:r>
              <a:rPr lang="en-US" b="1" dirty="0"/>
              <a:t>Impact</a:t>
            </a:r>
            <a:r>
              <a:rPr lang="en-US" dirty="0"/>
              <a:t>: Real-time, non-invasive health monitoring.</a:t>
            </a:r>
          </a:p>
        </p:txBody>
      </p:sp>
    </p:spTree>
    <p:extLst>
      <p:ext uri="{BB962C8B-B14F-4D97-AF65-F5344CB8AC3E}">
        <p14:creationId xmlns:p14="http://schemas.microsoft.com/office/powerpoint/2010/main" val="101968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16" y="105066"/>
            <a:ext cx="8649749" cy="448607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Early Disease </a:t>
            </a:r>
            <a:r>
              <a:rPr lang="en-US" sz="3200" b="1" dirty="0" smtClean="0"/>
              <a:t>Detection(p5)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415" y="768610"/>
            <a:ext cx="11745287" cy="3702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E. Alzheimer’s &amp; Dementia – </a:t>
            </a:r>
            <a:r>
              <a:rPr lang="en-US" b="1" dirty="0" smtClean="0"/>
              <a:t>EEG</a:t>
            </a:r>
            <a:r>
              <a:rPr lang="en-US" dirty="0"/>
              <a:t> (</a:t>
            </a:r>
            <a:r>
              <a:rPr lang="en-US" dirty="0" err="1"/>
              <a:t>ElectroEncephaloGram</a:t>
            </a:r>
            <a:r>
              <a:rPr lang="en-US" dirty="0"/>
              <a:t>)</a:t>
            </a:r>
            <a:r>
              <a:rPr lang="en-US" b="1" dirty="0" smtClean="0"/>
              <a:t> </a:t>
            </a:r>
            <a:r>
              <a:rPr lang="en-US" b="1" dirty="0"/>
              <a:t>or Gait Analysis</a:t>
            </a:r>
          </a:p>
          <a:p>
            <a:pPr marL="0" indent="0">
              <a:buNone/>
            </a:pPr>
            <a:r>
              <a:rPr lang="en-US" b="1" dirty="0"/>
              <a:t>Signal Type</a:t>
            </a:r>
            <a:r>
              <a:rPr lang="en-US" dirty="0"/>
              <a:t>: EEG / Movement sensors</a:t>
            </a:r>
            <a:br>
              <a:rPr lang="en-US" dirty="0"/>
            </a:br>
            <a:r>
              <a:rPr lang="en-US" b="1" dirty="0"/>
              <a:t>ML Task</a:t>
            </a:r>
            <a:r>
              <a:rPr lang="en-US" dirty="0"/>
              <a:t>: Cognitive impairment detection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EEG signal abnormalities during memory tasks</a:t>
            </a:r>
          </a:p>
          <a:p>
            <a:pPr marL="0" indent="0">
              <a:buNone/>
            </a:pPr>
            <a:r>
              <a:rPr lang="en-US" dirty="0"/>
              <a:t>ML models identifying early biomarkers</a:t>
            </a:r>
          </a:p>
          <a:p>
            <a:pPr marL="0" indent="0">
              <a:buNone/>
            </a:pPr>
            <a:r>
              <a:rPr lang="en-US" b="1" dirty="0"/>
              <a:t>Impact</a:t>
            </a:r>
            <a:r>
              <a:rPr lang="en-US" dirty="0"/>
              <a:t>: Early intervention before cognitive decline accelerates.</a:t>
            </a:r>
          </a:p>
        </p:txBody>
      </p:sp>
    </p:spTree>
    <p:extLst>
      <p:ext uri="{BB962C8B-B14F-4D97-AF65-F5344CB8AC3E}">
        <p14:creationId xmlns:p14="http://schemas.microsoft.com/office/powerpoint/2010/main" val="1842483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Techniques </a:t>
            </a:r>
            <a:r>
              <a:rPr lang="en-US" b="1" dirty="0" smtClean="0"/>
              <a:t>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Signal </a:t>
            </a:r>
            <a:r>
              <a:rPr lang="en-US" b="1" dirty="0" err="1"/>
              <a:t>Denoising</a:t>
            </a:r>
            <a:r>
              <a:rPr lang="en-US" dirty="0"/>
              <a:t>: Wavelet transforms, filtering</a:t>
            </a:r>
          </a:p>
          <a:p>
            <a:r>
              <a:rPr lang="en-US" b="1" dirty="0"/>
              <a:t>Feature Extraction</a:t>
            </a:r>
            <a:r>
              <a:rPr lang="en-US" dirty="0"/>
              <a:t>: Time-domain, frequency-domain, entropy features</a:t>
            </a:r>
          </a:p>
          <a:p>
            <a:r>
              <a:rPr lang="en-US" b="1" dirty="0"/>
              <a:t>ML Algorithms</a:t>
            </a:r>
            <a:r>
              <a:rPr lang="en-US" dirty="0"/>
              <a:t>: SVM, Random Forest, CNNs, RNNs</a:t>
            </a:r>
          </a:p>
          <a:p>
            <a:r>
              <a:rPr lang="en-US" b="1" dirty="0"/>
              <a:t>Deep Learning</a:t>
            </a:r>
            <a:r>
              <a:rPr lang="en-US" dirty="0"/>
              <a:t>: Especially useful with raw signal input and large data</a:t>
            </a:r>
          </a:p>
          <a:p>
            <a:r>
              <a:rPr lang="en-US" b="1" dirty="0"/>
              <a:t>Transfer Learning</a:t>
            </a:r>
            <a:r>
              <a:rPr lang="en-US" dirty="0"/>
              <a:t>: Adapting pre-trained models to medical signals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14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16" y="105066"/>
            <a:ext cx="8649749" cy="448607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Key Aspects of AI/ML in Biomedical Signal </a:t>
            </a:r>
            <a:r>
              <a:rPr lang="en-US" sz="3200" dirty="0" smtClean="0"/>
              <a:t>Processing</a:t>
            </a:r>
            <a:r>
              <a:rPr lang="en-US" sz="3200" dirty="0" smtClean="0">
                <a:sym typeface="Wingdings" panose="05000000000000000000" pitchFamily="2" charset="2"/>
              </a:rPr>
              <a:t>(p2)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4839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Improved </a:t>
            </a:r>
            <a:r>
              <a:rPr lang="en-US" b="1" dirty="0"/>
              <a:t>Accuracy and Efficiency:</a:t>
            </a:r>
            <a:endParaRPr lang="en-US" dirty="0"/>
          </a:p>
          <a:p>
            <a:pPr marL="0" indent="0" fontAlgn="ctr">
              <a:buNone/>
            </a:pPr>
            <a:r>
              <a:rPr lang="en-US" dirty="0"/>
              <a:t>By processing large volumes of data and learning from patterns, AI/ML models can enhance the accuracy and efficiency of diagnostic and monitoring processes. </a:t>
            </a:r>
          </a:p>
          <a:p>
            <a:r>
              <a:rPr lang="en-US" b="1" dirty="0"/>
              <a:t>Personalized Treatment Strategies:</a:t>
            </a:r>
            <a:endParaRPr lang="en-US" dirty="0"/>
          </a:p>
          <a:p>
            <a:pPr marL="0" indent="0" fontAlgn="ctr">
              <a:buNone/>
            </a:pPr>
            <a:r>
              <a:rPr lang="en-US" dirty="0"/>
              <a:t>AI/ML can help personalize treatment plans by identifying individual patient characteristics and predicting treatment outcomes. </a:t>
            </a:r>
          </a:p>
          <a:p>
            <a:r>
              <a:rPr lang="en-US" b="1" dirty="0"/>
              <a:t>Advanced Signal Processing Techniques:</a:t>
            </a:r>
            <a:endParaRPr lang="en-US" dirty="0"/>
          </a:p>
          <a:p>
            <a:pPr marL="0" indent="0" fontAlgn="ctr">
              <a:buNone/>
            </a:pPr>
            <a:r>
              <a:rPr lang="en-US" dirty="0"/>
              <a:t>AI/ML, particularly deep learning, has advanced various signal processing techniques, including imaging, SERS, and EEG analysis. </a:t>
            </a:r>
          </a:p>
          <a:p>
            <a:r>
              <a:rPr lang="en-US" b="1" dirty="0"/>
              <a:t>Diverse Applications: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AI/ML is used in various biomedical applications, including cardiovascular disease diagnosis, neurological disorder detection, and brain-computer interfaces.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110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559341" cy="532497"/>
          </a:xfrm>
        </p:spPr>
        <p:txBody>
          <a:bodyPr>
            <a:noAutofit/>
          </a:bodyPr>
          <a:lstStyle/>
          <a:p>
            <a:r>
              <a:rPr lang="en-US" sz="2400" dirty="0" smtClean="0"/>
              <a:t>Specific Examples: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1283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ECG Analysis:</a:t>
            </a:r>
            <a:endParaRPr lang="en-US" dirty="0"/>
          </a:p>
          <a:p>
            <a:pPr marL="0" indent="0" fontAlgn="ctr">
              <a:buNone/>
            </a:pPr>
            <a:r>
              <a:rPr lang="en-US" dirty="0"/>
              <a:t>AI/ML algorithms can be used to analyze ECG signals to identify cardiac arrhythmias, myocardial infarction, and other heart conditions. </a:t>
            </a:r>
          </a:p>
          <a:p>
            <a:r>
              <a:rPr lang="en-US" b="1" dirty="0"/>
              <a:t>EEG Analysis:</a:t>
            </a:r>
            <a:endParaRPr lang="en-US" dirty="0"/>
          </a:p>
          <a:p>
            <a:pPr marL="0" indent="0" fontAlgn="ctr">
              <a:buNone/>
            </a:pPr>
            <a:r>
              <a:rPr lang="en-US" dirty="0"/>
              <a:t>AI/ML can be used to analyze EEG signals for detecting seizures, cognitive states, and brain-computer interface (BCI) applications. </a:t>
            </a:r>
          </a:p>
          <a:p>
            <a:r>
              <a:rPr lang="en-US" b="1" dirty="0"/>
              <a:t>MRI Image Reconstruction:</a:t>
            </a:r>
            <a:endParaRPr lang="en-US" dirty="0"/>
          </a:p>
          <a:p>
            <a:pPr marL="0" indent="0" fontAlgn="ctr">
              <a:buNone/>
            </a:pPr>
            <a:r>
              <a:rPr lang="en-US" dirty="0"/>
              <a:t>AI/ML can enhance the quality and efficiency of MRI image reconstruction and analysis. </a:t>
            </a:r>
          </a:p>
          <a:p>
            <a:r>
              <a:rPr lang="en-US" b="1" dirty="0"/>
              <a:t>Imaging Data Analysis: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AI/ML can analyze medical images like X-rays and CT scans to identify early-stage diseases and aid in diagnosis.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867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0277"/>
          </a:xfrm>
        </p:spPr>
        <p:txBody>
          <a:bodyPr/>
          <a:lstStyle/>
          <a:p>
            <a:r>
              <a:rPr lang="en-US" dirty="0" smtClean="0"/>
              <a:t>Challenges and Future Directions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9731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Interpretability: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Understanding how AI/ML models make decisions is crucial for gaining trust and acceptance in the healthcare field.</a:t>
            </a:r>
          </a:p>
          <a:p>
            <a:r>
              <a:rPr lang="en-US" b="1" dirty="0"/>
              <a:t>Data Scarcity: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Obtaining large and diverse datasets for training AI/ML models can be challenging.</a:t>
            </a:r>
          </a:p>
          <a:p>
            <a:r>
              <a:rPr lang="en-US" b="1" dirty="0"/>
              <a:t>Ethical Considerations: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Ensuring fairness, privacy, and accountability in the use of AI/ML in healthcare is important.</a:t>
            </a:r>
          </a:p>
          <a:p>
            <a:r>
              <a:rPr lang="en-US" b="1" dirty="0"/>
              <a:t>Explainable AI (XAI):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Developing AI/ML models that are transparent and explainable is a key research direction.</a:t>
            </a:r>
          </a:p>
          <a:p>
            <a:r>
              <a:rPr lang="en-US" b="1" dirty="0"/>
              <a:t>Personalized Medicine: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Tailoring AI/ML models to individual patients' needs and characteristics is an important area of research.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85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1188</Words>
  <Application>Microsoft Office PowerPoint</Application>
  <PresentationFormat>Widescreen</PresentationFormat>
  <Paragraphs>134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AI-ML: Overview of AI/ML in Biomedical Signal Processing</vt:lpstr>
      <vt:lpstr>PowerPoint Presentation</vt:lpstr>
      <vt:lpstr>ECG: See slides</vt:lpstr>
      <vt:lpstr>EEG (see slides)</vt:lpstr>
      <vt:lpstr>What is EMG</vt:lpstr>
      <vt:lpstr>What is EMG</vt:lpstr>
      <vt:lpstr>Type of EMG</vt:lpstr>
      <vt:lpstr>What is PPG?</vt:lpstr>
      <vt:lpstr>Devices that measures PPG ?</vt:lpstr>
      <vt:lpstr>PowerPoint Presentation</vt:lpstr>
      <vt:lpstr>Early Disease Detection(p1)</vt:lpstr>
      <vt:lpstr>Early Disease Detection(p2)</vt:lpstr>
      <vt:lpstr>Early Disease Detection(p3)</vt:lpstr>
      <vt:lpstr>Early Disease Detection(p4)</vt:lpstr>
      <vt:lpstr>Early Disease Detection(p5)</vt:lpstr>
      <vt:lpstr>Techniques Used</vt:lpstr>
      <vt:lpstr>Key Aspects of AI/ML in Biomedical Signal Processing(p2)</vt:lpstr>
      <vt:lpstr>Specific Examples:</vt:lpstr>
      <vt:lpstr>Challenges and 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AI-ML in Biomedical</dc:title>
  <dc:creator>hi</dc:creator>
  <cp:lastModifiedBy>hi</cp:lastModifiedBy>
  <cp:revision>49</cp:revision>
  <dcterms:created xsi:type="dcterms:W3CDTF">2025-04-30T10:47:40Z</dcterms:created>
  <dcterms:modified xsi:type="dcterms:W3CDTF">2025-06-03T08:04:59Z</dcterms:modified>
</cp:coreProperties>
</file>