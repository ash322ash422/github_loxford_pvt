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95329F5-F857-461A-958C-4EA335E84952}"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401235-B935-4FD1-BE2C-F78C11B73FE9}" type="slidenum">
              <a:rPr lang="en-US" smtClean="0"/>
              <a:t>‹#›</a:t>
            </a:fld>
            <a:endParaRPr lang="en-US"/>
          </a:p>
        </p:txBody>
      </p:sp>
    </p:spTree>
    <p:extLst>
      <p:ext uri="{BB962C8B-B14F-4D97-AF65-F5344CB8AC3E}">
        <p14:creationId xmlns:p14="http://schemas.microsoft.com/office/powerpoint/2010/main" val="3095495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95329F5-F857-461A-958C-4EA335E84952}"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401235-B935-4FD1-BE2C-F78C11B73FE9}" type="slidenum">
              <a:rPr lang="en-US" smtClean="0"/>
              <a:t>‹#›</a:t>
            </a:fld>
            <a:endParaRPr lang="en-US"/>
          </a:p>
        </p:txBody>
      </p:sp>
    </p:spTree>
    <p:extLst>
      <p:ext uri="{BB962C8B-B14F-4D97-AF65-F5344CB8AC3E}">
        <p14:creationId xmlns:p14="http://schemas.microsoft.com/office/powerpoint/2010/main" val="3139936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95329F5-F857-461A-958C-4EA335E84952}"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401235-B935-4FD1-BE2C-F78C11B73FE9}" type="slidenum">
              <a:rPr lang="en-US" smtClean="0"/>
              <a:t>‹#›</a:t>
            </a:fld>
            <a:endParaRPr lang="en-US"/>
          </a:p>
        </p:txBody>
      </p:sp>
    </p:spTree>
    <p:extLst>
      <p:ext uri="{BB962C8B-B14F-4D97-AF65-F5344CB8AC3E}">
        <p14:creationId xmlns:p14="http://schemas.microsoft.com/office/powerpoint/2010/main" val="2028332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95329F5-F857-461A-958C-4EA335E84952}"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401235-B935-4FD1-BE2C-F78C11B73FE9}" type="slidenum">
              <a:rPr lang="en-US" smtClean="0"/>
              <a:t>‹#›</a:t>
            </a:fld>
            <a:endParaRPr lang="en-US"/>
          </a:p>
        </p:txBody>
      </p:sp>
    </p:spTree>
    <p:extLst>
      <p:ext uri="{BB962C8B-B14F-4D97-AF65-F5344CB8AC3E}">
        <p14:creationId xmlns:p14="http://schemas.microsoft.com/office/powerpoint/2010/main" val="2239502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95329F5-F857-461A-958C-4EA335E84952}" type="datetimeFigureOut">
              <a:rPr lang="en-US" smtClean="0"/>
              <a:t>4/30/2025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401235-B935-4FD1-BE2C-F78C11B73FE9}" type="slidenum">
              <a:rPr lang="en-US" smtClean="0"/>
              <a:t>‹#›</a:t>
            </a:fld>
            <a:endParaRPr lang="en-US"/>
          </a:p>
        </p:txBody>
      </p:sp>
    </p:spTree>
    <p:extLst>
      <p:ext uri="{BB962C8B-B14F-4D97-AF65-F5344CB8AC3E}">
        <p14:creationId xmlns:p14="http://schemas.microsoft.com/office/powerpoint/2010/main" val="2572655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95329F5-F857-461A-958C-4EA335E84952}" type="datetimeFigureOut">
              <a:rPr lang="en-US" smtClean="0"/>
              <a:t>4/30/2025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401235-B935-4FD1-BE2C-F78C11B73FE9}" type="slidenum">
              <a:rPr lang="en-US" smtClean="0"/>
              <a:t>‹#›</a:t>
            </a:fld>
            <a:endParaRPr lang="en-US"/>
          </a:p>
        </p:txBody>
      </p:sp>
    </p:spTree>
    <p:extLst>
      <p:ext uri="{BB962C8B-B14F-4D97-AF65-F5344CB8AC3E}">
        <p14:creationId xmlns:p14="http://schemas.microsoft.com/office/powerpoint/2010/main" val="972290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5329F5-F857-461A-958C-4EA335E84952}" type="datetimeFigureOut">
              <a:rPr lang="en-US" smtClean="0"/>
              <a:t>4/30/2025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401235-B935-4FD1-BE2C-F78C11B73FE9}" type="slidenum">
              <a:rPr lang="en-US" smtClean="0"/>
              <a:t>‹#›</a:t>
            </a:fld>
            <a:endParaRPr lang="en-US"/>
          </a:p>
        </p:txBody>
      </p:sp>
    </p:spTree>
    <p:extLst>
      <p:ext uri="{BB962C8B-B14F-4D97-AF65-F5344CB8AC3E}">
        <p14:creationId xmlns:p14="http://schemas.microsoft.com/office/powerpoint/2010/main" val="1036037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95329F5-F857-461A-958C-4EA335E84952}"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401235-B935-4FD1-BE2C-F78C11B73FE9}" type="slidenum">
              <a:rPr lang="en-US" smtClean="0"/>
              <a:t>‹#›</a:t>
            </a:fld>
            <a:endParaRPr lang="en-US"/>
          </a:p>
        </p:txBody>
      </p:sp>
    </p:spTree>
    <p:extLst>
      <p:ext uri="{BB962C8B-B14F-4D97-AF65-F5344CB8AC3E}">
        <p14:creationId xmlns:p14="http://schemas.microsoft.com/office/powerpoint/2010/main" val="600623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95329F5-F857-461A-958C-4EA335E84952}"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401235-B935-4FD1-BE2C-F78C11B73FE9}" type="slidenum">
              <a:rPr lang="en-US" smtClean="0"/>
              <a:t>‹#›</a:t>
            </a:fld>
            <a:endParaRPr lang="en-US"/>
          </a:p>
        </p:txBody>
      </p:sp>
    </p:spTree>
    <p:extLst>
      <p:ext uri="{BB962C8B-B14F-4D97-AF65-F5344CB8AC3E}">
        <p14:creationId xmlns:p14="http://schemas.microsoft.com/office/powerpoint/2010/main" val="2044157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95329F5-F857-461A-958C-4EA335E84952}"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401235-B935-4FD1-BE2C-F78C11B73FE9}" type="slidenum">
              <a:rPr lang="en-US" smtClean="0"/>
              <a:t>‹#›</a:t>
            </a:fld>
            <a:endParaRPr lang="en-US"/>
          </a:p>
        </p:txBody>
      </p:sp>
    </p:spTree>
    <p:extLst>
      <p:ext uri="{BB962C8B-B14F-4D97-AF65-F5344CB8AC3E}">
        <p14:creationId xmlns:p14="http://schemas.microsoft.com/office/powerpoint/2010/main" val="454236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95329F5-F857-461A-958C-4EA335E84952}"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401235-B935-4FD1-BE2C-F78C11B73FE9}" type="slidenum">
              <a:rPr lang="en-US" smtClean="0"/>
              <a:t>‹#›</a:t>
            </a:fld>
            <a:endParaRPr lang="en-US"/>
          </a:p>
        </p:txBody>
      </p:sp>
    </p:spTree>
    <p:extLst>
      <p:ext uri="{BB962C8B-B14F-4D97-AF65-F5344CB8AC3E}">
        <p14:creationId xmlns:p14="http://schemas.microsoft.com/office/powerpoint/2010/main" val="2153078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5329F5-F857-461A-958C-4EA335E84952}" type="datetimeFigureOut">
              <a:rPr lang="en-US" smtClean="0"/>
              <a:t>4/30/2025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401235-B935-4FD1-BE2C-F78C11B73FE9}" type="slidenum">
              <a:rPr lang="en-US" smtClean="0"/>
              <a:t>‹#›</a:t>
            </a:fld>
            <a:endParaRPr lang="en-US"/>
          </a:p>
        </p:txBody>
      </p:sp>
    </p:spTree>
    <p:extLst>
      <p:ext uri="{BB962C8B-B14F-4D97-AF65-F5344CB8AC3E}">
        <p14:creationId xmlns:p14="http://schemas.microsoft.com/office/powerpoint/2010/main" val="31561247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AI - </a:t>
            </a:r>
            <a:r>
              <a:rPr lang="en-US"/>
              <a:t>Biomedical Sensors and Data Acquisition</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579877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Biomedical sensors and data acquisition refer to the technology used to measure and collect biological signals and data from living organisms, often for medical purposes. These sensors, like those for heart rate or blood pressure, convert physiological data into electrical signals that can be processed and analyzed. Data acquisition systems then capture, amplify, and digitize these signals for further use in diagnostics, monitoring, and research. </a:t>
            </a:r>
            <a:endParaRPr lang="en-US" dirty="0"/>
          </a:p>
        </p:txBody>
      </p:sp>
    </p:spTree>
    <p:extLst>
      <p:ext uri="{BB962C8B-B14F-4D97-AF65-F5344CB8AC3E}">
        <p14:creationId xmlns:p14="http://schemas.microsoft.com/office/powerpoint/2010/main" val="1954118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Biomedical Sensors</a:t>
            </a:r>
            <a:r>
              <a:rPr lang="en-US" dirty="0" smtClean="0"/>
              <a:t>:</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endParaRPr lang="en-US" dirty="0"/>
          </a:p>
          <a:p>
            <a:pPr marL="0" indent="0">
              <a:buNone/>
            </a:pPr>
            <a:r>
              <a:rPr lang="en-US" b="1" dirty="0"/>
              <a:t>Function:</a:t>
            </a:r>
            <a:endParaRPr lang="en-US" dirty="0"/>
          </a:p>
          <a:p>
            <a:pPr fontAlgn="ctr"/>
            <a:r>
              <a:rPr lang="en-US" dirty="0"/>
              <a:t>Biomedical sensors are transducers that convert biological or physiological parameters (like temperature, pressure, electrical activity, etc.) into measurable electrical signals. </a:t>
            </a:r>
            <a:endParaRPr lang="en-US" dirty="0" smtClean="0"/>
          </a:p>
          <a:p>
            <a:pPr marL="0" indent="0" fontAlgn="ctr">
              <a:buNone/>
            </a:pPr>
            <a:endParaRPr lang="en-US" dirty="0"/>
          </a:p>
          <a:p>
            <a:pPr marL="0" indent="0">
              <a:buNone/>
            </a:pPr>
            <a:r>
              <a:rPr lang="en-US" b="1" dirty="0" smtClean="0"/>
              <a:t>Types: </a:t>
            </a:r>
            <a:r>
              <a:rPr lang="en-US" dirty="0" smtClean="0"/>
              <a:t>They </a:t>
            </a:r>
            <a:r>
              <a:rPr lang="en-US" dirty="0"/>
              <a:t>can be broadly classified into</a:t>
            </a:r>
            <a:r>
              <a:rPr lang="en-US" dirty="0" smtClean="0"/>
              <a:t>:</a:t>
            </a:r>
          </a:p>
          <a:p>
            <a:pPr fontAlgn="ctr"/>
            <a:r>
              <a:rPr lang="en-US" b="1" dirty="0" smtClean="0"/>
              <a:t>Physical </a:t>
            </a:r>
            <a:r>
              <a:rPr lang="en-US" b="1" dirty="0"/>
              <a:t>sensors:</a:t>
            </a:r>
            <a:r>
              <a:rPr lang="en-US" dirty="0"/>
              <a:t> Measure physical parameters like temperature, pressure, or motion. </a:t>
            </a:r>
          </a:p>
          <a:p>
            <a:pPr fontAlgn="ctr"/>
            <a:r>
              <a:rPr lang="en-US" b="1" dirty="0"/>
              <a:t>Chemical sensors:</a:t>
            </a:r>
            <a:r>
              <a:rPr lang="en-US" dirty="0"/>
              <a:t> Detect chemical concentrations in biological fluids. </a:t>
            </a:r>
          </a:p>
          <a:p>
            <a:pPr fontAlgn="ctr"/>
            <a:r>
              <a:rPr lang="en-US" b="1" dirty="0"/>
              <a:t>Biosensors:</a:t>
            </a:r>
            <a:r>
              <a:rPr lang="en-US" dirty="0"/>
              <a:t> Use biological components (like cells, enzymes, or antibodies) to detect specific molecules or substances. </a:t>
            </a:r>
            <a:endParaRPr lang="en-US" dirty="0" smtClean="0"/>
          </a:p>
          <a:p>
            <a:pPr marL="0" indent="0" fontAlgn="ctr">
              <a:buNone/>
            </a:pPr>
            <a:endParaRPr lang="en-US" dirty="0"/>
          </a:p>
          <a:p>
            <a:pPr marL="0" indent="0">
              <a:buNone/>
            </a:pPr>
            <a:r>
              <a:rPr lang="en-US" b="1" dirty="0"/>
              <a:t>Examples:</a:t>
            </a:r>
            <a:endParaRPr lang="en-US" dirty="0"/>
          </a:p>
          <a:p>
            <a:pPr marL="0" indent="0">
              <a:buNone/>
            </a:pPr>
            <a:r>
              <a:rPr lang="en-US" dirty="0"/>
              <a:t>Heart rate monitors, blood pressure cuffs, ECG electrodes, glucose sensors, and brain activity sensors (EEG). </a:t>
            </a:r>
          </a:p>
          <a:p>
            <a:endParaRPr lang="en-US" dirty="0"/>
          </a:p>
        </p:txBody>
      </p:sp>
    </p:spTree>
    <p:extLst>
      <p:ext uri="{BB962C8B-B14F-4D97-AF65-F5344CB8AC3E}">
        <p14:creationId xmlns:p14="http://schemas.microsoft.com/office/powerpoint/2010/main" val="3883083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3165"/>
          </a:xfrm>
        </p:spPr>
        <p:txBody>
          <a:bodyPr>
            <a:normAutofit fontScale="90000"/>
          </a:bodyPr>
          <a:lstStyle/>
          <a:p>
            <a:r>
              <a:rPr lang="en-US" dirty="0" smtClean="0"/>
              <a:t>Data </a:t>
            </a:r>
            <a:r>
              <a:rPr lang="en-US" dirty="0"/>
              <a:t>Acquisition Systems:</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b="1" dirty="0"/>
              <a:t>Function:</a:t>
            </a:r>
            <a:endParaRPr lang="en-US" dirty="0"/>
          </a:p>
          <a:p>
            <a:pPr marL="0" indent="0" fontAlgn="ctr">
              <a:buNone/>
            </a:pPr>
            <a:r>
              <a:rPr lang="en-US" dirty="0"/>
              <a:t>Data acquisition (DAQ) systems are the electronic systems that collect, condition, and digitize the signals produced by biomedical sensors. </a:t>
            </a:r>
          </a:p>
          <a:p>
            <a:pPr marL="0" indent="0">
              <a:buNone/>
            </a:pPr>
            <a:r>
              <a:rPr lang="en-US" b="1" dirty="0"/>
              <a:t>Key components:</a:t>
            </a:r>
            <a:endParaRPr lang="en-US" dirty="0"/>
          </a:p>
          <a:p>
            <a:pPr fontAlgn="ctr"/>
            <a:r>
              <a:rPr lang="en-US" b="1" dirty="0"/>
              <a:t>Amplifiers:</a:t>
            </a:r>
            <a:r>
              <a:rPr lang="en-US" dirty="0"/>
              <a:t> Increase the strength of the sensor's output signal. </a:t>
            </a:r>
          </a:p>
          <a:p>
            <a:pPr fontAlgn="ctr"/>
            <a:r>
              <a:rPr lang="en-US" b="1" dirty="0"/>
              <a:t>Analog-to-digital converters (ADCs):</a:t>
            </a:r>
            <a:r>
              <a:rPr lang="en-US" dirty="0"/>
              <a:t> Convert the analog (continuous) signals into digital (discrete) signals that computers can process. </a:t>
            </a:r>
          </a:p>
          <a:p>
            <a:pPr fontAlgn="ctr"/>
            <a:r>
              <a:rPr lang="en-US" b="1" dirty="0"/>
              <a:t>Microcontrollers or computers:</a:t>
            </a:r>
            <a:r>
              <a:rPr lang="en-US" dirty="0"/>
              <a:t> Manage the data acquisition process, store the data, and potentially perform initial analysis. </a:t>
            </a:r>
          </a:p>
          <a:p>
            <a:pPr marL="0" indent="0">
              <a:buNone/>
            </a:pPr>
            <a:r>
              <a:rPr lang="en-US" b="1" dirty="0"/>
              <a:t>Examples:</a:t>
            </a:r>
            <a:endParaRPr lang="en-US" dirty="0"/>
          </a:p>
          <a:p>
            <a:r>
              <a:rPr lang="en-US" dirty="0"/>
              <a:t>DAQ boards for collecting ECG signals, portable devices for monitoring blood glucose levels, and research setups for collecting brain activity data. </a:t>
            </a:r>
          </a:p>
          <a:p>
            <a:endParaRPr lang="en-US" dirty="0"/>
          </a:p>
        </p:txBody>
      </p:sp>
    </p:spTree>
    <p:extLst>
      <p:ext uri="{BB962C8B-B14F-4D97-AF65-F5344CB8AC3E}">
        <p14:creationId xmlns:p14="http://schemas.microsoft.com/office/powerpoint/2010/main" val="3164418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3045903" cy="373106"/>
          </a:xfrm>
        </p:spPr>
        <p:txBody>
          <a:bodyPr>
            <a:normAutofit fontScale="90000"/>
          </a:bodyPr>
          <a:lstStyle/>
          <a:p>
            <a:r>
              <a:rPr lang="en-US" dirty="0"/>
              <a:t>Applications:</a:t>
            </a:r>
          </a:p>
        </p:txBody>
      </p:sp>
      <p:sp>
        <p:nvSpPr>
          <p:cNvPr id="3" name="Content Placeholder 2"/>
          <p:cNvSpPr>
            <a:spLocks noGrp="1"/>
          </p:cNvSpPr>
          <p:nvPr>
            <p:ph idx="1"/>
          </p:nvPr>
        </p:nvSpPr>
        <p:spPr/>
        <p:txBody>
          <a:bodyPr>
            <a:normAutofit/>
          </a:bodyPr>
          <a:lstStyle/>
          <a:p>
            <a:pPr marL="0" indent="0">
              <a:buNone/>
            </a:pPr>
            <a:endParaRPr lang="en-US" dirty="0"/>
          </a:p>
          <a:p>
            <a:pPr marL="0" indent="0">
              <a:buNone/>
            </a:pPr>
            <a:r>
              <a:rPr lang="en-US" b="1" dirty="0"/>
              <a:t>Clinical </a:t>
            </a:r>
            <a:r>
              <a:rPr lang="en-US" b="1" dirty="0" smtClean="0"/>
              <a:t>diagnostics: </a:t>
            </a:r>
            <a:r>
              <a:rPr lang="en-US" dirty="0" smtClean="0"/>
              <a:t>Monitoring </a:t>
            </a:r>
            <a:r>
              <a:rPr lang="en-US" dirty="0"/>
              <a:t>vital signs, detecting diseases, and guiding treatment decisions. </a:t>
            </a:r>
          </a:p>
          <a:p>
            <a:pPr marL="0" indent="0">
              <a:buNone/>
            </a:pPr>
            <a:r>
              <a:rPr lang="en-US" b="1" dirty="0"/>
              <a:t>Patient </a:t>
            </a:r>
            <a:r>
              <a:rPr lang="en-US" b="1" dirty="0" smtClean="0"/>
              <a:t>monitoring: </a:t>
            </a:r>
            <a:r>
              <a:rPr lang="en-US" dirty="0" smtClean="0"/>
              <a:t>Tracking </a:t>
            </a:r>
            <a:r>
              <a:rPr lang="en-US" dirty="0"/>
              <a:t>patients' physiological parameters in hospitals and during home care. </a:t>
            </a:r>
          </a:p>
          <a:p>
            <a:pPr marL="0" indent="0">
              <a:buNone/>
            </a:pPr>
            <a:r>
              <a:rPr lang="en-US" b="1" dirty="0"/>
              <a:t>Medical </a:t>
            </a:r>
            <a:r>
              <a:rPr lang="en-US" b="1" dirty="0" smtClean="0"/>
              <a:t>research: </a:t>
            </a:r>
            <a:r>
              <a:rPr lang="en-US" dirty="0" smtClean="0"/>
              <a:t>Studying </a:t>
            </a:r>
            <a:r>
              <a:rPr lang="en-US" dirty="0"/>
              <a:t>physiological processes, developing new therapies, and understanding disease mechanisms. </a:t>
            </a:r>
          </a:p>
          <a:p>
            <a:pPr marL="0" indent="0">
              <a:buNone/>
            </a:pPr>
            <a:r>
              <a:rPr lang="en-US" b="1" dirty="0"/>
              <a:t>Wearable health </a:t>
            </a:r>
            <a:r>
              <a:rPr lang="en-US" b="1" dirty="0" smtClean="0"/>
              <a:t>technologies: </a:t>
            </a:r>
            <a:r>
              <a:rPr lang="en-US" dirty="0" smtClean="0"/>
              <a:t>Personalized </a:t>
            </a:r>
            <a:r>
              <a:rPr lang="en-US" dirty="0"/>
              <a:t>health tracking and remote monitoring. </a:t>
            </a:r>
          </a:p>
          <a:p>
            <a:endParaRPr lang="en-US" dirty="0"/>
          </a:p>
        </p:txBody>
      </p:sp>
    </p:spTree>
    <p:extLst>
      <p:ext uri="{BB962C8B-B14F-4D97-AF65-F5344CB8AC3E}">
        <p14:creationId xmlns:p14="http://schemas.microsoft.com/office/powerpoint/2010/main" val="643989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4102916" cy="591220"/>
          </a:xfrm>
        </p:spPr>
        <p:txBody>
          <a:bodyPr>
            <a:normAutofit fontScale="90000"/>
          </a:bodyPr>
          <a:lstStyle/>
          <a:p>
            <a:r>
              <a:rPr lang="en-US" dirty="0"/>
              <a:t>Key Considerations</a:t>
            </a:r>
          </a:p>
        </p:txBody>
      </p:sp>
      <p:sp>
        <p:nvSpPr>
          <p:cNvPr id="3" name="Content Placeholder 2"/>
          <p:cNvSpPr>
            <a:spLocks noGrp="1"/>
          </p:cNvSpPr>
          <p:nvPr>
            <p:ph idx="1"/>
          </p:nvPr>
        </p:nvSpPr>
        <p:spPr/>
        <p:txBody>
          <a:bodyPr>
            <a:normAutofit fontScale="92500"/>
          </a:bodyPr>
          <a:lstStyle/>
          <a:p>
            <a:pPr fontAlgn="ctr"/>
            <a:r>
              <a:rPr lang="en-US" b="1" dirty="0" smtClean="0"/>
              <a:t>Accuracy </a:t>
            </a:r>
            <a:r>
              <a:rPr lang="en-US" b="1" dirty="0"/>
              <a:t>and precision:</a:t>
            </a:r>
            <a:r>
              <a:rPr lang="en-US" dirty="0"/>
              <a:t> The sensor and DAQ system should accurately and precisely measure the physiological parameters. </a:t>
            </a:r>
          </a:p>
          <a:p>
            <a:pPr fontAlgn="ctr"/>
            <a:r>
              <a:rPr lang="en-US" b="1" dirty="0"/>
              <a:t>Sensitivity and resolution:</a:t>
            </a:r>
            <a:r>
              <a:rPr lang="en-US" dirty="0"/>
              <a:t> The sensor should be sensitive enough to detect small changes in the physiological parameters and have sufficient resolution to distinguish between different levels of these parameters. </a:t>
            </a:r>
          </a:p>
          <a:p>
            <a:pPr fontAlgn="ctr"/>
            <a:r>
              <a:rPr lang="en-US" b="1" dirty="0"/>
              <a:t>Safety:</a:t>
            </a:r>
            <a:r>
              <a:rPr lang="en-US" dirty="0"/>
              <a:t> Biomedical sensors and DAQ systems should be safe for patients and users. </a:t>
            </a:r>
          </a:p>
          <a:p>
            <a:pPr fontAlgn="ctr"/>
            <a:r>
              <a:rPr lang="en-US" b="1" dirty="0"/>
              <a:t>Cost-effectiveness:</a:t>
            </a:r>
            <a:r>
              <a:rPr lang="en-US" dirty="0"/>
              <a:t> The technology should be affordable and accessible. </a:t>
            </a:r>
          </a:p>
          <a:p>
            <a:r>
              <a:rPr lang="en-US" b="1" dirty="0"/>
              <a:t>Biocompatibility:</a:t>
            </a:r>
            <a:r>
              <a:rPr lang="en-US" dirty="0"/>
              <a:t> Sensors and materials used in contact with the body should be biocompatible, says a review on biomedical sensors. </a:t>
            </a:r>
          </a:p>
          <a:p>
            <a:endParaRPr lang="en-US" dirty="0"/>
          </a:p>
        </p:txBody>
      </p:sp>
    </p:spTree>
    <p:extLst>
      <p:ext uri="{BB962C8B-B14F-4D97-AF65-F5344CB8AC3E}">
        <p14:creationId xmlns:p14="http://schemas.microsoft.com/office/powerpoint/2010/main" val="14451170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96</Words>
  <Application>Microsoft Office PowerPoint</Application>
  <PresentationFormat>Widescreen</PresentationFormat>
  <Paragraphs>35</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AI - Biomedical Sensors and Data Acquisition</vt:lpstr>
      <vt:lpstr>PowerPoint Presentation</vt:lpstr>
      <vt:lpstr>Biomedical Sensors:</vt:lpstr>
      <vt:lpstr>Data Acquisition Systems:</vt:lpstr>
      <vt:lpstr>Applications:</vt:lpstr>
      <vt:lpstr>Key Considerations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 Biomedical Sensors and Data Acquisition</dc:title>
  <dc:creator>hi</dc:creator>
  <cp:lastModifiedBy>hi</cp:lastModifiedBy>
  <cp:revision>8</cp:revision>
  <dcterms:created xsi:type="dcterms:W3CDTF">2025-04-30T12:43:46Z</dcterms:created>
  <dcterms:modified xsi:type="dcterms:W3CDTF">2025-04-30T12:57:15Z</dcterms:modified>
</cp:coreProperties>
</file>