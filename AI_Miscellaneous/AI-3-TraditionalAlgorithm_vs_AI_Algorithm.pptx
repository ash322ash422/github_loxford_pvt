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76" r:id="rId2"/>
    <p:sldId id="257" r:id="rId3"/>
    <p:sldId id="279" r:id="rId4"/>
    <p:sldId id="277" r:id="rId5"/>
    <p:sldId id="278" r:id="rId6"/>
    <p:sldId id="280" r:id="rId7"/>
    <p:sldId id="281" r:id="rId8"/>
    <p:sldId id="282" r:id="rId9"/>
    <p:sldId id="284" r:id="rId10"/>
    <p:sldId id="285" r:id="rId11"/>
    <p:sldId id="275" r:id="rId12"/>
    <p:sldId id="283" r:id="rId13"/>
    <p:sldId id="286" r:id="rId14"/>
    <p:sldId id="287" r:id="rId15"/>
    <p:sldId id="288" r:id="rId16"/>
    <p:sldId id="289" r:id="rId17"/>
    <p:sldId id="296" r:id="rId18"/>
    <p:sldId id="290" r:id="rId19"/>
    <p:sldId id="291" r:id="rId20"/>
    <p:sldId id="297" r:id="rId21"/>
    <p:sldId id="292" r:id="rId22"/>
    <p:sldId id="293" r:id="rId23"/>
    <p:sldId id="294" r:id="rId24"/>
    <p:sldId id="29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4D434B-D926-D91F-8DDE-EA8DD4BF2658}"/>
              </a:ext>
            </a:extLst>
          </p:cNvPr>
          <p:cNvSpPr txBox="1"/>
          <p:nvPr/>
        </p:nvSpPr>
        <p:spPr>
          <a:xfrm>
            <a:off x="621792" y="1579859"/>
            <a:ext cx="10135362" cy="1992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difference between the type of problems that are solved by </a:t>
            </a:r>
          </a:p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raditional Algorithm </a:t>
            </a:r>
          </a:p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versus </a:t>
            </a:r>
          </a:p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AI/ML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3EE3E-466C-D93C-98A4-CC6C57164A31}"/>
              </a:ext>
            </a:extLst>
          </p:cNvPr>
          <p:cNvSpPr txBox="1"/>
          <p:nvPr/>
        </p:nvSpPr>
        <p:spPr>
          <a:xfrm>
            <a:off x="3012948" y="3241224"/>
            <a:ext cx="6190488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PART1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895B-68FB-B714-7CF9-187A53493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AE671F-38C3-3F84-2FE3-F4F29A53B473}"/>
              </a:ext>
            </a:extLst>
          </p:cNvPr>
          <p:cNvSpPr txBox="1"/>
          <p:nvPr/>
        </p:nvSpPr>
        <p:spPr>
          <a:xfrm>
            <a:off x="2116836" y="2473128"/>
            <a:ext cx="83256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  <a:ea typeface="Times New Roman" panose="02020603050405020304" pitchFamily="18" charset="0"/>
              </a:rPr>
              <a:t>When Are Traditional algorithms Superior ?</a:t>
            </a:r>
          </a:p>
        </p:txBody>
      </p:sp>
    </p:spTree>
    <p:extLst>
      <p:ext uri="{BB962C8B-B14F-4D97-AF65-F5344CB8AC3E}">
        <p14:creationId xmlns:p14="http://schemas.microsoft.com/office/powerpoint/2010/main" val="298446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7AD99-7E82-B733-03F5-B724AC702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B8C80A-9694-F500-4DF2-CBA44AFBC99A}"/>
              </a:ext>
            </a:extLst>
          </p:cNvPr>
          <p:cNvSpPr txBox="1"/>
          <p:nvPr/>
        </p:nvSpPr>
        <p:spPr>
          <a:xfrm>
            <a:off x="1819656" y="1353027"/>
            <a:ext cx="9957816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 Body"/>
                <a:ea typeface="Calibri" panose="020F0502020204030204" pitchFamily="34" charset="0"/>
                <a:cs typeface="Times New Roman" panose="02020603050405020304" pitchFamily="18" charset="0"/>
              </a:rPr>
              <a:t>a) The problem has clear, explicit rules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 Body"/>
                <a:ea typeface="Calibri" panose="020F0502020204030204" pitchFamily="34" charset="0"/>
                <a:cs typeface="Times New Roman" panose="02020603050405020304" pitchFamily="18" charset="0"/>
              </a:rPr>
              <a:t> that can be precisely defined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807A3-ED89-395F-DE89-EC7948AD8409}"/>
              </a:ext>
            </a:extLst>
          </p:cNvPr>
          <p:cNvSpPr txBox="1"/>
          <p:nvPr/>
        </p:nvSpPr>
        <p:spPr>
          <a:xfrm>
            <a:off x="315468" y="2019756"/>
            <a:ext cx="6752844" cy="374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Sorting algorithms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 Sort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Sort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Bubble Sort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problems have strict rules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"place smaller elements before larger ones")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can be solved efficiently with deterministic logic.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2, 4, 6, 2, 6 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2, 2, 4, 6, 6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FDB5B-85EB-EFA9-B9F2-4A3A2787A8FC}"/>
              </a:ext>
            </a:extLst>
          </p:cNvPr>
          <p:cNvSpPr txBox="1"/>
          <p:nvPr/>
        </p:nvSpPr>
        <p:spPr>
          <a:xfrm>
            <a:off x="7802880" y="3306679"/>
            <a:ext cx="4256532" cy="1963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Mathematical calculations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Interest = 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R x 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Voltage = I x R,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40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9C21B-A9EC-ECCC-8F89-3EB1C1B9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620DE1-1387-7D75-902A-8C38923F1793}"/>
              </a:ext>
            </a:extLst>
          </p:cNvPr>
          <p:cNvSpPr txBox="1"/>
          <p:nvPr/>
        </p:nvSpPr>
        <p:spPr>
          <a:xfrm>
            <a:off x="630936" y="1196292"/>
            <a:ext cx="10195560" cy="52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b) Complete accuracy is required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 with no room for probabilistic outcomes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Body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Body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Example: Encryption/decryption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Cryptographic algorithms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RSA encryption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SHA-256 hashing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Security demands precise, repeatable outcomes — there's no tolerance for approximation or probabilistic errors.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Body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Example: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Database queries -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 Finding exact matches in structured data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Why: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When querying a database (e.g., SELECT * FROM users WHERE id = 123), you're expecting an exact, deterministic match. Any fuzziness would be incorrect in this context.</a:t>
            </a:r>
          </a:p>
        </p:txBody>
      </p:sp>
    </p:spTree>
    <p:extLst>
      <p:ext uri="{BB962C8B-B14F-4D97-AF65-F5344CB8AC3E}">
        <p14:creationId xmlns:p14="http://schemas.microsoft.com/office/powerpoint/2010/main" val="26845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0F55-E0CD-E8E0-6997-24183FE2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B56E76-6718-BDB6-E87A-3D2092EDBF9B}"/>
              </a:ext>
            </a:extLst>
          </p:cNvPr>
          <p:cNvSpPr txBox="1"/>
          <p:nvPr/>
        </p:nvSpPr>
        <p:spPr>
          <a:xfrm>
            <a:off x="475488" y="1720840"/>
            <a:ext cx="10195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The solution path is well-understood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can be explicitly programmed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Pathfinding in a grid-based game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A*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Dijkstra’s algorithm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optimal path can be deterministically computed using known algorithms without needing to learn from data.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Path-finding with known constraints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Like GPS navigation with defined roads</a:t>
            </a:r>
          </a:p>
        </p:txBody>
      </p:sp>
    </p:spTree>
    <p:extLst>
      <p:ext uri="{BB962C8B-B14F-4D97-AF65-F5344CB8AC3E}">
        <p14:creationId xmlns:p14="http://schemas.microsoft.com/office/powerpoint/2010/main" val="96336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C6902-EBEB-A3BD-7EF8-26BED6297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0BF4CC-ED46-F606-4BD3-CBA135DE11FB}"/>
              </a:ext>
            </a:extLst>
          </p:cNvPr>
          <p:cNvSpPr txBox="1"/>
          <p:nvPr/>
        </p:nvSpPr>
        <p:spPr>
          <a:xfrm>
            <a:off x="740664" y="1461468"/>
            <a:ext cx="10195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The problem space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relatively small or constrained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Sudoku solvers(or Tic-Tac-Toe)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backtracking algorithms.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the space of possibilities is finite and relatively small, exhaustive or optimized deterministic techniques perform well.</a:t>
            </a:r>
          </a:p>
        </p:txBody>
      </p:sp>
    </p:spTree>
    <p:extLst>
      <p:ext uri="{BB962C8B-B14F-4D97-AF65-F5344CB8AC3E}">
        <p14:creationId xmlns:p14="http://schemas.microsoft.com/office/powerpoint/2010/main" val="65519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ADDD5-C4F7-1DCA-E53A-F4E15C3C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C4C5E3-81F2-4994-D5E5-C0D6F3B7A1DB}"/>
              </a:ext>
            </a:extLst>
          </p:cNvPr>
          <p:cNvSpPr txBox="1"/>
          <p:nvPr/>
        </p:nvSpPr>
        <p:spPr>
          <a:xfrm>
            <a:off x="91440" y="1434036"/>
            <a:ext cx="101955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e) Explainability and transparency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critical requirements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Tax calculation software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fixed rules from tax laws.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Auditors and users need to see the exact steps, logic, and formulas used, which rule-based algorithms can clearly provide.</a:t>
            </a:r>
          </a:p>
        </p:txBody>
      </p:sp>
    </p:spTree>
    <p:extLst>
      <p:ext uri="{BB962C8B-B14F-4D97-AF65-F5344CB8AC3E}">
        <p14:creationId xmlns:p14="http://schemas.microsoft.com/office/powerpoint/2010/main" val="119298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2E068-2B8B-2FD3-D3C8-7850FF4F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EF0D3C-6653-FAC3-A4A2-BB8493EFFB6F}"/>
              </a:ext>
            </a:extLst>
          </p:cNvPr>
          <p:cNvSpPr txBox="1"/>
          <p:nvPr/>
        </p:nvSpPr>
        <p:spPr>
          <a:xfrm>
            <a:off x="210312" y="2385012"/>
            <a:ext cx="10195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Cases where it may seem that AI is needed but is not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029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24DDB-52D9-2B80-43F7-E8DD57CBF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D91DA0-2FE6-980B-DE23-526BF33AE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54" y="1417320"/>
            <a:ext cx="10745479" cy="468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9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7B899-512E-214F-E06E-7E8E3B365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6" y="1179576"/>
            <a:ext cx="10568066" cy="417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8898-9DE2-4D3D-BB26-98D136E8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DB4C6-D204-D8CD-00D6-79F5A038D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"/>
            <a:ext cx="10428343" cy="433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1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F1EC8-B66B-BAB2-5508-C4B06E9F4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B2126-72FB-E2DB-1CE9-240E93D54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1" y="92300"/>
            <a:ext cx="9621593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86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959C-BC34-8B13-0C2D-48D75B88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0E0269-37BD-CF0B-E0E1-A47BBA1F255F}"/>
              </a:ext>
            </a:extLst>
          </p:cNvPr>
          <p:cNvSpPr txBox="1"/>
          <p:nvPr/>
        </p:nvSpPr>
        <p:spPr>
          <a:xfrm>
            <a:off x="2491740" y="1560499"/>
            <a:ext cx="75117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approach will be faster, cheaper, auditable, and correct.</a:t>
            </a:r>
          </a:p>
        </p:txBody>
      </p:sp>
    </p:spTree>
    <p:extLst>
      <p:ext uri="{BB962C8B-B14F-4D97-AF65-F5344CB8AC3E}">
        <p14:creationId xmlns:p14="http://schemas.microsoft.com/office/powerpoint/2010/main" val="2618891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1CEB-A485-3DC3-5308-EEF8E707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189474-3F9E-8D8C-8BF6-DBDB75C335F3}"/>
              </a:ext>
            </a:extLst>
          </p:cNvPr>
          <p:cNvSpPr txBox="1"/>
          <p:nvPr/>
        </p:nvSpPr>
        <p:spPr>
          <a:xfrm>
            <a:off x="2491740" y="1560499"/>
            <a:ext cx="75117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2</a:t>
            </a:r>
          </a:p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do we need AI/ML algorithms ?</a:t>
            </a:r>
          </a:p>
        </p:txBody>
      </p:sp>
    </p:spTree>
    <p:extLst>
      <p:ext uri="{BB962C8B-B14F-4D97-AF65-F5344CB8AC3E}">
        <p14:creationId xmlns:p14="http://schemas.microsoft.com/office/powerpoint/2010/main" val="2922722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49C9D-9722-C516-FFFC-884D2FB9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60B09-02CE-1DCB-238D-C6A7125B7B9F}"/>
              </a:ext>
            </a:extLst>
          </p:cNvPr>
          <p:cNvSpPr txBox="1"/>
          <p:nvPr/>
        </p:nvSpPr>
        <p:spPr>
          <a:xfrm>
            <a:off x="292608" y="146423"/>
            <a:ext cx="11512296" cy="2255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 is too complex to explicitly program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possible scenarios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Self-driving cars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can’t manually code every possible road condition, pedestrian behavior, or traffic situation.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 models learn from vast driving data to handle unpredictable situations.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3C2EFD-B43F-A238-0A44-CA5A0168E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3081528"/>
            <a:ext cx="10374627" cy="33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49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E843C-EA93-DD66-C4E1-F4E253D0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67867F-6914-AB9D-B260-8F310E83D778}"/>
              </a:ext>
            </a:extLst>
          </p:cNvPr>
          <p:cNvSpPr txBox="1"/>
          <p:nvPr/>
        </p:nvSpPr>
        <p:spPr>
          <a:xfrm>
            <a:off x="292608" y="146423"/>
            <a:ext cx="1151229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Patterns are subtle or hidden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within vast amounts of data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 Predictive maintenance: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Machines give off subtle signals 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vibration,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temperature,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steady increase in current usage, etc.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failure.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models can detect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trends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breakdowns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earlier than rule-based thresholds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Success: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 reduced unplanned downtime by 20% in power plants using ML-based predictive maintenance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Mining companies reduced equipment failures by 25% using sensor data and 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Airlines reduced delays and cancellations</a:t>
            </a:r>
          </a:p>
        </p:txBody>
      </p:sp>
    </p:spTree>
    <p:extLst>
      <p:ext uri="{BB962C8B-B14F-4D97-AF65-F5344CB8AC3E}">
        <p14:creationId xmlns:p14="http://schemas.microsoft.com/office/powerpoint/2010/main" val="2030977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9D51-E150-7A88-6AC0-3A0F4AAB0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3C58E2-93DE-46FC-A1C7-36008637D1BD}"/>
              </a:ext>
            </a:extLst>
          </p:cNvPr>
          <p:cNvSpPr txBox="1"/>
          <p:nvPr/>
        </p:nvSpPr>
        <p:spPr>
          <a:xfrm>
            <a:off x="87603" y="293253"/>
            <a:ext cx="115122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Detecting fraudulent transactions in banking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patterns are often rare, dynamic, and subtle — ML models can learn from millions of examples and detect anomalies that aren’t apparent to humans or rule-based systems.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Success: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PayPal's fraud detection system (reduced fraud rates by 10% while improving customer experience)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Insurance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claim fraud detection (identifying connections between seemingly unrelated claims)</a:t>
            </a:r>
          </a:p>
        </p:txBody>
      </p:sp>
    </p:spTree>
    <p:extLst>
      <p:ext uri="{BB962C8B-B14F-4D97-AF65-F5344CB8AC3E}">
        <p14:creationId xmlns:p14="http://schemas.microsoft.com/office/powerpoint/2010/main" val="2798902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F76B-9F59-02DB-FDB9-FBB0A107E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102A10-4B3A-A4DB-2EE8-9C544844019E}"/>
              </a:ext>
            </a:extLst>
          </p:cNvPr>
          <p:cNvSpPr txBox="1"/>
          <p:nvPr/>
        </p:nvSpPr>
        <p:spPr>
          <a:xfrm>
            <a:off x="292608" y="146423"/>
            <a:ext cx="9774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Rules are difficult to articulate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but examples are plentiful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B4B29-ADF6-E5DE-D6E6-E04C5FE90CFE}"/>
              </a:ext>
            </a:extLst>
          </p:cNvPr>
          <p:cNvSpPr txBox="1"/>
          <p:nvPr/>
        </p:nvSpPr>
        <p:spPr>
          <a:xfrm>
            <a:off x="292608" y="759055"/>
            <a:ext cx="117522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: Flower classification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We have measurement of flowers and their species types, but do not have any specific rule / formula that relates measurement with species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1029D8-2003-8FEE-A036-64A57DC4D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51" y="2110351"/>
            <a:ext cx="6395721" cy="42795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E09FDC-58B4-7281-2EAE-5263EE033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941" y="1959384"/>
            <a:ext cx="1418896" cy="1811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869E5-E6DF-762D-25CA-CE4D79151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673" y="3983420"/>
            <a:ext cx="1592268" cy="14661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656431-3909-1729-5F7F-784A1149B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2438" y="4764726"/>
            <a:ext cx="1670211" cy="195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95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D152-6BE2-620D-93A3-7921CA52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108F90-4BC3-0629-4C2F-6CD05B481E07}"/>
              </a:ext>
            </a:extLst>
          </p:cNvPr>
          <p:cNvSpPr txBox="1"/>
          <p:nvPr/>
        </p:nvSpPr>
        <p:spPr>
          <a:xfrm>
            <a:off x="292608" y="146423"/>
            <a:ext cx="9774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Rules are difficult to articulate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but examples are plentiful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DF862B-64C3-F2A0-5817-CDDFE48E3307}"/>
              </a:ext>
            </a:extLst>
          </p:cNvPr>
          <p:cNvSpPr txBox="1"/>
          <p:nvPr/>
        </p:nvSpPr>
        <p:spPr>
          <a:xfrm>
            <a:off x="6301740" y="906200"/>
            <a:ext cx="58902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Processing (NLP):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context, sentiment, and meaning in text. It's nearly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impossible to write deterministic rules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sarcasm,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grammar,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slang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932DC-5F84-81E2-D8C0-A6CC34D513D7}"/>
              </a:ext>
            </a:extLst>
          </p:cNvPr>
          <p:cNvSpPr txBox="1"/>
          <p:nvPr/>
        </p:nvSpPr>
        <p:spPr>
          <a:xfrm>
            <a:off x="196596" y="906200"/>
            <a:ext cx="54269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Facial recognition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can’t write explicit rules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define every possible human face, but we can train a model on millions of labeled images to recognize faces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447024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2837D-0983-0DB8-2C0B-D77EF872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35201E-292D-8087-C6F5-C31BC38A7D76}"/>
              </a:ext>
            </a:extLst>
          </p:cNvPr>
          <p:cNvSpPr txBox="1"/>
          <p:nvPr/>
        </p:nvSpPr>
        <p:spPr>
          <a:xfrm>
            <a:off x="181199" y="307862"/>
            <a:ext cx="105521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The problem requires prediction based on incomplete information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Medical diagnosis based on symptoms and patient history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Symptoms may vary or be incomplete.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models can make informed predictions based on patterns learned from prior patient data.</a:t>
            </a:r>
          </a:p>
        </p:txBody>
      </p:sp>
    </p:spTree>
    <p:extLst>
      <p:ext uri="{BB962C8B-B14F-4D97-AF65-F5344CB8AC3E}">
        <p14:creationId xmlns:p14="http://schemas.microsoft.com/office/powerpoint/2010/main" val="3156610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DB88-A273-B4DD-8668-602D17CD6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0BAE21-5D42-123B-782D-12A4D95CD465}"/>
              </a:ext>
            </a:extLst>
          </p:cNvPr>
          <p:cNvSpPr txBox="1"/>
          <p:nvPr/>
        </p:nvSpPr>
        <p:spPr>
          <a:xfrm>
            <a:off x="122656" y="237807"/>
            <a:ext cx="105521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The environment is dynamic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continually changing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Stock market trading algorithms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market shifts constantly based on news, sentiment, and global events.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Adaptive ML models can continuously retrain and adjust to changes better than static logic.</a:t>
            </a:r>
          </a:p>
        </p:txBody>
      </p:sp>
    </p:spTree>
    <p:extLst>
      <p:ext uri="{BB962C8B-B14F-4D97-AF65-F5344CB8AC3E}">
        <p14:creationId xmlns:p14="http://schemas.microsoft.com/office/powerpoint/2010/main" val="1190931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EC4AF-420A-3D94-F25B-F25322B9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C4AFFD-37B3-F188-C6B4-4E4C7CD8BEA2}"/>
              </a:ext>
            </a:extLst>
          </p:cNvPr>
          <p:cNvSpPr txBox="1"/>
          <p:nvPr/>
        </p:nvSpPr>
        <p:spPr>
          <a:xfrm>
            <a:off x="240057" y="299034"/>
            <a:ext cx="105521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The solution needs to improve with experience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Personalized recommendation systems (e.g., Netflix, Amazon)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system gets better over time by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user preferences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adjusting recommendations accordingly.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Success: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Netflix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credits its recommendation engine with saving over $1 billion annually through improved retention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generates 35% of its revenue from its recommendation system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861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18364-2FCC-CBE9-1DAA-2ED16FD4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7DE6B-0365-7B49-E132-8545CB8E581E}"/>
              </a:ext>
            </a:extLst>
          </p:cNvPr>
          <p:cNvSpPr txBox="1"/>
          <p:nvPr/>
        </p:nvSpPr>
        <p:spPr>
          <a:xfrm>
            <a:off x="174261" y="201707"/>
            <a:ext cx="105521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Approximation is acceptable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preferable to no solution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Language translation (e.g., Google Translate)</a:t>
            </a:r>
          </a:p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Perfect translation is impossible.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it's better to have an approximate translation than none at all, especially across languages.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Speech recognition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Converting spoken language to text may be 90% accurate.</a:t>
            </a:r>
          </a:p>
        </p:txBody>
      </p:sp>
    </p:spTree>
    <p:extLst>
      <p:ext uri="{BB962C8B-B14F-4D97-AF65-F5344CB8AC3E}">
        <p14:creationId xmlns:p14="http://schemas.microsoft.com/office/powerpoint/2010/main" val="3493295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1266</TotalTime>
  <Words>921</Words>
  <Application>Microsoft Office PowerPoint</Application>
  <PresentationFormat>Widescreen</PresentationFormat>
  <Paragraphs>104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Calibiri Body</vt:lpstr>
      <vt:lpstr>Calibri</vt:lpstr>
      <vt:lpstr>Calibri Body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203</cp:revision>
  <dcterms:created xsi:type="dcterms:W3CDTF">2025-09-22T02:44:38Z</dcterms:created>
  <dcterms:modified xsi:type="dcterms:W3CDTF">2026-10-14T18:21:44Z</dcterms:modified>
</cp:coreProperties>
</file>