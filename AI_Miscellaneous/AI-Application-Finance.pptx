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6" r:id="rId9"/>
    <p:sldId id="287" r:id="rId10"/>
    <p:sldId id="275" r:id="rId11"/>
    <p:sldId id="285" r:id="rId12"/>
    <p:sldId id="284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FE43F-9C34-B635-57A1-E3221E31C183}"/>
              </a:ext>
            </a:extLst>
          </p:cNvPr>
          <p:cNvSpPr txBox="1"/>
          <p:nvPr/>
        </p:nvSpPr>
        <p:spPr>
          <a:xfrm>
            <a:off x="301752" y="845695"/>
            <a:ext cx="10927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Big Picture: Why Finance Fell in Love with AI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 runs on three things: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data, decisions, and speed.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happens to be exceptionally good at all three.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financial industry now processes more data in a single day than existed in the entire world in 1990 — and no human team, however brilliant, can make sense of it fast enough to act on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AI adoption in finance hasn't been gradual — it's been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 rush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From the trading floors of Goldman Sachs to the loan departments of small regional banks, AI is reshaping every corner of the industry.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A4CFD7-F2DE-0D1E-A3DC-15A91116BAED}"/>
              </a:ext>
            </a:extLst>
          </p:cNvPr>
          <p:cNvSpPr txBox="1"/>
          <p:nvPr/>
        </p:nvSpPr>
        <p:spPr>
          <a:xfrm>
            <a:off x="128016" y="417267"/>
            <a:ext cx="116220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Fraud Detection: AI as the World's Most Paranoid Bank Teller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Visa processes roughly 200 million transactions per day. How do you spot the fraudulent ones in real time — before the transaction clears?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models are trained on billions of historical transactions.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learn what "normal" looks like for every individual customer — their typical spending location, amount, time of day, and merchant category.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moment something deviates, the model flags it.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9D16-EC35-57B9-C603-0A293F8B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02CCC-33FA-0D36-3D10-2F1C6A43A560}"/>
              </a:ext>
            </a:extLst>
          </p:cNvPr>
          <p:cNvSpPr txBox="1"/>
          <p:nvPr/>
        </p:nvSpPr>
        <p:spPr>
          <a:xfrm>
            <a:off x="420624" y="458968"/>
            <a:ext cx="114848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use your card abroad and your bank calls to verify — that's AI. Mastercard's Decision Intelligence system scores every transaction in under 50 milliseconds.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doesn't just look at the current transaction; it considers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last 10 transactions, your travel history, and even how you typically type your PIN.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Interesting nuance for students: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fraud detection systems used simple rules ("flag any transaction over $10,000 abroad"). Criminals quickly learned to stay just below the threshold.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can't be gamed this way because they look at hundreds of variables simultaneously — and the rules are invisible, even to the bank employees.</a:t>
            </a:r>
          </a:p>
        </p:txBody>
      </p:sp>
    </p:spTree>
    <p:extLst>
      <p:ext uri="{BB962C8B-B14F-4D97-AF65-F5344CB8AC3E}">
        <p14:creationId xmlns:p14="http://schemas.microsoft.com/office/powerpoint/2010/main" val="181677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D7B7-EAE4-5BFD-BBA2-D665ECD6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04A826-E4CF-0AED-D224-5E5B07454D18}"/>
              </a:ext>
            </a:extLst>
          </p:cNvPr>
          <p:cNvSpPr txBox="1"/>
          <p:nvPr/>
        </p:nvSpPr>
        <p:spPr>
          <a:xfrm>
            <a:off x="173736" y="681103"/>
            <a:ext cx="110916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Algorithmic Trading: The Machine That Trades in Microseconds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prices change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microseconds.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traders can react in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 milliseconds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best. That gap is worth billions.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trading systems (called "algos") use AI to identify trading signals — patterns that predict short-term price movements — and execute trades automatically.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High-frequency trading (HFT) firms place servers physically close to stock exchanges to reduce signal travel time by milliseconds.</a:t>
            </a:r>
          </a:p>
        </p:txBody>
      </p:sp>
    </p:spTree>
    <p:extLst>
      <p:ext uri="{BB962C8B-B14F-4D97-AF65-F5344CB8AC3E}">
        <p14:creationId xmlns:p14="http://schemas.microsoft.com/office/powerpoint/2010/main" val="118429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D4154-1572-1A5A-66DF-8503EF77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CF3C4-A7AE-14A7-3E67-BFB425ADEDC2}"/>
              </a:ext>
            </a:extLst>
          </p:cNvPr>
          <p:cNvSpPr txBox="1"/>
          <p:nvPr/>
        </p:nvSpPr>
        <p:spPr>
          <a:xfrm>
            <a:off x="173736" y="681103"/>
            <a:ext cx="110916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Renaissance Technologies' Medallion Fund is the most successful investment fund in history, averaging 66% annual returns before fees from 1988 to 2018. It is run almost entirely by mathematicians and AI — and has almost no human traders.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Jim Simons, its founder, was a mathematician, not a financier.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Interesting nuance for students: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all algorithmic trading is high-frequency. Some AI systems trade on "sentiment" — they read thousands of news articles, earnings calls, and even social media posts per second to gauge market mood.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Elon Musk tweets, these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systems react before any human has finished reading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tweet.</a:t>
            </a:r>
          </a:p>
        </p:txBody>
      </p:sp>
    </p:spTree>
    <p:extLst>
      <p:ext uri="{BB962C8B-B14F-4D97-AF65-F5344CB8AC3E}">
        <p14:creationId xmlns:p14="http://schemas.microsoft.com/office/powerpoint/2010/main" val="409685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5E5D-63CD-D986-295D-C57EE411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ED6D8-08DF-BD94-4B2C-741508561938}"/>
              </a:ext>
            </a:extLst>
          </p:cNvPr>
          <p:cNvSpPr txBox="1"/>
          <p:nvPr/>
        </p:nvSpPr>
        <p:spPr>
          <a:xfrm>
            <a:off x="192024" y="223903"/>
            <a:ext cx="110916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Credit Scoring: From FICO to AI — Who Deserves a Loan?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Banks need to decide who to lend money to. Traditional credit scoring (FICO in the US) uses a narrow set of variables: payment history, debt levels, credit history length. Millions of people — young people, immigrants, gig workers — have thin or no credit files and get rejected despite being financially responsible.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AI-based credit models use thousands of alternative data points. This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Rent and utility payment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 bill payment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account cash flow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(controversially) how you fill out an online form — hesitation on certain fields correlates with fraud risk</a:t>
            </a:r>
          </a:p>
        </p:txBody>
      </p:sp>
    </p:spTree>
    <p:extLst>
      <p:ext uri="{BB962C8B-B14F-4D97-AF65-F5344CB8AC3E}">
        <p14:creationId xmlns:p14="http://schemas.microsoft.com/office/powerpoint/2010/main" val="2928858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4E48-A2BA-2D85-D39E-E2CC9DAB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4C9AB9-896B-CA3A-4709-80761B956992}"/>
              </a:ext>
            </a:extLst>
          </p:cNvPr>
          <p:cNvSpPr txBox="1"/>
          <p:nvPr/>
        </p:nvSpPr>
        <p:spPr>
          <a:xfrm>
            <a:off x="192024" y="223903"/>
            <a:ext cx="110916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Upstart, a US fintech lender, uses an AI model trained on over 1,600 variables including education and employment history. They claim their model approves 27% more borrowers than traditional models while maintaining the same default rate. Their AI found that a person who has never missed a utility bill but has no credit card is far lower risk than FICO scores suggest.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 2: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Kenya, M-Pesa and related fintech apps give micro-loans based on your mobile phone usage patterns — how frequently you top up airtime, how regularly you receive payments, even the size of your social network of contacts who also use the app.</a:t>
            </a:r>
          </a:p>
        </p:txBody>
      </p:sp>
    </p:spTree>
    <p:extLst>
      <p:ext uri="{BB962C8B-B14F-4D97-AF65-F5344CB8AC3E}">
        <p14:creationId xmlns:p14="http://schemas.microsoft.com/office/powerpoint/2010/main" val="220003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31FA-A2C4-60E2-458C-02B51170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D7803-F289-2203-A24E-C209F21B9343}"/>
              </a:ext>
            </a:extLst>
          </p:cNvPr>
          <p:cNvSpPr txBox="1"/>
          <p:nvPr/>
        </p:nvSpPr>
        <p:spPr>
          <a:xfrm>
            <a:off x="192024" y="382012"/>
            <a:ext cx="114482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Risk Management: Teaching Banks to Fear the Right Things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2008 financial crisis happened partly because banks didn't understand the true risk embedded in the complex financial products they were holding. Their models were too simple.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AI-based risk systems run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simulations simultaneously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 technique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Monte Carlo simulation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to stress-test portfolios against different economic scenarios.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also monitor interconnected risk in real time: if one institution starts to wobble, how does that cascade through the system?</a:t>
            </a:r>
          </a:p>
        </p:txBody>
      </p:sp>
    </p:spTree>
    <p:extLst>
      <p:ext uri="{BB962C8B-B14F-4D97-AF65-F5344CB8AC3E}">
        <p14:creationId xmlns:p14="http://schemas.microsoft.com/office/powerpoint/2010/main" val="415428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DA46-47A8-D3A6-6FC3-D450FB2D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D4D0E5-3F84-2000-D371-F9B719EF7104}"/>
              </a:ext>
            </a:extLst>
          </p:cNvPr>
          <p:cNvSpPr txBox="1"/>
          <p:nvPr/>
        </p:nvSpPr>
        <p:spPr>
          <a:xfrm>
            <a:off x="420624" y="1145000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JPMorgan's LOXM system uses AI to execute large trades with minimal market impact — meaning they can buy or sell huge quantities of stock without crashing the price in the process.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risk AI simultaneously monitors exposure across currencies, interest rates, and geographies.</a:t>
            </a:r>
          </a:p>
        </p:txBody>
      </p:sp>
    </p:spTree>
    <p:extLst>
      <p:ext uri="{BB962C8B-B14F-4D97-AF65-F5344CB8AC3E}">
        <p14:creationId xmlns:p14="http://schemas.microsoft.com/office/powerpoint/2010/main" val="159677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86140-A8D7-4DF3-61BF-1CA8D72F36FD}"/>
              </a:ext>
            </a:extLst>
          </p:cNvPr>
          <p:cNvSpPr txBox="1"/>
          <p:nvPr/>
        </p:nvSpPr>
        <p:spPr>
          <a:xfrm>
            <a:off x="219456" y="427750"/>
            <a:ext cx="11430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Insurance: AI Reimagines How Risk is Priced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insurance charges everyone in a category (age group, zip code, car type) roughly the same premium. This is crude — a 25-year-old who drives 2,000 km a year is charged the same as one who drives 40,000 km.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Telematics and AI allow insurers to price policies based on actual individual behavior — how hard you brake, what time of night you drive, how you handle curves.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2AF2-D9F6-44E9-3F78-C39676C6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0F7C6-2F14-0585-CFF3-1EB30C0B59A5}"/>
              </a:ext>
            </a:extLst>
          </p:cNvPr>
          <p:cNvSpPr txBox="1"/>
          <p:nvPr/>
        </p:nvSpPr>
        <p:spPr>
          <a:xfrm>
            <a:off x="265176" y="926884"/>
            <a:ext cx="10689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Progressive Insurance's Snapshot program tracks driving behavior through an app. Safe drivers can save up to 30%.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AI model continuously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adjusts risk scores based on real driving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demographic proxies.</a:t>
            </a:r>
          </a:p>
        </p:txBody>
      </p:sp>
    </p:spTree>
    <p:extLst>
      <p:ext uri="{BB962C8B-B14F-4D97-AF65-F5344CB8AC3E}">
        <p14:creationId xmlns:p14="http://schemas.microsoft.com/office/powerpoint/2010/main" val="288255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7BE8-599B-BFB2-EB5A-1603A28A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6AC9A-6ABD-8BEC-3609-E3DAA427E5D9}"/>
              </a:ext>
            </a:extLst>
          </p:cNvPr>
          <p:cNvSpPr txBox="1"/>
          <p:nvPr/>
        </p:nvSpPr>
        <p:spPr>
          <a:xfrm>
            <a:off x="79248" y="343883"/>
            <a:ext cx="12033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Uncomfortable Side: What AI Gets Wrong in Finance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Explainability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an AI denies your loan, you have a right to know why. But many AI models are "black boxes" — even their creators can't fully explain a specific decision. This creates regulatory and ethical problems. The EU's GDPR explicitly grants citizens a "right to explanation.“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Systemic risk amplification: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many institutions use similar AI models trained on similar data, they can all make the same mistake simultaneously. In a crisis, this herding behavior can amplify market crashes rather than dampen them.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quality garbage-in: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only as good as its training data. Garbage in, garbage out. If historical data reflects human biases (in lending, hiring, insurance), the AI inherits and scales those biases.</a:t>
            </a:r>
          </a:p>
        </p:txBody>
      </p:sp>
    </p:spTree>
    <p:extLst>
      <p:ext uri="{BB962C8B-B14F-4D97-AF65-F5344CB8AC3E}">
        <p14:creationId xmlns:p14="http://schemas.microsoft.com/office/powerpoint/2010/main" val="227896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02A2-EAAC-5914-D052-C5F6A64E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2AD76-FA94-2141-11A7-E31F4B6D94D3}"/>
              </a:ext>
            </a:extLst>
          </p:cNvPr>
          <p:cNvSpPr txBox="1"/>
          <p:nvPr/>
        </p:nvSpPr>
        <p:spPr>
          <a:xfrm>
            <a:off x="265176" y="602593"/>
            <a:ext cx="116494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Questions for the Classroom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an AI denies someone a loan, who is responsible — the bank, the algorithm's creators, or the data it was trained on?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Renaissance Technologies' Medallion Fund is closed to outside investors. If AI-driven investing consistently beats the market, what happens to the concept of a "fair market"?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Should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governments regulate how much trading can be done by algorithms versus humans? Why or why not?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Lemonade's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approves claims in 3 seconds. Is that better or worse for society than a human claims adjuster who takes a week but might exercise judgment?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If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credit score is calculated by an AI using 1,600 variables including your social network, is that fair — or is it surveillance capitalism dressed up as finance?</a:t>
            </a:r>
          </a:p>
        </p:txBody>
      </p:sp>
    </p:spTree>
    <p:extLst>
      <p:ext uri="{BB962C8B-B14F-4D97-AF65-F5344CB8AC3E}">
        <p14:creationId xmlns:p14="http://schemas.microsoft.com/office/powerpoint/2010/main" val="3021165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A16F-DFEB-A016-8D31-B126C127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12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1205</TotalTime>
  <Words>1380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189</cp:revision>
  <dcterms:created xsi:type="dcterms:W3CDTF">2025-09-22T02:44:38Z</dcterms:created>
  <dcterms:modified xsi:type="dcterms:W3CDTF">2026-10-14T18:06:44Z</dcterms:modified>
</cp:coreProperties>
</file>