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76" r:id="rId2"/>
    <p:sldId id="257" r:id="rId3"/>
    <p:sldId id="277" r:id="rId4"/>
    <p:sldId id="279" r:id="rId5"/>
    <p:sldId id="280" r:id="rId6"/>
    <p:sldId id="281" r:id="rId7"/>
    <p:sldId id="282" r:id="rId8"/>
    <p:sldId id="278" r:id="rId9"/>
    <p:sldId id="2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10/17/2026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10/17/2026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10/17/2026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10/17/2026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BC703B-FD26-D660-C08E-4912EBE27AEE}"/>
              </a:ext>
            </a:extLst>
          </p:cNvPr>
          <p:cNvSpPr txBox="1"/>
          <p:nvPr/>
        </p:nvSpPr>
        <p:spPr>
          <a:xfrm>
            <a:off x="676656" y="1334837"/>
            <a:ext cx="10351008" cy="3218830"/>
          </a:xfrm>
          <a:prstGeom prst="rect">
            <a:avLst/>
          </a:prstGeom>
          <a:noFill/>
        </p:spPr>
        <p:txBody>
          <a:bodyPr wrap="square">
            <a:spAutoFit/>
          </a:bodyPr>
          <a:lstStyle/>
          <a:p>
            <a:pPr algn="l">
              <a:spcBef>
                <a:spcPts val="900"/>
              </a:spcBef>
              <a:spcAft>
                <a:spcPts val="1050"/>
              </a:spcAft>
              <a:buNone/>
            </a:pPr>
            <a:r>
              <a:rPr lang="en-US" sz="2400" b="0" i="1" dirty="0">
                <a:solidFill>
                  <a:schemeClr val="accent6">
                    <a:lumMod val="60000"/>
                    <a:lumOff val="40000"/>
                  </a:schemeClr>
                </a:solidFill>
                <a:effectLst/>
                <a:latin typeface="Anthropic Sans"/>
              </a:rPr>
              <a:t>"Fraudsters are invisible people doing very visible things</a:t>
            </a:r>
            <a:r>
              <a:rPr lang="en-US" sz="2400" b="0" i="1">
                <a:solidFill>
                  <a:schemeClr val="accent6">
                    <a:lumMod val="60000"/>
                    <a:lumOff val="40000"/>
                  </a:schemeClr>
                </a:solidFill>
                <a:effectLst/>
                <a:latin typeface="Anthropic Sans"/>
              </a:rPr>
              <a:t>. </a:t>
            </a:r>
          </a:p>
          <a:p>
            <a:pPr algn="l">
              <a:spcBef>
                <a:spcPts val="900"/>
              </a:spcBef>
              <a:spcAft>
                <a:spcPts val="1050"/>
              </a:spcAft>
              <a:buNone/>
            </a:pPr>
            <a:r>
              <a:rPr lang="en-US" sz="2400" b="0" i="1">
                <a:solidFill>
                  <a:schemeClr val="accent6">
                    <a:lumMod val="60000"/>
                    <a:lumOff val="40000"/>
                  </a:schemeClr>
                </a:solidFill>
                <a:effectLst/>
                <a:latin typeface="Anthropic Sans"/>
              </a:rPr>
              <a:t>The </a:t>
            </a:r>
            <a:r>
              <a:rPr lang="en-US" sz="2400" b="0" i="1" dirty="0">
                <a:solidFill>
                  <a:schemeClr val="accent6">
                    <a:lumMod val="60000"/>
                    <a:lumOff val="40000"/>
                  </a:schemeClr>
                </a:solidFill>
                <a:effectLst/>
                <a:latin typeface="Anthropic Sans"/>
              </a:rPr>
              <a:t>data always tells a story.“</a:t>
            </a:r>
          </a:p>
          <a:p>
            <a:pPr algn="l">
              <a:spcBef>
                <a:spcPts val="900"/>
              </a:spcBef>
              <a:spcAft>
                <a:spcPts val="1050"/>
              </a:spcAft>
              <a:buNone/>
            </a:pPr>
            <a:endParaRPr lang="en-US" sz="2400" i="1" dirty="0">
              <a:solidFill>
                <a:schemeClr val="accent6">
                  <a:lumMod val="60000"/>
                  <a:lumOff val="40000"/>
                </a:schemeClr>
              </a:solidFill>
              <a:latin typeface="Anthropic Sans"/>
            </a:endParaRPr>
          </a:p>
          <a:p>
            <a:pPr algn="l">
              <a:spcBef>
                <a:spcPts val="900"/>
              </a:spcBef>
              <a:spcAft>
                <a:spcPts val="1050"/>
              </a:spcAft>
              <a:buNone/>
            </a:pPr>
            <a:r>
              <a:rPr lang="en-US" sz="2400" b="0" i="1" dirty="0">
                <a:solidFill>
                  <a:schemeClr val="accent6">
                    <a:lumMod val="60000"/>
                    <a:lumOff val="40000"/>
                  </a:schemeClr>
                </a:solidFill>
                <a:effectLst/>
                <a:latin typeface="Anthropic Sans"/>
              </a:rPr>
              <a:t>Topics covered:</a:t>
            </a:r>
          </a:p>
          <a:p>
            <a:pPr marL="342900" indent="-342900" algn="l">
              <a:buFont typeface="Arial" panose="020B0604020202020204" pitchFamily="34" charset="0"/>
              <a:buChar char="•"/>
            </a:pPr>
            <a:r>
              <a:rPr lang="en-US" sz="2400" b="0" i="0" dirty="0">
                <a:solidFill>
                  <a:schemeClr val="accent6">
                    <a:lumMod val="60000"/>
                    <a:lumOff val="40000"/>
                  </a:schemeClr>
                </a:solidFill>
                <a:effectLst/>
                <a:latin typeface="Anthropic Sans"/>
              </a:rPr>
              <a:t>Feature engineering for fraud</a:t>
            </a:r>
          </a:p>
          <a:p>
            <a:pPr marL="342900" indent="-342900" algn="l">
              <a:buFont typeface="Arial" panose="020B0604020202020204" pitchFamily="34" charset="0"/>
              <a:buChar char="•"/>
            </a:pPr>
            <a:r>
              <a:rPr lang="en-US" sz="2400" b="0" i="0" dirty="0">
                <a:solidFill>
                  <a:schemeClr val="accent6">
                    <a:lumMod val="60000"/>
                    <a:lumOff val="40000"/>
                  </a:schemeClr>
                </a:solidFill>
                <a:effectLst/>
                <a:latin typeface="Anthropic Sans"/>
              </a:rPr>
              <a:t>Graph features — following the money</a:t>
            </a:r>
          </a:p>
        </p:txBody>
      </p:sp>
    </p:spTree>
    <p:extLst>
      <p:ext uri="{BB962C8B-B14F-4D97-AF65-F5344CB8AC3E}">
        <p14:creationId xmlns:p14="http://schemas.microsoft.com/office/powerpoint/2010/main" val="4221193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65CDC-D777-0BD2-8DA9-EE77E7AFED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B7C7187-88CE-4D68-D10E-4639081F41AF}"/>
              </a:ext>
            </a:extLst>
          </p:cNvPr>
          <p:cNvSpPr txBox="1"/>
          <p:nvPr/>
        </p:nvSpPr>
        <p:spPr>
          <a:xfrm>
            <a:off x="283464" y="210125"/>
            <a:ext cx="10351008" cy="2410916"/>
          </a:xfrm>
          <a:prstGeom prst="rect">
            <a:avLst/>
          </a:prstGeom>
          <a:noFill/>
        </p:spPr>
        <p:txBody>
          <a:bodyPr wrap="square">
            <a:spAutoFit/>
          </a:bodyPr>
          <a:lstStyle/>
          <a:p>
            <a:pPr algn="l">
              <a:buNone/>
            </a:pPr>
            <a:r>
              <a:rPr lang="en-US" sz="2400" b="0" i="0">
                <a:solidFill>
                  <a:schemeClr val="accent6">
                    <a:lumMod val="60000"/>
                    <a:lumOff val="40000"/>
                  </a:schemeClr>
                </a:solidFill>
                <a:effectLst/>
                <a:latin typeface="Anthropic Sans"/>
              </a:rPr>
              <a:t>🧱Feature </a:t>
            </a:r>
            <a:r>
              <a:rPr lang="en-US" sz="2400" b="0" i="0" dirty="0">
                <a:solidFill>
                  <a:schemeClr val="accent6">
                    <a:lumMod val="60000"/>
                    <a:lumOff val="40000"/>
                  </a:schemeClr>
                </a:solidFill>
                <a:effectLst/>
                <a:latin typeface="Anthropic Sans"/>
              </a:rPr>
              <a:t>engineering for fraud</a:t>
            </a:r>
          </a:p>
          <a:p>
            <a:pPr algn="l">
              <a:buNone/>
            </a:pPr>
            <a:endParaRPr lang="en-US" sz="2400" b="0" i="0" dirty="0">
              <a:solidFill>
                <a:schemeClr val="accent6">
                  <a:lumMod val="60000"/>
                  <a:lumOff val="40000"/>
                </a:schemeClr>
              </a:solidFill>
              <a:effectLst/>
              <a:latin typeface="Anthropic Sans"/>
            </a:endParaRPr>
          </a:p>
          <a:p>
            <a:pPr marL="342900" indent="-342900" algn="l">
              <a:spcBef>
                <a:spcPts val="150"/>
              </a:spcBef>
              <a:buFont typeface="Arial" panose="020B0604020202020204" pitchFamily="34" charset="0"/>
              <a:buChar char="•"/>
            </a:pPr>
            <a:r>
              <a:rPr lang="en-US" sz="2400" b="0" i="0" dirty="0">
                <a:solidFill>
                  <a:schemeClr val="accent6">
                    <a:lumMod val="60000"/>
                    <a:lumOff val="40000"/>
                  </a:schemeClr>
                </a:solidFill>
                <a:effectLst/>
                <a:latin typeface="Anthropic Sans"/>
              </a:rPr>
              <a:t>Velocity features (3 transactions in 5 minutes)</a:t>
            </a:r>
          </a:p>
          <a:p>
            <a:pPr marL="342900" indent="-342900" algn="l">
              <a:spcBef>
                <a:spcPts val="150"/>
              </a:spcBef>
              <a:buFont typeface="Arial" panose="020B0604020202020204" pitchFamily="34" charset="0"/>
              <a:buChar char="•"/>
            </a:pPr>
            <a:r>
              <a:rPr lang="en-US" sz="2400" b="0" i="0" dirty="0">
                <a:solidFill>
                  <a:schemeClr val="accent6">
                    <a:lumMod val="60000"/>
                    <a:lumOff val="40000"/>
                  </a:schemeClr>
                </a:solidFill>
                <a:effectLst/>
                <a:latin typeface="Anthropic Sans"/>
              </a:rPr>
              <a:t>location anomalies (distance between 2 transaction is large -&gt; anomaly)</a:t>
            </a:r>
          </a:p>
          <a:p>
            <a:pPr marL="342900" indent="-342900" algn="l">
              <a:spcBef>
                <a:spcPts val="150"/>
              </a:spcBef>
              <a:buFont typeface="Arial" panose="020B0604020202020204" pitchFamily="34" charset="0"/>
              <a:buChar char="•"/>
            </a:pPr>
            <a:r>
              <a:rPr lang="en-US" sz="2400" b="0" i="0" dirty="0">
                <a:solidFill>
                  <a:schemeClr val="accent6">
                    <a:lumMod val="60000"/>
                    <a:lumOff val="40000"/>
                  </a:schemeClr>
                </a:solidFill>
                <a:effectLst/>
                <a:latin typeface="Anthropic Sans"/>
              </a:rPr>
              <a:t>device fingerprinting ()</a:t>
            </a:r>
            <a:endParaRPr lang="en-US" sz="2400" dirty="0">
              <a:solidFill>
                <a:schemeClr val="accent6">
                  <a:lumMod val="60000"/>
                  <a:lumOff val="40000"/>
                </a:schemeClr>
              </a:solidFill>
              <a:latin typeface="Anthropic Sans"/>
            </a:endParaRPr>
          </a:p>
          <a:p>
            <a:pPr marL="342900" indent="-342900" algn="l">
              <a:spcBef>
                <a:spcPts val="150"/>
              </a:spcBef>
              <a:buFont typeface="Arial" panose="020B0604020202020204" pitchFamily="34" charset="0"/>
              <a:buChar char="•"/>
            </a:pPr>
            <a:r>
              <a:rPr lang="en-US" sz="2400" b="0" i="0" dirty="0" err="1">
                <a:solidFill>
                  <a:schemeClr val="accent6">
                    <a:lumMod val="60000"/>
                    <a:lumOff val="40000"/>
                  </a:schemeClr>
                </a:solidFill>
                <a:effectLst/>
                <a:latin typeface="Anthropic Sans"/>
              </a:rPr>
              <a:t>behavioural</a:t>
            </a:r>
            <a:r>
              <a:rPr lang="en-US" sz="2400" b="0" i="0" dirty="0">
                <a:solidFill>
                  <a:schemeClr val="accent6">
                    <a:lumMod val="60000"/>
                    <a:lumOff val="40000"/>
                  </a:schemeClr>
                </a:solidFill>
                <a:effectLst/>
                <a:latin typeface="Anthropic Sans"/>
              </a:rPr>
              <a:t> baselines.</a:t>
            </a:r>
          </a:p>
        </p:txBody>
      </p:sp>
    </p:spTree>
    <p:extLst>
      <p:ext uri="{BB962C8B-B14F-4D97-AF65-F5344CB8AC3E}">
        <p14:creationId xmlns:p14="http://schemas.microsoft.com/office/powerpoint/2010/main" val="2602107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DCBF7-E80B-0E34-153F-E7B00CB64E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81EC41-5FA5-EDB9-C9B9-BD5E29AFF020}"/>
              </a:ext>
            </a:extLst>
          </p:cNvPr>
          <p:cNvSpPr txBox="1"/>
          <p:nvPr/>
        </p:nvSpPr>
        <p:spPr>
          <a:xfrm>
            <a:off x="283464" y="210125"/>
            <a:ext cx="10351008" cy="461665"/>
          </a:xfrm>
          <a:prstGeom prst="rect">
            <a:avLst/>
          </a:prstGeom>
          <a:noFill/>
        </p:spPr>
        <p:txBody>
          <a:bodyPr wrap="square">
            <a:spAutoFit/>
          </a:bodyPr>
          <a:lstStyle/>
          <a:p>
            <a:pPr marL="342900" indent="-342900" algn="l">
              <a:spcBef>
                <a:spcPts val="150"/>
              </a:spcBef>
              <a:buFont typeface="Arial" panose="020B0604020202020204" pitchFamily="34" charset="0"/>
              <a:buChar char="•"/>
            </a:pPr>
            <a:r>
              <a:rPr lang="en-US" sz="2400" b="0" i="0" dirty="0">
                <a:solidFill>
                  <a:schemeClr val="accent6">
                    <a:lumMod val="60000"/>
                    <a:lumOff val="40000"/>
                  </a:schemeClr>
                </a:solidFill>
                <a:effectLst/>
                <a:latin typeface="Anthropic Sans"/>
              </a:rPr>
              <a:t>Velocity features (3 transactions in 5 minutes)</a:t>
            </a:r>
          </a:p>
        </p:txBody>
      </p:sp>
      <p:pic>
        <p:nvPicPr>
          <p:cNvPr id="3" name="Picture 2">
            <a:extLst>
              <a:ext uri="{FF2B5EF4-FFF2-40B4-BE49-F238E27FC236}">
                <a16:creationId xmlns:a16="http://schemas.microsoft.com/office/drawing/2014/main" id="{2ACB48E4-73E9-6BFA-BCED-6B61022C52BE}"/>
              </a:ext>
            </a:extLst>
          </p:cNvPr>
          <p:cNvPicPr>
            <a:picLocks noChangeAspect="1"/>
          </p:cNvPicPr>
          <p:nvPr/>
        </p:nvPicPr>
        <p:blipFill>
          <a:blip r:embed="rId2"/>
          <a:stretch>
            <a:fillRect/>
          </a:stretch>
        </p:blipFill>
        <p:spPr>
          <a:xfrm>
            <a:off x="283464" y="1107441"/>
            <a:ext cx="4391638" cy="2791215"/>
          </a:xfrm>
          <a:prstGeom prst="rect">
            <a:avLst/>
          </a:prstGeom>
        </p:spPr>
      </p:pic>
      <p:pic>
        <p:nvPicPr>
          <p:cNvPr id="6" name="Picture 5">
            <a:extLst>
              <a:ext uri="{FF2B5EF4-FFF2-40B4-BE49-F238E27FC236}">
                <a16:creationId xmlns:a16="http://schemas.microsoft.com/office/drawing/2014/main" id="{D54979F2-1D5D-732D-1212-690699877929}"/>
              </a:ext>
            </a:extLst>
          </p:cNvPr>
          <p:cNvPicPr>
            <a:picLocks noChangeAspect="1"/>
          </p:cNvPicPr>
          <p:nvPr/>
        </p:nvPicPr>
        <p:blipFill>
          <a:blip r:embed="rId3"/>
          <a:stretch>
            <a:fillRect/>
          </a:stretch>
        </p:blipFill>
        <p:spPr>
          <a:xfrm>
            <a:off x="3034600" y="4425697"/>
            <a:ext cx="8352563" cy="1935214"/>
          </a:xfrm>
          <a:prstGeom prst="rect">
            <a:avLst/>
          </a:prstGeom>
        </p:spPr>
      </p:pic>
    </p:spTree>
    <p:extLst>
      <p:ext uri="{BB962C8B-B14F-4D97-AF65-F5344CB8AC3E}">
        <p14:creationId xmlns:p14="http://schemas.microsoft.com/office/powerpoint/2010/main" val="2831700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47EB-1834-94A9-8C4D-595F20935E8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E2160F-E7A0-F6BF-B8B3-C561AAC18973}"/>
              </a:ext>
            </a:extLst>
          </p:cNvPr>
          <p:cNvSpPr txBox="1"/>
          <p:nvPr/>
        </p:nvSpPr>
        <p:spPr>
          <a:xfrm>
            <a:off x="283464" y="210125"/>
            <a:ext cx="10351008" cy="461665"/>
          </a:xfrm>
          <a:prstGeom prst="rect">
            <a:avLst/>
          </a:prstGeom>
          <a:noFill/>
        </p:spPr>
        <p:txBody>
          <a:bodyPr wrap="square">
            <a:spAutoFit/>
          </a:bodyPr>
          <a:lstStyle/>
          <a:p>
            <a:pPr marL="342900" indent="-342900" algn="l">
              <a:spcBef>
                <a:spcPts val="150"/>
              </a:spcBef>
              <a:buFont typeface="Arial" panose="020B0604020202020204" pitchFamily="34" charset="0"/>
              <a:buChar char="•"/>
            </a:pPr>
            <a:r>
              <a:rPr lang="en-US" sz="2400" b="0" i="0" dirty="0">
                <a:solidFill>
                  <a:schemeClr val="accent6">
                    <a:lumMod val="60000"/>
                    <a:lumOff val="40000"/>
                  </a:schemeClr>
                </a:solidFill>
                <a:effectLst/>
                <a:latin typeface="Anthropic Sans"/>
              </a:rPr>
              <a:t>Location Anomaly</a:t>
            </a:r>
          </a:p>
        </p:txBody>
      </p:sp>
      <p:pic>
        <p:nvPicPr>
          <p:cNvPr id="8" name="Picture 7">
            <a:extLst>
              <a:ext uri="{FF2B5EF4-FFF2-40B4-BE49-F238E27FC236}">
                <a16:creationId xmlns:a16="http://schemas.microsoft.com/office/drawing/2014/main" id="{D72AB43F-8935-CCE4-DBB1-C9D8A1287B1C}"/>
              </a:ext>
            </a:extLst>
          </p:cNvPr>
          <p:cNvPicPr>
            <a:picLocks noChangeAspect="1"/>
          </p:cNvPicPr>
          <p:nvPr/>
        </p:nvPicPr>
        <p:blipFill>
          <a:blip r:embed="rId2"/>
          <a:stretch>
            <a:fillRect/>
          </a:stretch>
        </p:blipFill>
        <p:spPr>
          <a:xfrm>
            <a:off x="2850577" y="4252731"/>
            <a:ext cx="8086619" cy="2340864"/>
          </a:xfrm>
          <a:prstGeom prst="rect">
            <a:avLst/>
          </a:prstGeom>
        </p:spPr>
      </p:pic>
      <p:pic>
        <p:nvPicPr>
          <p:cNvPr id="10" name="Picture 9">
            <a:extLst>
              <a:ext uri="{FF2B5EF4-FFF2-40B4-BE49-F238E27FC236}">
                <a16:creationId xmlns:a16="http://schemas.microsoft.com/office/drawing/2014/main" id="{3445E8AE-F5A7-94B6-7872-1749AFEDD7B9}"/>
              </a:ext>
            </a:extLst>
          </p:cNvPr>
          <p:cNvPicPr>
            <a:picLocks noChangeAspect="1"/>
          </p:cNvPicPr>
          <p:nvPr/>
        </p:nvPicPr>
        <p:blipFill>
          <a:blip r:embed="rId3"/>
          <a:stretch>
            <a:fillRect/>
          </a:stretch>
        </p:blipFill>
        <p:spPr>
          <a:xfrm>
            <a:off x="283464" y="671790"/>
            <a:ext cx="4702617" cy="3119276"/>
          </a:xfrm>
          <a:prstGeom prst="rect">
            <a:avLst/>
          </a:prstGeom>
        </p:spPr>
      </p:pic>
    </p:spTree>
    <p:extLst>
      <p:ext uri="{BB962C8B-B14F-4D97-AF65-F5344CB8AC3E}">
        <p14:creationId xmlns:p14="http://schemas.microsoft.com/office/powerpoint/2010/main" val="2666411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CDE48-A698-B680-DF12-3B6F6A2C15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F35F2D-C3C2-BDA5-A6E8-8EE2F7A9F154}"/>
              </a:ext>
            </a:extLst>
          </p:cNvPr>
          <p:cNvSpPr txBox="1"/>
          <p:nvPr/>
        </p:nvSpPr>
        <p:spPr>
          <a:xfrm>
            <a:off x="283464" y="210125"/>
            <a:ext cx="10351008" cy="461665"/>
          </a:xfrm>
          <a:prstGeom prst="rect">
            <a:avLst/>
          </a:prstGeom>
          <a:noFill/>
        </p:spPr>
        <p:txBody>
          <a:bodyPr wrap="square">
            <a:spAutoFit/>
          </a:bodyPr>
          <a:lstStyle/>
          <a:p>
            <a:pPr marL="342900" indent="-342900" algn="l">
              <a:spcBef>
                <a:spcPts val="150"/>
              </a:spcBef>
              <a:buFont typeface="Arial" panose="020B0604020202020204" pitchFamily="34" charset="0"/>
              <a:buChar char="•"/>
            </a:pPr>
            <a:r>
              <a:rPr lang="en-US" sz="2400" b="0" i="0" dirty="0">
                <a:solidFill>
                  <a:schemeClr val="accent6">
                    <a:lumMod val="60000"/>
                    <a:lumOff val="40000"/>
                  </a:schemeClr>
                </a:solidFill>
                <a:effectLst/>
                <a:latin typeface="Anthropic Sans"/>
              </a:rPr>
              <a:t>Device fingerprinting  (See </a:t>
            </a:r>
            <a:r>
              <a:rPr lang="en-US" sz="2400" b="0" i="0" dirty="0" err="1">
                <a:solidFill>
                  <a:schemeClr val="accent6">
                    <a:lumMod val="60000"/>
                    <a:lumOff val="40000"/>
                  </a:schemeClr>
                </a:solidFill>
                <a:effectLst/>
                <a:latin typeface="Anthropic Sans"/>
              </a:rPr>
              <a:t>jupyter</a:t>
            </a:r>
            <a:r>
              <a:rPr lang="en-US" sz="2400" b="0" i="0" dirty="0">
                <a:solidFill>
                  <a:schemeClr val="accent6">
                    <a:lumMod val="60000"/>
                    <a:lumOff val="40000"/>
                  </a:schemeClr>
                </a:solidFill>
                <a:effectLst/>
                <a:latin typeface="Anthropic Sans"/>
              </a:rPr>
              <a:t> notebook for complete code)</a:t>
            </a:r>
          </a:p>
        </p:txBody>
      </p:sp>
      <p:pic>
        <p:nvPicPr>
          <p:cNvPr id="6" name="Picture 5">
            <a:extLst>
              <a:ext uri="{FF2B5EF4-FFF2-40B4-BE49-F238E27FC236}">
                <a16:creationId xmlns:a16="http://schemas.microsoft.com/office/drawing/2014/main" id="{09467FEB-772B-C42F-D95C-5D2B67B2B972}"/>
              </a:ext>
            </a:extLst>
          </p:cNvPr>
          <p:cNvPicPr>
            <a:picLocks noChangeAspect="1"/>
          </p:cNvPicPr>
          <p:nvPr/>
        </p:nvPicPr>
        <p:blipFill>
          <a:blip r:embed="rId2"/>
          <a:stretch>
            <a:fillRect/>
          </a:stretch>
        </p:blipFill>
        <p:spPr>
          <a:xfrm>
            <a:off x="283464" y="671790"/>
            <a:ext cx="7070392" cy="3202062"/>
          </a:xfrm>
          <a:prstGeom prst="rect">
            <a:avLst/>
          </a:prstGeom>
        </p:spPr>
      </p:pic>
      <p:pic>
        <p:nvPicPr>
          <p:cNvPr id="9" name="Picture 8">
            <a:extLst>
              <a:ext uri="{FF2B5EF4-FFF2-40B4-BE49-F238E27FC236}">
                <a16:creationId xmlns:a16="http://schemas.microsoft.com/office/drawing/2014/main" id="{A6BE6871-CE0F-682F-8621-9AB0DFB9CCB3}"/>
              </a:ext>
            </a:extLst>
          </p:cNvPr>
          <p:cNvPicPr>
            <a:picLocks noChangeAspect="1"/>
          </p:cNvPicPr>
          <p:nvPr/>
        </p:nvPicPr>
        <p:blipFill>
          <a:blip r:embed="rId3"/>
          <a:stretch>
            <a:fillRect/>
          </a:stretch>
        </p:blipFill>
        <p:spPr>
          <a:xfrm>
            <a:off x="283463" y="3977641"/>
            <a:ext cx="11495285" cy="2760240"/>
          </a:xfrm>
          <a:prstGeom prst="rect">
            <a:avLst/>
          </a:prstGeom>
        </p:spPr>
      </p:pic>
    </p:spTree>
    <p:extLst>
      <p:ext uri="{BB962C8B-B14F-4D97-AF65-F5344CB8AC3E}">
        <p14:creationId xmlns:p14="http://schemas.microsoft.com/office/powerpoint/2010/main" val="669285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29ECF-59F3-CED3-B99F-000520DDDE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A7DC79-3F89-F883-6290-D159501E248E}"/>
              </a:ext>
            </a:extLst>
          </p:cNvPr>
          <p:cNvSpPr txBox="1"/>
          <p:nvPr/>
        </p:nvSpPr>
        <p:spPr>
          <a:xfrm>
            <a:off x="283464" y="210125"/>
            <a:ext cx="10351008" cy="461665"/>
          </a:xfrm>
          <a:prstGeom prst="rect">
            <a:avLst/>
          </a:prstGeom>
          <a:noFill/>
        </p:spPr>
        <p:txBody>
          <a:bodyPr wrap="square">
            <a:spAutoFit/>
          </a:bodyPr>
          <a:lstStyle/>
          <a:p>
            <a:pPr marL="342900" indent="-342900" algn="l">
              <a:spcBef>
                <a:spcPts val="150"/>
              </a:spcBef>
              <a:buFont typeface="Arial" panose="020B0604020202020204" pitchFamily="34" charset="0"/>
              <a:buChar char="•"/>
            </a:pPr>
            <a:r>
              <a:rPr lang="en-US" sz="2400" b="0" i="0" dirty="0" err="1">
                <a:solidFill>
                  <a:schemeClr val="accent6">
                    <a:lumMod val="60000"/>
                    <a:lumOff val="40000"/>
                  </a:schemeClr>
                </a:solidFill>
                <a:effectLst/>
                <a:latin typeface="Anthropic Sans"/>
              </a:rPr>
              <a:t>Behavioural</a:t>
            </a:r>
            <a:r>
              <a:rPr lang="en-US" sz="2400" b="0" i="0" dirty="0">
                <a:solidFill>
                  <a:schemeClr val="accent6">
                    <a:lumMod val="60000"/>
                    <a:lumOff val="40000"/>
                  </a:schemeClr>
                </a:solidFill>
                <a:effectLst/>
                <a:latin typeface="Anthropic Sans"/>
              </a:rPr>
              <a:t> baseline</a:t>
            </a:r>
          </a:p>
        </p:txBody>
      </p:sp>
      <p:sp>
        <p:nvSpPr>
          <p:cNvPr id="3" name="TextBox 2">
            <a:extLst>
              <a:ext uri="{FF2B5EF4-FFF2-40B4-BE49-F238E27FC236}">
                <a16:creationId xmlns:a16="http://schemas.microsoft.com/office/drawing/2014/main" id="{647422AF-8A0A-CC90-BFC4-4C3F32C04751}"/>
              </a:ext>
            </a:extLst>
          </p:cNvPr>
          <p:cNvSpPr txBox="1"/>
          <p:nvPr/>
        </p:nvSpPr>
        <p:spPr>
          <a:xfrm>
            <a:off x="644652" y="923080"/>
            <a:ext cx="10995660" cy="4593565"/>
          </a:xfrm>
          <a:prstGeom prst="rect">
            <a:avLst/>
          </a:prstGeom>
          <a:noFill/>
        </p:spPr>
        <p:txBody>
          <a:bodyPr wrap="square">
            <a:spAutoFit/>
          </a:bodyPr>
          <a:lstStyle/>
          <a:p>
            <a:pPr>
              <a:spcBef>
                <a:spcPts val="1800"/>
              </a:spcBef>
              <a:spcAft>
                <a:spcPts val="900"/>
              </a:spcAft>
              <a:buNone/>
            </a:pPr>
            <a:r>
              <a:rPr lang="en-US" sz="2400" b="1" u="none" strike="noStrike" dirty="0">
                <a:solidFill>
                  <a:schemeClr val="accent6">
                    <a:lumMod val="60000"/>
                    <a:lumOff val="40000"/>
                  </a:schemeClr>
                </a:solidFill>
                <a:effectLst/>
                <a:latin typeface="Google Sans"/>
              </a:rPr>
              <a:t>Example:</a:t>
            </a:r>
          </a:p>
          <a:p>
            <a:pPr>
              <a:spcBef>
                <a:spcPts val="1800"/>
              </a:spcBef>
              <a:spcAft>
                <a:spcPts val="900"/>
              </a:spcAft>
              <a:buNone/>
            </a:pPr>
            <a:r>
              <a:rPr lang="en-US" sz="2400" b="1" u="none" strike="noStrike" dirty="0">
                <a:solidFill>
                  <a:schemeClr val="accent6">
                    <a:lumMod val="60000"/>
                    <a:lumOff val="40000"/>
                  </a:schemeClr>
                </a:solidFill>
                <a:effectLst/>
                <a:latin typeface="Google Sans"/>
              </a:rPr>
              <a:t>App Inactivity &amp; In-App Navigation Speed</a:t>
            </a:r>
          </a:p>
          <a:p>
            <a:pPr marL="342900" indent="-342900">
              <a:spcBef>
                <a:spcPts val="900"/>
              </a:spcBef>
              <a:spcAft>
                <a:spcPts val="900"/>
              </a:spcAft>
              <a:buFont typeface="Arial" panose="020B0604020202020204" pitchFamily="34" charset="0"/>
              <a:buChar char="•"/>
            </a:pPr>
            <a:r>
              <a:rPr lang="en-US" sz="2400" b="1" u="none" strike="noStrike" dirty="0">
                <a:solidFill>
                  <a:schemeClr val="accent6">
                    <a:lumMod val="60000"/>
                    <a:lumOff val="40000"/>
                  </a:schemeClr>
                </a:solidFill>
                <a:effectLst/>
                <a:latin typeface="Google Sans"/>
              </a:rPr>
              <a:t>The Baseline</a:t>
            </a:r>
            <a:r>
              <a:rPr lang="en-US" sz="2400" b="0" u="none" strike="noStrike" dirty="0">
                <a:solidFill>
                  <a:schemeClr val="accent6">
                    <a:lumMod val="60000"/>
                    <a:lumOff val="40000"/>
                  </a:schemeClr>
                </a:solidFill>
                <a:effectLst/>
                <a:latin typeface="Google Sans"/>
              </a:rPr>
              <a:t>: When regular users log into their banking app, they take their time. They might check their balance, scroll through transactions for 30 seconds, and look at a statement. They have a predictable pattern of taps and pauses.</a:t>
            </a:r>
          </a:p>
          <a:p>
            <a:pPr marL="342900" indent="-342900">
              <a:spcBef>
                <a:spcPts val="900"/>
              </a:spcBef>
              <a:spcAft>
                <a:spcPts val="900"/>
              </a:spcAft>
              <a:buFont typeface="Arial" panose="020B0604020202020204" pitchFamily="34" charset="0"/>
              <a:buChar char="•"/>
            </a:pPr>
            <a:r>
              <a:rPr lang="en-US" sz="2400" b="1" u="none" strike="noStrike" dirty="0">
                <a:solidFill>
                  <a:schemeClr val="accent6">
                    <a:lumMod val="60000"/>
                    <a:lumOff val="40000"/>
                  </a:schemeClr>
                </a:solidFill>
                <a:effectLst/>
                <a:latin typeface="Google Sans"/>
              </a:rPr>
              <a:t>The Anomaly</a:t>
            </a:r>
            <a:r>
              <a:rPr lang="en-US" sz="2400" b="0" u="none" strike="noStrike" dirty="0">
                <a:solidFill>
                  <a:schemeClr val="accent6">
                    <a:lumMod val="60000"/>
                    <a:lumOff val="40000"/>
                  </a:schemeClr>
                </a:solidFill>
                <a:effectLst/>
                <a:latin typeface="Google Sans"/>
              </a:rPr>
              <a:t>: A user logs in after six months of zero account activity. Within exactly 1.5 seconds of logging in, they navigate straight to the "Add New Wire Transfer Recipient" page and type out an external routing number perfectly without making typos. This rapid, laser-focused navigation screams automated bot script or an experienced fraudster using a compromised account.</a:t>
            </a:r>
          </a:p>
        </p:txBody>
      </p:sp>
    </p:spTree>
    <p:extLst>
      <p:ext uri="{BB962C8B-B14F-4D97-AF65-F5344CB8AC3E}">
        <p14:creationId xmlns:p14="http://schemas.microsoft.com/office/powerpoint/2010/main" val="1647891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F3429-8888-1ECF-D6E6-86001F8163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1808879-2CDA-2A67-DC8F-F257466F261A}"/>
              </a:ext>
            </a:extLst>
          </p:cNvPr>
          <p:cNvSpPr txBox="1"/>
          <p:nvPr/>
        </p:nvSpPr>
        <p:spPr>
          <a:xfrm>
            <a:off x="612648" y="338141"/>
            <a:ext cx="10351008" cy="1225977"/>
          </a:xfrm>
          <a:prstGeom prst="rect">
            <a:avLst/>
          </a:prstGeom>
          <a:noFill/>
        </p:spPr>
        <p:txBody>
          <a:bodyPr wrap="square">
            <a:spAutoFit/>
          </a:bodyPr>
          <a:lstStyle/>
          <a:p>
            <a:pPr algn="l">
              <a:buNone/>
            </a:pPr>
            <a:r>
              <a:rPr lang="en-US" sz="2400" b="0" i="0">
                <a:solidFill>
                  <a:schemeClr val="accent6">
                    <a:lumMod val="60000"/>
                    <a:lumOff val="40000"/>
                  </a:schemeClr>
                </a:solidFill>
                <a:effectLst/>
                <a:latin typeface="Anthropic Sans"/>
              </a:rPr>
              <a:t>🕸️Graph </a:t>
            </a:r>
            <a:r>
              <a:rPr lang="en-US" sz="2400" b="0" i="0" dirty="0">
                <a:solidFill>
                  <a:schemeClr val="accent6">
                    <a:lumMod val="60000"/>
                    <a:lumOff val="40000"/>
                  </a:schemeClr>
                </a:solidFill>
                <a:effectLst/>
                <a:latin typeface="Anthropic Sans"/>
              </a:rPr>
              <a:t>features — following the money</a:t>
            </a:r>
          </a:p>
          <a:p>
            <a:pPr algn="l">
              <a:spcBef>
                <a:spcPts val="150"/>
              </a:spcBef>
              <a:buNone/>
            </a:pPr>
            <a:r>
              <a:rPr lang="en-US" sz="2400" b="0" i="0" dirty="0">
                <a:solidFill>
                  <a:schemeClr val="accent6">
                    <a:lumMod val="60000"/>
                    <a:lumOff val="40000"/>
                  </a:schemeClr>
                </a:solidFill>
                <a:effectLst/>
                <a:latin typeface="Anthropic Sans"/>
              </a:rPr>
              <a:t>How shared phone numbers, addresses, and devices connect fraudsters. A visual intro to network/graph analysis.</a:t>
            </a:r>
          </a:p>
        </p:txBody>
      </p:sp>
    </p:spTree>
    <p:extLst>
      <p:ext uri="{BB962C8B-B14F-4D97-AF65-F5344CB8AC3E}">
        <p14:creationId xmlns:p14="http://schemas.microsoft.com/office/powerpoint/2010/main" val="1286760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1166</TotalTime>
  <Words>233</Words>
  <Application>Microsoft Office PowerPoint</Application>
  <PresentationFormat>Widescreen</PresentationFormat>
  <Paragraphs>22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Anthropic Sans</vt: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187</cp:revision>
  <dcterms:created xsi:type="dcterms:W3CDTF">2025-09-22T02:44:38Z</dcterms:created>
  <dcterms:modified xsi:type="dcterms:W3CDTF">2026-10-16T18:41:05Z</dcterms:modified>
</cp:coreProperties>
</file>