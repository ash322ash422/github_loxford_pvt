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869680" y="-1645920"/>
            <a:ext cx="5486400" cy="5486400"/>
          </a:xfrm>
          <a:prstGeom prst="ellipse">
            <a:avLst/>
          </a:prstGeom>
          <a:solidFill>
            <a:srgbClr val="132A46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692640" y="-822960"/>
            <a:ext cx="3657600" cy="3657600"/>
          </a:xfrm>
          <a:prstGeom prst="ellipse">
            <a:avLst/>
          </a:prstGeom>
          <a:solidFill>
            <a:srgbClr val="1C729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1371600" y="4389120"/>
            <a:ext cx="3200400" cy="3200400"/>
          </a:xfrm>
          <a:prstGeom prst="ellipse">
            <a:avLst/>
          </a:prstGeom>
          <a:solidFill>
            <a:srgbClr val="1C729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LECTURE + LIVE DEMO  ·  60 MINUTES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94360" y="1737360"/>
            <a:ext cx="9601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Smart Procurement Auditing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342900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Deploying AI agents to eliminate manual expense reviews and catch leakage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or policy violations at scale.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62636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D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8DA0"/>
                </a:solidFill>
                <a:latin typeface="Calibri"/>
                <a:ea typeface="Calibri"/>
                <a:cs typeface="Calibri"/>
                <a:sym typeface="Calibri"/>
              </a:rPr>
              <a:t>Corporate Learning Session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40080" y="5074920"/>
            <a:ext cx="457200" cy="822960"/>
          </a:xfrm>
          <a:prstGeom prst="roundRect">
            <a:avLst>
              <a:gd fmla="val 1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188720" y="4709160"/>
            <a:ext cx="457200" cy="1188720"/>
          </a:xfrm>
          <a:prstGeom prst="roundRect">
            <a:avLst>
              <a:gd fmla="val 10000" name="adj"/>
            </a:avLst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737360" y="5257800"/>
            <a:ext cx="457200" cy="640080"/>
          </a:xfrm>
          <a:prstGeom prst="roundRect">
            <a:avLst>
              <a:gd fmla="val 10000" name="adj"/>
            </a:avLst>
          </a:prstGeom>
          <a:solidFill>
            <a:srgbClr val="3E6E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SESSION ROADMAP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56692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What we'll cover in the next hour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1475720" y="411480"/>
            <a:ext cx="109728" cy="109728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1658600" y="41148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1841480" y="411480"/>
            <a:ext cx="109728" cy="109728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48640" y="1920240"/>
            <a:ext cx="2651760" cy="356616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822960" y="22402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22960" y="306324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The cost of manual review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22960" y="4069080"/>
            <a:ext cx="210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Why spot-checks and sampling leave leakage on the 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429000" y="1920240"/>
            <a:ext cx="2651760" cy="356616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703320" y="2240280"/>
            <a:ext cx="640080" cy="640080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703320" y="22402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703320" y="306324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How an AI audit agent works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703320" y="4069080"/>
            <a:ext cx="210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Architecture, reasoning, and what makes it “agentic”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09360" y="1920240"/>
            <a:ext cx="2651760" cy="356616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583680" y="2240280"/>
            <a:ext cx="640080" cy="640080"/>
          </a:xfrm>
          <a:prstGeom prst="ellipse">
            <a:avLst/>
          </a:prstGeom>
          <a:solidFill>
            <a:srgbClr val="B97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583680" y="22402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583680" y="306324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Live demo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583680" y="4069080"/>
            <a:ext cx="210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Watch an agent scan a real expense batch and flag violations in seconds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189720" y="1920240"/>
            <a:ext cx="2651760" cy="356616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9464040" y="2240280"/>
            <a:ext cx="640080" cy="64008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9464040" y="22402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9464040" y="306324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Rollout &amp; governance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9464040" y="4069080"/>
            <a:ext cx="2103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A practical path to deployment, with the guardrails that keep it safe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48640" y="56692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Manual review was never built for this volume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1475720" y="411480"/>
            <a:ext cx="109728" cy="109728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11658600" y="41148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11841480" y="411480"/>
            <a:ext cx="109728" cy="109728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48640" y="160020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Expense and procurement audit teams still rely on manual line-item checks and random sampling. The math doesn't work — fraud and leakage compound quietly while review capacity stays flat.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48640" y="2514600"/>
            <a:ext cx="2606040" cy="288036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04672" y="2834640"/>
            <a:ext cx="20939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5%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804672" y="3611880"/>
            <a:ext cx="20939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of annual revenue is lost to fraud on average, per ACFE's 2024 global fraud study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355848" y="2514600"/>
            <a:ext cx="2606040" cy="288036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611880" y="2834640"/>
            <a:ext cx="20939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791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B9791F"/>
                </a:solidFill>
                <a:latin typeface="Cambria"/>
                <a:ea typeface="Cambria"/>
                <a:cs typeface="Cambria"/>
                <a:sym typeface="Cambria"/>
              </a:rPr>
              <a:t>12 mo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611880" y="3611880"/>
            <a:ext cx="20939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median time a fraud case runs before it's detected — by which point the loss is done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163056" y="2514600"/>
            <a:ext cx="2606040" cy="288036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419088" y="2834640"/>
            <a:ext cx="20939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$1.9B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419088" y="3611880"/>
            <a:ext cx="20939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estimated annual cost of U.S. business travel &amp; expense fraud alone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970264" y="2514600"/>
            <a:ext cx="2606040" cy="288036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9226296" y="2834640"/>
            <a:ext cx="20939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~25%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9226296" y="3611880"/>
            <a:ext cx="20939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of employees admit to having padded or misreported an expense report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48640" y="56235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Sources: ACFE Report to the Nations 2024; Accounting Today / Chrome River survey on T&amp;E fraud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48640" y="56692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Where leakage and policy violations actually hide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1475720" y="411480"/>
            <a:ext cx="109728" cy="109728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11658600" y="41148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11841480" y="411480"/>
            <a:ext cx="109728" cy="109728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548640" y="1783080"/>
            <a:ext cx="530352" cy="5303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548640" y="17830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1234440" y="1673352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Threshold shaving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234440" y="2057400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Amounts filed just under an approval limit to dodge a sign-off step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126480" y="1783080"/>
            <a:ext cx="530352" cy="530352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6126480" y="17830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812280" y="1673352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Spend structuring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812280" y="2057400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One purchase split into two or more invoices, each individually “safe”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48640" y="3154680"/>
            <a:ext cx="530352" cy="530352"/>
          </a:xfrm>
          <a:prstGeom prst="ellipse">
            <a:avLst/>
          </a:prstGeom>
          <a:solidFill>
            <a:srgbClr val="B97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48640" y="31546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234440" y="3044952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Self-approval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234440" y="3429000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The requester and the approver are the same person — no second set of eyes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126480" y="3154680"/>
            <a:ext cx="530352" cy="530352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126480" y="31546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812280" y="3044952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Shell / duplicate vendors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812280" y="3429000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The same billing pattern recurs across a vendor used by multiple people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48640" y="4526280"/>
            <a:ext cx="530352" cy="53035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548640" y="45262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234440" y="4416552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Missing documentation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234440" y="4800600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High-value claims pushed through without a receipt or supporting invoice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126480" y="4526280"/>
            <a:ext cx="530352" cy="530352"/>
          </a:xfrm>
          <a:prstGeom prst="ellipse">
            <a:avLst/>
          </a:prstGeom>
          <a:solidFill>
            <a:srgbClr val="5E4B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126480" y="45262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812280" y="4416552"/>
            <a:ext cx="4526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Control bypass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812280" y="4800600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Reimbursable spend routed around the corporate card and its built-in limits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48640" y="56692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Why a human reviewer misses most of this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1475720" y="411480"/>
            <a:ext cx="109728" cy="109728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1658600" y="41148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11841480" y="411480"/>
            <a:ext cx="109728" cy="109728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548640" y="1691640"/>
            <a:ext cx="5394960" cy="4160520"/>
          </a:xfrm>
          <a:prstGeom prst="roundRect">
            <a:avLst>
              <a:gd fmla="val 175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Manual audit, today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868680" y="24688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234440" y="246888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Reviews a random 2–5% sample of transactions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868680" y="3035808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234440" y="3035808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Checks one record at a time, in isolation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868680" y="3602736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234440" y="3602736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Can't cross-reference vendor + employee patterns at 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868680" y="4169664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234440" y="4169664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Fatigues after the first few hundred line items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868680" y="4736592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234440" y="4736592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Finds violations weeks or months after the spend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217920" y="1691640"/>
            <a:ext cx="5394960" cy="4160520"/>
          </a:xfrm>
          <a:prstGeom prst="roundRect">
            <a:avLst>
              <a:gd fmla="val 1758" name="adj"/>
            </a:avLst>
          </a:prstGeom>
          <a:solidFill>
            <a:srgbClr val="132A46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audit agent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537960" y="246888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903720" y="246888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Scans 100% of transactions, every run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537960" y="3035808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903720" y="3035808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Reasons across the whole ledger at once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537960" y="3602736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903720" y="3602736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Cross-references vendor, employee, approver, and timing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537960" y="4169664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903720" y="4169664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Never fatigues — same rigor on record 1 and record 100,000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537960" y="4736592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903720" y="4736592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Flags in near real time, before payment clears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A46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9418320" y="3108960"/>
            <a:ext cx="4572000" cy="4572000"/>
          </a:xfrm>
          <a:prstGeom prst="ellipse">
            <a:avLst/>
          </a:prstGeom>
          <a:solidFill>
            <a:srgbClr val="0B1B3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640080" y="22860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0"/>
              <a:buFont typeface="Cambria"/>
              <a:buNone/>
            </a:pPr>
            <a:r>
              <a:rPr b="1" i="0" lang="en-US" sz="90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85800" y="36118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40080" y="3977640"/>
            <a:ext cx="9144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Meet the AI procurement audit agent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548640" y="56692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Automation vs. an agent — what's actually different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11475720" y="411480"/>
            <a:ext cx="109728" cy="109728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11658600" y="41148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11841480" y="411480"/>
            <a:ext cx="109728" cy="109728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548640" y="1737360"/>
            <a:ext cx="5257800" cy="402336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868680" y="20116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Rules-based automation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868680" y="2514600"/>
            <a:ext cx="46177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•  Applies fixed if/then checks to one record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•  Flags “amount &gt; limit”, stops there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•  Needs a human to connect the dots across records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•  Breaks when a new fraud pattern appears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•  Good at catching what you already knew to look for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6126480" y="1737360"/>
            <a:ext cx="5257800" cy="4023360"/>
          </a:xfrm>
          <a:prstGeom prst="roundRect">
            <a:avLst>
              <a:gd fmla="val 1818" name="adj"/>
            </a:avLst>
          </a:prstGeom>
          <a:solidFill>
            <a:srgbClr val="132A46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6446520" y="20116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Agentic AI auditing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446520" y="2514600"/>
            <a:ext cx="46177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•  Reasons across the whole batch, not one row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•  Links vendor + employee + approver + timing together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•  Surfaces patterns no single rule was written for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•  Explains its reasoning for every flag it raises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•  Escalates only what genuinely needs a human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548640" y="56692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From raw transaction to audit-ready flag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11475720" y="411480"/>
            <a:ext cx="109728" cy="109728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11658600" y="41148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11841480" y="411480"/>
            <a:ext cx="109728" cy="109728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594360" y="2377440"/>
            <a:ext cx="960120" cy="9601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594360" y="237744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10"/>
          <p:cNvCxnSpPr/>
          <p:nvPr/>
        </p:nvCxnSpPr>
        <p:spPr>
          <a:xfrm>
            <a:off x="1609344" y="2857500"/>
            <a:ext cx="1078992" cy="0"/>
          </a:xfrm>
          <a:prstGeom prst="straightConnector1">
            <a:avLst/>
          </a:prstGeom>
          <a:noFill/>
          <a:ln cap="flat" cmpd="sng" w="25400">
            <a:solidFill>
              <a:srgbClr val="C7D2D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1" name="Google Shape;191;p10"/>
          <p:cNvSpPr/>
          <p:nvPr/>
        </p:nvSpPr>
        <p:spPr>
          <a:xfrm>
            <a:off x="68580" y="35204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Ingest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68580" y="388620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Pulls expense, PO, and invoice data from ERP, card feeds, and T&amp;E systems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2743200" y="2377440"/>
            <a:ext cx="960120" cy="960120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2743200" y="237744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10"/>
          <p:cNvCxnSpPr/>
          <p:nvPr/>
        </p:nvCxnSpPr>
        <p:spPr>
          <a:xfrm>
            <a:off x="3758184" y="2857500"/>
            <a:ext cx="1078992" cy="0"/>
          </a:xfrm>
          <a:prstGeom prst="straightConnector1">
            <a:avLst/>
          </a:prstGeom>
          <a:noFill/>
          <a:ln cap="flat" cmpd="sng" w="25400">
            <a:solidFill>
              <a:srgbClr val="C7D2D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6" name="Google Shape;196;p10"/>
          <p:cNvSpPr/>
          <p:nvPr/>
        </p:nvSpPr>
        <p:spPr>
          <a:xfrm>
            <a:off x="2217420" y="35204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Enrich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2217420" y="388620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Matches each record to vendor master, policy limits, and approval chain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892040" y="2377440"/>
            <a:ext cx="960120" cy="960120"/>
          </a:xfrm>
          <a:prstGeom prst="ellipse">
            <a:avLst/>
          </a:prstGeom>
          <a:solidFill>
            <a:srgbClr val="B97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4892040" y="237744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10"/>
          <p:cNvCxnSpPr/>
          <p:nvPr/>
        </p:nvCxnSpPr>
        <p:spPr>
          <a:xfrm>
            <a:off x="5907024" y="2857500"/>
            <a:ext cx="1078992" cy="0"/>
          </a:xfrm>
          <a:prstGeom prst="straightConnector1">
            <a:avLst/>
          </a:prstGeom>
          <a:noFill/>
          <a:ln cap="flat" cmpd="sng" w="25400">
            <a:solidFill>
              <a:srgbClr val="C7D2D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1" name="Google Shape;201;p10"/>
          <p:cNvSpPr/>
          <p:nvPr/>
        </p:nvSpPr>
        <p:spPr>
          <a:xfrm>
            <a:off x="4366260" y="35204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Reason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4366260" y="388620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Cross-checks patterns: splitting, self-approval, shared vendors, timing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7040880" y="2377440"/>
            <a:ext cx="960120" cy="960120"/>
          </a:xfrm>
          <a:prstGeom prst="ellipse">
            <a:avLst/>
          </a:prstGeom>
          <a:solidFill>
            <a:srgbClr val="5E4B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7040880" y="237744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10"/>
          <p:cNvCxnSpPr/>
          <p:nvPr/>
        </p:nvCxnSpPr>
        <p:spPr>
          <a:xfrm>
            <a:off x="8055864" y="2857500"/>
            <a:ext cx="1078992" cy="0"/>
          </a:xfrm>
          <a:prstGeom prst="straightConnector1">
            <a:avLst/>
          </a:prstGeom>
          <a:noFill/>
          <a:ln cap="flat" cmpd="sng" w="25400">
            <a:solidFill>
              <a:srgbClr val="C7D2D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06" name="Google Shape;206;p10"/>
          <p:cNvSpPr/>
          <p:nvPr/>
        </p:nvSpPr>
        <p:spPr>
          <a:xfrm>
            <a:off x="6515100" y="35204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Score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6515100" y="388620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Assigns a risk score and a plain-language reason for every flag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9189720" y="2377440"/>
            <a:ext cx="960120" cy="9601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9189720" y="2377440"/>
            <a:ext cx="960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8663940" y="35204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Escalate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8663940" y="388620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Routes high-risk items to the audit queue; low-risk clears automatically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48640" y="16002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step that matters most is 3 — reasoning across records. That's the difference between a rule engine and an agent.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WHY NOW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48640" y="56692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The adoption curve has already turned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11475720" y="411480"/>
            <a:ext cx="109728" cy="109728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11658600" y="41148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11841480" y="411480"/>
            <a:ext cx="109728" cy="109728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548640" y="1920240"/>
            <a:ext cx="2606040" cy="292608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777240" y="224028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73%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777240" y="3108960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of AP departments now use some form of automation, up from 56% a few years ago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3355848" y="1920240"/>
            <a:ext cx="2606040" cy="292608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3584448" y="224028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48%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3584448" y="3108960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fewer fraud incidents at organizations running AI-based controls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163056" y="1920240"/>
            <a:ext cx="2606040" cy="292608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6391656" y="224028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E8B57"/>
                </a:solidFill>
                <a:latin typeface="Cambria"/>
                <a:ea typeface="Cambria"/>
                <a:cs typeface="Cambria"/>
                <a:sym typeface="Cambria"/>
              </a:rPr>
              <a:t>3.2x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6391656" y="3108960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average 3-year ROI reported by best-in-class AP automation adopters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8970264" y="1920240"/>
            <a:ext cx="2606040" cy="292608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9198864" y="2240280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10.1 → 2.9 days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9198864" y="3108960"/>
            <a:ext cx="21488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typical invoice cycle time with mature AI automation in place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548640" y="50749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Source: Stealth Agents AI Accounts Payable Automation Statistics,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548640" y="56692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Patterns that only surface when you look across records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11475720" y="411480"/>
            <a:ext cx="109728" cy="109728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11658600" y="41148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11841480" y="411480"/>
            <a:ext cx="109728" cy="109728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548640" y="1737360"/>
            <a:ext cx="108813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B97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1828800" y="1920240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Structuring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1828800" y="2304288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Two invoices from the same vendor, filed two days apart, each just under the sign-off limit — invisible row-by-row, obvious side-by-side.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548640" y="3337560"/>
            <a:ext cx="108813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822960" y="3657600"/>
            <a:ext cx="777240" cy="7772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822960" y="36576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1828800" y="3520440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Self-approval chains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1828800" y="3904488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A requester who is also their own approver, repeated across several claims — easy to miss once, a clear pattern by the third time.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548640" y="4937760"/>
            <a:ext cx="108813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822960" y="5257800"/>
            <a:ext cx="777240" cy="777240"/>
          </a:xfrm>
          <a:prstGeom prst="ellipse">
            <a:avLst/>
          </a:prstGeom>
          <a:solidFill>
            <a:srgbClr val="5E4B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822960" y="52578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1828800" y="5120640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Cross-employee vendor reuse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1828800" y="5504688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One vendor billed by several different employees, all near the threshold, all missing receipts — a shell-vendor signature.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A46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"/>
          <p:cNvSpPr/>
          <p:nvPr/>
        </p:nvSpPr>
        <p:spPr>
          <a:xfrm>
            <a:off x="9418320" y="3108960"/>
            <a:ext cx="4572000" cy="4572000"/>
          </a:xfrm>
          <a:prstGeom prst="ellipse">
            <a:avLst/>
          </a:prstGeom>
          <a:solidFill>
            <a:srgbClr val="0B1B30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640080" y="228600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000"/>
              <a:buFont typeface="Cambria"/>
              <a:buNone/>
            </a:pPr>
            <a:r>
              <a:rPr b="1" i="0" lang="en-US" sz="90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685800" y="36118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640080" y="3977640"/>
            <a:ext cx="9144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Watch the agent work on a real expense batch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548640" y="56692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What we're about to run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11475720" y="411480"/>
            <a:ext cx="109728" cy="109728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"/>
          <p:cNvSpPr/>
          <p:nvPr/>
        </p:nvSpPr>
        <p:spPr>
          <a:xfrm>
            <a:off x="11658600" y="41148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"/>
          <p:cNvSpPr/>
          <p:nvPr/>
        </p:nvSpPr>
        <p:spPr>
          <a:xfrm>
            <a:off x="11841480" y="411480"/>
            <a:ext cx="109728" cy="109728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"/>
          <p:cNvSpPr/>
          <p:nvPr/>
        </p:nvSpPr>
        <p:spPr>
          <a:xfrm>
            <a:off x="548640" y="1691640"/>
            <a:ext cx="5394960" cy="4114800"/>
          </a:xfrm>
          <a:prstGeom prst="roundRect">
            <a:avLst>
              <a:gd fmla="val 17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The 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868680" y="2487168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868680" y="248716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1280160" y="2395728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20 expense &amp; procurement transactions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868680" y="3108960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"/>
          <p:cNvSpPr/>
          <p:nvPr/>
        </p:nvSpPr>
        <p:spPr>
          <a:xfrm>
            <a:off x="868680" y="310896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1280160" y="301752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6 employees, 4 departments, ₹8.1L total spend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868680" y="3730752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868680" y="37307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1280160" y="3639312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Mix of clean transactions and planted violations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868680" y="4352544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868680" y="435254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1280160" y="4261104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Same format your ERP or T&amp;E export already produces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6217920" y="1691640"/>
            <a:ext cx="5394960" cy="4114800"/>
          </a:xfrm>
          <a:prstGeom prst="roundRect">
            <a:avLst>
              <a:gd fmla="val 1778" name="adj"/>
            </a:avLst>
          </a:prstGeom>
          <a:solidFill>
            <a:srgbClr val="132A46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agent's 6 checks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6537960" y="2450592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6903720" y="243230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Missing receipt above policy limit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6537960" y="2935224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6903720" y="291693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Threshold shaving near sign-off limit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6537960" y="3419856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6903720" y="340156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Self-approval / segregation of duties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6537960" y="3904488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6903720" y="38862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Spend structuring across linked invoices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6537960" y="43891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6903720" y="437083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Shared-vendor pattern across employees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6537960" y="4873752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6903720" y="485546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Reimbursable spend on a personal card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Facilitator: run  python ai_procurement_audit_agent.py  now and narrate the output live.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548640" y="56692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What the agent found — in under 2 seconds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11475720" y="411480"/>
            <a:ext cx="109728" cy="109728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11658600" y="41148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11841480" y="411480"/>
            <a:ext cx="109728" cy="109728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548640" y="1691640"/>
            <a:ext cx="260604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731520" y="192024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791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B9791F"/>
                </a:solidFill>
                <a:latin typeface="Cambria"/>
                <a:ea typeface="Cambria"/>
                <a:cs typeface="Cambria"/>
                <a:sym typeface="Cambria"/>
              </a:rPr>
              <a:t>10 / 20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731520" y="2560320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transactions flagged for review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3355848" y="1691640"/>
            <a:ext cx="260604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3538728" y="192024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90%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3538728" y="2560320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of total rupee spend touched by at least one flag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6163056" y="1691640"/>
            <a:ext cx="260604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6345936" y="192024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6345936" y="2560320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distinct violation patterns detected in a single pass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8970264" y="1691640"/>
            <a:ext cx="260604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9153144" y="192024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2E8B57"/>
                </a:solidFill>
                <a:latin typeface="Cambria"/>
                <a:ea typeface="Cambria"/>
                <a:cs typeface="Cambria"/>
                <a:sym typeface="Cambria"/>
              </a:rPr>
              <a:t>&lt;2 sec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9153144" y="2560320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to scan the full batch, versus hours of manual sampling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548640" y="3794760"/>
            <a:ext cx="10881360" cy="2103120"/>
          </a:xfrm>
          <a:prstGeom prst="roundRect">
            <a:avLst>
              <a:gd fmla="val 3478" name="adj"/>
            </a:avLst>
          </a:prstGeom>
          <a:solidFill>
            <a:srgbClr val="132A46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5"/>
          <p:cNvSpPr/>
          <p:nvPr/>
        </p:nvSpPr>
        <p:spPr>
          <a:xfrm>
            <a:off x="868680" y="40233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Headline finding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868680" y="44348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procurement officers approved their own purchases, one vendor was billed by two different employees using near-identical, just-under-threshold amounts, and one invoice was split in two to dodge sign-off — none of it visible from a single-row review, all of it visible the moment the agent looked across the ledger.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6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FROM DETECTION TO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548640" y="56692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A flag isn't a verdict — it's a routed decision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11475720" y="411480"/>
            <a:ext cx="109728" cy="109728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11658600" y="41148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11841480" y="411480"/>
            <a:ext cx="109728" cy="109728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"/>
          <p:cNvSpPr/>
          <p:nvPr/>
        </p:nvSpPr>
        <p:spPr>
          <a:xfrm>
            <a:off x="594360" y="2286000"/>
            <a:ext cx="914400" cy="914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594360" y="2286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16"/>
          <p:cNvCxnSpPr/>
          <p:nvPr/>
        </p:nvCxnSpPr>
        <p:spPr>
          <a:xfrm>
            <a:off x="1581912" y="2743200"/>
            <a:ext cx="1545336" cy="0"/>
          </a:xfrm>
          <a:prstGeom prst="straightConnector1">
            <a:avLst/>
          </a:prstGeom>
          <a:noFill/>
          <a:ln cap="flat" cmpd="sng" w="25400">
            <a:solidFill>
              <a:srgbClr val="C7D2D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2" name="Google Shape;352;p16"/>
          <p:cNvSpPr/>
          <p:nvPr/>
        </p:nvSpPr>
        <p:spPr>
          <a:xfrm>
            <a:off x="182880" y="33832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Agent flags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182880" y="3749040"/>
            <a:ext cx="2377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With a plain-language reason and a risk score, not a black-box score alone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3200400" y="2286000"/>
            <a:ext cx="914400" cy="914400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3200400" y="2286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16"/>
          <p:cNvCxnSpPr/>
          <p:nvPr/>
        </p:nvCxnSpPr>
        <p:spPr>
          <a:xfrm>
            <a:off x="4187952" y="2743200"/>
            <a:ext cx="1545336" cy="0"/>
          </a:xfrm>
          <a:prstGeom prst="straightConnector1">
            <a:avLst/>
          </a:prstGeom>
          <a:noFill/>
          <a:ln cap="flat" cmpd="sng" w="25400">
            <a:solidFill>
              <a:srgbClr val="C7D2D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7" name="Google Shape;357;p16"/>
          <p:cNvSpPr/>
          <p:nvPr/>
        </p:nvSpPr>
        <p:spPr>
          <a:xfrm>
            <a:off x="2788920" y="33832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Human reviews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2788920" y="3749040"/>
            <a:ext cx="2377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Auditor sees the same evidence the agent used and confirms, escalates, or dismisses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5806440" y="2286000"/>
            <a:ext cx="914400" cy="914400"/>
          </a:xfrm>
          <a:prstGeom prst="ellipse">
            <a:avLst/>
          </a:prstGeom>
          <a:solidFill>
            <a:srgbClr val="B97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5806440" y="2286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16"/>
          <p:cNvCxnSpPr/>
          <p:nvPr/>
        </p:nvCxnSpPr>
        <p:spPr>
          <a:xfrm>
            <a:off x="6793992" y="2743200"/>
            <a:ext cx="1545336" cy="0"/>
          </a:xfrm>
          <a:prstGeom prst="straightConnector1">
            <a:avLst/>
          </a:prstGeom>
          <a:noFill/>
          <a:ln cap="flat" cmpd="sng" w="25400">
            <a:solidFill>
              <a:srgbClr val="C7D2D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62" name="Google Shape;362;p16"/>
          <p:cNvSpPr/>
          <p:nvPr/>
        </p:nvSpPr>
        <p:spPr>
          <a:xfrm>
            <a:off x="5394960" y="33832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Action taken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5394960" y="3749040"/>
            <a:ext cx="2377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Payment held, vendor referred, policy reminder sent, or case opened — logged either way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8412480" y="2286000"/>
            <a:ext cx="914400" cy="9144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6"/>
          <p:cNvSpPr/>
          <p:nvPr/>
        </p:nvSpPr>
        <p:spPr>
          <a:xfrm>
            <a:off x="8412480" y="2286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8001000" y="33832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Agent learns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8001000" y="3749040"/>
            <a:ext cx="23774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Confirmed and dismissed outcomes feed back to sharpen thresholds and reduce noise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548640" y="160020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agent's job is to make sure every dollar of leakage gets in front of a human. The human's job stays the judgment call.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7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GETTING THERE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548640" y="56692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A practical four-phase rollout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11475720" y="411480"/>
            <a:ext cx="109728" cy="109728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7"/>
          <p:cNvSpPr/>
          <p:nvPr/>
        </p:nvSpPr>
        <p:spPr>
          <a:xfrm>
            <a:off x="11658600" y="41148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11841480" y="411480"/>
            <a:ext cx="109728" cy="109728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>
            <a:off x="548640" y="1783080"/>
            <a:ext cx="2606040" cy="393192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7"/>
          <p:cNvSpPr/>
          <p:nvPr/>
        </p:nvSpPr>
        <p:spPr>
          <a:xfrm>
            <a:off x="777240" y="205740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777240" y="237744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Pilot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777240" y="3017520"/>
            <a:ext cx="21488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Run the agent read-only on one business unit's historical data; no live decisions yet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3355848" y="1783080"/>
            <a:ext cx="2606040" cy="3931920"/>
          </a:xfrm>
          <a:prstGeom prst="roundRect">
            <a:avLst>
              <a:gd fmla="val 2807" name="adj"/>
            </a:avLst>
          </a:prstGeom>
          <a:solidFill>
            <a:srgbClr val="132A46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>
            <a:off x="3584448" y="205740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3584448" y="237744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Calibrate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3584448" y="3017520"/>
            <a:ext cx="21488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Tune thresholds against real audit outcomes; cut false positives with your team's input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6163056" y="1783080"/>
            <a:ext cx="2606040" cy="3931920"/>
          </a:xfrm>
          <a:prstGeom prst="roundRect">
            <a:avLst>
              <a:gd fmla="val 280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7"/>
          <p:cNvSpPr/>
          <p:nvPr/>
        </p:nvSpPr>
        <p:spPr>
          <a:xfrm>
            <a:off x="6391656" y="205740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6391656" y="237744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Co-pilot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6391656" y="3017520"/>
            <a:ext cx="21488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Agent flags feed the existing audit queue; humans confirm every action for 60–90 days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8970264" y="1783080"/>
            <a:ext cx="2606040" cy="3931920"/>
          </a:xfrm>
          <a:prstGeom prst="roundRect">
            <a:avLst>
              <a:gd fmla="val 2807" name="adj"/>
            </a:avLst>
          </a:prstGeom>
          <a:solidFill>
            <a:srgbClr val="132A46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7"/>
          <p:cNvSpPr/>
          <p:nvPr/>
        </p:nvSpPr>
        <p:spPr>
          <a:xfrm>
            <a:off x="9198864" y="205740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9198864" y="237744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Scale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9198864" y="3017520"/>
            <a:ext cx="21488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Extend across business units and spend categories; low-risk items clear automatically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8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DOING IT RESPONSIBLY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548640" y="56692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Guardrails that keep the agent trustworthy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/>
          <p:nvPr/>
        </p:nvSpPr>
        <p:spPr>
          <a:xfrm>
            <a:off x="11475720" y="411480"/>
            <a:ext cx="109728" cy="109728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8"/>
          <p:cNvSpPr/>
          <p:nvPr/>
        </p:nvSpPr>
        <p:spPr>
          <a:xfrm>
            <a:off x="11658600" y="41148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8"/>
          <p:cNvSpPr/>
          <p:nvPr/>
        </p:nvSpPr>
        <p:spPr>
          <a:xfrm>
            <a:off x="11841480" y="411480"/>
            <a:ext cx="109728" cy="109728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8"/>
          <p:cNvSpPr/>
          <p:nvPr/>
        </p:nvSpPr>
        <p:spPr>
          <a:xfrm>
            <a:off x="548640" y="1746504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548640" y="17465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1170432" y="164592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Explainability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1170432" y="1984248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Every flag carries the specific rule and data that triggered it — no unexplained scores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6126480" y="1746504"/>
            <a:ext cx="457200" cy="457200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>
            <a:off x="6126480" y="17465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6748272" y="164592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Human-in-the-loop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6748272" y="1984248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The agent recommends; a human decides on every escalation, always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548640" y="2935224"/>
            <a:ext cx="457200" cy="457200"/>
          </a:xfrm>
          <a:prstGeom prst="ellipse">
            <a:avLst/>
          </a:prstGeom>
          <a:solidFill>
            <a:srgbClr val="B97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"/>
          <p:cNvSpPr/>
          <p:nvPr/>
        </p:nvSpPr>
        <p:spPr>
          <a:xfrm>
            <a:off x="548640" y="29352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1170432" y="283464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Bias &amp; fairness checks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1170432" y="3172968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Flag rates reviewed by department and role to catch skew before it compounds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6126480" y="2935224"/>
            <a:ext cx="457200" cy="457200"/>
          </a:xfrm>
          <a:prstGeom prst="ellipse">
            <a:avLst/>
          </a:prstGeom>
          <a:solidFill>
            <a:srgbClr val="5E4B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8"/>
          <p:cNvSpPr/>
          <p:nvPr/>
        </p:nvSpPr>
        <p:spPr>
          <a:xfrm>
            <a:off x="6126480" y="29352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6748272" y="283464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Data minimization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6748272" y="3172968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Agent sees transaction and policy data only — not unrelated personal records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8"/>
          <p:cNvSpPr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1170432" y="402336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Audit trail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1170432" y="4361688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Every decision, override, and outcome is logged for internal and external audit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6126480" y="4123944"/>
            <a:ext cx="457200" cy="4572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8"/>
          <p:cNvSpPr/>
          <p:nvPr/>
        </p:nvSpPr>
        <p:spPr>
          <a:xfrm>
            <a:off x="6126480" y="41239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6748272" y="4023360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Change control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6748272" y="4361688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Rule and threshold changes go through the same sign-off as any financial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A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9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WRAP 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548640" y="566928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Three things to take back to your desk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11475720" y="411480"/>
            <a:ext cx="109728" cy="109728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9"/>
          <p:cNvSpPr/>
          <p:nvPr/>
        </p:nvSpPr>
        <p:spPr>
          <a:xfrm>
            <a:off x="11658600" y="41148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>
            <a:off x="11841480" y="411480"/>
            <a:ext cx="109728" cy="109728"/>
          </a:xfrm>
          <a:prstGeom prst="ellipse">
            <a:avLst/>
          </a:prstGeom>
          <a:solidFill>
            <a:srgbClr val="132A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9"/>
          <p:cNvSpPr/>
          <p:nvPr/>
        </p:nvSpPr>
        <p:spPr>
          <a:xfrm>
            <a:off x="548640" y="1737360"/>
            <a:ext cx="108813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9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9"/>
          <p:cNvSpPr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1828800" y="1901952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Manual sampling can't catch what only shows up across records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1828800" y="2304288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Structuring, self-approval, and shell-vendor patterns need an agent that reasons over the whole ledger, not one row at a time.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548640" y="3337560"/>
            <a:ext cx="108813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822960" y="3657600"/>
            <a:ext cx="777240" cy="777240"/>
          </a:xfrm>
          <a:prstGeom prst="ellipse">
            <a:avLst/>
          </a:prstGeom>
          <a:solidFill>
            <a:srgbClr val="B979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9"/>
          <p:cNvSpPr/>
          <p:nvPr/>
        </p:nvSpPr>
        <p:spPr>
          <a:xfrm>
            <a:off x="822960" y="36576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1828800" y="3502152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The ROI case is already proven at scale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1828800" y="3904488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48% fewer fraud incidents and 3.2x three-year ROI among best-in-class AP automation adopters — this isn't experimental anymore.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9"/>
          <p:cNvSpPr/>
          <p:nvPr/>
        </p:nvSpPr>
        <p:spPr>
          <a:xfrm>
            <a:off x="548640" y="4937760"/>
            <a:ext cx="108813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A3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9"/>
          <p:cNvSpPr/>
          <p:nvPr/>
        </p:nvSpPr>
        <p:spPr>
          <a:xfrm>
            <a:off x="822960" y="5257800"/>
            <a:ext cx="777240" cy="7772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9"/>
          <p:cNvSpPr/>
          <p:nvPr/>
        </p:nvSpPr>
        <p:spPr>
          <a:xfrm>
            <a:off x="822960" y="52578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9"/>
          <p:cNvSpPr/>
          <p:nvPr/>
        </p:nvSpPr>
        <p:spPr>
          <a:xfrm>
            <a:off x="1828800" y="5102352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A4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A46"/>
                </a:solidFill>
                <a:latin typeface="Cambria"/>
                <a:ea typeface="Cambria"/>
                <a:cs typeface="Cambria"/>
                <a:sym typeface="Cambria"/>
              </a:rPr>
              <a:t>Start as a co-pilot, not a replacement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9"/>
          <p:cNvSpPr/>
          <p:nvPr/>
        </p:nvSpPr>
        <p:spPr>
          <a:xfrm>
            <a:off x="1828800" y="5504688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7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C"/>
                </a:solidFill>
                <a:latin typeface="Calibri"/>
                <a:ea typeface="Calibri"/>
                <a:cs typeface="Calibri"/>
                <a:sym typeface="Calibri"/>
              </a:rPr>
              <a:t>A phased rollout with a human confirming every flag builds trust in the system before you let it act on its own.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9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7B4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B30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0"/>
          <p:cNvSpPr/>
          <p:nvPr/>
        </p:nvSpPr>
        <p:spPr>
          <a:xfrm>
            <a:off x="8869680" y="-1645920"/>
            <a:ext cx="5486400" cy="5486400"/>
          </a:xfrm>
          <a:prstGeom prst="ellipse">
            <a:avLst/>
          </a:prstGeom>
          <a:solidFill>
            <a:srgbClr val="132A46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0"/>
          <p:cNvSpPr/>
          <p:nvPr/>
        </p:nvSpPr>
        <p:spPr>
          <a:xfrm>
            <a:off x="9692640" y="-822960"/>
            <a:ext cx="3657600" cy="3657600"/>
          </a:xfrm>
          <a:prstGeom prst="ellipse">
            <a:avLst/>
          </a:prstGeom>
          <a:solidFill>
            <a:srgbClr val="1C7293">
              <a:alpha val="3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0"/>
          <p:cNvSpPr/>
          <p:nvPr/>
        </p:nvSpPr>
        <p:spPr>
          <a:xfrm>
            <a:off x="-1371600" y="4389120"/>
            <a:ext cx="3200400" cy="3200400"/>
          </a:xfrm>
          <a:prstGeom prst="ellipse">
            <a:avLst/>
          </a:prstGeom>
          <a:solidFill>
            <a:srgbClr val="1C7293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0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594360" y="1737360"/>
            <a:ext cx="9601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Questions &amp; Next Steps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640080" y="342900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FE3EA"/>
                </a:solidFill>
                <a:latin typeface="Calibri"/>
                <a:ea typeface="Calibri"/>
                <a:cs typeface="Calibri"/>
                <a:sym typeface="Calibri"/>
              </a:rPr>
              <a:t>What would it take to pilot this on one business unit's expense data next quarter?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640080" y="62636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8D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C8DA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640080" y="5074920"/>
            <a:ext cx="457200" cy="822960"/>
          </a:xfrm>
          <a:prstGeom prst="roundRect">
            <a:avLst>
              <a:gd fmla="val 10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0"/>
          <p:cNvSpPr/>
          <p:nvPr/>
        </p:nvSpPr>
        <p:spPr>
          <a:xfrm>
            <a:off x="1188720" y="4709160"/>
            <a:ext cx="457200" cy="1188720"/>
          </a:xfrm>
          <a:prstGeom prst="roundRect">
            <a:avLst>
              <a:gd fmla="val 10000" name="adj"/>
            </a:avLst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0"/>
          <p:cNvSpPr/>
          <p:nvPr/>
        </p:nvSpPr>
        <p:spPr>
          <a:xfrm>
            <a:off x="1737360" y="5257800"/>
            <a:ext cx="457200" cy="640080"/>
          </a:xfrm>
          <a:prstGeom prst="roundRect">
            <a:avLst>
              <a:gd fmla="val 10000" name="adj"/>
            </a:avLst>
          </a:prstGeom>
          <a:solidFill>
            <a:srgbClr val="3E6E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