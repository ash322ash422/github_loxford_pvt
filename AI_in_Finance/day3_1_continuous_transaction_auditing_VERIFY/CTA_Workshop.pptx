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393213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47"/>
        </a:solidFill>
        <a:effectLst/>
      </p:bgPr>
    </p:bg>
    <p:spTree>
      <p:nvGrpSpPr>
        <p:cNvPr id="1" name=""/>
        <p:cNvGrpSpPr/>
        <p:nvPr/>
      </p:nvGrpSpPr>
      <p:grpSpPr>
        <a:xfrm>
          <a:off x="0" y="0"/>
          <a:ext cx="0" cy="0"/>
          <a:chOff x="0" y="0"/>
          <a:chExt cx="0" cy="0"/>
        </a:xfrm>
      </p:grpSpPr>
      <p:sp>
        <p:nvSpPr>
          <p:cNvPr id="2" name="Shape 0"/>
          <p:cNvSpPr/>
          <p:nvPr/>
        </p:nvSpPr>
        <p:spPr>
          <a:xfrm>
            <a:off x="32780" y="0"/>
            <a:ext cx="12188952" cy="6858000"/>
          </a:xfrm>
          <a:prstGeom prst="rect">
            <a:avLst/>
          </a:prstGeom>
          <a:solidFill>
            <a:srgbClr val="141B47"/>
          </a:solidFill>
          <a:ln/>
        </p:spPr>
      </p:sp>
      <p:sp>
        <p:nvSpPr>
          <p:cNvPr id="3" name="Shape 1"/>
          <p:cNvSpPr/>
          <p:nvPr/>
        </p:nvSpPr>
        <p:spPr>
          <a:xfrm>
            <a:off x="8778240" y="822960"/>
            <a:ext cx="82296" cy="82296"/>
          </a:xfrm>
          <a:prstGeom prst="ellipse">
            <a:avLst/>
          </a:prstGeom>
          <a:solidFill>
            <a:srgbClr val="CADCFC"/>
          </a:solidFill>
          <a:ln/>
        </p:spPr>
      </p:sp>
      <p:sp>
        <p:nvSpPr>
          <p:cNvPr id="4" name="Shape 2"/>
          <p:cNvSpPr/>
          <p:nvPr/>
        </p:nvSpPr>
        <p:spPr>
          <a:xfrm>
            <a:off x="9738360" y="822960"/>
            <a:ext cx="82296" cy="82296"/>
          </a:xfrm>
          <a:prstGeom prst="ellipse">
            <a:avLst/>
          </a:prstGeom>
          <a:solidFill>
            <a:srgbClr val="CADCFC"/>
          </a:solidFill>
          <a:ln/>
        </p:spPr>
      </p:sp>
      <p:sp>
        <p:nvSpPr>
          <p:cNvPr id="5" name="Shape 3"/>
          <p:cNvSpPr/>
          <p:nvPr/>
        </p:nvSpPr>
        <p:spPr>
          <a:xfrm>
            <a:off x="10698480" y="822960"/>
            <a:ext cx="82296" cy="82296"/>
          </a:xfrm>
          <a:prstGeom prst="ellipse">
            <a:avLst/>
          </a:prstGeom>
          <a:solidFill>
            <a:srgbClr val="CADCFC"/>
          </a:solidFill>
          <a:ln/>
        </p:spPr>
      </p:sp>
      <p:sp>
        <p:nvSpPr>
          <p:cNvPr id="6" name="Shape 4"/>
          <p:cNvSpPr/>
          <p:nvPr/>
        </p:nvSpPr>
        <p:spPr>
          <a:xfrm>
            <a:off x="8778240" y="1783080"/>
            <a:ext cx="82296" cy="82296"/>
          </a:xfrm>
          <a:prstGeom prst="ellipse">
            <a:avLst/>
          </a:prstGeom>
          <a:solidFill>
            <a:srgbClr val="CADCFC"/>
          </a:solidFill>
          <a:ln/>
        </p:spPr>
      </p:sp>
      <p:sp>
        <p:nvSpPr>
          <p:cNvPr id="7" name="Shape 5"/>
          <p:cNvSpPr/>
          <p:nvPr/>
        </p:nvSpPr>
        <p:spPr>
          <a:xfrm>
            <a:off x="9738360" y="1783080"/>
            <a:ext cx="82296" cy="82296"/>
          </a:xfrm>
          <a:prstGeom prst="ellipse">
            <a:avLst/>
          </a:prstGeom>
          <a:solidFill>
            <a:srgbClr val="CADCFC"/>
          </a:solidFill>
          <a:ln/>
        </p:spPr>
      </p:sp>
      <p:sp>
        <p:nvSpPr>
          <p:cNvPr id="8" name="Shape 6"/>
          <p:cNvSpPr/>
          <p:nvPr/>
        </p:nvSpPr>
        <p:spPr>
          <a:xfrm>
            <a:off x="10698480" y="1783080"/>
            <a:ext cx="82296" cy="82296"/>
          </a:xfrm>
          <a:prstGeom prst="ellipse">
            <a:avLst/>
          </a:prstGeom>
          <a:solidFill>
            <a:srgbClr val="CADCFC"/>
          </a:solidFill>
          <a:ln/>
        </p:spPr>
      </p:sp>
      <p:sp>
        <p:nvSpPr>
          <p:cNvPr id="9" name="Shape 7"/>
          <p:cNvSpPr/>
          <p:nvPr/>
        </p:nvSpPr>
        <p:spPr>
          <a:xfrm>
            <a:off x="8778240" y="2743200"/>
            <a:ext cx="82296" cy="82296"/>
          </a:xfrm>
          <a:prstGeom prst="ellipse">
            <a:avLst/>
          </a:prstGeom>
          <a:solidFill>
            <a:srgbClr val="CADCFC"/>
          </a:solidFill>
          <a:ln/>
        </p:spPr>
      </p:sp>
      <p:sp>
        <p:nvSpPr>
          <p:cNvPr id="10" name="Shape 8"/>
          <p:cNvSpPr/>
          <p:nvPr/>
        </p:nvSpPr>
        <p:spPr>
          <a:xfrm>
            <a:off x="9738360" y="2743200"/>
            <a:ext cx="82296" cy="82296"/>
          </a:xfrm>
          <a:prstGeom prst="ellipse">
            <a:avLst/>
          </a:prstGeom>
          <a:solidFill>
            <a:srgbClr val="CADCFC"/>
          </a:solidFill>
          <a:ln/>
        </p:spPr>
      </p:sp>
      <p:sp>
        <p:nvSpPr>
          <p:cNvPr id="11" name="Shape 9"/>
          <p:cNvSpPr/>
          <p:nvPr/>
        </p:nvSpPr>
        <p:spPr>
          <a:xfrm>
            <a:off x="10698480" y="2743200"/>
            <a:ext cx="82296" cy="82296"/>
          </a:xfrm>
          <a:prstGeom prst="ellipse">
            <a:avLst/>
          </a:prstGeom>
          <a:solidFill>
            <a:srgbClr val="CADCFC"/>
          </a:solidFill>
          <a:ln/>
        </p:spPr>
      </p:sp>
      <p:sp>
        <p:nvSpPr>
          <p:cNvPr id="12" name="Text 10"/>
          <p:cNvSpPr/>
          <p:nvPr/>
        </p:nvSpPr>
        <p:spPr>
          <a:xfrm>
            <a:off x="731520" y="2148840"/>
            <a:ext cx="9601200" cy="365760"/>
          </a:xfrm>
          <a:prstGeom prst="rect">
            <a:avLst/>
          </a:prstGeom>
          <a:noFill/>
          <a:ln/>
        </p:spPr>
        <p:txBody>
          <a:bodyPr wrap="square" lIns="0" tIns="0" rIns="0" bIns="0" rtlCol="0" anchor="ctr"/>
          <a:lstStyle/>
          <a:p>
            <a:pPr marL="0" indent="0">
              <a:buNone/>
            </a:pPr>
            <a:r>
              <a:rPr lang="en-US" sz="1400" b="1" kern="0" spc="200" dirty="0">
                <a:solidFill>
                  <a:srgbClr val="D03B3B"/>
                </a:solidFill>
                <a:latin typeface="Calibri" pitchFamily="34" charset="0"/>
                <a:ea typeface="Calibri" pitchFamily="34" charset="-122"/>
                <a:cs typeface="Calibri" pitchFamily="34" charset="-120"/>
              </a:rPr>
              <a:t>CONTINUOUS TRANSACTION AUDITING</a:t>
            </a:r>
            <a:endParaRPr lang="en-US" sz="1400" dirty="0"/>
          </a:p>
        </p:txBody>
      </p:sp>
      <p:sp>
        <p:nvSpPr>
          <p:cNvPr id="13" name="Text 11"/>
          <p:cNvSpPr/>
          <p:nvPr/>
        </p:nvSpPr>
        <p:spPr>
          <a:xfrm>
            <a:off x="731520" y="2514600"/>
            <a:ext cx="10058400" cy="1371600"/>
          </a:xfrm>
          <a:prstGeom prst="rect">
            <a:avLst/>
          </a:prstGeom>
          <a:noFill/>
          <a:ln/>
        </p:spPr>
        <p:txBody>
          <a:bodyPr wrap="square" lIns="0" tIns="0" rIns="0" bIns="0"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From Sample to Certainty</a:t>
            </a:r>
            <a:endParaRPr lang="en-US" sz="4600" dirty="0"/>
          </a:p>
        </p:txBody>
      </p:sp>
      <p:sp>
        <p:nvSpPr>
          <p:cNvPr id="14" name="Text 12"/>
          <p:cNvSpPr/>
          <p:nvPr/>
        </p:nvSpPr>
        <p:spPr>
          <a:xfrm>
            <a:off x="731520" y="3794760"/>
            <a:ext cx="8686800" cy="822960"/>
          </a:xfrm>
          <a:prstGeom prst="rect">
            <a:avLst/>
          </a:prstGeom>
          <a:noFill/>
          <a:ln/>
        </p:spPr>
        <p:txBody>
          <a:bodyPr wrap="square" lIns="0" tIns="0" rIns="0" bIns="0" rtlCol="0" anchor="ctr"/>
          <a:lstStyle/>
          <a:p>
            <a:pPr marL="0" indent="0">
              <a:lnSpc>
                <a:spcPct val="125000"/>
              </a:lnSpc>
              <a:buNone/>
            </a:pPr>
            <a:r>
              <a:rPr lang="en-US" sz="1600" dirty="0">
                <a:solidFill>
                  <a:srgbClr val="CADCFC"/>
                </a:solidFill>
                <a:latin typeface="Calibri" pitchFamily="34" charset="0"/>
                <a:ea typeface="Calibri" pitchFamily="34" charset="-122"/>
                <a:cs typeface="Calibri" pitchFamily="34" charset="-120"/>
              </a:rPr>
              <a:t>Moving from sample-based quarterly audits to automated, 100% transaction</a:t>
            </a:r>
            <a:endParaRPr lang="en-US" sz="1600" dirty="0"/>
          </a:p>
          <a:p>
            <a:pPr marL="0" indent="0">
              <a:lnSpc>
                <a:spcPct val="125000"/>
              </a:lnSpc>
              <a:buNone/>
            </a:pPr>
            <a:r>
              <a:rPr lang="en-US" sz="1600" dirty="0">
                <a:solidFill>
                  <a:srgbClr val="CADCFC"/>
                </a:solidFill>
                <a:latin typeface="Calibri" pitchFamily="34" charset="0"/>
                <a:ea typeface="Calibri" pitchFamily="34" charset="-122"/>
                <a:cs typeface="Calibri" pitchFamily="34" charset="-120"/>
              </a:rPr>
              <a:t>coverage with real-time anomaly detection.</a:t>
            </a:r>
            <a:endParaRPr lang="en-US" sz="1600" dirty="0"/>
          </a:p>
        </p:txBody>
      </p:sp>
      <p:sp>
        <p:nvSpPr>
          <p:cNvPr id="15" name="Text 13"/>
          <p:cNvSpPr/>
          <p:nvPr/>
        </p:nvSpPr>
        <p:spPr>
          <a:xfrm>
            <a:off x="731520" y="5989320"/>
            <a:ext cx="7315200" cy="320040"/>
          </a:xfrm>
          <a:prstGeom prst="rect">
            <a:avLst/>
          </a:prstGeom>
          <a:noFill/>
          <a:ln/>
        </p:spPr>
        <p:txBody>
          <a:bodyPr wrap="square" lIns="0" tIns="0" rIns="0" bIns="0" rtlCol="0" anchor="ctr"/>
          <a:lstStyle/>
          <a:p>
            <a:pPr marL="0" indent="0">
              <a:buNone/>
            </a:pPr>
            <a:r>
              <a:rPr lang="en-US" sz="1100" b="1" kern="0" spc="150" dirty="0">
                <a:solidFill>
                  <a:srgbClr val="6B7280"/>
                </a:solidFill>
                <a:latin typeface="Calibri" pitchFamily="34" charset="0"/>
                <a:ea typeface="Calibri" pitchFamily="34" charset="-122"/>
                <a:cs typeface="Calibri" pitchFamily="34" charset="-120"/>
              </a:rPr>
              <a:t>1-HOUR SESSION   •   LECTURE + LIVE DEMO</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D03B3B"/>
                </a:solidFill>
                <a:latin typeface="Calibri" pitchFamily="34" charset="0"/>
                <a:ea typeface="Calibri" pitchFamily="34" charset="-122"/>
                <a:cs typeface="Calibri" pitchFamily="34" charset="-120"/>
              </a:rPr>
              <a:t>AGENDA</a:t>
            </a:r>
            <a:endParaRPr lang="en-US" sz="1200" dirty="0"/>
          </a:p>
        </p:txBody>
      </p:sp>
      <p:sp>
        <p:nvSpPr>
          <p:cNvPr id="3" name="Text 1"/>
          <p:cNvSpPr/>
          <p:nvPr/>
        </p:nvSpPr>
        <p:spPr>
          <a:xfrm>
            <a:off x="548640" y="685800"/>
            <a:ext cx="10515600" cy="822960"/>
          </a:xfrm>
          <a:prstGeom prst="rect">
            <a:avLst/>
          </a:prstGeom>
          <a:noFill/>
          <a:ln/>
        </p:spPr>
        <p:txBody>
          <a:bodyPr wrap="square" lIns="0" tIns="0" rIns="0" bIns="0" rtlCol="0" anchor="ctr"/>
          <a:lstStyle/>
          <a:p>
            <a:pPr marL="0" indent="0" algn="l">
              <a:buNone/>
            </a:pPr>
            <a:r>
              <a:rPr lang="en-US" sz="3200" b="1" dirty="0">
                <a:solidFill>
                  <a:srgbClr val="1E2761"/>
                </a:solidFill>
                <a:latin typeface="Cambria" pitchFamily="34" charset="0"/>
                <a:ea typeface="Cambria" pitchFamily="34" charset="-122"/>
                <a:cs typeface="Cambria" pitchFamily="34" charset="-120"/>
              </a:rPr>
              <a:t>What we'll cover in the next hour</a:t>
            </a:r>
            <a:endParaRPr lang="en-US" sz="3200" dirty="0"/>
          </a:p>
        </p:txBody>
      </p:sp>
      <p:sp>
        <p:nvSpPr>
          <p:cNvPr id="4" name="Shape 2"/>
          <p:cNvSpPr/>
          <p:nvPr/>
        </p:nvSpPr>
        <p:spPr>
          <a:xfrm>
            <a:off x="548640" y="1783080"/>
            <a:ext cx="457200" cy="457200"/>
          </a:xfrm>
          <a:prstGeom prst="ellipse">
            <a:avLst/>
          </a:prstGeom>
          <a:solidFill>
            <a:srgbClr val="1E2761"/>
          </a:solidFill>
          <a:ln/>
        </p:spPr>
      </p:sp>
      <p:sp>
        <p:nvSpPr>
          <p:cNvPr id="5" name="Text 3"/>
          <p:cNvSpPr/>
          <p:nvPr/>
        </p:nvSpPr>
        <p:spPr>
          <a:xfrm>
            <a:off x="548640" y="178308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234440" y="1728216"/>
            <a:ext cx="7863840" cy="365760"/>
          </a:xfrm>
          <a:prstGeom prst="rect">
            <a:avLst/>
          </a:prstGeom>
          <a:noFill/>
          <a:ln/>
        </p:spPr>
        <p:txBody>
          <a:bodyPr wrap="square" lIns="0" tIns="0" rIns="0" bIns="0"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The problem with sampling</a:t>
            </a:r>
            <a:endParaRPr lang="en-US" sz="1600" dirty="0"/>
          </a:p>
        </p:txBody>
      </p:sp>
      <p:sp>
        <p:nvSpPr>
          <p:cNvPr id="7" name="Text 5"/>
          <p:cNvSpPr/>
          <p:nvPr/>
        </p:nvSpPr>
        <p:spPr>
          <a:xfrm>
            <a:off x="1234440" y="2075688"/>
            <a:ext cx="7955280" cy="45720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Why testing 30-60 transactions a quarter leaves the other 99% of the ledger unexamined.</a:t>
            </a:r>
            <a:endParaRPr lang="en-US" sz="1200" dirty="0"/>
          </a:p>
        </p:txBody>
      </p:sp>
      <p:sp>
        <p:nvSpPr>
          <p:cNvPr id="8" name="Text 6"/>
          <p:cNvSpPr/>
          <p:nvPr/>
        </p:nvSpPr>
        <p:spPr>
          <a:xfrm>
            <a:off x="9692640" y="1764792"/>
            <a:ext cx="1737360" cy="365760"/>
          </a:xfrm>
          <a:prstGeom prst="rect">
            <a:avLst/>
          </a:prstGeom>
          <a:noFill/>
          <a:ln/>
        </p:spPr>
        <p:txBody>
          <a:bodyPr wrap="square" lIns="0" tIns="0" rIns="0" bIns="0" rtlCol="0" anchor="ctr"/>
          <a:lstStyle/>
          <a:p>
            <a:pPr marL="0" indent="0" algn="r">
              <a:buNone/>
            </a:pPr>
            <a:r>
              <a:rPr lang="en-US" sz="1200" b="1" dirty="0">
                <a:solidFill>
                  <a:srgbClr val="1E2761"/>
                </a:solidFill>
                <a:latin typeface="Calibri" pitchFamily="34" charset="0"/>
                <a:ea typeface="Calibri" pitchFamily="34" charset="-122"/>
                <a:cs typeface="Calibri" pitchFamily="34" charset="-120"/>
              </a:rPr>
              <a:t>10 min</a:t>
            </a:r>
            <a:endParaRPr lang="en-US" sz="1200" dirty="0"/>
          </a:p>
        </p:txBody>
      </p:sp>
      <p:sp>
        <p:nvSpPr>
          <p:cNvPr id="9" name="Shape 7"/>
          <p:cNvSpPr/>
          <p:nvPr/>
        </p:nvSpPr>
        <p:spPr>
          <a:xfrm>
            <a:off x="548640" y="2679192"/>
            <a:ext cx="457200" cy="457200"/>
          </a:xfrm>
          <a:prstGeom prst="ellipse">
            <a:avLst/>
          </a:prstGeom>
          <a:solidFill>
            <a:srgbClr val="1E2761"/>
          </a:solidFill>
          <a:ln/>
        </p:spPr>
      </p:sp>
      <p:sp>
        <p:nvSpPr>
          <p:cNvPr id="10" name="Text 8"/>
          <p:cNvSpPr/>
          <p:nvPr/>
        </p:nvSpPr>
        <p:spPr>
          <a:xfrm>
            <a:off x="548640" y="267919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9"/>
          <p:cNvSpPr/>
          <p:nvPr/>
        </p:nvSpPr>
        <p:spPr>
          <a:xfrm>
            <a:off x="1234440" y="2624328"/>
            <a:ext cx="7863840" cy="365760"/>
          </a:xfrm>
          <a:prstGeom prst="rect">
            <a:avLst/>
          </a:prstGeom>
          <a:noFill/>
          <a:ln/>
        </p:spPr>
        <p:txBody>
          <a:bodyPr wrap="square" lIns="0" tIns="0" rIns="0" bIns="0"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What continuous transaction auditing is</a:t>
            </a:r>
            <a:endParaRPr lang="en-US" sz="1600" dirty="0"/>
          </a:p>
        </p:txBody>
      </p:sp>
      <p:sp>
        <p:nvSpPr>
          <p:cNvPr id="12" name="Text 10"/>
          <p:cNvSpPr/>
          <p:nvPr/>
        </p:nvSpPr>
        <p:spPr>
          <a:xfrm>
            <a:off x="1234440" y="2971800"/>
            <a:ext cx="7955280" cy="45720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Definitions, architecture, and how it differs from continuous monitoring.</a:t>
            </a:r>
            <a:endParaRPr lang="en-US" sz="1200" dirty="0"/>
          </a:p>
        </p:txBody>
      </p:sp>
      <p:sp>
        <p:nvSpPr>
          <p:cNvPr id="13" name="Text 11"/>
          <p:cNvSpPr/>
          <p:nvPr/>
        </p:nvSpPr>
        <p:spPr>
          <a:xfrm>
            <a:off x="9692640" y="2660904"/>
            <a:ext cx="1737360" cy="365760"/>
          </a:xfrm>
          <a:prstGeom prst="rect">
            <a:avLst/>
          </a:prstGeom>
          <a:noFill/>
          <a:ln/>
        </p:spPr>
        <p:txBody>
          <a:bodyPr wrap="square" lIns="0" tIns="0" rIns="0" bIns="0" rtlCol="0" anchor="ctr"/>
          <a:lstStyle/>
          <a:p>
            <a:pPr marL="0" indent="0" algn="r">
              <a:buNone/>
            </a:pPr>
            <a:r>
              <a:rPr lang="en-US" sz="1200" b="1" dirty="0">
                <a:solidFill>
                  <a:srgbClr val="1E2761"/>
                </a:solidFill>
                <a:latin typeface="Calibri" pitchFamily="34" charset="0"/>
                <a:ea typeface="Calibri" pitchFamily="34" charset="-122"/>
                <a:cs typeface="Calibri" pitchFamily="34" charset="-120"/>
              </a:rPr>
              <a:t>10 min</a:t>
            </a:r>
            <a:endParaRPr lang="en-US" sz="1200" dirty="0"/>
          </a:p>
        </p:txBody>
      </p:sp>
      <p:sp>
        <p:nvSpPr>
          <p:cNvPr id="14" name="Shape 12"/>
          <p:cNvSpPr/>
          <p:nvPr/>
        </p:nvSpPr>
        <p:spPr>
          <a:xfrm>
            <a:off x="548640" y="3575304"/>
            <a:ext cx="457200" cy="457200"/>
          </a:xfrm>
          <a:prstGeom prst="ellipse">
            <a:avLst/>
          </a:prstGeom>
          <a:solidFill>
            <a:srgbClr val="1E2761"/>
          </a:solidFill>
          <a:ln/>
        </p:spPr>
      </p:sp>
      <p:sp>
        <p:nvSpPr>
          <p:cNvPr id="15" name="Text 13"/>
          <p:cNvSpPr/>
          <p:nvPr/>
        </p:nvSpPr>
        <p:spPr>
          <a:xfrm>
            <a:off x="548640" y="3575304"/>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6" name="Text 14"/>
          <p:cNvSpPr/>
          <p:nvPr/>
        </p:nvSpPr>
        <p:spPr>
          <a:xfrm>
            <a:off x="1234440" y="3520440"/>
            <a:ext cx="7863840" cy="365760"/>
          </a:xfrm>
          <a:prstGeom prst="rect">
            <a:avLst/>
          </a:prstGeom>
          <a:noFill/>
          <a:ln/>
        </p:spPr>
        <p:txBody>
          <a:bodyPr wrap="square" lIns="0" tIns="0" rIns="0" bIns="0"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Detection techniques</a:t>
            </a:r>
            <a:endParaRPr lang="en-US" sz="1600" dirty="0"/>
          </a:p>
        </p:txBody>
      </p:sp>
      <p:sp>
        <p:nvSpPr>
          <p:cNvPr id="17" name="Text 15"/>
          <p:cNvSpPr/>
          <p:nvPr/>
        </p:nvSpPr>
        <p:spPr>
          <a:xfrm>
            <a:off x="1234440" y="3867912"/>
            <a:ext cx="7955280" cy="45720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Rule-based tests (Benford's Law, thresholds, timing) and ML-based anomaly detection.</a:t>
            </a:r>
            <a:endParaRPr lang="en-US" sz="1200" dirty="0"/>
          </a:p>
        </p:txBody>
      </p:sp>
      <p:sp>
        <p:nvSpPr>
          <p:cNvPr id="18" name="Text 16"/>
          <p:cNvSpPr/>
          <p:nvPr/>
        </p:nvSpPr>
        <p:spPr>
          <a:xfrm>
            <a:off x="9692640" y="3557016"/>
            <a:ext cx="1737360" cy="365760"/>
          </a:xfrm>
          <a:prstGeom prst="rect">
            <a:avLst/>
          </a:prstGeom>
          <a:noFill/>
          <a:ln/>
        </p:spPr>
        <p:txBody>
          <a:bodyPr wrap="square" lIns="0" tIns="0" rIns="0" bIns="0" rtlCol="0" anchor="ctr"/>
          <a:lstStyle/>
          <a:p>
            <a:pPr marL="0" indent="0" algn="r">
              <a:buNone/>
            </a:pPr>
            <a:r>
              <a:rPr lang="en-US" sz="1200" b="1" dirty="0">
                <a:solidFill>
                  <a:srgbClr val="1E2761"/>
                </a:solidFill>
                <a:latin typeface="Calibri" pitchFamily="34" charset="0"/>
                <a:ea typeface="Calibri" pitchFamily="34" charset="-122"/>
                <a:cs typeface="Calibri" pitchFamily="34" charset="-120"/>
              </a:rPr>
              <a:t>10 min</a:t>
            </a:r>
            <a:endParaRPr lang="en-US" sz="1200" dirty="0"/>
          </a:p>
        </p:txBody>
      </p:sp>
      <p:sp>
        <p:nvSpPr>
          <p:cNvPr id="19" name="Shape 17"/>
          <p:cNvSpPr/>
          <p:nvPr/>
        </p:nvSpPr>
        <p:spPr>
          <a:xfrm>
            <a:off x="548640" y="4471416"/>
            <a:ext cx="457200" cy="457200"/>
          </a:xfrm>
          <a:prstGeom prst="ellipse">
            <a:avLst/>
          </a:prstGeom>
          <a:solidFill>
            <a:srgbClr val="1E2761"/>
          </a:solidFill>
          <a:ln/>
        </p:spPr>
      </p:sp>
      <p:sp>
        <p:nvSpPr>
          <p:cNvPr id="20" name="Text 18"/>
          <p:cNvSpPr/>
          <p:nvPr/>
        </p:nvSpPr>
        <p:spPr>
          <a:xfrm>
            <a:off x="548640" y="4471416"/>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1" name="Text 19"/>
          <p:cNvSpPr/>
          <p:nvPr/>
        </p:nvSpPr>
        <p:spPr>
          <a:xfrm>
            <a:off x="1234440" y="4416552"/>
            <a:ext cx="7863840" cy="365760"/>
          </a:xfrm>
          <a:prstGeom prst="rect">
            <a:avLst/>
          </a:prstGeom>
          <a:noFill/>
          <a:ln/>
        </p:spPr>
        <p:txBody>
          <a:bodyPr wrap="square" lIns="0" tIns="0" rIns="0" bIns="0"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Live demo</a:t>
            </a:r>
            <a:endParaRPr lang="en-US" sz="1600" dirty="0"/>
          </a:p>
        </p:txBody>
      </p:sp>
      <p:sp>
        <p:nvSpPr>
          <p:cNvPr id="22" name="Text 20"/>
          <p:cNvSpPr/>
          <p:nvPr/>
        </p:nvSpPr>
        <p:spPr>
          <a:xfrm>
            <a:off x="1234440" y="4764024"/>
            <a:ext cx="7955280" cy="45720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Run both detection layers against a year of synthetic transactions and triage the results.</a:t>
            </a:r>
            <a:endParaRPr lang="en-US" sz="1200" dirty="0"/>
          </a:p>
        </p:txBody>
      </p:sp>
      <p:sp>
        <p:nvSpPr>
          <p:cNvPr id="23" name="Text 21"/>
          <p:cNvSpPr/>
          <p:nvPr/>
        </p:nvSpPr>
        <p:spPr>
          <a:xfrm>
            <a:off x="9692640" y="4453128"/>
            <a:ext cx="1737360" cy="365760"/>
          </a:xfrm>
          <a:prstGeom prst="rect">
            <a:avLst/>
          </a:prstGeom>
          <a:noFill/>
          <a:ln/>
        </p:spPr>
        <p:txBody>
          <a:bodyPr wrap="square" lIns="0" tIns="0" rIns="0" bIns="0" rtlCol="0" anchor="ctr"/>
          <a:lstStyle/>
          <a:p>
            <a:pPr marL="0" indent="0" algn="r">
              <a:buNone/>
            </a:pPr>
            <a:r>
              <a:rPr lang="en-US" sz="1200" b="1" dirty="0">
                <a:solidFill>
                  <a:srgbClr val="1E2761"/>
                </a:solidFill>
                <a:latin typeface="Calibri" pitchFamily="34" charset="0"/>
                <a:ea typeface="Calibri" pitchFamily="34" charset="-122"/>
                <a:cs typeface="Calibri" pitchFamily="34" charset="-120"/>
              </a:rPr>
              <a:t>20 min</a:t>
            </a:r>
            <a:endParaRPr lang="en-US" sz="1200" dirty="0"/>
          </a:p>
        </p:txBody>
      </p:sp>
      <p:sp>
        <p:nvSpPr>
          <p:cNvPr id="24" name="Shape 22"/>
          <p:cNvSpPr/>
          <p:nvPr/>
        </p:nvSpPr>
        <p:spPr>
          <a:xfrm>
            <a:off x="548640" y="5367528"/>
            <a:ext cx="457200" cy="457200"/>
          </a:xfrm>
          <a:prstGeom prst="ellipse">
            <a:avLst/>
          </a:prstGeom>
          <a:solidFill>
            <a:srgbClr val="1E2761"/>
          </a:solidFill>
          <a:ln/>
        </p:spPr>
      </p:sp>
      <p:sp>
        <p:nvSpPr>
          <p:cNvPr id="25" name="Text 23"/>
          <p:cNvSpPr/>
          <p:nvPr/>
        </p:nvSpPr>
        <p:spPr>
          <a:xfrm>
            <a:off x="548640" y="536752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6" name="Text 24"/>
          <p:cNvSpPr/>
          <p:nvPr/>
        </p:nvSpPr>
        <p:spPr>
          <a:xfrm>
            <a:off x="1234440" y="5312664"/>
            <a:ext cx="7863840" cy="365760"/>
          </a:xfrm>
          <a:prstGeom prst="rect">
            <a:avLst/>
          </a:prstGeom>
          <a:noFill/>
          <a:ln/>
        </p:spPr>
        <p:txBody>
          <a:bodyPr wrap="square" lIns="0" tIns="0" rIns="0" bIns="0"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Adoption, risks, and next steps</a:t>
            </a:r>
            <a:endParaRPr lang="en-US" sz="1600" dirty="0"/>
          </a:p>
        </p:txBody>
      </p:sp>
      <p:sp>
        <p:nvSpPr>
          <p:cNvPr id="27" name="Text 25"/>
          <p:cNvSpPr/>
          <p:nvPr/>
        </p:nvSpPr>
        <p:spPr>
          <a:xfrm>
            <a:off x="1234440" y="5660136"/>
            <a:ext cx="7955280" cy="45720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Implementation roadmap, limitations, and how to pilot this on your own ledger.</a:t>
            </a:r>
            <a:endParaRPr lang="en-US" sz="1200" dirty="0"/>
          </a:p>
        </p:txBody>
      </p:sp>
      <p:sp>
        <p:nvSpPr>
          <p:cNvPr id="28" name="Text 26"/>
          <p:cNvSpPr/>
          <p:nvPr/>
        </p:nvSpPr>
        <p:spPr>
          <a:xfrm>
            <a:off x="9692640" y="5349240"/>
            <a:ext cx="1737360" cy="365760"/>
          </a:xfrm>
          <a:prstGeom prst="rect">
            <a:avLst/>
          </a:prstGeom>
          <a:noFill/>
          <a:ln/>
        </p:spPr>
        <p:txBody>
          <a:bodyPr wrap="square" lIns="0" tIns="0" rIns="0" bIns="0" rtlCol="0" anchor="ctr"/>
          <a:lstStyle/>
          <a:p>
            <a:pPr marL="0" indent="0" algn="r">
              <a:buNone/>
            </a:pPr>
            <a:r>
              <a:rPr lang="en-US" sz="1200" b="1" dirty="0">
                <a:solidFill>
                  <a:srgbClr val="1E2761"/>
                </a:solidFill>
                <a:latin typeface="Calibri" pitchFamily="34" charset="0"/>
                <a:ea typeface="Calibri" pitchFamily="34" charset="-122"/>
                <a:cs typeface="Calibri" pitchFamily="34" charset="-120"/>
              </a:rPr>
              <a:t>10 min</a:t>
            </a:r>
            <a:endParaRPr lang="en-US" sz="1200" dirty="0"/>
          </a:p>
        </p:txBody>
      </p:sp>
      <p:sp>
        <p:nvSpPr>
          <p:cNvPr id="29" name="Text 27"/>
          <p:cNvSpPr/>
          <p:nvPr/>
        </p:nvSpPr>
        <p:spPr>
          <a:xfrm>
            <a:off x="548640" y="6510528"/>
            <a:ext cx="54864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Continuous Transaction Auditing</a:t>
            </a:r>
            <a:endParaRPr lang="en-US" sz="900" dirty="0"/>
          </a:p>
        </p:txBody>
      </p:sp>
      <p:sp>
        <p:nvSpPr>
          <p:cNvPr id="30" name="Text 28"/>
          <p:cNvSpPr/>
          <p:nvPr/>
        </p:nvSpPr>
        <p:spPr>
          <a:xfrm>
            <a:off x="11521440" y="6510528"/>
            <a:ext cx="4572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D03B3B"/>
                </a:solidFill>
                <a:latin typeface="Calibri" pitchFamily="34" charset="0"/>
                <a:ea typeface="Calibri" pitchFamily="34" charset="-122"/>
                <a:cs typeface="Calibri" pitchFamily="34" charset="-120"/>
              </a:rPr>
              <a:t>THE PROBLEM</a:t>
            </a:r>
            <a:endParaRPr lang="en-US" sz="1200" dirty="0"/>
          </a:p>
        </p:txBody>
      </p:sp>
      <p:sp>
        <p:nvSpPr>
          <p:cNvPr id="3" name="Text 1"/>
          <p:cNvSpPr/>
          <p:nvPr/>
        </p:nvSpPr>
        <p:spPr>
          <a:xfrm>
            <a:off x="548640" y="685800"/>
            <a:ext cx="10515600" cy="822960"/>
          </a:xfrm>
          <a:prstGeom prst="rect">
            <a:avLst/>
          </a:prstGeom>
          <a:noFill/>
          <a:ln/>
        </p:spPr>
        <p:txBody>
          <a:bodyPr wrap="square" lIns="0" tIns="0" rIns="0" bIns="0" rtlCol="0" anchor="ctr"/>
          <a:lstStyle/>
          <a:p>
            <a:pPr marL="0" indent="0" algn="l">
              <a:buNone/>
            </a:pPr>
            <a:r>
              <a:rPr lang="en-US" sz="3200" b="1" dirty="0">
                <a:solidFill>
                  <a:srgbClr val="1E2761"/>
                </a:solidFill>
                <a:latin typeface="Cambria" pitchFamily="34" charset="0"/>
                <a:ea typeface="Cambria" pitchFamily="34" charset="-122"/>
                <a:cs typeface="Cambria" pitchFamily="34" charset="-120"/>
              </a:rPr>
              <a:t>Quarterly sampling was built for paper ledgers</a:t>
            </a:r>
            <a:endParaRPr lang="en-US" sz="3200" dirty="0"/>
          </a:p>
        </p:txBody>
      </p:sp>
      <p:sp>
        <p:nvSpPr>
          <p:cNvPr id="4" name="Text 2"/>
          <p:cNvSpPr/>
          <p:nvPr/>
        </p:nvSpPr>
        <p:spPr>
          <a:xfrm>
            <a:off x="548640" y="1600200"/>
            <a:ext cx="6035040" cy="1554480"/>
          </a:xfrm>
          <a:prstGeom prst="rect">
            <a:avLst/>
          </a:prstGeom>
          <a:noFill/>
          <a:ln/>
        </p:spPr>
        <p:txBody>
          <a:bodyPr wrap="square" lIns="0" tIns="0" rIns="0" bIns="0" rtlCol="0" anchor="ctr"/>
          <a:lstStyle/>
          <a:p>
            <a:pPr marL="0" indent="0">
              <a:lnSpc>
                <a:spcPct val="130000"/>
              </a:lnSpc>
              <a:buNone/>
            </a:pPr>
            <a:r>
              <a:rPr lang="en-US" sz="1400" dirty="0">
                <a:solidFill>
                  <a:srgbClr val="1B1B1B"/>
                </a:solidFill>
                <a:latin typeface="Calibri" pitchFamily="34" charset="0"/>
                <a:ea typeface="Calibri" pitchFamily="34" charset="-122"/>
                <a:cs typeface="Calibri" pitchFamily="34" charset="-120"/>
              </a:rPr>
              <a:t>Statistical sampling let a small audit team form an opinion on a population too large to review by hand. It was never designed to find every irregularity — it was designed to give reasonable assurance at a cost the engagement could afford.</a:t>
            </a:r>
            <a:endParaRPr lang="en-US" sz="1400" dirty="0"/>
          </a:p>
        </p:txBody>
      </p:sp>
      <p:sp>
        <p:nvSpPr>
          <p:cNvPr id="5" name="Text 3"/>
          <p:cNvSpPr/>
          <p:nvPr/>
        </p:nvSpPr>
        <p:spPr>
          <a:xfrm>
            <a:off x="548640" y="3246120"/>
            <a:ext cx="6035040" cy="1280160"/>
          </a:xfrm>
          <a:prstGeom prst="rect">
            <a:avLst/>
          </a:prstGeom>
          <a:noFill/>
          <a:ln/>
        </p:spPr>
        <p:txBody>
          <a:bodyPr wrap="square" lIns="0" tIns="0" rIns="0" bIns="0" rtlCol="0" anchor="ctr"/>
          <a:lstStyle/>
          <a:p>
            <a:pPr marL="0" indent="0">
              <a:lnSpc>
                <a:spcPct val="130000"/>
              </a:lnSpc>
              <a:buNone/>
            </a:pPr>
            <a:r>
              <a:rPr lang="en-US" sz="1400" dirty="0">
                <a:solidFill>
                  <a:srgbClr val="1B1B1B"/>
                </a:solidFill>
                <a:latin typeface="Calibri" pitchFamily="34" charset="0"/>
                <a:ea typeface="Calibri" pitchFamily="34" charset="-122"/>
                <a:cs typeface="Calibri" pitchFamily="34" charset="-120"/>
              </a:rPr>
              <a:t>That trade-off is now optional. Ledgers are digital, transactions are structured data, and compute is cheap — so the constraint sampling was designed around no longer exists for transaction-level testing.</a:t>
            </a:r>
            <a:endParaRPr lang="en-US" sz="1400" dirty="0"/>
          </a:p>
        </p:txBody>
      </p:sp>
      <p:sp>
        <p:nvSpPr>
          <p:cNvPr id="6" name="Shape 4"/>
          <p:cNvSpPr/>
          <p:nvPr/>
        </p:nvSpPr>
        <p:spPr>
          <a:xfrm>
            <a:off x="7040880" y="1600200"/>
            <a:ext cx="4480560" cy="4206240"/>
          </a:xfrm>
          <a:prstGeom prst="roundRect">
            <a:avLst>
              <a:gd name="adj" fmla="val 1739"/>
            </a:avLst>
          </a:prstGeom>
          <a:solidFill>
            <a:srgbClr val="1E2761"/>
          </a:solidFill>
          <a:ln/>
        </p:spPr>
      </p:sp>
      <p:sp>
        <p:nvSpPr>
          <p:cNvPr id="7" name="Text 5"/>
          <p:cNvSpPr/>
          <p:nvPr/>
        </p:nvSpPr>
        <p:spPr>
          <a:xfrm>
            <a:off x="7040880" y="1965960"/>
            <a:ext cx="4480560" cy="1188720"/>
          </a:xfrm>
          <a:prstGeom prst="rect">
            <a:avLst/>
          </a:prstGeom>
          <a:noFill/>
          <a:ln/>
        </p:spPr>
        <p:txBody>
          <a:bodyPr wrap="square" lIns="0" tIns="0" rIns="0" bIns="0" rtlCol="0" anchor="ctr"/>
          <a:lstStyle/>
          <a:p>
            <a:pPr marL="0" indent="0" algn="ctr">
              <a:buNone/>
            </a:pPr>
            <a:r>
              <a:rPr lang="en-US" sz="6400" b="1" dirty="0">
                <a:solidFill>
                  <a:srgbClr val="FFFFFF"/>
                </a:solidFill>
                <a:latin typeface="Cambria" pitchFamily="34" charset="0"/>
                <a:ea typeface="Cambria" pitchFamily="34" charset="-122"/>
                <a:cs typeface="Cambria" pitchFamily="34" charset="-120"/>
              </a:rPr>
              <a:t>~4%</a:t>
            </a:r>
            <a:endParaRPr lang="en-US" sz="6400" dirty="0"/>
          </a:p>
        </p:txBody>
      </p:sp>
      <p:sp>
        <p:nvSpPr>
          <p:cNvPr id="8" name="Text 6"/>
          <p:cNvSpPr/>
          <p:nvPr/>
        </p:nvSpPr>
        <p:spPr>
          <a:xfrm>
            <a:off x="7223760" y="3154680"/>
            <a:ext cx="4114800" cy="731520"/>
          </a:xfrm>
          <a:prstGeom prst="rect">
            <a:avLst/>
          </a:prstGeom>
          <a:noFill/>
          <a:ln/>
        </p:spPr>
        <p:txBody>
          <a:bodyPr wrap="square" lIns="0" tIns="0" rIns="0" bIns="0" rtlCol="0" anchor="ctr"/>
          <a:lstStyle/>
          <a:p>
            <a:pPr marL="0" indent="0" algn="ctr">
              <a:lnSpc>
                <a:spcPct val="120000"/>
              </a:lnSpc>
              <a:buNone/>
            </a:pPr>
            <a:r>
              <a:rPr lang="en-US" sz="1300" dirty="0">
                <a:solidFill>
                  <a:srgbClr val="CADCFC"/>
                </a:solidFill>
                <a:latin typeface="Calibri" pitchFamily="34" charset="0"/>
                <a:ea typeface="Calibri" pitchFamily="34" charset="-122"/>
                <a:cs typeface="Calibri" pitchFamily="34" charset="-120"/>
              </a:rPr>
              <a:t>typical population coverage</a:t>
            </a:r>
            <a:endParaRPr lang="en-US" sz="1300" dirty="0"/>
          </a:p>
          <a:p>
            <a:pPr marL="0" indent="0" algn="ctr">
              <a:lnSpc>
                <a:spcPct val="120000"/>
              </a:lnSpc>
              <a:buNone/>
            </a:pPr>
            <a:r>
              <a:rPr lang="en-US" sz="1300" dirty="0">
                <a:solidFill>
                  <a:srgbClr val="CADCFC"/>
                </a:solidFill>
                <a:latin typeface="Calibri" pitchFamily="34" charset="0"/>
                <a:ea typeface="Calibri" pitchFamily="34" charset="-122"/>
                <a:cs typeface="Calibri" pitchFamily="34" charset="-120"/>
              </a:rPr>
              <a:t>in a quarterly sample audit</a:t>
            </a:r>
            <a:endParaRPr lang="en-US" sz="1300" dirty="0"/>
          </a:p>
        </p:txBody>
      </p:sp>
      <p:sp>
        <p:nvSpPr>
          <p:cNvPr id="9" name="Shape 7"/>
          <p:cNvSpPr/>
          <p:nvPr/>
        </p:nvSpPr>
        <p:spPr>
          <a:xfrm>
            <a:off x="7589520" y="4114800"/>
            <a:ext cx="3383280" cy="0"/>
          </a:xfrm>
          <a:prstGeom prst="line">
            <a:avLst/>
          </a:prstGeom>
          <a:noFill/>
          <a:ln w="12700">
            <a:solidFill>
              <a:srgbClr val="3A4380"/>
            </a:solidFill>
            <a:prstDash val="solid"/>
          </a:ln>
        </p:spPr>
      </p:sp>
      <p:sp>
        <p:nvSpPr>
          <p:cNvPr id="10" name="Text 8"/>
          <p:cNvSpPr/>
          <p:nvPr/>
        </p:nvSpPr>
        <p:spPr>
          <a:xfrm>
            <a:off x="7040880" y="4343400"/>
            <a:ext cx="4480560" cy="914400"/>
          </a:xfrm>
          <a:prstGeom prst="rect">
            <a:avLst/>
          </a:prstGeom>
          <a:noFill/>
          <a:ln/>
        </p:spPr>
        <p:txBody>
          <a:bodyPr wrap="square" lIns="0" tIns="0" rIns="0" bIns="0" rtlCol="0" anchor="ctr"/>
          <a:lstStyle/>
          <a:p>
            <a:pPr marL="0" indent="0" algn="ctr">
              <a:buNone/>
            </a:pPr>
            <a:r>
              <a:rPr lang="en-US" sz="4000" b="1" dirty="0">
                <a:solidFill>
                  <a:srgbClr val="D03B3B"/>
                </a:solidFill>
                <a:latin typeface="Cambria" pitchFamily="34" charset="0"/>
                <a:ea typeface="Cambria" pitchFamily="34" charset="-122"/>
                <a:cs typeface="Cambria" pitchFamily="34" charset="-120"/>
              </a:rPr>
              <a:t>96%</a:t>
            </a:r>
            <a:endParaRPr lang="en-US" sz="4000" dirty="0"/>
          </a:p>
        </p:txBody>
      </p:sp>
      <p:sp>
        <p:nvSpPr>
          <p:cNvPr id="11" name="Text 9"/>
          <p:cNvSpPr/>
          <p:nvPr/>
        </p:nvSpPr>
        <p:spPr>
          <a:xfrm>
            <a:off x="7223760" y="5212080"/>
            <a:ext cx="4114800" cy="548640"/>
          </a:xfrm>
          <a:prstGeom prst="rect">
            <a:avLst/>
          </a:prstGeom>
          <a:noFill/>
          <a:ln/>
        </p:spPr>
        <p:txBody>
          <a:bodyPr wrap="square" lIns="0" tIns="0" rIns="0" bIns="0" rtlCol="0" anchor="ctr"/>
          <a:lstStyle/>
          <a:p>
            <a:pPr marL="0" indent="0" algn="ctr">
              <a:lnSpc>
                <a:spcPct val="120000"/>
              </a:lnSpc>
              <a:buNone/>
            </a:pPr>
            <a:r>
              <a:rPr lang="en-US" sz="1200" dirty="0">
                <a:solidFill>
                  <a:srgbClr val="CADCFC"/>
                </a:solidFill>
                <a:latin typeface="Calibri" pitchFamily="34" charset="0"/>
                <a:ea typeface="Calibri" pitchFamily="34" charset="-122"/>
                <a:cs typeface="Calibri" pitchFamily="34" charset="-120"/>
              </a:rPr>
              <a:t>of transactions are never individually</a:t>
            </a:r>
            <a:endParaRPr lang="en-US" sz="1200" dirty="0"/>
          </a:p>
          <a:p>
            <a:pPr marL="0" indent="0" algn="ctr">
              <a:lnSpc>
                <a:spcPct val="120000"/>
              </a:lnSpc>
              <a:buNone/>
            </a:pPr>
            <a:r>
              <a:rPr lang="en-US" sz="1200" dirty="0">
                <a:solidFill>
                  <a:srgbClr val="CADCFC"/>
                </a:solidFill>
                <a:latin typeface="Calibri" pitchFamily="34" charset="0"/>
                <a:ea typeface="Calibri" pitchFamily="34" charset="-122"/>
                <a:cs typeface="Calibri" pitchFamily="34" charset="-120"/>
              </a:rPr>
              <a:t>reviewed by anyone</a:t>
            </a:r>
            <a:endParaRPr lang="en-US" sz="1200" dirty="0"/>
          </a:p>
        </p:txBody>
      </p:sp>
      <p:sp>
        <p:nvSpPr>
          <p:cNvPr id="12" name="Text 10"/>
          <p:cNvSpPr/>
          <p:nvPr/>
        </p:nvSpPr>
        <p:spPr>
          <a:xfrm>
            <a:off x="548640" y="6510528"/>
            <a:ext cx="54864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Continuous Transaction Auditing</a:t>
            </a:r>
            <a:endParaRPr lang="en-US" sz="900" dirty="0"/>
          </a:p>
        </p:txBody>
      </p:sp>
      <p:sp>
        <p:nvSpPr>
          <p:cNvPr id="13" name="Text 11"/>
          <p:cNvSpPr/>
          <p:nvPr/>
        </p:nvSpPr>
        <p:spPr>
          <a:xfrm>
            <a:off x="11521440" y="6510528"/>
            <a:ext cx="4572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D03B3B"/>
                </a:solidFill>
                <a:latin typeface="Calibri" pitchFamily="34" charset="0"/>
                <a:ea typeface="Calibri" pitchFamily="34" charset="-122"/>
                <a:cs typeface="Calibri" pitchFamily="34" charset="-120"/>
              </a:rPr>
              <a:t>THE PROBLEM</a:t>
            </a:r>
            <a:endParaRPr lang="en-US" sz="1200" dirty="0"/>
          </a:p>
        </p:txBody>
      </p:sp>
      <p:sp>
        <p:nvSpPr>
          <p:cNvPr id="3" name="Text 1"/>
          <p:cNvSpPr/>
          <p:nvPr/>
        </p:nvSpPr>
        <p:spPr>
          <a:xfrm>
            <a:off x="548640" y="685800"/>
            <a:ext cx="10515600" cy="822960"/>
          </a:xfrm>
          <a:prstGeom prst="rect">
            <a:avLst/>
          </a:prstGeom>
          <a:noFill/>
          <a:ln/>
        </p:spPr>
        <p:txBody>
          <a:bodyPr wrap="square" lIns="0" tIns="0" rIns="0" bIns="0" rtlCol="0" anchor="ctr"/>
          <a:lstStyle/>
          <a:p>
            <a:pPr marL="0" indent="0" algn="l">
              <a:buNone/>
            </a:pPr>
            <a:r>
              <a:rPr lang="en-US" sz="3200" b="1" dirty="0">
                <a:solidFill>
                  <a:srgbClr val="1E2761"/>
                </a:solidFill>
                <a:latin typeface="Cambria" pitchFamily="34" charset="0"/>
                <a:ea typeface="Cambria" pitchFamily="34" charset="-122"/>
                <a:cs typeface="Cambria" pitchFamily="34" charset="-120"/>
              </a:rPr>
              <a:t>Fraud and error don't distribute evenly</a:t>
            </a:r>
            <a:endParaRPr lang="en-US" sz="3200" dirty="0"/>
          </a:p>
        </p:txBody>
      </p:sp>
      <p:sp>
        <p:nvSpPr>
          <p:cNvPr id="4" name="Text 2"/>
          <p:cNvSpPr/>
          <p:nvPr/>
        </p:nvSpPr>
        <p:spPr>
          <a:xfrm>
            <a:off x="548640" y="1645920"/>
            <a:ext cx="6492240" cy="2926080"/>
          </a:xfrm>
          <a:prstGeom prst="rect">
            <a:avLst/>
          </a:prstGeom>
          <a:noFill/>
          <a:ln/>
        </p:spPr>
        <p:txBody>
          <a:bodyPr wrap="square" lIns="0" tIns="0" rIns="0" bIns="0" rtlCol="0" anchor="ctr"/>
          <a:lstStyle/>
          <a:p>
            <a:pPr marL="0" indent="0">
              <a:lnSpc>
                <a:spcPct val="135000"/>
              </a:lnSpc>
              <a:buNone/>
            </a:pPr>
            <a:r>
              <a:rPr lang="en-US" sz="1500" dirty="0">
                <a:solidFill>
                  <a:srgbClr val="1B1B1B"/>
                </a:solidFill>
                <a:latin typeface="Calibri" pitchFamily="34" charset="0"/>
                <a:ea typeface="Calibri" pitchFamily="34" charset="-122"/>
                <a:cs typeface="Calibri" pitchFamily="34" charset="-120"/>
              </a:rPr>
              <a:t>Sampling assumes an even, non-adversarial population. But the transactions most worth catching — a duplicate payment, a vendor invoice fabricated just under an approval limit, a posting at 2am on a Saturday — are, by construction, rare and deliberately unremarkable. Random or even judgmental samples routinely miss them, and by the time the next audit cycle runs, the exposure window has often already closed.</a:t>
            </a:r>
            <a:endParaRPr lang="en-US" sz="1500" dirty="0"/>
          </a:p>
        </p:txBody>
      </p:sp>
      <p:sp>
        <p:nvSpPr>
          <p:cNvPr id="5" name="Shape 3"/>
          <p:cNvSpPr/>
          <p:nvPr/>
        </p:nvSpPr>
        <p:spPr>
          <a:xfrm>
            <a:off x="548640" y="4782312"/>
            <a:ext cx="82296" cy="82296"/>
          </a:xfrm>
          <a:prstGeom prst="ellipse">
            <a:avLst/>
          </a:prstGeom>
          <a:solidFill>
            <a:srgbClr val="D03B3B"/>
          </a:solidFill>
          <a:ln/>
        </p:spPr>
      </p:sp>
      <p:sp>
        <p:nvSpPr>
          <p:cNvPr id="6" name="Text 4"/>
          <p:cNvSpPr/>
          <p:nvPr/>
        </p:nvSpPr>
        <p:spPr>
          <a:xfrm>
            <a:off x="777240" y="4636008"/>
            <a:ext cx="6263640" cy="457200"/>
          </a:xfrm>
          <a:prstGeom prst="rect">
            <a:avLst/>
          </a:prstGeom>
          <a:noFill/>
          <a:ln/>
        </p:spPr>
        <p:txBody>
          <a:bodyPr wrap="square" lIns="0" tIns="0" rIns="0" bIns="0" rtlCol="0" anchor="ctr"/>
          <a:lstStyle/>
          <a:p>
            <a:pPr marL="0" indent="0">
              <a:buNone/>
            </a:pPr>
            <a:r>
              <a:rPr lang="en-US" sz="1250" dirty="0">
                <a:solidFill>
                  <a:srgbClr val="1B1B1B"/>
                </a:solidFill>
                <a:latin typeface="Calibri" pitchFamily="34" charset="0"/>
                <a:ea typeface="Calibri" pitchFamily="34" charset="-122"/>
                <a:cs typeface="Calibri" pitchFamily="34" charset="-120"/>
              </a:rPr>
              <a:t>A control tested quarterly can be silently broken for up to 89 days before the next test</a:t>
            </a:r>
            <a:endParaRPr lang="en-US" sz="1250" dirty="0"/>
          </a:p>
        </p:txBody>
      </p:sp>
      <p:sp>
        <p:nvSpPr>
          <p:cNvPr id="7" name="Shape 5"/>
          <p:cNvSpPr/>
          <p:nvPr/>
        </p:nvSpPr>
        <p:spPr>
          <a:xfrm>
            <a:off x="548640" y="5239512"/>
            <a:ext cx="82296" cy="82296"/>
          </a:xfrm>
          <a:prstGeom prst="ellipse">
            <a:avLst/>
          </a:prstGeom>
          <a:solidFill>
            <a:srgbClr val="D03B3B"/>
          </a:solidFill>
          <a:ln/>
        </p:spPr>
      </p:sp>
      <p:sp>
        <p:nvSpPr>
          <p:cNvPr id="8" name="Text 6"/>
          <p:cNvSpPr/>
          <p:nvPr/>
        </p:nvSpPr>
        <p:spPr>
          <a:xfrm>
            <a:off x="777240" y="5093208"/>
            <a:ext cx="6263640" cy="457200"/>
          </a:xfrm>
          <a:prstGeom prst="rect">
            <a:avLst/>
          </a:prstGeom>
          <a:noFill/>
          <a:ln/>
        </p:spPr>
        <p:txBody>
          <a:bodyPr wrap="square" lIns="0" tIns="0" rIns="0" bIns="0" rtlCol="0" anchor="ctr"/>
          <a:lstStyle/>
          <a:p>
            <a:pPr marL="0" indent="0">
              <a:buNone/>
            </a:pPr>
            <a:r>
              <a:rPr lang="en-US" sz="1250" dirty="0">
                <a:solidFill>
                  <a:srgbClr val="1B1B1B"/>
                </a:solidFill>
                <a:latin typeface="Calibri" pitchFamily="34" charset="0"/>
                <a:ea typeface="Calibri" pitchFamily="34" charset="-122"/>
                <a:cs typeface="Calibri" pitchFamily="34" charset="-120"/>
              </a:rPr>
              <a:t>A single reviewer sampling 60 invoices out of 6,000+ has roughly a 1% chance of ever seeing a specific anomalous one</a:t>
            </a:r>
            <a:endParaRPr lang="en-US" sz="1250" dirty="0"/>
          </a:p>
        </p:txBody>
      </p:sp>
      <p:sp>
        <p:nvSpPr>
          <p:cNvPr id="9" name="Shape 7"/>
          <p:cNvSpPr/>
          <p:nvPr/>
        </p:nvSpPr>
        <p:spPr>
          <a:xfrm>
            <a:off x="548640" y="5696712"/>
            <a:ext cx="82296" cy="82296"/>
          </a:xfrm>
          <a:prstGeom prst="ellipse">
            <a:avLst/>
          </a:prstGeom>
          <a:solidFill>
            <a:srgbClr val="D03B3B"/>
          </a:solidFill>
          <a:ln/>
        </p:spPr>
      </p:sp>
      <p:sp>
        <p:nvSpPr>
          <p:cNvPr id="10" name="Text 8"/>
          <p:cNvSpPr/>
          <p:nvPr/>
        </p:nvSpPr>
        <p:spPr>
          <a:xfrm>
            <a:off x="777240" y="5550408"/>
            <a:ext cx="6263640" cy="457200"/>
          </a:xfrm>
          <a:prstGeom prst="rect">
            <a:avLst/>
          </a:prstGeom>
          <a:noFill/>
          <a:ln/>
        </p:spPr>
        <p:txBody>
          <a:bodyPr wrap="square" lIns="0" tIns="0" rIns="0" bIns="0" rtlCol="0" anchor="ctr"/>
          <a:lstStyle/>
          <a:p>
            <a:pPr marL="0" indent="0">
              <a:buNone/>
            </a:pPr>
            <a:r>
              <a:rPr lang="en-US" sz="1250" dirty="0">
                <a:solidFill>
                  <a:srgbClr val="1B1B1B"/>
                </a:solidFill>
                <a:latin typeface="Calibri" pitchFamily="34" charset="0"/>
                <a:ea typeface="Calibri" pitchFamily="34" charset="-122"/>
                <a:cs typeface="Calibri" pitchFamily="34" charset="-120"/>
              </a:rPr>
              <a:t>Manual review scales with headcount; transaction volume doesn't wait for headcount</a:t>
            </a:r>
            <a:endParaRPr lang="en-US" sz="1250" dirty="0"/>
          </a:p>
        </p:txBody>
      </p:sp>
      <p:sp>
        <p:nvSpPr>
          <p:cNvPr id="11" name="Shape 9"/>
          <p:cNvSpPr/>
          <p:nvPr/>
        </p:nvSpPr>
        <p:spPr>
          <a:xfrm>
            <a:off x="7406640" y="1645920"/>
            <a:ext cx="4206240" cy="4480560"/>
          </a:xfrm>
          <a:prstGeom prst="roundRect">
            <a:avLst>
              <a:gd name="adj" fmla="val 1739"/>
            </a:avLst>
          </a:prstGeom>
          <a:solidFill>
            <a:srgbClr val="CADCFC"/>
          </a:solidFill>
          <a:ln/>
        </p:spPr>
      </p:sp>
      <p:sp>
        <p:nvSpPr>
          <p:cNvPr id="12" name="Text 10"/>
          <p:cNvSpPr/>
          <p:nvPr/>
        </p:nvSpPr>
        <p:spPr>
          <a:xfrm>
            <a:off x="7635240" y="1874520"/>
            <a:ext cx="3749040" cy="320040"/>
          </a:xfrm>
          <a:prstGeom prst="rect">
            <a:avLst/>
          </a:prstGeom>
          <a:noFill/>
          <a:ln/>
        </p:spPr>
        <p:txBody>
          <a:bodyPr wrap="square" lIns="0" tIns="0" rIns="0" bIns="0" rtlCol="0" anchor="ctr"/>
          <a:lstStyle/>
          <a:p>
            <a:pPr marL="0" indent="0">
              <a:buNone/>
            </a:pPr>
            <a:r>
              <a:rPr lang="en-US" sz="1050" b="1" kern="0" spc="100" dirty="0">
                <a:solidFill>
                  <a:srgbClr val="1E2761"/>
                </a:solidFill>
                <a:latin typeface="Calibri" pitchFamily="34" charset="0"/>
                <a:ea typeface="Calibri" pitchFamily="34" charset="-122"/>
                <a:cs typeface="Calibri" pitchFamily="34" charset="-120"/>
              </a:rPr>
              <a:t>A YEAR IN A QUARTERLY-SAMPLE WORLD</a:t>
            </a:r>
            <a:endParaRPr lang="en-US" sz="1050" dirty="0"/>
          </a:p>
        </p:txBody>
      </p:sp>
      <p:sp>
        <p:nvSpPr>
          <p:cNvPr id="13" name="Text 11"/>
          <p:cNvSpPr/>
          <p:nvPr/>
        </p:nvSpPr>
        <p:spPr>
          <a:xfrm>
            <a:off x="7635240" y="2423160"/>
            <a:ext cx="548640" cy="32004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Q1</a:t>
            </a:r>
            <a:endParaRPr lang="en-US" sz="1200" dirty="0"/>
          </a:p>
        </p:txBody>
      </p:sp>
      <p:sp>
        <p:nvSpPr>
          <p:cNvPr id="14" name="Shape 12"/>
          <p:cNvSpPr/>
          <p:nvPr/>
        </p:nvSpPr>
        <p:spPr>
          <a:xfrm>
            <a:off x="8183880" y="2468880"/>
            <a:ext cx="3246120" cy="256032"/>
          </a:xfrm>
          <a:prstGeom prst="rect">
            <a:avLst/>
          </a:prstGeom>
          <a:solidFill>
            <a:srgbClr val="FFFFFF"/>
          </a:solidFill>
          <a:ln/>
        </p:spPr>
      </p:sp>
      <p:sp>
        <p:nvSpPr>
          <p:cNvPr id="15" name="Shape 13"/>
          <p:cNvSpPr/>
          <p:nvPr/>
        </p:nvSpPr>
        <p:spPr>
          <a:xfrm>
            <a:off x="8183880" y="2468880"/>
            <a:ext cx="129845" cy="256032"/>
          </a:xfrm>
          <a:prstGeom prst="rect">
            <a:avLst/>
          </a:prstGeom>
          <a:solidFill>
            <a:srgbClr val="1E2761"/>
          </a:solidFill>
          <a:ln/>
        </p:spPr>
      </p:sp>
      <p:sp>
        <p:nvSpPr>
          <p:cNvPr id="16" name="Text 14"/>
          <p:cNvSpPr/>
          <p:nvPr/>
        </p:nvSpPr>
        <p:spPr>
          <a:xfrm>
            <a:off x="8183880" y="2752344"/>
            <a:ext cx="3291840" cy="274320"/>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~4% tested • 96% unreviewed</a:t>
            </a:r>
            <a:endParaRPr lang="en-US" sz="950" dirty="0"/>
          </a:p>
        </p:txBody>
      </p:sp>
      <p:sp>
        <p:nvSpPr>
          <p:cNvPr id="17" name="Text 15"/>
          <p:cNvSpPr/>
          <p:nvPr/>
        </p:nvSpPr>
        <p:spPr>
          <a:xfrm>
            <a:off x="7635240" y="3337560"/>
            <a:ext cx="548640" cy="32004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Q2</a:t>
            </a:r>
            <a:endParaRPr lang="en-US" sz="1200" dirty="0"/>
          </a:p>
        </p:txBody>
      </p:sp>
      <p:sp>
        <p:nvSpPr>
          <p:cNvPr id="18" name="Shape 16"/>
          <p:cNvSpPr/>
          <p:nvPr/>
        </p:nvSpPr>
        <p:spPr>
          <a:xfrm>
            <a:off x="8183880" y="3383280"/>
            <a:ext cx="3246120" cy="256032"/>
          </a:xfrm>
          <a:prstGeom prst="rect">
            <a:avLst/>
          </a:prstGeom>
          <a:solidFill>
            <a:srgbClr val="FFFFFF"/>
          </a:solidFill>
          <a:ln/>
        </p:spPr>
      </p:sp>
      <p:sp>
        <p:nvSpPr>
          <p:cNvPr id="19" name="Shape 17"/>
          <p:cNvSpPr/>
          <p:nvPr/>
        </p:nvSpPr>
        <p:spPr>
          <a:xfrm>
            <a:off x="8183880" y="3383280"/>
            <a:ext cx="129845" cy="256032"/>
          </a:xfrm>
          <a:prstGeom prst="rect">
            <a:avLst/>
          </a:prstGeom>
          <a:solidFill>
            <a:srgbClr val="1E2761"/>
          </a:solidFill>
          <a:ln/>
        </p:spPr>
      </p:sp>
      <p:sp>
        <p:nvSpPr>
          <p:cNvPr id="20" name="Text 18"/>
          <p:cNvSpPr/>
          <p:nvPr/>
        </p:nvSpPr>
        <p:spPr>
          <a:xfrm>
            <a:off x="8183880" y="3666744"/>
            <a:ext cx="3291840" cy="274320"/>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~4% tested • 96% unreviewed</a:t>
            </a:r>
            <a:endParaRPr lang="en-US" sz="950" dirty="0"/>
          </a:p>
        </p:txBody>
      </p:sp>
      <p:sp>
        <p:nvSpPr>
          <p:cNvPr id="21" name="Text 19"/>
          <p:cNvSpPr/>
          <p:nvPr/>
        </p:nvSpPr>
        <p:spPr>
          <a:xfrm>
            <a:off x="7635240" y="4251960"/>
            <a:ext cx="548640" cy="32004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Q3</a:t>
            </a:r>
            <a:endParaRPr lang="en-US" sz="1200" dirty="0"/>
          </a:p>
        </p:txBody>
      </p:sp>
      <p:sp>
        <p:nvSpPr>
          <p:cNvPr id="22" name="Shape 20"/>
          <p:cNvSpPr/>
          <p:nvPr/>
        </p:nvSpPr>
        <p:spPr>
          <a:xfrm>
            <a:off x="8183880" y="4297680"/>
            <a:ext cx="3246120" cy="256032"/>
          </a:xfrm>
          <a:prstGeom prst="rect">
            <a:avLst/>
          </a:prstGeom>
          <a:solidFill>
            <a:srgbClr val="FFFFFF"/>
          </a:solidFill>
          <a:ln/>
        </p:spPr>
      </p:sp>
      <p:sp>
        <p:nvSpPr>
          <p:cNvPr id="23" name="Shape 21"/>
          <p:cNvSpPr/>
          <p:nvPr/>
        </p:nvSpPr>
        <p:spPr>
          <a:xfrm>
            <a:off x="8183880" y="4297680"/>
            <a:ext cx="129845" cy="256032"/>
          </a:xfrm>
          <a:prstGeom prst="rect">
            <a:avLst/>
          </a:prstGeom>
          <a:solidFill>
            <a:srgbClr val="1E2761"/>
          </a:solidFill>
          <a:ln/>
        </p:spPr>
      </p:sp>
      <p:sp>
        <p:nvSpPr>
          <p:cNvPr id="24" name="Text 22"/>
          <p:cNvSpPr/>
          <p:nvPr/>
        </p:nvSpPr>
        <p:spPr>
          <a:xfrm>
            <a:off x="8183880" y="4581144"/>
            <a:ext cx="3291840" cy="274320"/>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~4% tested • 96% unreviewed</a:t>
            </a:r>
            <a:endParaRPr lang="en-US" sz="950" dirty="0"/>
          </a:p>
        </p:txBody>
      </p:sp>
      <p:sp>
        <p:nvSpPr>
          <p:cNvPr id="25" name="Text 23"/>
          <p:cNvSpPr/>
          <p:nvPr/>
        </p:nvSpPr>
        <p:spPr>
          <a:xfrm>
            <a:off x="7635240" y="5166360"/>
            <a:ext cx="548640" cy="32004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Q4</a:t>
            </a:r>
            <a:endParaRPr lang="en-US" sz="1200" dirty="0"/>
          </a:p>
        </p:txBody>
      </p:sp>
      <p:sp>
        <p:nvSpPr>
          <p:cNvPr id="26" name="Shape 24"/>
          <p:cNvSpPr/>
          <p:nvPr/>
        </p:nvSpPr>
        <p:spPr>
          <a:xfrm>
            <a:off x="8183880" y="5212080"/>
            <a:ext cx="3246120" cy="256032"/>
          </a:xfrm>
          <a:prstGeom prst="rect">
            <a:avLst/>
          </a:prstGeom>
          <a:solidFill>
            <a:srgbClr val="FFFFFF"/>
          </a:solidFill>
          <a:ln/>
        </p:spPr>
      </p:sp>
      <p:sp>
        <p:nvSpPr>
          <p:cNvPr id="27" name="Shape 25"/>
          <p:cNvSpPr/>
          <p:nvPr/>
        </p:nvSpPr>
        <p:spPr>
          <a:xfrm>
            <a:off x="8183880" y="5212080"/>
            <a:ext cx="129845" cy="256032"/>
          </a:xfrm>
          <a:prstGeom prst="rect">
            <a:avLst/>
          </a:prstGeom>
          <a:solidFill>
            <a:srgbClr val="1E2761"/>
          </a:solidFill>
          <a:ln/>
        </p:spPr>
      </p:sp>
      <p:sp>
        <p:nvSpPr>
          <p:cNvPr id="28" name="Text 26"/>
          <p:cNvSpPr/>
          <p:nvPr/>
        </p:nvSpPr>
        <p:spPr>
          <a:xfrm>
            <a:off x="8183880" y="5495544"/>
            <a:ext cx="3291840" cy="274320"/>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~4% tested • 96% unreviewed</a:t>
            </a:r>
            <a:endParaRPr lang="en-US" sz="950" dirty="0"/>
          </a:p>
        </p:txBody>
      </p:sp>
      <p:sp>
        <p:nvSpPr>
          <p:cNvPr id="29" name="Text 27"/>
          <p:cNvSpPr/>
          <p:nvPr/>
        </p:nvSpPr>
        <p:spPr>
          <a:xfrm>
            <a:off x="548640" y="6510528"/>
            <a:ext cx="54864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Continuous Transaction Auditing</a:t>
            </a:r>
            <a:endParaRPr lang="en-US" sz="900" dirty="0"/>
          </a:p>
        </p:txBody>
      </p:sp>
      <p:sp>
        <p:nvSpPr>
          <p:cNvPr id="30" name="Text 28"/>
          <p:cNvSpPr/>
          <p:nvPr/>
        </p:nvSpPr>
        <p:spPr>
          <a:xfrm>
            <a:off x="11521440" y="6510528"/>
            <a:ext cx="4572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D03B3B"/>
                </a:solidFill>
                <a:latin typeface="Calibri" pitchFamily="34" charset="0"/>
                <a:ea typeface="Calibri" pitchFamily="34" charset="-122"/>
                <a:cs typeface="Calibri" pitchFamily="34" charset="-120"/>
              </a:rPr>
              <a:t>THE SHIFT</a:t>
            </a:r>
            <a:endParaRPr lang="en-US" sz="1200" dirty="0"/>
          </a:p>
        </p:txBody>
      </p:sp>
      <p:sp>
        <p:nvSpPr>
          <p:cNvPr id="3" name="Text 1"/>
          <p:cNvSpPr/>
          <p:nvPr/>
        </p:nvSpPr>
        <p:spPr>
          <a:xfrm>
            <a:off x="548640" y="685800"/>
            <a:ext cx="10515600" cy="822960"/>
          </a:xfrm>
          <a:prstGeom prst="rect">
            <a:avLst/>
          </a:prstGeom>
          <a:noFill/>
          <a:ln/>
        </p:spPr>
        <p:txBody>
          <a:bodyPr wrap="square" lIns="0" tIns="0" rIns="0" bIns="0" rtlCol="0" anchor="ctr"/>
          <a:lstStyle/>
          <a:p>
            <a:pPr marL="0" indent="0" algn="l">
              <a:buNone/>
            </a:pPr>
            <a:r>
              <a:rPr lang="en-US" sz="3200" b="1" dirty="0">
                <a:solidFill>
                  <a:srgbClr val="1E2761"/>
                </a:solidFill>
                <a:latin typeface="Cambria" pitchFamily="34" charset="0"/>
                <a:ea typeface="Cambria" pitchFamily="34" charset="-122"/>
                <a:cs typeface="Cambria" pitchFamily="34" charset="-120"/>
              </a:rPr>
              <a:t>What is continuous transaction auditing?</a:t>
            </a:r>
            <a:endParaRPr lang="en-US" sz="3200" dirty="0"/>
          </a:p>
        </p:txBody>
      </p:sp>
      <p:sp>
        <p:nvSpPr>
          <p:cNvPr id="4" name="Shape 2"/>
          <p:cNvSpPr/>
          <p:nvPr/>
        </p:nvSpPr>
        <p:spPr>
          <a:xfrm>
            <a:off x="548640" y="1691640"/>
            <a:ext cx="5394960" cy="4206240"/>
          </a:xfrm>
          <a:prstGeom prst="roundRect">
            <a:avLst>
              <a:gd name="adj" fmla="val 1739"/>
            </a:avLst>
          </a:prstGeom>
          <a:solidFill>
            <a:srgbClr val="F4F6FB"/>
          </a:solidFill>
          <a:ln w="12700">
            <a:solidFill>
              <a:srgbClr val="CADCFC"/>
            </a:solidFill>
            <a:prstDash val="solid"/>
          </a:ln>
        </p:spPr>
      </p:sp>
      <p:sp>
        <p:nvSpPr>
          <p:cNvPr id="5" name="Text 3"/>
          <p:cNvSpPr/>
          <p:nvPr/>
        </p:nvSpPr>
        <p:spPr>
          <a:xfrm>
            <a:off x="868680" y="1965960"/>
            <a:ext cx="4754880" cy="274320"/>
          </a:xfrm>
          <a:prstGeom prst="rect">
            <a:avLst/>
          </a:prstGeom>
          <a:noFill/>
          <a:ln/>
        </p:spPr>
        <p:txBody>
          <a:bodyPr wrap="square" lIns="0" tIns="0" rIns="0" bIns="0" rtlCol="0" anchor="ctr"/>
          <a:lstStyle/>
          <a:p>
            <a:pPr marL="0" indent="0">
              <a:buNone/>
            </a:pPr>
            <a:r>
              <a:rPr lang="en-US" sz="1100" b="1" kern="0" spc="150" dirty="0">
                <a:solidFill>
                  <a:srgbClr val="D03B3B"/>
                </a:solidFill>
                <a:latin typeface="Calibri" pitchFamily="34" charset="0"/>
                <a:ea typeface="Calibri" pitchFamily="34" charset="-122"/>
                <a:cs typeface="Calibri" pitchFamily="34" charset="-120"/>
              </a:rPr>
              <a:t>DEFINITION</a:t>
            </a:r>
            <a:endParaRPr lang="en-US" sz="1100" dirty="0"/>
          </a:p>
        </p:txBody>
      </p:sp>
      <p:sp>
        <p:nvSpPr>
          <p:cNvPr id="6" name="Text 4"/>
          <p:cNvSpPr/>
          <p:nvPr/>
        </p:nvSpPr>
        <p:spPr>
          <a:xfrm>
            <a:off x="868680" y="2331720"/>
            <a:ext cx="4754880" cy="1737360"/>
          </a:xfrm>
          <a:prstGeom prst="rect">
            <a:avLst/>
          </a:prstGeom>
          <a:noFill/>
          <a:ln/>
        </p:spPr>
        <p:txBody>
          <a:bodyPr wrap="square" lIns="0" tIns="0" rIns="0" bIns="0" rtlCol="0" anchor="ctr"/>
          <a:lstStyle/>
          <a:p>
            <a:pPr marL="0" indent="0">
              <a:lnSpc>
                <a:spcPct val="135000"/>
              </a:lnSpc>
              <a:buNone/>
            </a:pPr>
            <a:r>
              <a:rPr lang="en-US" sz="1450" dirty="0">
                <a:solidFill>
                  <a:srgbClr val="1B1B1B"/>
                </a:solidFill>
                <a:latin typeface="Calibri" pitchFamily="34" charset="0"/>
                <a:ea typeface="Calibri" pitchFamily="34" charset="-122"/>
                <a:cs typeface="Calibri" pitchFamily="34" charset="-120"/>
              </a:rPr>
              <a:t>The automated, ongoing testing of every transaction as it posts — rather than a subset selected after the period closes — using rule-based tests and statistical/ML models to score each one for risk.</a:t>
            </a:r>
            <a:endParaRPr lang="en-US" sz="1450" dirty="0"/>
          </a:p>
        </p:txBody>
      </p:sp>
      <p:sp>
        <p:nvSpPr>
          <p:cNvPr id="7" name="Shape 5"/>
          <p:cNvSpPr/>
          <p:nvPr/>
        </p:nvSpPr>
        <p:spPr>
          <a:xfrm>
            <a:off x="868680" y="4206240"/>
            <a:ext cx="4754880" cy="0"/>
          </a:xfrm>
          <a:prstGeom prst="line">
            <a:avLst/>
          </a:prstGeom>
          <a:noFill/>
          <a:ln w="12700">
            <a:solidFill>
              <a:srgbClr val="CADCFC"/>
            </a:solidFill>
            <a:prstDash val="solid"/>
          </a:ln>
        </p:spPr>
      </p:sp>
      <p:sp>
        <p:nvSpPr>
          <p:cNvPr id="8" name="Text 6"/>
          <p:cNvSpPr/>
          <p:nvPr/>
        </p:nvSpPr>
        <p:spPr>
          <a:xfrm>
            <a:off x="868680" y="4389120"/>
            <a:ext cx="4754880" cy="274320"/>
          </a:xfrm>
          <a:prstGeom prst="rect">
            <a:avLst/>
          </a:prstGeom>
          <a:noFill/>
          <a:ln/>
        </p:spPr>
        <p:txBody>
          <a:bodyPr wrap="square" lIns="0" tIns="0" rIns="0" bIns="0" rtlCol="0" anchor="ctr"/>
          <a:lstStyle/>
          <a:p>
            <a:pPr marL="0" indent="0">
              <a:buNone/>
            </a:pPr>
            <a:r>
              <a:rPr lang="en-US" sz="1100" b="1" kern="0" spc="150" dirty="0">
                <a:solidFill>
                  <a:srgbClr val="6B7280"/>
                </a:solidFill>
                <a:latin typeface="Calibri" pitchFamily="34" charset="0"/>
                <a:ea typeface="Calibri" pitchFamily="34" charset="-122"/>
                <a:cs typeface="Calibri" pitchFamily="34" charset="-120"/>
              </a:rPr>
              <a:t>NOT THE SAME AS —</a:t>
            </a:r>
            <a:endParaRPr lang="en-US" sz="1100" dirty="0"/>
          </a:p>
        </p:txBody>
      </p:sp>
      <p:sp>
        <p:nvSpPr>
          <p:cNvPr id="9" name="Text 7"/>
          <p:cNvSpPr/>
          <p:nvPr/>
        </p:nvSpPr>
        <p:spPr>
          <a:xfrm>
            <a:off x="868680" y="4709160"/>
            <a:ext cx="4754880" cy="1005840"/>
          </a:xfrm>
          <a:prstGeom prst="rect">
            <a:avLst/>
          </a:prstGeom>
          <a:noFill/>
          <a:ln/>
        </p:spPr>
        <p:txBody>
          <a:bodyPr wrap="square" lIns="0" tIns="0" rIns="0" bIns="0" rtlCol="0" anchor="ctr"/>
          <a:lstStyle/>
          <a:p>
            <a:pPr marL="0" indent="0">
              <a:lnSpc>
                <a:spcPct val="130000"/>
              </a:lnSpc>
              <a:buNone/>
            </a:pPr>
            <a:r>
              <a:rPr lang="en-US" sz="1250" dirty="0">
                <a:solidFill>
                  <a:srgbClr val="1B1B1B"/>
                </a:solidFill>
                <a:latin typeface="Calibri" pitchFamily="34" charset="0"/>
                <a:ea typeface="Calibri" pitchFamily="34" charset="-122"/>
                <a:cs typeface="Calibri" pitchFamily="34" charset="-120"/>
              </a:rPr>
              <a:t>Continuous monitoring (KPI/control dashboards at an aggregate level) or periodic data analytics (running CAATs once against a data extract). CTA operates transaction-by-transaction, in-line with posting.</a:t>
            </a:r>
            <a:endParaRPr lang="en-US" sz="1250" dirty="0"/>
          </a:p>
        </p:txBody>
      </p:sp>
      <p:sp>
        <p:nvSpPr>
          <p:cNvPr id="10" name="Text 8"/>
          <p:cNvSpPr/>
          <p:nvPr/>
        </p:nvSpPr>
        <p:spPr>
          <a:xfrm>
            <a:off x="6309360" y="1783080"/>
            <a:ext cx="5120640" cy="274320"/>
          </a:xfrm>
          <a:prstGeom prst="rect">
            <a:avLst/>
          </a:prstGeom>
          <a:noFill/>
          <a:ln/>
        </p:spPr>
        <p:txBody>
          <a:bodyPr wrap="square" lIns="0" tIns="0" rIns="0" bIns="0" rtlCol="0" anchor="ctr"/>
          <a:lstStyle/>
          <a:p>
            <a:pPr marL="0" indent="0">
              <a:buNone/>
            </a:pPr>
            <a:r>
              <a:rPr lang="en-US" sz="1100" b="1" kern="0" spc="100" dirty="0">
                <a:solidFill>
                  <a:srgbClr val="1E2761"/>
                </a:solidFill>
                <a:latin typeface="Calibri" pitchFamily="34" charset="0"/>
                <a:ea typeface="Calibri" pitchFamily="34" charset="-122"/>
                <a:cs typeface="Calibri" pitchFamily="34" charset="-120"/>
              </a:rPr>
              <a:t>POPULATION</a:t>
            </a:r>
            <a:endParaRPr lang="en-US" sz="1100" dirty="0"/>
          </a:p>
        </p:txBody>
      </p:sp>
      <p:sp>
        <p:nvSpPr>
          <p:cNvPr id="11" name="Text 9"/>
          <p:cNvSpPr/>
          <p:nvPr/>
        </p:nvSpPr>
        <p:spPr>
          <a:xfrm>
            <a:off x="6309360" y="2057400"/>
            <a:ext cx="5212080" cy="502920"/>
          </a:xfrm>
          <a:prstGeom prst="rect">
            <a:avLst/>
          </a:prstGeom>
          <a:noFill/>
          <a:ln/>
        </p:spPr>
        <p:txBody>
          <a:bodyPr wrap="square" lIns="0" tIns="0" rIns="0" bIns="0" rtlCol="0" anchor="ctr"/>
          <a:lstStyle/>
          <a:p>
            <a:pPr marL="0" indent="0">
              <a:lnSpc>
                <a:spcPct val="120000"/>
              </a:lnSpc>
              <a:buNone/>
            </a:pPr>
            <a:r>
              <a:rPr lang="en-US" sz="1300" dirty="0">
                <a:solidFill>
                  <a:srgbClr val="1B1B1B"/>
                </a:solidFill>
                <a:latin typeface="Calibri" pitchFamily="34" charset="0"/>
                <a:ea typeface="Calibri" pitchFamily="34" charset="-122"/>
                <a:cs typeface="Calibri" pitchFamily="34" charset="-120"/>
              </a:rPr>
              <a:t>100% of transactions, every period — not a drawn sample</a:t>
            </a:r>
            <a:endParaRPr lang="en-US" sz="1300" dirty="0"/>
          </a:p>
        </p:txBody>
      </p:sp>
      <p:sp>
        <p:nvSpPr>
          <p:cNvPr id="12" name="Text 10"/>
          <p:cNvSpPr/>
          <p:nvPr/>
        </p:nvSpPr>
        <p:spPr>
          <a:xfrm>
            <a:off x="6309360" y="2743200"/>
            <a:ext cx="5120640" cy="274320"/>
          </a:xfrm>
          <a:prstGeom prst="rect">
            <a:avLst/>
          </a:prstGeom>
          <a:noFill/>
          <a:ln/>
        </p:spPr>
        <p:txBody>
          <a:bodyPr wrap="square" lIns="0" tIns="0" rIns="0" bIns="0" rtlCol="0" anchor="ctr"/>
          <a:lstStyle/>
          <a:p>
            <a:pPr marL="0" indent="0">
              <a:buNone/>
            </a:pPr>
            <a:r>
              <a:rPr lang="en-US" sz="1100" b="1" kern="0" spc="100" dirty="0">
                <a:solidFill>
                  <a:srgbClr val="1E2761"/>
                </a:solidFill>
                <a:latin typeface="Calibri" pitchFamily="34" charset="0"/>
                <a:ea typeface="Calibri" pitchFamily="34" charset="-122"/>
                <a:cs typeface="Calibri" pitchFamily="34" charset="-120"/>
              </a:rPr>
              <a:t>CADENCE</a:t>
            </a:r>
            <a:endParaRPr lang="en-US" sz="1100" dirty="0"/>
          </a:p>
        </p:txBody>
      </p:sp>
      <p:sp>
        <p:nvSpPr>
          <p:cNvPr id="13" name="Text 11"/>
          <p:cNvSpPr/>
          <p:nvPr/>
        </p:nvSpPr>
        <p:spPr>
          <a:xfrm>
            <a:off x="6309360" y="3017520"/>
            <a:ext cx="5212080" cy="502920"/>
          </a:xfrm>
          <a:prstGeom prst="rect">
            <a:avLst/>
          </a:prstGeom>
          <a:noFill/>
          <a:ln/>
        </p:spPr>
        <p:txBody>
          <a:bodyPr wrap="square" lIns="0" tIns="0" rIns="0" bIns="0" rtlCol="0" anchor="ctr"/>
          <a:lstStyle/>
          <a:p>
            <a:pPr marL="0" indent="0">
              <a:lnSpc>
                <a:spcPct val="120000"/>
              </a:lnSpc>
              <a:buNone/>
            </a:pPr>
            <a:r>
              <a:rPr lang="en-US" sz="1300" dirty="0">
                <a:solidFill>
                  <a:srgbClr val="1B1B1B"/>
                </a:solidFill>
                <a:latin typeface="Calibri" pitchFamily="34" charset="0"/>
                <a:ea typeface="Calibri" pitchFamily="34" charset="-122"/>
                <a:cs typeface="Calibri" pitchFamily="34" charset="-120"/>
              </a:rPr>
              <a:t>As transactions post, or on a daily/near-real-time batch</a:t>
            </a:r>
            <a:endParaRPr lang="en-US" sz="1300" dirty="0"/>
          </a:p>
        </p:txBody>
      </p:sp>
      <p:sp>
        <p:nvSpPr>
          <p:cNvPr id="14" name="Text 12"/>
          <p:cNvSpPr/>
          <p:nvPr/>
        </p:nvSpPr>
        <p:spPr>
          <a:xfrm>
            <a:off x="6309360" y="3703320"/>
            <a:ext cx="5120640" cy="274320"/>
          </a:xfrm>
          <a:prstGeom prst="rect">
            <a:avLst/>
          </a:prstGeom>
          <a:noFill/>
          <a:ln/>
        </p:spPr>
        <p:txBody>
          <a:bodyPr wrap="square" lIns="0" tIns="0" rIns="0" bIns="0" rtlCol="0" anchor="ctr"/>
          <a:lstStyle/>
          <a:p>
            <a:pPr marL="0" indent="0">
              <a:buNone/>
            </a:pPr>
            <a:r>
              <a:rPr lang="en-US" sz="1100" b="1" kern="0" spc="100" dirty="0">
                <a:solidFill>
                  <a:srgbClr val="1E2761"/>
                </a:solidFill>
                <a:latin typeface="Calibri" pitchFamily="34" charset="0"/>
                <a:ea typeface="Calibri" pitchFamily="34" charset="-122"/>
                <a:cs typeface="Calibri" pitchFamily="34" charset="-120"/>
              </a:rPr>
              <a:t>METHOD</a:t>
            </a:r>
            <a:endParaRPr lang="en-US" sz="1100" dirty="0"/>
          </a:p>
        </p:txBody>
      </p:sp>
      <p:sp>
        <p:nvSpPr>
          <p:cNvPr id="15" name="Text 13"/>
          <p:cNvSpPr/>
          <p:nvPr/>
        </p:nvSpPr>
        <p:spPr>
          <a:xfrm>
            <a:off x="6309360" y="3977640"/>
            <a:ext cx="5212080" cy="502920"/>
          </a:xfrm>
          <a:prstGeom prst="rect">
            <a:avLst/>
          </a:prstGeom>
          <a:noFill/>
          <a:ln/>
        </p:spPr>
        <p:txBody>
          <a:bodyPr wrap="square" lIns="0" tIns="0" rIns="0" bIns="0" rtlCol="0" anchor="ctr"/>
          <a:lstStyle/>
          <a:p>
            <a:pPr marL="0" indent="0">
              <a:lnSpc>
                <a:spcPct val="120000"/>
              </a:lnSpc>
              <a:buNone/>
            </a:pPr>
            <a:r>
              <a:rPr lang="en-US" sz="1300" dirty="0">
                <a:solidFill>
                  <a:srgbClr val="1B1B1B"/>
                </a:solidFill>
                <a:latin typeface="Calibri" pitchFamily="34" charset="0"/>
                <a:ea typeface="Calibri" pitchFamily="34" charset="-122"/>
                <a:cs typeface="Calibri" pitchFamily="34" charset="-120"/>
              </a:rPr>
              <a:t>Deterministic rules + statistical/ML models scoring each transaction</a:t>
            </a:r>
            <a:endParaRPr lang="en-US" sz="1300" dirty="0"/>
          </a:p>
        </p:txBody>
      </p:sp>
      <p:sp>
        <p:nvSpPr>
          <p:cNvPr id="16" name="Text 14"/>
          <p:cNvSpPr/>
          <p:nvPr/>
        </p:nvSpPr>
        <p:spPr>
          <a:xfrm>
            <a:off x="6309360" y="4663440"/>
            <a:ext cx="5120640" cy="274320"/>
          </a:xfrm>
          <a:prstGeom prst="rect">
            <a:avLst/>
          </a:prstGeom>
          <a:noFill/>
          <a:ln/>
        </p:spPr>
        <p:txBody>
          <a:bodyPr wrap="square" lIns="0" tIns="0" rIns="0" bIns="0" rtlCol="0" anchor="ctr"/>
          <a:lstStyle/>
          <a:p>
            <a:pPr marL="0" indent="0">
              <a:buNone/>
            </a:pPr>
            <a:r>
              <a:rPr lang="en-US" sz="1100" b="1" kern="0" spc="100" dirty="0">
                <a:solidFill>
                  <a:srgbClr val="1E2761"/>
                </a:solidFill>
                <a:latin typeface="Calibri" pitchFamily="34" charset="0"/>
                <a:ea typeface="Calibri" pitchFamily="34" charset="-122"/>
                <a:cs typeface="Calibri" pitchFamily="34" charset="-120"/>
              </a:rPr>
              <a:t>OUTPUT</a:t>
            </a:r>
            <a:endParaRPr lang="en-US" sz="1100" dirty="0"/>
          </a:p>
        </p:txBody>
      </p:sp>
      <p:sp>
        <p:nvSpPr>
          <p:cNvPr id="17" name="Text 15"/>
          <p:cNvSpPr/>
          <p:nvPr/>
        </p:nvSpPr>
        <p:spPr>
          <a:xfrm>
            <a:off x="6309360" y="4937760"/>
            <a:ext cx="5212080" cy="502920"/>
          </a:xfrm>
          <a:prstGeom prst="rect">
            <a:avLst/>
          </a:prstGeom>
          <a:noFill/>
          <a:ln/>
        </p:spPr>
        <p:txBody>
          <a:bodyPr wrap="square" lIns="0" tIns="0" rIns="0" bIns="0" rtlCol="0" anchor="ctr"/>
          <a:lstStyle/>
          <a:p>
            <a:pPr marL="0" indent="0">
              <a:lnSpc>
                <a:spcPct val="120000"/>
              </a:lnSpc>
              <a:buNone/>
            </a:pPr>
            <a:r>
              <a:rPr lang="en-US" sz="1300" dirty="0">
                <a:solidFill>
                  <a:srgbClr val="1B1B1B"/>
                </a:solidFill>
                <a:latin typeface="Calibri" pitchFamily="34" charset="0"/>
                <a:ea typeface="Calibri" pitchFamily="34" charset="-122"/>
                <a:cs typeface="Calibri" pitchFamily="34" charset="-120"/>
              </a:rPr>
              <a:t>A risk-ranked exception queue for human auditor triage — not auto-verdicts</a:t>
            </a:r>
            <a:endParaRPr lang="en-US" sz="1300" dirty="0"/>
          </a:p>
        </p:txBody>
      </p:sp>
      <p:sp>
        <p:nvSpPr>
          <p:cNvPr id="18" name="Text 16"/>
          <p:cNvSpPr/>
          <p:nvPr/>
        </p:nvSpPr>
        <p:spPr>
          <a:xfrm>
            <a:off x="548640" y="6510528"/>
            <a:ext cx="54864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Continuous Transaction Auditing</a:t>
            </a:r>
            <a:endParaRPr lang="en-US" sz="900" dirty="0"/>
          </a:p>
        </p:txBody>
      </p:sp>
      <p:sp>
        <p:nvSpPr>
          <p:cNvPr id="19" name="Text 17"/>
          <p:cNvSpPr/>
          <p:nvPr/>
        </p:nvSpPr>
        <p:spPr>
          <a:xfrm>
            <a:off x="11521440" y="6510528"/>
            <a:ext cx="4572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D03B3B"/>
                </a:solidFill>
                <a:latin typeface="Calibri" pitchFamily="34" charset="0"/>
                <a:ea typeface="Calibri" pitchFamily="34" charset="-122"/>
                <a:cs typeface="Calibri" pitchFamily="34" charset="-120"/>
              </a:rPr>
              <a:t>THE SHIFT</a:t>
            </a:r>
            <a:endParaRPr lang="en-US" sz="1200" dirty="0"/>
          </a:p>
        </p:txBody>
      </p:sp>
      <p:sp>
        <p:nvSpPr>
          <p:cNvPr id="3" name="Text 1"/>
          <p:cNvSpPr/>
          <p:nvPr/>
        </p:nvSpPr>
        <p:spPr>
          <a:xfrm>
            <a:off x="548640" y="685800"/>
            <a:ext cx="10515600" cy="822960"/>
          </a:xfrm>
          <a:prstGeom prst="rect">
            <a:avLst/>
          </a:prstGeom>
          <a:noFill/>
          <a:ln/>
        </p:spPr>
        <p:txBody>
          <a:bodyPr wrap="square" lIns="0" tIns="0" rIns="0" bIns="0" rtlCol="0" anchor="ctr"/>
          <a:lstStyle/>
          <a:p>
            <a:pPr marL="0" indent="0" algn="l">
              <a:buNone/>
            </a:pPr>
            <a:r>
              <a:rPr lang="en-US" sz="3200" b="1" dirty="0">
                <a:solidFill>
                  <a:srgbClr val="1E2761"/>
                </a:solidFill>
                <a:latin typeface="Cambria" pitchFamily="34" charset="0"/>
                <a:ea typeface="Cambria" pitchFamily="34" charset="-122"/>
                <a:cs typeface="Cambria" pitchFamily="34" charset="-120"/>
              </a:rPr>
              <a:t>Sample-based audit vs. continuous transaction auditing</a:t>
            </a:r>
            <a:endParaRPr lang="en-US" sz="3200" dirty="0"/>
          </a:p>
        </p:txBody>
      </p:sp>
      <p:sp>
        <p:nvSpPr>
          <p:cNvPr id="4" name="Shape 2"/>
          <p:cNvSpPr/>
          <p:nvPr/>
        </p:nvSpPr>
        <p:spPr>
          <a:xfrm>
            <a:off x="4160520" y="1691640"/>
            <a:ext cx="3886200" cy="457200"/>
          </a:xfrm>
          <a:prstGeom prst="roundRect">
            <a:avLst>
              <a:gd name="adj" fmla="val 12000"/>
            </a:avLst>
          </a:prstGeom>
          <a:solidFill>
            <a:srgbClr val="EDEFF5"/>
          </a:solidFill>
          <a:ln/>
        </p:spPr>
      </p:sp>
      <p:sp>
        <p:nvSpPr>
          <p:cNvPr id="5" name="Text 3"/>
          <p:cNvSpPr/>
          <p:nvPr/>
        </p:nvSpPr>
        <p:spPr>
          <a:xfrm>
            <a:off x="4160520" y="1691640"/>
            <a:ext cx="3886200" cy="457200"/>
          </a:xfrm>
          <a:prstGeom prst="rect">
            <a:avLst/>
          </a:prstGeom>
          <a:noFill/>
          <a:ln/>
        </p:spPr>
        <p:txBody>
          <a:bodyPr wrap="square" lIns="0" tIns="0" rIns="0" bIns="0" rtlCol="0" anchor="ctr"/>
          <a:lstStyle/>
          <a:p>
            <a:pPr marL="0" indent="0" algn="ctr">
              <a:buNone/>
            </a:pPr>
            <a:r>
              <a:rPr lang="en-US" sz="1200" b="1" dirty="0">
                <a:solidFill>
                  <a:srgbClr val="1E2761"/>
                </a:solidFill>
                <a:latin typeface="Calibri" pitchFamily="34" charset="0"/>
                <a:ea typeface="Calibri" pitchFamily="34" charset="-122"/>
                <a:cs typeface="Calibri" pitchFamily="34" charset="-120"/>
              </a:rPr>
              <a:t>TRADITIONAL SAMPLING</a:t>
            </a:r>
            <a:endParaRPr lang="en-US" sz="1200" dirty="0"/>
          </a:p>
        </p:txBody>
      </p:sp>
      <p:sp>
        <p:nvSpPr>
          <p:cNvPr id="6" name="Shape 4"/>
          <p:cNvSpPr/>
          <p:nvPr/>
        </p:nvSpPr>
        <p:spPr>
          <a:xfrm>
            <a:off x="8138160" y="1691640"/>
            <a:ext cx="3520440" cy="457200"/>
          </a:xfrm>
          <a:prstGeom prst="roundRect">
            <a:avLst>
              <a:gd name="adj" fmla="val 12000"/>
            </a:avLst>
          </a:prstGeom>
          <a:solidFill>
            <a:srgbClr val="1E2761"/>
          </a:solidFill>
          <a:ln/>
        </p:spPr>
      </p:sp>
      <p:sp>
        <p:nvSpPr>
          <p:cNvPr id="7" name="Text 5"/>
          <p:cNvSpPr/>
          <p:nvPr/>
        </p:nvSpPr>
        <p:spPr>
          <a:xfrm>
            <a:off x="8138160" y="1691640"/>
            <a:ext cx="352044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CONTINUOUS TRANSACTION AUDITING</a:t>
            </a:r>
            <a:endParaRPr lang="en-US" sz="1200" dirty="0"/>
          </a:p>
        </p:txBody>
      </p:sp>
      <p:sp>
        <p:nvSpPr>
          <p:cNvPr id="8" name="Shape 6"/>
          <p:cNvSpPr/>
          <p:nvPr/>
        </p:nvSpPr>
        <p:spPr>
          <a:xfrm>
            <a:off x="548640" y="2258568"/>
            <a:ext cx="11109960" cy="621792"/>
          </a:xfrm>
          <a:prstGeom prst="rect">
            <a:avLst/>
          </a:prstGeom>
          <a:solidFill>
            <a:srgbClr val="FAFBFD"/>
          </a:solidFill>
          <a:ln/>
        </p:spPr>
      </p:sp>
      <p:sp>
        <p:nvSpPr>
          <p:cNvPr id="9" name="Text 7"/>
          <p:cNvSpPr/>
          <p:nvPr/>
        </p:nvSpPr>
        <p:spPr>
          <a:xfrm>
            <a:off x="548640" y="2286000"/>
            <a:ext cx="3520440" cy="621792"/>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Coverage</a:t>
            </a:r>
            <a:endParaRPr lang="en-US" sz="1200" dirty="0"/>
          </a:p>
        </p:txBody>
      </p:sp>
      <p:sp>
        <p:nvSpPr>
          <p:cNvPr id="10" name="Text 8"/>
          <p:cNvSpPr/>
          <p:nvPr/>
        </p:nvSpPr>
        <p:spPr>
          <a:xfrm>
            <a:off x="4297680" y="2286000"/>
            <a:ext cx="3611880" cy="621792"/>
          </a:xfrm>
          <a:prstGeom prst="rect">
            <a:avLst/>
          </a:prstGeom>
          <a:noFill/>
          <a:ln/>
        </p:spPr>
        <p:txBody>
          <a:bodyPr wrap="square" lIns="0" tIns="0" rIns="0" bIns="0" rtlCol="0" anchor="ctr"/>
          <a:lstStyle/>
          <a:p>
            <a:pPr marL="0" indent="0">
              <a:lnSpc>
                <a:spcPct val="115000"/>
              </a:lnSpc>
              <a:buNone/>
            </a:pPr>
            <a:r>
              <a:rPr lang="en-US" sz="1150" dirty="0">
                <a:solidFill>
                  <a:srgbClr val="1B1B1B"/>
                </a:solidFill>
                <a:latin typeface="Calibri" pitchFamily="34" charset="0"/>
                <a:ea typeface="Calibri" pitchFamily="34" charset="-122"/>
                <a:cs typeface="Calibri" pitchFamily="34" charset="-120"/>
              </a:rPr>
              <a:t>~2–5% of transactions, selected once per period</a:t>
            </a:r>
            <a:endParaRPr lang="en-US" sz="1150" dirty="0"/>
          </a:p>
        </p:txBody>
      </p:sp>
      <p:sp>
        <p:nvSpPr>
          <p:cNvPr id="11" name="Text 9"/>
          <p:cNvSpPr/>
          <p:nvPr/>
        </p:nvSpPr>
        <p:spPr>
          <a:xfrm>
            <a:off x="8275320" y="2286000"/>
            <a:ext cx="3246120" cy="621792"/>
          </a:xfrm>
          <a:prstGeom prst="rect">
            <a:avLst/>
          </a:prstGeom>
          <a:noFill/>
          <a:ln/>
        </p:spPr>
        <p:txBody>
          <a:bodyPr wrap="square" lIns="0" tIns="0" rIns="0" bIns="0" rtlCol="0" anchor="ctr"/>
          <a:lstStyle/>
          <a:p>
            <a:pPr marL="0" indent="0">
              <a:lnSpc>
                <a:spcPct val="115000"/>
              </a:lnSpc>
              <a:buNone/>
            </a:pPr>
            <a:r>
              <a:rPr lang="en-US" sz="1150" dirty="0">
                <a:solidFill>
                  <a:srgbClr val="1B1B1B"/>
                </a:solidFill>
                <a:latin typeface="Calibri" pitchFamily="34" charset="0"/>
                <a:ea typeface="Calibri" pitchFamily="34" charset="-122"/>
                <a:cs typeface="Calibri" pitchFamily="34" charset="-120"/>
              </a:rPr>
              <a:t>100% of transactions, every period</a:t>
            </a:r>
            <a:endParaRPr lang="en-US" sz="1150" dirty="0"/>
          </a:p>
        </p:txBody>
      </p:sp>
      <p:sp>
        <p:nvSpPr>
          <p:cNvPr id="12" name="Text 10"/>
          <p:cNvSpPr/>
          <p:nvPr/>
        </p:nvSpPr>
        <p:spPr>
          <a:xfrm>
            <a:off x="548640" y="2907792"/>
            <a:ext cx="3520440" cy="621792"/>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Timing</a:t>
            </a:r>
            <a:endParaRPr lang="en-US" sz="1200" dirty="0"/>
          </a:p>
        </p:txBody>
      </p:sp>
      <p:sp>
        <p:nvSpPr>
          <p:cNvPr id="13" name="Text 11"/>
          <p:cNvSpPr/>
          <p:nvPr/>
        </p:nvSpPr>
        <p:spPr>
          <a:xfrm>
            <a:off x="4297680" y="2907792"/>
            <a:ext cx="3611880" cy="621792"/>
          </a:xfrm>
          <a:prstGeom prst="rect">
            <a:avLst/>
          </a:prstGeom>
          <a:noFill/>
          <a:ln/>
        </p:spPr>
        <p:txBody>
          <a:bodyPr wrap="square" lIns="0" tIns="0" rIns="0" bIns="0" rtlCol="0" anchor="ctr"/>
          <a:lstStyle/>
          <a:p>
            <a:pPr marL="0" indent="0">
              <a:lnSpc>
                <a:spcPct val="115000"/>
              </a:lnSpc>
              <a:buNone/>
            </a:pPr>
            <a:r>
              <a:rPr lang="en-US" sz="1150" dirty="0">
                <a:solidFill>
                  <a:srgbClr val="1B1B1B"/>
                </a:solidFill>
                <a:latin typeface="Calibri" pitchFamily="34" charset="0"/>
                <a:ea typeface="Calibri" pitchFamily="34" charset="-122"/>
                <a:cs typeface="Calibri" pitchFamily="34" charset="-120"/>
              </a:rPr>
              <a:t>Weeks to months after the transaction posted</a:t>
            </a:r>
            <a:endParaRPr lang="en-US" sz="1150" dirty="0"/>
          </a:p>
        </p:txBody>
      </p:sp>
      <p:sp>
        <p:nvSpPr>
          <p:cNvPr id="14" name="Text 12"/>
          <p:cNvSpPr/>
          <p:nvPr/>
        </p:nvSpPr>
        <p:spPr>
          <a:xfrm>
            <a:off x="8275320" y="2907792"/>
            <a:ext cx="3246120" cy="621792"/>
          </a:xfrm>
          <a:prstGeom prst="rect">
            <a:avLst/>
          </a:prstGeom>
          <a:noFill/>
          <a:ln/>
        </p:spPr>
        <p:txBody>
          <a:bodyPr wrap="square" lIns="0" tIns="0" rIns="0" bIns="0" rtlCol="0" anchor="ctr"/>
          <a:lstStyle/>
          <a:p>
            <a:pPr marL="0" indent="0">
              <a:lnSpc>
                <a:spcPct val="115000"/>
              </a:lnSpc>
              <a:buNone/>
            </a:pPr>
            <a:r>
              <a:rPr lang="en-US" sz="1150" dirty="0">
                <a:solidFill>
                  <a:srgbClr val="1B1B1B"/>
                </a:solidFill>
                <a:latin typeface="Calibri" pitchFamily="34" charset="0"/>
                <a:ea typeface="Calibri" pitchFamily="34" charset="-122"/>
                <a:cs typeface="Calibri" pitchFamily="34" charset="-120"/>
              </a:rPr>
              <a:t>At or near the time of posting</a:t>
            </a:r>
            <a:endParaRPr lang="en-US" sz="1150" dirty="0"/>
          </a:p>
        </p:txBody>
      </p:sp>
      <p:sp>
        <p:nvSpPr>
          <p:cNvPr id="15" name="Shape 13"/>
          <p:cNvSpPr/>
          <p:nvPr/>
        </p:nvSpPr>
        <p:spPr>
          <a:xfrm>
            <a:off x="548640" y="3502152"/>
            <a:ext cx="11109960" cy="621792"/>
          </a:xfrm>
          <a:prstGeom prst="rect">
            <a:avLst/>
          </a:prstGeom>
          <a:solidFill>
            <a:srgbClr val="FAFBFD"/>
          </a:solidFill>
          <a:ln/>
        </p:spPr>
      </p:sp>
      <p:sp>
        <p:nvSpPr>
          <p:cNvPr id="16" name="Text 14"/>
          <p:cNvSpPr/>
          <p:nvPr/>
        </p:nvSpPr>
        <p:spPr>
          <a:xfrm>
            <a:off x="548640" y="3529584"/>
            <a:ext cx="3520440" cy="621792"/>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Basis for selection</a:t>
            </a:r>
            <a:endParaRPr lang="en-US" sz="1200" dirty="0"/>
          </a:p>
        </p:txBody>
      </p:sp>
      <p:sp>
        <p:nvSpPr>
          <p:cNvPr id="17" name="Text 15"/>
          <p:cNvSpPr/>
          <p:nvPr/>
        </p:nvSpPr>
        <p:spPr>
          <a:xfrm>
            <a:off x="4297680" y="3529584"/>
            <a:ext cx="3611880" cy="621792"/>
          </a:xfrm>
          <a:prstGeom prst="rect">
            <a:avLst/>
          </a:prstGeom>
          <a:noFill/>
          <a:ln/>
        </p:spPr>
        <p:txBody>
          <a:bodyPr wrap="square" lIns="0" tIns="0" rIns="0" bIns="0" rtlCol="0" anchor="ctr"/>
          <a:lstStyle/>
          <a:p>
            <a:pPr marL="0" indent="0">
              <a:lnSpc>
                <a:spcPct val="115000"/>
              </a:lnSpc>
              <a:buNone/>
            </a:pPr>
            <a:r>
              <a:rPr lang="en-US" sz="1150" dirty="0">
                <a:solidFill>
                  <a:srgbClr val="1B1B1B"/>
                </a:solidFill>
                <a:latin typeface="Calibri" pitchFamily="34" charset="0"/>
                <a:ea typeface="Calibri" pitchFamily="34" charset="-122"/>
                <a:cs typeface="Calibri" pitchFamily="34" charset="-120"/>
              </a:rPr>
              <a:t>Random or judgmental sampling</a:t>
            </a:r>
            <a:endParaRPr lang="en-US" sz="1150" dirty="0"/>
          </a:p>
        </p:txBody>
      </p:sp>
      <p:sp>
        <p:nvSpPr>
          <p:cNvPr id="18" name="Text 16"/>
          <p:cNvSpPr/>
          <p:nvPr/>
        </p:nvSpPr>
        <p:spPr>
          <a:xfrm>
            <a:off x="8275320" y="3529584"/>
            <a:ext cx="3246120" cy="621792"/>
          </a:xfrm>
          <a:prstGeom prst="rect">
            <a:avLst/>
          </a:prstGeom>
          <a:noFill/>
          <a:ln/>
        </p:spPr>
        <p:txBody>
          <a:bodyPr wrap="square" lIns="0" tIns="0" rIns="0" bIns="0" rtlCol="0" anchor="ctr"/>
          <a:lstStyle/>
          <a:p>
            <a:pPr marL="0" indent="0">
              <a:lnSpc>
                <a:spcPct val="115000"/>
              </a:lnSpc>
              <a:buNone/>
            </a:pPr>
            <a:r>
              <a:rPr lang="en-US" sz="1150" dirty="0">
                <a:solidFill>
                  <a:srgbClr val="1B1B1B"/>
                </a:solidFill>
                <a:latin typeface="Calibri" pitchFamily="34" charset="0"/>
                <a:ea typeface="Calibri" pitchFamily="34" charset="-122"/>
                <a:cs typeface="Calibri" pitchFamily="34" charset="-120"/>
              </a:rPr>
              <a:t>Every transaction scored; highest-risk surfaced</a:t>
            </a:r>
            <a:endParaRPr lang="en-US" sz="1150" dirty="0"/>
          </a:p>
        </p:txBody>
      </p:sp>
      <p:sp>
        <p:nvSpPr>
          <p:cNvPr id="19" name="Text 17"/>
          <p:cNvSpPr/>
          <p:nvPr/>
        </p:nvSpPr>
        <p:spPr>
          <a:xfrm>
            <a:off x="548640" y="4151376"/>
            <a:ext cx="3520440" cy="621792"/>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Auditor's role</a:t>
            </a:r>
            <a:endParaRPr lang="en-US" sz="1200" dirty="0"/>
          </a:p>
        </p:txBody>
      </p:sp>
      <p:sp>
        <p:nvSpPr>
          <p:cNvPr id="20" name="Text 18"/>
          <p:cNvSpPr/>
          <p:nvPr/>
        </p:nvSpPr>
        <p:spPr>
          <a:xfrm>
            <a:off x="4297680" y="4151376"/>
            <a:ext cx="3611880" cy="621792"/>
          </a:xfrm>
          <a:prstGeom prst="rect">
            <a:avLst/>
          </a:prstGeom>
          <a:noFill/>
          <a:ln/>
        </p:spPr>
        <p:txBody>
          <a:bodyPr wrap="square" lIns="0" tIns="0" rIns="0" bIns="0" rtlCol="0" anchor="ctr"/>
          <a:lstStyle/>
          <a:p>
            <a:pPr marL="0" indent="0">
              <a:lnSpc>
                <a:spcPct val="115000"/>
              </a:lnSpc>
              <a:buNone/>
            </a:pPr>
            <a:r>
              <a:rPr lang="en-US" sz="1150" dirty="0">
                <a:solidFill>
                  <a:srgbClr val="1B1B1B"/>
                </a:solidFill>
                <a:latin typeface="Calibri" pitchFamily="34" charset="0"/>
                <a:ea typeface="Calibri" pitchFamily="34" charset="-122"/>
                <a:cs typeface="Calibri" pitchFamily="34" charset="-120"/>
              </a:rPr>
              <a:t>Manually pull and test individual items</a:t>
            </a:r>
            <a:endParaRPr lang="en-US" sz="1150" dirty="0"/>
          </a:p>
        </p:txBody>
      </p:sp>
      <p:sp>
        <p:nvSpPr>
          <p:cNvPr id="21" name="Text 19"/>
          <p:cNvSpPr/>
          <p:nvPr/>
        </p:nvSpPr>
        <p:spPr>
          <a:xfrm>
            <a:off x="8275320" y="4151376"/>
            <a:ext cx="3246120" cy="621792"/>
          </a:xfrm>
          <a:prstGeom prst="rect">
            <a:avLst/>
          </a:prstGeom>
          <a:noFill/>
          <a:ln/>
        </p:spPr>
        <p:txBody>
          <a:bodyPr wrap="square" lIns="0" tIns="0" rIns="0" bIns="0" rtlCol="0" anchor="ctr"/>
          <a:lstStyle/>
          <a:p>
            <a:pPr marL="0" indent="0">
              <a:lnSpc>
                <a:spcPct val="115000"/>
              </a:lnSpc>
              <a:buNone/>
            </a:pPr>
            <a:r>
              <a:rPr lang="en-US" sz="1150" dirty="0">
                <a:solidFill>
                  <a:srgbClr val="1B1B1B"/>
                </a:solidFill>
                <a:latin typeface="Calibri" pitchFamily="34" charset="0"/>
                <a:ea typeface="Calibri" pitchFamily="34" charset="-122"/>
                <a:cs typeface="Calibri" pitchFamily="34" charset="-120"/>
              </a:rPr>
              <a:t>Triage a pre-scored exception queue</a:t>
            </a:r>
            <a:endParaRPr lang="en-US" sz="1150" dirty="0"/>
          </a:p>
        </p:txBody>
      </p:sp>
      <p:sp>
        <p:nvSpPr>
          <p:cNvPr id="22" name="Shape 20"/>
          <p:cNvSpPr/>
          <p:nvPr/>
        </p:nvSpPr>
        <p:spPr>
          <a:xfrm>
            <a:off x="548640" y="4745736"/>
            <a:ext cx="11109960" cy="621792"/>
          </a:xfrm>
          <a:prstGeom prst="rect">
            <a:avLst/>
          </a:prstGeom>
          <a:solidFill>
            <a:srgbClr val="FAFBFD"/>
          </a:solidFill>
          <a:ln/>
        </p:spPr>
      </p:sp>
      <p:sp>
        <p:nvSpPr>
          <p:cNvPr id="23" name="Text 21"/>
          <p:cNvSpPr/>
          <p:nvPr/>
        </p:nvSpPr>
        <p:spPr>
          <a:xfrm>
            <a:off x="548640" y="4773168"/>
            <a:ext cx="3520440" cy="621792"/>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Best at catching</a:t>
            </a:r>
            <a:endParaRPr lang="en-US" sz="1200" dirty="0"/>
          </a:p>
        </p:txBody>
      </p:sp>
      <p:sp>
        <p:nvSpPr>
          <p:cNvPr id="24" name="Text 22"/>
          <p:cNvSpPr/>
          <p:nvPr/>
        </p:nvSpPr>
        <p:spPr>
          <a:xfrm>
            <a:off x="4297680" y="4773168"/>
            <a:ext cx="3611880" cy="621792"/>
          </a:xfrm>
          <a:prstGeom prst="rect">
            <a:avLst/>
          </a:prstGeom>
          <a:noFill/>
          <a:ln/>
        </p:spPr>
        <p:txBody>
          <a:bodyPr wrap="square" lIns="0" tIns="0" rIns="0" bIns="0" rtlCol="0" anchor="ctr"/>
          <a:lstStyle/>
          <a:p>
            <a:pPr marL="0" indent="0">
              <a:lnSpc>
                <a:spcPct val="115000"/>
              </a:lnSpc>
              <a:buNone/>
            </a:pPr>
            <a:r>
              <a:rPr lang="en-US" sz="1150" dirty="0">
                <a:solidFill>
                  <a:srgbClr val="1B1B1B"/>
                </a:solidFill>
                <a:latin typeface="Calibri" pitchFamily="34" charset="0"/>
                <a:ea typeface="Calibri" pitchFamily="34" charset="-122"/>
                <a:cs typeface="Calibri" pitchFamily="34" charset="-120"/>
              </a:rPr>
              <a:t>Systemic, high-frequency control breakdowns</a:t>
            </a:r>
            <a:endParaRPr lang="en-US" sz="1150" dirty="0"/>
          </a:p>
        </p:txBody>
      </p:sp>
      <p:sp>
        <p:nvSpPr>
          <p:cNvPr id="25" name="Text 23"/>
          <p:cNvSpPr/>
          <p:nvPr/>
        </p:nvSpPr>
        <p:spPr>
          <a:xfrm>
            <a:off x="8275320" y="4773168"/>
            <a:ext cx="3246120" cy="621792"/>
          </a:xfrm>
          <a:prstGeom prst="rect">
            <a:avLst/>
          </a:prstGeom>
          <a:noFill/>
          <a:ln/>
        </p:spPr>
        <p:txBody>
          <a:bodyPr wrap="square" lIns="0" tIns="0" rIns="0" bIns="0" rtlCol="0" anchor="ctr"/>
          <a:lstStyle/>
          <a:p>
            <a:pPr marL="0" indent="0">
              <a:lnSpc>
                <a:spcPct val="115000"/>
              </a:lnSpc>
              <a:buNone/>
            </a:pPr>
            <a:r>
              <a:rPr lang="en-US" sz="1150" dirty="0">
                <a:solidFill>
                  <a:srgbClr val="1B1B1B"/>
                </a:solidFill>
                <a:latin typeface="Calibri" pitchFamily="34" charset="0"/>
                <a:ea typeface="Calibri" pitchFamily="34" charset="-122"/>
                <a:cs typeface="Calibri" pitchFamily="34" charset="-120"/>
              </a:rPr>
              <a:t>Rare, deliberate, or transaction-specific anomalies</a:t>
            </a:r>
            <a:endParaRPr lang="en-US" sz="1150" dirty="0"/>
          </a:p>
        </p:txBody>
      </p:sp>
      <p:sp>
        <p:nvSpPr>
          <p:cNvPr id="26" name="Text 24"/>
          <p:cNvSpPr/>
          <p:nvPr/>
        </p:nvSpPr>
        <p:spPr>
          <a:xfrm>
            <a:off x="548640" y="5394960"/>
            <a:ext cx="3520440" cy="621792"/>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Cost driver</a:t>
            </a:r>
            <a:endParaRPr lang="en-US" sz="1200" dirty="0"/>
          </a:p>
        </p:txBody>
      </p:sp>
      <p:sp>
        <p:nvSpPr>
          <p:cNvPr id="27" name="Text 25"/>
          <p:cNvSpPr/>
          <p:nvPr/>
        </p:nvSpPr>
        <p:spPr>
          <a:xfrm>
            <a:off x="4297680" y="5394960"/>
            <a:ext cx="3611880" cy="621792"/>
          </a:xfrm>
          <a:prstGeom prst="rect">
            <a:avLst/>
          </a:prstGeom>
          <a:noFill/>
          <a:ln/>
        </p:spPr>
        <p:txBody>
          <a:bodyPr wrap="square" lIns="0" tIns="0" rIns="0" bIns="0" rtlCol="0" anchor="ctr"/>
          <a:lstStyle/>
          <a:p>
            <a:pPr marL="0" indent="0">
              <a:lnSpc>
                <a:spcPct val="115000"/>
              </a:lnSpc>
              <a:buNone/>
            </a:pPr>
            <a:r>
              <a:rPr lang="en-US" sz="1150" dirty="0">
                <a:solidFill>
                  <a:srgbClr val="1B1B1B"/>
                </a:solidFill>
                <a:latin typeface="Calibri" pitchFamily="34" charset="0"/>
                <a:ea typeface="Calibri" pitchFamily="34" charset="-122"/>
                <a:cs typeface="Calibri" pitchFamily="34" charset="-120"/>
              </a:rPr>
              <a:t>Scales with headcount and hours tested</a:t>
            </a:r>
            <a:endParaRPr lang="en-US" sz="1150" dirty="0"/>
          </a:p>
        </p:txBody>
      </p:sp>
      <p:sp>
        <p:nvSpPr>
          <p:cNvPr id="28" name="Text 26"/>
          <p:cNvSpPr/>
          <p:nvPr/>
        </p:nvSpPr>
        <p:spPr>
          <a:xfrm>
            <a:off x="8275320" y="5394960"/>
            <a:ext cx="3246120" cy="621792"/>
          </a:xfrm>
          <a:prstGeom prst="rect">
            <a:avLst/>
          </a:prstGeom>
          <a:noFill/>
          <a:ln/>
        </p:spPr>
        <p:txBody>
          <a:bodyPr wrap="square" lIns="0" tIns="0" rIns="0" bIns="0" rtlCol="0" anchor="ctr"/>
          <a:lstStyle/>
          <a:p>
            <a:pPr marL="0" indent="0">
              <a:lnSpc>
                <a:spcPct val="115000"/>
              </a:lnSpc>
              <a:buNone/>
            </a:pPr>
            <a:r>
              <a:rPr lang="en-US" sz="1150" dirty="0">
                <a:solidFill>
                  <a:srgbClr val="1B1B1B"/>
                </a:solidFill>
                <a:latin typeface="Calibri" pitchFamily="34" charset="0"/>
                <a:ea typeface="Calibri" pitchFamily="34" charset="-122"/>
                <a:cs typeface="Calibri" pitchFamily="34" charset="-120"/>
              </a:rPr>
              <a:t>Scales with compute; marginal cost per txn ≈ 0</a:t>
            </a:r>
            <a:endParaRPr lang="en-US" sz="1150" dirty="0"/>
          </a:p>
        </p:txBody>
      </p:sp>
      <p:sp>
        <p:nvSpPr>
          <p:cNvPr id="29" name="Text 27"/>
          <p:cNvSpPr/>
          <p:nvPr/>
        </p:nvSpPr>
        <p:spPr>
          <a:xfrm>
            <a:off x="548640" y="6510528"/>
            <a:ext cx="54864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Continuous Transaction Auditing</a:t>
            </a:r>
            <a:endParaRPr lang="en-US" sz="900" dirty="0"/>
          </a:p>
        </p:txBody>
      </p:sp>
      <p:sp>
        <p:nvSpPr>
          <p:cNvPr id="30" name="Text 28"/>
          <p:cNvSpPr/>
          <p:nvPr/>
        </p:nvSpPr>
        <p:spPr>
          <a:xfrm>
            <a:off x="11521440" y="6510528"/>
            <a:ext cx="4572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D03B3B"/>
                </a:solidFill>
                <a:latin typeface="Calibri" pitchFamily="34" charset="0"/>
                <a:ea typeface="Calibri" pitchFamily="34" charset="-122"/>
                <a:cs typeface="Calibri" pitchFamily="34" charset="-120"/>
              </a:rPr>
              <a:t>HOW IT WORKS</a:t>
            </a:r>
            <a:endParaRPr lang="en-US" sz="1200" dirty="0"/>
          </a:p>
        </p:txBody>
      </p:sp>
      <p:sp>
        <p:nvSpPr>
          <p:cNvPr id="3" name="Text 1"/>
          <p:cNvSpPr/>
          <p:nvPr/>
        </p:nvSpPr>
        <p:spPr>
          <a:xfrm>
            <a:off x="548640" y="685800"/>
            <a:ext cx="10515600" cy="822960"/>
          </a:xfrm>
          <a:prstGeom prst="rect">
            <a:avLst/>
          </a:prstGeom>
          <a:noFill/>
          <a:ln/>
        </p:spPr>
        <p:txBody>
          <a:bodyPr wrap="square" lIns="0" tIns="0" rIns="0" bIns="0" rtlCol="0" anchor="ctr"/>
          <a:lstStyle/>
          <a:p>
            <a:pPr marL="0" indent="0" algn="l">
              <a:buNone/>
            </a:pPr>
            <a:r>
              <a:rPr lang="en-US" sz="3200" b="1" dirty="0">
                <a:solidFill>
                  <a:srgbClr val="1E2761"/>
                </a:solidFill>
                <a:latin typeface="Cambria" pitchFamily="34" charset="0"/>
                <a:ea typeface="Cambria" pitchFamily="34" charset="-122"/>
                <a:cs typeface="Cambria" pitchFamily="34" charset="-120"/>
              </a:rPr>
              <a:t>The continuous auditing pipeline</a:t>
            </a:r>
            <a:endParaRPr lang="en-US" sz="3200" dirty="0"/>
          </a:p>
        </p:txBody>
      </p:sp>
      <p:sp>
        <p:nvSpPr>
          <p:cNvPr id="4" name="Shape 2"/>
          <p:cNvSpPr/>
          <p:nvPr/>
        </p:nvSpPr>
        <p:spPr>
          <a:xfrm>
            <a:off x="548640" y="2377440"/>
            <a:ext cx="2048256" cy="2103120"/>
          </a:xfrm>
          <a:prstGeom prst="roundRect">
            <a:avLst>
              <a:gd name="adj" fmla="val 3571"/>
            </a:avLst>
          </a:prstGeom>
          <a:solidFill>
            <a:srgbClr val="F4F6FB"/>
          </a:solidFill>
          <a:ln w="12700">
            <a:solidFill>
              <a:srgbClr val="CADCFC"/>
            </a:solidFill>
            <a:prstDash val="solid"/>
          </a:ln>
        </p:spPr>
      </p:sp>
      <p:sp>
        <p:nvSpPr>
          <p:cNvPr id="5" name="Shape 3"/>
          <p:cNvSpPr/>
          <p:nvPr/>
        </p:nvSpPr>
        <p:spPr>
          <a:xfrm>
            <a:off x="1321308" y="1874520"/>
            <a:ext cx="502920" cy="502920"/>
          </a:xfrm>
          <a:prstGeom prst="ellipse">
            <a:avLst/>
          </a:prstGeom>
          <a:solidFill>
            <a:srgbClr val="1E2761"/>
          </a:solidFill>
          <a:ln/>
        </p:spPr>
      </p:sp>
      <p:sp>
        <p:nvSpPr>
          <p:cNvPr id="6" name="Text 4"/>
          <p:cNvSpPr/>
          <p:nvPr/>
        </p:nvSpPr>
        <p:spPr>
          <a:xfrm>
            <a:off x="1321308" y="187452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685800" y="2560320"/>
            <a:ext cx="1773936" cy="36576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Ingest</a:t>
            </a:r>
            <a:endParaRPr lang="en-US" sz="1400" dirty="0"/>
          </a:p>
        </p:txBody>
      </p:sp>
      <p:sp>
        <p:nvSpPr>
          <p:cNvPr id="8" name="Text 6"/>
          <p:cNvSpPr/>
          <p:nvPr/>
        </p:nvSpPr>
        <p:spPr>
          <a:xfrm>
            <a:off x="685800" y="2971800"/>
            <a:ext cx="1773936" cy="1371600"/>
          </a:xfrm>
          <a:prstGeom prst="rect">
            <a:avLst/>
          </a:prstGeom>
          <a:noFill/>
          <a:ln/>
        </p:spPr>
        <p:txBody>
          <a:bodyPr wrap="square" lIns="0" tIns="0" rIns="0" bIns="0" rtlCol="0" anchor="ctr"/>
          <a:lstStyle/>
          <a:p>
            <a:pPr marL="0" indent="0">
              <a:lnSpc>
                <a:spcPct val="120000"/>
              </a:lnSpc>
              <a:buNone/>
            </a:pPr>
            <a:r>
              <a:rPr lang="en-US" sz="1050" dirty="0">
                <a:solidFill>
                  <a:srgbClr val="6B7280"/>
                </a:solidFill>
                <a:latin typeface="Calibri" pitchFamily="34" charset="0"/>
                <a:ea typeface="Calibri" pitchFamily="34" charset="-122"/>
                <a:cs typeface="Calibri" pitchFamily="34" charset="-120"/>
              </a:rPr>
              <a:t>Every transaction streams in from the ERP/GL as it posts — no extract-and-wait.</a:t>
            </a:r>
            <a:endParaRPr lang="en-US" sz="1050" dirty="0"/>
          </a:p>
        </p:txBody>
      </p:sp>
      <p:sp>
        <p:nvSpPr>
          <p:cNvPr id="9" name="Text 7"/>
          <p:cNvSpPr/>
          <p:nvPr/>
        </p:nvSpPr>
        <p:spPr>
          <a:xfrm>
            <a:off x="2596896" y="3200400"/>
            <a:ext cx="137160" cy="457200"/>
          </a:xfrm>
          <a:prstGeom prst="rect">
            <a:avLst/>
          </a:prstGeom>
          <a:noFill/>
          <a:ln/>
        </p:spPr>
        <p:txBody>
          <a:bodyPr wrap="square" lIns="0" tIns="0" rIns="0" bIns="0" rtlCol="0" anchor="ctr"/>
          <a:lstStyle/>
          <a:p>
            <a:pPr marL="0" indent="0" algn="ctr">
              <a:buNone/>
            </a:pPr>
            <a:r>
              <a:rPr lang="en-US" sz="1600" dirty="0">
                <a:solidFill>
                  <a:srgbClr val="6B7280"/>
                </a:solidFill>
                <a:latin typeface="Calibri" pitchFamily="34" charset="0"/>
                <a:ea typeface="Calibri" pitchFamily="34" charset="-122"/>
                <a:cs typeface="Calibri" pitchFamily="34" charset="-120"/>
              </a:rPr>
              <a:t>→</a:t>
            </a:r>
            <a:endParaRPr lang="en-US" sz="1600" dirty="0"/>
          </a:p>
        </p:txBody>
      </p:sp>
      <p:sp>
        <p:nvSpPr>
          <p:cNvPr id="10" name="Shape 8"/>
          <p:cNvSpPr/>
          <p:nvPr/>
        </p:nvSpPr>
        <p:spPr>
          <a:xfrm>
            <a:off x="2734056" y="2377440"/>
            <a:ext cx="2048256" cy="2103120"/>
          </a:xfrm>
          <a:prstGeom prst="roundRect">
            <a:avLst>
              <a:gd name="adj" fmla="val 3571"/>
            </a:avLst>
          </a:prstGeom>
          <a:solidFill>
            <a:srgbClr val="F4F6FB"/>
          </a:solidFill>
          <a:ln w="12700">
            <a:solidFill>
              <a:srgbClr val="CADCFC"/>
            </a:solidFill>
            <a:prstDash val="solid"/>
          </a:ln>
        </p:spPr>
      </p:sp>
      <p:sp>
        <p:nvSpPr>
          <p:cNvPr id="11" name="Shape 9"/>
          <p:cNvSpPr/>
          <p:nvPr/>
        </p:nvSpPr>
        <p:spPr>
          <a:xfrm>
            <a:off x="3506724" y="1874520"/>
            <a:ext cx="502920" cy="502920"/>
          </a:xfrm>
          <a:prstGeom prst="ellipse">
            <a:avLst/>
          </a:prstGeom>
          <a:solidFill>
            <a:srgbClr val="1E2761"/>
          </a:solidFill>
          <a:ln/>
        </p:spPr>
      </p:sp>
      <p:sp>
        <p:nvSpPr>
          <p:cNvPr id="12" name="Text 10"/>
          <p:cNvSpPr/>
          <p:nvPr/>
        </p:nvSpPr>
        <p:spPr>
          <a:xfrm>
            <a:off x="3506724" y="187452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3" name="Text 11"/>
          <p:cNvSpPr/>
          <p:nvPr/>
        </p:nvSpPr>
        <p:spPr>
          <a:xfrm>
            <a:off x="2871216" y="2560320"/>
            <a:ext cx="1773936" cy="36576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Rule engine</a:t>
            </a:r>
            <a:endParaRPr lang="en-US" sz="1400" dirty="0"/>
          </a:p>
        </p:txBody>
      </p:sp>
      <p:sp>
        <p:nvSpPr>
          <p:cNvPr id="14" name="Text 12"/>
          <p:cNvSpPr/>
          <p:nvPr/>
        </p:nvSpPr>
        <p:spPr>
          <a:xfrm>
            <a:off x="2871216" y="2971800"/>
            <a:ext cx="1773936" cy="1371600"/>
          </a:xfrm>
          <a:prstGeom prst="rect">
            <a:avLst/>
          </a:prstGeom>
          <a:noFill/>
          <a:ln/>
        </p:spPr>
        <p:txBody>
          <a:bodyPr wrap="square" lIns="0" tIns="0" rIns="0" bIns="0" rtlCol="0" anchor="ctr"/>
          <a:lstStyle/>
          <a:p>
            <a:pPr marL="0" indent="0">
              <a:lnSpc>
                <a:spcPct val="120000"/>
              </a:lnSpc>
              <a:buNone/>
            </a:pPr>
            <a:r>
              <a:rPr lang="en-US" sz="1050" dirty="0">
                <a:solidFill>
                  <a:srgbClr val="6B7280"/>
                </a:solidFill>
                <a:latin typeface="Calibri" pitchFamily="34" charset="0"/>
                <a:ea typeface="Calibri" pitchFamily="34" charset="-122"/>
                <a:cs typeface="Calibri" pitchFamily="34" charset="-120"/>
              </a:rPr>
              <a:t>Deterministic tests run first: thresholds, duplicates, timing, Benford's Law, policy checks.</a:t>
            </a:r>
            <a:endParaRPr lang="en-US" sz="1050" dirty="0"/>
          </a:p>
        </p:txBody>
      </p:sp>
      <p:sp>
        <p:nvSpPr>
          <p:cNvPr id="15" name="Text 13"/>
          <p:cNvSpPr/>
          <p:nvPr/>
        </p:nvSpPr>
        <p:spPr>
          <a:xfrm>
            <a:off x="4782312" y="3200400"/>
            <a:ext cx="137160" cy="457200"/>
          </a:xfrm>
          <a:prstGeom prst="rect">
            <a:avLst/>
          </a:prstGeom>
          <a:noFill/>
          <a:ln/>
        </p:spPr>
        <p:txBody>
          <a:bodyPr wrap="square" lIns="0" tIns="0" rIns="0" bIns="0" rtlCol="0" anchor="ctr"/>
          <a:lstStyle/>
          <a:p>
            <a:pPr marL="0" indent="0" algn="ctr">
              <a:buNone/>
            </a:pPr>
            <a:r>
              <a:rPr lang="en-US" sz="1600" dirty="0">
                <a:solidFill>
                  <a:srgbClr val="6B7280"/>
                </a:solidFill>
                <a:latin typeface="Calibri" pitchFamily="34" charset="0"/>
                <a:ea typeface="Calibri" pitchFamily="34" charset="-122"/>
                <a:cs typeface="Calibri" pitchFamily="34" charset="-120"/>
              </a:rPr>
              <a:t>→</a:t>
            </a:r>
            <a:endParaRPr lang="en-US" sz="1600" dirty="0"/>
          </a:p>
        </p:txBody>
      </p:sp>
      <p:sp>
        <p:nvSpPr>
          <p:cNvPr id="16" name="Shape 14"/>
          <p:cNvSpPr/>
          <p:nvPr/>
        </p:nvSpPr>
        <p:spPr>
          <a:xfrm>
            <a:off x="4919472" y="2377440"/>
            <a:ext cx="2048256" cy="2103120"/>
          </a:xfrm>
          <a:prstGeom prst="roundRect">
            <a:avLst>
              <a:gd name="adj" fmla="val 3571"/>
            </a:avLst>
          </a:prstGeom>
          <a:solidFill>
            <a:srgbClr val="F4F6FB"/>
          </a:solidFill>
          <a:ln w="12700">
            <a:solidFill>
              <a:srgbClr val="CADCFC"/>
            </a:solidFill>
            <a:prstDash val="solid"/>
          </a:ln>
        </p:spPr>
      </p:sp>
      <p:sp>
        <p:nvSpPr>
          <p:cNvPr id="17" name="Shape 15"/>
          <p:cNvSpPr/>
          <p:nvPr/>
        </p:nvSpPr>
        <p:spPr>
          <a:xfrm>
            <a:off x="5692140" y="1874520"/>
            <a:ext cx="502920" cy="502920"/>
          </a:xfrm>
          <a:prstGeom prst="ellipse">
            <a:avLst/>
          </a:prstGeom>
          <a:solidFill>
            <a:srgbClr val="1E2761"/>
          </a:solidFill>
          <a:ln/>
        </p:spPr>
      </p:sp>
      <p:sp>
        <p:nvSpPr>
          <p:cNvPr id="18" name="Text 16"/>
          <p:cNvSpPr/>
          <p:nvPr/>
        </p:nvSpPr>
        <p:spPr>
          <a:xfrm>
            <a:off x="5692140" y="187452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9" name="Text 17"/>
          <p:cNvSpPr/>
          <p:nvPr/>
        </p:nvSpPr>
        <p:spPr>
          <a:xfrm>
            <a:off x="5056632" y="2560320"/>
            <a:ext cx="1773936" cy="36576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ML scoring</a:t>
            </a:r>
            <a:endParaRPr lang="en-US" sz="1400" dirty="0"/>
          </a:p>
        </p:txBody>
      </p:sp>
      <p:sp>
        <p:nvSpPr>
          <p:cNvPr id="20" name="Text 18"/>
          <p:cNvSpPr/>
          <p:nvPr/>
        </p:nvSpPr>
        <p:spPr>
          <a:xfrm>
            <a:off x="5056632" y="2971800"/>
            <a:ext cx="1773936" cy="1371600"/>
          </a:xfrm>
          <a:prstGeom prst="rect">
            <a:avLst/>
          </a:prstGeom>
          <a:noFill/>
          <a:ln/>
        </p:spPr>
        <p:txBody>
          <a:bodyPr wrap="square" lIns="0" tIns="0" rIns="0" bIns="0" rtlCol="0" anchor="ctr"/>
          <a:lstStyle/>
          <a:p>
            <a:pPr marL="0" indent="0">
              <a:lnSpc>
                <a:spcPct val="120000"/>
              </a:lnSpc>
              <a:buNone/>
            </a:pPr>
            <a:r>
              <a:rPr lang="en-US" sz="1050" dirty="0">
                <a:solidFill>
                  <a:srgbClr val="6B7280"/>
                </a:solidFill>
                <a:latin typeface="Calibri" pitchFamily="34" charset="0"/>
                <a:ea typeface="Calibri" pitchFamily="34" charset="-122"/>
                <a:cs typeface="Calibri" pitchFamily="34" charset="-120"/>
              </a:rPr>
              <a:t>A statistical/ML model scores each transaction for multivariate outlierness relative to its own history.</a:t>
            </a:r>
            <a:endParaRPr lang="en-US" sz="1050" dirty="0"/>
          </a:p>
        </p:txBody>
      </p:sp>
      <p:sp>
        <p:nvSpPr>
          <p:cNvPr id="21" name="Text 19"/>
          <p:cNvSpPr/>
          <p:nvPr/>
        </p:nvSpPr>
        <p:spPr>
          <a:xfrm>
            <a:off x="6967728" y="3200400"/>
            <a:ext cx="137160" cy="457200"/>
          </a:xfrm>
          <a:prstGeom prst="rect">
            <a:avLst/>
          </a:prstGeom>
          <a:noFill/>
          <a:ln/>
        </p:spPr>
        <p:txBody>
          <a:bodyPr wrap="square" lIns="0" tIns="0" rIns="0" bIns="0" rtlCol="0" anchor="ctr"/>
          <a:lstStyle/>
          <a:p>
            <a:pPr marL="0" indent="0" algn="ctr">
              <a:buNone/>
            </a:pPr>
            <a:r>
              <a:rPr lang="en-US" sz="1600" dirty="0">
                <a:solidFill>
                  <a:srgbClr val="6B7280"/>
                </a:solidFill>
                <a:latin typeface="Calibri" pitchFamily="34" charset="0"/>
                <a:ea typeface="Calibri" pitchFamily="34" charset="-122"/>
                <a:cs typeface="Calibri" pitchFamily="34" charset="-120"/>
              </a:rPr>
              <a:t>→</a:t>
            </a:r>
            <a:endParaRPr lang="en-US" sz="1600" dirty="0"/>
          </a:p>
        </p:txBody>
      </p:sp>
      <p:sp>
        <p:nvSpPr>
          <p:cNvPr id="22" name="Shape 20"/>
          <p:cNvSpPr/>
          <p:nvPr/>
        </p:nvSpPr>
        <p:spPr>
          <a:xfrm>
            <a:off x="7104888" y="2377440"/>
            <a:ext cx="2048256" cy="2103120"/>
          </a:xfrm>
          <a:prstGeom prst="roundRect">
            <a:avLst>
              <a:gd name="adj" fmla="val 3571"/>
            </a:avLst>
          </a:prstGeom>
          <a:solidFill>
            <a:srgbClr val="F4F6FB"/>
          </a:solidFill>
          <a:ln w="12700">
            <a:solidFill>
              <a:srgbClr val="CADCFC"/>
            </a:solidFill>
            <a:prstDash val="solid"/>
          </a:ln>
        </p:spPr>
      </p:sp>
      <p:sp>
        <p:nvSpPr>
          <p:cNvPr id="23" name="Shape 21"/>
          <p:cNvSpPr/>
          <p:nvPr/>
        </p:nvSpPr>
        <p:spPr>
          <a:xfrm>
            <a:off x="7877556" y="1874520"/>
            <a:ext cx="502920" cy="502920"/>
          </a:xfrm>
          <a:prstGeom prst="ellipse">
            <a:avLst/>
          </a:prstGeom>
          <a:solidFill>
            <a:srgbClr val="1E2761"/>
          </a:solidFill>
          <a:ln/>
        </p:spPr>
      </p:sp>
      <p:sp>
        <p:nvSpPr>
          <p:cNvPr id="24" name="Text 22"/>
          <p:cNvSpPr/>
          <p:nvPr/>
        </p:nvSpPr>
        <p:spPr>
          <a:xfrm>
            <a:off x="7877556" y="187452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5" name="Text 23"/>
          <p:cNvSpPr/>
          <p:nvPr/>
        </p:nvSpPr>
        <p:spPr>
          <a:xfrm>
            <a:off x="7242048" y="2560320"/>
            <a:ext cx="1773936" cy="36576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Risk ranking</a:t>
            </a:r>
            <a:endParaRPr lang="en-US" sz="1400" dirty="0"/>
          </a:p>
        </p:txBody>
      </p:sp>
      <p:sp>
        <p:nvSpPr>
          <p:cNvPr id="26" name="Text 24"/>
          <p:cNvSpPr/>
          <p:nvPr/>
        </p:nvSpPr>
        <p:spPr>
          <a:xfrm>
            <a:off x="7242048" y="2971800"/>
            <a:ext cx="1773936" cy="1371600"/>
          </a:xfrm>
          <a:prstGeom prst="rect">
            <a:avLst/>
          </a:prstGeom>
          <a:noFill/>
          <a:ln/>
        </p:spPr>
        <p:txBody>
          <a:bodyPr wrap="square" lIns="0" tIns="0" rIns="0" bIns="0" rtlCol="0" anchor="ctr"/>
          <a:lstStyle/>
          <a:p>
            <a:pPr marL="0" indent="0">
              <a:lnSpc>
                <a:spcPct val="120000"/>
              </a:lnSpc>
              <a:buNone/>
            </a:pPr>
            <a:r>
              <a:rPr lang="en-US" sz="1050" dirty="0">
                <a:solidFill>
                  <a:srgbClr val="6B7280"/>
                </a:solidFill>
                <a:latin typeface="Calibri" pitchFamily="34" charset="0"/>
                <a:ea typeface="Calibri" pitchFamily="34" charset="-122"/>
                <a:cs typeface="Calibri" pitchFamily="34" charset="-120"/>
              </a:rPr>
              <a:t>Rule flags + ML score combine into one explainable composite risk score per transaction.</a:t>
            </a:r>
            <a:endParaRPr lang="en-US" sz="1050" dirty="0"/>
          </a:p>
        </p:txBody>
      </p:sp>
      <p:sp>
        <p:nvSpPr>
          <p:cNvPr id="27" name="Text 25"/>
          <p:cNvSpPr/>
          <p:nvPr/>
        </p:nvSpPr>
        <p:spPr>
          <a:xfrm>
            <a:off x="9153144" y="3200400"/>
            <a:ext cx="137160" cy="457200"/>
          </a:xfrm>
          <a:prstGeom prst="rect">
            <a:avLst/>
          </a:prstGeom>
          <a:noFill/>
          <a:ln/>
        </p:spPr>
        <p:txBody>
          <a:bodyPr wrap="square" lIns="0" tIns="0" rIns="0" bIns="0" rtlCol="0" anchor="ctr"/>
          <a:lstStyle/>
          <a:p>
            <a:pPr marL="0" indent="0" algn="ctr">
              <a:buNone/>
            </a:pPr>
            <a:r>
              <a:rPr lang="en-US" sz="1600" dirty="0">
                <a:solidFill>
                  <a:srgbClr val="6B7280"/>
                </a:solidFill>
                <a:latin typeface="Calibri" pitchFamily="34" charset="0"/>
                <a:ea typeface="Calibri" pitchFamily="34" charset="-122"/>
                <a:cs typeface="Calibri" pitchFamily="34" charset="-120"/>
              </a:rPr>
              <a:t>→</a:t>
            </a:r>
            <a:endParaRPr lang="en-US" sz="1600" dirty="0"/>
          </a:p>
        </p:txBody>
      </p:sp>
      <p:sp>
        <p:nvSpPr>
          <p:cNvPr id="28" name="Shape 26"/>
          <p:cNvSpPr/>
          <p:nvPr/>
        </p:nvSpPr>
        <p:spPr>
          <a:xfrm>
            <a:off x="9290304" y="2377440"/>
            <a:ext cx="2048256" cy="2103120"/>
          </a:xfrm>
          <a:prstGeom prst="roundRect">
            <a:avLst>
              <a:gd name="adj" fmla="val 3571"/>
            </a:avLst>
          </a:prstGeom>
          <a:solidFill>
            <a:srgbClr val="1E2761"/>
          </a:solidFill>
          <a:ln w="12700">
            <a:solidFill>
              <a:srgbClr val="CADCFC"/>
            </a:solidFill>
            <a:prstDash val="solid"/>
          </a:ln>
        </p:spPr>
      </p:sp>
      <p:sp>
        <p:nvSpPr>
          <p:cNvPr id="29" name="Shape 27"/>
          <p:cNvSpPr/>
          <p:nvPr/>
        </p:nvSpPr>
        <p:spPr>
          <a:xfrm>
            <a:off x="10062972" y="1874520"/>
            <a:ext cx="502920" cy="502920"/>
          </a:xfrm>
          <a:prstGeom prst="ellipse">
            <a:avLst/>
          </a:prstGeom>
          <a:solidFill>
            <a:srgbClr val="D03B3B"/>
          </a:solidFill>
          <a:ln/>
        </p:spPr>
      </p:sp>
      <p:sp>
        <p:nvSpPr>
          <p:cNvPr id="30" name="Text 28"/>
          <p:cNvSpPr/>
          <p:nvPr/>
        </p:nvSpPr>
        <p:spPr>
          <a:xfrm>
            <a:off x="10062972" y="187452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31" name="Text 29"/>
          <p:cNvSpPr/>
          <p:nvPr/>
        </p:nvSpPr>
        <p:spPr>
          <a:xfrm>
            <a:off x="9427464" y="2560320"/>
            <a:ext cx="1773936"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Auditor triage</a:t>
            </a:r>
            <a:endParaRPr lang="en-US" sz="1400" dirty="0"/>
          </a:p>
        </p:txBody>
      </p:sp>
      <p:sp>
        <p:nvSpPr>
          <p:cNvPr id="32" name="Text 30"/>
          <p:cNvSpPr/>
          <p:nvPr/>
        </p:nvSpPr>
        <p:spPr>
          <a:xfrm>
            <a:off x="9427464" y="2971800"/>
            <a:ext cx="1773936" cy="1371600"/>
          </a:xfrm>
          <a:prstGeom prst="rect">
            <a:avLst/>
          </a:prstGeom>
          <a:noFill/>
          <a:ln/>
        </p:spPr>
        <p:txBody>
          <a:bodyPr wrap="square" lIns="0" tIns="0" rIns="0" bIns="0" rtlCol="0" anchor="ctr"/>
          <a:lstStyle/>
          <a:p>
            <a:pPr marL="0" indent="0">
              <a:lnSpc>
                <a:spcPct val="120000"/>
              </a:lnSpc>
              <a:buNone/>
            </a:pPr>
            <a:r>
              <a:rPr lang="en-US" sz="1050" dirty="0">
                <a:solidFill>
                  <a:srgbClr val="CADCFC"/>
                </a:solidFill>
                <a:latin typeface="Calibri" pitchFamily="34" charset="0"/>
                <a:ea typeface="Calibri" pitchFamily="34" charset="-122"/>
                <a:cs typeface="Calibri" pitchFamily="34" charset="-120"/>
              </a:rPr>
              <a:t>Highest-risk items land in a queue for human review, disposition, and escalation.</a:t>
            </a:r>
            <a:endParaRPr lang="en-US" sz="1050" dirty="0"/>
          </a:p>
        </p:txBody>
      </p:sp>
      <p:sp>
        <p:nvSpPr>
          <p:cNvPr id="33" name="Text 31"/>
          <p:cNvSpPr/>
          <p:nvPr/>
        </p:nvSpPr>
        <p:spPr>
          <a:xfrm>
            <a:off x="548640" y="4892040"/>
            <a:ext cx="10698480" cy="365760"/>
          </a:xfrm>
          <a:prstGeom prst="rect">
            <a:avLst/>
          </a:prstGeom>
          <a:noFill/>
          <a:ln/>
        </p:spPr>
        <p:txBody>
          <a:bodyPr wrap="square" lIns="0" tIns="0" rIns="0" bIns="0" rtlCol="0" anchor="ctr"/>
          <a:lstStyle/>
          <a:p>
            <a:pPr marL="0" indent="0">
              <a:buNone/>
            </a:pPr>
            <a:r>
              <a:rPr lang="en-US" sz="1250" i="1" dirty="0">
                <a:solidFill>
                  <a:srgbClr val="6B7280"/>
                </a:solidFill>
                <a:latin typeface="Calibri" pitchFamily="34" charset="0"/>
                <a:ea typeface="Calibri" pitchFamily="34" charset="-122"/>
                <a:cs typeface="Calibri" pitchFamily="34" charset="-120"/>
              </a:rPr>
              <a:t>Today's demo walks stages 2–5 end to end against one year of synthetic accounts-payable data.</a:t>
            </a:r>
            <a:endParaRPr lang="en-US" sz="1250" dirty="0"/>
          </a:p>
        </p:txBody>
      </p:sp>
      <p:sp>
        <p:nvSpPr>
          <p:cNvPr id="34" name="Text 32"/>
          <p:cNvSpPr/>
          <p:nvPr/>
        </p:nvSpPr>
        <p:spPr>
          <a:xfrm>
            <a:off x="548640" y="6510528"/>
            <a:ext cx="54864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Continuous Transaction Auditing</a:t>
            </a:r>
            <a:endParaRPr lang="en-US" sz="900" dirty="0"/>
          </a:p>
        </p:txBody>
      </p:sp>
      <p:sp>
        <p:nvSpPr>
          <p:cNvPr id="35" name="Text 33"/>
          <p:cNvSpPr/>
          <p:nvPr/>
        </p:nvSpPr>
        <p:spPr>
          <a:xfrm>
            <a:off x="11521440" y="6510528"/>
            <a:ext cx="4572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D03B3B"/>
                </a:solidFill>
                <a:latin typeface="Calibri" pitchFamily="34" charset="0"/>
                <a:ea typeface="Calibri" pitchFamily="34" charset="-122"/>
                <a:cs typeface="Calibri" pitchFamily="34" charset="-120"/>
              </a:rPr>
              <a:t>DETECTION TECHNIQUES</a:t>
            </a:r>
            <a:endParaRPr lang="en-US" sz="1200" dirty="0"/>
          </a:p>
        </p:txBody>
      </p:sp>
      <p:sp>
        <p:nvSpPr>
          <p:cNvPr id="3" name="Text 1"/>
          <p:cNvSpPr/>
          <p:nvPr/>
        </p:nvSpPr>
        <p:spPr>
          <a:xfrm>
            <a:off x="548640" y="685800"/>
            <a:ext cx="10515600" cy="822960"/>
          </a:xfrm>
          <a:prstGeom prst="rect">
            <a:avLst/>
          </a:prstGeom>
          <a:noFill/>
          <a:ln/>
        </p:spPr>
        <p:txBody>
          <a:bodyPr wrap="square" lIns="0" tIns="0" rIns="0" bIns="0" rtlCol="0" anchor="ctr"/>
          <a:lstStyle/>
          <a:p>
            <a:pPr marL="0" indent="0" algn="l">
              <a:buNone/>
            </a:pPr>
            <a:r>
              <a:rPr lang="en-US" sz="3200" b="1" dirty="0">
                <a:solidFill>
                  <a:srgbClr val="1E2761"/>
                </a:solidFill>
                <a:latin typeface="Cambria" pitchFamily="34" charset="0"/>
                <a:ea typeface="Cambria" pitchFamily="34" charset="-122"/>
                <a:cs typeface="Cambria" pitchFamily="34" charset="-120"/>
              </a:rPr>
              <a:t>Layer 1: rule-based tests</a:t>
            </a:r>
            <a:endParaRPr lang="en-US" sz="3200" dirty="0"/>
          </a:p>
        </p:txBody>
      </p:sp>
      <p:sp>
        <p:nvSpPr>
          <p:cNvPr id="4" name="Text 2"/>
          <p:cNvSpPr/>
          <p:nvPr/>
        </p:nvSpPr>
        <p:spPr>
          <a:xfrm>
            <a:off x="548640" y="1600200"/>
            <a:ext cx="10698480" cy="548640"/>
          </a:xfrm>
          <a:prstGeom prst="rect">
            <a:avLst/>
          </a:prstGeom>
          <a:noFill/>
          <a:ln/>
        </p:spPr>
        <p:txBody>
          <a:bodyPr wrap="square" lIns="0" tIns="0" rIns="0" bIns="0" rtlCol="0" anchor="ctr"/>
          <a:lstStyle/>
          <a:p>
            <a:pPr marL="0" indent="0">
              <a:lnSpc>
                <a:spcPct val="125000"/>
              </a:lnSpc>
              <a:buNone/>
            </a:pPr>
            <a:r>
              <a:rPr lang="en-US" sz="1350" dirty="0">
                <a:solidFill>
                  <a:srgbClr val="1B1B1B"/>
                </a:solidFill>
                <a:latin typeface="Calibri" pitchFamily="34" charset="0"/>
                <a:ea typeface="Calibri" pitchFamily="34" charset="-122"/>
                <a:cs typeface="Calibri" pitchFamily="34" charset="-120"/>
              </a:rPr>
              <a:t>Rules are explainable, fast, and cheap to run on every transaction. They encode things auditors already know to look for — the goal is to make those checks run continuously instead of on a sample.</a:t>
            </a:r>
            <a:endParaRPr lang="en-US" sz="1350" dirty="0"/>
          </a:p>
        </p:txBody>
      </p:sp>
      <p:sp>
        <p:nvSpPr>
          <p:cNvPr id="5" name="Shape 3"/>
          <p:cNvSpPr/>
          <p:nvPr/>
        </p:nvSpPr>
        <p:spPr>
          <a:xfrm>
            <a:off x="548640" y="2331720"/>
            <a:ext cx="3502152" cy="1417320"/>
          </a:xfrm>
          <a:prstGeom prst="roundRect">
            <a:avLst>
              <a:gd name="adj" fmla="val 4516"/>
            </a:avLst>
          </a:prstGeom>
          <a:solidFill>
            <a:srgbClr val="F4F6FB"/>
          </a:solidFill>
          <a:ln/>
        </p:spPr>
      </p:sp>
      <p:sp>
        <p:nvSpPr>
          <p:cNvPr id="6" name="Text 4"/>
          <p:cNvSpPr/>
          <p:nvPr/>
        </p:nvSpPr>
        <p:spPr>
          <a:xfrm>
            <a:off x="731520" y="2514600"/>
            <a:ext cx="3136392" cy="32004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Benford's Law</a:t>
            </a:r>
            <a:endParaRPr lang="en-US" sz="1300" dirty="0"/>
          </a:p>
        </p:txBody>
      </p:sp>
      <p:sp>
        <p:nvSpPr>
          <p:cNvPr id="7" name="Text 5"/>
          <p:cNvSpPr/>
          <p:nvPr/>
        </p:nvSpPr>
        <p:spPr>
          <a:xfrm>
            <a:off x="731520" y="2862072"/>
            <a:ext cx="3136392" cy="758952"/>
          </a:xfrm>
          <a:prstGeom prst="rect">
            <a:avLst/>
          </a:prstGeom>
          <a:noFill/>
          <a:ln/>
        </p:spPr>
        <p:txBody>
          <a:bodyPr wrap="square" lIns="0" tIns="0" rIns="0" bIns="0" rtlCol="0" anchor="ctr"/>
          <a:lstStyle/>
          <a:p>
            <a:pPr marL="0" indent="0">
              <a:lnSpc>
                <a:spcPct val="120000"/>
              </a:lnSpc>
              <a:buNone/>
            </a:pPr>
            <a:r>
              <a:rPr lang="en-US" sz="1000" dirty="0">
                <a:solidFill>
                  <a:srgbClr val="6B7280"/>
                </a:solidFill>
                <a:latin typeface="Calibri" pitchFamily="34" charset="0"/>
                <a:ea typeface="Calibri" pitchFamily="34" charset="-122"/>
                <a:cs typeface="Calibri" pitchFamily="34" charset="-120"/>
              </a:rPr>
              <a:t>Leading digits of naturally occurring amounts follow a known distribution. Vendors whose invoice amounts deviate sharply are worth a look.</a:t>
            </a:r>
            <a:endParaRPr lang="en-US" sz="1000" dirty="0"/>
          </a:p>
        </p:txBody>
      </p:sp>
      <p:sp>
        <p:nvSpPr>
          <p:cNvPr id="8" name="Shape 6"/>
          <p:cNvSpPr/>
          <p:nvPr/>
        </p:nvSpPr>
        <p:spPr>
          <a:xfrm>
            <a:off x="4215384" y="2331720"/>
            <a:ext cx="3502152" cy="1417320"/>
          </a:xfrm>
          <a:prstGeom prst="roundRect">
            <a:avLst>
              <a:gd name="adj" fmla="val 4516"/>
            </a:avLst>
          </a:prstGeom>
          <a:solidFill>
            <a:srgbClr val="F4F6FB"/>
          </a:solidFill>
          <a:ln/>
        </p:spPr>
      </p:sp>
      <p:sp>
        <p:nvSpPr>
          <p:cNvPr id="9" name="Text 7"/>
          <p:cNvSpPr/>
          <p:nvPr/>
        </p:nvSpPr>
        <p:spPr>
          <a:xfrm>
            <a:off x="4398264" y="2514600"/>
            <a:ext cx="3136392" cy="32004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Duplicate payments</a:t>
            </a:r>
            <a:endParaRPr lang="en-US" sz="1300" dirty="0"/>
          </a:p>
        </p:txBody>
      </p:sp>
      <p:sp>
        <p:nvSpPr>
          <p:cNvPr id="10" name="Text 8"/>
          <p:cNvSpPr/>
          <p:nvPr/>
        </p:nvSpPr>
        <p:spPr>
          <a:xfrm>
            <a:off x="4398264" y="2862072"/>
            <a:ext cx="3136392" cy="758952"/>
          </a:xfrm>
          <a:prstGeom prst="rect">
            <a:avLst/>
          </a:prstGeom>
          <a:noFill/>
          <a:ln/>
        </p:spPr>
        <p:txBody>
          <a:bodyPr wrap="square" lIns="0" tIns="0" rIns="0" bIns="0" rtlCol="0" anchor="ctr"/>
          <a:lstStyle/>
          <a:p>
            <a:pPr marL="0" indent="0">
              <a:lnSpc>
                <a:spcPct val="120000"/>
              </a:lnSpc>
              <a:buNone/>
            </a:pPr>
            <a:r>
              <a:rPr lang="en-US" sz="1000" dirty="0">
                <a:solidFill>
                  <a:srgbClr val="6B7280"/>
                </a:solidFill>
                <a:latin typeface="Calibri" pitchFamily="34" charset="0"/>
                <a:ea typeface="Calibri" pitchFamily="34" charset="-122"/>
                <a:cs typeface="Calibri" pitchFamily="34" charset="-120"/>
              </a:rPr>
              <a:t>Same vendor, same amount, posted within days of each other — the classic AP leakage pattern.</a:t>
            </a:r>
            <a:endParaRPr lang="en-US" sz="1000" dirty="0"/>
          </a:p>
        </p:txBody>
      </p:sp>
      <p:sp>
        <p:nvSpPr>
          <p:cNvPr id="11" name="Shape 9"/>
          <p:cNvSpPr/>
          <p:nvPr/>
        </p:nvSpPr>
        <p:spPr>
          <a:xfrm>
            <a:off x="7882128" y="2331720"/>
            <a:ext cx="3502152" cy="1417320"/>
          </a:xfrm>
          <a:prstGeom prst="roundRect">
            <a:avLst>
              <a:gd name="adj" fmla="val 4516"/>
            </a:avLst>
          </a:prstGeom>
          <a:solidFill>
            <a:srgbClr val="F4F6FB"/>
          </a:solidFill>
          <a:ln/>
        </p:spPr>
      </p:sp>
      <p:sp>
        <p:nvSpPr>
          <p:cNvPr id="12" name="Text 10"/>
          <p:cNvSpPr/>
          <p:nvPr/>
        </p:nvSpPr>
        <p:spPr>
          <a:xfrm>
            <a:off x="8065008" y="2514600"/>
            <a:ext cx="3136392" cy="32004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Threshold clustering</a:t>
            </a:r>
            <a:endParaRPr lang="en-US" sz="1300" dirty="0"/>
          </a:p>
        </p:txBody>
      </p:sp>
      <p:sp>
        <p:nvSpPr>
          <p:cNvPr id="13" name="Text 11"/>
          <p:cNvSpPr/>
          <p:nvPr/>
        </p:nvSpPr>
        <p:spPr>
          <a:xfrm>
            <a:off x="8065008" y="2862072"/>
            <a:ext cx="3136392" cy="758952"/>
          </a:xfrm>
          <a:prstGeom prst="rect">
            <a:avLst/>
          </a:prstGeom>
          <a:noFill/>
          <a:ln/>
        </p:spPr>
        <p:txBody>
          <a:bodyPr wrap="square" lIns="0" tIns="0" rIns="0" bIns="0" rtlCol="0" anchor="ctr"/>
          <a:lstStyle/>
          <a:p>
            <a:pPr marL="0" indent="0">
              <a:lnSpc>
                <a:spcPct val="120000"/>
              </a:lnSpc>
              <a:buNone/>
            </a:pPr>
            <a:r>
              <a:rPr lang="en-US" sz="1000" dirty="0">
                <a:solidFill>
                  <a:srgbClr val="6B7280"/>
                </a:solidFill>
                <a:latin typeface="Calibri" pitchFamily="34" charset="0"/>
                <a:ea typeface="Calibri" pitchFamily="34" charset="-122"/>
                <a:cs typeface="Calibri" pitchFamily="34" charset="-120"/>
              </a:rPr>
              <a:t>A spike of invoices just under an approval limit suggests deliberate structuring to avoid secondary sign-off.</a:t>
            </a:r>
            <a:endParaRPr lang="en-US" sz="1000" dirty="0"/>
          </a:p>
        </p:txBody>
      </p:sp>
      <p:sp>
        <p:nvSpPr>
          <p:cNvPr id="14" name="Shape 12"/>
          <p:cNvSpPr/>
          <p:nvPr/>
        </p:nvSpPr>
        <p:spPr>
          <a:xfrm>
            <a:off x="548640" y="3913632"/>
            <a:ext cx="3502152" cy="1417320"/>
          </a:xfrm>
          <a:prstGeom prst="roundRect">
            <a:avLst>
              <a:gd name="adj" fmla="val 4516"/>
            </a:avLst>
          </a:prstGeom>
          <a:solidFill>
            <a:srgbClr val="F4F6FB"/>
          </a:solidFill>
          <a:ln/>
        </p:spPr>
      </p:sp>
      <p:sp>
        <p:nvSpPr>
          <p:cNvPr id="15" name="Text 13"/>
          <p:cNvSpPr/>
          <p:nvPr/>
        </p:nvSpPr>
        <p:spPr>
          <a:xfrm>
            <a:off x="731520" y="4096512"/>
            <a:ext cx="3136392" cy="32004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Timing anomalies</a:t>
            </a:r>
            <a:endParaRPr lang="en-US" sz="1300" dirty="0"/>
          </a:p>
        </p:txBody>
      </p:sp>
      <p:sp>
        <p:nvSpPr>
          <p:cNvPr id="16" name="Text 14"/>
          <p:cNvSpPr/>
          <p:nvPr/>
        </p:nvSpPr>
        <p:spPr>
          <a:xfrm>
            <a:off x="731520" y="4443984"/>
            <a:ext cx="3136392" cy="758952"/>
          </a:xfrm>
          <a:prstGeom prst="rect">
            <a:avLst/>
          </a:prstGeom>
          <a:noFill/>
          <a:ln/>
        </p:spPr>
        <p:txBody>
          <a:bodyPr wrap="square" lIns="0" tIns="0" rIns="0" bIns="0" rtlCol="0" anchor="ctr"/>
          <a:lstStyle/>
          <a:p>
            <a:pPr marL="0" indent="0">
              <a:lnSpc>
                <a:spcPct val="120000"/>
              </a:lnSpc>
              <a:buNone/>
            </a:pPr>
            <a:r>
              <a:rPr lang="en-US" sz="1000" dirty="0">
                <a:solidFill>
                  <a:srgbClr val="6B7280"/>
                </a:solidFill>
                <a:latin typeface="Calibri" pitchFamily="34" charset="0"/>
                <a:ea typeface="Calibri" pitchFamily="34" charset="-122"/>
                <a:cs typeface="Calibri" pitchFamily="34" charset="-120"/>
              </a:rPr>
              <a:t>Postings on weekends, holidays, or outside business hours, when fewer people are watching.</a:t>
            </a:r>
            <a:endParaRPr lang="en-US" sz="1000" dirty="0"/>
          </a:p>
        </p:txBody>
      </p:sp>
      <p:sp>
        <p:nvSpPr>
          <p:cNvPr id="17" name="Shape 15"/>
          <p:cNvSpPr/>
          <p:nvPr/>
        </p:nvSpPr>
        <p:spPr>
          <a:xfrm>
            <a:off x="4215384" y="3913632"/>
            <a:ext cx="3502152" cy="1417320"/>
          </a:xfrm>
          <a:prstGeom prst="roundRect">
            <a:avLst>
              <a:gd name="adj" fmla="val 4516"/>
            </a:avLst>
          </a:prstGeom>
          <a:solidFill>
            <a:srgbClr val="F4F6FB"/>
          </a:solidFill>
          <a:ln/>
        </p:spPr>
      </p:sp>
      <p:sp>
        <p:nvSpPr>
          <p:cNvPr id="18" name="Text 16"/>
          <p:cNvSpPr/>
          <p:nvPr/>
        </p:nvSpPr>
        <p:spPr>
          <a:xfrm>
            <a:off x="4398264" y="4096512"/>
            <a:ext cx="3136392" cy="32004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Round-dollar amounts</a:t>
            </a:r>
            <a:endParaRPr lang="en-US" sz="1300" dirty="0"/>
          </a:p>
        </p:txBody>
      </p:sp>
      <p:sp>
        <p:nvSpPr>
          <p:cNvPr id="19" name="Text 17"/>
          <p:cNvSpPr/>
          <p:nvPr/>
        </p:nvSpPr>
        <p:spPr>
          <a:xfrm>
            <a:off x="4398264" y="4443984"/>
            <a:ext cx="3136392" cy="758952"/>
          </a:xfrm>
          <a:prstGeom prst="rect">
            <a:avLst/>
          </a:prstGeom>
          <a:noFill/>
          <a:ln/>
        </p:spPr>
        <p:txBody>
          <a:bodyPr wrap="square" lIns="0" tIns="0" rIns="0" bIns="0" rtlCol="0" anchor="ctr"/>
          <a:lstStyle/>
          <a:p>
            <a:pPr marL="0" indent="0">
              <a:lnSpc>
                <a:spcPct val="120000"/>
              </a:lnSpc>
              <a:buNone/>
            </a:pPr>
            <a:r>
              <a:rPr lang="en-US" sz="1000" dirty="0">
                <a:solidFill>
                  <a:srgbClr val="6B7280"/>
                </a:solidFill>
                <a:latin typeface="Calibri" pitchFamily="34" charset="0"/>
                <a:ea typeface="Calibri" pitchFamily="34" charset="-122"/>
                <a:cs typeface="Calibri" pitchFamily="34" charset="-120"/>
              </a:rPr>
              <a:t>Real invoices rarely land on exact round numbers; a cluster of them often indicates fabrication.</a:t>
            </a:r>
            <a:endParaRPr lang="en-US" sz="1000" dirty="0"/>
          </a:p>
        </p:txBody>
      </p:sp>
      <p:sp>
        <p:nvSpPr>
          <p:cNvPr id="20" name="Shape 18"/>
          <p:cNvSpPr/>
          <p:nvPr/>
        </p:nvSpPr>
        <p:spPr>
          <a:xfrm>
            <a:off x="7882128" y="3913632"/>
            <a:ext cx="3502152" cy="1417320"/>
          </a:xfrm>
          <a:prstGeom prst="roundRect">
            <a:avLst>
              <a:gd name="adj" fmla="val 4516"/>
            </a:avLst>
          </a:prstGeom>
          <a:solidFill>
            <a:srgbClr val="F4F6FB"/>
          </a:solidFill>
          <a:ln/>
        </p:spPr>
      </p:sp>
      <p:sp>
        <p:nvSpPr>
          <p:cNvPr id="21" name="Text 19"/>
          <p:cNvSpPr/>
          <p:nvPr/>
        </p:nvSpPr>
        <p:spPr>
          <a:xfrm>
            <a:off x="8065008" y="4096512"/>
            <a:ext cx="3136392" cy="32004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Policy/threshold breaches</a:t>
            </a:r>
            <a:endParaRPr lang="en-US" sz="1300" dirty="0"/>
          </a:p>
        </p:txBody>
      </p:sp>
      <p:sp>
        <p:nvSpPr>
          <p:cNvPr id="22" name="Text 20"/>
          <p:cNvSpPr/>
          <p:nvPr/>
        </p:nvSpPr>
        <p:spPr>
          <a:xfrm>
            <a:off x="8065008" y="4443984"/>
            <a:ext cx="3136392" cy="758952"/>
          </a:xfrm>
          <a:prstGeom prst="rect">
            <a:avLst/>
          </a:prstGeom>
          <a:noFill/>
          <a:ln/>
        </p:spPr>
        <p:txBody>
          <a:bodyPr wrap="square" lIns="0" tIns="0" rIns="0" bIns="0" rtlCol="0" anchor="ctr"/>
          <a:lstStyle/>
          <a:p>
            <a:pPr marL="0" indent="0">
              <a:lnSpc>
                <a:spcPct val="120000"/>
              </a:lnSpc>
              <a:buNone/>
            </a:pPr>
            <a:r>
              <a:rPr lang="en-US" sz="1000" dirty="0">
                <a:solidFill>
                  <a:srgbClr val="6B7280"/>
                </a:solidFill>
                <a:latin typeface="Calibri" pitchFamily="34" charset="0"/>
                <a:ea typeface="Calibri" pitchFamily="34" charset="-122"/>
                <a:cs typeface="Calibri" pitchFamily="34" charset="-120"/>
              </a:rPr>
              <a:t>Any hard-coded control limit — spending authority, duplicate vendor IDs, missing PO — checked on every line.</a:t>
            </a:r>
            <a:endParaRPr lang="en-US" sz="1000" dirty="0"/>
          </a:p>
        </p:txBody>
      </p:sp>
      <p:sp>
        <p:nvSpPr>
          <p:cNvPr id="23" name="Text 21"/>
          <p:cNvSpPr/>
          <p:nvPr/>
        </p:nvSpPr>
        <p:spPr>
          <a:xfrm>
            <a:off x="548640" y="6510528"/>
            <a:ext cx="54864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Continuous Transaction Auditing</a:t>
            </a:r>
            <a:endParaRPr lang="en-US" sz="900" dirty="0"/>
          </a:p>
        </p:txBody>
      </p:sp>
      <p:sp>
        <p:nvSpPr>
          <p:cNvPr id="24" name="Text 22"/>
          <p:cNvSpPr/>
          <p:nvPr/>
        </p:nvSpPr>
        <p:spPr>
          <a:xfrm>
            <a:off x="11521440" y="6510528"/>
            <a:ext cx="4572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D03B3B"/>
                </a:solidFill>
                <a:latin typeface="Calibri" pitchFamily="34" charset="0"/>
                <a:ea typeface="Calibri" pitchFamily="34" charset="-122"/>
                <a:cs typeface="Calibri" pitchFamily="34" charset="-120"/>
              </a:rPr>
              <a:t>DETECTION TECHNIQUES</a:t>
            </a:r>
            <a:endParaRPr lang="en-US" sz="1200" dirty="0"/>
          </a:p>
        </p:txBody>
      </p:sp>
      <p:sp>
        <p:nvSpPr>
          <p:cNvPr id="3" name="Text 1"/>
          <p:cNvSpPr/>
          <p:nvPr/>
        </p:nvSpPr>
        <p:spPr>
          <a:xfrm>
            <a:off x="548640" y="685800"/>
            <a:ext cx="10515600" cy="822960"/>
          </a:xfrm>
          <a:prstGeom prst="rect">
            <a:avLst/>
          </a:prstGeom>
          <a:noFill/>
          <a:ln/>
        </p:spPr>
        <p:txBody>
          <a:bodyPr wrap="square" lIns="0" tIns="0" rIns="0" bIns="0" rtlCol="0" anchor="ctr"/>
          <a:lstStyle/>
          <a:p>
            <a:pPr marL="0" indent="0" algn="l">
              <a:buNone/>
            </a:pPr>
            <a:r>
              <a:rPr lang="en-US" sz="3200" b="1" dirty="0">
                <a:solidFill>
                  <a:srgbClr val="1E2761"/>
                </a:solidFill>
                <a:latin typeface="Cambria" pitchFamily="34" charset="0"/>
                <a:ea typeface="Cambria" pitchFamily="34" charset="-122"/>
                <a:cs typeface="Cambria" pitchFamily="34" charset="-120"/>
              </a:rPr>
              <a:t>Layer 2: machine learning — catching the unknown unknowns</a:t>
            </a:r>
            <a:endParaRPr lang="en-US" sz="3200" dirty="0"/>
          </a:p>
        </p:txBody>
      </p:sp>
      <p:sp>
        <p:nvSpPr>
          <p:cNvPr id="4" name="Text 2"/>
          <p:cNvSpPr/>
          <p:nvPr/>
        </p:nvSpPr>
        <p:spPr>
          <a:xfrm>
            <a:off x="548640" y="1645920"/>
            <a:ext cx="6035040" cy="1828800"/>
          </a:xfrm>
          <a:prstGeom prst="rect">
            <a:avLst/>
          </a:prstGeom>
          <a:noFill/>
          <a:ln/>
        </p:spPr>
        <p:txBody>
          <a:bodyPr wrap="square" lIns="0" tIns="0" rIns="0" bIns="0" rtlCol="0" anchor="ctr"/>
          <a:lstStyle/>
          <a:p>
            <a:pPr marL="0" indent="0">
              <a:lnSpc>
                <a:spcPct val="135000"/>
              </a:lnSpc>
              <a:buNone/>
            </a:pPr>
            <a:r>
              <a:rPr lang="en-US" sz="1400" dirty="0">
                <a:solidFill>
                  <a:srgbClr val="1B1B1B"/>
                </a:solidFill>
                <a:latin typeface="Calibri" pitchFamily="34" charset="0"/>
                <a:ea typeface="Calibri" pitchFamily="34" charset="-122"/>
                <a:cs typeface="Calibri" pitchFamily="34" charset="-120"/>
              </a:rPr>
              <a:t>Rules only catch patterns someone already thought to write a rule for. An unsupervised model looks at every transaction's features — amount, timing, vendor history, department — and flags the ones that don't resemble anything else in the data, without needing a predefined pattern.</a:t>
            </a:r>
            <a:endParaRPr lang="en-US" sz="1400" dirty="0"/>
          </a:p>
        </p:txBody>
      </p:sp>
      <p:sp>
        <p:nvSpPr>
          <p:cNvPr id="5" name="Text 3"/>
          <p:cNvSpPr/>
          <p:nvPr/>
        </p:nvSpPr>
        <p:spPr>
          <a:xfrm>
            <a:off x="548640" y="3566160"/>
            <a:ext cx="6035040" cy="274320"/>
          </a:xfrm>
          <a:prstGeom prst="rect">
            <a:avLst/>
          </a:prstGeom>
          <a:noFill/>
          <a:ln/>
        </p:spPr>
        <p:txBody>
          <a:bodyPr wrap="square" lIns="0" tIns="0" rIns="0" bIns="0" rtlCol="0" anchor="ctr"/>
          <a:lstStyle/>
          <a:p>
            <a:pPr marL="0" indent="0">
              <a:buNone/>
            </a:pPr>
            <a:r>
              <a:rPr lang="en-US" sz="1100" b="1" kern="0" spc="100" dirty="0">
                <a:solidFill>
                  <a:srgbClr val="D03B3B"/>
                </a:solidFill>
                <a:latin typeface="Calibri" pitchFamily="34" charset="0"/>
                <a:ea typeface="Calibri" pitchFamily="34" charset="-122"/>
                <a:cs typeface="Calibri" pitchFamily="34" charset="-120"/>
              </a:rPr>
              <a:t>TODAY'S DEMO USES: ISOLATION FOREST</a:t>
            </a:r>
            <a:endParaRPr lang="en-US" sz="1100" dirty="0"/>
          </a:p>
        </p:txBody>
      </p:sp>
      <p:sp>
        <p:nvSpPr>
          <p:cNvPr id="6" name="Text 4"/>
          <p:cNvSpPr/>
          <p:nvPr/>
        </p:nvSpPr>
        <p:spPr>
          <a:xfrm>
            <a:off x="548640" y="3886200"/>
            <a:ext cx="6035040" cy="1737360"/>
          </a:xfrm>
          <a:prstGeom prst="rect">
            <a:avLst/>
          </a:prstGeom>
          <a:noFill/>
          <a:ln/>
        </p:spPr>
        <p:txBody>
          <a:bodyPr wrap="square" lIns="0" tIns="0" rIns="0" bIns="0" rtlCol="0" anchor="ctr"/>
          <a:lstStyle/>
          <a:p>
            <a:pPr marL="0" indent="0">
              <a:lnSpc>
                <a:spcPct val="130000"/>
              </a:lnSpc>
              <a:buNone/>
            </a:pPr>
            <a:r>
              <a:rPr lang="en-US" sz="1300" dirty="0">
                <a:solidFill>
                  <a:srgbClr val="1B1B1B"/>
                </a:solidFill>
                <a:latin typeface="Calibri" pitchFamily="34" charset="0"/>
                <a:ea typeface="Calibri" pitchFamily="34" charset="-122"/>
                <a:cs typeface="Calibri" pitchFamily="34" charset="-120"/>
              </a:rPr>
              <a:t>An algorithm that isolates each transaction by randomly splitting on its features. Anomalies split apart in fewer steps than normal points — so "average path length to isolate" becomes the anomaly score. It needs no labeled fraud examples to train on, which matters because most ledgers don't have any.</a:t>
            </a:r>
            <a:endParaRPr lang="en-US" sz="1300" dirty="0"/>
          </a:p>
        </p:txBody>
      </p:sp>
      <p:sp>
        <p:nvSpPr>
          <p:cNvPr id="7" name="Shape 5"/>
          <p:cNvSpPr/>
          <p:nvPr/>
        </p:nvSpPr>
        <p:spPr>
          <a:xfrm>
            <a:off x="6995160" y="1645920"/>
            <a:ext cx="4526280" cy="4251960"/>
          </a:xfrm>
          <a:prstGeom prst="roundRect">
            <a:avLst>
              <a:gd name="adj" fmla="val 1720"/>
            </a:avLst>
          </a:prstGeom>
          <a:solidFill>
            <a:srgbClr val="1E2761"/>
          </a:solidFill>
          <a:ln/>
        </p:spPr>
      </p:sp>
      <p:sp>
        <p:nvSpPr>
          <p:cNvPr id="8" name="Text 6"/>
          <p:cNvSpPr/>
          <p:nvPr/>
        </p:nvSpPr>
        <p:spPr>
          <a:xfrm>
            <a:off x="7223760" y="1874520"/>
            <a:ext cx="4114800" cy="320040"/>
          </a:xfrm>
          <a:prstGeom prst="rect">
            <a:avLst/>
          </a:prstGeom>
          <a:noFill/>
          <a:ln/>
        </p:spPr>
        <p:txBody>
          <a:bodyPr wrap="square" lIns="0" tIns="0" rIns="0" bIns="0" rtlCol="0" anchor="ctr"/>
          <a:lstStyle/>
          <a:p>
            <a:pPr marL="0" indent="0">
              <a:buNone/>
            </a:pPr>
            <a:r>
              <a:rPr lang="en-US" sz="1100" b="1" kern="0" spc="100" dirty="0">
                <a:solidFill>
                  <a:srgbClr val="CADCFC"/>
                </a:solidFill>
                <a:latin typeface="Calibri" pitchFamily="34" charset="0"/>
                <a:ea typeface="Calibri" pitchFamily="34" charset="-122"/>
                <a:cs typeface="Calibri" pitchFamily="34" charset="-120"/>
              </a:rPr>
              <a:t>WHAT ML CATCHES THAT RULES MISS</a:t>
            </a:r>
            <a:endParaRPr lang="en-US" sz="1100" dirty="0"/>
          </a:p>
        </p:txBody>
      </p:sp>
      <p:sp>
        <p:nvSpPr>
          <p:cNvPr id="9" name="Shape 7"/>
          <p:cNvSpPr/>
          <p:nvPr/>
        </p:nvSpPr>
        <p:spPr>
          <a:xfrm>
            <a:off x="7223760" y="2404872"/>
            <a:ext cx="73152" cy="73152"/>
          </a:xfrm>
          <a:prstGeom prst="ellipse">
            <a:avLst/>
          </a:prstGeom>
          <a:solidFill>
            <a:srgbClr val="FFFFFF"/>
          </a:solidFill>
          <a:ln/>
        </p:spPr>
      </p:sp>
      <p:sp>
        <p:nvSpPr>
          <p:cNvPr id="10" name="Text 8"/>
          <p:cNvSpPr/>
          <p:nvPr/>
        </p:nvSpPr>
        <p:spPr>
          <a:xfrm>
            <a:off x="7424928" y="2240280"/>
            <a:ext cx="3931920" cy="777240"/>
          </a:xfrm>
          <a:prstGeom prst="rect">
            <a:avLst/>
          </a:prstGeom>
          <a:noFill/>
          <a:ln/>
        </p:spPr>
        <p:txBody>
          <a:bodyPr wrap="square" lIns="0" tIns="0" rIns="0" bIns="0" rtlCol="0" anchor="ctr"/>
          <a:lstStyle/>
          <a:p>
            <a:pPr marL="0" indent="0">
              <a:lnSpc>
                <a:spcPct val="125000"/>
              </a:lnSpc>
              <a:buNone/>
            </a:pPr>
            <a:r>
              <a:rPr lang="en-US" sz="1200" dirty="0">
                <a:solidFill>
                  <a:srgbClr val="FFFFFF"/>
                </a:solidFill>
                <a:latin typeface="Calibri" pitchFamily="34" charset="0"/>
                <a:ea typeface="Calibri" pitchFamily="34" charset="-122"/>
                <a:cs typeface="Calibri" pitchFamily="34" charset="-120"/>
              </a:rPr>
              <a:t>A payment that's unremarkable in absolute terms, but 10x this specific vendor's normal invoice size</a:t>
            </a:r>
            <a:endParaRPr lang="en-US" sz="1200" dirty="0"/>
          </a:p>
        </p:txBody>
      </p:sp>
      <p:sp>
        <p:nvSpPr>
          <p:cNvPr id="11" name="Shape 9"/>
          <p:cNvSpPr/>
          <p:nvPr/>
        </p:nvSpPr>
        <p:spPr>
          <a:xfrm>
            <a:off x="7223760" y="3319272"/>
            <a:ext cx="73152" cy="73152"/>
          </a:xfrm>
          <a:prstGeom prst="ellipse">
            <a:avLst/>
          </a:prstGeom>
          <a:solidFill>
            <a:srgbClr val="FFFFFF"/>
          </a:solidFill>
          <a:ln/>
        </p:spPr>
      </p:sp>
      <p:sp>
        <p:nvSpPr>
          <p:cNvPr id="12" name="Text 10"/>
          <p:cNvSpPr/>
          <p:nvPr/>
        </p:nvSpPr>
        <p:spPr>
          <a:xfrm>
            <a:off x="7424928" y="3154680"/>
            <a:ext cx="3931920" cy="777240"/>
          </a:xfrm>
          <a:prstGeom prst="rect">
            <a:avLst/>
          </a:prstGeom>
          <a:noFill/>
          <a:ln/>
        </p:spPr>
        <p:txBody>
          <a:bodyPr wrap="square" lIns="0" tIns="0" rIns="0" bIns="0" rtlCol="0" anchor="ctr"/>
          <a:lstStyle/>
          <a:p>
            <a:pPr marL="0" indent="0">
              <a:lnSpc>
                <a:spcPct val="125000"/>
              </a:lnSpc>
              <a:buNone/>
            </a:pPr>
            <a:r>
              <a:rPr lang="en-US" sz="1200" dirty="0">
                <a:solidFill>
                  <a:srgbClr val="FFFFFF"/>
                </a:solidFill>
                <a:latin typeface="Calibri" pitchFamily="34" charset="0"/>
                <a:ea typeface="Calibri" pitchFamily="34" charset="-122"/>
                <a:cs typeface="Calibri" pitchFamily="34" charset="-120"/>
              </a:rPr>
              <a:t>A department whose spending pattern shifts gradually enough that no single threshold trips</a:t>
            </a:r>
            <a:endParaRPr lang="en-US" sz="1200" dirty="0"/>
          </a:p>
        </p:txBody>
      </p:sp>
      <p:sp>
        <p:nvSpPr>
          <p:cNvPr id="13" name="Shape 11"/>
          <p:cNvSpPr/>
          <p:nvPr/>
        </p:nvSpPr>
        <p:spPr>
          <a:xfrm>
            <a:off x="7223760" y="4233672"/>
            <a:ext cx="73152" cy="73152"/>
          </a:xfrm>
          <a:prstGeom prst="ellipse">
            <a:avLst/>
          </a:prstGeom>
          <a:solidFill>
            <a:srgbClr val="FFFFFF"/>
          </a:solidFill>
          <a:ln/>
        </p:spPr>
      </p:sp>
      <p:sp>
        <p:nvSpPr>
          <p:cNvPr id="14" name="Text 12"/>
          <p:cNvSpPr/>
          <p:nvPr/>
        </p:nvSpPr>
        <p:spPr>
          <a:xfrm>
            <a:off x="7424928" y="4069080"/>
            <a:ext cx="3931920" cy="777240"/>
          </a:xfrm>
          <a:prstGeom prst="rect">
            <a:avLst/>
          </a:prstGeom>
          <a:noFill/>
          <a:ln/>
        </p:spPr>
        <p:txBody>
          <a:bodyPr wrap="square" lIns="0" tIns="0" rIns="0" bIns="0" rtlCol="0" anchor="ctr"/>
          <a:lstStyle/>
          <a:p>
            <a:pPr marL="0" indent="0">
              <a:lnSpc>
                <a:spcPct val="125000"/>
              </a:lnSpc>
              <a:buNone/>
            </a:pPr>
            <a:r>
              <a:rPr lang="en-US" sz="1200" dirty="0">
                <a:solidFill>
                  <a:srgbClr val="FFFFFF"/>
                </a:solidFill>
                <a:latin typeface="Calibri" pitchFamily="34" charset="0"/>
                <a:ea typeface="Calibri" pitchFamily="34" charset="-122"/>
                <a:cs typeface="Calibri" pitchFamily="34" charset="-120"/>
              </a:rPr>
              <a:t>A combination of features — amount + timing + approver — none of which is individually unusual</a:t>
            </a:r>
            <a:endParaRPr lang="en-US" sz="1200" dirty="0"/>
          </a:p>
        </p:txBody>
      </p:sp>
      <p:sp>
        <p:nvSpPr>
          <p:cNvPr id="15" name="Text 13"/>
          <p:cNvSpPr/>
          <p:nvPr/>
        </p:nvSpPr>
        <p:spPr>
          <a:xfrm>
            <a:off x="548640" y="6510528"/>
            <a:ext cx="54864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Continuous Transaction Auditing</a:t>
            </a:r>
            <a:endParaRPr lang="en-US" sz="900" dirty="0"/>
          </a:p>
        </p:txBody>
      </p:sp>
      <p:sp>
        <p:nvSpPr>
          <p:cNvPr id="16" name="Text 14"/>
          <p:cNvSpPr/>
          <p:nvPr/>
        </p:nvSpPr>
        <p:spPr>
          <a:xfrm>
            <a:off x="11521440" y="6510528"/>
            <a:ext cx="4572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D03B3B"/>
                </a:solidFill>
                <a:latin typeface="Calibri" pitchFamily="34" charset="0"/>
                <a:ea typeface="Calibri" pitchFamily="34" charset="-122"/>
                <a:cs typeface="Calibri" pitchFamily="34" charset="-120"/>
              </a:rPr>
              <a:t>DETECTION TECHNIQUES</a:t>
            </a:r>
            <a:endParaRPr lang="en-US" sz="1200" dirty="0"/>
          </a:p>
        </p:txBody>
      </p:sp>
      <p:sp>
        <p:nvSpPr>
          <p:cNvPr id="3" name="Text 1"/>
          <p:cNvSpPr/>
          <p:nvPr/>
        </p:nvSpPr>
        <p:spPr>
          <a:xfrm>
            <a:off x="548640" y="685800"/>
            <a:ext cx="10515600" cy="822960"/>
          </a:xfrm>
          <a:prstGeom prst="rect">
            <a:avLst/>
          </a:prstGeom>
          <a:noFill/>
          <a:ln/>
        </p:spPr>
        <p:txBody>
          <a:bodyPr wrap="square" lIns="0" tIns="0" rIns="0" bIns="0" rtlCol="0" anchor="ctr"/>
          <a:lstStyle/>
          <a:p>
            <a:pPr marL="0" indent="0" algn="l">
              <a:buNone/>
            </a:pPr>
            <a:r>
              <a:rPr lang="en-US" sz="3200" b="1" dirty="0">
                <a:solidFill>
                  <a:srgbClr val="1E2761"/>
                </a:solidFill>
                <a:latin typeface="Cambria" pitchFamily="34" charset="0"/>
                <a:ea typeface="Cambria" pitchFamily="34" charset="-122"/>
                <a:cs typeface="Cambria" pitchFamily="34" charset="-120"/>
              </a:rPr>
              <a:t>Combining both layers into one worklist</a:t>
            </a:r>
            <a:endParaRPr lang="en-US" sz="3200" dirty="0"/>
          </a:p>
        </p:txBody>
      </p:sp>
      <p:sp>
        <p:nvSpPr>
          <p:cNvPr id="4" name="Text 2"/>
          <p:cNvSpPr/>
          <p:nvPr/>
        </p:nvSpPr>
        <p:spPr>
          <a:xfrm>
            <a:off x="548640" y="1645920"/>
            <a:ext cx="10698480" cy="1005840"/>
          </a:xfrm>
          <a:prstGeom prst="rect">
            <a:avLst/>
          </a:prstGeom>
          <a:noFill/>
          <a:ln/>
        </p:spPr>
        <p:txBody>
          <a:bodyPr wrap="square" lIns="0" tIns="0" rIns="0" bIns="0" rtlCol="0" anchor="ctr"/>
          <a:lstStyle/>
          <a:p>
            <a:pPr marL="0" indent="0">
              <a:lnSpc>
                <a:spcPct val="135000"/>
              </a:lnSpc>
              <a:buNone/>
            </a:pPr>
            <a:r>
              <a:rPr lang="en-US" sz="1400" dirty="0">
                <a:solidFill>
                  <a:srgbClr val="1B1B1B"/>
                </a:solidFill>
                <a:latin typeface="Calibri" pitchFamily="34" charset="0"/>
                <a:ea typeface="Calibri" pitchFamily="34" charset="-122"/>
                <a:cs typeface="Calibri" pitchFamily="34" charset="-120"/>
              </a:rPr>
              <a:t>Neither layer alone is sufficient. Rules are explainable but blind to novel patterns; ML catches novel patterns but is harder to justify to a stakeholder on its own. Production systems combine both into a single composite risk score, so every flagged transaction has both a statistical basis and, where possible, a plain-language reason.</a:t>
            </a:r>
            <a:endParaRPr lang="en-US" sz="1400" dirty="0"/>
          </a:p>
        </p:txBody>
      </p:sp>
      <p:sp>
        <p:nvSpPr>
          <p:cNvPr id="5" name="Shape 3"/>
          <p:cNvSpPr/>
          <p:nvPr/>
        </p:nvSpPr>
        <p:spPr>
          <a:xfrm>
            <a:off x="548640" y="2880360"/>
            <a:ext cx="10698480" cy="1188720"/>
          </a:xfrm>
          <a:prstGeom prst="roundRect">
            <a:avLst>
              <a:gd name="adj" fmla="val 6154"/>
            </a:avLst>
          </a:prstGeom>
          <a:solidFill>
            <a:srgbClr val="F4F6FB"/>
          </a:solidFill>
          <a:ln w="12700">
            <a:solidFill>
              <a:srgbClr val="CADCFC"/>
            </a:solidFill>
            <a:prstDash val="solid"/>
          </a:ln>
        </p:spPr>
      </p:sp>
      <p:sp>
        <p:nvSpPr>
          <p:cNvPr id="6" name="Text 4"/>
          <p:cNvSpPr/>
          <p:nvPr/>
        </p:nvSpPr>
        <p:spPr>
          <a:xfrm>
            <a:off x="548640" y="2880360"/>
            <a:ext cx="10698480" cy="1188720"/>
          </a:xfrm>
          <a:prstGeom prst="rect">
            <a:avLst/>
          </a:prstGeom>
          <a:noFill/>
          <a:ln/>
        </p:spPr>
        <p:txBody>
          <a:bodyPr wrap="square" lIns="0" tIns="0" rIns="0" bIns="0" rtlCol="0" anchor="ctr"/>
          <a:lstStyle/>
          <a:p>
            <a:pPr marL="0" indent="0" algn="ctr">
              <a:buNone/>
            </a:pPr>
            <a:r>
              <a:rPr lang="en-US" sz="2000" b="1" dirty="0">
                <a:solidFill>
                  <a:srgbClr val="1E2761"/>
                </a:solidFill>
                <a:latin typeface="Cambria" pitchFamily="34" charset="0"/>
                <a:ea typeface="Cambria" pitchFamily="34" charset="-122"/>
                <a:cs typeface="Cambria" pitchFamily="34" charset="-120"/>
              </a:rPr>
              <a:t>Composite risk score  =  (rules triggered)  +  2 × (normalized ML anomaly score)</a:t>
            </a:r>
            <a:endParaRPr lang="en-US" sz="2000" dirty="0"/>
          </a:p>
        </p:txBody>
      </p:sp>
      <p:sp>
        <p:nvSpPr>
          <p:cNvPr id="7" name="Text 5"/>
          <p:cNvSpPr/>
          <p:nvPr/>
        </p:nvSpPr>
        <p:spPr>
          <a:xfrm>
            <a:off x="548640" y="4434840"/>
            <a:ext cx="3429000" cy="32004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Explainable</a:t>
            </a:r>
            <a:endParaRPr lang="en-US" sz="1300" dirty="0"/>
          </a:p>
        </p:txBody>
      </p:sp>
      <p:sp>
        <p:nvSpPr>
          <p:cNvPr id="8" name="Text 6"/>
          <p:cNvSpPr/>
          <p:nvPr/>
        </p:nvSpPr>
        <p:spPr>
          <a:xfrm>
            <a:off x="548640" y="4754880"/>
            <a:ext cx="3429000" cy="1005840"/>
          </a:xfrm>
          <a:prstGeom prst="rect">
            <a:avLst/>
          </a:prstGeom>
          <a:noFill/>
          <a:ln/>
        </p:spPr>
        <p:txBody>
          <a:bodyPr wrap="square" lIns="0" tIns="0" rIns="0" bIns="0" rtlCol="0" anchor="ctr"/>
          <a:lstStyle/>
          <a:p>
            <a:pPr marL="0" indent="0">
              <a:lnSpc>
                <a:spcPct val="125000"/>
              </a:lnSpc>
              <a:buNone/>
            </a:pPr>
            <a:r>
              <a:rPr lang="en-US" sz="1150" dirty="0">
                <a:solidFill>
                  <a:srgbClr val="6B7280"/>
                </a:solidFill>
                <a:latin typeface="Calibri" pitchFamily="34" charset="0"/>
                <a:ea typeface="Calibri" pitchFamily="34" charset="-122"/>
                <a:cs typeface="Calibri" pitchFamily="34" charset="-120"/>
              </a:rPr>
              <a:t>Every score can be traced back to which specific rules fired, or that the ML model alone flagged it.</a:t>
            </a:r>
            <a:endParaRPr lang="en-US" sz="1150" dirty="0"/>
          </a:p>
        </p:txBody>
      </p:sp>
      <p:sp>
        <p:nvSpPr>
          <p:cNvPr id="9" name="Text 7"/>
          <p:cNvSpPr/>
          <p:nvPr/>
        </p:nvSpPr>
        <p:spPr>
          <a:xfrm>
            <a:off x="4160520" y="4434840"/>
            <a:ext cx="3429000" cy="32004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Tunable</a:t>
            </a:r>
            <a:endParaRPr lang="en-US" sz="1300" dirty="0"/>
          </a:p>
        </p:txBody>
      </p:sp>
      <p:sp>
        <p:nvSpPr>
          <p:cNvPr id="10" name="Text 8"/>
          <p:cNvSpPr/>
          <p:nvPr/>
        </p:nvSpPr>
        <p:spPr>
          <a:xfrm>
            <a:off x="4160520" y="4754880"/>
            <a:ext cx="3429000" cy="1005840"/>
          </a:xfrm>
          <a:prstGeom prst="rect">
            <a:avLst/>
          </a:prstGeom>
          <a:noFill/>
          <a:ln/>
        </p:spPr>
        <p:txBody>
          <a:bodyPr wrap="square" lIns="0" tIns="0" rIns="0" bIns="0" rtlCol="0" anchor="ctr"/>
          <a:lstStyle/>
          <a:p>
            <a:pPr marL="0" indent="0">
              <a:lnSpc>
                <a:spcPct val="125000"/>
              </a:lnSpc>
              <a:buNone/>
            </a:pPr>
            <a:r>
              <a:rPr lang="en-US" sz="1150" dirty="0">
                <a:solidFill>
                  <a:srgbClr val="6B7280"/>
                </a:solidFill>
                <a:latin typeface="Calibri" pitchFamily="34" charset="0"/>
                <a:ea typeface="Calibri" pitchFamily="34" charset="-122"/>
                <a:cs typeface="Calibri" pitchFamily="34" charset="-120"/>
              </a:rPr>
              <a:t>Weights and rule thresholds are adjusted per engagement risk appetite — more conservative or more sensitive.</a:t>
            </a:r>
            <a:endParaRPr lang="en-US" sz="1150" dirty="0"/>
          </a:p>
        </p:txBody>
      </p:sp>
      <p:sp>
        <p:nvSpPr>
          <p:cNvPr id="11" name="Text 9"/>
          <p:cNvSpPr/>
          <p:nvPr/>
        </p:nvSpPr>
        <p:spPr>
          <a:xfrm>
            <a:off x="7772400" y="4434840"/>
            <a:ext cx="3429000" cy="32004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Actionable</a:t>
            </a:r>
            <a:endParaRPr lang="en-US" sz="1300" dirty="0"/>
          </a:p>
        </p:txBody>
      </p:sp>
      <p:sp>
        <p:nvSpPr>
          <p:cNvPr id="12" name="Text 10"/>
          <p:cNvSpPr/>
          <p:nvPr/>
        </p:nvSpPr>
        <p:spPr>
          <a:xfrm>
            <a:off x="7772400" y="4754880"/>
            <a:ext cx="3429000" cy="1005840"/>
          </a:xfrm>
          <a:prstGeom prst="rect">
            <a:avLst/>
          </a:prstGeom>
          <a:noFill/>
          <a:ln/>
        </p:spPr>
        <p:txBody>
          <a:bodyPr wrap="square" lIns="0" tIns="0" rIns="0" bIns="0" rtlCol="0" anchor="ctr"/>
          <a:lstStyle/>
          <a:p>
            <a:pPr marL="0" indent="0">
              <a:lnSpc>
                <a:spcPct val="125000"/>
              </a:lnSpc>
              <a:buNone/>
            </a:pPr>
            <a:r>
              <a:rPr lang="en-US" sz="1150" dirty="0">
                <a:solidFill>
                  <a:srgbClr val="6B7280"/>
                </a:solidFill>
                <a:latin typeface="Calibri" pitchFamily="34" charset="0"/>
                <a:ea typeface="Calibri" pitchFamily="34" charset="-122"/>
                <a:cs typeface="Calibri" pitchFamily="34" charset="-120"/>
              </a:rPr>
              <a:t>Auditors triage a ranked list, not a firehose — the highest-risk 1–5% surface first.</a:t>
            </a:r>
            <a:endParaRPr lang="en-US" sz="1150" dirty="0"/>
          </a:p>
        </p:txBody>
      </p:sp>
      <p:sp>
        <p:nvSpPr>
          <p:cNvPr id="13" name="Text 11"/>
          <p:cNvSpPr/>
          <p:nvPr/>
        </p:nvSpPr>
        <p:spPr>
          <a:xfrm>
            <a:off x="548640" y="6510528"/>
            <a:ext cx="54864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Continuous Transaction Auditing</a:t>
            </a:r>
            <a:endParaRPr lang="en-US" sz="900" dirty="0"/>
          </a:p>
        </p:txBody>
      </p:sp>
      <p:sp>
        <p:nvSpPr>
          <p:cNvPr id="14" name="Text 12"/>
          <p:cNvSpPr/>
          <p:nvPr/>
        </p:nvSpPr>
        <p:spPr>
          <a:xfrm>
            <a:off x="11521440" y="6510528"/>
            <a:ext cx="4572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1B47"/>
        </a:solidFill>
        <a:effectLst/>
      </p:bgPr>
    </p:bg>
    <p:spTree>
      <p:nvGrpSpPr>
        <p:cNvPr id="1" name=""/>
        <p:cNvGrpSpPr/>
        <p:nvPr/>
      </p:nvGrpSpPr>
      <p:grpSpPr>
        <a:xfrm>
          <a:off x="0" y="0"/>
          <a:ext cx="0" cy="0"/>
          <a:chOff x="0" y="0"/>
          <a:chExt cx="0" cy="0"/>
        </a:xfrm>
      </p:grpSpPr>
      <p:sp>
        <p:nvSpPr>
          <p:cNvPr id="2" name="Text 0"/>
          <p:cNvSpPr/>
          <p:nvPr/>
        </p:nvSpPr>
        <p:spPr>
          <a:xfrm>
            <a:off x="731520" y="2651760"/>
            <a:ext cx="9144000" cy="457200"/>
          </a:xfrm>
          <a:prstGeom prst="rect">
            <a:avLst/>
          </a:prstGeom>
          <a:noFill/>
          <a:ln/>
        </p:spPr>
        <p:txBody>
          <a:bodyPr wrap="square" lIns="0" tIns="0" rIns="0" bIns="0" rtlCol="0" anchor="ctr"/>
          <a:lstStyle/>
          <a:p>
            <a:pPr marL="0" indent="0">
              <a:buNone/>
            </a:pPr>
            <a:r>
              <a:rPr lang="en-US" sz="1400" b="1" kern="0" spc="300" dirty="0">
                <a:solidFill>
                  <a:srgbClr val="D03B3B"/>
                </a:solidFill>
                <a:latin typeface="Calibri" pitchFamily="34" charset="0"/>
                <a:ea typeface="Calibri" pitchFamily="34" charset="-122"/>
                <a:cs typeface="Calibri" pitchFamily="34" charset="-120"/>
              </a:rPr>
              <a:t>LIVE DEMO</a:t>
            </a:r>
            <a:endParaRPr lang="en-US" sz="1400" dirty="0"/>
          </a:p>
        </p:txBody>
      </p:sp>
      <p:sp>
        <p:nvSpPr>
          <p:cNvPr id="3" name="Text 1"/>
          <p:cNvSpPr/>
          <p:nvPr/>
        </p:nvSpPr>
        <p:spPr>
          <a:xfrm>
            <a:off x="731520" y="3063240"/>
            <a:ext cx="10058400" cy="1645920"/>
          </a:xfrm>
          <a:prstGeom prst="rect">
            <a:avLst/>
          </a:prstGeom>
          <a:noFill/>
          <a:ln/>
        </p:spPr>
        <p:txBody>
          <a:bodyPr wrap="square" lIns="0" tIns="0" rIns="0" bIns="0" rtlCol="0" anchor="ctr"/>
          <a:lstStyle/>
          <a:p>
            <a:pPr marL="0" indent="0">
              <a:lnSpc>
                <a:spcPct val="110000"/>
              </a:lnSpc>
              <a:buNone/>
            </a:pPr>
            <a:r>
              <a:rPr lang="en-US" sz="4000" b="1" dirty="0">
                <a:solidFill>
                  <a:srgbClr val="FFFFFF"/>
                </a:solidFill>
                <a:latin typeface="Cambria" pitchFamily="34" charset="0"/>
                <a:ea typeface="Cambria" pitchFamily="34" charset="-122"/>
                <a:cs typeface="Cambria" pitchFamily="34" charset="-120"/>
              </a:rPr>
              <a:t>One year of transactions.</a:t>
            </a:r>
            <a:endParaRPr lang="en-US" sz="4000" dirty="0"/>
          </a:p>
          <a:p>
            <a:pPr marL="0" indent="0">
              <a:lnSpc>
                <a:spcPct val="110000"/>
              </a:lnSpc>
              <a:buNone/>
            </a:pPr>
            <a:r>
              <a:rPr lang="en-US" sz="4000" b="1" dirty="0">
                <a:solidFill>
                  <a:srgbClr val="FFFFFF"/>
                </a:solidFill>
                <a:latin typeface="Cambria" pitchFamily="34" charset="0"/>
                <a:ea typeface="Cambria" pitchFamily="34" charset="-122"/>
                <a:cs typeface="Cambria" pitchFamily="34" charset="-120"/>
              </a:rPr>
              <a:t>Both detection layers. Live.</a:t>
            </a:r>
            <a:endParaRPr lang="en-US" sz="4000" dirty="0"/>
          </a:p>
        </p:txBody>
      </p:sp>
      <p:sp>
        <p:nvSpPr>
          <p:cNvPr id="4" name="Text 2"/>
          <p:cNvSpPr/>
          <p:nvPr/>
        </p:nvSpPr>
        <p:spPr>
          <a:xfrm>
            <a:off x="731520" y="4846320"/>
            <a:ext cx="9601200" cy="365760"/>
          </a:xfrm>
          <a:prstGeom prst="rect">
            <a:avLst/>
          </a:prstGeom>
          <a:noFill/>
          <a:ln/>
        </p:spPr>
        <p:txBody>
          <a:bodyPr wrap="square" lIns="0" tIns="0" rIns="0" bIns="0" rtlCol="0" anchor="ctr"/>
          <a:lstStyle/>
          <a:p>
            <a:pPr marL="0" indent="0">
              <a:buNone/>
            </a:pPr>
            <a:r>
              <a:rPr lang="en-US" sz="1300" dirty="0">
                <a:solidFill>
                  <a:srgbClr val="CADCFC"/>
                </a:solidFill>
                <a:latin typeface="Calibri" pitchFamily="34" charset="0"/>
                <a:ea typeface="Calibri" pitchFamily="34" charset="-122"/>
                <a:cs typeface="Calibri" pitchFamily="34" charset="-120"/>
              </a:rPr>
              <a:t>6,145 synthetic accounts-payable transactions • 145 planted anomalies • Python + scikit-learn</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D03B3B"/>
                </a:solidFill>
                <a:latin typeface="Calibri" pitchFamily="34" charset="0"/>
                <a:ea typeface="Calibri" pitchFamily="34" charset="-122"/>
                <a:cs typeface="Calibri" pitchFamily="34" charset="-120"/>
              </a:rPr>
              <a:t>LIVE DEMO</a:t>
            </a:r>
            <a:endParaRPr lang="en-US" sz="1200" dirty="0"/>
          </a:p>
        </p:txBody>
      </p:sp>
      <p:sp>
        <p:nvSpPr>
          <p:cNvPr id="3" name="Text 1"/>
          <p:cNvSpPr/>
          <p:nvPr/>
        </p:nvSpPr>
        <p:spPr>
          <a:xfrm>
            <a:off x="548640" y="685800"/>
            <a:ext cx="10515600" cy="822960"/>
          </a:xfrm>
          <a:prstGeom prst="rect">
            <a:avLst/>
          </a:prstGeom>
          <a:noFill/>
          <a:ln/>
        </p:spPr>
        <p:txBody>
          <a:bodyPr wrap="square" lIns="0" tIns="0" rIns="0" bIns="0" rtlCol="0" anchor="ctr"/>
          <a:lstStyle/>
          <a:p>
            <a:pPr marL="0" indent="0" algn="l">
              <a:buNone/>
            </a:pPr>
            <a:r>
              <a:rPr lang="en-US" sz="3200" b="1" dirty="0">
                <a:solidFill>
                  <a:srgbClr val="1E2761"/>
                </a:solidFill>
                <a:latin typeface="Cambria" pitchFamily="34" charset="0"/>
                <a:ea typeface="Cambria" pitchFamily="34" charset="-122"/>
                <a:cs typeface="Cambria" pitchFamily="34" charset="-120"/>
              </a:rPr>
              <a:t>The dataset: a year of accounts-payable activity</a:t>
            </a:r>
            <a:endParaRPr lang="en-US" sz="3200" dirty="0"/>
          </a:p>
        </p:txBody>
      </p:sp>
      <p:sp>
        <p:nvSpPr>
          <p:cNvPr id="4" name="Shape 2"/>
          <p:cNvSpPr/>
          <p:nvPr/>
        </p:nvSpPr>
        <p:spPr>
          <a:xfrm>
            <a:off x="548640" y="1737360"/>
            <a:ext cx="2606040" cy="1554480"/>
          </a:xfrm>
          <a:prstGeom prst="roundRect">
            <a:avLst>
              <a:gd name="adj" fmla="val 4706"/>
            </a:avLst>
          </a:prstGeom>
          <a:solidFill>
            <a:srgbClr val="F4F6FB"/>
          </a:solidFill>
          <a:ln/>
        </p:spPr>
      </p:sp>
      <p:sp>
        <p:nvSpPr>
          <p:cNvPr id="5" name="Text 3"/>
          <p:cNvSpPr/>
          <p:nvPr/>
        </p:nvSpPr>
        <p:spPr>
          <a:xfrm>
            <a:off x="548640" y="1874520"/>
            <a:ext cx="2606040" cy="685800"/>
          </a:xfrm>
          <a:prstGeom prst="rect">
            <a:avLst/>
          </a:prstGeom>
          <a:noFill/>
          <a:ln/>
        </p:spPr>
        <p:txBody>
          <a:bodyPr wrap="square" lIns="0" tIns="0" rIns="0" bIns="0" rtlCol="0" anchor="ctr"/>
          <a:lstStyle/>
          <a:p>
            <a:pPr marL="0" indent="0" algn="ctr">
              <a:buNone/>
            </a:pPr>
            <a:r>
              <a:rPr lang="en-US" sz="3200" b="1" dirty="0">
                <a:solidFill>
                  <a:srgbClr val="1E2761"/>
                </a:solidFill>
                <a:latin typeface="Cambria" pitchFamily="34" charset="0"/>
                <a:ea typeface="Cambria" pitchFamily="34" charset="-122"/>
                <a:cs typeface="Cambria" pitchFamily="34" charset="-120"/>
              </a:rPr>
              <a:t>6,145</a:t>
            </a:r>
            <a:endParaRPr lang="en-US" sz="3200" dirty="0"/>
          </a:p>
        </p:txBody>
      </p:sp>
      <p:sp>
        <p:nvSpPr>
          <p:cNvPr id="6" name="Text 4"/>
          <p:cNvSpPr/>
          <p:nvPr/>
        </p:nvSpPr>
        <p:spPr>
          <a:xfrm>
            <a:off x="685800" y="2606040"/>
            <a:ext cx="2331720" cy="548640"/>
          </a:xfrm>
          <a:prstGeom prst="rect">
            <a:avLst/>
          </a:prstGeom>
          <a:noFill/>
          <a:ln/>
        </p:spPr>
        <p:txBody>
          <a:bodyPr wrap="square" lIns="0" tIns="0" rIns="0" bIns="0" rtlCol="0" anchor="ctr"/>
          <a:lstStyle/>
          <a:p>
            <a:pPr marL="0" indent="0" algn="ctr">
              <a:lnSpc>
                <a:spcPct val="115000"/>
              </a:lnSpc>
              <a:buNone/>
            </a:pPr>
            <a:r>
              <a:rPr lang="en-US" sz="1100" dirty="0">
                <a:solidFill>
                  <a:srgbClr val="6B7280"/>
                </a:solidFill>
                <a:latin typeface="Calibri" pitchFamily="34" charset="0"/>
                <a:ea typeface="Calibri" pitchFamily="34" charset="-122"/>
                <a:cs typeface="Calibri" pitchFamily="34" charset="-120"/>
              </a:rPr>
              <a:t>total transactions, FY2025</a:t>
            </a:r>
            <a:endParaRPr lang="en-US" sz="1100" dirty="0"/>
          </a:p>
        </p:txBody>
      </p:sp>
      <p:sp>
        <p:nvSpPr>
          <p:cNvPr id="7" name="Shape 5"/>
          <p:cNvSpPr/>
          <p:nvPr/>
        </p:nvSpPr>
        <p:spPr>
          <a:xfrm>
            <a:off x="3310128" y="1737360"/>
            <a:ext cx="2606040" cy="1554480"/>
          </a:xfrm>
          <a:prstGeom prst="roundRect">
            <a:avLst>
              <a:gd name="adj" fmla="val 4706"/>
            </a:avLst>
          </a:prstGeom>
          <a:solidFill>
            <a:srgbClr val="F4F6FB"/>
          </a:solidFill>
          <a:ln/>
        </p:spPr>
      </p:sp>
      <p:sp>
        <p:nvSpPr>
          <p:cNvPr id="8" name="Text 6"/>
          <p:cNvSpPr/>
          <p:nvPr/>
        </p:nvSpPr>
        <p:spPr>
          <a:xfrm>
            <a:off x="3310128" y="1874520"/>
            <a:ext cx="2606040" cy="685800"/>
          </a:xfrm>
          <a:prstGeom prst="rect">
            <a:avLst/>
          </a:prstGeom>
          <a:noFill/>
          <a:ln/>
        </p:spPr>
        <p:txBody>
          <a:bodyPr wrap="square" lIns="0" tIns="0" rIns="0" bIns="0" rtlCol="0" anchor="ctr"/>
          <a:lstStyle/>
          <a:p>
            <a:pPr marL="0" indent="0" algn="ctr">
              <a:buNone/>
            </a:pPr>
            <a:r>
              <a:rPr lang="en-US" sz="3200" b="1" dirty="0">
                <a:solidFill>
                  <a:srgbClr val="1E2761"/>
                </a:solidFill>
                <a:latin typeface="Cambria" pitchFamily="34" charset="0"/>
                <a:ea typeface="Cambria" pitchFamily="34" charset="-122"/>
                <a:cs typeface="Cambria" pitchFamily="34" charset="-120"/>
              </a:rPr>
              <a:t>140</a:t>
            </a:r>
            <a:endParaRPr lang="en-US" sz="3200" dirty="0"/>
          </a:p>
        </p:txBody>
      </p:sp>
      <p:sp>
        <p:nvSpPr>
          <p:cNvPr id="9" name="Text 7"/>
          <p:cNvSpPr/>
          <p:nvPr/>
        </p:nvSpPr>
        <p:spPr>
          <a:xfrm>
            <a:off x="3447288" y="2606040"/>
            <a:ext cx="2331720" cy="548640"/>
          </a:xfrm>
          <a:prstGeom prst="rect">
            <a:avLst/>
          </a:prstGeom>
          <a:noFill/>
          <a:ln/>
        </p:spPr>
        <p:txBody>
          <a:bodyPr wrap="square" lIns="0" tIns="0" rIns="0" bIns="0" rtlCol="0" anchor="ctr"/>
          <a:lstStyle/>
          <a:p>
            <a:pPr marL="0" indent="0" algn="ctr">
              <a:lnSpc>
                <a:spcPct val="115000"/>
              </a:lnSpc>
              <a:buNone/>
            </a:pPr>
            <a:r>
              <a:rPr lang="en-US" sz="1100" dirty="0">
                <a:solidFill>
                  <a:srgbClr val="6B7280"/>
                </a:solidFill>
                <a:latin typeface="Calibri" pitchFamily="34" charset="0"/>
                <a:ea typeface="Calibri" pitchFamily="34" charset="-122"/>
                <a:cs typeface="Calibri" pitchFamily="34" charset="-120"/>
              </a:rPr>
              <a:t>unique vendors</a:t>
            </a:r>
            <a:endParaRPr lang="en-US" sz="1100" dirty="0"/>
          </a:p>
        </p:txBody>
      </p:sp>
      <p:sp>
        <p:nvSpPr>
          <p:cNvPr id="10" name="Shape 8"/>
          <p:cNvSpPr/>
          <p:nvPr/>
        </p:nvSpPr>
        <p:spPr>
          <a:xfrm>
            <a:off x="6071616" y="1737360"/>
            <a:ext cx="2606040" cy="1554480"/>
          </a:xfrm>
          <a:prstGeom prst="roundRect">
            <a:avLst>
              <a:gd name="adj" fmla="val 4706"/>
            </a:avLst>
          </a:prstGeom>
          <a:solidFill>
            <a:srgbClr val="F4F6FB"/>
          </a:solidFill>
          <a:ln/>
        </p:spPr>
      </p:sp>
      <p:sp>
        <p:nvSpPr>
          <p:cNvPr id="11" name="Text 9"/>
          <p:cNvSpPr/>
          <p:nvPr/>
        </p:nvSpPr>
        <p:spPr>
          <a:xfrm>
            <a:off x="6071616" y="1874520"/>
            <a:ext cx="2606040" cy="685800"/>
          </a:xfrm>
          <a:prstGeom prst="rect">
            <a:avLst/>
          </a:prstGeom>
          <a:noFill/>
          <a:ln/>
        </p:spPr>
        <p:txBody>
          <a:bodyPr wrap="square" lIns="0" tIns="0" rIns="0" bIns="0" rtlCol="0" anchor="ctr"/>
          <a:lstStyle/>
          <a:p>
            <a:pPr marL="0" indent="0" algn="ctr">
              <a:buNone/>
            </a:pPr>
            <a:r>
              <a:rPr lang="en-US" sz="3200" b="1" dirty="0">
                <a:solidFill>
                  <a:srgbClr val="1E2761"/>
                </a:solidFill>
                <a:latin typeface="Cambria" pitchFamily="34" charset="0"/>
                <a:ea typeface="Cambria" pitchFamily="34" charset="-122"/>
                <a:cs typeface="Cambria" pitchFamily="34" charset="-120"/>
              </a:rPr>
              <a:t>7</a:t>
            </a:r>
            <a:endParaRPr lang="en-US" sz="3200" dirty="0"/>
          </a:p>
        </p:txBody>
      </p:sp>
      <p:sp>
        <p:nvSpPr>
          <p:cNvPr id="12" name="Text 10"/>
          <p:cNvSpPr/>
          <p:nvPr/>
        </p:nvSpPr>
        <p:spPr>
          <a:xfrm>
            <a:off x="6208776" y="2606040"/>
            <a:ext cx="2331720" cy="548640"/>
          </a:xfrm>
          <a:prstGeom prst="rect">
            <a:avLst/>
          </a:prstGeom>
          <a:noFill/>
          <a:ln/>
        </p:spPr>
        <p:txBody>
          <a:bodyPr wrap="square" lIns="0" tIns="0" rIns="0" bIns="0" rtlCol="0" anchor="ctr"/>
          <a:lstStyle/>
          <a:p>
            <a:pPr marL="0" indent="0" algn="ctr">
              <a:lnSpc>
                <a:spcPct val="115000"/>
              </a:lnSpc>
              <a:buNone/>
            </a:pPr>
            <a:r>
              <a:rPr lang="en-US" sz="1100" dirty="0">
                <a:solidFill>
                  <a:srgbClr val="6B7280"/>
                </a:solidFill>
                <a:latin typeface="Calibri" pitchFamily="34" charset="0"/>
                <a:ea typeface="Calibri" pitchFamily="34" charset="-122"/>
                <a:cs typeface="Calibri" pitchFamily="34" charset="-120"/>
              </a:rPr>
              <a:t>departments</a:t>
            </a:r>
            <a:endParaRPr lang="en-US" sz="1100" dirty="0"/>
          </a:p>
        </p:txBody>
      </p:sp>
      <p:sp>
        <p:nvSpPr>
          <p:cNvPr id="13" name="Shape 11"/>
          <p:cNvSpPr/>
          <p:nvPr/>
        </p:nvSpPr>
        <p:spPr>
          <a:xfrm>
            <a:off x="8833104" y="1737360"/>
            <a:ext cx="2606040" cy="1554480"/>
          </a:xfrm>
          <a:prstGeom prst="roundRect">
            <a:avLst>
              <a:gd name="adj" fmla="val 4706"/>
            </a:avLst>
          </a:prstGeom>
          <a:solidFill>
            <a:srgbClr val="F4F6FB"/>
          </a:solidFill>
          <a:ln/>
        </p:spPr>
      </p:sp>
      <p:sp>
        <p:nvSpPr>
          <p:cNvPr id="14" name="Text 12"/>
          <p:cNvSpPr/>
          <p:nvPr/>
        </p:nvSpPr>
        <p:spPr>
          <a:xfrm>
            <a:off x="8833104" y="1874520"/>
            <a:ext cx="2606040" cy="685800"/>
          </a:xfrm>
          <a:prstGeom prst="rect">
            <a:avLst/>
          </a:prstGeom>
          <a:noFill/>
          <a:ln/>
        </p:spPr>
        <p:txBody>
          <a:bodyPr wrap="square" lIns="0" tIns="0" rIns="0" bIns="0" rtlCol="0" anchor="ctr"/>
          <a:lstStyle/>
          <a:p>
            <a:pPr marL="0" indent="0" algn="ctr">
              <a:buNone/>
            </a:pPr>
            <a:r>
              <a:rPr lang="en-US" sz="3200" b="1" dirty="0">
                <a:solidFill>
                  <a:srgbClr val="1E2761"/>
                </a:solidFill>
                <a:latin typeface="Cambria" pitchFamily="34" charset="0"/>
                <a:ea typeface="Cambria" pitchFamily="34" charset="-122"/>
                <a:cs typeface="Cambria" pitchFamily="34" charset="-120"/>
              </a:rPr>
              <a:t>145</a:t>
            </a:r>
            <a:endParaRPr lang="en-US" sz="3200" dirty="0"/>
          </a:p>
        </p:txBody>
      </p:sp>
      <p:sp>
        <p:nvSpPr>
          <p:cNvPr id="15" name="Text 13"/>
          <p:cNvSpPr/>
          <p:nvPr/>
        </p:nvSpPr>
        <p:spPr>
          <a:xfrm>
            <a:off x="8970264" y="2606040"/>
            <a:ext cx="2331720" cy="548640"/>
          </a:xfrm>
          <a:prstGeom prst="rect">
            <a:avLst/>
          </a:prstGeom>
          <a:noFill/>
          <a:ln/>
        </p:spPr>
        <p:txBody>
          <a:bodyPr wrap="square" lIns="0" tIns="0" rIns="0" bIns="0" rtlCol="0" anchor="ctr"/>
          <a:lstStyle/>
          <a:p>
            <a:pPr marL="0" indent="0" algn="ctr">
              <a:lnSpc>
                <a:spcPct val="115000"/>
              </a:lnSpc>
              <a:buNone/>
            </a:pPr>
            <a:r>
              <a:rPr lang="en-US" sz="1100" dirty="0">
                <a:solidFill>
                  <a:srgbClr val="6B7280"/>
                </a:solidFill>
                <a:latin typeface="Calibri" pitchFamily="34" charset="0"/>
                <a:ea typeface="Calibri" pitchFamily="34" charset="-122"/>
                <a:cs typeface="Calibri" pitchFamily="34" charset="-120"/>
              </a:rPr>
              <a:t>known anomalies (planted for scoring)</a:t>
            </a:r>
            <a:endParaRPr lang="en-US" sz="1100" dirty="0"/>
          </a:p>
        </p:txBody>
      </p:sp>
      <p:sp>
        <p:nvSpPr>
          <p:cNvPr id="16" name="Text 14"/>
          <p:cNvSpPr/>
          <p:nvPr/>
        </p:nvSpPr>
        <p:spPr>
          <a:xfrm>
            <a:off x="548640" y="3657600"/>
            <a:ext cx="10698480" cy="1737360"/>
          </a:xfrm>
          <a:prstGeom prst="rect">
            <a:avLst/>
          </a:prstGeom>
          <a:noFill/>
          <a:ln/>
        </p:spPr>
        <p:txBody>
          <a:bodyPr wrap="square" lIns="0" tIns="0" rIns="0" bIns="0" rtlCol="0" anchor="ctr"/>
          <a:lstStyle/>
          <a:p>
            <a:pPr marL="0" indent="0">
              <a:lnSpc>
                <a:spcPct val="135000"/>
              </a:lnSpc>
              <a:buNone/>
            </a:pPr>
            <a:r>
              <a:rPr lang="en-US" sz="1400" dirty="0">
                <a:solidFill>
                  <a:srgbClr val="1B1B1B"/>
                </a:solidFill>
                <a:latin typeface="Calibri" pitchFamily="34" charset="0"/>
                <a:ea typeface="Calibri" pitchFamily="34" charset="-122"/>
                <a:cs typeface="Calibri" pitchFamily="34" charset="-120"/>
              </a:rPr>
              <a:t>Why synthetic data: it lets us know the ground truth. Seven anomaly types were deliberately embedded — duplicate payments, threshold structuring, weekend/after-hours postings, round-dollar amounts, a vendor with fabricated invoices, a shell-vendor spike, and plain statistical outliers — so at the end of the demo we can measure exactly what each detection layer caught and missed, the same way you'd validate a model before trusting it on a real ledger.</a:t>
            </a:r>
            <a:endParaRPr lang="en-US" sz="1400" dirty="0"/>
          </a:p>
        </p:txBody>
      </p:sp>
      <p:sp>
        <p:nvSpPr>
          <p:cNvPr id="17" name="Text 15"/>
          <p:cNvSpPr/>
          <p:nvPr/>
        </p:nvSpPr>
        <p:spPr>
          <a:xfrm>
            <a:off x="548640" y="6510528"/>
            <a:ext cx="54864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Continuous Transaction Auditing</a:t>
            </a:r>
            <a:endParaRPr lang="en-US" sz="900" dirty="0"/>
          </a:p>
        </p:txBody>
      </p:sp>
      <p:sp>
        <p:nvSpPr>
          <p:cNvPr id="18" name="Text 16"/>
          <p:cNvSpPr/>
          <p:nvPr/>
        </p:nvSpPr>
        <p:spPr>
          <a:xfrm>
            <a:off x="11521440" y="6510528"/>
            <a:ext cx="4572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D03B3B"/>
                </a:solidFill>
                <a:latin typeface="Calibri" pitchFamily="34" charset="0"/>
                <a:ea typeface="Calibri" pitchFamily="34" charset="-122"/>
                <a:cs typeface="Calibri" pitchFamily="34" charset="-120"/>
              </a:rPr>
              <a:t>LIVE DEMO</a:t>
            </a:r>
            <a:endParaRPr lang="en-US" sz="1200" dirty="0"/>
          </a:p>
        </p:txBody>
      </p:sp>
      <p:sp>
        <p:nvSpPr>
          <p:cNvPr id="3" name="Text 1"/>
          <p:cNvSpPr/>
          <p:nvPr/>
        </p:nvSpPr>
        <p:spPr>
          <a:xfrm>
            <a:off x="548640" y="685800"/>
            <a:ext cx="10515600" cy="822960"/>
          </a:xfrm>
          <a:prstGeom prst="rect">
            <a:avLst/>
          </a:prstGeom>
          <a:noFill/>
          <a:ln/>
        </p:spPr>
        <p:txBody>
          <a:bodyPr wrap="square" lIns="0" tIns="0" rIns="0" bIns="0" rtlCol="0" anchor="ctr"/>
          <a:lstStyle/>
          <a:p>
            <a:pPr marL="0" indent="0" algn="l">
              <a:buNone/>
            </a:pPr>
            <a:r>
              <a:rPr lang="en-US" sz="3200" b="1" dirty="0">
                <a:solidFill>
                  <a:srgbClr val="1E2761"/>
                </a:solidFill>
                <a:latin typeface="Cambria" pitchFamily="34" charset="0"/>
                <a:ea typeface="Cambria" pitchFamily="34" charset="-122"/>
                <a:cs typeface="Cambria" pitchFamily="34" charset="-120"/>
              </a:rPr>
              <a:t>Step 1: Benford's Law on the full population</a:t>
            </a:r>
            <a:endParaRPr lang="en-US" sz="3200" dirty="0"/>
          </a:p>
        </p:txBody>
      </p:sp>
      <p:pic>
        <p:nvPicPr>
          <p:cNvPr id="4" name="Image 0" descr="/tmp/cta_workshop/charts/01_benford_overall.png"/>
          <p:cNvPicPr>
            <a:picLocks noChangeAspect="1"/>
          </p:cNvPicPr>
          <p:nvPr/>
        </p:nvPicPr>
        <p:blipFill>
          <a:blip r:embed="rId3"/>
          <a:stretch>
            <a:fillRect/>
          </a:stretch>
        </p:blipFill>
        <p:spPr>
          <a:xfrm>
            <a:off x="548640" y="1645920"/>
            <a:ext cx="6400800" cy="3840480"/>
          </a:xfrm>
          <a:prstGeom prst="rect">
            <a:avLst/>
          </a:prstGeom>
        </p:spPr>
      </p:pic>
      <p:sp>
        <p:nvSpPr>
          <p:cNvPr id="5" name="Text 2"/>
          <p:cNvSpPr/>
          <p:nvPr/>
        </p:nvSpPr>
        <p:spPr>
          <a:xfrm>
            <a:off x="7269480" y="1737360"/>
            <a:ext cx="4206240" cy="274320"/>
          </a:xfrm>
          <a:prstGeom prst="rect">
            <a:avLst/>
          </a:prstGeom>
          <a:noFill/>
          <a:ln/>
        </p:spPr>
        <p:txBody>
          <a:bodyPr wrap="square" lIns="0" tIns="0" rIns="0" bIns="0" rtlCol="0" anchor="ctr"/>
          <a:lstStyle/>
          <a:p>
            <a:pPr marL="0" indent="0">
              <a:buNone/>
            </a:pPr>
            <a:r>
              <a:rPr lang="en-US" sz="1100" b="1" kern="0" spc="100" dirty="0">
                <a:solidFill>
                  <a:srgbClr val="D03B3B"/>
                </a:solidFill>
                <a:latin typeface="Calibri" pitchFamily="34" charset="0"/>
                <a:ea typeface="Calibri" pitchFamily="34" charset="-122"/>
                <a:cs typeface="Calibri" pitchFamily="34" charset="-120"/>
              </a:rPr>
              <a:t>WHAT TO WATCH FOR</a:t>
            </a:r>
            <a:endParaRPr lang="en-US" sz="1100" dirty="0"/>
          </a:p>
        </p:txBody>
      </p:sp>
      <p:sp>
        <p:nvSpPr>
          <p:cNvPr id="6" name="Text 3"/>
          <p:cNvSpPr/>
          <p:nvPr/>
        </p:nvSpPr>
        <p:spPr>
          <a:xfrm>
            <a:off x="7269480" y="2057400"/>
            <a:ext cx="4206240" cy="1188720"/>
          </a:xfrm>
          <a:prstGeom prst="rect">
            <a:avLst/>
          </a:prstGeom>
          <a:noFill/>
          <a:ln/>
        </p:spPr>
        <p:txBody>
          <a:bodyPr wrap="square" lIns="0" tIns="0" rIns="0" bIns="0" rtlCol="0" anchor="ctr"/>
          <a:lstStyle/>
          <a:p>
            <a:pPr marL="0" indent="0">
              <a:lnSpc>
                <a:spcPct val="130000"/>
              </a:lnSpc>
              <a:buNone/>
            </a:pPr>
            <a:r>
              <a:rPr lang="en-US" sz="1250" dirty="0">
                <a:solidFill>
                  <a:srgbClr val="1B1B1B"/>
                </a:solidFill>
                <a:latin typeface="Calibri" pitchFamily="34" charset="0"/>
                <a:ea typeface="Calibri" pitchFamily="34" charset="-122"/>
                <a:cs typeface="Calibri" pitchFamily="34" charset="-120"/>
              </a:rPr>
              <a:t>The overall population tracks Benford's expected curve closely — exactly what we'd expect from genuine, organically-generated invoice amounts across 140 vendors.</a:t>
            </a:r>
            <a:endParaRPr lang="en-US" sz="1250" dirty="0"/>
          </a:p>
        </p:txBody>
      </p:sp>
      <p:sp>
        <p:nvSpPr>
          <p:cNvPr id="7" name="Text 4"/>
          <p:cNvSpPr/>
          <p:nvPr/>
        </p:nvSpPr>
        <p:spPr>
          <a:xfrm>
            <a:off x="7269480" y="3337560"/>
            <a:ext cx="4206240" cy="1645920"/>
          </a:xfrm>
          <a:prstGeom prst="rect">
            <a:avLst/>
          </a:prstGeom>
          <a:noFill/>
          <a:ln/>
        </p:spPr>
        <p:txBody>
          <a:bodyPr wrap="square" lIns="0" tIns="0" rIns="0" bIns="0" rtlCol="0" anchor="ctr"/>
          <a:lstStyle/>
          <a:p>
            <a:pPr marL="0" indent="0">
              <a:lnSpc>
                <a:spcPct val="130000"/>
              </a:lnSpc>
              <a:buNone/>
            </a:pPr>
            <a:r>
              <a:rPr lang="en-US" sz="1250" dirty="0">
                <a:solidFill>
                  <a:srgbClr val="1B1B1B"/>
                </a:solidFill>
                <a:latin typeface="Calibri" pitchFamily="34" charset="0"/>
                <a:ea typeface="Calibri" pitchFamily="34" charset="-122"/>
                <a:cs typeface="Calibri" pitchFamily="34" charset="-120"/>
              </a:rPr>
              <a:t>The real signal is per-vendor: running the same chi-square test vendor-by-vendor isolates which single vendor's amounts don't fit the curve — in this dataset, one vendor's invoices lean hard on leading digits 5–9, a classic fabrication signature.</a:t>
            </a:r>
            <a:endParaRPr lang="en-US" sz="1250" dirty="0"/>
          </a:p>
        </p:txBody>
      </p:sp>
      <p:sp>
        <p:nvSpPr>
          <p:cNvPr id="8" name="Text 5"/>
          <p:cNvSpPr/>
          <p:nvPr/>
        </p:nvSpPr>
        <p:spPr>
          <a:xfrm>
            <a:off x="548640" y="6510528"/>
            <a:ext cx="54864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Continuous Transaction Auditing</a:t>
            </a:r>
            <a:endParaRPr lang="en-US" sz="900" dirty="0"/>
          </a:p>
        </p:txBody>
      </p:sp>
      <p:sp>
        <p:nvSpPr>
          <p:cNvPr id="9" name="Text 6"/>
          <p:cNvSpPr/>
          <p:nvPr/>
        </p:nvSpPr>
        <p:spPr>
          <a:xfrm>
            <a:off x="11521440" y="6510528"/>
            <a:ext cx="4572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D03B3B"/>
                </a:solidFill>
                <a:latin typeface="Calibri" pitchFamily="34" charset="0"/>
                <a:ea typeface="Calibri" pitchFamily="34" charset="-122"/>
                <a:cs typeface="Calibri" pitchFamily="34" charset="-120"/>
              </a:rPr>
              <a:t>LIVE DEMO</a:t>
            </a:r>
            <a:endParaRPr lang="en-US" sz="1200" dirty="0"/>
          </a:p>
        </p:txBody>
      </p:sp>
      <p:sp>
        <p:nvSpPr>
          <p:cNvPr id="3" name="Text 1"/>
          <p:cNvSpPr/>
          <p:nvPr/>
        </p:nvSpPr>
        <p:spPr>
          <a:xfrm>
            <a:off x="548640" y="685800"/>
            <a:ext cx="10515600" cy="822960"/>
          </a:xfrm>
          <a:prstGeom prst="rect">
            <a:avLst/>
          </a:prstGeom>
          <a:noFill/>
          <a:ln/>
        </p:spPr>
        <p:txBody>
          <a:bodyPr wrap="square" lIns="0" tIns="0" rIns="0" bIns="0" rtlCol="0" anchor="ctr"/>
          <a:lstStyle/>
          <a:p>
            <a:pPr marL="0" indent="0" algn="l">
              <a:buNone/>
            </a:pPr>
            <a:r>
              <a:rPr lang="en-US" sz="3200" b="1" dirty="0">
                <a:solidFill>
                  <a:srgbClr val="1E2761"/>
                </a:solidFill>
                <a:latin typeface="Cambria" pitchFamily="34" charset="0"/>
                <a:ea typeface="Cambria" pitchFamily="34" charset="-122"/>
                <a:cs typeface="Cambria" pitchFamily="34" charset="-120"/>
              </a:rPr>
              <a:t>Step 2: Isolation Forest anomaly scores</a:t>
            </a:r>
            <a:endParaRPr lang="en-US" sz="3200" dirty="0"/>
          </a:p>
        </p:txBody>
      </p:sp>
      <p:pic>
        <p:nvPicPr>
          <p:cNvPr id="4" name="Image 0" descr="/tmp/cta_workshop/charts/02_ml_score_distribution.png"/>
          <p:cNvPicPr>
            <a:picLocks noChangeAspect="1"/>
          </p:cNvPicPr>
          <p:nvPr/>
        </p:nvPicPr>
        <p:blipFill>
          <a:blip r:embed="rId3"/>
          <a:stretch>
            <a:fillRect/>
          </a:stretch>
        </p:blipFill>
        <p:spPr>
          <a:xfrm>
            <a:off x="548640" y="1645920"/>
            <a:ext cx="6400800" cy="3840480"/>
          </a:xfrm>
          <a:prstGeom prst="rect">
            <a:avLst/>
          </a:prstGeom>
        </p:spPr>
      </p:pic>
      <p:sp>
        <p:nvSpPr>
          <p:cNvPr id="5" name="Text 2"/>
          <p:cNvSpPr/>
          <p:nvPr/>
        </p:nvSpPr>
        <p:spPr>
          <a:xfrm>
            <a:off x="7269480" y="1737360"/>
            <a:ext cx="4206240" cy="274320"/>
          </a:xfrm>
          <a:prstGeom prst="rect">
            <a:avLst/>
          </a:prstGeom>
          <a:noFill/>
          <a:ln/>
        </p:spPr>
        <p:txBody>
          <a:bodyPr wrap="square" lIns="0" tIns="0" rIns="0" bIns="0" rtlCol="0" anchor="ctr"/>
          <a:lstStyle/>
          <a:p>
            <a:pPr marL="0" indent="0">
              <a:buNone/>
            </a:pPr>
            <a:r>
              <a:rPr lang="en-US" sz="1100" b="1" kern="0" spc="100" dirty="0">
                <a:solidFill>
                  <a:srgbClr val="D03B3B"/>
                </a:solidFill>
                <a:latin typeface="Calibri" pitchFamily="34" charset="0"/>
                <a:ea typeface="Calibri" pitchFamily="34" charset="-122"/>
                <a:cs typeface="Calibri" pitchFamily="34" charset="-120"/>
              </a:rPr>
              <a:t>WHAT TO WATCH FOR</a:t>
            </a:r>
            <a:endParaRPr lang="en-US" sz="1100" dirty="0"/>
          </a:p>
        </p:txBody>
      </p:sp>
      <p:sp>
        <p:nvSpPr>
          <p:cNvPr id="6" name="Text 3"/>
          <p:cNvSpPr/>
          <p:nvPr/>
        </p:nvSpPr>
        <p:spPr>
          <a:xfrm>
            <a:off x="7269480" y="2057400"/>
            <a:ext cx="4206240" cy="1463040"/>
          </a:xfrm>
          <a:prstGeom prst="rect">
            <a:avLst/>
          </a:prstGeom>
          <a:noFill/>
          <a:ln/>
        </p:spPr>
        <p:txBody>
          <a:bodyPr wrap="square" lIns="0" tIns="0" rIns="0" bIns="0" rtlCol="0" anchor="ctr"/>
          <a:lstStyle/>
          <a:p>
            <a:pPr marL="0" indent="0">
              <a:lnSpc>
                <a:spcPct val="130000"/>
              </a:lnSpc>
              <a:buNone/>
            </a:pPr>
            <a:r>
              <a:rPr lang="en-US" sz="1250" dirty="0">
                <a:solidFill>
                  <a:srgbClr val="1B1B1B"/>
                </a:solidFill>
                <a:latin typeface="Calibri" pitchFamily="34" charset="0"/>
                <a:ea typeface="Calibri" pitchFamily="34" charset="-122"/>
                <a:cs typeface="Calibri" pitchFamily="34" charset="-120"/>
              </a:rPr>
              <a:t>Most transactions cluster at a low anomaly score — that's the model saying "this looks like everything else I've seen." The right-hand tail is where the model is isolating transactions in very few splits.</a:t>
            </a:r>
            <a:endParaRPr lang="en-US" sz="1250" dirty="0"/>
          </a:p>
        </p:txBody>
      </p:sp>
      <p:sp>
        <p:nvSpPr>
          <p:cNvPr id="7" name="Text 4"/>
          <p:cNvSpPr/>
          <p:nvPr/>
        </p:nvSpPr>
        <p:spPr>
          <a:xfrm>
            <a:off x="7269480" y="3611880"/>
            <a:ext cx="4206240" cy="1463040"/>
          </a:xfrm>
          <a:prstGeom prst="rect">
            <a:avLst/>
          </a:prstGeom>
          <a:noFill/>
          <a:ln/>
        </p:spPr>
        <p:txBody>
          <a:bodyPr wrap="square" lIns="0" tIns="0" rIns="0" bIns="0" rtlCol="0" anchor="ctr"/>
          <a:lstStyle/>
          <a:p>
            <a:pPr marL="0" indent="0">
              <a:lnSpc>
                <a:spcPct val="130000"/>
              </a:lnSpc>
              <a:buNone/>
            </a:pPr>
            <a:r>
              <a:rPr lang="en-US" sz="1250" dirty="0">
                <a:solidFill>
                  <a:srgbClr val="1B1B1B"/>
                </a:solidFill>
                <a:latin typeface="Calibri" pitchFamily="34" charset="0"/>
                <a:ea typeface="Calibri" pitchFamily="34" charset="-122"/>
                <a:cs typeface="Calibri" pitchFamily="34" charset="-120"/>
              </a:rPr>
              <a:t>Contamination is set to 3% here — an explicit, tunable assumption about how much of the population we expect to be anomalous. In production this gets calibrated against your own base rate, not left at a default.</a:t>
            </a:r>
            <a:endParaRPr lang="en-US" sz="1250" dirty="0"/>
          </a:p>
        </p:txBody>
      </p:sp>
      <p:sp>
        <p:nvSpPr>
          <p:cNvPr id="8" name="Text 5"/>
          <p:cNvSpPr/>
          <p:nvPr/>
        </p:nvSpPr>
        <p:spPr>
          <a:xfrm>
            <a:off x="548640" y="6510528"/>
            <a:ext cx="54864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Continuous Transaction Auditing</a:t>
            </a:r>
            <a:endParaRPr lang="en-US" sz="900" dirty="0"/>
          </a:p>
        </p:txBody>
      </p:sp>
      <p:sp>
        <p:nvSpPr>
          <p:cNvPr id="9" name="Text 6"/>
          <p:cNvSpPr/>
          <p:nvPr/>
        </p:nvSpPr>
        <p:spPr>
          <a:xfrm>
            <a:off x="11521440" y="6510528"/>
            <a:ext cx="4572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D03B3B"/>
                </a:solidFill>
                <a:latin typeface="Calibri" pitchFamily="34" charset="0"/>
                <a:ea typeface="Calibri" pitchFamily="34" charset="-122"/>
                <a:cs typeface="Calibri" pitchFamily="34" charset="-120"/>
              </a:rPr>
              <a:t>LIVE DEMO</a:t>
            </a:r>
            <a:endParaRPr lang="en-US" sz="1200" dirty="0"/>
          </a:p>
        </p:txBody>
      </p:sp>
      <p:sp>
        <p:nvSpPr>
          <p:cNvPr id="3" name="Text 1"/>
          <p:cNvSpPr/>
          <p:nvPr/>
        </p:nvSpPr>
        <p:spPr>
          <a:xfrm>
            <a:off x="548640" y="685800"/>
            <a:ext cx="10515600" cy="822960"/>
          </a:xfrm>
          <a:prstGeom prst="rect">
            <a:avLst/>
          </a:prstGeom>
          <a:noFill/>
          <a:ln/>
        </p:spPr>
        <p:txBody>
          <a:bodyPr wrap="square" lIns="0" tIns="0" rIns="0" bIns="0" rtlCol="0" anchor="ctr"/>
          <a:lstStyle/>
          <a:p>
            <a:pPr marL="0" indent="0" algn="l">
              <a:buNone/>
            </a:pPr>
            <a:r>
              <a:rPr lang="en-US" sz="3200" b="1" dirty="0">
                <a:solidFill>
                  <a:srgbClr val="1E2761"/>
                </a:solidFill>
                <a:latin typeface="Cambria" pitchFamily="34" charset="0"/>
                <a:ea typeface="Cambria" pitchFamily="34" charset="-122"/>
                <a:cs typeface="Cambria" pitchFamily="34" charset="-120"/>
              </a:rPr>
              <a:t>The reveal: coverage vs. anomalies actually seen</a:t>
            </a:r>
            <a:endParaRPr lang="en-US" sz="3200" dirty="0"/>
          </a:p>
        </p:txBody>
      </p:sp>
      <p:pic>
        <p:nvPicPr>
          <p:cNvPr id="4" name="Image 0" descr="/tmp/cta_workshop/charts/03_coverage_comparison.png"/>
          <p:cNvPicPr>
            <a:picLocks noChangeAspect="1"/>
          </p:cNvPicPr>
          <p:nvPr/>
        </p:nvPicPr>
        <p:blipFill>
          <a:blip r:embed="rId3"/>
          <a:stretch>
            <a:fillRect/>
          </a:stretch>
        </p:blipFill>
        <p:spPr>
          <a:xfrm>
            <a:off x="548640" y="1645920"/>
            <a:ext cx="6400800" cy="3840480"/>
          </a:xfrm>
          <a:prstGeom prst="rect">
            <a:avLst/>
          </a:prstGeom>
        </p:spPr>
      </p:pic>
      <p:sp>
        <p:nvSpPr>
          <p:cNvPr id="5" name="Text 2"/>
          <p:cNvSpPr/>
          <p:nvPr/>
        </p:nvSpPr>
        <p:spPr>
          <a:xfrm>
            <a:off x="7269480" y="1737360"/>
            <a:ext cx="4206240" cy="274320"/>
          </a:xfrm>
          <a:prstGeom prst="rect">
            <a:avLst/>
          </a:prstGeom>
          <a:noFill/>
          <a:ln/>
        </p:spPr>
        <p:txBody>
          <a:bodyPr wrap="square" lIns="0" tIns="0" rIns="0" bIns="0" rtlCol="0" anchor="ctr"/>
          <a:lstStyle/>
          <a:p>
            <a:pPr marL="0" indent="0">
              <a:buNone/>
            </a:pPr>
            <a:r>
              <a:rPr lang="en-US" sz="1100" b="1" kern="0" spc="100" dirty="0">
                <a:solidFill>
                  <a:srgbClr val="D03B3B"/>
                </a:solidFill>
                <a:latin typeface="Calibri" pitchFamily="34" charset="0"/>
                <a:ea typeface="Calibri" pitchFamily="34" charset="-122"/>
                <a:cs typeface="Calibri" pitchFamily="34" charset="-120"/>
              </a:rPr>
              <a:t>RESULTS AGAINST KNOWN ANOMALIES</a:t>
            </a:r>
            <a:endParaRPr lang="en-US" sz="1100" dirty="0"/>
          </a:p>
        </p:txBody>
      </p:sp>
      <p:sp>
        <p:nvSpPr>
          <p:cNvPr id="6" name="Text 3"/>
          <p:cNvSpPr/>
          <p:nvPr/>
        </p:nvSpPr>
        <p:spPr>
          <a:xfrm>
            <a:off x="7269480" y="2103120"/>
            <a:ext cx="1371600" cy="548640"/>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97%</a:t>
            </a:r>
            <a:endParaRPr lang="en-US" sz="2600" dirty="0"/>
          </a:p>
        </p:txBody>
      </p:sp>
      <p:sp>
        <p:nvSpPr>
          <p:cNvPr id="7" name="Text 4"/>
          <p:cNvSpPr/>
          <p:nvPr/>
        </p:nvSpPr>
        <p:spPr>
          <a:xfrm>
            <a:off x="8686800" y="2148840"/>
            <a:ext cx="2834640" cy="548640"/>
          </a:xfrm>
          <a:prstGeom prst="rect">
            <a:avLst/>
          </a:prstGeom>
          <a:noFill/>
          <a:ln/>
        </p:spPr>
        <p:txBody>
          <a:bodyPr wrap="square" lIns="0" tIns="0" rIns="0" bIns="0" rtlCol="0" anchor="ctr"/>
          <a:lstStyle/>
          <a:p>
            <a:pPr marL="0" indent="0">
              <a:lnSpc>
                <a:spcPct val="120000"/>
              </a:lnSpc>
              <a:buNone/>
            </a:pPr>
            <a:r>
              <a:rPr lang="en-US" sz="1100" dirty="0">
                <a:solidFill>
                  <a:srgbClr val="1B1B1B"/>
                </a:solidFill>
                <a:latin typeface="Calibri" pitchFamily="34" charset="0"/>
                <a:ea typeface="Calibri" pitchFamily="34" charset="-122"/>
                <a:cs typeface="Calibri" pitchFamily="34" charset="-120"/>
              </a:rPr>
              <a:t>of planted anomalies caught by rules and/or ML combined</a:t>
            </a:r>
            <a:endParaRPr lang="en-US" sz="1100" dirty="0"/>
          </a:p>
        </p:txBody>
      </p:sp>
      <p:sp>
        <p:nvSpPr>
          <p:cNvPr id="8" name="Text 5"/>
          <p:cNvSpPr/>
          <p:nvPr/>
        </p:nvSpPr>
        <p:spPr>
          <a:xfrm>
            <a:off x="7269480" y="2788920"/>
            <a:ext cx="1371600" cy="548640"/>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13%</a:t>
            </a:r>
            <a:endParaRPr lang="en-US" sz="2600" dirty="0"/>
          </a:p>
        </p:txBody>
      </p:sp>
      <p:sp>
        <p:nvSpPr>
          <p:cNvPr id="9" name="Text 6"/>
          <p:cNvSpPr/>
          <p:nvPr/>
        </p:nvSpPr>
        <p:spPr>
          <a:xfrm>
            <a:off x="8686800" y="2834640"/>
            <a:ext cx="2834640" cy="548640"/>
          </a:xfrm>
          <a:prstGeom prst="rect">
            <a:avLst/>
          </a:prstGeom>
          <a:noFill/>
          <a:ln/>
        </p:spPr>
        <p:txBody>
          <a:bodyPr wrap="square" lIns="0" tIns="0" rIns="0" bIns="0" rtlCol="0" anchor="ctr"/>
          <a:lstStyle/>
          <a:p>
            <a:pPr marL="0" indent="0">
              <a:lnSpc>
                <a:spcPct val="120000"/>
              </a:lnSpc>
              <a:buNone/>
            </a:pPr>
            <a:r>
              <a:rPr lang="en-US" sz="1100" dirty="0">
                <a:solidFill>
                  <a:srgbClr val="1B1B1B"/>
                </a:solidFill>
                <a:latin typeface="Calibri" pitchFamily="34" charset="0"/>
                <a:ea typeface="Calibri" pitchFamily="34" charset="-122"/>
                <a:cs typeface="Calibri" pitchFamily="34" charset="-120"/>
              </a:rPr>
              <a:t>of the population flagged for triage — not 100%, and not 4%</a:t>
            </a:r>
            <a:endParaRPr lang="en-US" sz="1100" dirty="0"/>
          </a:p>
        </p:txBody>
      </p:sp>
      <p:sp>
        <p:nvSpPr>
          <p:cNvPr id="10" name="Text 7"/>
          <p:cNvSpPr/>
          <p:nvPr/>
        </p:nvSpPr>
        <p:spPr>
          <a:xfrm>
            <a:off x="7269480" y="3474720"/>
            <a:ext cx="1371600" cy="548640"/>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18%</a:t>
            </a:r>
            <a:endParaRPr lang="en-US" sz="2600" dirty="0"/>
          </a:p>
        </p:txBody>
      </p:sp>
      <p:sp>
        <p:nvSpPr>
          <p:cNvPr id="11" name="Text 8"/>
          <p:cNvSpPr/>
          <p:nvPr/>
        </p:nvSpPr>
        <p:spPr>
          <a:xfrm>
            <a:off x="8686800" y="3520440"/>
            <a:ext cx="2834640" cy="548640"/>
          </a:xfrm>
          <a:prstGeom prst="rect">
            <a:avLst/>
          </a:prstGeom>
          <a:noFill/>
          <a:ln/>
        </p:spPr>
        <p:txBody>
          <a:bodyPr wrap="square" lIns="0" tIns="0" rIns="0" bIns="0" rtlCol="0" anchor="ctr"/>
          <a:lstStyle/>
          <a:p>
            <a:pPr marL="0" indent="0">
              <a:lnSpc>
                <a:spcPct val="120000"/>
              </a:lnSpc>
              <a:buNone/>
            </a:pPr>
            <a:r>
              <a:rPr lang="en-US" sz="1100" dirty="0">
                <a:solidFill>
                  <a:srgbClr val="1B1B1B"/>
                </a:solidFill>
                <a:latin typeface="Calibri" pitchFamily="34" charset="0"/>
                <a:ea typeface="Calibri" pitchFamily="34" charset="-122"/>
                <a:cs typeface="Calibri" pitchFamily="34" charset="-120"/>
              </a:rPr>
              <a:t>precision — the honest cost of high recall, and why triage still needs a human</a:t>
            </a:r>
            <a:endParaRPr lang="en-US" sz="1100" dirty="0"/>
          </a:p>
        </p:txBody>
      </p:sp>
      <p:sp>
        <p:nvSpPr>
          <p:cNvPr id="12" name="Text 9"/>
          <p:cNvSpPr/>
          <p:nvPr/>
        </p:nvSpPr>
        <p:spPr>
          <a:xfrm>
            <a:off x="548640" y="6510528"/>
            <a:ext cx="54864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Continuous Transaction Auditing</a:t>
            </a:r>
            <a:endParaRPr lang="en-US" sz="900" dirty="0"/>
          </a:p>
        </p:txBody>
      </p:sp>
      <p:sp>
        <p:nvSpPr>
          <p:cNvPr id="13" name="Text 10"/>
          <p:cNvSpPr/>
          <p:nvPr/>
        </p:nvSpPr>
        <p:spPr>
          <a:xfrm>
            <a:off x="11521440" y="6510528"/>
            <a:ext cx="4572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D03B3B"/>
                </a:solidFill>
                <a:latin typeface="Calibri" pitchFamily="34" charset="0"/>
                <a:ea typeface="Calibri" pitchFamily="34" charset="-122"/>
                <a:cs typeface="Calibri" pitchFamily="34" charset="-120"/>
              </a:rPr>
              <a:t>LIVE DEMO</a:t>
            </a:r>
            <a:endParaRPr lang="en-US" sz="1200" dirty="0"/>
          </a:p>
        </p:txBody>
      </p:sp>
      <p:sp>
        <p:nvSpPr>
          <p:cNvPr id="3" name="Text 1"/>
          <p:cNvSpPr/>
          <p:nvPr/>
        </p:nvSpPr>
        <p:spPr>
          <a:xfrm>
            <a:off x="548640" y="685800"/>
            <a:ext cx="10515600" cy="822960"/>
          </a:xfrm>
          <a:prstGeom prst="rect">
            <a:avLst/>
          </a:prstGeom>
          <a:noFill/>
          <a:ln/>
        </p:spPr>
        <p:txBody>
          <a:bodyPr wrap="square" lIns="0" tIns="0" rIns="0" bIns="0" rtlCol="0" anchor="ctr"/>
          <a:lstStyle/>
          <a:p>
            <a:pPr marL="0" indent="0" algn="l">
              <a:buNone/>
            </a:pPr>
            <a:r>
              <a:rPr lang="en-US" sz="3200" b="1" dirty="0">
                <a:solidFill>
                  <a:srgbClr val="1E2761"/>
                </a:solidFill>
                <a:latin typeface="Cambria" pitchFamily="34" charset="0"/>
                <a:ea typeface="Cambria" pitchFamily="34" charset="-122"/>
                <a:cs typeface="Cambria" pitchFamily="34" charset="-120"/>
              </a:rPr>
              <a:t>The output an auditor actually works from</a:t>
            </a:r>
            <a:endParaRPr lang="en-US" sz="3200" dirty="0"/>
          </a:p>
        </p:txBody>
      </p:sp>
      <p:sp>
        <p:nvSpPr>
          <p:cNvPr id="4" name="Text 2"/>
          <p:cNvSpPr/>
          <p:nvPr/>
        </p:nvSpPr>
        <p:spPr>
          <a:xfrm>
            <a:off x="548640" y="1645920"/>
            <a:ext cx="10698480" cy="822960"/>
          </a:xfrm>
          <a:prstGeom prst="rect">
            <a:avLst/>
          </a:prstGeom>
          <a:noFill/>
          <a:ln/>
        </p:spPr>
        <p:txBody>
          <a:bodyPr wrap="square" lIns="0" tIns="0" rIns="0" bIns="0" rtlCol="0" anchor="ctr"/>
          <a:lstStyle/>
          <a:p>
            <a:pPr marL="0" indent="0">
              <a:lnSpc>
                <a:spcPct val="130000"/>
              </a:lnSpc>
              <a:buNone/>
            </a:pPr>
            <a:r>
              <a:rPr lang="en-US" sz="1350" dirty="0">
                <a:solidFill>
                  <a:srgbClr val="1B1B1B"/>
                </a:solidFill>
                <a:latin typeface="Calibri" pitchFamily="34" charset="0"/>
                <a:ea typeface="Calibri" pitchFamily="34" charset="-122"/>
                <a:cs typeface="Calibri" pitchFamily="34" charset="-120"/>
              </a:rPr>
              <a:t>Detection isn't the deliverable — a triage-ready worklist is. Every flagged transaction carries its composite score, which rules fired, and whether ML independently flagged it, so the reviewer can see why it's on the list before opening the source document.</a:t>
            </a:r>
            <a:endParaRPr lang="en-US" sz="1350" dirty="0"/>
          </a:p>
        </p:txBody>
      </p:sp>
      <p:sp>
        <p:nvSpPr>
          <p:cNvPr id="5" name="Shape 3"/>
          <p:cNvSpPr/>
          <p:nvPr/>
        </p:nvSpPr>
        <p:spPr>
          <a:xfrm>
            <a:off x="548640" y="2697480"/>
            <a:ext cx="1554480" cy="365760"/>
          </a:xfrm>
          <a:prstGeom prst="rect">
            <a:avLst/>
          </a:prstGeom>
          <a:solidFill>
            <a:srgbClr val="1E2761"/>
          </a:solidFill>
          <a:ln/>
        </p:spPr>
      </p:sp>
      <p:sp>
        <p:nvSpPr>
          <p:cNvPr id="6" name="Text 4"/>
          <p:cNvSpPr/>
          <p:nvPr/>
        </p:nvSpPr>
        <p:spPr>
          <a:xfrm>
            <a:off x="548640" y="2697480"/>
            <a:ext cx="1554480" cy="365760"/>
          </a:xfrm>
          <a:prstGeom prst="rect">
            <a:avLst/>
          </a:prstGeom>
          <a:noFill/>
          <a:ln/>
        </p:spPr>
        <p:txBody>
          <a:bodyPr wrap="square" lIns="76200" tIns="76200" rIns="76200" bIns="76200" rtlCol="0" anchor="ctr"/>
          <a:lstStyle/>
          <a:p>
            <a:pPr marL="0" indent="0" algn="l">
              <a:buNone/>
            </a:pPr>
            <a:r>
              <a:rPr lang="en-US" sz="1050" b="1" dirty="0">
                <a:solidFill>
                  <a:srgbClr val="FFFFFF"/>
                </a:solidFill>
                <a:latin typeface="Calibri" pitchFamily="34" charset="0"/>
                <a:ea typeface="Calibri" pitchFamily="34" charset="-122"/>
                <a:cs typeface="Calibri" pitchFamily="34" charset="-120"/>
              </a:rPr>
              <a:t>Transaction</a:t>
            </a:r>
            <a:endParaRPr lang="en-US" sz="1050" dirty="0"/>
          </a:p>
        </p:txBody>
      </p:sp>
      <p:sp>
        <p:nvSpPr>
          <p:cNvPr id="7" name="Shape 5"/>
          <p:cNvSpPr/>
          <p:nvPr/>
        </p:nvSpPr>
        <p:spPr>
          <a:xfrm>
            <a:off x="2103120" y="2697480"/>
            <a:ext cx="3108960" cy="365760"/>
          </a:xfrm>
          <a:prstGeom prst="rect">
            <a:avLst/>
          </a:prstGeom>
          <a:solidFill>
            <a:srgbClr val="1E2761"/>
          </a:solidFill>
          <a:ln/>
        </p:spPr>
      </p:sp>
      <p:sp>
        <p:nvSpPr>
          <p:cNvPr id="8" name="Text 6"/>
          <p:cNvSpPr/>
          <p:nvPr/>
        </p:nvSpPr>
        <p:spPr>
          <a:xfrm>
            <a:off x="2103120" y="2697480"/>
            <a:ext cx="3108960" cy="365760"/>
          </a:xfrm>
          <a:prstGeom prst="rect">
            <a:avLst/>
          </a:prstGeom>
          <a:noFill/>
          <a:ln/>
        </p:spPr>
        <p:txBody>
          <a:bodyPr wrap="square" lIns="76200" tIns="76200" rIns="76200" bIns="76200" rtlCol="0" anchor="ctr"/>
          <a:lstStyle/>
          <a:p>
            <a:pPr marL="0" indent="0" algn="l">
              <a:buNone/>
            </a:pPr>
            <a:r>
              <a:rPr lang="en-US" sz="1050" b="1" dirty="0">
                <a:solidFill>
                  <a:srgbClr val="FFFFFF"/>
                </a:solidFill>
                <a:latin typeface="Calibri" pitchFamily="34" charset="0"/>
                <a:ea typeface="Calibri" pitchFamily="34" charset="-122"/>
                <a:cs typeface="Calibri" pitchFamily="34" charset="-120"/>
              </a:rPr>
              <a:t>Vendor</a:t>
            </a:r>
            <a:endParaRPr lang="en-US" sz="1050" dirty="0"/>
          </a:p>
        </p:txBody>
      </p:sp>
      <p:sp>
        <p:nvSpPr>
          <p:cNvPr id="9" name="Shape 7"/>
          <p:cNvSpPr/>
          <p:nvPr/>
        </p:nvSpPr>
        <p:spPr>
          <a:xfrm>
            <a:off x="5212080" y="2697480"/>
            <a:ext cx="1554480" cy="365760"/>
          </a:xfrm>
          <a:prstGeom prst="rect">
            <a:avLst/>
          </a:prstGeom>
          <a:solidFill>
            <a:srgbClr val="1E2761"/>
          </a:solidFill>
          <a:ln/>
        </p:spPr>
      </p:sp>
      <p:sp>
        <p:nvSpPr>
          <p:cNvPr id="10" name="Text 8"/>
          <p:cNvSpPr/>
          <p:nvPr/>
        </p:nvSpPr>
        <p:spPr>
          <a:xfrm>
            <a:off x="5212080" y="2697480"/>
            <a:ext cx="1554480" cy="36576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Amount</a:t>
            </a:r>
            <a:endParaRPr lang="en-US" sz="1050" dirty="0"/>
          </a:p>
        </p:txBody>
      </p:sp>
      <p:sp>
        <p:nvSpPr>
          <p:cNvPr id="11" name="Shape 9"/>
          <p:cNvSpPr/>
          <p:nvPr/>
        </p:nvSpPr>
        <p:spPr>
          <a:xfrm>
            <a:off x="6766560" y="2697480"/>
            <a:ext cx="1645920" cy="365760"/>
          </a:xfrm>
          <a:prstGeom prst="rect">
            <a:avLst/>
          </a:prstGeom>
          <a:solidFill>
            <a:srgbClr val="1E2761"/>
          </a:solidFill>
          <a:ln/>
        </p:spPr>
      </p:sp>
      <p:sp>
        <p:nvSpPr>
          <p:cNvPr id="12" name="Text 10"/>
          <p:cNvSpPr/>
          <p:nvPr/>
        </p:nvSpPr>
        <p:spPr>
          <a:xfrm>
            <a:off x="6766560" y="2697480"/>
            <a:ext cx="1645920" cy="36576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Rules Fired</a:t>
            </a:r>
            <a:endParaRPr lang="en-US" sz="1050" dirty="0"/>
          </a:p>
        </p:txBody>
      </p:sp>
      <p:sp>
        <p:nvSpPr>
          <p:cNvPr id="13" name="Shape 11"/>
          <p:cNvSpPr/>
          <p:nvPr/>
        </p:nvSpPr>
        <p:spPr>
          <a:xfrm>
            <a:off x="8412480" y="2697480"/>
            <a:ext cx="1280160" cy="365760"/>
          </a:xfrm>
          <a:prstGeom prst="rect">
            <a:avLst/>
          </a:prstGeom>
          <a:solidFill>
            <a:srgbClr val="1E2761"/>
          </a:solidFill>
          <a:ln/>
        </p:spPr>
      </p:sp>
      <p:sp>
        <p:nvSpPr>
          <p:cNvPr id="14" name="Text 12"/>
          <p:cNvSpPr/>
          <p:nvPr/>
        </p:nvSpPr>
        <p:spPr>
          <a:xfrm>
            <a:off x="8412480" y="2697480"/>
            <a:ext cx="1280160" cy="36576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ML Flag</a:t>
            </a:r>
            <a:endParaRPr lang="en-US" sz="1050" dirty="0"/>
          </a:p>
        </p:txBody>
      </p:sp>
      <p:sp>
        <p:nvSpPr>
          <p:cNvPr id="15" name="Shape 13"/>
          <p:cNvSpPr/>
          <p:nvPr/>
        </p:nvSpPr>
        <p:spPr>
          <a:xfrm>
            <a:off x="9692640" y="2697480"/>
            <a:ext cx="1554480" cy="365760"/>
          </a:xfrm>
          <a:prstGeom prst="rect">
            <a:avLst/>
          </a:prstGeom>
          <a:solidFill>
            <a:srgbClr val="1E2761"/>
          </a:solidFill>
          <a:ln/>
        </p:spPr>
      </p:sp>
      <p:sp>
        <p:nvSpPr>
          <p:cNvPr id="16" name="Text 14"/>
          <p:cNvSpPr/>
          <p:nvPr/>
        </p:nvSpPr>
        <p:spPr>
          <a:xfrm>
            <a:off x="9692640" y="2697480"/>
            <a:ext cx="1554480" cy="36576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Risk Score</a:t>
            </a:r>
            <a:endParaRPr lang="en-US" sz="1050" dirty="0"/>
          </a:p>
        </p:txBody>
      </p:sp>
      <p:sp>
        <p:nvSpPr>
          <p:cNvPr id="17" name="Shape 15"/>
          <p:cNvSpPr/>
          <p:nvPr/>
        </p:nvSpPr>
        <p:spPr>
          <a:xfrm>
            <a:off x="548640" y="3063240"/>
            <a:ext cx="10698480" cy="384048"/>
          </a:xfrm>
          <a:prstGeom prst="rect">
            <a:avLst/>
          </a:prstGeom>
          <a:solidFill>
            <a:srgbClr val="F4F6FB"/>
          </a:solidFill>
          <a:ln/>
        </p:spPr>
      </p:sp>
      <p:sp>
        <p:nvSpPr>
          <p:cNvPr id="18" name="Text 16"/>
          <p:cNvSpPr/>
          <p:nvPr/>
        </p:nvSpPr>
        <p:spPr>
          <a:xfrm>
            <a:off x="548640" y="3063240"/>
            <a:ext cx="1554480" cy="384048"/>
          </a:xfrm>
          <a:prstGeom prst="rect">
            <a:avLst/>
          </a:prstGeom>
          <a:noFill/>
          <a:ln/>
        </p:spPr>
        <p:txBody>
          <a:bodyPr wrap="square" lIns="76200" tIns="76200" rIns="76200" bIns="76200" rtlCol="0" anchor="ctr"/>
          <a:lstStyle/>
          <a:p>
            <a:pPr marL="0" indent="0" algn="l">
              <a:buNone/>
            </a:pPr>
            <a:r>
              <a:rPr lang="en-US" sz="1050" dirty="0">
                <a:solidFill>
                  <a:srgbClr val="1B1B1B"/>
                </a:solidFill>
                <a:latin typeface="Calibri" pitchFamily="34" charset="0"/>
                <a:ea typeface="Calibri" pitchFamily="34" charset="-122"/>
                <a:cs typeface="Calibri" pitchFamily="34" charset="-120"/>
              </a:rPr>
              <a:t>T106058</a:t>
            </a:r>
            <a:endParaRPr lang="en-US" sz="1050" dirty="0"/>
          </a:p>
        </p:txBody>
      </p:sp>
      <p:sp>
        <p:nvSpPr>
          <p:cNvPr id="19" name="Text 17"/>
          <p:cNvSpPr/>
          <p:nvPr/>
        </p:nvSpPr>
        <p:spPr>
          <a:xfrm>
            <a:off x="2103120" y="3063240"/>
            <a:ext cx="3108960" cy="384048"/>
          </a:xfrm>
          <a:prstGeom prst="rect">
            <a:avLst/>
          </a:prstGeom>
          <a:noFill/>
          <a:ln/>
        </p:spPr>
        <p:txBody>
          <a:bodyPr wrap="square" lIns="76200" tIns="76200" rIns="76200" bIns="76200" rtlCol="0" anchor="ctr"/>
          <a:lstStyle/>
          <a:p>
            <a:pPr marL="0" indent="0" algn="l">
              <a:buNone/>
            </a:pPr>
            <a:r>
              <a:rPr lang="en-US" sz="1050" dirty="0">
                <a:solidFill>
                  <a:srgbClr val="1B1B1B"/>
                </a:solidFill>
                <a:latin typeface="Calibri" pitchFamily="34" charset="0"/>
                <a:ea typeface="Calibri" pitchFamily="34" charset="-122"/>
                <a:cs typeface="Calibri" pitchFamily="34" charset="-120"/>
              </a:rPr>
              <a:t>Murphy-Juarez</a:t>
            </a:r>
            <a:endParaRPr lang="en-US" sz="1050" dirty="0"/>
          </a:p>
        </p:txBody>
      </p:sp>
      <p:sp>
        <p:nvSpPr>
          <p:cNvPr id="20" name="Text 18"/>
          <p:cNvSpPr/>
          <p:nvPr/>
        </p:nvSpPr>
        <p:spPr>
          <a:xfrm>
            <a:off x="5212080" y="3063240"/>
            <a:ext cx="1554480" cy="384048"/>
          </a:xfrm>
          <a:prstGeom prst="rect">
            <a:avLst/>
          </a:prstGeom>
          <a:noFill/>
          <a:ln/>
        </p:spPr>
        <p:txBody>
          <a:bodyPr wrap="square" lIns="0" tIns="0" rIns="0" bIns="0" rtlCol="0" anchor="ctr"/>
          <a:lstStyle/>
          <a:p>
            <a:pPr marL="0" indent="0" algn="ctr">
              <a:buNone/>
            </a:pPr>
            <a:r>
              <a:rPr lang="en-US" sz="1050" dirty="0">
                <a:solidFill>
                  <a:srgbClr val="1B1B1B"/>
                </a:solidFill>
                <a:latin typeface="Calibri" pitchFamily="34" charset="0"/>
                <a:ea typeface="Calibri" pitchFamily="34" charset="-122"/>
                <a:cs typeface="Calibri" pitchFamily="34" charset="-120"/>
              </a:rPr>
              <a:t>$106.92</a:t>
            </a:r>
            <a:endParaRPr lang="en-US" sz="1050" dirty="0"/>
          </a:p>
        </p:txBody>
      </p:sp>
      <p:sp>
        <p:nvSpPr>
          <p:cNvPr id="21" name="Text 19"/>
          <p:cNvSpPr/>
          <p:nvPr/>
        </p:nvSpPr>
        <p:spPr>
          <a:xfrm>
            <a:off x="6766560" y="3063240"/>
            <a:ext cx="1645920" cy="384048"/>
          </a:xfrm>
          <a:prstGeom prst="rect">
            <a:avLst/>
          </a:prstGeom>
          <a:noFill/>
          <a:ln/>
        </p:spPr>
        <p:txBody>
          <a:bodyPr wrap="square" lIns="0" tIns="0" rIns="0" bIns="0" rtlCol="0" anchor="ctr"/>
          <a:lstStyle/>
          <a:p>
            <a:pPr marL="0" indent="0" algn="ctr">
              <a:buNone/>
            </a:pPr>
            <a:r>
              <a:rPr lang="en-US" sz="1050" dirty="0">
                <a:solidFill>
                  <a:srgbClr val="1B1B1B"/>
                </a:solidFill>
                <a:latin typeface="Calibri" pitchFamily="34" charset="0"/>
                <a:ea typeface="Calibri" pitchFamily="34" charset="-122"/>
                <a:cs typeface="Calibri" pitchFamily="34" charset="-120"/>
              </a:rPr>
              <a:t>1</a:t>
            </a:r>
            <a:endParaRPr lang="en-US" sz="1050" dirty="0"/>
          </a:p>
        </p:txBody>
      </p:sp>
      <p:sp>
        <p:nvSpPr>
          <p:cNvPr id="22" name="Text 20"/>
          <p:cNvSpPr/>
          <p:nvPr/>
        </p:nvSpPr>
        <p:spPr>
          <a:xfrm>
            <a:off x="8412480" y="3063240"/>
            <a:ext cx="1280160" cy="384048"/>
          </a:xfrm>
          <a:prstGeom prst="rect">
            <a:avLst/>
          </a:prstGeom>
          <a:noFill/>
          <a:ln/>
        </p:spPr>
        <p:txBody>
          <a:bodyPr wrap="square" lIns="0" tIns="0" rIns="0" bIns="0" rtlCol="0" anchor="ctr"/>
          <a:lstStyle/>
          <a:p>
            <a:pPr marL="0" indent="0" algn="ctr">
              <a:buNone/>
            </a:pPr>
            <a:r>
              <a:rPr lang="en-US" sz="1050" b="1" dirty="0">
                <a:solidFill>
                  <a:srgbClr val="D03B3B"/>
                </a:solidFill>
                <a:latin typeface="Calibri" pitchFamily="34" charset="0"/>
                <a:ea typeface="Calibri" pitchFamily="34" charset="-122"/>
                <a:cs typeface="Calibri" pitchFamily="34" charset="-120"/>
              </a:rPr>
              <a:t>Yes</a:t>
            </a:r>
            <a:endParaRPr lang="en-US" sz="1050" dirty="0"/>
          </a:p>
        </p:txBody>
      </p:sp>
      <p:sp>
        <p:nvSpPr>
          <p:cNvPr id="23" name="Text 21"/>
          <p:cNvSpPr/>
          <p:nvPr/>
        </p:nvSpPr>
        <p:spPr>
          <a:xfrm>
            <a:off x="9692640" y="3063240"/>
            <a:ext cx="1554480" cy="384048"/>
          </a:xfrm>
          <a:prstGeom prst="rect">
            <a:avLst/>
          </a:prstGeom>
          <a:noFill/>
          <a:ln/>
        </p:spPr>
        <p:txBody>
          <a:bodyPr wrap="square" lIns="0" tIns="0" rIns="0" bIns="0" rtlCol="0" anchor="ctr"/>
          <a:lstStyle/>
          <a:p>
            <a:pPr marL="0" indent="0" algn="ctr">
              <a:buNone/>
            </a:pPr>
            <a:r>
              <a:rPr lang="en-US" sz="1050" dirty="0">
                <a:solidFill>
                  <a:srgbClr val="1B1B1B"/>
                </a:solidFill>
                <a:latin typeface="Calibri" pitchFamily="34" charset="0"/>
                <a:ea typeface="Calibri" pitchFamily="34" charset="-122"/>
                <a:cs typeface="Calibri" pitchFamily="34" charset="-120"/>
              </a:rPr>
              <a:t>3.00</a:t>
            </a:r>
            <a:endParaRPr lang="en-US" sz="1050" dirty="0"/>
          </a:p>
        </p:txBody>
      </p:sp>
      <p:sp>
        <p:nvSpPr>
          <p:cNvPr id="24" name="Text 22"/>
          <p:cNvSpPr/>
          <p:nvPr/>
        </p:nvSpPr>
        <p:spPr>
          <a:xfrm>
            <a:off x="548640" y="3447288"/>
            <a:ext cx="1554480" cy="384048"/>
          </a:xfrm>
          <a:prstGeom prst="rect">
            <a:avLst/>
          </a:prstGeom>
          <a:noFill/>
          <a:ln/>
        </p:spPr>
        <p:txBody>
          <a:bodyPr wrap="square" lIns="76200" tIns="76200" rIns="76200" bIns="76200" rtlCol="0" anchor="ctr"/>
          <a:lstStyle/>
          <a:p>
            <a:pPr marL="0" indent="0" algn="l">
              <a:buNone/>
            </a:pPr>
            <a:r>
              <a:rPr lang="en-US" sz="1050" dirty="0">
                <a:solidFill>
                  <a:srgbClr val="1B1B1B"/>
                </a:solidFill>
                <a:latin typeface="Calibri" pitchFamily="34" charset="0"/>
                <a:ea typeface="Calibri" pitchFamily="34" charset="-122"/>
                <a:cs typeface="Calibri" pitchFamily="34" charset="-120"/>
              </a:rPr>
              <a:t>T106103</a:t>
            </a:r>
            <a:endParaRPr lang="en-US" sz="1050" dirty="0"/>
          </a:p>
        </p:txBody>
      </p:sp>
      <p:sp>
        <p:nvSpPr>
          <p:cNvPr id="25" name="Text 23"/>
          <p:cNvSpPr/>
          <p:nvPr/>
        </p:nvSpPr>
        <p:spPr>
          <a:xfrm>
            <a:off x="2103120" y="3447288"/>
            <a:ext cx="3108960" cy="384048"/>
          </a:xfrm>
          <a:prstGeom prst="rect">
            <a:avLst/>
          </a:prstGeom>
          <a:noFill/>
          <a:ln/>
        </p:spPr>
        <p:txBody>
          <a:bodyPr wrap="square" lIns="76200" tIns="76200" rIns="76200" bIns="76200" rtlCol="0" anchor="ctr"/>
          <a:lstStyle/>
          <a:p>
            <a:pPr marL="0" indent="0" algn="l">
              <a:buNone/>
            </a:pPr>
            <a:r>
              <a:rPr lang="en-US" sz="1050" dirty="0">
                <a:solidFill>
                  <a:srgbClr val="1B1B1B"/>
                </a:solidFill>
                <a:latin typeface="Calibri" pitchFamily="34" charset="0"/>
                <a:ea typeface="Calibri" pitchFamily="34" charset="-122"/>
                <a:cs typeface="Calibri" pitchFamily="34" charset="-120"/>
              </a:rPr>
              <a:t>Meridian Consulting Partners</a:t>
            </a:r>
            <a:endParaRPr lang="en-US" sz="1050" dirty="0"/>
          </a:p>
        </p:txBody>
      </p:sp>
      <p:sp>
        <p:nvSpPr>
          <p:cNvPr id="26" name="Text 24"/>
          <p:cNvSpPr/>
          <p:nvPr/>
        </p:nvSpPr>
        <p:spPr>
          <a:xfrm>
            <a:off x="5212080" y="3447288"/>
            <a:ext cx="1554480" cy="384048"/>
          </a:xfrm>
          <a:prstGeom prst="rect">
            <a:avLst/>
          </a:prstGeom>
          <a:noFill/>
          <a:ln/>
        </p:spPr>
        <p:txBody>
          <a:bodyPr wrap="square" lIns="0" tIns="0" rIns="0" bIns="0" rtlCol="0" anchor="ctr"/>
          <a:lstStyle/>
          <a:p>
            <a:pPr marL="0" indent="0" algn="ctr">
              <a:buNone/>
            </a:pPr>
            <a:r>
              <a:rPr lang="en-US" sz="1050" dirty="0">
                <a:solidFill>
                  <a:srgbClr val="1B1B1B"/>
                </a:solidFill>
                <a:latin typeface="Calibri" pitchFamily="34" charset="0"/>
                <a:ea typeface="Calibri" pitchFamily="34" charset="-122"/>
                <a:cs typeface="Calibri" pitchFamily="34" charset="-120"/>
              </a:rPr>
              <a:t>$9,912.61</a:t>
            </a:r>
            <a:endParaRPr lang="en-US" sz="1050" dirty="0"/>
          </a:p>
        </p:txBody>
      </p:sp>
      <p:sp>
        <p:nvSpPr>
          <p:cNvPr id="27" name="Text 25"/>
          <p:cNvSpPr/>
          <p:nvPr/>
        </p:nvSpPr>
        <p:spPr>
          <a:xfrm>
            <a:off x="6766560" y="3447288"/>
            <a:ext cx="1645920" cy="384048"/>
          </a:xfrm>
          <a:prstGeom prst="rect">
            <a:avLst/>
          </a:prstGeom>
          <a:noFill/>
          <a:ln/>
        </p:spPr>
        <p:txBody>
          <a:bodyPr wrap="square" lIns="0" tIns="0" rIns="0" bIns="0" rtlCol="0" anchor="ctr"/>
          <a:lstStyle/>
          <a:p>
            <a:pPr marL="0" indent="0" algn="ctr">
              <a:buNone/>
            </a:pPr>
            <a:r>
              <a:rPr lang="en-US" sz="1050" dirty="0">
                <a:solidFill>
                  <a:srgbClr val="1B1B1B"/>
                </a:solidFill>
                <a:latin typeface="Calibri" pitchFamily="34" charset="0"/>
                <a:ea typeface="Calibri" pitchFamily="34" charset="-122"/>
                <a:cs typeface="Calibri" pitchFamily="34" charset="-120"/>
              </a:rPr>
              <a:t>2</a:t>
            </a:r>
            <a:endParaRPr lang="en-US" sz="1050" dirty="0"/>
          </a:p>
        </p:txBody>
      </p:sp>
      <p:sp>
        <p:nvSpPr>
          <p:cNvPr id="28" name="Text 26"/>
          <p:cNvSpPr/>
          <p:nvPr/>
        </p:nvSpPr>
        <p:spPr>
          <a:xfrm>
            <a:off x="8412480" y="3447288"/>
            <a:ext cx="1280160" cy="384048"/>
          </a:xfrm>
          <a:prstGeom prst="rect">
            <a:avLst/>
          </a:prstGeom>
          <a:noFill/>
          <a:ln/>
        </p:spPr>
        <p:txBody>
          <a:bodyPr wrap="square" lIns="0" tIns="0" rIns="0" bIns="0" rtlCol="0" anchor="ctr"/>
          <a:lstStyle/>
          <a:p>
            <a:pPr marL="0" indent="0" algn="ctr">
              <a:buNone/>
            </a:pPr>
            <a:r>
              <a:rPr lang="en-US" sz="1050" dirty="0">
                <a:solidFill>
                  <a:srgbClr val="1B1B1B"/>
                </a:solidFill>
                <a:latin typeface="Calibri" pitchFamily="34" charset="0"/>
                <a:ea typeface="Calibri" pitchFamily="34" charset="-122"/>
                <a:cs typeface="Calibri" pitchFamily="34" charset="-120"/>
              </a:rPr>
              <a:t>No</a:t>
            </a:r>
            <a:endParaRPr lang="en-US" sz="1050" dirty="0"/>
          </a:p>
        </p:txBody>
      </p:sp>
      <p:sp>
        <p:nvSpPr>
          <p:cNvPr id="29" name="Text 27"/>
          <p:cNvSpPr/>
          <p:nvPr/>
        </p:nvSpPr>
        <p:spPr>
          <a:xfrm>
            <a:off x="9692640" y="3447288"/>
            <a:ext cx="1554480" cy="384048"/>
          </a:xfrm>
          <a:prstGeom prst="rect">
            <a:avLst/>
          </a:prstGeom>
          <a:noFill/>
          <a:ln/>
        </p:spPr>
        <p:txBody>
          <a:bodyPr wrap="square" lIns="0" tIns="0" rIns="0" bIns="0" rtlCol="0" anchor="ctr"/>
          <a:lstStyle/>
          <a:p>
            <a:pPr marL="0" indent="0" algn="ctr">
              <a:buNone/>
            </a:pPr>
            <a:r>
              <a:rPr lang="en-US" sz="1050" dirty="0">
                <a:solidFill>
                  <a:srgbClr val="1B1B1B"/>
                </a:solidFill>
                <a:latin typeface="Calibri" pitchFamily="34" charset="0"/>
                <a:ea typeface="Calibri" pitchFamily="34" charset="-122"/>
                <a:cs typeface="Calibri" pitchFamily="34" charset="-120"/>
              </a:rPr>
              <a:t>2.98</a:t>
            </a:r>
            <a:endParaRPr lang="en-US" sz="1050" dirty="0"/>
          </a:p>
        </p:txBody>
      </p:sp>
      <p:sp>
        <p:nvSpPr>
          <p:cNvPr id="30" name="Shape 28"/>
          <p:cNvSpPr/>
          <p:nvPr/>
        </p:nvSpPr>
        <p:spPr>
          <a:xfrm>
            <a:off x="548640" y="3831336"/>
            <a:ext cx="10698480" cy="384048"/>
          </a:xfrm>
          <a:prstGeom prst="rect">
            <a:avLst/>
          </a:prstGeom>
          <a:solidFill>
            <a:srgbClr val="F4F6FB"/>
          </a:solidFill>
          <a:ln/>
        </p:spPr>
      </p:sp>
      <p:sp>
        <p:nvSpPr>
          <p:cNvPr id="31" name="Text 29"/>
          <p:cNvSpPr/>
          <p:nvPr/>
        </p:nvSpPr>
        <p:spPr>
          <a:xfrm>
            <a:off x="548640" y="3831336"/>
            <a:ext cx="1554480" cy="384048"/>
          </a:xfrm>
          <a:prstGeom prst="rect">
            <a:avLst/>
          </a:prstGeom>
          <a:noFill/>
          <a:ln/>
        </p:spPr>
        <p:txBody>
          <a:bodyPr wrap="square" lIns="76200" tIns="76200" rIns="76200" bIns="76200" rtlCol="0" anchor="ctr"/>
          <a:lstStyle/>
          <a:p>
            <a:pPr marL="0" indent="0" algn="l">
              <a:buNone/>
            </a:pPr>
            <a:r>
              <a:rPr lang="en-US" sz="1050" dirty="0">
                <a:solidFill>
                  <a:srgbClr val="1B1B1B"/>
                </a:solidFill>
                <a:latin typeface="Calibri" pitchFamily="34" charset="0"/>
                <a:ea typeface="Calibri" pitchFamily="34" charset="-122"/>
                <a:cs typeface="Calibri" pitchFamily="34" charset="-120"/>
              </a:rPr>
              <a:t>T106002</a:t>
            </a:r>
            <a:endParaRPr lang="en-US" sz="1050" dirty="0"/>
          </a:p>
        </p:txBody>
      </p:sp>
      <p:sp>
        <p:nvSpPr>
          <p:cNvPr id="32" name="Text 30"/>
          <p:cNvSpPr/>
          <p:nvPr/>
        </p:nvSpPr>
        <p:spPr>
          <a:xfrm>
            <a:off x="2103120" y="3831336"/>
            <a:ext cx="3108960" cy="384048"/>
          </a:xfrm>
          <a:prstGeom prst="rect">
            <a:avLst/>
          </a:prstGeom>
          <a:noFill/>
          <a:ln/>
        </p:spPr>
        <p:txBody>
          <a:bodyPr wrap="square" lIns="76200" tIns="76200" rIns="76200" bIns="76200" rtlCol="0" anchor="ctr"/>
          <a:lstStyle/>
          <a:p>
            <a:pPr marL="0" indent="0" algn="l">
              <a:buNone/>
            </a:pPr>
            <a:r>
              <a:rPr lang="en-US" sz="1050" dirty="0">
                <a:solidFill>
                  <a:srgbClr val="1B1B1B"/>
                </a:solidFill>
                <a:latin typeface="Calibri" pitchFamily="34" charset="0"/>
                <a:ea typeface="Calibri" pitchFamily="34" charset="-122"/>
                <a:cs typeface="Calibri" pitchFamily="34" charset="-120"/>
              </a:rPr>
              <a:t>Walters, Baker and Freeman</a:t>
            </a:r>
            <a:endParaRPr lang="en-US" sz="1050" dirty="0"/>
          </a:p>
        </p:txBody>
      </p:sp>
      <p:sp>
        <p:nvSpPr>
          <p:cNvPr id="33" name="Text 31"/>
          <p:cNvSpPr/>
          <p:nvPr/>
        </p:nvSpPr>
        <p:spPr>
          <a:xfrm>
            <a:off x="5212080" y="3831336"/>
            <a:ext cx="1554480" cy="384048"/>
          </a:xfrm>
          <a:prstGeom prst="rect">
            <a:avLst/>
          </a:prstGeom>
          <a:noFill/>
          <a:ln/>
        </p:spPr>
        <p:txBody>
          <a:bodyPr wrap="square" lIns="0" tIns="0" rIns="0" bIns="0" rtlCol="0" anchor="ctr"/>
          <a:lstStyle/>
          <a:p>
            <a:pPr marL="0" indent="0" algn="ctr">
              <a:buNone/>
            </a:pPr>
            <a:r>
              <a:rPr lang="en-US" sz="1050" dirty="0">
                <a:solidFill>
                  <a:srgbClr val="1B1B1B"/>
                </a:solidFill>
                <a:latin typeface="Calibri" pitchFamily="34" charset="0"/>
                <a:ea typeface="Calibri" pitchFamily="34" charset="-122"/>
                <a:cs typeface="Calibri" pitchFamily="34" charset="-120"/>
              </a:rPr>
              <a:t>$15,633.09</a:t>
            </a:r>
            <a:endParaRPr lang="en-US" sz="1050" dirty="0"/>
          </a:p>
        </p:txBody>
      </p:sp>
      <p:sp>
        <p:nvSpPr>
          <p:cNvPr id="34" name="Text 32"/>
          <p:cNvSpPr/>
          <p:nvPr/>
        </p:nvSpPr>
        <p:spPr>
          <a:xfrm>
            <a:off x="6766560" y="3831336"/>
            <a:ext cx="1645920" cy="384048"/>
          </a:xfrm>
          <a:prstGeom prst="rect">
            <a:avLst/>
          </a:prstGeom>
          <a:noFill/>
          <a:ln/>
        </p:spPr>
        <p:txBody>
          <a:bodyPr wrap="square" lIns="0" tIns="0" rIns="0" bIns="0" rtlCol="0" anchor="ctr"/>
          <a:lstStyle/>
          <a:p>
            <a:pPr marL="0" indent="0" algn="ctr">
              <a:buNone/>
            </a:pPr>
            <a:r>
              <a:rPr lang="en-US" sz="1050" dirty="0">
                <a:solidFill>
                  <a:srgbClr val="1B1B1B"/>
                </a:solidFill>
                <a:latin typeface="Calibri" pitchFamily="34" charset="0"/>
                <a:ea typeface="Calibri" pitchFamily="34" charset="-122"/>
                <a:cs typeface="Calibri" pitchFamily="34" charset="-120"/>
              </a:rPr>
              <a:t>2</a:t>
            </a:r>
            <a:endParaRPr lang="en-US" sz="1050" dirty="0"/>
          </a:p>
        </p:txBody>
      </p:sp>
      <p:sp>
        <p:nvSpPr>
          <p:cNvPr id="35" name="Text 33"/>
          <p:cNvSpPr/>
          <p:nvPr/>
        </p:nvSpPr>
        <p:spPr>
          <a:xfrm>
            <a:off x="8412480" y="3831336"/>
            <a:ext cx="1280160" cy="384048"/>
          </a:xfrm>
          <a:prstGeom prst="rect">
            <a:avLst/>
          </a:prstGeom>
          <a:noFill/>
          <a:ln/>
        </p:spPr>
        <p:txBody>
          <a:bodyPr wrap="square" lIns="0" tIns="0" rIns="0" bIns="0" rtlCol="0" anchor="ctr"/>
          <a:lstStyle/>
          <a:p>
            <a:pPr marL="0" indent="0" algn="ctr">
              <a:buNone/>
            </a:pPr>
            <a:r>
              <a:rPr lang="en-US" sz="1050" dirty="0">
                <a:solidFill>
                  <a:srgbClr val="1B1B1B"/>
                </a:solidFill>
                <a:latin typeface="Calibri" pitchFamily="34" charset="0"/>
                <a:ea typeface="Calibri" pitchFamily="34" charset="-122"/>
                <a:cs typeface="Calibri" pitchFamily="34" charset="-120"/>
              </a:rPr>
              <a:t>No</a:t>
            </a:r>
            <a:endParaRPr lang="en-US" sz="1050" dirty="0"/>
          </a:p>
        </p:txBody>
      </p:sp>
      <p:sp>
        <p:nvSpPr>
          <p:cNvPr id="36" name="Text 34"/>
          <p:cNvSpPr/>
          <p:nvPr/>
        </p:nvSpPr>
        <p:spPr>
          <a:xfrm>
            <a:off x="9692640" y="3831336"/>
            <a:ext cx="1554480" cy="384048"/>
          </a:xfrm>
          <a:prstGeom prst="rect">
            <a:avLst/>
          </a:prstGeom>
          <a:noFill/>
          <a:ln/>
        </p:spPr>
        <p:txBody>
          <a:bodyPr wrap="square" lIns="0" tIns="0" rIns="0" bIns="0" rtlCol="0" anchor="ctr"/>
          <a:lstStyle/>
          <a:p>
            <a:pPr marL="0" indent="0" algn="ctr">
              <a:buNone/>
            </a:pPr>
            <a:r>
              <a:rPr lang="en-US" sz="1050" dirty="0">
                <a:solidFill>
                  <a:srgbClr val="1B1B1B"/>
                </a:solidFill>
                <a:latin typeface="Calibri" pitchFamily="34" charset="0"/>
                <a:ea typeface="Calibri" pitchFamily="34" charset="-122"/>
                <a:cs typeface="Calibri" pitchFamily="34" charset="-120"/>
              </a:rPr>
              <a:t>2.96</a:t>
            </a:r>
            <a:endParaRPr lang="en-US" sz="1050" dirty="0"/>
          </a:p>
        </p:txBody>
      </p:sp>
      <p:sp>
        <p:nvSpPr>
          <p:cNvPr id="37" name="Text 35"/>
          <p:cNvSpPr/>
          <p:nvPr/>
        </p:nvSpPr>
        <p:spPr>
          <a:xfrm>
            <a:off x="548640" y="4215384"/>
            <a:ext cx="1554480" cy="384048"/>
          </a:xfrm>
          <a:prstGeom prst="rect">
            <a:avLst/>
          </a:prstGeom>
          <a:noFill/>
          <a:ln/>
        </p:spPr>
        <p:txBody>
          <a:bodyPr wrap="square" lIns="76200" tIns="76200" rIns="76200" bIns="76200" rtlCol="0" anchor="ctr"/>
          <a:lstStyle/>
          <a:p>
            <a:pPr marL="0" indent="0" algn="l">
              <a:buNone/>
            </a:pPr>
            <a:r>
              <a:rPr lang="en-US" sz="1050" dirty="0">
                <a:solidFill>
                  <a:srgbClr val="1B1B1B"/>
                </a:solidFill>
                <a:latin typeface="Calibri" pitchFamily="34" charset="0"/>
                <a:ea typeface="Calibri" pitchFamily="34" charset="-122"/>
                <a:cs typeface="Calibri" pitchFamily="34" charset="-120"/>
              </a:rPr>
              <a:t>T106065</a:t>
            </a:r>
            <a:endParaRPr lang="en-US" sz="1050" dirty="0"/>
          </a:p>
        </p:txBody>
      </p:sp>
      <p:sp>
        <p:nvSpPr>
          <p:cNvPr id="38" name="Text 36"/>
          <p:cNvSpPr/>
          <p:nvPr/>
        </p:nvSpPr>
        <p:spPr>
          <a:xfrm>
            <a:off x="2103120" y="4215384"/>
            <a:ext cx="3108960" cy="384048"/>
          </a:xfrm>
          <a:prstGeom prst="rect">
            <a:avLst/>
          </a:prstGeom>
          <a:noFill/>
          <a:ln/>
        </p:spPr>
        <p:txBody>
          <a:bodyPr wrap="square" lIns="76200" tIns="76200" rIns="76200" bIns="76200" rtlCol="0" anchor="ctr"/>
          <a:lstStyle/>
          <a:p>
            <a:pPr marL="0" indent="0" algn="l">
              <a:buNone/>
            </a:pPr>
            <a:r>
              <a:rPr lang="en-US" sz="1050" dirty="0">
                <a:solidFill>
                  <a:srgbClr val="1B1B1B"/>
                </a:solidFill>
                <a:latin typeface="Calibri" pitchFamily="34" charset="0"/>
                <a:ea typeface="Calibri" pitchFamily="34" charset="-122"/>
                <a:cs typeface="Calibri" pitchFamily="34" charset="-120"/>
              </a:rPr>
              <a:t>Martin Group</a:t>
            </a:r>
            <a:endParaRPr lang="en-US" sz="1050" dirty="0"/>
          </a:p>
        </p:txBody>
      </p:sp>
      <p:sp>
        <p:nvSpPr>
          <p:cNvPr id="39" name="Text 37"/>
          <p:cNvSpPr/>
          <p:nvPr/>
        </p:nvSpPr>
        <p:spPr>
          <a:xfrm>
            <a:off x="5212080" y="4215384"/>
            <a:ext cx="1554480" cy="384048"/>
          </a:xfrm>
          <a:prstGeom prst="rect">
            <a:avLst/>
          </a:prstGeom>
          <a:noFill/>
          <a:ln/>
        </p:spPr>
        <p:txBody>
          <a:bodyPr wrap="square" lIns="0" tIns="0" rIns="0" bIns="0" rtlCol="0" anchor="ctr"/>
          <a:lstStyle/>
          <a:p>
            <a:pPr marL="0" indent="0" algn="ctr">
              <a:buNone/>
            </a:pPr>
            <a:r>
              <a:rPr lang="en-US" sz="1050" dirty="0">
                <a:solidFill>
                  <a:srgbClr val="1B1B1B"/>
                </a:solidFill>
                <a:latin typeface="Calibri" pitchFamily="34" charset="0"/>
                <a:ea typeface="Calibri" pitchFamily="34" charset="-122"/>
                <a:cs typeface="Calibri" pitchFamily="34" charset="-120"/>
              </a:rPr>
              <a:t>$10,000.00</a:t>
            </a:r>
            <a:endParaRPr lang="en-US" sz="1050" dirty="0"/>
          </a:p>
        </p:txBody>
      </p:sp>
      <p:sp>
        <p:nvSpPr>
          <p:cNvPr id="40" name="Text 38"/>
          <p:cNvSpPr/>
          <p:nvPr/>
        </p:nvSpPr>
        <p:spPr>
          <a:xfrm>
            <a:off x="6766560" y="4215384"/>
            <a:ext cx="1645920" cy="384048"/>
          </a:xfrm>
          <a:prstGeom prst="rect">
            <a:avLst/>
          </a:prstGeom>
          <a:noFill/>
          <a:ln/>
        </p:spPr>
        <p:txBody>
          <a:bodyPr wrap="square" lIns="0" tIns="0" rIns="0" bIns="0" rtlCol="0" anchor="ctr"/>
          <a:lstStyle/>
          <a:p>
            <a:pPr marL="0" indent="0" algn="ctr">
              <a:buNone/>
            </a:pPr>
            <a:r>
              <a:rPr lang="en-US" sz="1050" dirty="0">
                <a:solidFill>
                  <a:srgbClr val="1B1B1B"/>
                </a:solidFill>
                <a:latin typeface="Calibri" pitchFamily="34" charset="0"/>
                <a:ea typeface="Calibri" pitchFamily="34" charset="-122"/>
                <a:cs typeface="Calibri" pitchFamily="34" charset="-120"/>
              </a:rPr>
              <a:t>2</a:t>
            </a:r>
            <a:endParaRPr lang="en-US" sz="1050" dirty="0"/>
          </a:p>
        </p:txBody>
      </p:sp>
      <p:sp>
        <p:nvSpPr>
          <p:cNvPr id="41" name="Text 39"/>
          <p:cNvSpPr/>
          <p:nvPr/>
        </p:nvSpPr>
        <p:spPr>
          <a:xfrm>
            <a:off x="8412480" y="4215384"/>
            <a:ext cx="1280160" cy="384048"/>
          </a:xfrm>
          <a:prstGeom prst="rect">
            <a:avLst/>
          </a:prstGeom>
          <a:noFill/>
          <a:ln/>
        </p:spPr>
        <p:txBody>
          <a:bodyPr wrap="square" lIns="0" tIns="0" rIns="0" bIns="0" rtlCol="0" anchor="ctr"/>
          <a:lstStyle/>
          <a:p>
            <a:pPr marL="0" indent="0" algn="ctr">
              <a:buNone/>
            </a:pPr>
            <a:r>
              <a:rPr lang="en-US" sz="1050" dirty="0">
                <a:solidFill>
                  <a:srgbClr val="1B1B1B"/>
                </a:solidFill>
                <a:latin typeface="Calibri" pitchFamily="34" charset="0"/>
                <a:ea typeface="Calibri" pitchFamily="34" charset="-122"/>
                <a:cs typeface="Calibri" pitchFamily="34" charset="-120"/>
              </a:rPr>
              <a:t>No</a:t>
            </a:r>
            <a:endParaRPr lang="en-US" sz="1050" dirty="0"/>
          </a:p>
        </p:txBody>
      </p:sp>
      <p:sp>
        <p:nvSpPr>
          <p:cNvPr id="42" name="Text 40"/>
          <p:cNvSpPr/>
          <p:nvPr/>
        </p:nvSpPr>
        <p:spPr>
          <a:xfrm>
            <a:off x="9692640" y="4215384"/>
            <a:ext cx="1554480" cy="384048"/>
          </a:xfrm>
          <a:prstGeom prst="rect">
            <a:avLst/>
          </a:prstGeom>
          <a:noFill/>
          <a:ln/>
        </p:spPr>
        <p:txBody>
          <a:bodyPr wrap="square" lIns="0" tIns="0" rIns="0" bIns="0" rtlCol="0" anchor="ctr"/>
          <a:lstStyle/>
          <a:p>
            <a:pPr marL="0" indent="0" algn="ctr">
              <a:buNone/>
            </a:pPr>
            <a:r>
              <a:rPr lang="en-US" sz="1050" dirty="0">
                <a:solidFill>
                  <a:srgbClr val="1B1B1B"/>
                </a:solidFill>
                <a:latin typeface="Calibri" pitchFamily="34" charset="0"/>
                <a:ea typeface="Calibri" pitchFamily="34" charset="-122"/>
                <a:cs typeface="Calibri" pitchFamily="34" charset="-120"/>
              </a:rPr>
              <a:t>2.91</a:t>
            </a:r>
            <a:endParaRPr lang="en-US" sz="1050" dirty="0"/>
          </a:p>
        </p:txBody>
      </p:sp>
      <p:sp>
        <p:nvSpPr>
          <p:cNvPr id="43" name="Shape 41"/>
          <p:cNvSpPr/>
          <p:nvPr/>
        </p:nvSpPr>
        <p:spPr>
          <a:xfrm>
            <a:off x="548640" y="4599432"/>
            <a:ext cx="10698480" cy="384048"/>
          </a:xfrm>
          <a:prstGeom prst="rect">
            <a:avLst/>
          </a:prstGeom>
          <a:solidFill>
            <a:srgbClr val="F4F6FB"/>
          </a:solidFill>
          <a:ln/>
        </p:spPr>
      </p:sp>
      <p:sp>
        <p:nvSpPr>
          <p:cNvPr id="44" name="Text 42"/>
          <p:cNvSpPr/>
          <p:nvPr/>
        </p:nvSpPr>
        <p:spPr>
          <a:xfrm>
            <a:off x="548640" y="4599432"/>
            <a:ext cx="1554480" cy="384048"/>
          </a:xfrm>
          <a:prstGeom prst="rect">
            <a:avLst/>
          </a:prstGeom>
          <a:noFill/>
          <a:ln/>
        </p:spPr>
        <p:txBody>
          <a:bodyPr wrap="square" lIns="76200" tIns="76200" rIns="76200" bIns="76200" rtlCol="0" anchor="ctr"/>
          <a:lstStyle/>
          <a:p>
            <a:pPr marL="0" indent="0" algn="l">
              <a:buNone/>
            </a:pPr>
            <a:r>
              <a:rPr lang="en-US" sz="1050" dirty="0">
                <a:solidFill>
                  <a:srgbClr val="1B1B1B"/>
                </a:solidFill>
                <a:latin typeface="Calibri" pitchFamily="34" charset="0"/>
                <a:ea typeface="Calibri" pitchFamily="34" charset="-122"/>
                <a:cs typeface="Calibri" pitchFamily="34" charset="-120"/>
              </a:rPr>
              <a:t>T106108</a:t>
            </a:r>
            <a:endParaRPr lang="en-US" sz="1050" dirty="0"/>
          </a:p>
        </p:txBody>
      </p:sp>
      <p:sp>
        <p:nvSpPr>
          <p:cNvPr id="45" name="Text 43"/>
          <p:cNvSpPr/>
          <p:nvPr/>
        </p:nvSpPr>
        <p:spPr>
          <a:xfrm>
            <a:off x="2103120" y="4599432"/>
            <a:ext cx="3108960" cy="384048"/>
          </a:xfrm>
          <a:prstGeom prst="rect">
            <a:avLst/>
          </a:prstGeom>
          <a:noFill/>
          <a:ln/>
        </p:spPr>
        <p:txBody>
          <a:bodyPr wrap="square" lIns="76200" tIns="76200" rIns="76200" bIns="76200" rtlCol="0" anchor="ctr"/>
          <a:lstStyle/>
          <a:p>
            <a:pPr marL="0" indent="0" algn="l">
              <a:buNone/>
            </a:pPr>
            <a:r>
              <a:rPr lang="en-US" sz="1050" dirty="0">
                <a:solidFill>
                  <a:srgbClr val="1B1B1B"/>
                </a:solidFill>
                <a:latin typeface="Calibri" pitchFamily="34" charset="0"/>
                <a:ea typeface="Calibri" pitchFamily="34" charset="-122"/>
                <a:cs typeface="Calibri" pitchFamily="34" charset="-120"/>
              </a:rPr>
              <a:t>Meridian Consulting Partners</a:t>
            </a:r>
            <a:endParaRPr lang="en-US" sz="1050" dirty="0"/>
          </a:p>
        </p:txBody>
      </p:sp>
      <p:sp>
        <p:nvSpPr>
          <p:cNvPr id="46" name="Text 44"/>
          <p:cNvSpPr/>
          <p:nvPr/>
        </p:nvSpPr>
        <p:spPr>
          <a:xfrm>
            <a:off x="5212080" y="4599432"/>
            <a:ext cx="1554480" cy="384048"/>
          </a:xfrm>
          <a:prstGeom prst="rect">
            <a:avLst/>
          </a:prstGeom>
          <a:noFill/>
          <a:ln/>
        </p:spPr>
        <p:txBody>
          <a:bodyPr wrap="square" lIns="0" tIns="0" rIns="0" bIns="0" rtlCol="0" anchor="ctr"/>
          <a:lstStyle/>
          <a:p>
            <a:pPr marL="0" indent="0" algn="ctr">
              <a:buNone/>
            </a:pPr>
            <a:r>
              <a:rPr lang="en-US" sz="1050" dirty="0">
                <a:solidFill>
                  <a:srgbClr val="1B1B1B"/>
                </a:solidFill>
                <a:latin typeface="Calibri" pitchFamily="34" charset="0"/>
                <a:ea typeface="Calibri" pitchFamily="34" charset="-122"/>
                <a:cs typeface="Calibri" pitchFamily="34" charset="-120"/>
              </a:rPr>
              <a:t>$9,859.84</a:t>
            </a:r>
            <a:endParaRPr lang="en-US" sz="1050" dirty="0"/>
          </a:p>
        </p:txBody>
      </p:sp>
      <p:sp>
        <p:nvSpPr>
          <p:cNvPr id="47" name="Text 45"/>
          <p:cNvSpPr/>
          <p:nvPr/>
        </p:nvSpPr>
        <p:spPr>
          <a:xfrm>
            <a:off x="6766560" y="4599432"/>
            <a:ext cx="1645920" cy="384048"/>
          </a:xfrm>
          <a:prstGeom prst="rect">
            <a:avLst/>
          </a:prstGeom>
          <a:noFill/>
          <a:ln/>
        </p:spPr>
        <p:txBody>
          <a:bodyPr wrap="square" lIns="0" tIns="0" rIns="0" bIns="0" rtlCol="0" anchor="ctr"/>
          <a:lstStyle/>
          <a:p>
            <a:pPr marL="0" indent="0" algn="ctr">
              <a:buNone/>
            </a:pPr>
            <a:r>
              <a:rPr lang="en-US" sz="1050" dirty="0">
                <a:solidFill>
                  <a:srgbClr val="1B1B1B"/>
                </a:solidFill>
                <a:latin typeface="Calibri" pitchFamily="34" charset="0"/>
                <a:ea typeface="Calibri" pitchFamily="34" charset="-122"/>
                <a:cs typeface="Calibri" pitchFamily="34" charset="-120"/>
              </a:rPr>
              <a:t>2</a:t>
            </a:r>
            <a:endParaRPr lang="en-US" sz="1050" dirty="0"/>
          </a:p>
        </p:txBody>
      </p:sp>
      <p:sp>
        <p:nvSpPr>
          <p:cNvPr id="48" name="Text 46"/>
          <p:cNvSpPr/>
          <p:nvPr/>
        </p:nvSpPr>
        <p:spPr>
          <a:xfrm>
            <a:off x="8412480" y="4599432"/>
            <a:ext cx="1280160" cy="384048"/>
          </a:xfrm>
          <a:prstGeom prst="rect">
            <a:avLst/>
          </a:prstGeom>
          <a:noFill/>
          <a:ln/>
        </p:spPr>
        <p:txBody>
          <a:bodyPr wrap="square" lIns="0" tIns="0" rIns="0" bIns="0" rtlCol="0" anchor="ctr"/>
          <a:lstStyle/>
          <a:p>
            <a:pPr marL="0" indent="0" algn="ctr">
              <a:buNone/>
            </a:pPr>
            <a:r>
              <a:rPr lang="en-US" sz="1050" dirty="0">
                <a:solidFill>
                  <a:srgbClr val="1B1B1B"/>
                </a:solidFill>
                <a:latin typeface="Calibri" pitchFamily="34" charset="0"/>
                <a:ea typeface="Calibri" pitchFamily="34" charset="-122"/>
                <a:cs typeface="Calibri" pitchFamily="34" charset="-120"/>
              </a:rPr>
              <a:t>No</a:t>
            </a:r>
            <a:endParaRPr lang="en-US" sz="1050" dirty="0"/>
          </a:p>
        </p:txBody>
      </p:sp>
      <p:sp>
        <p:nvSpPr>
          <p:cNvPr id="49" name="Text 47"/>
          <p:cNvSpPr/>
          <p:nvPr/>
        </p:nvSpPr>
        <p:spPr>
          <a:xfrm>
            <a:off x="9692640" y="4599432"/>
            <a:ext cx="1554480" cy="384048"/>
          </a:xfrm>
          <a:prstGeom prst="rect">
            <a:avLst/>
          </a:prstGeom>
          <a:noFill/>
          <a:ln/>
        </p:spPr>
        <p:txBody>
          <a:bodyPr wrap="square" lIns="0" tIns="0" rIns="0" bIns="0" rtlCol="0" anchor="ctr"/>
          <a:lstStyle/>
          <a:p>
            <a:pPr marL="0" indent="0" algn="ctr">
              <a:buNone/>
            </a:pPr>
            <a:r>
              <a:rPr lang="en-US" sz="1050" dirty="0">
                <a:solidFill>
                  <a:srgbClr val="1B1B1B"/>
                </a:solidFill>
                <a:latin typeface="Calibri" pitchFamily="34" charset="0"/>
                <a:ea typeface="Calibri" pitchFamily="34" charset="-122"/>
                <a:cs typeface="Calibri" pitchFamily="34" charset="-120"/>
              </a:rPr>
              <a:t>2.87</a:t>
            </a:r>
            <a:endParaRPr lang="en-US" sz="1050" dirty="0"/>
          </a:p>
        </p:txBody>
      </p:sp>
      <p:sp>
        <p:nvSpPr>
          <p:cNvPr id="50" name="Text 48"/>
          <p:cNvSpPr/>
          <p:nvPr/>
        </p:nvSpPr>
        <p:spPr>
          <a:xfrm>
            <a:off x="548640" y="5212080"/>
            <a:ext cx="10698480" cy="320040"/>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Full ranked worklist (top 50) exported to risk_ranked_worklist_top50.csv during the live run.</a:t>
            </a:r>
            <a:endParaRPr lang="en-US" sz="1100" dirty="0"/>
          </a:p>
        </p:txBody>
      </p:sp>
      <p:sp>
        <p:nvSpPr>
          <p:cNvPr id="51" name="Text 49"/>
          <p:cNvSpPr/>
          <p:nvPr/>
        </p:nvSpPr>
        <p:spPr>
          <a:xfrm>
            <a:off x="548640" y="6510528"/>
            <a:ext cx="54864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Continuous Transaction Auditing</a:t>
            </a:r>
            <a:endParaRPr lang="en-US" sz="900" dirty="0"/>
          </a:p>
        </p:txBody>
      </p:sp>
      <p:sp>
        <p:nvSpPr>
          <p:cNvPr id="52" name="Text 50"/>
          <p:cNvSpPr/>
          <p:nvPr/>
        </p:nvSpPr>
        <p:spPr>
          <a:xfrm>
            <a:off x="11521440" y="6510528"/>
            <a:ext cx="4572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D03B3B"/>
                </a:solidFill>
                <a:latin typeface="Calibri" pitchFamily="34" charset="0"/>
                <a:ea typeface="Calibri" pitchFamily="34" charset="-122"/>
                <a:cs typeface="Calibri" pitchFamily="34" charset="-120"/>
              </a:rPr>
              <a:t>WHY IT MATTERS</a:t>
            </a:r>
            <a:endParaRPr lang="en-US" sz="1200" dirty="0"/>
          </a:p>
        </p:txBody>
      </p:sp>
      <p:sp>
        <p:nvSpPr>
          <p:cNvPr id="3" name="Text 1"/>
          <p:cNvSpPr/>
          <p:nvPr/>
        </p:nvSpPr>
        <p:spPr>
          <a:xfrm>
            <a:off x="548640" y="685800"/>
            <a:ext cx="10515600" cy="822960"/>
          </a:xfrm>
          <a:prstGeom prst="rect">
            <a:avLst/>
          </a:prstGeom>
          <a:noFill/>
          <a:ln/>
        </p:spPr>
        <p:txBody>
          <a:bodyPr wrap="square" lIns="0" tIns="0" rIns="0" bIns="0" rtlCol="0" anchor="ctr"/>
          <a:lstStyle/>
          <a:p>
            <a:pPr marL="0" indent="0" algn="l">
              <a:buNone/>
            </a:pPr>
            <a:r>
              <a:rPr lang="en-US" sz="3200" b="1" dirty="0">
                <a:solidFill>
                  <a:srgbClr val="1E2761"/>
                </a:solidFill>
                <a:latin typeface="Cambria" pitchFamily="34" charset="0"/>
                <a:ea typeface="Cambria" pitchFamily="34" charset="-122"/>
                <a:cs typeface="Cambria" pitchFamily="34" charset="-120"/>
              </a:rPr>
              <a:t>What changes when coverage goes to 100%</a:t>
            </a:r>
            <a:endParaRPr lang="en-US" sz="3200" dirty="0"/>
          </a:p>
        </p:txBody>
      </p:sp>
      <p:sp>
        <p:nvSpPr>
          <p:cNvPr id="4" name="Shape 2"/>
          <p:cNvSpPr/>
          <p:nvPr/>
        </p:nvSpPr>
        <p:spPr>
          <a:xfrm>
            <a:off x="548640" y="1737360"/>
            <a:ext cx="3502152" cy="1417320"/>
          </a:xfrm>
          <a:prstGeom prst="roundRect">
            <a:avLst>
              <a:gd name="adj" fmla="val 4516"/>
            </a:avLst>
          </a:prstGeom>
          <a:solidFill>
            <a:srgbClr val="1E2761"/>
          </a:solidFill>
          <a:ln/>
        </p:spPr>
      </p:sp>
      <p:sp>
        <p:nvSpPr>
          <p:cNvPr id="5" name="Text 3"/>
          <p:cNvSpPr/>
          <p:nvPr/>
        </p:nvSpPr>
        <p:spPr>
          <a:xfrm>
            <a:off x="713232" y="1901952"/>
            <a:ext cx="3172968"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Coverage</a:t>
            </a:r>
            <a:endParaRPr lang="en-US" sz="1300" dirty="0"/>
          </a:p>
        </p:txBody>
      </p:sp>
      <p:sp>
        <p:nvSpPr>
          <p:cNvPr id="6" name="Text 4"/>
          <p:cNvSpPr/>
          <p:nvPr/>
        </p:nvSpPr>
        <p:spPr>
          <a:xfrm>
            <a:off x="713232" y="2240280"/>
            <a:ext cx="3172968" cy="777240"/>
          </a:xfrm>
          <a:prstGeom prst="rect">
            <a:avLst/>
          </a:prstGeom>
          <a:noFill/>
          <a:ln/>
        </p:spPr>
        <p:txBody>
          <a:bodyPr wrap="square" lIns="0" tIns="0" rIns="0" bIns="0" rtlCol="0" anchor="ctr"/>
          <a:lstStyle/>
          <a:p>
            <a:pPr marL="0" indent="0">
              <a:lnSpc>
                <a:spcPct val="122000"/>
              </a:lnSpc>
              <a:buNone/>
            </a:pPr>
            <a:r>
              <a:rPr lang="en-US" sz="1000" dirty="0">
                <a:solidFill>
                  <a:srgbClr val="CADCFC"/>
                </a:solidFill>
                <a:latin typeface="Calibri" pitchFamily="34" charset="0"/>
                <a:ea typeface="Calibri" pitchFamily="34" charset="-122"/>
                <a:cs typeface="Calibri" pitchFamily="34" charset="-120"/>
              </a:rPr>
              <a:t>Every transaction is tested, not a projection from a sample — no population left unexamined.</a:t>
            </a:r>
            <a:endParaRPr lang="en-US" sz="1000" dirty="0"/>
          </a:p>
        </p:txBody>
      </p:sp>
      <p:sp>
        <p:nvSpPr>
          <p:cNvPr id="7" name="Shape 5"/>
          <p:cNvSpPr/>
          <p:nvPr/>
        </p:nvSpPr>
        <p:spPr>
          <a:xfrm>
            <a:off x="4215384" y="1737360"/>
            <a:ext cx="3502152" cy="1417320"/>
          </a:xfrm>
          <a:prstGeom prst="roundRect">
            <a:avLst>
              <a:gd name="adj" fmla="val 4516"/>
            </a:avLst>
          </a:prstGeom>
          <a:solidFill>
            <a:srgbClr val="1E2761"/>
          </a:solidFill>
          <a:ln/>
        </p:spPr>
      </p:sp>
      <p:sp>
        <p:nvSpPr>
          <p:cNvPr id="8" name="Text 6"/>
          <p:cNvSpPr/>
          <p:nvPr/>
        </p:nvSpPr>
        <p:spPr>
          <a:xfrm>
            <a:off x="4379976" y="1901952"/>
            <a:ext cx="3172968"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Speed to detection</a:t>
            </a:r>
            <a:endParaRPr lang="en-US" sz="1300" dirty="0"/>
          </a:p>
        </p:txBody>
      </p:sp>
      <p:sp>
        <p:nvSpPr>
          <p:cNvPr id="9" name="Text 7"/>
          <p:cNvSpPr/>
          <p:nvPr/>
        </p:nvSpPr>
        <p:spPr>
          <a:xfrm>
            <a:off x="4379976" y="2240280"/>
            <a:ext cx="3172968" cy="777240"/>
          </a:xfrm>
          <a:prstGeom prst="rect">
            <a:avLst/>
          </a:prstGeom>
          <a:noFill/>
          <a:ln/>
        </p:spPr>
        <p:txBody>
          <a:bodyPr wrap="square" lIns="0" tIns="0" rIns="0" bIns="0" rtlCol="0" anchor="ctr"/>
          <a:lstStyle/>
          <a:p>
            <a:pPr marL="0" indent="0">
              <a:lnSpc>
                <a:spcPct val="122000"/>
              </a:lnSpc>
              <a:buNone/>
            </a:pPr>
            <a:r>
              <a:rPr lang="en-US" sz="1000" dirty="0">
                <a:solidFill>
                  <a:srgbClr val="CADCFC"/>
                </a:solidFill>
                <a:latin typeface="Calibri" pitchFamily="34" charset="0"/>
                <a:ea typeface="Calibri" pitchFamily="34" charset="-122"/>
                <a:cs typeface="Calibri" pitchFamily="34" charset="-120"/>
              </a:rPr>
              <a:t>Anomalies surface within a reporting cycle, not months after the exposure window closed.</a:t>
            </a:r>
            <a:endParaRPr lang="en-US" sz="1000" dirty="0"/>
          </a:p>
        </p:txBody>
      </p:sp>
      <p:sp>
        <p:nvSpPr>
          <p:cNvPr id="10" name="Shape 8"/>
          <p:cNvSpPr/>
          <p:nvPr/>
        </p:nvSpPr>
        <p:spPr>
          <a:xfrm>
            <a:off x="7882128" y="1737360"/>
            <a:ext cx="3502152" cy="1417320"/>
          </a:xfrm>
          <a:prstGeom prst="roundRect">
            <a:avLst>
              <a:gd name="adj" fmla="val 4516"/>
            </a:avLst>
          </a:prstGeom>
          <a:solidFill>
            <a:srgbClr val="1E2761"/>
          </a:solidFill>
          <a:ln/>
        </p:spPr>
      </p:sp>
      <p:sp>
        <p:nvSpPr>
          <p:cNvPr id="11" name="Text 9"/>
          <p:cNvSpPr/>
          <p:nvPr/>
        </p:nvSpPr>
        <p:spPr>
          <a:xfrm>
            <a:off x="8046720" y="1901952"/>
            <a:ext cx="3172968"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Deterrence</a:t>
            </a:r>
            <a:endParaRPr lang="en-US" sz="1300" dirty="0"/>
          </a:p>
        </p:txBody>
      </p:sp>
      <p:sp>
        <p:nvSpPr>
          <p:cNvPr id="12" name="Text 10"/>
          <p:cNvSpPr/>
          <p:nvPr/>
        </p:nvSpPr>
        <p:spPr>
          <a:xfrm>
            <a:off x="8046720" y="2240280"/>
            <a:ext cx="3172968" cy="777240"/>
          </a:xfrm>
          <a:prstGeom prst="rect">
            <a:avLst/>
          </a:prstGeom>
          <a:noFill/>
          <a:ln/>
        </p:spPr>
        <p:txBody>
          <a:bodyPr wrap="square" lIns="0" tIns="0" rIns="0" bIns="0" rtlCol="0" anchor="ctr"/>
          <a:lstStyle/>
          <a:p>
            <a:pPr marL="0" indent="0">
              <a:lnSpc>
                <a:spcPct val="122000"/>
              </a:lnSpc>
              <a:buNone/>
            </a:pPr>
            <a:r>
              <a:rPr lang="en-US" sz="1000" dirty="0">
                <a:solidFill>
                  <a:srgbClr val="CADCFC"/>
                </a:solidFill>
                <a:latin typeface="Calibri" pitchFamily="34" charset="0"/>
                <a:ea typeface="Calibri" pitchFamily="34" charset="-122"/>
                <a:cs typeface="Calibri" pitchFamily="34" charset="-120"/>
              </a:rPr>
              <a:t>Would-be bad actors can't rely on a low sampling probability — everything is checked.</a:t>
            </a:r>
            <a:endParaRPr lang="en-US" sz="1000" dirty="0"/>
          </a:p>
        </p:txBody>
      </p:sp>
      <p:sp>
        <p:nvSpPr>
          <p:cNvPr id="13" name="Shape 11"/>
          <p:cNvSpPr/>
          <p:nvPr/>
        </p:nvSpPr>
        <p:spPr>
          <a:xfrm>
            <a:off x="548640" y="3319272"/>
            <a:ext cx="3502152" cy="1417320"/>
          </a:xfrm>
          <a:prstGeom prst="roundRect">
            <a:avLst>
              <a:gd name="adj" fmla="val 4516"/>
            </a:avLst>
          </a:prstGeom>
          <a:solidFill>
            <a:srgbClr val="1E2761"/>
          </a:solidFill>
          <a:ln/>
        </p:spPr>
      </p:sp>
      <p:sp>
        <p:nvSpPr>
          <p:cNvPr id="14" name="Text 12"/>
          <p:cNvSpPr/>
          <p:nvPr/>
        </p:nvSpPr>
        <p:spPr>
          <a:xfrm>
            <a:off x="713232" y="3483864"/>
            <a:ext cx="3172968"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Audit cost curve</a:t>
            </a:r>
            <a:endParaRPr lang="en-US" sz="1300" dirty="0"/>
          </a:p>
        </p:txBody>
      </p:sp>
      <p:sp>
        <p:nvSpPr>
          <p:cNvPr id="15" name="Text 13"/>
          <p:cNvSpPr/>
          <p:nvPr/>
        </p:nvSpPr>
        <p:spPr>
          <a:xfrm>
            <a:off x="713232" y="3822192"/>
            <a:ext cx="3172968" cy="777240"/>
          </a:xfrm>
          <a:prstGeom prst="rect">
            <a:avLst/>
          </a:prstGeom>
          <a:noFill/>
          <a:ln/>
        </p:spPr>
        <p:txBody>
          <a:bodyPr wrap="square" lIns="0" tIns="0" rIns="0" bIns="0" rtlCol="0" anchor="ctr"/>
          <a:lstStyle/>
          <a:p>
            <a:pPr marL="0" indent="0">
              <a:lnSpc>
                <a:spcPct val="122000"/>
              </a:lnSpc>
              <a:buNone/>
            </a:pPr>
            <a:r>
              <a:rPr lang="en-US" sz="1000" dirty="0">
                <a:solidFill>
                  <a:srgbClr val="CADCFC"/>
                </a:solidFill>
                <a:latin typeface="Calibri" pitchFamily="34" charset="0"/>
                <a:ea typeface="Calibri" pitchFamily="34" charset="-122"/>
                <a:cs typeface="Calibri" pitchFamily="34" charset="-120"/>
              </a:rPr>
              <a:t>Marginal cost per transaction approaches zero; testing scope stops being headcount-bound.</a:t>
            </a:r>
            <a:endParaRPr lang="en-US" sz="1000" dirty="0"/>
          </a:p>
        </p:txBody>
      </p:sp>
      <p:sp>
        <p:nvSpPr>
          <p:cNvPr id="16" name="Shape 14"/>
          <p:cNvSpPr/>
          <p:nvPr/>
        </p:nvSpPr>
        <p:spPr>
          <a:xfrm>
            <a:off x="4215384" y="3319272"/>
            <a:ext cx="3502152" cy="1417320"/>
          </a:xfrm>
          <a:prstGeom prst="roundRect">
            <a:avLst>
              <a:gd name="adj" fmla="val 4516"/>
            </a:avLst>
          </a:prstGeom>
          <a:solidFill>
            <a:srgbClr val="1E2761"/>
          </a:solidFill>
          <a:ln/>
        </p:spPr>
      </p:sp>
      <p:sp>
        <p:nvSpPr>
          <p:cNvPr id="17" name="Text 15"/>
          <p:cNvSpPr/>
          <p:nvPr/>
        </p:nvSpPr>
        <p:spPr>
          <a:xfrm>
            <a:off x="4379976" y="3483864"/>
            <a:ext cx="3172968"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Evidence quality</a:t>
            </a:r>
            <a:endParaRPr lang="en-US" sz="1300" dirty="0"/>
          </a:p>
        </p:txBody>
      </p:sp>
      <p:sp>
        <p:nvSpPr>
          <p:cNvPr id="18" name="Text 16"/>
          <p:cNvSpPr/>
          <p:nvPr/>
        </p:nvSpPr>
        <p:spPr>
          <a:xfrm>
            <a:off x="4379976" y="3822192"/>
            <a:ext cx="3172968" cy="777240"/>
          </a:xfrm>
          <a:prstGeom prst="rect">
            <a:avLst/>
          </a:prstGeom>
          <a:noFill/>
          <a:ln/>
        </p:spPr>
        <p:txBody>
          <a:bodyPr wrap="square" lIns="0" tIns="0" rIns="0" bIns="0" rtlCol="0" anchor="ctr"/>
          <a:lstStyle/>
          <a:p>
            <a:pPr marL="0" indent="0">
              <a:lnSpc>
                <a:spcPct val="122000"/>
              </a:lnSpc>
              <a:buNone/>
            </a:pPr>
            <a:r>
              <a:rPr lang="en-US" sz="1000" dirty="0">
                <a:solidFill>
                  <a:srgbClr val="CADCFC"/>
                </a:solidFill>
                <a:latin typeface="Calibri" pitchFamily="34" charset="0"/>
                <a:ea typeface="Calibri" pitchFamily="34" charset="-122"/>
                <a:cs typeface="Calibri" pitchFamily="34" charset="-120"/>
              </a:rPr>
              <a:t>A documented, repeatable, systematic test of the full population is stronger audit evidence than a sample extrapolation.</a:t>
            </a:r>
            <a:endParaRPr lang="en-US" sz="1000" dirty="0"/>
          </a:p>
        </p:txBody>
      </p:sp>
      <p:sp>
        <p:nvSpPr>
          <p:cNvPr id="19" name="Shape 17"/>
          <p:cNvSpPr/>
          <p:nvPr/>
        </p:nvSpPr>
        <p:spPr>
          <a:xfrm>
            <a:off x="7882128" y="3319272"/>
            <a:ext cx="3502152" cy="1417320"/>
          </a:xfrm>
          <a:prstGeom prst="roundRect">
            <a:avLst>
              <a:gd name="adj" fmla="val 4516"/>
            </a:avLst>
          </a:prstGeom>
          <a:solidFill>
            <a:srgbClr val="1E2761"/>
          </a:solidFill>
          <a:ln/>
        </p:spPr>
      </p:sp>
      <p:sp>
        <p:nvSpPr>
          <p:cNvPr id="20" name="Text 18"/>
          <p:cNvSpPr/>
          <p:nvPr/>
        </p:nvSpPr>
        <p:spPr>
          <a:xfrm>
            <a:off x="8046720" y="3483864"/>
            <a:ext cx="3172968"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Auditor focus</a:t>
            </a:r>
            <a:endParaRPr lang="en-US" sz="1300" dirty="0"/>
          </a:p>
        </p:txBody>
      </p:sp>
      <p:sp>
        <p:nvSpPr>
          <p:cNvPr id="21" name="Text 19"/>
          <p:cNvSpPr/>
          <p:nvPr/>
        </p:nvSpPr>
        <p:spPr>
          <a:xfrm>
            <a:off x="8046720" y="3822192"/>
            <a:ext cx="3172968" cy="777240"/>
          </a:xfrm>
          <a:prstGeom prst="rect">
            <a:avLst/>
          </a:prstGeom>
          <a:noFill/>
          <a:ln/>
        </p:spPr>
        <p:txBody>
          <a:bodyPr wrap="square" lIns="0" tIns="0" rIns="0" bIns="0" rtlCol="0" anchor="ctr"/>
          <a:lstStyle/>
          <a:p>
            <a:pPr marL="0" indent="0">
              <a:lnSpc>
                <a:spcPct val="122000"/>
              </a:lnSpc>
              <a:buNone/>
            </a:pPr>
            <a:r>
              <a:rPr lang="en-US" sz="1000" dirty="0">
                <a:solidFill>
                  <a:srgbClr val="CADCFC"/>
                </a:solidFill>
                <a:latin typeface="Calibri" pitchFamily="34" charset="0"/>
                <a:ea typeface="Calibri" pitchFamily="34" charset="-122"/>
                <a:cs typeface="Calibri" pitchFamily="34" charset="-120"/>
              </a:rPr>
              <a:t>Staff spend time on judgment and investigation, not manually pulling and testing routine items.</a:t>
            </a:r>
            <a:endParaRPr lang="en-US" sz="1000" dirty="0"/>
          </a:p>
        </p:txBody>
      </p:sp>
      <p:sp>
        <p:nvSpPr>
          <p:cNvPr id="22" name="Text 20"/>
          <p:cNvSpPr/>
          <p:nvPr/>
        </p:nvSpPr>
        <p:spPr>
          <a:xfrm>
            <a:off x="548640" y="6510528"/>
            <a:ext cx="54864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Continuous Transaction Auditing</a:t>
            </a:r>
            <a:endParaRPr lang="en-US" sz="900" dirty="0"/>
          </a:p>
        </p:txBody>
      </p:sp>
      <p:sp>
        <p:nvSpPr>
          <p:cNvPr id="23" name="Text 21"/>
          <p:cNvSpPr/>
          <p:nvPr/>
        </p:nvSpPr>
        <p:spPr>
          <a:xfrm>
            <a:off x="11521440" y="6510528"/>
            <a:ext cx="4572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D03B3B"/>
                </a:solidFill>
                <a:latin typeface="Calibri" pitchFamily="34" charset="0"/>
                <a:ea typeface="Calibri" pitchFamily="34" charset="-122"/>
                <a:cs typeface="Calibri" pitchFamily="34" charset="-120"/>
              </a:rPr>
              <a:t>BEING HONEST ABOUT IT</a:t>
            </a:r>
            <a:endParaRPr lang="en-US" sz="1200" dirty="0"/>
          </a:p>
        </p:txBody>
      </p:sp>
      <p:sp>
        <p:nvSpPr>
          <p:cNvPr id="3" name="Text 1"/>
          <p:cNvSpPr/>
          <p:nvPr/>
        </p:nvSpPr>
        <p:spPr>
          <a:xfrm>
            <a:off x="548640" y="685800"/>
            <a:ext cx="10515600" cy="822960"/>
          </a:xfrm>
          <a:prstGeom prst="rect">
            <a:avLst/>
          </a:prstGeom>
          <a:noFill/>
          <a:ln/>
        </p:spPr>
        <p:txBody>
          <a:bodyPr wrap="square" lIns="0" tIns="0" rIns="0" bIns="0" rtlCol="0" anchor="ctr"/>
          <a:lstStyle/>
          <a:p>
            <a:pPr marL="0" indent="0" algn="l">
              <a:buNone/>
            </a:pPr>
            <a:r>
              <a:rPr lang="en-US" sz="3200" b="1" dirty="0">
                <a:solidFill>
                  <a:srgbClr val="1E2761"/>
                </a:solidFill>
                <a:latin typeface="Cambria" pitchFamily="34" charset="0"/>
                <a:ea typeface="Cambria" pitchFamily="34" charset="-122"/>
                <a:cs typeface="Cambria" pitchFamily="34" charset="-120"/>
              </a:rPr>
              <a:t>Risks and limitations</a:t>
            </a:r>
            <a:endParaRPr lang="en-US" sz="3200" dirty="0"/>
          </a:p>
        </p:txBody>
      </p:sp>
      <p:sp>
        <p:nvSpPr>
          <p:cNvPr id="4" name="Shape 2"/>
          <p:cNvSpPr/>
          <p:nvPr/>
        </p:nvSpPr>
        <p:spPr>
          <a:xfrm>
            <a:off x="548640" y="1719072"/>
            <a:ext cx="384048" cy="384048"/>
          </a:xfrm>
          <a:prstGeom prst="ellipse">
            <a:avLst/>
          </a:prstGeom>
          <a:solidFill>
            <a:srgbClr val="D03B3B"/>
          </a:solidFill>
          <a:ln/>
        </p:spPr>
      </p:sp>
      <p:sp>
        <p:nvSpPr>
          <p:cNvPr id="5" name="Text 3"/>
          <p:cNvSpPr/>
          <p:nvPr/>
        </p:nvSpPr>
        <p:spPr>
          <a:xfrm>
            <a:off x="548640" y="171907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1097280" y="1691640"/>
            <a:ext cx="2606040" cy="731520"/>
          </a:xfrm>
          <a:prstGeom prst="rect">
            <a:avLst/>
          </a:prstGeom>
          <a:noFill/>
          <a:ln/>
        </p:spPr>
        <p:txBody>
          <a:bodyPr wrap="square" lIns="0" tIns="0" rIns="0" bIns="0" rtlCol="0" anchor="t"/>
          <a:lstStyle/>
          <a:p>
            <a:pPr marL="0" indent="0">
              <a:lnSpc>
                <a:spcPct val="115000"/>
              </a:lnSpc>
              <a:buNone/>
            </a:pPr>
            <a:r>
              <a:rPr lang="en-US" sz="1300" b="1" dirty="0">
                <a:solidFill>
                  <a:srgbClr val="1E2761"/>
                </a:solidFill>
                <a:latin typeface="Calibri" pitchFamily="34" charset="0"/>
                <a:ea typeface="Calibri" pitchFamily="34" charset="-122"/>
                <a:cs typeface="Calibri" pitchFamily="34" charset="-120"/>
              </a:rPr>
              <a:t>Precision, not just recall</a:t>
            </a:r>
            <a:endParaRPr lang="en-US" sz="1300" dirty="0"/>
          </a:p>
        </p:txBody>
      </p:sp>
      <p:sp>
        <p:nvSpPr>
          <p:cNvPr id="7" name="Text 5"/>
          <p:cNvSpPr/>
          <p:nvPr/>
        </p:nvSpPr>
        <p:spPr>
          <a:xfrm>
            <a:off x="3794760" y="1691640"/>
            <a:ext cx="7452360" cy="731520"/>
          </a:xfrm>
          <a:prstGeom prst="rect">
            <a:avLst/>
          </a:prstGeom>
          <a:noFill/>
          <a:ln/>
        </p:spPr>
        <p:txBody>
          <a:bodyPr wrap="square" lIns="0" tIns="0" rIns="0" bIns="0" rtlCol="0" anchor="t"/>
          <a:lstStyle/>
          <a:p>
            <a:pPr marL="0" indent="0">
              <a:lnSpc>
                <a:spcPct val="125000"/>
              </a:lnSpc>
              <a:buNone/>
            </a:pPr>
            <a:r>
              <a:rPr lang="en-US" sz="1150" dirty="0">
                <a:solidFill>
                  <a:srgbClr val="1B1B1B"/>
                </a:solidFill>
                <a:latin typeface="Calibri" pitchFamily="34" charset="0"/>
                <a:ea typeface="Calibri" pitchFamily="34" charset="-122"/>
                <a:cs typeface="Calibri" pitchFamily="34" charset="-120"/>
              </a:rPr>
              <a:t>High recall means more false positives — today's demo flagged 13% of the population for 97% recall. Triage capacity has to be planned for, not assumed away.</a:t>
            </a:r>
            <a:endParaRPr lang="en-US" sz="1150" dirty="0"/>
          </a:p>
        </p:txBody>
      </p:sp>
      <p:sp>
        <p:nvSpPr>
          <p:cNvPr id="8" name="Shape 6"/>
          <p:cNvSpPr/>
          <p:nvPr/>
        </p:nvSpPr>
        <p:spPr>
          <a:xfrm>
            <a:off x="548640" y="2587752"/>
            <a:ext cx="384048" cy="384048"/>
          </a:xfrm>
          <a:prstGeom prst="ellipse">
            <a:avLst/>
          </a:prstGeom>
          <a:solidFill>
            <a:srgbClr val="D03B3B"/>
          </a:solidFill>
          <a:ln/>
        </p:spPr>
      </p:sp>
      <p:sp>
        <p:nvSpPr>
          <p:cNvPr id="9" name="Text 7"/>
          <p:cNvSpPr/>
          <p:nvPr/>
        </p:nvSpPr>
        <p:spPr>
          <a:xfrm>
            <a:off x="548640" y="258775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p:nvPr/>
        </p:nvSpPr>
        <p:spPr>
          <a:xfrm>
            <a:off x="1097280" y="2560320"/>
            <a:ext cx="2606040" cy="731520"/>
          </a:xfrm>
          <a:prstGeom prst="rect">
            <a:avLst/>
          </a:prstGeom>
          <a:noFill/>
          <a:ln/>
        </p:spPr>
        <p:txBody>
          <a:bodyPr wrap="square" lIns="0" tIns="0" rIns="0" bIns="0" rtlCol="0" anchor="t"/>
          <a:lstStyle/>
          <a:p>
            <a:pPr marL="0" indent="0">
              <a:lnSpc>
                <a:spcPct val="115000"/>
              </a:lnSpc>
              <a:buNone/>
            </a:pPr>
            <a:r>
              <a:rPr lang="en-US" sz="1300" b="1" dirty="0">
                <a:solidFill>
                  <a:srgbClr val="1E2761"/>
                </a:solidFill>
                <a:latin typeface="Calibri" pitchFamily="34" charset="0"/>
                <a:ea typeface="Calibri" pitchFamily="34" charset="-122"/>
                <a:cs typeface="Calibri" pitchFamily="34" charset="-120"/>
              </a:rPr>
              <a:t>Data quality dependency</a:t>
            </a:r>
            <a:endParaRPr lang="en-US" sz="1300" dirty="0"/>
          </a:p>
        </p:txBody>
      </p:sp>
      <p:sp>
        <p:nvSpPr>
          <p:cNvPr id="11" name="Text 9"/>
          <p:cNvSpPr/>
          <p:nvPr/>
        </p:nvSpPr>
        <p:spPr>
          <a:xfrm>
            <a:off x="3794760" y="2560320"/>
            <a:ext cx="7452360" cy="731520"/>
          </a:xfrm>
          <a:prstGeom prst="rect">
            <a:avLst/>
          </a:prstGeom>
          <a:noFill/>
          <a:ln/>
        </p:spPr>
        <p:txBody>
          <a:bodyPr wrap="square" lIns="0" tIns="0" rIns="0" bIns="0" rtlCol="0" anchor="t"/>
          <a:lstStyle/>
          <a:p>
            <a:pPr marL="0" indent="0">
              <a:lnSpc>
                <a:spcPct val="125000"/>
              </a:lnSpc>
              <a:buNone/>
            </a:pPr>
            <a:r>
              <a:rPr lang="en-US" sz="1150" dirty="0">
                <a:solidFill>
                  <a:srgbClr val="1B1B1B"/>
                </a:solidFill>
                <a:latin typeface="Calibri" pitchFamily="34" charset="0"/>
                <a:ea typeface="Calibri" pitchFamily="34" charset="-122"/>
                <a:cs typeface="Calibri" pitchFamily="34" charset="-120"/>
              </a:rPr>
              <a:t>Rules and models are only as good as the underlying ERP data. Garbage in, garbage flagged — or worse, garbage missed.</a:t>
            </a:r>
            <a:endParaRPr lang="en-US" sz="1150" dirty="0"/>
          </a:p>
        </p:txBody>
      </p:sp>
      <p:sp>
        <p:nvSpPr>
          <p:cNvPr id="12" name="Shape 10"/>
          <p:cNvSpPr/>
          <p:nvPr/>
        </p:nvSpPr>
        <p:spPr>
          <a:xfrm>
            <a:off x="548640" y="3456432"/>
            <a:ext cx="384048" cy="384048"/>
          </a:xfrm>
          <a:prstGeom prst="ellipse">
            <a:avLst/>
          </a:prstGeom>
          <a:solidFill>
            <a:srgbClr val="D03B3B"/>
          </a:solidFill>
          <a:ln/>
        </p:spPr>
      </p:sp>
      <p:sp>
        <p:nvSpPr>
          <p:cNvPr id="13" name="Text 11"/>
          <p:cNvSpPr/>
          <p:nvPr/>
        </p:nvSpPr>
        <p:spPr>
          <a:xfrm>
            <a:off x="548640" y="345643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1097280" y="3429000"/>
            <a:ext cx="2606040" cy="731520"/>
          </a:xfrm>
          <a:prstGeom prst="rect">
            <a:avLst/>
          </a:prstGeom>
          <a:noFill/>
          <a:ln/>
        </p:spPr>
        <p:txBody>
          <a:bodyPr wrap="square" lIns="0" tIns="0" rIns="0" bIns="0" rtlCol="0" anchor="t"/>
          <a:lstStyle/>
          <a:p>
            <a:pPr marL="0" indent="0">
              <a:lnSpc>
                <a:spcPct val="115000"/>
              </a:lnSpc>
              <a:buNone/>
            </a:pPr>
            <a:r>
              <a:rPr lang="en-US" sz="1300" b="1" dirty="0">
                <a:solidFill>
                  <a:srgbClr val="1E2761"/>
                </a:solidFill>
                <a:latin typeface="Calibri" pitchFamily="34" charset="0"/>
                <a:ea typeface="Calibri" pitchFamily="34" charset="-122"/>
                <a:cs typeface="Calibri" pitchFamily="34" charset="-120"/>
              </a:rPr>
              <a:t>Explainability of ML flags</a:t>
            </a:r>
            <a:endParaRPr lang="en-US" sz="1300" dirty="0"/>
          </a:p>
        </p:txBody>
      </p:sp>
      <p:sp>
        <p:nvSpPr>
          <p:cNvPr id="15" name="Text 13"/>
          <p:cNvSpPr/>
          <p:nvPr/>
        </p:nvSpPr>
        <p:spPr>
          <a:xfrm>
            <a:off x="3794760" y="3429000"/>
            <a:ext cx="7452360" cy="731520"/>
          </a:xfrm>
          <a:prstGeom prst="rect">
            <a:avLst/>
          </a:prstGeom>
          <a:noFill/>
          <a:ln/>
        </p:spPr>
        <p:txBody>
          <a:bodyPr wrap="square" lIns="0" tIns="0" rIns="0" bIns="0" rtlCol="0" anchor="t"/>
          <a:lstStyle/>
          <a:p>
            <a:pPr marL="0" indent="0">
              <a:lnSpc>
                <a:spcPct val="125000"/>
              </a:lnSpc>
              <a:buNone/>
            </a:pPr>
            <a:r>
              <a:rPr lang="en-US" sz="1150" dirty="0">
                <a:solidFill>
                  <a:srgbClr val="1B1B1B"/>
                </a:solidFill>
                <a:latin typeface="Calibri" pitchFamily="34" charset="0"/>
                <a:ea typeface="Calibri" pitchFamily="34" charset="-122"/>
                <a:cs typeface="Calibri" pitchFamily="34" charset="-120"/>
              </a:rPr>
              <a:t>A rule can be defended in a report; "the model said so" cannot. ML flags need documented rationale and human review before any action is taken.</a:t>
            </a:r>
            <a:endParaRPr lang="en-US" sz="1150" dirty="0"/>
          </a:p>
        </p:txBody>
      </p:sp>
      <p:sp>
        <p:nvSpPr>
          <p:cNvPr id="16" name="Shape 14"/>
          <p:cNvSpPr/>
          <p:nvPr/>
        </p:nvSpPr>
        <p:spPr>
          <a:xfrm>
            <a:off x="548640" y="4325112"/>
            <a:ext cx="384048" cy="384048"/>
          </a:xfrm>
          <a:prstGeom prst="ellipse">
            <a:avLst/>
          </a:prstGeom>
          <a:solidFill>
            <a:srgbClr val="D03B3B"/>
          </a:solidFill>
          <a:ln/>
        </p:spPr>
      </p:sp>
      <p:sp>
        <p:nvSpPr>
          <p:cNvPr id="17" name="Text 15"/>
          <p:cNvSpPr/>
          <p:nvPr/>
        </p:nvSpPr>
        <p:spPr>
          <a:xfrm>
            <a:off x="548640" y="432511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Text 16"/>
          <p:cNvSpPr/>
          <p:nvPr/>
        </p:nvSpPr>
        <p:spPr>
          <a:xfrm>
            <a:off x="1097280" y="4297680"/>
            <a:ext cx="2606040" cy="731520"/>
          </a:xfrm>
          <a:prstGeom prst="rect">
            <a:avLst/>
          </a:prstGeom>
          <a:noFill/>
          <a:ln/>
        </p:spPr>
        <p:txBody>
          <a:bodyPr wrap="square" lIns="0" tIns="0" rIns="0" bIns="0" rtlCol="0" anchor="t"/>
          <a:lstStyle/>
          <a:p>
            <a:pPr marL="0" indent="0">
              <a:lnSpc>
                <a:spcPct val="115000"/>
              </a:lnSpc>
              <a:buNone/>
            </a:pPr>
            <a:r>
              <a:rPr lang="en-US" sz="1300" b="1" dirty="0">
                <a:solidFill>
                  <a:srgbClr val="1E2761"/>
                </a:solidFill>
                <a:latin typeface="Calibri" pitchFamily="34" charset="0"/>
                <a:ea typeface="Calibri" pitchFamily="34" charset="-122"/>
                <a:cs typeface="Calibri" pitchFamily="34" charset="-120"/>
              </a:rPr>
              <a:t>Change management</a:t>
            </a:r>
            <a:endParaRPr lang="en-US" sz="1300" dirty="0"/>
          </a:p>
        </p:txBody>
      </p:sp>
      <p:sp>
        <p:nvSpPr>
          <p:cNvPr id="19" name="Text 17"/>
          <p:cNvSpPr/>
          <p:nvPr/>
        </p:nvSpPr>
        <p:spPr>
          <a:xfrm>
            <a:off x="3794760" y="4297680"/>
            <a:ext cx="7452360" cy="731520"/>
          </a:xfrm>
          <a:prstGeom prst="rect">
            <a:avLst/>
          </a:prstGeom>
          <a:noFill/>
          <a:ln/>
        </p:spPr>
        <p:txBody>
          <a:bodyPr wrap="square" lIns="0" tIns="0" rIns="0" bIns="0" rtlCol="0" anchor="t"/>
          <a:lstStyle/>
          <a:p>
            <a:pPr marL="0" indent="0">
              <a:lnSpc>
                <a:spcPct val="125000"/>
              </a:lnSpc>
              <a:buNone/>
            </a:pPr>
            <a:r>
              <a:rPr lang="en-US" sz="1150" dirty="0">
                <a:solidFill>
                  <a:srgbClr val="1B1B1B"/>
                </a:solidFill>
                <a:latin typeface="Calibri" pitchFamily="34" charset="0"/>
                <a:ea typeface="Calibri" pitchFamily="34" charset="-122"/>
                <a:cs typeface="Calibri" pitchFamily="34" charset="-120"/>
              </a:rPr>
              <a:t>This shifts audit staff from testing samples to triaging queues and investigating exceptions — a real skills and workflow change, not just a tooling change.</a:t>
            </a:r>
            <a:endParaRPr lang="en-US" sz="1150" dirty="0"/>
          </a:p>
        </p:txBody>
      </p:sp>
      <p:sp>
        <p:nvSpPr>
          <p:cNvPr id="20" name="Shape 18"/>
          <p:cNvSpPr/>
          <p:nvPr/>
        </p:nvSpPr>
        <p:spPr>
          <a:xfrm>
            <a:off x="548640" y="5193792"/>
            <a:ext cx="384048" cy="384048"/>
          </a:xfrm>
          <a:prstGeom prst="ellipse">
            <a:avLst/>
          </a:prstGeom>
          <a:solidFill>
            <a:srgbClr val="D03B3B"/>
          </a:solidFill>
          <a:ln/>
        </p:spPr>
      </p:sp>
      <p:sp>
        <p:nvSpPr>
          <p:cNvPr id="21" name="Text 19"/>
          <p:cNvSpPr/>
          <p:nvPr/>
        </p:nvSpPr>
        <p:spPr>
          <a:xfrm>
            <a:off x="548640" y="519379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2" name="Text 20"/>
          <p:cNvSpPr/>
          <p:nvPr/>
        </p:nvSpPr>
        <p:spPr>
          <a:xfrm>
            <a:off x="1097280" y="5166360"/>
            <a:ext cx="2606040" cy="731520"/>
          </a:xfrm>
          <a:prstGeom prst="rect">
            <a:avLst/>
          </a:prstGeom>
          <a:noFill/>
          <a:ln/>
        </p:spPr>
        <p:txBody>
          <a:bodyPr wrap="square" lIns="0" tIns="0" rIns="0" bIns="0" rtlCol="0" anchor="t"/>
          <a:lstStyle/>
          <a:p>
            <a:pPr marL="0" indent="0">
              <a:lnSpc>
                <a:spcPct val="115000"/>
              </a:lnSpc>
              <a:buNone/>
            </a:pPr>
            <a:r>
              <a:rPr lang="en-US" sz="1300" b="1" dirty="0">
                <a:solidFill>
                  <a:srgbClr val="1E2761"/>
                </a:solidFill>
                <a:latin typeface="Calibri" pitchFamily="34" charset="0"/>
                <a:ea typeface="Calibri" pitchFamily="34" charset="-122"/>
                <a:cs typeface="Calibri" pitchFamily="34" charset="-120"/>
              </a:rPr>
              <a:t>Not a replacement for judgment</a:t>
            </a:r>
            <a:endParaRPr lang="en-US" sz="1300" dirty="0"/>
          </a:p>
        </p:txBody>
      </p:sp>
      <p:sp>
        <p:nvSpPr>
          <p:cNvPr id="23" name="Text 21"/>
          <p:cNvSpPr/>
          <p:nvPr/>
        </p:nvSpPr>
        <p:spPr>
          <a:xfrm>
            <a:off x="3794760" y="5166360"/>
            <a:ext cx="7452360" cy="731520"/>
          </a:xfrm>
          <a:prstGeom prst="rect">
            <a:avLst/>
          </a:prstGeom>
          <a:noFill/>
          <a:ln/>
        </p:spPr>
        <p:txBody>
          <a:bodyPr wrap="square" lIns="0" tIns="0" rIns="0" bIns="0" rtlCol="0" anchor="t"/>
          <a:lstStyle/>
          <a:p>
            <a:pPr marL="0" indent="0">
              <a:lnSpc>
                <a:spcPct val="125000"/>
              </a:lnSpc>
              <a:buNone/>
            </a:pPr>
            <a:r>
              <a:rPr lang="en-US" sz="1150" dirty="0">
                <a:solidFill>
                  <a:srgbClr val="1B1B1B"/>
                </a:solidFill>
                <a:latin typeface="Calibri" pitchFamily="34" charset="0"/>
                <a:ea typeface="Calibri" pitchFamily="34" charset="-122"/>
                <a:cs typeface="Calibri" pitchFamily="34" charset="-120"/>
              </a:rPr>
              <a:t>CTA surfaces candidates for review. It does not issue an audit opinion, and it does not replace controls testing or substantive procedures where those remain required.</a:t>
            </a:r>
            <a:endParaRPr lang="en-US" sz="1150" dirty="0"/>
          </a:p>
        </p:txBody>
      </p:sp>
      <p:sp>
        <p:nvSpPr>
          <p:cNvPr id="24" name="Text 22"/>
          <p:cNvSpPr/>
          <p:nvPr/>
        </p:nvSpPr>
        <p:spPr>
          <a:xfrm>
            <a:off x="548640" y="6510528"/>
            <a:ext cx="54864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Continuous Transaction Auditing</a:t>
            </a:r>
            <a:endParaRPr lang="en-US" sz="900" dirty="0"/>
          </a:p>
        </p:txBody>
      </p:sp>
      <p:sp>
        <p:nvSpPr>
          <p:cNvPr id="25" name="Text 23"/>
          <p:cNvSpPr/>
          <p:nvPr/>
        </p:nvSpPr>
        <p:spPr>
          <a:xfrm>
            <a:off x="11521440" y="6510528"/>
            <a:ext cx="4572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D03B3B"/>
                </a:solidFill>
                <a:latin typeface="Calibri" pitchFamily="34" charset="0"/>
                <a:ea typeface="Calibri" pitchFamily="34" charset="-122"/>
                <a:cs typeface="Calibri" pitchFamily="34" charset="-120"/>
              </a:rPr>
              <a:t>GETTING STARTED</a:t>
            </a:r>
            <a:endParaRPr lang="en-US" sz="1200" dirty="0"/>
          </a:p>
        </p:txBody>
      </p:sp>
      <p:sp>
        <p:nvSpPr>
          <p:cNvPr id="3" name="Text 1"/>
          <p:cNvSpPr/>
          <p:nvPr/>
        </p:nvSpPr>
        <p:spPr>
          <a:xfrm>
            <a:off x="548640" y="685800"/>
            <a:ext cx="10515600" cy="822960"/>
          </a:xfrm>
          <a:prstGeom prst="rect">
            <a:avLst/>
          </a:prstGeom>
          <a:noFill/>
          <a:ln/>
        </p:spPr>
        <p:txBody>
          <a:bodyPr wrap="square" lIns="0" tIns="0" rIns="0" bIns="0" rtlCol="0" anchor="ctr"/>
          <a:lstStyle/>
          <a:p>
            <a:pPr marL="0" indent="0" algn="l">
              <a:buNone/>
            </a:pPr>
            <a:r>
              <a:rPr lang="en-US" sz="3200" b="1" dirty="0">
                <a:solidFill>
                  <a:srgbClr val="1E2761"/>
                </a:solidFill>
                <a:latin typeface="Cambria" pitchFamily="34" charset="0"/>
                <a:ea typeface="Cambria" pitchFamily="34" charset="-122"/>
                <a:cs typeface="Cambria" pitchFamily="34" charset="-120"/>
              </a:rPr>
              <a:t>A realistic path to pilot</a:t>
            </a:r>
            <a:endParaRPr lang="en-US" sz="3200" dirty="0"/>
          </a:p>
        </p:txBody>
      </p:sp>
      <p:sp>
        <p:nvSpPr>
          <p:cNvPr id="4" name="Shape 2"/>
          <p:cNvSpPr/>
          <p:nvPr/>
        </p:nvSpPr>
        <p:spPr>
          <a:xfrm>
            <a:off x="548640" y="1783080"/>
            <a:ext cx="1554480" cy="777240"/>
          </a:xfrm>
          <a:prstGeom prst="roundRect">
            <a:avLst>
              <a:gd name="adj" fmla="val 7059"/>
            </a:avLst>
          </a:prstGeom>
          <a:solidFill>
            <a:srgbClr val="F4F6FB"/>
          </a:solidFill>
          <a:ln/>
        </p:spPr>
      </p:sp>
      <p:sp>
        <p:nvSpPr>
          <p:cNvPr id="5" name="Text 3"/>
          <p:cNvSpPr/>
          <p:nvPr/>
        </p:nvSpPr>
        <p:spPr>
          <a:xfrm>
            <a:off x="548640" y="1783080"/>
            <a:ext cx="1554480" cy="777240"/>
          </a:xfrm>
          <a:prstGeom prst="rect">
            <a:avLst/>
          </a:prstGeom>
          <a:noFill/>
          <a:ln/>
        </p:spPr>
        <p:txBody>
          <a:bodyPr wrap="square" lIns="0" tIns="0" rIns="0" bIns="0" rtlCol="0" anchor="ctr"/>
          <a:lstStyle/>
          <a:p>
            <a:pPr marL="0" indent="0" algn="ctr">
              <a:buNone/>
            </a:pPr>
            <a:r>
              <a:rPr lang="en-US" sz="1150" b="1" dirty="0">
                <a:solidFill>
                  <a:srgbClr val="1E2761"/>
                </a:solidFill>
                <a:latin typeface="Calibri" pitchFamily="34" charset="0"/>
                <a:ea typeface="Calibri" pitchFamily="34" charset="-122"/>
                <a:cs typeface="Calibri" pitchFamily="34" charset="-120"/>
              </a:rPr>
              <a:t>Weeks 1–2</a:t>
            </a:r>
            <a:endParaRPr lang="en-US" sz="1150" dirty="0"/>
          </a:p>
        </p:txBody>
      </p:sp>
      <p:sp>
        <p:nvSpPr>
          <p:cNvPr id="6" name="Text 4"/>
          <p:cNvSpPr/>
          <p:nvPr/>
        </p:nvSpPr>
        <p:spPr>
          <a:xfrm>
            <a:off x="2331720" y="1801368"/>
            <a:ext cx="2743200" cy="365760"/>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Pick one process</a:t>
            </a:r>
            <a:endParaRPr lang="en-US" sz="1350" dirty="0"/>
          </a:p>
        </p:txBody>
      </p:sp>
      <p:sp>
        <p:nvSpPr>
          <p:cNvPr id="7" name="Text 5"/>
          <p:cNvSpPr/>
          <p:nvPr/>
        </p:nvSpPr>
        <p:spPr>
          <a:xfrm>
            <a:off x="2331720" y="2148840"/>
            <a:ext cx="9052560" cy="411480"/>
          </a:xfrm>
          <a:prstGeom prst="rect">
            <a:avLst/>
          </a:prstGeom>
          <a:noFill/>
          <a:ln/>
        </p:spPr>
        <p:txBody>
          <a:bodyPr wrap="square" lIns="0" tIns="0" rIns="0" bIns="0" rtlCol="0" anchor="ctr"/>
          <a:lstStyle/>
          <a:p>
            <a:pPr marL="0" indent="0">
              <a:lnSpc>
                <a:spcPct val="120000"/>
              </a:lnSpc>
              <a:buNone/>
            </a:pPr>
            <a:r>
              <a:rPr lang="en-US" sz="1150" dirty="0">
                <a:solidFill>
                  <a:srgbClr val="6B7280"/>
                </a:solidFill>
                <a:latin typeface="Calibri" pitchFamily="34" charset="0"/>
                <a:ea typeface="Calibri" pitchFamily="34" charset="-122"/>
                <a:cs typeface="Calibri" pitchFamily="34" charset="-120"/>
              </a:rPr>
              <a:t>Start with accounts payable or T&amp;E — high volume, well-understood risks, clear data.</a:t>
            </a:r>
            <a:endParaRPr lang="en-US" sz="1150" dirty="0"/>
          </a:p>
        </p:txBody>
      </p:sp>
      <p:sp>
        <p:nvSpPr>
          <p:cNvPr id="8" name="Shape 6"/>
          <p:cNvSpPr/>
          <p:nvPr/>
        </p:nvSpPr>
        <p:spPr>
          <a:xfrm>
            <a:off x="548640" y="2651760"/>
            <a:ext cx="10698480" cy="0"/>
          </a:xfrm>
          <a:prstGeom prst="line">
            <a:avLst/>
          </a:prstGeom>
          <a:noFill/>
          <a:ln w="12700">
            <a:solidFill>
              <a:srgbClr val="E1E0D9"/>
            </a:solidFill>
            <a:prstDash val="solid"/>
          </a:ln>
        </p:spPr>
      </p:sp>
      <p:sp>
        <p:nvSpPr>
          <p:cNvPr id="9" name="Shape 7"/>
          <p:cNvSpPr/>
          <p:nvPr/>
        </p:nvSpPr>
        <p:spPr>
          <a:xfrm>
            <a:off x="548640" y="2715768"/>
            <a:ext cx="1554480" cy="777240"/>
          </a:xfrm>
          <a:prstGeom prst="roundRect">
            <a:avLst>
              <a:gd name="adj" fmla="val 7059"/>
            </a:avLst>
          </a:prstGeom>
          <a:solidFill>
            <a:srgbClr val="F4F6FB"/>
          </a:solidFill>
          <a:ln/>
        </p:spPr>
      </p:sp>
      <p:sp>
        <p:nvSpPr>
          <p:cNvPr id="10" name="Text 8"/>
          <p:cNvSpPr/>
          <p:nvPr/>
        </p:nvSpPr>
        <p:spPr>
          <a:xfrm>
            <a:off x="548640" y="2715768"/>
            <a:ext cx="1554480" cy="777240"/>
          </a:xfrm>
          <a:prstGeom prst="rect">
            <a:avLst/>
          </a:prstGeom>
          <a:noFill/>
          <a:ln/>
        </p:spPr>
        <p:txBody>
          <a:bodyPr wrap="square" lIns="0" tIns="0" rIns="0" bIns="0" rtlCol="0" anchor="ctr"/>
          <a:lstStyle/>
          <a:p>
            <a:pPr marL="0" indent="0" algn="ctr">
              <a:buNone/>
            </a:pPr>
            <a:r>
              <a:rPr lang="en-US" sz="1150" b="1" dirty="0">
                <a:solidFill>
                  <a:srgbClr val="1E2761"/>
                </a:solidFill>
                <a:latin typeface="Calibri" pitchFamily="34" charset="0"/>
                <a:ea typeface="Calibri" pitchFamily="34" charset="-122"/>
                <a:cs typeface="Calibri" pitchFamily="34" charset="-120"/>
              </a:rPr>
              <a:t>Weeks 3–4</a:t>
            </a:r>
            <a:endParaRPr lang="en-US" sz="1150" dirty="0"/>
          </a:p>
        </p:txBody>
      </p:sp>
      <p:sp>
        <p:nvSpPr>
          <p:cNvPr id="11" name="Text 9"/>
          <p:cNvSpPr/>
          <p:nvPr/>
        </p:nvSpPr>
        <p:spPr>
          <a:xfrm>
            <a:off x="2331720" y="2734056"/>
            <a:ext cx="2743200" cy="365760"/>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Stand up rule layer</a:t>
            </a:r>
            <a:endParaRPr lang="en-US" sz="1350" dirty="0"/>
          </a:p>
        </p:txBody>
      </p:sp>
      <p:sp>
        <p:nvSpPr>
          <p:cNvPr id="12" name="Text 10"/>
          <p:cNvSpPr/>
          <p:nvPr/>
        </p:nvSpPr>
        <p:spPr>
          <a:xfrm>
            <a:off x="2331720" y="3081528"/>
            <a:ext cx="9052560" cy="411480"/>
          </a:xfrm>
          <a:prstGeom prst="rect">
            <a:avLst/>
          </a:prstGeom>
          <a:noFill/>
          <a:ln/>
        </p:spPr>
        <p:txBody>
          <a:bodyPr wrap="square" lIns="0" tIns="0" rIns="0" bIns="0" rtlCol="0" anchor="ctr"/>
          <a:lstStyle/>
          <a:p>
            <a:pPr marL="0" indent="0">
              <a:lnSpc>
                <a:spcPct val="120000"/>
              </a:lnSpc>
              <a:buNone/>
            </a:pPr>
            <a:r>
              <a:rPr lang="en-US" sz="1150" dirty="0">
                <a:solidFill>
                  <a:srgbClr val="6B7280"/>
                </a:solidFill>
                <a:latin typeface="Calibri" pitchFamily="34" charset="0"/>
                <a:ea typeface="Calibri" pitchFamily="34" charset="-122"/>
                <a:cs typeface="Calibri" pitchFamily="34" charset="-120"/>
              </a:rPr>
              <a:t>Encode the checks your team already does manually: duplicates, thresholds, timing, Benford's Law.</a:t>
            </a:r>
            <a:endParaRPr lang="en-US" sz="1150" dirty="0"/>
          </a:p>
        </p:txBody>
      </p:sp>
      <p:sp>
        <p:nvSpPr>
          <p:cNvPr id="13" name="Shape 11"/>
          <p:cNvSpPr/>
          <p:nvPr/>
        </p:nvSpPr>
        <p:spPr>
          <a:xfrm>
            <a:off x="548640" y="3584448"/>
            <a:ext cx="10698480" cy="0"/>
          </a:xfrm>
          <a:prstGeom prst="line">
            <a:avLst/>
          </a:prstGeom>
          <a:noFill/>
          <a:ln w="12700">
            <a:solidFill>
              <a:srgbClr val="E1E0D9"/>
            </a:solidFill>
            <a:prstDash val="solid"/>
          </a:ln>
        </p:spPr>
      </p:sp>
      <p:sp>
        <p:nvSpPr>
          <p:cNvPr id="14" name="Shape 12"/>
          <p:cNvSpPr/>
          <p:nvPr/>
        </p:nvSpPr>
        <p:spPr>
          <a:xfrm>
            <a:off x="548640" y="3648456"/>
            <a:ext cx="1554480" cy="777240"/>
          </a:xfrm>
          <a:prstGeom prst="roundRect">
            <a:avLst>
              <a:gd name="adj" fmla="val 7059"/>
            </a:avLst>
          </a:prstGeom>
          <a:solidFill>
            <a:srgbClr val="F4F6FB"/>
          </a:solidFill>
          <a:ln/>
        </p:spPr>
      </p:sp>
      <p:sp>
        <p:nvSpPr>
          <p:cNvPr id="15" name="Text 13"/>
          <p:cNvSpPr/>
          <p:nvPr/>
        </p:nvSpPr>
        <p:spPr>
          <a:xfrm>
            <a:off x="548640" y="3648456"/>
            <a:ext cx="1554480" cy="777240"/>
          </a:xfrm>
          <a:prstGeom prst="rect">
            <a:avLst/>
          </a:prstGeom>
          <a:noFill/>
          <a:ln/>
        </p:spPr>
        <p:txBody>
          <a:bodyPr wrap="square" lIns="0" tIns="0" rIns="0" bIns="0" rtlCol="0" anchor="ctr"/>
          <a:lstStyle/>
          <a:p>
            <a:pPr marL="0" indent="0" algn="ctr">
              <a:buNone/>
            </a:pPr>
            <a:r>
              <a:rPr lang="en-US" sz="1150" b="1" dirty="0">
                <a:solidFill>
                  <a:srgbClr val="1E2761"/>
                </a:solidFill>
                <a:latin typeface="Calibri" pitchFamily="34" charset="0"/>
                <a:ea typeface="Calibri" pitchFamily="34" charset="-122"/>
                <a:cs typeface="Calibri" pitchFamily="34" charset="-120"/>
              </a:rPr>
              <a:t>Weeks 5–8</a:t>
            </a:r>
            <a:endParaRPr lang="en-US" sz="1150" dirty="0"/>
          </a:p>
        </p:txBody>
      </p:sp>
      <p:sp>
        <p:nvSpPr>
          <p:cNvPr id="16" name="Text 14"/>
          <p:cNvSpPr/>
          <p:nvPr/>
        </p:nvSpPr>
        <p:spPr>
          <a:xfrm>
            <a:off x="2331720" y="3666744"/>
            <a:ext cx="2743200" cy="365760"/>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Add the ML layer</a:t>
            </a:r>
            <a:endParaRPr lang="en-US" sz="1350" dirty="0"/>
          </a:p>
        </p:txBody>
      </p:sp>
      <p:sp>
        <p:nvSpPr>
          <p:cNvPr id="17" name="Text 15"/>
          <p:cNvSpPr/>
          <p:nvPr/>
        </p:nvSpPr>
        <p:spPr>
          <a:xfrm>
            <a:off x="2331720" y="4014216"/>
            <a:ext cx="9052560" cy="411480"/>
          </a:xfrm>
          <a:prstGeom prst="rect">
            <a:avLst/>
          </a:prstGeom>
          <a:noFill/>
          <a:ln/>
        </p:spPr>
        <p:txBody>
          <a:bodyPr wrap="square" lIns="0" tIns="0" rIns="0" bIns="0" rtlCol="0" anchor="ctr"/>
          <a:lstStyle/>
          <a:p>
            <a:pPr marL="0" indent="0">
              <a:lnSpc>
                <a:spcPct val="120000"/>
              </a:lnSpc>
              <a:buNone/>
            </a:pPr>
            <a:r>
              <a:rPr lang="en-US" sz="1150" dirty="0">
                <a:solidFill>
                  <a:srgbClr val="6B7280"/>
                </a:solidFill>
                <a:latin typeface="Calibri" pitchFamily="34" charset="0"/>
                <a:ea typeface="Calibri" pitchFamily="34" charset="-122"/>
                <a:cs typeface="Calibri" pitchFamily="34" charset="-120"/>
              </a:rPr>
              <a:t>Once rules run cleanly, layer in an unsupervised model and calibrate contamination against your real base rate.</a:t>
            </a:r>
            <a:endParaRPr lang="en-US" sz="1150" dirty="0"/>
          </a:p>
        </p:txBody>
      </p:sp>
      <p:sp>
        <p:nvSpPr>
          <p:cNvPr id="18" name="Shape 16"/>
          <p:cNvSpPr/>
          <p:nvPr/>
        </p:nvSpPr>
        <p:spPr>
          <a:xfrm>
            <a:off x="548640" y="4517136"/>
            <a:ext cx="10698480" cy="0"/>
          </a:xfrm>
          <a:prstGeom prst="line">
            <a:avLst/>
          </a:prstGeom>
          <a:noFill/>
          <a:ln w="12700">
            <a:solidFill>
              <a:srgbClr val="E1E0D9"/>
            </a:solidFill>
            <a:prstDash val="solid"/>
          </a:ln>
        </p:spPr>
      </p:sp>
      <p:sp>
        <p:nvSpPr>
          <p:cNvPr id="19" name="Shape 17"/>
          <p:cNvSpPr/>
          <p:nvPr/>
        </p:nvSpPr>
        <p:spPr>
          <a:xfrm>
            <a:off x="548640" y="4581144"/>
            <a:ext cx="1554480" cy="777240"/>
          </a:xfrm>
          <a:prstGeom prst="roundRect">
            <a:avLst>
              <a:gd name="adj" fmla="val 7059"/>
            </a:avLst>
          </a:prstGeom>
          <a:solidFill>
            <a:srgbClr val="F4F6FB"/>
          </a:solidFill>
          <a:ln/>
        </p:spPr>
      </p:sp>
      <p:sp>
        <p:nvSpPr>
          <p:cNvPr id="20" name="Text 18"/>
          <p:cNvSpPr/>
          <p:nvPr/>
        </p:nvSpPr>
        <p:spPr>
          <a:xfrm>
            <a:off x="548640" y="4581144"/>
            <a:ext cx="1554480" cy="777240"/>
          </a:xfrm>
          <a:prstGeom prst="rect">
            <a:avLst/>
          </a:prstGeom>
          <a:noFill/>
          <a:ln/>
        </p:spPr>
        <p:txBody>
          <a:bodyPr wrap="square" lIns="0" tIns="0" rIns="0" bIns="0" rtlCol="0" anchor="ctr"/>
          <a:lstStyle/>
          <a:p>
            <a:pPr marL="0" indent="0" algn="ctr">
              <a:buNone/>
            </a:pPr>
            <a:r>
              <a:rPr lang="en-US" sz="1150" b="1" dirty="0">
                <a:solidFill>
                  <a:srgbClr val="1E2761"/>
                </a:solidFill>
                <a:latin typeface="Calibri" pitchFamily="34" charset="0"/>
                <a:ea typeface="Calibri" pitchFamily="34" charset="-122"/>
                <a:cs typeface="Calibri" pitchFamily="34" charset="-120"/>
              </a:rPr>
              <a:t>Weeks 9–12</a:t>
            </a:r>
            <a:endParaRPr lang="en-US" sz="1150" dirty="0"/>
          </a:p>
        </p:txBody>
      </p:sp>
      <p:sp>
        <p:nvSpPr>
          <p:cNvPr id="21" name="Text 19"/>
          <p:cNvSpPr/>
          <p:nvPr/>
        </p:nvSpPr>
        <p:spPr>
          <a:xfrm>
            <a:off x="2331720" y="4599432"/>
            <a:ext cx="2743200" cy="365760"/>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Pilot triage workflow</a:t>
            </a:r>
            <a:endParaRPr lang="en-US" sz="1350" dirty="0"/>
          </a:p>
        </p:txBody>
      </p:sp>
      <p:sp>
        <p:nvSpPr>
          <p:cNvPr id="22" name="Text 20"/>
          <p:cNvSpPr/>
          <p:nvPr/>
        </p:nvSpPr>
        <p:spPr>
          <a:xfrm>
            <a:off x="2331720" y="4946904"/>
            <a:ext cx="9052560" cy="411480"/>
          </a:xfrm>
          <a:prstGeom prst="rect">
            <a:avLst/>
          </a:prstGeom>
          <a:noFill/>
          <a:ln/>
        </p:spPr>
        <p:txBody>
          <a:bodyPr wrap="square" lIns="0" tIns="0" rIns="0" bIns="0" rtlCol="0" anchor="ctr"/>
          <a:lstStyle/>
          <a:p>
            <a:pPr marL="0" indent="0">
              <a:lnSpc>
                <a:spcPct val="120000"/>
              </a:lnSpc>
              <a:buNone/>
            </a:pPr>
            <a:r>
              <a:rPr lang="en-US" sz="1150" dirty="0">
                <a:solidFill>
                  <a:srgbClr val="6B7280"/>
                </a:solidFill>
                <a:latin typeface="Calibri" pitchFamily="34" charset="0"/>
                <a:ea typeface="Calibri" pitchFamily="34" charset="-122"/>
                <a:cs typeface="Calibri" pitchFamily="34" charset="-120"/>
              </a:rPr>
              <a:t>Route flags to a small reviewer group, track disposition, tune thresholds against false-positive feedback.</a:t>
            </a:r>
            <a:endParaRPr lang="en-US" sz="1150" dirty="0"/>
          </a:p>
        </p:txBody>
      </p:sp>
      <p:sp>
        <p:nvSpPr>
          <p:cNvPr id="23" name="Shape 21"/>
          <p:cNvSpPr/>
          <p:nvPr/>
        </p:nvSpPr>
        <p:spPr>
          <a:xfrm>
            <a:off x="548640" y="5449824"/>
            <a:ext cx="10698480" cy="0"/>
          </a:xfrm>
          <a:prstGeom prst="line">
            <a:avLst/>
          </a:prstGeom>
          <a:noFill/>
          <a:ln w="12700">
            <a:solidFill>
              <a:srgbClr val="E1E0D9"/>
            </a:solidFill>
            <a:prstDash val="solid"/>
          </a:ln>
        </p:spPr>
      </p:sp>
      <p:sp>
        <p:nvSpPr>
          <p:cNvPr id="24" name="Shape 22"/>
          <p:cNvSpPr/>
          <p:nvPr/>
        </p:nvSpPr>
        <p:spPr>
          <a:xfrm>
            <a:off x="548640" y="5513832"/>
            <a:ext cx="1554480" cy="777240"/>
          </a:xfrm>
          <a:prstGeom prst="roundRect">
            <a:avLst>
              <a:gd name="adj" fmla="val 7059"/>
            </a:avLst>
          </a:prstGeom>
          <a:solidFill>
            <a:srgbClr val="F4F6FB"/>
          </a:solidFill>
          <a:ln/>
        </p:spPr>
      </p:sp>
      <p:sp>
        <p:nvSpPr>
          <p:cNvPr id="25" name="Text 23"/>
          <p:cNvSpPr/>
          <p:nvPr/>
        </p:nvSpPr>
        <p:spPr>
          <a:xfrm>
            <a:off x="548640" y="5513832"/>
            <a:ext cx="1554480" cy="777240"/>
          </a:xfrm>
          <a:prstGeom prst="rect">
            <a:avLst/>
          </a:prstGeom>
          <a:noFill/>
          <a:ln/>
        </p:spPr>
        <p:txBody>
          <a:bodyPr wrap="square" lIns="0" tIns="0" rIns="0" bIns="0" rtlCol="0" anchor="ctr"/>
          <a:lstStyle/>
          <a:p>
            <a:pPr marL="0" indent="0" algn="ctr">
              <a:buNone/>
            </a:pPr>
            <a:r>
              <a:rPr lang="en-US" sz="1150" b="1" dirty="0">
                <a:solidFill>
                  <a:srgbClr val="1E2761"/>
                </a:solidFill>
                <a:latin typeface="Calibri" pitchFamily="34" charset="0"/>
                <a:ea typeface="Calibri" pitchFamily="34" charset="-122"/>
                <a:cs typeface="Calibri" pitchFamily="34" charset="-120"/>
              </a:rPr>
              <a:t>Ongoing</a:t>
            </a:r>
            <a:endParaRPr lang="en-US" sz="1150" dirty="0"/>
          </a:p>
        </p:txBody>
      </p:sp>
      <p:sp>
        <p:nvSpPr>
          <p:cNvPr id="26" name="Text 24"/>
          <p:cNvSpPr/>
          <p:nvPr/>
        </p:nvSpPr>
        <p:spPr>
          <a:xfrm>
            <a:off x="2331720" y="5532120"/>
            <a:ext cx="2743200" cy="365760"/>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Expand scope</a:t>
            </a:r>
            <a:endParaRPr lang="en-US" sz="1350" dirty="0"/>
          </a:p>
        </p:txBody>
      </p:sp>
      <p:sp>
        <p:nvSpPr>
          <p:cNvPr id="27" name="Text 25"/>
          <p:cNvSpPr/>
          <p:nvPr/>
        </p:nvSpPr>
        <p:spPr>
          <a:xfrm>
            <a:off x="2331720" y="5879592"/>
            <a:ext cx="9052560" cy="411480"/>
          </a:xfrm>
          <a:prstGeom prst="rect">
            <a:avLst/>
          </a:prstGeom>
          <a:noFill/>
          <a:ln/>
        </p:spPr>
        <p:txBody>
          <a:bodyPr wrap="square" lIns="0" tIns="0" rIns="0" bIns="0" rtlCol="0" anchor="ctr"/>
          <a:lstStyle/>
          <a:p>
            <a:pPr marL="0" indent="0">
              <a:lnSpc>
                <a:spcPct val="120000"/>
              </a:lnSpc>
              <a:buNone/>
            </a:pPr>
            <a:r>
              <a:rPr lang="en-US" sz="1150" dirty="0">
                <a:solidFill>
                  <a:srgbClr val="6B7280"/>
                </a:solidFill>
                <a:latin typeface="Calibri" pitchFamily="34" charset="0"/>
                <a:ea typeface="Calibri" pitchFamily="34" charset="-122"/>
                <a:cs typeface="Calibri" pitchFamily="34" charset="-120"/>
              </a:rPr>
              <a:t>Extend to additional processes and business units once the pilot's precision/recall trade-off is proven out.</a:t>
            </a:r>
            <a:endParaRPr lang="en-US" sz="1150" dirty="0"/>
          </a:p>
        </p:txBody>
      </p:sp>
      <p:sp>
        <p:nvSpPr>
          <p:cNvPr id="28" name="Text 26"/>
          <p:cNvSpPr/>
          <p:nvPr/>
        </p:nvSpPr>
        <p:spPr>
          <a:xfrm>
            <a:off x="548640" y="6510528"/>
            <a:ext cx="54864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Continuous Transaction Auditing</a:t>
            </a:r>
            <a:endParaRPr lang="en-US" sz="900" dirty="0"/>
          </a:p>
        </p:txBody>
      </p:sp>
      <p:sp>
        <p:nvSpPr>
          <p:cNvPr id="29" name="Text 27"/>
          <p:cNvSpPr/>
          <p:nvPr/>
        </p:nvSpPr>
        <p:spPr>
          <a:xfrm>
            <a:off x="11521440" y="6510528"/>
            <a:ext cx="4572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D03B3B"/>
                </a:solidFill>
                <a:latin typeface="Calibri" pitchFamily="34" charset="0"/>
                <a:ea typeface="Calibri" pitchFamily="34" charset="-122"/>
                <a:cs typeface="Calibri" pitchFamily="34" charset="-120"/>
              </a:rPr>
              <a:t>WRAP-UP</a:t>
            </a:r>
            <a:endParaRPr lang="en-US" sz="1200" dirty="0"/>
          </a:p>
        </p:txBody>
      </p:sp>
      <p:sp>
        <p:nvSpPr>
          <p:cNvPr id="3" name="Text 1"/>
          <p:cNvSpPr/>
          <p:nvPr/>
        </p:nvSpPr>
        <p:spPr>
          <a:xfrm>
            <a:off x="548640" y="685800"/>
            <a:ext cx="10515600" cy="822960"/>
          </a:xfrm>
          <a:prstGeom prst="rect">
            <a:avLst/>
          </a:prstGeom>
          <a:noFill/>
          <a:ln/>
        </p:spPr>
        <p:txBody>
          <a:bodyPr wrap="square" lIns="0" tIns="0" rIns="0" bIns="0" rtlCol="0" anchor="ctr"/>
          <a:lstStyle/>
          <a:p>
            <a:pPr marL="0" indent="0" algn="l">
              <a:buNone/>
            </a:pPr>
            <a:r>
              <a:rPr lang="en-US" sz="3200" b="1" dirty="0">
                <a:solidFill>
                  <a:srgbClr val="1E2761"/>
                </a:solidFill>
                <a:latin typeface="Cambria" pitchFamily="34" charset="0"/>
                <a:ea typeface="Cambria" pitchFamily="34" charset="-122"/>
                <a:cs typeface="Cambria" pitchFamily="34" charset="-120"/>
              </a:rPr>
              <a:t>Key takeaways</a:t>
            </a:r>
            <a:endParaRPr lang="en-US" sz="3200" dirty="0"/>
          </a:p>
        </p:txBody>
      </p:sp>
      <p:sp>
        <p:nvSpPr>
          <p:cNvPr id="4" name="Shape 2"/>
          <p:cNvSpPr/>
          <p:nvPr/>
        </p:nvSpPr>
        <p:spPr>
          <a:xfrm>
            <a:off x="548640" y="1783080"/>
            <a:ext cx="457200" cy="457200"/>
          </a:xfrm>
          <a:prstGeom prst="ellipse">
            <a:avLst/>
          </a:prstGeom>
          <a:solidFill>
            <a:srgbClr val="1E2761"/>
          </a:solidFill>
          <a:ln/>
        </p:spPr>
      </p:sp>
      <p:sp>
        <p:nvSpPr>
          <p:cNvPr id="5" name="Text 3"/>
          <p:cNvSpPr/>
          <p:nvPr/>
        </p:nvSpPr>
        <p:spPr>
          <a:xfrm>
            <a:off x="548640" y="178308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234440" y="1737360"/>
            <a:ext cx="9875520" cy="685800"/>
          </a:xfrm>
          <a:prstGeom prst="rect">
            <a:avLst/>
          </a:prstGeom>
          <a:noFill/>
          <a:ln/>
        </p:spPr>
        <p:txBody>
          <a:bodyPr wrap="square" lIns="0" tIns="0" rIns="0" bIns="0" rtlCol="0" anchor="ctr"/>
          <a:lstStyle/>
          <a:p>
            <a:pPr marL="0" indent="0">
              <a:lnSpc>
                <a:spcPct val="130000"/>
              </a:lnSpc>
              <a:buNone/>
            </a:pPr>
            <a:r>
              <a:rPr lang="en-US" sz="1400" dirty="0">
                <a:solidFill>
                  <a:srgbClr val="1B1B1B"/>
                </a:solidFill>
                <a:latin typeface="Calibri" pitchFamily="34" charset="0"/>
                <a:ea typeface="Calibri" pitchFamily="34" charset="-122"/>
                <a:cs typeface="Calibri" pitchFamily="34" charset="-120"/>
              </a:rPr>
              <a:t>Sampling was a workaround for a constraint — limited manual capacity — that digital ledgers and cheap compute have removed for transaction-level testing.</a:t>
            </a:r>
            <a:endParaRPr lang="en-US" sz="1400" dirty="0"/>
          </a:p>
        </p:txBody>
      </p:sp>
      <p:sp>
        <p:nvSpPr>
          <p:cNvPr id="7" name="Shape 5"/>
          <p:cNvSpPr/>
          <p:nvPr/>
        </p:nvSpPr>
        <p:spPr>
          <a:xfrm>
            <a:off x="548640" y="2679192"/>
            <a:ext cx="457200" cy="457200"/>
          </a:xfrm>
          <a:prstGeom prst="ellipse">
            <a:avLst/>
          </a:prstGeom>
          <a:solidFill>
            <a:srgbClr val="1E2761"/>
          </a:solidFill>
          <a:ln/>
        </p:spPr>
      </p:sp>
      <p:sp>
        <p:nvSpPr>
          <p:cNvPr id="8" name="Text 6"/>
          <p:cNvSpPr/>
          <p:nvPr/>
        </p:nvSpPr>
        <p:spPr>
          <a:xfrm>
            <a:off x="548640" y="267919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234440" y="2633472"/>
            <a:ext cx="9875520" cy="685800"/>
          </a:xfrm>
          <a:prstGeom prst="rect">
            <a:avLst/>
          </a:prstGeom>
          <a:noFill/>
          <a:ln/>
        </p:spPr>
        <p:txBody>
          <a:bodyPr wrap="square" lIns="0" tIns="0" rIns="0" bIns="0" rtlCol="0" anchor="ctr"/>
          <a:lstStyle/>
          <a:p>
            <a:pPr marL="0" indent="0">
              <a:lnSpc>
                <a:spcPct val="130000"/>
              </a:lnSpc>
              <a:buNone/>
            </a:pPr>
            <a:r>
              <a:rPr lang="en-US" sz="1400" dirty="0">
                <a:solidFill>
                  <a:srgbClr val="1B1B1B"/>
                </a:solidFill>
                <a:latin typeface="Calibri" pitchFamily="34" charset="0"/>
                <a:ea typeface="Calibri" pitchFamily="34" charset="-122"/>
                <a:cs typeface="Calibri" pitchFamily="34" charset="-120"/>
              </a:rPr>
              <a:t>Continuous transaction auditing tests 100% of transactions, continuously, using rule-based and ML-based detection layered together — not either one alone.</a:t>
            </a:r>
            <a:endParaRPr lang="en-US" sz="1400" dirty="0"/>
          </a:p>
        </p:txBody>
      </p:sp>
      <p:sp>
        <p:nvSpPr>
          <p:cNvPr id="10" name="Shape 8"/>
          <p:cNvSpPr/>
          <p:nvPr/>
        </p:nvSpPr>
        <p:spPr>
          <a:xfrm>
            <a:off x="548640" y="3575304"/>
            <a:ext cx="457200" cy="457200"/>
          </a:xfrm>
          <a:prstGeom prst="ellipse">
            <a:avLst/>
          </a:prstGeom>
          <a:solidFill>
            <a:srgbClr val="1E2761"/>
          </a:solidFill>
          <a:ln/>
        </p:spPr>
      </p:sp>
      <p:sp>
        <p:nvSpPr>
          <p:cNvPr id="11" name="Text 9"/>
          <p:cNvSpPr/>
          <p:nvPr/>
        </p:nvSpPr>
        <p:spPr>
          <a:xfrm>
            <a:off x="548640" y="3575304"/>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1234440" y="3529584"/>
            <a:ext cx="9875520" cy="685800"/>
          </a:xfrm>
          <a:prstGeom prst="rect">
            <a:avLst/>
          </a:prstGeom>
          <a:noFill/>
          <a:ln/>
        </p:spPr>
        <p:txBody>
          <a:bodyPr wrap="square" lIns="0" tIns="0" rIns="0" bIns="0" rtlCol="0" anchor="ctr"/>
          <a:lstStyle/>
          <a:p>
            <a:pPr marL="0" indent="0">
              <a:lnSpc>
                <a:spcPct val="130000"/>
              </a:lnSpc>
              <a:buNone/>
            </a:pPr>
            <a:r>
              <a:rPr lang="en-US" sz="1400" dirty="0">
                <a:solidFill>
                  <a:srgbClr val="1B1B1B"/>
                </a:solidFill>
                <a:latin typeface="Calibri" pitchFamily="34" charset="0"/>
                <a:ea typeface="Calibri" pitchFamily="34" charset="-122"/>
                <a:cs typeface="Calibri" pitchFamily="34" charset="-120"/>
              </a:rPr>
              <a:t>It produces a risk-ranked worklist for human triage, not an automated verdict; auditor judgment stays firmly in the loop.</a:t>
            </a:r>
            <a:endParaRPr lang="en-US" sz="1400" dirty="0"/>
          </a:p>
        </p:txBody>
      </p:sp>
      <p:sp>
        <p:nvSpPr>
          <p:cNvPr id="13" name="Shape 11"/>
          <p:cNvSpPr/>
          <p:nvPr/>
        </p:nvSpPr>
        <p:spPr>
          <a:xfrm>
            <a:off x="548640" y="4471416"/>
            <a:ext cx="457200" cy="457200"/>
          </a:xfrm>
          <a:prstGeom prst="ellipse">
            <a:avLst/>
          </a:prstGeom>
          <a:solidFill>
            <a:srgbClr val="1E2761"/>
          </a:solidFill>
          <a:ln/>
        </p:spPr>
      </p:sp>
      <p:sp>
        <p:nvSpPr>
          <p:cNvPr id="14" name="Text 12"/>
          <p:cNvSpPr/>
          <p:nvPr/>
        </p:nvSpPr>
        <p:spPr>
          <a:xfrm>
            <a:off x="548640" y="4471416"/>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p:nvPr/>
        </p:nvSpPr>
        <p:spPr>
          <a:xfrm>
            <a:off x="1234440" y="4425696"/>
            <a:ext cx="9875520" cy="685800"/>
          </a:xfrm>
          <a:prstGeom prst="rect">
            <a:avLst/>
          </a:prstGeom>
          <a:noFill/>
          <a:ln/>
        </p:spPr>
        <p:txBody>
          <a:bodyPr wrap="square" lIns="0" tIns="0" rIns="0" bIns="0" rtlCol="0" anchor="ctr"/>
          <a:lstStyle/>
          <a:p>
            <a:pPr marL="0" indent="0">
              <a:lnSpc>
                <a:spcPct val="130000"/>
              </a:lnSpc>
              <a:buNone/>
            </a:pPr>
            <a:r>
              <a:rPr lang="en-US" sz="1400" dirty="0">
                <a:solidFill>
                  <a:srgbClr val="1B1B1B"/>
                </a:solidFill>
                <a:latin typeface="Calibri" pitchFamily="34" charset="0"/>
                <a:ea typeface="Calibri" pitchFamily="34" charset="-122"/>
                <a:cs typeface="Calibri" pitchFamily="34" charset="-120"/>
              </a:rPr>
              <a:t>High recall comes with a false-positive cost that has to be planned for — precision, explainability, and workflow change are the real adoption challenges, not the algorithms.</a:t>
            </a:r>
            <a:endParaRPr lang="en-US" sz="1400" dirty="0"/>
          </a:p>
        </p:txBody>
      </p:sp>
      <p:sp>
        <p:nvSpPr>
          <p:cNvPr id="16" name="Shape 14"/>
          <p:cNvSpPr/>
          <p:nvPr/>
        </p:nvSpPr>
        <p:spPr>
          <a:xfrm>
            <a:off x="548640" y="5367528"/>
            <a:ext cx="457200" cy="457200"/>
          </a:xfrm>
          <a:prstGeom prst="ellipse">
            <a:avLst/>
          </a:prstGeom>
          <a:solidFill>
            <a:srgbClr val="1E2761"/>
          </a:solidFill>
          <a:ln/>
        </p:spPr>
      </p:sp>
      <p:sp>
        <p:nvSpPr>
          <p:cNvPr id="17" name="Text 15"/>
          <p:cNvSpPr/>
          <p:nvPr/>
        </p:nvSpPr>
        <p:spPr>
          <a:xfrm>
            <a:off x="548640" y="536752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8" name="Text 16"/>
          <p:cNvSpPr/>
          <p:nvPr/>
        </p:nvSpPr>
        <p:spPr>
          <a:xfrm>
            <a:off x="1234440" y="5321808"/>
            <a:ext cx="9875520" cy="685800"/>
          </a:xfrm>
          <a:prstGeom prst="rect">
            <a:avLst/>
          </a:prstGeom>
          <a:noFill/>
          <a:ln/>
        </p:spPr>
        <p:txBody>
          <a:bodyPr wrap="square" lIns="0" tIns="0" rIns="0" bIns="0" rtlCol="0" anchor="ctr"/>
          <a:lstStyle/>
          <a:p>
            <a:pPr marL="0" indent="0">
              <a:lnSpc>
                <a:spcPct val="130000"/>
              </a:lnSpc>
              <a:buNone/>
            </a:pPr>
            <a:r>
              <a:rPr lang="en-US" sz="1400" dirty="0">
                <a:solidFill>
                  <a:srgbClr val="1B1B1B"/>
                </a:solidFill>
                <a:latin typeface="Calibri" pitchFamily="34" charset="0"/>
                <a:ea typeface="Calibri" pitchFamily="34" charset="-122"/>
                <a:cs typeface="Calibri" pitchFamily="34" charset="-120"/>
              </a:rPr>
              <a:t>The realistic path in is one process, piloted, with disposition tracked — not a big-bang rollout across the whole ledger.</a:t>
            </a:r>
            <a:endParaRPr lang="en-US" sz="1400" dirty="0"/>
          </a:p>
        </p:txBody>
      </p:sp>
      <p:sp>
        <p:nvSpPr>
          <p:cNvPr id="19" name="Text 17"/>
          <p:cNvSpPr/>
          <p:nvPr/>
        </p:nvSpPr>
        <p:spPr>
          <a:xfrm>
            <a:off x="548640" y="6510528"/>
            <a:ext cx="54864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Continuous Transaction Auditing</a:t>
            </a:r>
            <a:endParaRPr lang="en-US" sz="900" dirty="0"/>
          </a:p>
        </p:txBody>
      </p:sp>
      <p:sp>
        <p:nvSpPr>
          <p:cNvPr id="20" name="Text 18"/>
          <p:cNvSpPr/>
          <p:nvPr/>
        </p:nvSpPr>
        <p:spPr>
          <a:xfrm>
            <a:off x="11521440" y="6510528"/>
            <a:ext cx="4572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41B47"/>
        </a:solidFill>
        <a:effectLst/>
      </p:bgPr>
    </p:bg>
    <p:spTree>
      <p:nvGrpSpPr>
        <p:cNvPr id="1" name=""/>
        <p:cNvGrpSpPr/>
        <p:nvPr/>
      </p:nvGrpSpPr>
      <p:grpSpPr>
        <a:xfrm>
          <a:off x="0" y="0"/>
          <a:ext cx="0" cy="0"/>
          <a:chOff x="0" y="0"/>
          <a:chExt cx="0" cy="0"/>
        </a:xfrm>
      </p:grpSpPr>
      <p:sp>
        <p:nvSpPr>
          <p:cNvPr id="2" name="Text 0"/>
          <p:cNvSpPr/>
          <p:nvPr/>
        </p:nvSpPr>
        <p:spPr>
          <a:xfrm>
            <a:off x="731520" y="2743200"/>
            <a:ext cx="9144000" cy="457200"/>
          </a:xfrm>
          <a:prstGeom prst="rect">
            <a:avLst/>
          </a:prstGeom>
          <a:noFill/>
          <a:ln/>
        </p:spPr>
        <p:txBody>
          <a:bodyPr wrap="square" lIns="0" tIns="0" rIns="0" bIns="0" rtlCol="0" anchor="ctr"/>
          <a:lstStyle/>
          <a:p>
            <a:pPr marL="0" indent="0">
              <a:buNone/>
            </a:pPr>
            <a:r>
              <a:rPr lang="en-US" sz="1400" b="1" kern="0" spc="300" dirty="0">
                <a:solidFill>
                  <a:srgbClr val="D03B3B"/>
                </a:solidFill>
                <a:latin typeface="Calibri" pitchFamily="34" charset="0"/>
                <a:ea typeface="Calibri" pitchFamily="34" charset="-122"/>
                <a:cs typeface="Calibri" pitchFamily="34" charset="-120"/>
              </a:rPr>
              <a:t>QUESTIONS &amp; DISCUSSION</a:t>
            </a:r>
            <a:endParaRPr lang="en-US" sz="1400" dirty="0"/>
          </a:p>
        </p:txBody>
      </p:sp>
      <p:sp>
        <p:nvSpPr>
          <p:cNvPr id="3" name="Text 1"/>
          <p:cNvSpPr/>
          <p:nvPr/>
        </p:nvSpPr>
        <p:spPr>
          <a:xfrm>
            <a:off x="731520" y="3154680"/>
            <a:ext cx="10058400" cy="1463040"/>
          </a:xfrm>
          <a:prstGeom prst="rect">
            <a:avLst/>
          </a:prstGeom>
          <a:noFill/>
          <a:ln/>
        </p:spPr>
        <p:txBody>
          <a:bodyPr wrap="square" lIns="0" tIns="0" rIns="0" bIns="0" rtlCol="0" anchor="ctr"/>
          <a:lstStyle/>
          <a:p>
            <a:pPr marL="0" indent="0">
              <a:lnSpc>
                <a:spcPct val="110000"/>
              </a:lnSpc>
              <a:buNone/>
            </a:pPr>
            <a:r>
              <a:rPr lang="en-US" sz="3800" b="1" dirty="0">
                <a:solidFill>
                  <a:srgbClr val="FFFFFF"/>
                </a:solidFill>
                <a:latin typeface="Cambria" pitchFamily="34" charset="0"/>
                <a:ea typeface="Cambria" pitchFamily="34" charset="-122"/>
                <a:cs typeface="Cambria" pitchFamily="34" charset="-120"/>
              </a:rPr>
              <a:t>Where would this fit in</a:t>
            </a:r>
            <a:endParaRPr lang="en-US" sz="3800" dirty="0"/>
          </a:p>
          <a:p>
            <a:pPr marL="0" indent="0">
              <a:lnSpc>
                <a:spcPct val="110000"/>
              </a:lnSpc>
              <a:buNone/>
            </a:pPr>
            <a:r>
              <a:rPr lang="en-US" sz="3800" b="1" dirty="0">
                <a:solidFill>
                  <a:srgbClr val="FFFFFF"/>
                </a:solidFill>
                <a:latin typeface="Cambria" pitchFamily="34" charset="0"/>
                <a:ea typeface="Cambria" pitchFamily="34" charset="-122"/>
                <a:cs typeface="Cambria" pitchFamily="34" charset="-120"/>
              </a:rPr>
              <a:t>your audit plan?</a:t>
            </a:r>
            <a:endParaRPr lang="en-US" sz="3800" dirty="0"/>
          </a:p>
        </p:txBody>
      </p:sp>
      <p:sp>
        <p:nvSpPr>
          <p:cNvPr id="4" name="Text 2"/>
          <p:cNvSpPr/>
          <p:nvPr/>
        </p:nvSpPr>
        <p:spPr>
          <a:xfrm>
            <a:off x="731520" y="4846320"/>
            <a:ext cx="9144000" cy="365760"/>
          </a:xfrm>
          <a:prstGeom prst="rect">
            <a:avLst/>
          </a:prstGeom>
          <a:noFill/>
          <a:ln/>
        </p:spPr>
        <p:txBody>
          <a:bodyPr wrap="square" lIns="0" tIns="0" rIns="0" bIns="0" rtlCol="0" anchor="ctr"/>
          <a:lstStyle/>
          <a:p>
            <a:pPr marL="0" indent="0">
              <a:buNone/>
            </a:pPr>
            <a:r>
              <a:rPr lang="en-US" sz="1300" dirty="0">
                <a:solidFill>
                  <a:srgbClr val="CADCFC"/>
                </a:solidFill>
                <a:latin typeface="Calibri" pitchFamily="34" charset="0"/>
                <a:ea typeface="Calibri" pitchFamily="34" charset="-122"/>
                <a:cs typeface="Calibri" pitchFamily="34" charset="-120"/>
              </a:rPr>
              <a:t>Demo code, dataset, and slides from today are available on request.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2445</Words>
  <Application>Microsoft Office PowerPoint</Application>
  <PresentationFormat>Widescreen</PresentationFormat>
  <Paragraphs>339</Paragraphs>
  <Slides>21</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Continuous Transaction Auditing</dc:title>
  <dc:subject>PptxGenJS Presentation</dc:subject>
  <dc:creator>Continuous Transaction Auditing Workshop</dc:creator>
  <cp:lastModifiedBy>Ashwani Kumar</cp:lastModifiedBy>
  <cp:revision>2</cp:revision>
  <dcterms:created xsi:type="dcterms:W3CDTF">2026-08-16T18:58:44Z</dcterms:created>
  <dcterms:modified xsi:type="dcterms:W3CDTF">2026-08-16T19:07:35Z</dcterms:modified>
</cp:coreProperties>
</file>