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634179"/>
            <a:ext cx="808330" cy="-427939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4634179"/>
            <a:ext cx="808330" cy="47548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72170" y="4206240"/>
            <a:ext cx="665683" cy="47548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2170" y="5109667"/>
            <a:ext cx="665683" cy="-427939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44968" y="4515307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7" name="Shape 5"/>
          <p:cNvSpPr/>
          <p:nvPr/>
        </p:nvSpPr>
        <p:spPr>
          <a:xfrm>
            <a:off x="8553298" y="4087368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8" name="Shape 6"/>
          <p:cNvSpPr/>
          <p:nvPr/>
        </p:nvSpPr>
        <p:spPr>
          <a:xfrm>
            <a:off x="8553298" y="4990795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9" name="Shape 7"/>
          <p:cNvSpPr/>
          <p:nvPr/>
        </p:nvSpPr>
        <p:spPr>
          <a:xfrm>
            <a:off x="9218981" y="4562856"/>
            <a:ext cx="237744" cy="237744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5457139"/>
            <a:ext cx="808330" cy="-427939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5457139"/>
            <a:ext cx="808330" cy="47548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60890" y="5029200"/>
            <a:ext cx="665683" cy="47548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60890" y="5932627"/>
            <a:ext cx="665683" cy="-427939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33688" y="5338267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15" name="Shape 13"/>
          <p:cNvSpPr/>
          <p:nvPr/>
        </p:nvSpPr>
        <p:spPr>
          <a:xfrm>
            <a:off x="9742018" y="4910328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16" name="Shape 14"/>
          <p:cNvSpPr/>
          <p:nvPr/>
        </p:nvSpPr>
        <p:spPr>
          <a:xfrm>
            <a:off x="9742018" y="5813755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07701" y="5385816"/>
            <a:ext cx="237744" cy="237744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4634179"/>
            <a:ext cx="808330" cy="-427939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0" y="4634179"/>
            <a:ext cx="808330" cy="47548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49610" y="4206240"/>
            <a:ext cx="665683" cy="47548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49610" y="5109667"/>
            <a:ext cx="665683" cy="-427939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22408" y="4515307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30738" y="4087368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30738" y="4990795"/>
            <a:ext cx="237744" cy="23774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96421" y="4562856"/>
            <a:ext cx="237744" cy="237744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658307"/>
            <a:ext cx="497434" cy="-263347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658307"/>
            <a:ext cx="497434" cy="29260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7514" y="5394960"/>
            <a:ext cx="409651" cy="29260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7514" y="5950915"/>
            <a:ext cx="409651" cy="-263347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5585155"/>
            <a:ext cx="146304" cy="14630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4362" y="5321808"/>
            <a:ext cx="146304" cy="14630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4362" y="5877763"/>
            <a:ext cx="146304" cy="14630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33" name="Shape 31"/>
          <p:cNvSpPr/>
          <p:nvPr/>
        </p:nvSpPr>
        <p:spPr>
          <a:xfrm>
            <a:off x="1474013" y="5614416"/>
            <a:ext cx="146304" cy="146304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1520" y="24231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Network-Graph Analysis for Finance &amp; AP Teams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731520" y="3520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graphing vendors, employees, and payments together flags ghost vendors, split-purchase schemes, and collusion rings — before cash leaves the bank.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1520" y="4617720"/>
            <a:ext cx="2926080" cy="0"/>
          </a:xfrm>
          <a:prstGeom prst="line">
            <a:avLst/>
          </a:prstGeom>
          <a:noFill/>
          <a:ln w="31750">
            <a:solidFill>
              <a:srgbClr val="D627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+ Case Study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1 Hour   •   Finance / AP / Internal Audit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60 MINUTES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658368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1664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19933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procurement fraud, and where traditional controls fall short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587752"/>
            <a:ext cx="658368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87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288950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flat invoice ledger into a network of vendors and people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658368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83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Fraud Patterns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785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vendors, split-purchase schemes, and collusion rings — and their graph signatures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379976"/>
            <a:ext cx="658368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79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6817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 synthetic 730-invoice ledger through the same analysis, together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76088"/>
            <a:ext cx="658368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276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17320" y="5248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Control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5778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this into a standing pre-payment review process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Doing Nothing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0116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$104,000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loss per occupational fraud case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06240" y="1783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0116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months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3484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a scheme runs before it's caught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63840" y="17830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92440" y="20116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09244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frauds are still caught by a tip — not a control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billing schemes and vendor collusion are among the most common and longest-running occupational fraud categories — precisely because each individual transaction can look routine.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ACFE, Occupational Fraud 2026: A Report to the Nations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Traditional AP Controls Fall Short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084832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Rules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single invoices over a dollar amount. Blind to several small invoices that add up — the exact shape of a split purchase.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06240" y="178308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084832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3200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auditor sampling invoices sees amounts and vendor names. Shared bank accounts or addresses across "different" vendors aren't visible row by row.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63840" y="178308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084832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Systems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160" y="3200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master, HR, and payment data live in separate systems. No single view connects who requested, who approved, and who got paid.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 From Rows to Relationships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answers “how much did we pay Vendor X?” A network graph answers “who is really connected to whom?”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51206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LEDGER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INV-1042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V-GH1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EMP-007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$9,410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INV-1055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V-RING2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EMP-014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474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$14,200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INV-1061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V-SPLIT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EMP-013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$9,880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INV-1073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4389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V-014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4389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EMP-004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4389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$3,120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846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INV-1080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4846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V-SPLIT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4846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EMP-013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846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$9,640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looks individually unremarkable.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897880" y="3931920"/>
            <a:ext cx="640080" cy="457200"/>
          </a:xfrm>
          <a:prstGeom prst="rightArrow">
            <a:avLst/>
          </a:prstGeom>
          <a:solidFill>
            <a:srgbClr val="D62728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0840" y="2423160"/>
            <a:ext cx="4892040" cy="3520440"/>
          </a:xfrm>
          <a:prstGeom prst="roundRect">
            <a:avLst>
              <a:gd name="adj" fmla="val 1558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9951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↔ EMPLOYEE NETWORK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0920" y="3337560"/>
            <a:ext cx="457200" cy="-18288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0920" y="3337560"/>
            <a:ext cx="274320" cy="45720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8120" y="3154680"/>
            <a:ext cx="365760" cy="36576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3520440"/>
            <a:ext cx="274320" cy="36576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3794760"/>
            <a:ext cx="-457200" cy="9144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3794760"/>
            <a:ext cx="365760" cy="45720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3886200"/>
            <a:ext cx="182880" cy="-45720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18120" y="3154680"/>
            <a:ext cx="822960" cy="27432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60920" y="3337560"/>
            <a:ext cx="1097280" cy="54864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83880" y="3520440"/>
            <a:ext cx="-182880" cy="731520"/>
          </a:xfrm>
          <a:prstGeom prst="line">
            <a:avLst/>
          </a:prstGeom>
          <a:noFill/>
          <a:ln w="12700">
            <a:solidFill>
              <a:srgbClr val="5D6B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06056" y="32826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0" name="Shape 48"/>
          <p:cNvSpPr/>
          <p:nvPr/>
        </p:nvSpPr>
        <p:spPr>
          <a:xfrm>
            <a:off x="7763256" y="309981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9016" y="346557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2" name="Shape 50"/>
          <p:cNvSpPr/>
          <p:nvPr/>
        </p:nvSpPr>
        <p:spPr>
          <a:xfrm>
            <a:off x="7580376" y="37398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3" name="Shape 51"/>
          <p:cNvSpPr/>
          <p:nvPr/>
        </p:nvSpPr>
        <p:spPr>
          <a:xfrm>
            <a:off x="8403336" y="383133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4" name="Shape 52"/>
          <p:cNvSpPr/>
          <p:nvPr/>
        </p:nvSpPr>
        <p:spPr>
          <a:xfrm>
            <a:off x="7123176" y="383133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5" name="Shape 53"/>
          <p:cNvSpPr/>
          <p:nvPr/>
        </p:nvSpPr>
        <p:spPr>
          <a:xfrm>
            <a:off x="7946136" y="41970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6" name="Shape 54"/>
          <p:cNvSpPr/>
          <p:nvPr/>
        </p:nvSpPr>
        <p:spPr>
          <a:xfrm>
            <a:off x="8586216" y="337413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95560" y="4617720"/>
            <a:ext cx="502920" cy="32004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31552" y="4553712"/>
            <a:ext cx="128016" cy="12801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59" name="Shape 57"/>
          <p:cNvSpPr/>
          <p:nvPr/>
        </p:nvSpPr>
        <p:spPr>
          <a:xfrm>
            <a:off x="10634472" y="4873752"/>
            <a:ext cx="128016" cy="12801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0" name="Text 58"/>
          <p:cNvSpPr/>
          <p:nvPr/>
        </p:nvSpPr>
        <p:spPr>
          <a:xfrm>
            <a:off x="6995160" y="5440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requester paired with a single vendor, isolated from everyone else, stands out instantly.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OF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Vendors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that was created to bill the company for goods or services never actually delivered — often set up by, or in league with, an employee who controls both the request and the approval.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RED FLAGS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07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requester and one approver ever touch this vendor, invoice after invoice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74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invalid tax ID / business registration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059936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410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 a PO Box — or matches an employee's own address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07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amounts cluster just under a threshold, with no PO or delivery backup on file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OF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Split-Purchase Schemes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legitimate-looking vendor is paid through several invoices, each kept just under an approval threshold, so a single larger purchase never triggers the second sign-off it should.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RED FLAGS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07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requester–vendor pair files multiple invoices within a short window (days, not months)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74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invoice clears the threshold — but the sum of the burst does not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059936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410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descriptions reference the same job, PO, or delivery in different words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07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Bursts repeat on a regular cadence across the year, not a one-time exception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OF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Collusion Rings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“independent” vendors are secretly the same economic actor, and an employee (or a small group) makes sure invoices for all of them sail through review.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RED FLAGS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07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that look unrelated share a bank account, phone number, or address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74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cluster forms when you connect vendors by those shared identifiers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059936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410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one or two employees request and approve nearly all of the cluster's invoices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164592" cy="16459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07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and approver roles rotate between the same small group — a segregation-of-duties failure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Graph Catches Each Pattern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2194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1828800"/>
            <a:ext cx="4206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Ledger Shows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4480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Network Shows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2194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404872"/>
            <a:ext cx="1920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Vendor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331720"/>
            <a:ext cx="4206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404872"/>
            <a:ext cx="3931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unremarkable dollar amounts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331720"/>
            <a:ext cx="4480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404872"/>
            <a:ext cx="4206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requester + one approver, always; missing tax ID; PO Box address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2194560" cy="1051560"/>
          </a:xfrm>
          <a:prstGeom prst="rect">
            <a:avLst/>
          </a:prstGeom>
          <a:solidFill>
            <a:srgbClr val="EEF0F8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56432"/>
            <a:ext cx="1920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Purchase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3383280"/>
            <a:ext cx="4206240" cy="1051560"/>
          </a:xfrm>
          <a:prstGeom prst="rect">
            <a:avLst/>
          </a:prstGeom>
          <a:solidFill>
            <a:srgbClr val="EEF0F8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3456432"/>
            <a:ext cx="3931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invoice individually clears approval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383280"/>
            <a:ext cx="4480560" cy="1051560"/>
          </a:xfrm>
          <a:prstGeom prst="rect">
            <a:avLst/>
          </a:prstGeom>
          <a:solidFill>
            <a:srgbClr val="EEF0F8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456432"/>
            <a:ext cx="4206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bursts from one requester to one vendor, summing over threshold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2194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07992"/>
            <a:ext cx="1920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 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0" y="4434840"/>
            <a:ext cx="4206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4507992"/>
            <a:ext cx="3931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distinct, validly formatted vendor records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4434840"/>
            <a:ext cx="4480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4507992"/>
            <a:ext cx="4206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 account / address / phone link them; same 1–2 employees run all the traffic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The Dataset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accounts-payable ledger, built to feel like a real ERP export — with three fraud patterns hidden inside otherwise normal activity.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one year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52044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30936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5400" y="2514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09828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hidden inside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as we walk through the network, try to spot the flagged nodes yourself before we reveal the analysis.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The Full Vendor–Employee Network</a:t>
            </a:r>
            <a:endParaRPr lang="en-US" sz="3200" dirty="0"/>
          </a:p>
        </p:txBody>
      </p:sp>
      <p:pic>
        <p:nvPicPr>
          <p:cNvPr id="12" name="Image 0" descr="output/full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691640"/>
            <a:ext cx="5669280" cy="43616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employee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514600"/>
            <a:ext cx="146304" cy="146304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vendor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834640"/>
            <a:ext cx="146304" cy="146304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vendor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38328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flagged vendors sit at the edge of the network, thinly connected — exactly what isolation from the normal transaction fabric looks like.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Collusion Ring Close-Up</a:t>
            </a:r>
            <a:endParaRPr lang="en-US" sz="3200" dirty="0"/>
          </a:p>
        </p:txBody>
      </p:sp>
      <p:pic>
        <p:nvPicPr>
          <p:cNvPr id="12" name="Image 0" descr="output/collusion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600200"/>
            <a:ext cx="6400800" cy="4206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ties the ring together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50545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V-RING1–V-RING4 share one bank payout account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8269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four also share an address and phone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05993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931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EMP-014 and EMP-021 alternate requesting and approving — every invoice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83717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709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V-GH1 / V-GH2 (ghost vendors) show the same one-requester, one-approver isolation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What the Analysis Flagged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Vendor(s)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77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828800"/>
            <a:ext cx="55778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1828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2926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40487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V-GH1, V-GH2, V-GH3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331720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40487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vendor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2331720"/>
            <a:ext cx="5577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404872"/>
            <a:ext cx="5303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requester / 1 approver, missing tax ID, PO Box or shared address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2926080" cy="914400"/>
          </a:xfrm>
          <a:prstGeom prst="rect">
            <a:avLst/>
          </a:prstGeom>
          <a:solidFill>
            <a:srgbClr val="EEF0F8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1927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V-SPLIT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3246120"/>
            <a:ext cx="2377440" cy="914400"/>
          </a:xfrm>
          <a:prstGeom prst="rect">
            <a:avLst/>
          </a:prstGeom>
          <a:solidFill>
            <a:srgbClr val="EEF0F8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31927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purchase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246120"/>
            <a:ext cx="5577840" cy="914400"/>
          </a:xfrm>
          <a:prstGeom prst="rect">
            <a:avLst/>
          </a:prstGeom>
          <a:solidFill>
            <a:srgbClr val="EEF0F8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319272"/>
            <a:ext cx="5303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bursts of 2–3 invoices within 7 days, all just under $10,000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2926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23367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V-RING1–V-RING4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0" y="4160520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23367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 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52160" y="4160520"/>
            <a:ext cx="5577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233672"/>
            <a:ext cx="5303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 account; 2 employees run 100% of the traffic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three patterns required a single alarming invoice amount. Each hid in relationships and repetition.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Standing Control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7340" y="2423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5773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nightly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ghost / split / collusion scores for every vendor &amp; employee pair as new invoices land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3520440"/>
            <a:ext cx="320040" cy="320040"/>
          </a:xfrm>
          <a:prstGeom prst="rightArrow">
            <a:avLst/>
          </a:prstGeom>
          <a:solidFill>
            <a:srgbClr val="D62728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4860" y="2423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948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490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risk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749040" y="36576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crossing threshold goes to AP / audit review — not the full vendor list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520440"/>
            <a:ext cx="320040" cy="320040"/>
          </a:xfrm>
          <a:prstGeom prst="rightArrow">
            <a:avLst/>
          </a:prstGeom>
          <a:solidFill>
            <a:srgbClr val="D6272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12380" y="2423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6123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pay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invoices are held for human review before the payment run, not after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35440" y="3520440"/>
            <a:ext cx="320040" cy="320040"/>
          </a:xfrm>
          <a:prstGeom prst="rightArrow">
            <a:avLst/>
          </a:prstGeom>
          <a:solidFill>
            <a:srgbClr val="D62728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0" y="21945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29900" y="2423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06299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8408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784080" y="36576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cases refine the scoring rules and expand the shared-identifier watchlist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Red-Flag Field Guide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Vendor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532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requester/approver pair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364992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tax ID / registration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078224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59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Box or employee-matching address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79145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672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or PO backup on file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Purchase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2651760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532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invoices, one vendor, one requester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364992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just under the approval threshold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4078224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959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within days of each other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479145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672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 on a regular cadence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 Ring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21040" y="2651760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2532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 account across vendors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21040" y="3364992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37" name="Text 35"/>
          <p:cNvSpPr/>
          <p:nvPr/>
        </p:nvSpPr>
        <p:spPr>
          <a:xfrm>
            <a:off x="854964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address or phone across vendors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21040" y="4078224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39" name="Text 37"/>
          <p:cNvSpPr/>
          <p:nvPr/>
        </p:nvSpPr>
        <p:spPr>
          <a:xfrm>
            <a:off x="8549640" y="3959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1–2 employees on every invoice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21040" y="4791456"/>
            <a:ext cx="109728" cy="10972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41" name="Text 39"/>
          <p:cNvSpPr/>
          <p:nvPr/>
        </p:nvSpPr>
        <p:spPr>
          <a:xfrm>
            <a:off x="8549640" y="4672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/ approver roles rotate together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605333"/>
            <a:ext cx="279806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0135" y="605333"/>
            <a:ext cx="279806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9942" y="457200"/>
            <a:ext cx="230429" cy="16459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19942" y="769925"/>
            <a:ext cx="230429" cy="-148133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8987" y="564185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78794" y="4160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378794" y="728777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609222" y="580644"/>
            <a:ext cx="82296" cy="822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EXERCISE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Your Environment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2057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current AP controls would catch each of these three patterns today — and which wouldn't?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429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would you need to add (vendor bank account, employee HR relationships, onboarding details) to run this where you work?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834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4800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set the human-review threshold so this augments, rather than replaces, the AP team's judgment?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Vendor Fraud Protection  |  Network-Graph Case Study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03427"/>
            <a:ext cx="497434" cy="-263347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903427"/>
            <a:ext cx="497434" cy="29260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0074" y="640080"/>
            <a:ext cx="409651" cy="292608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0074" y="1196035"/>
            <a:ext cx="409651" cy="-263347"/>
          </a:xfrm>
          <a:prstGeom prst="line">
            <a:avLst/>
          </a:prstGeom>
          <a:noFill/>
          <a:ln w="15875">
            <a:solidFill>
              <a:srgbClr val="3A46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19488" y="830275"/>
            <a:ext cx="146304" cy="14630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7" name="Shape 5"/>
          <p:cNvSpPr/>
          <p:nvPr/>
        </p:nvSpPr>
        <p:spPr>
          <a:xfrm>
            <a:off x="10116922" y="566928"/>
            <a:ext cx="146304" cy="14630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8" name="Shape 6"/>
          <p:cNvSpPr/>
          <p:nvPr/>
        </p:nvSpPr>
        <p:spPr>
          <a:xfrm>
            <a:off x="10116922" y="1122883"/>
            <a:ext cx="146304" cy="146304"/>
          </a:xfrm>
          <a:prstGeom prst="ellipse">
            <a:avLst/>
          </a:prstGeom>
          <a:solidFill>
            <a:srgbClr val="3A4694"/>
          </a:solidFill>
          <a:ln/>
        </p:spPr>
      </p:sp>
      <p:sp>
        <p:nvSpPr>
          <p:cNvPr id="9" name="Shape 7"/>
          <p:cNvSpPr/>
          <p:nvPr/>
        </p:nvSpPr>
        <p:spPr>
          <a:xfrm>
            <a:off x="10526573" y="859536"/>
            <a:ext cx="146304" cy="146304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hides in relationships, not amounts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" y="2221992"/>
            <a:ext cx="128016" cy="12801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07568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vendors, split purchases, and collusion rings all pass individual invoice checks — they only reveal themselves in who's connected to whom, and how often.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128016" cy="12801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944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vendor–employee network turns three separate red-flag heuristics into one standing, automatable control.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3959352"/>
            <a:ext cx="128016" cy="12801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813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a shorter review queue for AP and audit — not a replacement for their judgment.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2926080" cy="0"/>
          </a:xfrm>
          <a:prstGeom prst="line">
            <a:avLst/>
          </a:prstGeom>
          <a:noFill/>
          <a:ln w="31750">
            <a:solidFill>
              <a:srgbClr val="D627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case_study_network_fraud.ipynb (runnable demo) + this deck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2026-08-16T19:36:50Z</dcterms:created>
  <dcterms:modified xsi:type="dcterms:W3CDTF">2026-08-16T19:36:50Z</dcterms:modified>
</cp:coreProperties>
</file>