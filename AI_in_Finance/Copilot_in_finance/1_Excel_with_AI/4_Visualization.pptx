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72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94" autoAdjust="0"/>
  </p:normalViewPr>
  <p:slideViewPr>
    <p:cSldViewPr snapToGrid="0">
      <p:cViewPr varScale="1">
        <p:scale>
          <a:sx n="105" d="100"/>
          <a:sy n="105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9T10:52:33.8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24575,'2'1'0,"1"0"0,-1 0 0,1 0 0,-1 0 0,0 1 0,0-1 0,0 1 0,0-1 0,0 1 0,0 0 0,0 0 0,0 0 0,-1 0 0,1 0 0,-1 0 0,1 0 0,-1 1 0,0-1 0,0 0 0,1 4 0,5 6 0,67 107 0,6 11 0,140 174 0,-138-213 0,4-3 0,140 108 0,216 129 0,-148-115 0,-53-20 0,-7 10 0,224 251 0,-55-77 0,31-34 0,138 120 0,-505-398 0,-4 4 0,73 95 0,89 161 0,157 244 0,-122-184 0,27 7 0,-168-234 0,75 143 0,-112-165 0,392 594 0,-301-448 0,-25-37 0,14-8 0,60 93 0,370 569 0,-321-495 0,287 560 0,-51 47 0,-40-201 0,-211-387 0,-119-204 0,-65-109 0,63 132 0,-32-32 0,9-4 0,194 264 0,-229-357 0,72 137 0,17 91 0,-116-214 0,129 289 0,-150-354 0,95 196 0,-95-188 0,36 132 0,-59-180 0,1 0 0,0-1 0,2 0 0,15 24 0,-13-23 0,0 0 0,12 35 0,-22-43 0,-9-13 0,-15-17 0,19 15 0,-33-29 0,-37-35 0,-104-71 0,141 115 0,20 14 0,1 0 0,0-2 0,1 1 0,0-2 0,1 0 0,-14-17 0,0 0 0,27 29 0,-1-1 0,1 1 0,-1 0 0,1-1 0,-1 1 0,0 0 0,0 0 0,1 0 0,-1 1 0,0-1 0,0 0 0,0 1 0,0-1 0,0 1 0,0-1 0,-3 1 0,13 8 0,372 257 0,-69-49 0,-283-196 0,-20-12 0,1-1 0,1-1 0,-1 1 0,1-1 0,0-1 0,0 0 0,1 0 0,14 3 0,-23-7 0,-1-1 0,0 0 0,1 0 0,-1 0 0,1 0 0,-1 0 0,0 0 0,1 0 0,-1-1 0,0 1 0,1 0 0,-1-1 0,0 1 0,0-1 0,1 1 0,-1-1 0,0 0 0,0 1 0,0-1 0,0 0 0,0 0 0,0 0 0,0 0 0,0 0 0,0 0 0,0 0 0,0 0 0,-1 0 0,1 0 0,0-1 0,-1 1 0,1 0 0,-1 0 0,0-1 0,1 1 0,-1 0 0,0-1 0,0 1 0,1-3 0,0-7 0,0-1 0,-1 1 0,-2-21 0,1 18 0,-8-670-1231,9 672 1097,0-13-6692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02FB2F-73EE-EEF7-DFBD-ECC73E49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614669-ADA7-7DA6-FCC9-60DD2B6B058F}"/>
              </a:ext>
            </a:extLst>
          </p:cNvPr>
          <p:cNvSpPr txBox="1"/>
          <p:nvPr/>
        </p:nvSpPr>
        <p:spPr>
          <a:xfrm>
            <a:off x="2352675" y="2337739"/>
            <a:ext cx="74866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 data</a:t>
            </a:r>
          </a:p>
        </p:txBody>
      </p:sp>
    </p:spTree>
    <p:extLst>
      <p:ext uri="{BB962C8B-B14F-4D97-AF65-F5344CB8AC3E}">
        <p14:creationId xmlns:p14="http://schemas.microsoft.com/office/powerpoint/2010/main" val="1890387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74BC9-4555-823F-D014-85E97F8EA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21E5B4-252F-FC2C-247D-FAB6FA6FE878}"/>
              </a:ext>
            </a:extLst>
          </p:cNvPr>
          <p:cNvSpPr txBox="1"/>
          <p:nvPr/>
        </p:nvSpPr>
        <p:spPr>
          <a:xfrm>
            <a:off x="2352675" y="2337739"/>
            <a:ext cx="748665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>
                <a:solidFill>
                  <a:schemeClr val="accent6">
                    <a:lumMod val="60000"/>
                    <a:lumOff val="40000"/>
                  </a:schemeClr>
                </a:solidFill>
              </a:rPr>
              <a:t>I used Copilot Premium paid</a:t>
            </a:r>
          </a:p>
          <a:p>
            <a:pPr algn="ctr"/>
            <a:r>
              <a:rPr lang="en-IN" sz="4400">
                <a:solidFill>
                  <a:schemeClr val="accent6">
                    <a:lumMod val="60000"/>
                    <a:lumOff val="40000"/>
                  </a:schemeClr>
                </a:solidFill>
              </a:rPr>
              <a:t>(Rs. 2000 aprox. per month)</a:t>
            </a:r>
          </a:p>
        </p:txBody>
      </p:sp>
    </p:spTree>
    <p:extLst>
      <p:ext uri="{BB962C8B-B14F-4D97-AF65-F5344CB8AC3E}">
        <p14:creationId xmlns:p14="http://schemas.microsoft.com/office/powerpoint/2010/main" val="3480623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7AE100-316B-4479-65A0-AF9FD7B1E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2D6DB9-1816-7F65-1214-94D0C213AB13}"/>
              </a:ext>
            </a:extLst>
          </p:cNvPr>
          <p:cNvSpPr txBox="1"/>
          <p:nvPr/>
        </p:nvSpPr>
        <p:spPr>
          <a:xfrm>
            <a:off x="0" y="0"/>
            <a:ext cx="10497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 opened the file in onedrive and clicked on Copilot Icon(Bottom right)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46FFD-40D3-A892-E1FF-9407ECFD0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1001088"/>
            <a:ext cx="11524488" cy="57561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01344AF-5F74-826E-B694-3388395D42DE}"/>
                  </a:ext>
                </a:extLst>
              </p14:cNvPr>
              <p14:cNvContentPartPr/>
              <p14:nvPr/>
            </p14:nvContentPartPr>
            <p14:xfrm>
              <a:off x="7507224" y="411408"/>
              <a:ext cx="4210920" cy="5749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01344AF-5F74-826E-B694-3388395D42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89224" y="393408"/>
                <a:ext cx="4246560" cy="578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2364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524350-79FA-53F7-CE08-48A6CF357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3B33BD-6A42-EDD7-2705-E49B89F8E8CD}"/>
              </a:ext>
            </a:extLst>
          </p:cNvPr>
          <p:cNvSpPr txBox="1"/>
          <p:nvPr/>
        </p:nvSpPr>
        <p:spPr>
          <a:xfrm>
            <a:off x="146304" y="0"/>
            <a:ext cx="104973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Level 1: Beginner — Basic Charts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Focus: Selecting charts, visualizing individual columns, and adding chart titles and labels.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B2EA811-19ED-1259-1C64-0CAC0B03A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815102"/>
              </p:ext>
            </p:extLst>
          </p:nvPr>
        </p:nvGraphicFramePr>
        <p:xfrm>
          <a:off x="143256" y="1573530"/>
          <a:ext cx="11905488" cy="40671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98024">
                  <a:extLst>
                    <a:ext uri="{9D8B030D-6E8A-4147-A177-3AD203B41FA5}">
                      <a16:colId xmlns:a16="http://schemas.microsoft.com/office/drawing/2014/main" val="3129870336"/>
                    </a:ext>
                  </a:extLst>
                </a:gridCol>
                <a:gridCol w="1807464">
                  <a:extLst>
                    <a:ext uri="{9D8B030D-6E8A-4147-A177-3AD203B41FA5}">
                      <a16:colId xmlns:a16="http://schemas.microsoft.com/office/drawing/2014/main" val="293770846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Prompt to ask Copilot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Chart / skill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91297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Create a bar chart showing the number of applicants in each Property_Area category: </a:t>
                      </a:r>
                    </a:p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Urban, Rural, and Semiurban.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Bar chart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4626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Create a pie chart showing the proportion of approved and rejected loan applications using Loan_Status.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Pie chart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506780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Create a column chart comparing the number of male and female applicants.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Column chart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01840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Create a bar chart showing the number of Graduate and Non-Graduate applicants.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Bar chart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45035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Create a histogram showing the distribution of ApplicantIncome. Use suitable bins.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Histogram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691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Create a histogram showing the distribution of LoanAmount, excluding blank values.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Histogram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978139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Create a column chart showing the number of applicants in each Dependents category.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Column chart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287158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Create a bar chart showing the number of self-employed and non-self-employed applicants.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Bar chart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001798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Create a chart comparing average ApplicantIncome and average CoapplicantIncome.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Column chart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151834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Create a chart showing the distribution of Loan_Amount_Term.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Column chart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6507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2009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31802F-1622-DAD1-0CF9-54D75E911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B45D01-B014-2892-1C4F-C9AE60019366}"/>
              </a:ext>
            </a:extLst>
          </p:cNvPr>
          <p:cNvSpPr txBox="1"/>
          <p:nvPr/>
        </p:nvSpPr>
        <p:spPr>
          <a:xfrm>
            <a:off x="146304" y="0"/>
            <a:ext cx="114025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output: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prompt</a:t>
            </a:r>
          </a:p>
          <a:p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Using my loan application dataset in Excel, create a bar chart showing the number of applicants in each Property_Area category. Include Urban, Rural, and Semiurban. Add a descriptive chart title, label both axes, display data labels, and sort the categories by applicant count in descending order. Put this in different sheet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3B98B8-D972-9844-6FCC-7984A7AA5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66" y="2523744"/>
            <a:ext cx="11106874" cy="445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369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0B089D-ABCF-D4C8-B7DB-D94EDF454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D99A7A-4C60-BEE6-C098-DB1752FE0744}"/>
              </a:ext>
            </a:extLst>
          </p:cNvPr>
          <p:cNvSpPr txBox="1"/>
          <p:nvPr/>
        </p:nvSpPr>
        <p:spPr>
          <a:xfrm>
            <a:off x="146304" y="0"/>
            <a:ext cx="11338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Level 2: Intermediate — Comparative Charts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Focus: Comparing categories, identifying patterns, and visualizing relationships between variables.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4D9DFB-39E5-703C-8778-A8632BFA3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446120"/>
              </p:ext>
            </p:extLst>
          </p:nvPr>
        </p:nvGraphicFramePr>
        <p:xfrm>
          <a:off x="146304" y="1266825"/>
          <a:ext cx="11823192" cy="52863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81744">
                  <a:extLst>
                    <a:ext uri="{9D8B030D-6E8A-4147-A177-3AD203B41FA5}">
                      <a16:colId xmlns:a16="http://schemas.microsoft.com/office/drawing/2014/main" val="93463531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207215386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Prompt to ask Copilot</a:t>
                      </a:r>
                      <a:endParaRPr lang="en-IN" sz="20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Chart / skill</a:t>
                      </a:r>
                      <a:endParaRPr lang="en-IN" sz="20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48758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Create a stacked column chart showing approved and rejected applications by Gender.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Stacked column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067738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Compare loan approval rates across Rural, Semiurban, and Urban property areas using a bar chart.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Comparative bar chart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196911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Create a chart comparing approval rates for Graduate and Non-Graduate applicants. Show percentages rather than raw counts.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Percentage comparison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574400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Create a clustered column chart comparing average ApplicantIncome for approved and rejected applicants.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Clustered column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846883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Create a box-and-whisker plot comparing ApplicantIncome across Loan_Status categories.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Box plot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2881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Create a scatter plot of ApplicantIncome versus LoanAmount. Use different colors for approved and rejected applications if supported.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Scatter plot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459490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Create a chart comparing approval rates for applicants with Credit_History = 1 versus Credit_History = 0.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Category comparison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010218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Create a stacked bar chart showing loan approval status by Married status.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Stacked bar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46176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Create a heatmap-style visualization of loan approval rates by Property_Area and Education.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Conditional formatting / heatmap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249797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Create a chart comparing average LoanAmount across Property_Area categories.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Column chart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9948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4122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5E4D60-EFBE-EAC4-44BF-6671E0409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B8283E-0B49-2771-DC4D-56E8A0C1AACB}"/>
              </a:ext>
            </a:extLst>
          </p:cNvPr>
          <p:cNvSpPr txBox="1"/>
          <p:nvPr/>
        </p:nvSpPr>
        <p:spPr>
          <a:xfrm>
            <a:off x="146304" y="0"/>
            <a:ext cx="114025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output: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prompt</a:t>
            </a:r>
          </a:p>
          <a:p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heatmap-style visualization of loan approval rates by Property_Area and Education.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8E9029-423D-CAF1-1287-601A14BCF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4" y="2788921"/>
            <a:ext cx="12126266" cy="397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389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827B5D-73C2-D45C-BD4C-327F32D78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5E1CFD-F7B3-9B66-F16E-81A14F73A071}"/>
              </a:ext>
            </a:extLst>
          </p:cNvPr>
          <p:cNvSpPr txBox="1"/>
          <p:nvPr/>
        </p:nvSpPr>
        <p:spPr>
          <a:xfrm>
            <a:off x="146304" y="0"/>
            <a:ext cx="114025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output: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prompt</a:t>
            </a:r>
          </a:p>
          <a:p>
            <a:endParaRPr lang="en-IN" sz="24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 my loan application dataset and create a chart comparing loan approval rates across Rural, Semiurban, and Urban applicants.</a:t>
            </a:r>
          </a:p>
          <a:p>
            <a:endParaRPr lang="en-IN" sz="24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 approval rate as the number of applications with Loan_Status = "Y" divided by the total number of applications in each Property_Area category.</a:t>
            </a:r>
          </a:p>
          <a:p>
            <a:endParaRPr lang="en-IN" sz="24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Display percentages on the chart, sort the categories by approval rate, add a clear title, and explain the main pattern shown by the chart. </a:t>
            </a:r>
          </a:p>
          <a:p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confuse approval counts with approval rates.</a:t>
            </a:r>
          </a:p>
        </p:txBody>
      </p:sp>
    </p:spTree>
    <p:extLst>
      <p:ext uri="{BB962C8B-B14F-4D97-AF65-F5344CB8AC3E}">
        <p14:creationId xmlns:p14="http://schemas.microsoft.com/office/powerpoint/2010/main" val="2894847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CF380-9DFA-C886-1B28-6D188C5B9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D5B08B-21D6-D0A2-2912-492FEC02AFAA}"/>
              </a:ext>
            </a:extLst>
          </p:cNvPr>
          <p:cNvSpPr txBox="1"/>
          <p:nvPr/>
        </p:nvSpPr>
        <p:spPr>
          <a:xfrm>
            <a:off x="146304" y="0"/>
            <a:ext cx="114025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0428FD-3871-9B3B-37E7-BFD6CB848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408" y="657188"/>
            <a:ext cx="8621328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032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BA9E4C-1197-5B49-099C-0824BF2FF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5005CC-5828-C123-E634-A52A58EF35F7}"/>
              </a:ext>
            </a:extLst>
          </p:cNvPr>
          <p:cNvSpPr txBox="1"/>
          <p:nvPr/>
        </p:nvSpPr>
        <p:spPr>
          <a:xfrm>
            <a:off x="146304" y="0"/>
            <a:ext cx="11338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Level 3: Advanced — Analytical Charts and Dashboards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Focus: Multi-variable analysis, dynamic reports, dashboard design, and communicating business insights.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2C540A-2212-1DEB-1DB4-DDB25A94C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300417"/>
              </p:ext>
            </p:extLst>
          </p:nvPr>
        </p:nvGraphicFramePr>
        <p:xfrm>
          <a:off x="146304" y="1200329"/>
          <a:ext cx="11750040" cy="55911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29800">
                  <a:extLst>
                    <a:ext uri="{9D8B030D-6E8A-4147-A177-3AD203B41FA5}">
                      <a16:colId xmlns:a16="http://schemas.microsoft.com/office/drawing/2014/main" val="180257072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66209844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u="sng" strike="noStrike">
                          <a:effectLst/>
                        </a:rPr>
                        <a:t>Prompt to ask Copilot</a:t>
                      </a:r>
                      <a:endParaRPr lang="en-IN" sz="18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u="sng" strike="noStrike">
                          <a:effectLst/>
                        </a:rPr>
                        <a:t>Chart / skill</a:t>
                      </a:r>
                      <a:endParaRPr lang="en-IN" sz="18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89078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Create a dashboard with KPI cards for total applications, approval rate, average ApplicantIncome, and average LoanAmount.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KPI dashboard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235563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Create a 100% stacked bar chart showing approval and rejection percentages by Gender, Education, and Property_Area.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Normalized comparison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222134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Create a scatter plot of TotalIncome versus LoanAmount, distinguish approved and rejected applications, and add a trendline if appropriate.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Multivariable scatter plot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988818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Create a box plot comparing LoanAmount across approved and rejected applications. Identify differences in spread and median.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Distribution analysis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233832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Create a heatmap of loan approval rates by Credit_History and Property_Area. Include sample counts to avoid misleading comparisons.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Heatmap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57174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Create a Pareto chart showing which applicant categories contribute most to rejected applications.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Pareto analysis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002464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Create a small-multiples chart comparing approval rates across Property_Area for Graduate and Non-Graduate applicants.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Segmented analysis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783528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Create a chart showing the relationship between ApplicantIncome, CoapplicantIncome, and LoanAmount. Recommend the most appropriate chart type.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Multivariable visualization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0839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Build an interactive dashboard with PivotCharts and slicers for Gender, Education, Married, and Property_Area.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Interactive dashboard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625271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Create an executive dashboard with four charts, key findings, and three recommendations for further investigation. Keep the layout suitable for a bank manager.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Business storytelling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5676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2897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B450FF-CE4C-A040-ED78-9886539FB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FEB172-D66A-F625-E158-3F87B87FC613}"/>
              </a:ext>
            </a:extLst>
          </p:cNvPr>
          <p:cNvSpPr txBox="1"/>
          <p:nvPr/>
        </p:nvSpPr>
        <p:spPr>
          <a:xfrm>
            <a:off x="118872" y="0"/>
            <a:ext cx="11832336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output: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prompt</a:t>
            </a:r>
          </a:p>
          <a:p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Act as a data visualization analyst. Design an executive dashboard for a bank manager.</a:t>
            </a:r>
          </a:p>
          <a:p>
            <a:endParaRPr lang="en-IN" sz="24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Include: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KPI cards for total applications, approval rate, average ApplicantIncome, and average LoanAmount.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A chart comparing approval rates by Credit_History.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A chart comparing approval rates by Property_Area.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A chart showing the distribution of ApplicantIncome.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A scatter plot of TotalIncome versus LoanAmount.</a:t>
            </a:r>
          </a:p>
          <a:p>
            <a:endParaRPr lang="en-IN" sz="24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Use clear titles, readable labels, consistent formatting, and appropriate chart types. Calculate rates using percentages rather than raw counts where appropriate. Provide three evidence-based observations from the charts, and distinguish observed associations from causal claims.</a:t>
            </a:r>
          </a:p>
          <a:p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If any chart or dashboard element cannot be created directly, explain how to create it in Excel.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626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3FCAF-D284-5E51-7A53-8FA9011F7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14668A-66B5-2785-920E-57C60A45A746}"/>
              </a:ext>
            </a:extLst>
          </p:cNvPr>
          <p:cNvSpPr txBox="1"/>
          <p:nvPr/>
        </p:nvSpPr>
        <p:spPr>
          <a:xfrm>
            <a:off x="118872" y="0"/>
            <a:ext cx="11832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F330A3-18D9-9D7E-7844-6E4F4E628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" y="1693642"/>
            <a:ext cx="12073128" cy="50566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78FFEE-8C6B-D600-A62A-AA5A69DF2A18}"/>
              </a:ext>
            </a:extLst>
          </p:cNvPr>
          <p:cNvSpPr txBox="1"/>
          <p:nvPr/>
        </p:nvSpPr>
        <p:spPr>
          <a:xfrm>
            <a:off x="3776472" y="11795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984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1011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63</cp:revision>
  <dcterms:created xsi:type="dcterms:W3CDTF">2026-09-25T02:37:34Z</dcterms:created>
  <dcterms:modified xsi:type="dcterms:W3CDTF">2026-10-09T12:27:16Z</dcterms:modified>
</cp:coreProperties>
</file>