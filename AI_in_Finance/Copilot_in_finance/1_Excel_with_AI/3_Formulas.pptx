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72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9T10:52:33.8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24575,'2'1'0,"1"0"0,-1 0 0,1 0 0,-1 0 0,0 1 0,0-1 0,0 1 0,0-1 0,0 1 0,0 0 0,0 0 0,0 0 0,-1 0 0,1 0 0,-1 0 0,1 0 0,-1 1 0,0-1 0,0 0 0,1 4 0,5 6 0,67 107 0,6 11 0,140 174 0,-138-213 0,4-3 0,140 108 0,216 129 0,-148-115 0,-53-20 0,-7 10 0,224 251 0,-55-77 0,31-34 0,138 120 0,-505-398 0,-4 4 0,73 95 0,89 161 0,157 244 0,-122-184 0,27 7 0,-168-234 0,75 143 0,-112-165 0,392 594 0,-301-448 0,-25-37 0,14-8 0,60 93 0,370 569 0,-321-495 0,287 560 0,-51 47 0,-40-201 0,-211-387 0,-119-204 0,-65-109 0,63 132 0,-32-32 0,9-4 0,194 264 0,-229-357 0,72 137 0,17 91 0,-116-214 0,129 289 0,-150-354 0,95 196 0,-95-188 0,36 132 0,-59-180 0,1 0 0,0-1 0,2 0 0,15 24 0,-13-23 0,0 0 0,12 35 0,-22-43 0,-9-13 0,-15-17 0,19 15 0,-33-29 0,-37-35 0,-104-71 0,141 115 0,20 14 0,1 0 0,0-2 0,1 1 0,0-2 0,1 0 0,-14-17 0,0 0 0,27 29 0,-1-1 0,1 1 0,-1 0 0,1-1 0,-1 1 0,0 0 0,0 0 0,1 0 0,-1 1 0,0-1 0,0 0 0,0 1 0,0-1 0,0 1 0,0-1 0,-3 1 0,13 8 0,372 257 0,-69-49 0,-283-196 0,-20-12 0,1-1 0,1-1 0,-1 1 0,1-1 0,0-1 0,0 0 0,1 0 0,14 3 0,-23-7 0,-1-1 0,0 0 0,1 0 0,-1 0 0,1 0 0,-1 0 0,0 0 0,1 0 0,-1-1 0,0 1 0,1 0 0,-1-1 0,0 1 0,0-1 0,1 1 0,-1-1 0,0 0 0,0 1 0,0-1 0,0 0 0,0 0 0,0 0 0,0 0 0,0 0 0,0 0 0,0 0 0,0 0 0,-1 0 0,1 0 0,0-1 0,-1 1 0,1 0 0,-1 0 0,0-1 0,1 1 0,-1 0 0,0-1 0,0 1 0,1-3 0,0-7 0,0-1 0,-1 1 0,-2-21 0,1 18 0,-8-670-1231,9 672 1097,0-13-6692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B9DE0-307C-44AA-9A14-2F76096277F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43FF3-6C40-4107-91BB-30F1D3636F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53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41020-D2C1-2A7A-0E52-12FBDC02B9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02FB2F-73EE-EEF7-DFBD-ECC73E497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614669-ADA7-7DA6-FCC9-60DD2B6B058F}"/>
              </a:ext>
            </a:extLst>
          </p:cNvPr>
          <p:cNvSpPr txBox="1"/>
          <p:nvPr/>
        </p:nvSpPr>
        <p:spPr>
          <a:xfrm>
            <a:off x="2352675" y="2337739"/>
            <a:ext cx="74866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>
                <a:solidFill>
                  <a:schemeClr val="accent6">
                    <a:lumMod val="60000"/>
                    <a:lumOff val="40000"/>
                  </a:schemeClr>
                </a:solidFill>
              </a:rPr>
              <a:t>Analyze data</a:t>
            </a:r>
          </a:p>
        </p:txBody>
      </p:sp>
    </p:spTree>
    <p:extLst>
      <p:ext uri="{BB962C8B-B14F-4D97-AF65-F5344CB8AC3E}">
        <p14:creationId xmlns:p14="http://schemas.microsoft.com/office/powerpoint/2010/main" val="1890387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174BC9-4555-823F-D014-85E97F8EA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21E5B4-252F-FC2C-247D-FAB6FA6FE878}"/>
              </a:ext>
            </a:extLst>
          </p:cNvPr>
          <p:cNvSpPr txBox="1"/>
          <p:nvPr/>
        </p:nvSpPr>
        <p:spPr>
          <a:xfrm>
            <a:off x="2352675" y="2337739"/>
            <a:ext cx="748665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>
                <a:solidFill>
                  <a:schemeClr val="accent6">
                    <a:lumMod val="60000"/>
                    <a:lumOff val="40000"/>
                  </a:schemeClr>
                </a:solidFill>
              </a:rPr>
              <a:t>I used Copilot Premium paid</a:t>
            </a:r>
          </a:p>
          <a:p>
            <a:pPr algn="ctr"/>
            <a:r>
              <a:rPr lang="en-IN" sz="4400">
                <a:solidFill>
                  <a:schemeClr val="accent6">
                    <a:lumMod val="60000"/>
                    <a:lumOff val="40000"/>
                  </a:schemeClr>
                </a:solidFill>
              </a:rPr>
              <a:t>(Rs. 2000 aprox. per month)</a:t>
            </a:r>
          </a:p>
        </p:txBody>
      </p:sp>
    </p:spTree>
    <p:extLst>
      <p:ext uri="{BB962C8B-B14F-4D97-AF65-F5344CB8AC3E}">
        <p14:creationId xmlns:p14="http://schemas.microsoft.com/office/powerpoint/2010/main" val="3480623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7AE100-316B-4479-65A0-AF9FD7B1E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2D6DB9-1816-7F65-1214-94D0C213AB13}"/>
              </a:ext>
            </a:extLst>
          </p:cNvPr>
          <p:cNvSpPr txBox="1"/>
          <p:nvPr/>
        </p:nvSpPr>
        <p:spPr>
          <a:xfrm>
            <a:off x="0" y="0"/>
            <a:ext cx="10497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I opened the file in onedrive and clicked on Copilot Icon(Bottom right)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246FFD-40D3-A892-E1FF-9407ECFD0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1001088"/>
            <a:ext cx="11524488" cy="575615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01344AF-5F74-826E-B694-3388395D42DE}"/>
                  </a:ext>
                </a:extLst>
              </p14:cNvPr>
              <p14:cNvContentPartPr/>
              <p14:nvPr/>
            </p14:nvContentPartPr>
            <p14:xfrm>
              <a:off x="7507224" y="411408"/>
              <a:ext cx="4210920" cy="57495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01344AF-5F74-826E-B694-3388395D42D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89224" y="393408"/>
                <a:ext cx="4246560" cy="578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2364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F00686-8069-EEE3-F791-B81E9ED8B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CFF4383-1B19-5259-E1C7-0261FAD9CAC5}"/>
              </a:ext>
            </a:extLst>
          </p:cNvPr>
          <p:cNvSpPr txBox="1"/>
          <p:nvPr/>
        </p:nvSpPr>
        <p:spPr>
          <a:xfrm>
            <a:off x="134874" y="81064"/>
            <a:ext cx="110208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Level 1: Beginner</a:t>
            </a: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Basic formulas and functions:  arithmetic operations, cell references, basic statistical functions, and simple logical conditions.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E048B0B-5C3A-EF45-8346-FBB71670D4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4700432"/>
              </p:ext>
            </p:extLst>
          </p:nvPr>
        </p:nvGraphicFramePr>
        <p:xfrm>
          <a:off x="399287" y="1435608"/>
          <a:ext cx="11643362" cy="4976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494365">
                  <a:extLst>
                    <a:ext uri="{9D8B030D-6E8A-4147-A177-3AD203B41FA5}">
                      <a16:colId xmlns:a16="http://schemas.microsoft.com/office/drawing/2014/main" val="660447799"/>
                    </a:ext>
                  </a:extLst>
                </a:gridCol>
                <a:gridCol w="2148997">
                  <a:extLst>
                    <a:ext uri="{9D8B030D-6E8A-4147-A177-3AD203B41FA5}">
                      <a16:colId xmlns:a16="http://schemas.microsoft.com/office/drawing/2014/main" val="945985658"/>
                    </a:ext>
                  </a:extLst>
                </a:gridCol>
              </a:tblGrid>
              <a:tr h="1810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1" u="sng" strike="noStrike">
                          <a:effectLst/>
                        </a:rPr>
                        <a:t>Question to ask Copilot</a:t>
                      </a:r>
                      <a:endParaRPr lang="en-IN" sz="20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5" marR="9055" marT="905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1" u="sng" strike="noStrike">
                          <a:effectLst/>
                        </a:rPr>
                        <a:t>Formula / function students learn</a:t>
                      </a:r>
                      <a:endParaRPr lang="en-IN" sz="20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5" marR="9055" marT="9055" marB="0" anchor="ctr"/>
                </a:tc>
                <a:extLst>
                  <a:ext uri="{0D108BD9-81ED-4DB2-BD59-A6C34878D82A}">
                    <a16:rowId xmlns:a16="http://schemas.microsoft.com/office/drawing/2014/main" val="1133058570"/>
                  </a:ext>
                </a:extLst>
              </a:tr>
              <a:tr h="1810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Write an Excel formula to calculate the total income of an applicant by adding ApplicantIncome and CoapplicantIncome.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5" marR="9055" marT="905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SUM or +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055" marR="9055" marT="9055" marB="0" anchor="ctr"/>
                </a:tc>
                <a:extLst>
                  <a:ext uri="{0D108BD9-81ED-4DB2-BD59-A6C34878D82A}">
                    <a16:rowId xmlns:a16="http://schemas.microsoft.com/office/drawing/2014/main" val="2535858633"/>
                  </a:ext>
                </a:extLst>
              </a:tr>
              <a:tr h="1810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Write a formula to calculate the average ApplicantIncome for all applicants.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5" marR="9055" marT="905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AVERAGE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055" marR="9055" marT="9055" marB="0" anchor="ctr"/>
                </a:tc>
                <a:extLst>
                  <a:ext uri="{0D108BD9-81ED-4DB2-BD59-A6C34878D82A}">
                    <a16:rowId xmlns:a16="http://schemas.microsoft.com/office/drawing/2014/main" val="1565257578"/>
                  </a:ext>
                </a:extLst>
              </a:tr>
              <a:tr h="1810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Write a formula to find the highest LoanAmount in the dataset.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5" marR="9055" marT="905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MAX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055" marR="9055" marT="9055" marB="0" anchor="ctr"/>
                </a:tc>
                <a:extLst>
                  <a:ext uri="{0D108BD9-81ED-4DB2-BD59-A6C34878D82A}">
                    <a16:rowId xmlns:a16="http://schemas.microsoft.com/office/drawing/2014/main" val="1181270657"/>
                  </a:ext>
                </a:extLst>
              </a:tr>
              <a:tr h="1810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Write a formula to find the lowest LoanAmount in the dataset.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5" marR="9055" marT="905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MIN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055" marR="9055" marT="9055" marB="0" anchor="ctr"/>
                </a:tc>
                <a:extLst>
                  <a:ext uri="{0D108BD9-81ED-4DB2-BD59-A6C34878D82A}">
                    <a16:rowId xmlns:a16="http://schemas.microsoft.com/office/drawing/2014/main" val="3174009013"/>
                  </a:ext>
                </a:extLst>
              </a:tr>
              <a:tr h="1810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Write a formula to count the total number of loan applications using Loan_ID.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5" marR="9055" marT="905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COUNTA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055" marR="9055" marT="9055" marB="0" anchor="ctr"/>
                </a:tc>
                <a:extLst>
                  <a:ext uri="{0D108BD9-81ED-4DB2-BD59-A6C34878D82A}">
                    <a16:rowId xmlns:a16="http://schemas.microsoft.com/office/drawing/2014/main" val="3311078191"/>
                  </a:ext>
                </a:extLst>
              </a:tr>
              <a:tr h="1810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Write a formula to calculate the average LoanAmount, ignoring blank cells.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5" marR="9055" marT="905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AVERAGE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055" marR="9055" marT="9055" marB="0" anchor="ctr"/>
                </a:tc>
                <a:extLst>
                  <a:ext uri="{0D108BD9-81ED-4DB2-BD59-A6C34878D82A}">
                    <a16:rowId xmlns:a16="http://schemas.microsoft.com/office/drawing/2014/main" val="186554186"/>
                  </a:ext>
                </a:extLst>
              </a:tr>
              <a:tr h="1810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Write a formula to display "Approved" if Loan_Status is Y, otherwise display "Rejected".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5" marR="9055" marT="905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IF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055" marR="9055" marT="9055" marB="0" anchor="ctr"/>
                </a:tc>
                <a:extLst>
                  <a:ext uri="{0D108BD9-81ED-4DB2-BD59-A6C34878D82A}">
                    <a16:rowId xmlns:a16="http://schemas.microsoft.com/office/drawing/2014/main" val="3139853100"/>
                  </a:ext>
                </a:extLst>
              </a:tr>
              <a:tr h="1810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Write a formula to calculate the total monthly income from ApplicantIncome and CoapplicantIncome.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5" marR="9055" marT="905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Arithmetic operators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5" marR="9055" marT="9055" marB="0" anchor="ctr"/>
                </a:tc>
                <a:extLst>
                  <a:ext uri="{0D108BD9-81ED-4DB2-BD59-A6C34878D82A}">
                    <a16:rowId xmlns:a16="http://schemas.microsoft.com/office/drawing/2014/main" val="2156823103"/>
                  </a:ext>
                </a:extLst>
              </a:tr>
              <a:tr h="1810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Write a formula to check whether ApplicantIncome is greater than ₹5,000. Return "High Income" or "Low Income".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5" marR="9055" marT="905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IF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055" marR="9055" marT="9055" marB="0" anchor="ctr"/>
                </a:tc>
                <a:extLst>
                  <a:ext uri="{0D108BD9-81ED-4DB2-BD59-A6C34878D82A}">
                    <a16:rowId xmlns:a16="http://schemas.microsoft.com/office/drawing/2014/main" val="3151030368"/>
                  </a:ext>
                </a:extLst>
              </a:tr>
              <a:tr h="1810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Write a formula to calculate the loan amount after adding a 10% processing fee.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5" marR="9055" marT="905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Arithmetic operations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5" marR="9055" marT="9055" marB="0" anchor="ctr"/>
                </a:tc>
                <a:extLst>
                  <a:ext uri="{0D108BD9-81ED-4DB2-BD59-A6C34878D82A}">
                    <a16:rowId xmlns:a16="http://schemas.microsoft.com/office/drawing/2014/main" val="5795440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9021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FBE1CE-ACC6-7CFE-A419-A46E537BD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7354911-CFF6-8465-2B89-89A1C480BDE8}"/>
              </a:ext>
            </a:extLst>
          </p:cNvPr>
          <p:cNvSpPr txBox="1"/>
          <p:nvPr/>
        </p:nvSpPr>
        <p:spPr>
          <a:xfrm>
            <a:off x="134874" y="81064"/>
            <a:ext cx="22974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Sample  output:</a:t>
            </a: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540A57-843B-4B26-3DEE-4B9DA166D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0565"/>
            <a:ext cx="12223707" cy="48663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B9CF60-2BFE-782C-5BAE-826752790AC5}"/>
              </a:ext>
            </a:extLst>
          </p:cNvPr>
          <p:cNvSpPr txBox="1"/>
          <p:nvPr/>
        </p:nvSpPr>
        <p:spPr>
          <a:xfrm>
            <a:off x="134874" y="582538"/>
            <a:ext cx="118628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Write a formula to calculate the total monthly income from ApplicantIncome and CoapplicantIncome.</a:t>
            </a: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5206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B73C45-F1B4-8532-E4EF-529953234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3B9BEF-F4B2-3E73-1EEA-70F82B09C9C4}"/>
              </a:ext>
            </a:extLst>
          </p:cNvPr>
          <p:cNvSpPr txBox="1"/>
          <p:nvPr/>
        </p:nvSpPr>
        <p:spPr>
          <a:xfrm>
            <a:off x="313182" y="167932"/>
            <a:ext cx="107327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Level 2: Intermediate</a:t>
            </a: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Conditional formulas and lookups: conditional calculations, multiple criteria, error handling, text manipulation, and date or lookup functions.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81537DC-B8A3-61E1-AAE5-6B5E84AD29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395148"/>
              </p:ext>
            </p:extLst>
          </p:nvPr>
        </p:nvGraphicFramePr>
        <p:xfrm>
          <a:off x="91440" y="1555814"/>
          <a:ext cx="11859768" cy="46716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78071">
                  <a:extLst>
                    <a:ext uri="{9D8B030D-6E8A-4147-A177-3AD203B41FA5}">
                      <a16:colId xmlns:a16="http://schemas.microsoft.com/office/drawing/2014/main" val="837041178"/>
                    </a:ext>
                  </a:extLst>
                </a:gridCol>
                <a:gridCol w="2581697">
                  <a:extLst>
                    <a:ext uri="{9D8B030D-6E8A-4147-A177-3AD203B41FA5}">
                      <a16:colId xmlns:a16="http://schemas.microsoft.com/office/drawing/2014/main" val="3209245352"/>
                    </a:ext>
                  </a:extLst>
                </a:gridCol>
              </a:tblGrid>
              <a:tr h="1810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1" u="sng" strike="noStrike">
                          <a:effectLst/>
                        </a:rPr>
                        <a:t>Question to ask Copilot</a:t>
                      </a:r>
                      <a:endParaRPr lang="en-IN" sz="20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5" marR="9055" marT="905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1" u="sng" strike="noStrike">
                          <a:effectLst/>
                        </a:rPr>
                        <a:t>Formula / function </a:t>
                      </a:r>
                    </a:p>
                    <a:p>
                      <a:pPr algn="l" fontAlgn="ctr">
                        <a:buNone/>
                      </a:pPr>
                      <a:r>
                        <a:rPr lang="en-IN" sz="2000" b="1" u="sng" strike="noStrike">
                          <a:effectLst/>
                        </a:rPr>
                        <a:t>students learn</a:t>
                      </a:r>
                      <a:endParaRPr lang="en-IN" sz="20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5" marR="9055" marT="9055" marB="0" anchor="ctr"/>
                </a:tc>
                <a:extLst>
                  <a:ext uri="{0D108BD9-81ED-4DB2-BD59-A6C34878D82A}">
                    <a16:rowId xmlns:a16="http://schemas.microsoft.com/office/drawing/2014/main" val="3269305556"/>
                  </a:ext>
                </a:extLst>
              </a:tr>
              <a:tr h="1810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Write a formula to count how many loan applications were approved.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5" marR="9055" marT="905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COUNTIF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055" marR="9055" marT="9055" marB="0" anchor="ctr"/>
                </a:tc>
                <a:extLst>
                  <a:ext uri="{0D108BD9-81ED-4DB2-BD59-A6C34878D82A}">
                    <a16:rowId xmlns:a16="http://schemas.microsoft.com/office/drawing/2014/main" val="1078598491"/>
                  </a:ext>
                </a:extLst>
              </a:tr>
              <a:tr h="1810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Calculate the average ApplicantIncome of approved applicants only.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5" marR="9055" marT="905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AVERAGEIF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055" marR="9055" marT="9055" marB="0" anchor="ctr"/>
                </a:tc>
                <a:extLst>
                  <a:ext uri="{0D108BD9-81ED-4DB2-BD59-A6C34878D82A}">
                    <a16:rowId xmlns:a16="http://schemas.microsoft.com/office/drawing/2014/main" val="491967434"/>
                  </a:ext>
                </a:extLst>
              </a:tr>
              <a:tr h="1810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Calculate the average LoanAmount for applicants who have a credit history of 1.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5" marR="9055" marT="905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AVERAGEIF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055" marR="9055" marT="9055" marB="0" anchor="ctr"/>
                </a:tc>
                <a:extLst>
                  <a:ext uri="{0D108BD9-81ED-4DB2-BD59-A6C34878D82A}">
                    <a16:rowId xmlns:a16="http://schemas.microsoft.com/office/drawing/2014/main" val="855382248"/>
                  </a:ext>
                </a:extLst>
              </a:tr>
              <a:tr h="1810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Count applications where Loan_Status is Y and Credit_History is 1.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5" marR="9055" marT="905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COUNTIFS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055" marR="9055" marT="9055" marB="0" anchor="ctr"/>
                </a:tc>
                <a:extLst>
                  <a:ext uri="{0D108BD9-81ED-4DB2-BD59-A6C34878D82A}">
                    <a16:rowId xmlns:a16="http://schemas.microsoft.com/office/drawing/2014/main" val="4118016357"/>
                  </a:ext>
                </a:extLst>
              </a:tr>
              <a:tr h="1810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Calculate the total income of applicants whose Property_Area is Urban.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5" marR="9055" marT="905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SUMIF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055" marR="9055" marT="9055" marB="0" anchor="ctr"/>
                </a:tc>
                <a:extLst>
                  <a:ext uri="{0D108BD9-81ED-4DB2-BD59-A6C34878D82A}">
                    <a16:rowId xmlns:a16="http://schemas.microsoft.com/office/drawing/2014/main" val="1302954903"/>
                  </a:ext>
                </a:extLst>
              </a:tr>
              <a:tr h="1810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Display "Eligible" if Credit_History is 1 and ApplicantIncome is greater than 5,000; otherwise display "Review".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5" marR="9055" marT="905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IF with AND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055" marR="9055" marT="9055" marB="0" anchor="ctr"/>
                </a:tc>
                <a:extLst>
                  <a:ext uri="{0D108BD9-81ED-4DB2-BD59-A6C34878D82A}">
                    <a16:rowId xmlns:a16="http://schemas.microsoft.com/office/drawing/2014/main" val="2990535635"/>
                  </a:ext>
                </a:extLst>
              </a:tr>
              <a:tr h="1810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Display "High", "Medium", or "Low" based on ApplicantIncome: above 6,000, above 3,000, or otherwise.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5" marR="9055" marT="905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Nested IF or IFS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5" marR="9055" marT="9055" marB="0" anchor="ctr"/>
                </a:tc>
                <a:extLst>
                  <a:ext uri="{0D108BD9-81ED-4DB2-BD59-A6C34878D82A}">
                    <a16:rowId xmlns:a16="http://schemas.microsoft.com/office/drawing/2014/main" val="1871079563"/>
                  </a:ext>
                </a:extLst>
              </a:tr>
              <a:tr h="1810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Write a formula to calculate the percentage of loan applications approved.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5" marR="9055" marT="905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COUNTIF and COUNTA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055" marR="9055" marT="9055" marB="0" anchor="ctr"/>
                </a:tc>
                <a:extLst>
                  <a:ext uri="{0D108BD9-81ED-4DB2-BD59-A6C34878D82A}">
                    <a16:rowId xmlns:a16="http://schemas.microsoft.com/office/drawing/2014/main" val="3909491564"/>
                  </a:ext>
                </a:extLst>
              </a:tr>
              <a:tr h="1810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Write a formula to retrieve the Education value for a given Loan_ID.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5" marR="9055" marT="905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XLOOKUP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055" marR="9055" marT="9055" marB="0" anchor="ctr"/>
                </a:tc>
                <a:extLst>
                  <a:ext uri="{0D108BD9-81ED-4DB2-BD59-A6C34878D82A}">
                    <a16:rowId xmlns:a16="http://schemas.microsoft.com/office/drawing/2014/main" val="452272478"/>
                  </a:ext>
                </a:extLst>
              </a:tr>
              <a:tr h="1810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Write a formula that returns "Missing Loan Amount" if LoanAmount is blank; otherwise returns "Available".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5" marR="9055" marT="905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IF and ISBLANK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055" marR="9055" marT="9055" marB="0" anchor="ctr"/>
                </a:tc>
                <a:extLst>
                  <a:ext uri="{0D108BD9-81ED-4DB2-BD59-A6C34878D82A}">
                    <a16:rowId xmlns:a16="http://schemas.microsoft.com/office/drawing/2014/main" val="29354216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6182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018C0F-1D2C-4B9A-CCCF-5E8847A6D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57768BF-D344-A5AB-CE2E-DE0FD445240B}"/>
              </a:ext>
            </a:extLst>
          </p:cNvPr>
          <p:cNvSpPr txBox="1"/>
          <p:nvPr/>
        </p:nvSpPr>
        <p:spPr>
          <a:xfrm>
            <a:off x="134874" y="81064"/>
            <a:ext cx="22974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Sample  output:</a:t>
            </a: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74C68-8E93-9A6E-E278-0F0676BC4401}"/>
              </a:ext>
            </a:extLst>
          </p:cNvPr>
          <p:cNvSpPr txBox="1"/>
          <p:nvPr/>
        </p:nvSpPr>
        <p:spPr>
          <a:xfrm>
            <a:off x="134874" y="582538"/>
            <a:ext cx="118628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Write a formula to retrieve the Education value for a given Loan_ID.</a:t>
            </a: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  <a:latin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41ADFB-8617-75AE-0BCC-957DDC357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408"/>
            <a:ext cx="12192000" cy="4952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532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AE6BE6-95F6-E007-229C-0F4E8F984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064603-DD1C-2606-828F-948A426610C6}"/>
              </a:ext>
            </a:extLst>
          </p:cNvPr>
          <p:cNvSpPr txBox="1"/>
          <p:nvPr/>
        </p:nvSpPr>
        <p:spPr>
          <a:xfrm>
            <a:off x="313182" y="167932"/>
            <a:ext cx="107327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Level 3: Advanced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Dynamic formulas and complex analysis: dynamic arrays, multi-condition analysis, advanced lookups, formula combinations, and reusable calculations.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C2967C7-9A74-C769-9364-9B0C129F67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463198"/>
              </p:ext>
            </p:extLst>
          </p:nvPr>
        </p:nvGraphicFramePr>
        <p:xfrm>
          <a:off x="152400" y="2028825"/>
          <a:ext cx="11887200" cy="28003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73896">
                  <a:extLst>
                    <a:ext uri="{9D8B030D-6E8A-4147-A177-3AD203B41FA5}">
                      <a16:colId xmlns:a16="http://schemas.microsoft.com/office/drawing/2014/main" val="4193883778"/>
                    </a:ext>
                  </a:extLst>
                </a:gridCol>
                <a:gridCol w="2813304">
                  <a:extLst>
                    <a:ext uri="{9D8B030D-6E8A-4147-A177-3AD203B41FA5}">
                      <a16:colId xmlns:a16="http://schemas.microsoft.com/office/drawing/2014/main" val="299298285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1" u="sng" strike="noStrike">
                          <a:effectLst/>
                        </a:rPr>
                        <a:t>Question to ask Copilot</a:t>
                      </a:r>
                      <a:endParaRPr lang="en-IN" sz="20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1" u="sng" strike="noStrike">
                          <a:effectLst/>
                        </a:rPr>
                        <a:t>Formula / function </a:t>
                      </a:r>
                    </a:p>
                    <a:p>
                      <a:pPr algn="l" fontAlgn="ctr">
                        <a:buNone/>
                      </a:pPr>
                      <a:r>
                        <a:rPr lang="en-IN" sz="2000" b="1" u="sng" strike="noStrike">
                          <a:effectLst/>
                        </a:rPr>
                        <a:t>students learn</a:t>
                      </a:r>
                      <a:endParaRPr lang="en-IN" sz="20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3237718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Write a formula to return a unique list of Property_Area values, excluding blanks.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UNIQUE, FILTER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271351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Create a dynamic list of applicants whose Loan_Status is Y and whose ApplicantIncome exceeds 5,000. Return their Loan_ID, income, and loan amount.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FILTER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0976828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Write a formula to rank applicants by ApplicantIncome from highest to lowest.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RANK.EQ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042434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Retrieve LoanAmount using Loan_ID, and display "Not Found" if the ID does not exist.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XLOOKUP, IFNA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637002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Calculate approval rates separately for Urban, Rural, and Semiurban applicants using a formula that can be copied across categories.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COUNTIFS, COUNTIF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69343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3988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1A3F11-8AD8-109B-2ED7-C0AE04D11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E27470-F93B-1E8D-CDB7-1FCA8BE041C9}"/>
              </a:ext>
            </a:extLst>
          </p:cNvPr>
          <p:cNvSpPr txBox="1"/>
          <p:nvPr/>
        </p:nvSpPr>
        <p:spPr>
          <a:xfrm>
            <a:off x="313182" y="167932"/>
            <a:ext cx="107327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Level 3: Advanced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Dynamic formulas and complex analysis: dynamic arrays, multi-condition analysis, advanced lookups, formula combinations, and reusable calculations.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758F80F-9709-D6F6-ECFA-9AC3C50079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198519"/>
              </p:ext>
            </p:extLst>
          </p:nvPr>
        </p:nvGraphicFramePr>
        <p:xfrm>
          <a:off x="225552" y="1670013"/>
          <a:ext cx="11887200" cy="4648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73896">
                  <a:extLst>
                    <a:ext uri="{9D8B030D-6E8A-4147-A177-3AD203B41FA5}">
                      <a16:colId xmlns:a16="http://schemas.microsoft.com/office/drawing/2014/main" val="4193883778"/>
                    </a:ext>
                  </a:extLst>
                </a:gridCol>
                <a:gridCol w="2813304">
                  <a:extLst>
                    <a:ext uri="{9D8B030D-6E8A-4147-A177-3AD203B41FA5}">
                      <a16:colId xmlns:a16="http://schemas.microsoft.com/office/drawing/2014/main" val="299298285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1" u="sng" strike="noStrike">
                          <a:effectLst/>
                        </a:rPr>
                        <a:t>Question to ask Copilot</a:t>
                      </a:r>
                      <a:endParaRPr lang="en-IN" sz="20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1" u="sng" strike="noStrike">
                          <a:effectLst/>
                        </a:rPr>
                        <a:t>Formula / function </a:t>
                      </a:r>
                    </a:p>
                    <a:p>
                      <a:pPr algn="l" fontAlgn="ctr">
                        <a:buNone/>
                      </a:pPr>
                      <a:r>
                        <a:rPr lang="en-IN" sz="2000" b="1" u="sng" strike="noStrike">
                          <a:effectLst/>
                        </a:rPr>
                        <a:t>students learn</a:t>
                      </a:r>
                      <a:endParaRPr lang="en-IN" sz="20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3237718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Write a formula to classify applicants into three groups: </a:t>
                      </a:r>
                    </a:p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"High Risk", "Medium Risk", and "Lower Risk" based on Credit_History and Loan_Status. Clearly state the classification rules.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IFS, AND, OR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899740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Calculate the median LoanAmount for approved applications only.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MEDIAN, FILTER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4302945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Write a formula to calculate the percentage difference between an applicant's income and the overall average income. Handle a zero average safely.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AVERAGE, IFERROR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626483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Generate a dynamic summary table showing the number of applications and approval rate for every Property_Area.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UNIQUE, COUNTIF, COUNTIFS, LET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993747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Write a formula to identify duplicate Loan_ID values and label them "Duplicate" or "Unique".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COUNTIF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00107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Calculate TotalIncome and classify it into income quartiles using a formula.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QUARTILE.INC, IFS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4564865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Create a single formula to return the top five applicants by ApplicantIncome, showing Loan_ID, ApplicantIncome, and Loan_Status.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SORT, TAKE,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43953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1794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0B11D1-55CC-7C58-A627-E3FA7A6B1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68C1A1C-F735-2756-8701-61C663880F7A}"/>
              </a:ext>
            </a:extLst>
          </p:cNvPr>
          <p:cNvSpPr txBox="1"/>
          <p:nvPr/>
        </p:nvSpPr>
        <p:spPr>
          <a:xfrm>
            <a:off x="134874" y="81064"/>
            <a:ext cx="22974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Sample  output:</a:t>
            </a: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F791F9-BFEF-40BB-3C9C-20A9F3E153E3}"/>
              </a:ext>
            </a:extLst>
          </p:cNvPr>
          <p:cNvSpPr txBox="1"/>
          <p:nvPr/>
        </p:nvSpPr>
        <p:spPr>
          <a:xfrm>
            <a:off x="134874" y="582538"/>
            <a:ext cx="118628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Write a formula to classify applicants into three groups: </a:t>
            </a:r>
          </a:p>
          <a:p>
            <a:pPr fontAlgn="ctr"/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"High Risk", "Medium Risk", and "Lower Risk" based on Credit_History and Loan_Status. </a:t>
            </a:r>
          </a:p>
          <a:p>
            <a:pPr fontAlgn="ctr"/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Clearly state the classification rules.</a:t>
            </a:r>
            <a:endParaRPr lang="en-IN" sz="2800">
              <a:solidFill>
                <a:schemeClr val="accent6">
                  <a:lumMod val="60000"/>
                  <a:lumOff val="40000"/>
                </a:schemeClr>
              </a:solidFill>
              <a:latin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4225D0-6DE0-0E64-7FFA-A440AEB08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59265"/>
            <a:ext cx="12192000" cy="441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086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883</Words>
  <Application>Microsoft Office PowerPoint</Application>
  <PresentationFormat>Widescreen</PresentationFormat>
  <Paragraphs>96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Unicode MS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53</cp:revision>
  <dcterms:created xsi:type="dcterms:W3CDTF">2026-09-25T02:37:34Z</dcterms:created>
  <dcterms:modified xsi:type="dcterms:W3CDTF">2026-10-09T11:14:34Z</dcterms:modified>
</cp:coreProperties>
</file>