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257" r:id="rId3"/>
    <p:sldId id="275" r:id="rId4"/>
    <p:sldId id="278" r:id="rId5"/>
    <p:sldId id="277" r:id="rId6"/>
    <p:sldId id="279" r:id="rId7"/>
    <p:sldId id="280" r:id="rId8"/>
    <p:sldId id="282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56089E-E117-D10E-8343-E281B1FF2F8D}"/>
              </a:ext>
            </a:extLst>
          </p:cNvPr>
          <p:cNvSpPr txBox="1"/>
          <p:nvPr/>
        </p:nvSpPr>
        <p:spPr>
          <a:xfrm>
            <a:off x="109728" y="0"/>
            <a:ext cx="7333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Components of Time Series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time series is made up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building blocks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job as an analyst is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decompose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series and understand each part.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19852-2531-222B-5BDC-C05715643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3713623"/>
            <a:ext cx="11652504" cy="2835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FA53E5-4F0C-A67F-66F8-EB869E372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1" y="256827"/>
            <a:ext cx="1635002" cy="378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D8706F-5E70-F0EA-D019-1147D999BB11}"/>
              </a:ext>
            </a:extLst>
          </p:cNvPr>
          <p:cNvSpPr txBox="1"/>
          <p:nvPr/>
        </p:nvSpPr>
        <p:spPr>
          <a:xfrm>
            <a:off x="211836" y="659029"/>
            <a:ext cx="117683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Component 1 — Trend 📈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direction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 series — rising, falling, or flat.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Ignores short-term fluctuations.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Rising trend → loan disbursements growing year on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Falling trend → cheque usage declining over a decade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Flat trend → stable utility consumption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B6EBF-A8DB-99C6-5DBC-80F5ED992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60" y="3948869"/>
            <a:ext cx="10764752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DBA351-810A-F010-2A29-A013BD94B7D1}"/>
              </a:ext>
            </a:extLst>
          </p:cNvPr>
          <p:cNvSpPr txBox="1"/>
          <p:nvPr/>
        </p:nvSpPr>
        <p:spPr>
          <a:xfrm>
            <a:off x="292141" y="320789"/>
            <a:ext cx="105704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Component 2 — Seasonality 🔄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Regular, repeating patterns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tied to a fixed calendar period — daily, weekly, monthly, yearly.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Retail sales spike every December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card spends peak on weekends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Tax payments spike every March in India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point: Seasonality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predictable and fixed in period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You know it will repeat.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9036E-EEDD-499B-32FE-DDE0B1DEF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802" y="3612628"/>
            <a:ext cx="9697803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2B699-5F06-3687-1EB8-5233D276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043C48-04EF-C49E-C4F3-1E764DE54A51}"/>
              </a:ext>
            </a:extLst>
          </p:cNvPr>
          <p:cNvSpPr txBox="1"/>
          <p:nvPr/>
        </p:nvSpPr>
        <p:spPr>
          <a:xfrm>
            <a:off x="192024" y="71134"/>
            <a:ext cx="10570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Component 3 — Cyclicality 🌊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waves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rise and fall but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fixed in period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Driven by economic or business cycles.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defaults rise during recessions, fall during booms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estate prices over 10–15 year cycles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difference from seasonality: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Cycles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irregular in timing and length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you can't say "it repeats every 12 months."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D8C7D-F77A-1656-A479-67C905DE6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3855413"/>
            <a:ext cx="11643360" cy="273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5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B5FA1-03A8-E3F3-7641-0725BA89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42A605-AEA7-68BB-928C-5987CAFE3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054186"/>
              </p:ext>
            </p:extLst>
          </p:nvPr>
        </p:nvGraphicFramePr>
        <p:xfrm>
          <a:off x="280416" y="1194086"/>
          <a:ext cx="9915144" cy="1828800"/>
        </p:xfrm>
        <a:graphic>
          <a:graphicData uri="http://schemas.openxmlformats.org/drawingml/2006/table">
            <a:tbl>
              <a:tblPr/>
              <a:tblGrid>
                <a:gridCol w="2755392">
                  <a:extLst>
                    <a:ext uri="{9D8B030D-6E8A-4147-A177-3AD203B41FA5}">
                      <a16:colId xmlns:a16="http://schemas.microsoft.com/office/drawing/2014/main" val="1620301170"/>
                    </a:ext>
                  </a:extLst>
                </a:gridCol>
                <a:gridCol w="3419856">
                  <a:extLst>
                    <a:ext uri="{9D8B030D-6E8A-4147-A177-3AD203B41FA5}">
                      <a16:colId xmlns:a16="http://schemas.microsoft.com/office/drawing/2014/main" val="117494662"/>
                    </a:ext>
                  </a:extLst>
                </a:gridCol>
                <a:gridCol w="3739896">
                  <a:extLst>
                    <a:ext uri="{9D8B030D-6E8A-4147-A177-3AD203B41FA5}">
                      <a16:colId xmlns:a16="http://schemas.microsoft.com/office/drawing/2014/main" val="2805581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Seasonality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Cyclicality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270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Period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Fixed (monthly, yearly)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Irregular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67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Predictability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753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December sales spike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Recession-driven defaults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91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599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ED1F-601E-0639-2610-5B76ABCF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3F6CFA-9F05-CAD3-7627-B4D015DEE1C9}"/>
              </a:ext>
            </a:extLst>
          </p:cNvPr>
          <p:cNvSpPr txBox="1"/>
          <p:nvPr/>
        </p:nvSpPr>
        <p:spPr>
          <a:xfrm>
            <a:off x="219456" y="125998"/>
            <a:ext cx="112379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Component 4 — Noise (Residual) ⚡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random, unexplained variation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left after removing trend, seasonality, and cycles.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sudden spike in defaults due to a flood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One-off festival sales spike not captured by seasonality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cannot model noise — it is random. A good model captures trend + seasonality and leaves only noise as residual.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FA35C-46AB-0962-6F83-2CF730D18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3685015"/>
            <a:ext cx="11731093" cy="270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88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4165B-0A1A-AA37-0B13-035C42C6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5C6B7D-EAEA-E54C-A3EE-3C2EB78930CE}"/>
                  </a:ext>
                </a:extLst>
              </p:cNvPr>
              <p:cNvSpPr txBox="1"/>
              <p:nvPr/>
            </p:nvSpPr>
            <p:spPr>
              <a:xfrm>
                <a:off x="219456" y="419946"/>
                <a:ext cx="10415016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How They Combine — Two Models</a:t>
                </a:r>
              </a:p>
              <a:p>
                <a:pPr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Additive Model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— components add up. 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Use when seasonal swings stay constant over time.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Trend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Seasonal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Cyclical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5C6B7D-EAEA-E54C-A3EE-3C2EB7893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419946"/>
                <a:ext cx="10415016" cy="1938992"/>
              </a:xfrm>
              <a:prstGeom prst="rect">
                <a:avLst/>
              </a:prstGeom>
              <a:blipFill>
                <a:blip r:embed="rId2"/>
                <a:stretch>
                  <a:fillRect l="-878" t="-2516" b="-3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183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35F8-7A3F-AF60-EE36-5CCD07E2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5383F9-6210-AB8A-B01E-16C1AA67CC76}"/>
                  </a:ext>
                </a:extLst>
              </p:cNvPr>
              <p:cNvSpPr txBox="1"/>
              <p:nvPr/>
            </p:nvSpPr>
            <p:spPr>
              <a:xfrm>
                <a:off x="219456" y="419946"/>
                <a:ext cx="10415016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How They Combine — Two Models</a:t>
                </a:r>
              </a:p>
              <a:p>
                <a:pPr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Multiplicative Model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— components multiply. 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Use when seasonal swings grow as the trend grows.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Trend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Seasonal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Cyclical</m:t>
                      </m:r>
                      <m:r>
                        <a:rPr lang="en-US" sz="2400" b="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400" b="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5383F9-6210-AB8A-B01E-16C1AA67C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" y="419946"/>
                <a:ext cx="10415016" cy="1938992"/>
              </a:xfrm>
              <a:prstGeom prst="rect">
                <a:avLst/>
              </a:prstGeom>
              <a:blipFill>
                <a:blip r:embed="rId2"/>
                <a:stretch>
                  <a:fillRect l="-878" t="-2516" b="-3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1FC2EE3-9C23-A63C-44B9-2B50C6DBF05A}"/>
              </a:ext>
            </a:extLst>
          </p:cNvPr>
          <p:cNvSpPr txBox="1"/>
          <p:nvPr/>
        </p:nvSpPr>
        <p:spPr>
          <a:xfrm>
            <a:off x="219456" y="2520619"/>
            <a:ext cx="9459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rule: If the seasonal peaks get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taller as the series grows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use multiplicative.</a:t>
            </a:r>
          </a:p>
        </p:txBody>
      </p:sp>
    </p:spTree>
    <p:extLst>
      <p:ext uri="{BB962C8B-B14F-4D97-AF65-F5344CB8AC3E}">
        <p14:creationId xmlns:p14="http://schemas.microsoft.com/office/powerpoint/2010/main" val="1774199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8586-4157-102C-CE0E-36A59A1CA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273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1096</TotalTime>
  <Words>363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181</cp:revision>
  <dcterms:created xsi:type="dcterms:W3CDTF">2025-09-22T02:44:38Z</dcterms:created>
  <dcterms:modified xsi:type="dcterms:W3CDTF">2026-05-16T11:02:56Z</dcterms:modified>
</cp:coreProperties>
</file>