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78" r:id="rId3"/>
    <p:sldId id="277" r:id="rId4"/>
    <p:sldId id="279" r:id="rId5"/>
    <p:sldId id="257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06.6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24575,'37'49'0,"-23"-36"0,1-1 0,29 18 0,19 16 0,-2 10 0,-21-19 0,63 46 0,-74-60 0,-1 1 0,-2 1 0,44 54 0,-1-1 0,129 145 0,-183-207-22,1-1 0,0-1 0,1 0 0,0-1 0,36 20 0,-10-6-1211,-25-14-5593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08.5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156 1 24575,'1'4'0,"0"0"0,0 1 0,0-1 0,1 0 0,0 0 0,-1 0 0,2-1 0,3 7 0,6 14 0,7 33 0,13 76 0,-2-6 0,-27-120 0,-1 0 0,0 0 0,-1 0 0,0 0 0,0 0 0,0 1 0,-1-1 0,-1 14 0,0-18 0,0 0 0,-1 0 0,1 0 0,-1 0 0,1 0 0,-1 0 0,0 0 0,0-1 0,0 1 0,0-1 0,-1 1 0,1-1 0,-1 0 0,1 0 0,-1 0 0,0-1 0,0 1 0,0 0 0,0-1 0,0 0 0,0 0 0,-3 1 0,-18 5-273,0-1 0,0-2 0,0 0 0,-48 0 0,18-2-6553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10.1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1 921 24575,'0'-11'0,"0"0"0,1 0 0,0 0 0,1 0 0,1 1 0,0-1 0,0 1 0,8-18 0,-1 11 0,0 0 0,1 0 0,1 2 0,14-16 0,23-26 0,160-193 0,-191 230 0,1 0 0,1 1 0,0 2 0,2 0 0,26-16 0,25-19 0,1-3-455,2 4 0,108-54 0,-158 91-6371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11.5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24575,'4'0'0,"11"0"0,14 0 0,17 4 0,0 6 0,-4 2 0,-9 6 0,-10 23 0,-9 8 0,-6 5 0,-6-3 0,-2-6 0,-2-6 0,0-5 0,1-8-8191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19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0 902 23513,'902'-902'0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15.5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24575,'16'35'0,"1"0"0,1-2 0,2 0 0,2-1 0,0-1 0,2-1 0,36 33 0,23 14 0,104 74 0,-36-32 0,-83-68 0,75 44 0,-102-69 0,-10-10 0,0 0 0,1-3 0,1 0 0,53 13 0,45 16 0,-111-35 14,1-1 1,-1-1-1,26 4 0,6 0-1436,-31-4-5404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17.1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237 0 24575,'0'5'0,"5"5"0,9 10 0,3 5 0,3 4 0,-2 0 0,-5 0 0,-12 0 0,-24-6 0,-26-6 0,-17-7 0,-1-4 0,1-4 0,13-1-8191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21.2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800 1 24575,'-17'0'0,"-32"0"0,-42 0 0,-27 0 0,-15 0 0,2 0 0,19 0 0,24 0 0,27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22.1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24575,'0'8'0,"0"8"0,0 9 0,0 10 0,0 6 0,0 2 0,0 1 0,0-1 0,0-1 0,0-2 0,0 0 0,0-2 0,0-8-8191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8:20:23.2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5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1901AD-757C-5D5E-85FC-1996C6F4DDF1}"/>
              </a:ext>
            </a:extLst>
          </p:cNvPr>
          <p:cNvSpPr txBox="1"/>
          <p:nvPr/>
        </p:nvSpPr>
        <p:spPr>
          <a:xfrm>
            <a:off x="356616" y="696944"/>
            <a:ext cx="104607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a Time Series?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series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of data points recorded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order over 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at regular intervals.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word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unlike regular data, you cannot shuffle rows.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sequence matters.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A81D9E-5A82-C7E3-252D-3C5E8C4EA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972277"/>
              </p:ext>
            </p:extLst>
          </p:nvPr>
        </p:nvGraphicFramePr>
        <p:xfrm>
          <a:off x="356616" y="3307418"/>
          <a:ext cx="25786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664">
                  <a:extLst>
                    <a:ext uri="{9D8B030D-6E8A-4147-A177-3AD203B41FA5}">
                      <a16:colId xmlns:a16="http://schemas.microsoft.com/office/drawing/2014/main" val="3492714630"/>
                    </a:ext>
                  </a:extLst>
                </a:gridCol>
                <a:gridCol w="632968">
                  <a:extLst>
                    <a:ext uri="{9D8B030D-6E8A-4147-A177-3AD203B41FA5}">
                      <a16:colId xmlns:a16="http://schemas.microsoft.com/office/drawing/2014/main" val="395410663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3397163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47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Loxford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4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Jerry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83,000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9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06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96801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EC2CBD-CF95-2F62-EC67-94D5A88A1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607523"/>
              </p:ext>
            </p:extLst>
          </p:nvPr>
        </p:nvGraphicFramePr>
        <p:xfrm>
          <a:off x="3380232" y="3295564"/>
          <a:ext cx="25542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664">
                  <a:extLst>
                    <a:ext uri="{9D8B030D-6E8A-4147-A177-3AD203B41FA5}">
                      <a16:colId xmlns:a16="http://schemas.microsoft.com/office/drawing/2014/main" val="3492714630"/>
                    </a:ext>
                  </a:extLst>
                </a:gridCol>
                <a:gridCol w="599440">
                  <a:extLst>
                    <a:ext uri="{9D8B030D-6E8A-4147-A177-3AD203B41FA5}">
                      <a16:colId xmlns:a16="http://schemas.microsoft.com/office/drawing/2014/main" val="395410663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3397163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47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Jerry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83,000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4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Loxford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9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06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96801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12872F-31A2-0028-394E-A02FAFC78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341910"/>
              </p:ext>
            </p:extLst>
          </p:nvPr>
        </p:nvGraphicFramePr>
        <p:xfrm>
          <a:off x="7564120" y="3295564"/>
          <a:ext cx="2055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16">
                  <a:extLst>
                    <a:ext uri="{9D8B030D-6E8A-4147-A177-3AD203B41FA5}">
                      <a16:colId xmlns:a16="http://schemas.microsoft.com/office/drawing/2014/main" val="164599586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240546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3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2026-01-01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697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2026-01-02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02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2026-01-03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15418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6A6D46-7B20-367A-E376-FD497EED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208291"/>
              </p:ext>
            </p:extLst>
          </p:nvPr>
        </p:nvGraphicFramePr>
        <p:xfrm>
          <a:off x="9984232" y="3295564"/>
          <a:ext cx="2055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16">
                  <a:extLst>
                    <a:ext uri="{9D8B030D-6E8A-4147-A177-3AD203B41FA5}">
                      <a16:colId xmlns:a16="http://schemas.microsoft.com/office/drawing/2014/main" val="164599586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240546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3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2026-01-02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697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2026-01-01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02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2026-01-03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154180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7BFCDA28-F82C-6211-C3D8-EEA333C571A6}"/>
              </a:ext>
            </a:extLst>
          </p:cNvPr>
          <p:cNvGrpSpPr/>
          <p:nvPr/>
        </p:nvGrpSpPr>
        <p:grpSpPr>
          <a:xfrm>
            <a:off x="2962584" y="3849336"/>
            <a:ext cx="360000" cy="402840"/>
            <a:chOff x="2962584" y="3849336"/>
            <a:chExt cx="36000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EF157A-288A-792C-B68D-8CD99750D554}"/>
                    </a:ext>
                  </a:extLst>
                </p14:cNvPr>
                <p14:cNvContentPartPr/>
                <p14:nvPr/>
              </p14:nvContentPartPr>
              <p14:xfrm>
                <a:off x="2962584" y="3849336"/>
                <a:ext cx="357840" cy="332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EF157A-288A-792C-B68D-8CD99750D55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44944" y="3831696"/>
                  <a:ext cx="3934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168FB03-AA4D-D207-284C-783B9F7BD5BE}"/>
                    </a:ext>
                  </a:extLst>
                </p14:cNvPr>
                <p14:cNvContentPartPr/>
                <p14:nvPr/>
              </p14:nvContentPartPr>
              <p14:xfrm>
                <a:off x="3217464" y="4013856"/>
                <a:ext cx="100440" cy="194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168FB03-AA4D-D207-284C-783B9F7BD5B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99464" y="3996216"/>
                  <a:ext cx="136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6AA857-F294-4456-7FB9-608E4D07A750}"/>
                    </a:ext>
                  </a:extLst>
                </p14:cNvPr>
                <p14:cNvContentPartPr/>
                <p14:nvPr/>
              </p14:nvContentPartPr>
              <p14:xfrm>
                <a:off x="2971584" y="3920256"/>
                <a:ext cx="335520" cy="331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6AA857-F294-4456-7FB9-608E4D07A7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53944" y="3902256"/>
                  <a:ext cx="3711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58E3728-1DAD-130D-D1DA-9D1679D7AC26}"/>
                    </a:ext>
                  </a:extLst>
                </p14:cNvPr>
                <p14:cNvContentPartPr/>
                <p14:nvPr/>
              </p14:nvContentPartPr>
              <p14:xfrm>
                <a:off x="3227904" y="3858336"/>
                <a:ext cx="94680" cy="138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58E3728-1DAD-130D-D1DA-9D1679D7AC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9904" y="3840696"/>
                  <a:ext cx="13032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0EC6BEF-5BF0-0B26-ED7A-6DCFF33855CF}"/>
                  </a:ext>
                </a:extLst>
              </p14:cNvPr>
              <p14:cNvContentPartPr/>
              <p14:nvPr/>
            </p14:nvContentPartPr>
            <p14:xfrm>
              <a:off x="9546264" y="3908736"/>
              <a:ext cx="325080" cy="325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0EC6BEF-5BF0-0B26-ED7A-6DCFF33855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28264" y="3890736"/>
                <a:ext cx="360720" cy="36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A4406D3-82CD-A45E-ECBE-E1DACFFFD941}"/>
              </a:ext>
            </a:extLst>
          </p:cNvPr>
          <p:cNvGrpSpPr/>
          <p:nvPr/>
        </p:nvGrpSpPr>
        <p:grpSpPr>
          <a:xfrm>
            <a:off x="9445464" y="3794616"/>
            <a:ext cx="525600" cy="377280"/>
            <a:chOff x="9445464" y="3794616"/>
            <a:chExt cx="52560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F93C6D-E084-FFE4-85CE-F94C695D97E1}"/>
                    </a:ext>
                  </a:extLst>
                </p14:cNvPr>
                <p14:cNvContentPartPr/>
                <p14:nvPr/>
              </p14:nvContentPartPr>
              <p14:xfrm>
                <a:off x="9445464" y="3794616"/>
                <a:ext cx="502920" cy="352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F93C6D-E084-FFE4-85CE-F94C695D97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7464" y="3776616"/>
                  <a:ext cx="5385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366496-052B-8F15-343E-D87C7089646E}"/>
                    </a:ext>
                  </a:extLst>
                </p14:cNvPr>
                <p14:cNvContentPartPr/>
                <p14:nvPr/>
              </p14:nvContentPartPr>
              <p14:xfrm>
                <a:off x="9854064" y="4087296"/>
                <a:ext cx="117000" cy="84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366496-052B-8F15-343E-D87C708964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36424" y="4069296"/>
                  <a:ext cx="152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214047D-D5F6-640D-E4D8-ED02D214D400}"/>
                    </a:ext>
                  </a:extLst>
                </p14:cNvPr>
                <p14:cNvContentPartPr/>
                <p14:nvPr/>
              </p14:nvContentPartPr>
              <p14:xfrm>
                <a:off x="9624024" y="3886056"/>
                <a:ext cx="2883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214047D-D5F6-640D-E4D8-ED02D214D40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06024" y="3868416"/>
                  <a:ext cx="324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EE29C8-1A78-8499-CDB6-3FFDA8B5FA3C}"/>
                    </a:ext>
                  </a:extLst>
                </p14:cNvPr>
                <p14:cNvContentPartPr/>
                <p14:nvPr/>
              </p14:nvContentPartPr>
              <p14:xfrm>
                <a:off x="9921024" y="3886056"/>
                <a:ext cx="360" cy="160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EE29C8-1A78-8499-CDB6-3FFDA8B5FA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03024" y="3868416"/>
                  <a:ext cx="3600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CDA6E78-6016-669E-C772-F37556E870A5}"/>
                  </a:ext>
                </a:extLst>
              </p14:cNvPr>
              <p14:cNvContentPartPr/>
              <p14:nvPr/>
            </p14:nvContentPartPr>
            <p14:xfrm>
              <a:off x="8238744" y="5732856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CDA6E78-6016-669E-C772-F37556E870A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20744" y="571521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FE44-B556-8880-8FFA-F2F82DFB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D347D7-A5A1-8414-0DFD-D2E470DA7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1417319"/>
            <a:ext cx="6750993" cy="37822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5D164D-B276-34B8-4287-4F41CB11F128}"/>
              </a:ext>
            </a:extLst>
          </p:cNvPr>
          <p:cNvSpPr txBox="1"/>
          <p:nvPr/>
        </p:nvSpPr>
        <p:spPr>
          <a:xfrm>
            <a:off x="118872" y="166592"/>
            <a:ext cx="1929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B86B0C-1F71-2031-607C-AC99F4FBD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204850"/>
              </p:ext>
            </p:extLst>
          </p:nvPr>
        </p:nvGraphicFramePr>
        <p:xfrm>
          <a:off x="2596896" y="171057"/>
          <a:ext cx="8257032" cy="914400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3199612169"/>
                    </a:ext>
                  </a:extLst>
                </a:gridCol>
                <a:gridCol w="5733288">
                  <a:extLst>
                    <a:ext uri="{9D8B030D-6E8A-4147-A177-3AD203B41FA5}">
                      <a16:colId xmlns:a16="http://schemas.microsoft.com/office/drawing/2014/main" val="2395306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Time Series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755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Daily stock prices, monthly loan defaults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44297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5ADEC8A-6650-B8C5-D841-5F3324AA4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3121046"/>
            <a:ext cx="6193536" cy="332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7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63677-160E-6D14-50C8-D42F30EB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CD6435-A1BD-2CAF-B6AC-E2631121C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3392424"/>
            <a:ext cx="5763720" cy="3390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824C90-66B2-9E61-5570-AE3958D96361}"/>
              </a:ext>
            </a:extLst>
          </p:cNvPr>
          <p:cNvSpPr txBox="1"/>
          <p:nvPr/>
        </p:nvSpPr>
        <p:spPr>
          <a:xfrm>
            <a:off x="118872" y="166592"/>
            <a:ext cx="10460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5EDE35-6C8D-6606-9CE8-83AD4D386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207189"/>
              </p:ext>
            </p:extLst>
          </p:nvPr>
        </p:nvGraphicFramePr>
        <p:xfrm>
          <a:off x="2185416" y="166592"/>
          <a:ext cx="8257032" cy="914400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3199612169"/>
                    </a:ext>
                  </a:extLst>
                </a:gridCol>
                <a:gridCol w="5733288">
                  <a:extLst>
                    <a:ext uri="{9D8B030D-6E8A-4147-A177-3AD203B41FA5}">
                      <a16:colId xmlns:a16="http://schemas.microsoft.com/office/drawing/2014/main" val="2395306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Time Series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755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Banking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Credit card spends per 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12056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834A175-088E-CBD9-B86A-89CDC7953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126" y="1080992"/>
            <a:ext cx="6849874" cy="278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8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56592-DC4A-314B-45A1-DA3C2305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B8DECF-FCF8-20C9-535B-E51C7890ACCF}"/>
              </a:ext>
            </a:extLst>
          </p:cNvPr>
          <p:cNvSpPr txBox="1"/>
          <p:nvPr/>
        </p:nvSpPr>
        <p:spPr>
          <a:xfrm>
            <a:off x="118872" y="166592"/>
            <a:ext cx="10460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Examples: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43EC4B-B99E-A1ED-7B0E-07B1FF36C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17529"/>
              </p:ext>
            </p:extLst>
          </p:nvPr>
        </p:nvGraphicFramePr>
        <p:xfrm>
          <a:off x="2148840" y="1236440"/>
          <a:ext cx="8257032" cy="2743200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3199612169"/>
                    </a:ext>
                  </a:extLst>
                </a:gridCol>
                <a:gridCol w="5733288">
                  <a:extLst>
                    <a:ext uri="{9D8B030D-6E8A-4147-A177-3AD203B41FA5}">
                      <a16:colId xmlns:a16="http://schemas.microsoft.com/office/drawing/2014/main" val="2395306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Time Series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755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Daily stock prices, monthly loan defaults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44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Banking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Credit card spends per 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120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Economics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Quarterly GDP, monthly inflation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137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Daily sales of a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577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Healthcare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Weekly hospital admissions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93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32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2F8D95-EBD9-F75F-318D-A8C79D2240B3}"/>
              </a:ext>
            </a:extLst>
          </p:cNvPr>
          <p:cNvSpPr txBox="1"/>
          <p:nvPr/>
        </p:nvSpPr>
        <p:spPr>
          <a:xfrm>
            <a:off x="315468" y="38226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it different from regular data?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4898E3-2371-3655-1CA0-2926635CF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851840"/>
              </p:ext>
            </p:extLst>
          </p:nvPr>
        </p:nvGraphicFramePr>
        <p:xfrm>
          <a:off x="390144" y="1422686"/>
          <a:ext cx="8881872" cy="1828800"/>
        </p:xfrm>
        <a:graphic>
          <a:graphicData uri="http://schemas.openxmlformats.org/drawingml/2006/table">
            <a:tbl>
              <a:tblPr/>
              <a:tblGrid>
                <a:gridCol w="4017264">
                  <a:extLst>
                    <a:ext uri="{9D8B030D-6E8A-4147-A177-3AD203B41FA5}">
                      <a16:colId xmlns:a16="http://schemas.microsoft.com/office/drawing/2014/main" val="3126091004"/>
                    </a:ext>
                  </a:extLst>
                </a:gridCol>
                <a:gridCol w="4864608">
                  <a:extLst>
                    <a:ext uri="{9D8B030D-6E8A-4147-A177-3AD203B41FA5}">
                      <a16:colId xmlns:a16="http://schemas.microsoft.com/office/drawing/2014/main" val="2400063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Regular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Time Series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77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Rows are independent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Each row depends on the 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824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Can shuffle rows freely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 is sacred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415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Standard ML works directly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Needs special 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39311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05C1F4-D13F-7F49-6E2D-AB9FB892C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090733"/>
              </p:ext>
            </p:extLst>
          </p:nvPr>
        </p:nvGraphicFramePr>
        <p:xfrm>
          <a:off x="1097280" y="4024979"/>
          <a:ext cx="25786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664">
                  <a:extLst>
                    <a:ext uri="{9D8B030D-6E8A-4147-A177-3AD203B41FA5}">
                      <a16:colId xmlns:a16="http://schemas.microsoft.com/office/drawing/2014/main" val="3492714630"/>
                    </a:ext>
                  </a:extLst>
                </a:gridCol>
                <a:gridCol w="632968">
                  <a:extLst>
                    <a:ext uri="{9D8B030D-6E8A-4147-A177-3AD203B41FA5}">
                      <a16:colId xmlns:a16="http://schemas.microsoft.com/office/drawing/2014/main" val="395410663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3397163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47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Loxford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4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Jerry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83,000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9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06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9680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7DF2CB-E4F9-4B20-7FB3-CF2DB3E3A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404891"/>
              </p:ext>
            </p:extLst>
          </p:nvPr>
        </p:nvGraphicFramePr>
        <p:xfrm>
          <a:off x="5899912" y="4098131"/>
          <a:ext cx="2055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16">
                  <a:extLst>
                    <a:ext uri="{9D8B030D-6E8A-4147-A177-3AD203B41FA5}">
                      <a16:colId xmlns:a16="http://schemas.microsoft.com/office/drawing/2014/main" val="164599586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240546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3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2026-01-01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697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2026-01-02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02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2026-01-03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15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1102</TotalTime>
  <Words>215</Words>
  <Application>Microsoft Office PowerPoint</Application>
  <PresentationFormat>Widescreen</PresentationFormat>
  <Paragraphs>107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180</cp:revision>
  <dcterms:created xsi:type="dcterms:W3CDTF">2025-09-22T02:44:38Z</dcterms:created>
  <dcterms:modified xsi:type="dcterms:W3CDTF">2026-05-25T08:33:56Z</dcterms:modified>
</cp:coreProperties>
</file>