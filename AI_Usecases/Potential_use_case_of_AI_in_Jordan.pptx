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76" r:id="rId2"/>
    <p:sldId id="277" r:id="rId3"/>
    <p:sldId id="278" r:id="rId4"/>
    <p:sldId id="279" r:id="rId5"/>
    <p:sldId id="280" r:id="rId6"/>
    <p:sldId id="281" r:id="rId7"/>
    <p:sldId id="282" r:id="rId8"/>
    <p:sldId id="257" r:id="rId9"/>
    <p:sldId id="284" r:id="rId10"/>
    <p:sldId id="283" r:id="rId11"/>
    <p:sldId id="285" r:id="rId12"/>
    <p:sldId id="286" r:id="rId13"/>
    <p:sldId id="287" r:id="rId14"/>
    <p:sldId id="288"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5/24/2026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5/24/2026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5/24/2026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C42C58-D558-BEA5-1BBA-4D21F8CB62C0}"/>
              </a:ext>
            </a:extLst>
          </p:cNvPr>
          <p:cNvSpPr txBox="1"/>
          <p:nvPr/>
        </p:nvSpPr>
        <p:spPr>
          <a:xfrm>
            <a:off x="451104" y="772311"/>
            <a:ext cx="11740896" cy="584775"/>
          </a:xfrm>
          <a:prstGeom prst="rect">
            <a:avLst/>
          </a:prstGeom>
          <a:noFill/>
        </p:spPr>
        <p:txBody>
          <a:bodyPr wrap="square">
            <a:spAutoFit/>
          </a:bodyPr>
          <a:lstStyle/>
          <a:p>
            <a:pPr algn="ctr">
              <a:buNone/>
            </a:pPr>
            <a:r>
              <a:rPr lang="en-US" sz="3200" b="1" dirty="0">
                <a:solidFill>
                  <a:schemeClr val="accent6">
                    <a:lumMod val="60000"/>
                    <a:lumOff val="40000"/>
                  </a:schemeClr>
                </a:solidFill>
              </a:rPr>
              <a:t>AI in Finance: The Jordanian Market</a:t>
            </a:r>
          </a:p>
        </p:txBody>
      </p:sp>
    </p:spTree>
    <p:extLst>
      <p:ext uri="{BB962C8B-B14F-4D97-AF65-F5344CB8AC3E}">
        <p14:creationId xmlns:p14="http://schemas.microsoft.com/office/powerpoint/2010/main" val="2173766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EFBD-1E6E-BB25-80FB-01BA183037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47413F-8867-2CA8-2D38-108014982A54}"/>
              </a:ext>
            </a:extLst>
          </p:cNvPr>
          <p:cNvSpPr txBox="1"/>
          <p:nvPr/>
        </p:nvSpPr>
        <p:spPr>
          <a:xfrm>
            <a:off x="451104" y="772311"/>
            <a:ext cx="11740896" cy="5262979"/>
          </a:xfrm>
          <a:prstGeom prst="rect">
            <a:avLst/>
          </a:prstGeom>
          <a:noFill/>
        </p:spPr>
        <p:txBody>
          <a:bodyPr wrap="square">
            <a:spAutoFit/>
          </a:bodyPr>
          <a:lstStyle/>
          <a:p>
            <a:pPr>
              <a:buNone/>
            </a:pPr>
            <a:r>
              <a:rPr lang="en-US" sz="2400" b="1" dirty="0">
                <a:solidFill>
                  <a:schemeClr val="accent6">
                    <a:lumMod val="60000"/>
                    <a:lumOff val="40000"/>
                  </a:schemeClr>
                </a:solidFill>
              </a:rPr>
              <a:t>Understanding the Context First</a:t>
            </a:r>
          </a:p>
          <a:p>
            <a:pPr>
              <a:buNone/>
            </a:pPr>
            <a:r>
              <a:rPr lang="en-US" sz="2400" dirty="0">
                <a:solidFill>
                  <a:schemeClr val="accent6">
                    <a:lumMod val="60000"/>
                    <a:lumOff val="40000"/>
                  </a:schemeClr>
                </a:solidFill>
              </a:rPr>
              <a:t>Before talking about use cases, it helps to understand what makes Jordan's market distinctive — because the most exciting AI applications emerge from Jordan's specific challenges, not from copying what works in New York or London.</a:t>
            </a: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Key facts about Jordan's financial landscape:</a:t>
            </a: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Only 42% of Jordanian adults have a bank account, which is remarkably low for a country with a strong education system and growing tech sector. </a:t>
            </a:r>
          </a:p>
          <a:p>
            <a:pPr>
              <a:buNone/>
            </a:pPr>
            <a:r>
              <a:rPr lang="en-US" sz="2400" dirty="0">
                <a:solidFill>
                  <a:schemeClr val="accent6">
                    <a:lumMod val="60000"/>
                    <a:lumOff val="40000"/>
                  </a:schemeClr>
                </a:solidFill>
              </a:rPr>
              <a:t>Mobile penetration, on the other hand, reaches over 150% — meaning almost everyone has a phone, but most people are not in the formal financial system.</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Jordan is also home to one of the fastest-growing startup ecosystems in the region, with fintech accounting for about one-tenth of total funding and 12% of deals between 2018 and 2022.</a:t>
            </a:r>
          </a:p>
        </p:txBody>
      </p:sp>
    </p:spTree>
    <p:extLst>
      <p:ext uri="{BB962C8B-B14F-4D97-AF65-F5344CB8AC3E}">
        <p14:creationId xmlns:p14="http://schemas.microsoft.com/office/powerpoint/2010/main" val="169289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26F3-FC43-207C-E8E2-98DA89CB7A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D90E6E-FBEB-E280-FD65-FF69F28D3067}"/>
              </a:ext>
            </a:extLst>
          </p:cNvPr>
          <p:cNvSpPr txBox="1"/>
          <p:nvPr/>
        </p:nvSpPr>
        <p:spPr>
          <a:xfrm>
            <a:off x="451104" y="772311"/>
            <a:ext cx="11740896" cy="3416320"/>
          </a:xfrm>
          <a:prstGeom prst="rect">
            <a:avLst/>
          </a:prstGeom>
          <a:noFill/>
        </p:spPr>
        <p:txBody>
          <a:bodyPr wrap="square">
            <a:spAutoFit/>
          </a:bodyPr>
          <a:lstStyle/>
          <a:p>
            <a:r>
              <a:rPr lang="en-US" sz="2400" dirty="0">
                <a:solidFill>
                  <a:schemeClr val="accent6">
                    <a:lumMod val="60000"/>
                    <a:lumOff val="40000"/>
                  </a:schemeClr>
                </a:solidFill>
              </a:rPr>
              <a:t>The MENA region hosts approximately 310 fintech companies, with more than 7% of them located in Jordan.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This combination — </a:t>
            </a:r>
          </a:p>
          <a:p>
            <a:pPr marL="342900" indent="-342900">
              <a:buFont typeface="Arial" panose="020B0604020202020204" pitchFamily="34" charset="0"/>
              <a:buChar char="•"/>
            </a:pPr>
            <a:r>
              <a:rPr lang="en-US" sz="2400" dirty="0">
                <a:solidFill>
                  <a:schemeClr val="accent6">
                    <a:lumMod val="60000"/>
                    <a:lumOff val="40000"/>
                  </a:schemeClr>
                </a:solidFill>
              </a:rPr>
              <a:t>high mobile penetration, </a:t>
            </a:r>
          </a:p>
          <a:p>
            <a:pPr marL="342900" indent="-342900">
              <a:buFont typeface="Arial" panose="020B0604020202020204" pitchFamily="34" charset="0"/>
              <a:buChar char="•"/>
            </a:pPr>
            <a:r>
              <a:rPr lang="en-US" sz="2400" dirty="0">
                <a:solidFill>
                  <a:schemeClr val="accent6">
                    <a:lumMod val="60000"/>
                    <a:lumOff val="40000"/>
                  </a:schemeClr>
                </a:solidFill>
              </a:rPr>
              <a:t>low banking inclusion, </a:t>
            </a:r>
          </a:p>
          <a:p>
            <a:pPr marL="342900" indent="-342900">
              <a:buFont typeface="Arial" panose="020B0604020202020204" pitchFamily="34" charset="0"/>
              <a:buChar char="•"/>
            </a:pPr>
            <a:r>
              <a:rPr lang="en-US" sz="2400" dirty="0">
                <a:solidFill>
                  <a:schemeClr val="accent6">
                    <a:lumMod val="60000"/>
                    <a:lumOff val="40000"/>
                  </a:schemeClr>
                </a:solidFill>
              </a:rPr>
              <a:t>a young tech-savvy population, and </a:t>
            </a:r>
          </a:p>
          <a:p>
            <a:pPr marL="342900" indent="-342900">
              <a:buFont typeface="Arial" panose="020B0604020202020204" pitchFamily="34" charset="0"/>
              <a:buChar char="•"/>
            </a:pPr>
            <a:r>
              <a:rPr lang="en-US" sz="2400" dirty="0">
                <a:solidFill>
                  <a:schemeClr val="accent6">
                    <a:lumMod val="60000"/>
                    <a:lumOff val="40000"/>
                  </a:schemeClr>
                </a:solidFill>
              </a:rPr>
              <a:t>a large refugee community </a:t>
            </a:r>
          </a:p>
          <a:p>
            <a:r>
              <a:rPr lang="en-US" sz="2400" dirty="0">
                <a:solidFill>
                  <a:schemeClr val="accent6">
                    <a:lumMod val="60000"/>
                    <a:lumOff val="40000"/>
                  </a:schemeClr>
                </a:solidFill>
              </a:rPr>
              <a:t>— creates a very specific set of problems that AI can solve.</a:t>
            </a:r>
          </a:p>
        </p:txBody>
      </p:sp>
    </p:spTree>
    <p:extLst>
      <p:ext uri="{BB962C8B-B14F-4D97-AF65-F5344CB8AC3E}">
        <p14:creationId xmlns:p14="http://schemas.microsoft.com/office/powerpoint/2010/main" val="345698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9701B-2CBE-BD3D-BA6F-99AD4553F6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5872402-2D40-C781-B431-52D1DD5FFE8E}"/>
              </a:ext>
            </a:extLst>
          </p:cNvPr>
          <p:cNvSpPr txBox="1"/>
          <p:nvPr/>
        </p:nvSpPr>
        <p:spPr>
          <a:xfrm>
            <a:off x="451104" y="772311"/>
            <a:ext cx="11740896" cy="4893647"/>
          </a:xfrm>
          <a:prstGeom prst="rect">
            <a:avLst/>
          </a:prstGeom>
          <a:noFill/>
        </p:spPr>
        <p:txBody>
          <a:bodyPr wrap="square">
            <a:spAutoFit/>
          </a:bodyPr>
          <a:lstStyle/>
          <a:p>
            <a:r>
              <a:rPr lang="en-US" sz="2400" b="1" dirty="0">
                <a:solidFill>
                  <a:schemeClr val="accent6">
                    <a:lumMod val="60000"/>
                    <a:lumOff val="40000"/>
                  </a:schemeClr>
                </a:solidFill>
              </a:rPr>
              <a:t>1. Financial Inclusion for the Unbanked — Jordan's Biggest AI Opportunity</a:t>
            </a:r>
          </a:p>
          <a:p>
            <a:r>
              <a:rPr lang="en-US" sz="2400" dirty="0">
                <a:solidFill>
                  <a:schemeClr val="accent6">
                    <a:lumMod val="60000"/>
                    <a:lumOff val="40000"/>
                  </a:schemeClr>
                </a:solidFill>
              </a:rPr>
              <a:t>This is where AI can make the most profound difference in Jordan, and it is unlike anything you would see in a developed market.</a:t>
            </a:r>
          </a:p>
          <a:p>
            <a:r>
              <a:rPr lang="en-US" sz="2400" b="1" dirty="0">
                <a:solidFill>
                  <a:schemeClr val="accent6">
                    <a:lumMod val="60000"/>
                    <a:lumOff val="40000"/>
                  </a:schemeClr>
                </a:solidFill>
              </a:rPr>
              <a:t>The problem:</a:t>
            </a:r>
            <a:r>
              <a:rPr lang="en-US" sz="2400" dirty="0">
                <a:solidFill>
                  <a:schemeClr val="accent6">
                    <a:lumMod val="60000"/>
                    <a:lumOff val="40000"/>
                  </a:schemeClr>
                </a:solidFill>
              </a:rPr>
              <a:t> Groups historically excluded from the traditional financial system in Jordan include youth, women, and refugees. These populations can't build credit histories using traditional methods because they have never had a bank account to begin with.</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What AI enables:</a:t>
            </a:r>
            <a:r>
              <a:rPr lang="en-US" sz="2400" dirty="0">
                <a:solidFill>
                  <a:schemeClr val="accent6">
                    <a:lumMod val="60000"/>
                    <a:lumOff val="40000"/>
                  </a:schemeClr>
                </a:solidFill>
              </a:rPr>
              <a:t> Advanced solutions including predictive analytics, non-traditional data-driven credit scoring, and fraud detection systems can help reduce risks while expanding the reach of financial services to a broader beneficiary base. </a:t>
            </a:r>
          </a:p>
          <a:p>
            <a:r>
              <a:rPr lang="en-US" sz="2400" dirty="0">
                <a:solidFill>
                  <a:schemeClr val="accent6">
                    <a:lumMod val="60000"/>
                    <a:lumOff val="40000"/>
                  </a:schemeClr>
                </a:solidFill>
              </a:rPr>
              <a:t>Companies have accelerated the digitization of financial transactions and provided accessible solutions for low-income segments.</a:t>
            </a:r>
          </a:p>
        </p:txBody>
      </p:sp>
    </p:spTree>
    <p:extLst>
      <p:ext uri="{BB962C8B-B14F-4D97-AF65-F5344CB8AC3E}">
        <p14:creationId xmlns:p14="http://schemas.microsoft.com/office/powerpoint/2010/main" val="1823975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6D16A-DDF4-7359-7F08-314F92DEF97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63FE3C-CBFD-07CE-50EA-20C537825D3A}"/>
              </a:ext>
            </a:extLst>
          </p:cNvPr>
          <p:cNvSpPr txBox="1"/>
          <p:nvPr/>
        </p:nvSpPr>
        <p:spPr>
          <a:xfrm>
            <a:off x="451104" y="772311"/>
            <a:ext cx="11740896" cy="3416320"/>
          </a:xfrm>
          <a:prstGeom prst="rect">
            <a:avLst/>
          </a:prstGeom>
          <a:noFill/>
        </p:spPr>
        <p:txBody>
          <a:bodyPr wrap="square">
            <a:spAutoFit/>
          </a:bodyPr>
          <a:lstStyle/>
          <a:p>
            <a:r>
              <a:rPr lang="en-US" sz="2400" b="1" dirty="0" err="1">
                <a:solidFill>
                  <a:schemeClr val="accent6">
                    <a:lumMod val="60000"/>
                    <a:lumOff val="40000"/>
                  </a:schemeClr>
                </a:solidFill>
              </a:rPr>
              <a:t>Liwwa</a:t>
            </a:r>
            <a:r>
              <a:rPr lang="en-US" sz="2400" dirty="0">
                <a:solidFill>
                  <a:schemeClr val="accent6">
                    <a:lumMod val="60000"/>
                    <a:lumOff val="40000"/>
                  </a:schemeClr>
                </a:solidFill>
              </a:rPr>
              <a:t> deserves special attention here. It is the MENA region's first peer-to-peer lending platform and is based in Amman. It uses AI to assess the creditworthiness of small and medium businesses that have no formal credit history — looking at cash flows, transaction patterns, and business performance data instead of traditional collateral.</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bottom line:</a:t>
            </a:r>
            <a:r>
              <a:rPr lang="en-US" sz="2400" dirty="0">
                <a:solidFill>
                  <a:schemeClr val="accent6">
                    <a:lumMod val="60000"/>
                    <a:lumOff val="40000"/>
                  </a:schemeClr>
                </a:solidFill>
              </a:rPr>
              <a:t> </a:t>
            </a:r>
          </a:p>
          <a:p>
            <a:r>
              <a:rPr lang="en-US" sz="2400" dirty="0">
                <a:solidFill>
                  <a:schemeClr val="accent6">
                    <a:lumMod val="60000"/>
                    <a:lumOff val="40000"/>
                  </a:schemeClr>
                </a:solidFill>
              </a:rPr>
              <a:t>In Jordan, AI-based credit scoring isn't just a product upgrade — it is the difference between </a:t>
            </a:r>
            <a:r>
              <a:rPr lang="en-US" sz="2400" b="1" dirty="0">
                <a:solidFill>
                  <a:schemeClr val="accent6">
                    <a:lumMod val="60000"/>
                    <a:lumOff val="40000"/>
                  </a:schemeClr>
                </a:solidFill>
              </a:rPr>
              <a:t>whether millions of people can participate in the economy at all.</a:t>
            </a:r>
          </a:p>
        </p:txBody>
      </p:sp>
    </p:spTree>
    <p:extLst>
      <p:ext uri="{BB962C8B-B14F-4D97-AF65-F5344CB8AC3E}">
        <p14:creationId xmlns:p14="http://schemas.microsoft.com/office/powerpoint/2010/main" val="997561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620E0-9A71-7EFA-031D-3A23225063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FAB2819-091A-C029-7868-5E2E1CFE9A06}"/>
              </a:ext>
            </a:extLst>
          </p:cNvPr>
          <p:cNvSpPr txBox="1"/>
          <p:nvPr/>
        </p:nvSpPr>
        <p:spPr>
          <a:xfrm>
            <a:off x="451104" y="772311"/>
            <a:ext cx="11740896" cy="3785652"/>
          </a:xfrm>
          <a:prstGeom prst="rect">
            <a:avLst/>
          </a:prstGeom>
          <a:noFill/>
        </p:spPr>
        <p:txBody>
          <a:bodyPr wrap="square">
            <a:spAutoFit/>
          </a:bodyPr>
          <a:lstStyle/>
          <a:p>
            <a:r>
              <a:rPr lang="en-US" sz="2400" b="1" dirty="0">
                <a:solidFill>
                  <a:schemeClr val="accent6">
                    <a:lumMod val="60000"/>
                    <a:lumOff val="40000"/>
                  </a:schemeClr>
                </a:solidFill>
              </a:rPr>
              <a:t>2. Refugee Financial Services — A Use Case Unique to Jordan</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Jordan hosts one of the largest refugee populations per capita in the world, primarily Syrians. This creates a financial services challenge that AI is beginning to address in genuinely innovative ways.</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problem:</a:t>
            </a:r>
            <a:r>
              <a:rPr lang="en-US" sz="2400" dirty="0">
                <a:solidFill>
                  <a:schemeClr val="accent6">
                    <a:lumMod val="60000"/>
                    <a:lumOff val="40000"/>
                  </a:schemeClr>
                </a:solidFill>
              </a:rPr>
              <a:t> </a:t>
            </a:r>
          </a:p>
          <a:p>
            <a:r>
              <a:rPr lang="en-US" sz="2400" dirty="0">
                <a:solidFill>
                  <a:schemeClr val="accent6">
                    <a:lumMod val="60000"/>
                    <a:lumOff val="40000"/>
                  </a:schemeClr>
                </a:solidFill>
              </a:rPr>
              <a:t>It remains difficult for Syrian refugees to open a bank account in Jordan. </a:t>
            </a:r>
          </a:p>
          <a:p>
            <a:r>
              <a:rPr lang="en-US" sz="2400" dirty="0">
                <a:solidFill>
                  <a:schemeClr val="accent6">
                    <a:lumMod val="60000"/>
                    <a:lumOff val="40000"/>
                  </a:schemeClr>
                </a:solidFill>
              </a:rPr>
              <a:t>Most payments from abroad and inside Jordan are made in cash, which </a:t>
            </a:r>
            <a:r>
              <a:rPr lang="en-US" sz="2400" b="1" dirty="0">
                <a:solidFill>
                  <a:schemeClr val="accent6">
                    <a:lumMod val="60000"/>
                    <a:lumOff val="40000"/>
                  </a:schemeClr>
                </a:solidFill>
              </a:rPr>
              <a:t>is expensive, risky, and excludes refugees</a:t>
            </a:r>
            <a:r>
              <a:rPr lang="en-US" sz="2400" dirty="0">
                <a:solidFill>
                  <a:schemeClr val="accent6">
                    <a:lumMod val="60000"/>
                    <a:lumOff val="40000"/>
                  </a:schemeClr>
                </a:solidFill>
              </a:rPr>
              <a:t> from any path to economic independence. </a:t>
            </a:r>
          </a:p>
        </p:txBody>
      </p:sp>
    </p:spTree>
    <p:extLst>
      <p:ext uri="{BB962C8B-B14F-4D97-AF65-F5344CB8AC3E}">
        <p14:creationId xmlns:p14="http://schemas.microsoft.com/office/powerpoint/2010/main" val="598225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A4C65-A4CC-DB5F-5678-F6EA04E539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7B68D5-F5AB-8141-0DB3-280FD0740F88}"/>
              </a:ext>
            </a:extLst>
          </p:cNvPr>
          <p:cNvSpPr txBox="1"/>
          <p:nvPr/>
        </p:nvSpPr>
        <p:spPr>
          <a:xfrm>
            <a:off x="451104" y="772311"/>
            <a:ext cx="11740896" cy="3416320"/>
          </a:xfrm>
          <a:prstGeom prst="rect">
            <a:avLst/>
          </a:prstGeom>
          <a:noFill/>
        </p:spPr>
        <p:txBody>
          <a:bodyPr wrap="square">
            <a:spAutoFit/>
          </a:bodyPr>
          <a:lstStyle/>
          <a:p>
            <a:r>
              <a:rPr lang="en-US" sz="2400" b="1" dirty="0">
                <a:solidFill>
                  <a:schemeClr val="accent6">
                    <a:lumMod val="60000"/>
                    <a:lumOff val="40000"/>
                  </a:schemeClr>
                </a:solidFill>
              </a:rPr>
              <a:t>What AI + biometrics achieved:</a:t>
            </a:r>
            <a:r>
              <a:rPr lang="en-US" sz="2400" dirty="0">
                <a:solidFill>
                  <a:schemeClr val="accent6">
                    <a:lumMod val="60000"/>
                    <a:lumOff val="40000"/>
                  </a:schemeClr>
                </a:solidFill>
              </a:rPr>
              <a:t> </a:t>
            </a:r>
          </a:p>
          <a:p>
            <a:r>
              <a:rPr lang="en-US" sz="2400" dirty="0">
                <a:solidFill>
                  <a:schemeClr val="accent6">
                    <a:lumMod val="60000"/>
                    <a:lumOff val="40000"/>
                  </a:schemeClr>
                </a:solidFill>
              </a:rPr>
              <a:t>Cairo Amman Bank became a world leader in iris scanning technology, which underpins many of the systems now being used with refugees.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AI-powered iris recognition allows a refugee without documents to be uniquely identified and receive financial services — no passport, no paperwork required.</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dirty="0">
                <a:solidFill>
                  <a:schemeClr val="accent6">
                    <a:lumMod val="60000"/>
                    <a:lumOff val="40000"/>
                  </a:schemeClr>
                </a:solidFill>
              </a:rPr>
              <a:t>AI turned a phone and a pair of eyes into a bank account.</a:t>
            </a:r>
          </a:p>
        </p:txBody>
      </p:sp>
    </p:spTree>
    <p:extLst>
      <p:ext uri="{BB962C8B-B14F-4D97-AF65-F5344CB8AC3E}">
        <p14:creationId xmlns:p14="http://schemas.microsoft.com/office/powerpoint/2010/main" val="2427017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B44F60-4F2D-8397-9D6C-241CD5DA0B2C}"/>
              </a:ext>
            </a:extLst>
          </p:cNvPr>
          <p:cNvSpPr txBox="1"/>
          <p:nvPr/>
        </p:nvSpPr>
        <p:spPr>
          <a:xfrm>
            <a:off x="283464" y="556873"/>
            <a:ext cx="11640312" cy="6001643"/>
          </a:xfrm>
          <a:prstGeom prst="rect">
            <a:avLst/>
          </a:prstGeom>
          <a:noFill/>
        </p:spPr>
        <p:txBody>
          <a:bodyPr wrap="square">
            <a:spAutoFit/>
          </a:bodyPr>
          <a:lstStyle/>
          <a:p>
            <a:pPr>
              <a:buNone/>
            </a:pPr>
            <a:r>
              <a:rPr lang="en-US" sz="2400" b="1" dirty="0">
                <a:solidFill>
                  <a:schemeClr val="accent6">
                    <a:lumMod val="60000"/>
                    <a:lumOff val="40000"/>
                  </a:schemeClr>
                </a:solidFill>
              </a:rPr>
              <a:t>3. Digital Payments and the </a:t>
            </a:r>
            <a:r>
              <a:rPr lang="en-US" sz="2400" b="1" dirty="0" err="1">
                <a:solidFill>
                  <a:schemeClr val="accent6">
                    <a:lumMod val="60000"/>
                    <a:lumOff val="40000"/>
                  </a:schemeClr>
                </a:solidFill>
              </a:rPr>
              <a:t>CliQ</a:t>
            </a:r>
            <a:r>
              <a:rPr lang="en-US" sz="2400" b="1" dirty="0">
                <a:solidFill>
                  <a:schemeClr val="accent6">
                    <a:lumMod val="60000"/>
                    <a:lumOff val="40000"/>
                  </a:schemeClr>
                </a:solidFill>
              </a:rPr>
              <a:t>/</a:t>
            </a:r>
            <a:r>
              <a:rPr lang="en-US" sz="2400" b="1" dirty="0" err="1">
                <a:solidFill>
                  <a:schemeClr val="accent6">
                    <a:lumMod val="60000"/>
                    <a:lumOff val="40000"/>
                  </a:schemeClr>
                </a:solidFill>
              </a:rPr>
              <a:t>JoMoPay</a:t>
            </a:r>
            <a:r>
              <a:rPr lang="en-US" sz="2400" b="1" dirty="0">
                <a:solidFill>
                  <a:schemeClr val="accent6">
                    <a:lumMod val="60000"/>
                    <a:lumOff val="40000"/>
                  </a:schemeClr>
                </a:solidFill>
              </a:rPr>
              <a:t> Infrastructure</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Jordan has built impressive national payment infrastructure that AI is now being layered on top of.</a:t>
            </a:r>
          </a:p>
          <a:p>
            <a:pPr>
              <a:buNone/>
            </a:pPr>
            <a:r>
              <a:rPr lang="en-US" sz="2400" b="1" dirty="0" err="1">
                <a:solidFill>
                  <a:schemeClr val="accent6">
                    <a:lumMod val="60000"/>
                    <a:lumOff val="40000"/>
                  </a:schemeClr>
                </a:solidFill>
              </a:rPr>
              <a:t>JoMoPay</a:t>
            </a:r>
            <a:r>
              <a:rPr lang="en-US" sz="2400" dirty="0">
                <a:solidFill>
                  <a:schemeClr val="accent6">
                    <a:lumMod val="60000"/>
                    <a:lumOff val="40000"/>
                  </a:schemeClr>
                </a:solidFill>
              </a:rPr>
              <a:t> is Jordan's national mobile payments switch, enabling interoperability between all mobile wallets.</a:t>
            </a:r>
          </a:p>
          <a:p>
            <a:pPr>
              <a:buNone/>
            </a:pPr>
            <a:r>
              <a:rPr lang="en-US" sz="2400" b="1" dirty="0" err="1">
                <a:solidFill>
                  <a:schemeClr val="accent6">
                    <a:lumMod val="60000"/>
                    <a:lumOff val="40000"/>
                  </a:schemeClr>
                </a:solidFill>
              </a:rPr>
              <a:t>CliQ</a:t>
            </a:r>
            <a:r>
              <a:rPr lang="en-US" sz="2400" dirty="0">
                <a:solidFill>
                  <a:schemeClr val="accent6">
                    <a:lumMod val="60000"/>
                    <a:lumOff val="40000"/>
                  </a:schemeClr>
                </a:solidFill>
              </a:rPr>
              <a:t> is Jordan's instant payment system. </a:t>
            </a:r>
          </a:p>
          <a:p>
            <a:pPr>
              <a:buNone/>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Where AI fits in:</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AI is being used on top of this infrastructure for:</a:t>
            </a:r>
          </a:p>
          <a:p>
            <a:pPr marL="342900" indent="-342900">
              <a:buFont typeface="Arial" panose="020B0604020202020204" pitchFamily="34" charset="0"/>
              <a:buChar char="•"/>
            </a:pPr>
            <a:r>
              <a:rPr lang="en-US" sz="2400" b="1" dirty="0">
                <a:solidFill>
                  <a:schemeClr val="accent6">
                    <a:lumMod val="60000"/>
                    <a:lumOff val="40000"/>
                  </a:schemeClr>
                </a:solidFill>
              </a:rPr>
              <a:t>Real-time fraud detection</a:t>
            </a:r>
            <a:r>
              <a:rPr lang="en-US" sz="2400" dirty="0">
                <a:solidFill>
                  <a:schemeClr val="accent6">
                    <a:lumMod val="60000"/>
                    <a:lumOff val="40000"/>
                  </a:schemeClr>
                </a:solidFill>
              </a:rPr>
              <a:t> on payment transactions — identifying unusual patterns in the flow of money across </a:t>
            </a:r>
            <a:r>
              <a:rPr lang="en-US" sz="2400" dirty="0" err="1">
                <a:solidFill>
                  <a:schemeClr val="accent6">
                    <a:lumMod val="60000"/>
                    <a:lumOff val="40000"/>
                  </a:schemeClr>
                </a:solidFill>
              </a:rPr>
              <a:t>CliQ</a:t>
            </a:r>
            <a:r>
              <a:rPr lang="en-US" sz="2400" dirty="0">
                <a:solidFill>
                  <a:schemeClr val="accent6">
                    <a:lumMod val="60000"/>
                    <a:lumOff val="40000"/>
                  </a:schemeClr>
                </a:solidFill>
              </a:rPr>
              <a:t> and </a:t>
            </a:r>
            <a:r>
              <a:rPr lang="en-US" sz="2400" dirty="0" err="1">
                <a:solidFill>
                  <a:schemeClr val="accent6">
                    <a:lumMod val="60000"/>
                    <a:lumOff val="40000"/>
                  </a:schemeClr>
                </a:solidFill>
              </a:rPr>
              <a:t>JoMoPay</a:t>
            </a: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Merchant risk scoring</a:t>
            </a:r>
            <a:r>
              <a:rPr lang="en-US" sz="2400" dirty="0">
                <a:solidFill>
                  <a:schemeClr val="accent6">
                    <a:lumMod val="60000"/>
                    <a:lumOff val="40000"/>
                  </a:schemeClr>
                </a:solidFill>
              </a:rPr>
              <a:t> — assessing whether a new business signing up to accept digital payments is legitimate</a:t>
            </a:r>
          </a:p>
          <a:p>
            <a:pPr marL="342900" indent="-342900">
              <a:buFont typeface="Arial" panose="020B0604020202020204" pitchFamily="34" charset="0"/>
              <a:buChar char="•"/>
            </a:pPr>
            <a:r>
              <a:rPr lang="en-US" sz="2400" b="1" dirty="0">
                <a:solidFill>
                  <a:schemeClr val="accent6">
                    <a:lumMod val="60000"/>
                    <a:lumOff val="40000"/>
                  </a:schemeClr>
                </a:solidFill>
              </a:rPr>
              <a:t>Transaction anomaly detection</a:t>
            </a:r>
            <a:r>
              <a:rPr lang="en-US" sz="2400" dirty="0">
                <a:solidFill>
                  <a:schemeClr val="accent6">
                    <a:lumMod val="60000"/>
                    <a:lumOff val="40000"/>
                  </a:schemeClr>
                </a:solidFill>
              </a:rPr>
              <a:t> — flagging money movements that could indicate financial crime or terrorist financing, which is a specific compliance concern in the region</a:t>
            </a:r>
          </a:p>
        </p:txBody>
      </p:sp>
    </p:spTree>
    <p:extLst>
      <p:ext uri="{BB962C8B-B14F-4D97-AF65-F5344CB8AC3E}">
        <p14:creationId xmlns:p14="http://schemas.microsoft.com/office/powerpoint/2010/main" val="4221193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AEE7-737B-C41F-9F8C-A7040F0E447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DE546E-9610-4E8C-F14F-B90BA78C46B6}"/>
              </a:ext>
            </a:extLst>
          </p:cNvPr>
          <p:cNvSpPr txBox="1"/>
          <p:nvPr/>
        </p:nvSpPr>
        <p:spPr>
          <a:xfrm>
            <a:off x="283464" y="556873"/>
            <a:ext cx="11640312" cy="4154984"/>
          </a:xfrm>
          <a:prstGeom prst="rect">
            <a:avLst/>
          </a:prstGeom>
          <a:noFill/>
        </p:spPr>
        <p:txBody>
          <a:bodyPr wrap="square">
            <a:spAutoFit/>
          </a:bodyPr>
          <a:lstStyle/>
          <a:p>
            <a:r>
              <a:rPr lang="en-US" sz="2400" b="1" dirty="0">
                <a:solidFill>
                  <a:schemeClr val="accent6">
                    <a:lumMod val="60000"/>
                    <a:lumOff val="40000"/>
                  </a:schemeClr>
                </a:solidFill>
              </a:rPr>
              <a:t>4. AI-Powered Credit Scoring for SMEs</a:t>
            </a: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Jordan's economy is dominated by small and medium enterprises (SMEs). </a:t>
            </a:r>
          </a:p>
          <a:p>
            <a:r>
              <a:rPr lang="en-US" sz="2400" dirty="0">
                <a:solidFill>
                  <a:schemeClr val="accent6">
                    <a:lumMod val="60000"/>
                    <a:lumOff val="40000"/>
                  </a:schemeClr>
                </a:solidFill>
              </a:rPr>
              <a:t>These businesses desperately need access to credit, but most cannot get it because banks rely on collateral and formal financial statements — which most small Jordanian businesses don't have.</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The opportunity:</a:t>
            </a:r>
            <a:r>
              <a:rPr lang="en-US" sz="2400" dirty="0">
                <a:solidFill>
                  <a:schemeClr val="accent6">
                    <a:lumMod val="60000"/>
                    <a:lumOff val="40000"/>
                  </a:schemeClr>
                </a:solidFill>
              </a:rPr>
              <a:t> </a:t>
            </a:r>
          </a:p>
          <a:p>
            <a:r>
              <a:rPr lang="en-US" sz="2400" dirty="0">
                <a:solidFill>
                  <a:schemeClr val="accent6">
                    <a:lumMod val="60000"/>
                    <a:lumOff val="40000"/>
                  </a:schemeClr>
                </a:solidFill>
              </a:rPr>
              <a:t>AI models that assess SME creditworthiness using alternative data — </a:t>
            </a:r>
            <a:r>
              <a:rPr lang="en-US" sz="2400" b="1" dirty="0">
                <a:solidFill>
                  <a:schemeClr val="accent6">
                    <a:lumMod val="60000"/>
                    <a:lumOff val="40000"/>
                  </a:schemeClr>
                </a:solidFill>
              </a:rPr>
              <a:t>mobile payment flows, supplier payment consistency, utility bill records, social proof</a:t>
            </a:r>
            <a:r>
              <a:rPr lang="en-US" sz="2400" dirty="0">
                <a:solidFill>
                  <a:schemeClr val="accent6">
                    <a:lumMod val="60000"/>
                    <a:lumOff val="40000"/>
                  </a:schemeClr>
                </a:solidFill>
              </a:rPr>
              <a:t> — could unlock lending to a massive underserved segment.</a:t>
            </a:r>
          </a:p>
        </p:txBody>
      </p:sp>
    </p:spTree>
    <p:extLst>
      <p:ext uri="{BB962C8B-B14F-4D97-AF65-F5344CB8AC3E}">
        <p14:creationId xmlns:p14="http://schemas.microsoft.com/office/powerpoint/2010/main" val="3687361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19E15-5E2F-F5C8-D6AF-7E2C995426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9CC903-0F54-2823-A621-D1EA2B1B8BDE}"/>
              </a:ext>
            </a:extLst>
          </p:cNvPr>
          <p:cNvSpPr txBox="1"/>
          <p:nvPr/>
        </p:nvSpPr>
        <p:spPr>
          <a:xfrm>
            <a:off x="164592" y="369975"/>
            <a:ext cx="11722608" cy="5632311"/>
          </a:xfrm>
          <a:prstGeom prst="rect">
            <a:avLst/>
          </a:prstGeom>
          <a:noFill/>
        </p:spPr>
        <p:txBody>
          <a:bodyPr wrap="square">
            <a:spAutoFit/>
          </a:bodyPr>
          <a:lstStyle/>
          <a:p>
            <a:pPr>
              <a:buNone/>
            </a:pPr>
            <a:r>
              <a:rPr lang="en-US" sz="2400" b="1" dirty="0">
                <a:solidFill>
                  <a:schemeClr val="accent6">
                    <a:lumMod val="60000"/>
                    <a:lumOff val="40000"/>
                  </a:schemeClr>
                </a:solidFill>
              </a:rPr>
              <a:t>5. Islamic Finance Compliance — A Jordan-Specific AI Application</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Jordan has a significant Islamic banking sector. Islamic finance prohibits interest (</a:t>
            </a:r>
            <a:r>
              <a:rPr lang="en-US" sz="2400" dirty="0" err="1">
                <a:solidFill>
                  <a:schemeClr val="accent6">
                    <a:lumMod val="60000"/>
                    <a:lumOff val="40000"/>
                  </a:schemeClr>
                </a:solidFill>
              </a:rPr>
              <a:t>riba</a:t>
            </a:r>
            <a:r>
              <a:rPr lang="en-US" sz="2400" dirty="0">
                <a:solidFill>
                  <a:schemeClr val="accent6">
                    <a:lumMod val="60000"/>
                    <a:lumOff val="40000"/>
                  </a:schemeClr>
                </a:solidFill>
              </a:rPr>
              <a:t>) and has strict rules about what kinds of investments and contracts are permissible (halal). Ensuring compliance with Sharia principles across thousands of daily transactions is complex and expensive.</a:t>
            </a:r>
          </a:p>
          <a:p>
            <a:pPr>
              <a:buNone/>
            </a:pPr>
            <a:endParaRPr lang="en-US" sz="2400" dirty="0">
              <a:solidFill>
                <a:schemeClr val="accent6">
                  <a:lumMod val="60000"/>
                  <a:lumOff val="40000"/>
                </a:schemeClr>
              </a:solidFill>
            </a:endParaRPr>
          </a:p>
          <a:p>
            <a:pPr>
              <a:buNone/>
            </a:pPr>
            <a:r>
              <a:rPr lang="en-US" sz="2400" b="1" dirty="0">
                <a:solidFill>
                  <a:schemeClr val="accent6">
                    <a:lumMod val="60000"/>
                    <a:lumOff val="40000"/>
                  </a:schemeClr>
                </a:solidFill>
              </a:rPr>
              <a:t>Where AI helps:</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Natural Language Processing (NLP) models can review contracts, financial products, and transactions to flag potential Sharia compliance violations — faster and more consistently than human scholars reviewing documents manually.</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Research specifically highlights the importance of culturally compliant and morality-inclined innovation in Jordanian banking, recognizing that AI adoption in Jordan cannot simply copy Western models — it must work within the cultural and religious framework of the market</a:t>
            </a:r>
          </a:p>
        </p:txBody>
      </p:sp>
    </p:spTree>
    <p:extLst>
      <p:ext uri="{BB962C8B-B14F-4D97-AF65-F5344CB8AC3E}">
        <p14:creationId xmlns:p14="http://schemas.microsoft.com/office/powerpoint/2010/main" val="2946526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80973-45D8-DF81-450C-25997153A44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CF1523-CC7E-7F11-45C2-E0A21EAD6A13}"/>
              </a:ext>
            </a:extLst>
          </p:cNvPr>
          <p:cNvSpPr txBox="1"/>
          <p:nvPr/>
        </p:nvSpPr>
        <p:spPr>
          <a:xfrm>
            <a:off x="484632" y="2690336"/>
            <a:ext cx="11347704" cy="1938992"/>
          </a:xfrm>
          <a:prstGeom prst="rect">
            <a:avLst/>
          </a:prstGeom>
          <a:noFill/>
        </p:spPr>
        <p:txBody>
          <a:bodyPr wrap="square">
            <a:spAutoFit/>
          </a:bodyPr>
          <a:lstStyle/>
          <a:p>
            <a:r>
              <a:rPr lang="en-US" sz="2400" b="1" dirty="0">
                <a:solidFill>
                  <a:schemeClr val="accent6">
                    <a:lumMod val="60000"/>
                    <a:lumOff val="40000"/>
                  </a:schemeClr>
                </a:solidFill>
              </a:rPr>
              <a:t>For students:</a:t>
            </a:r>
            <a:r>
              <a:rPr lang="en-US" sz="2400" dirty="0">
                <a:solidFill>
                  <a:schemeClr val="accent6">
                    <a:lumMod val="60000"/>
                    <a:lumOff val="40000"/>
                  </a:schemeClr>
                </a:solidFill>
              </a:rPr>
              <a:t> </a:t>
            </a:r>
          </a:p>
          <a:p>
            <a:r>
              <a:rPr lang="en-US" sz="2400" dirty="0">
                <a:solidFill>
                  <a:schemeClr val="accent6">
                    <a:lumMod val="60000"/>
                    <a:lumOff val="40000"/>
                  </a:schemeClr>
                </a:solidFill>
              </a:rPr>
              <a:t>This is a great example of how AI must be localized. </a:t>
            </a:r>
          </a:p>
          <a:p>
            <a:r>
              <a:rPr lang="en-US" sz="2400" dirty="0">
                <a:solidFill>
                  <a:schemeClr val="accent6">
                    <a:lumMod val="60000"/>
                    <a:lumOff val="40000"/>
                  </a:schemeClr>
                </a:solidFill>
              </a:rPr>
              <a:t>A fraud detection model built for a US bank will work anywhere. </a:t>
            </a:r>
          </a:p>
          <a:p>
            <a:r>
              <a:rPr lang="en-US" sz="2400" dirty="0">
                <a:solidFill>
                  <a:schemeClr val="accent6">
                    <a:lumMod val="60000"/>
                    <a:lumOff val="40000"/>
                  </a:schemeClr>
                </a:solidFill>
              </a:rPr>
              <a:t>But a Sharia compliance AI requires deep domain-specific training that reflects Islamic jurisprudence. It's a niche but growing field.</a:t>
            </a:r>
          </a:p>
        </p:txBody>
      </p:sp>
    </p:spTree>
    <p:extLst>
      <p:ext uri="{BB962C8B-B14F-4D97-AF65-F5344CB8AC3E}">
        <p14:creationId xmlns:p14="http://schemas.microsoft.com/office/powerpoint/2010/main" val="2824385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30FAB-6AE4-E52B-864E-5278D870DE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F05808-5007-3025-EDBC-E6AF915F6B47}"/>
              </a:ext>
            </a:extLst>
          </p:cNvPr>
          <p:cNvSpPr txBox="1"/>
          <p:nvPr/>
        </p:nvSpPr>
        <p:spPr>
          <a:xfrm>
            <a:off x="289560" y="1045524"/>
            <a:ext cx="11612880" cy="4154984"/>
          </a:xfrm>
          <a:prstGeom prst="rect">
            <a:avLst/>
          </a:prstGeom>
          <a:noFill/>
        </p:spPr>
        <p:txBody>
          <a:bodyPr wrap="square">
            <a:spAutoFit/>
          </a:bodyPr>
          <a:lstStyle/>
          <a:p>
            <a:pPr>
              <a:buNone/>
            </a:pPr>
            <a:r>
              <a:rPr lang="en-US" sz="2400" b="1" dirty="0">
                <a:solidFill>
                  <a:schemeClr val="accent6">
                    <a:lumMod val="60000"/>
                    <a:lumOff val="40000"/>
                  </a:schemeClr>
                </a:solidFill>
              </a:rPr>
              <a:t>6. </a:t>
            </a:r>
            <a:r>
              <a:rPr lang="en-US" sz="2400" b="1" dirty="0" err="1">
                <a:solidFill>
                  <a:schemeClr val="accent6">
                    <a:lumMod val="60000"/>
                    <a:lumOff val="40000"/>
                  </a:schemeClr>
                </a:solidFill>
              </a:rPr>
              <a:t>eKYC</a:t>
            </a:r>
            <a:r>
              <a:rPr lang="en-US" sz="2400" b="1" dirty="0">
                <a:solidFill>
                  <a:schemeClr val="accent6">
                    <a:lumMod val="60000"/>
                    <a:lumOff val="40000"/>
                  </a:schemeClr>
                </a:solidFill>
              </a:rPr>
              <a:t> — Automating Identity Verification at Scale</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Know Your Customer (KYC) — verifying the identity of new customers — is one of the most labor-intensive processes in banking. In Jordan, it is also one of the most complicated, given the mix of Jordanian citizens, refugees with different documentation, and migrant workers.</a:t>
            </a:r>
          </a:p>
          <a:p>
            <a:pPr>
              <a:buNone/>
            </a:pPr>
            <a:endParaRPr lang="en-US" sz="2400" b="1" dirty="0">
              <a:solidFill>
                <a:schemeClr val="accent6">
                  <a:lumMod val="60000"/>
                  <a:lumOff val="40000"/>
                </a:schemeClr>
              </a:solidFill>
            </a:endParaRPr>
          </a:p>
          <a:p>
            <a:pPr>
              <a:buNone/>
            </a:pPr>
            <a:endParaRPr lang="en-US" sz="2400" b="1" dirty="0">
              <a:solidFill>
                <a:schemeClr val="accent6">
                  <a:lumMod val="60000"/>
                  <a:lumOff val="40000"/>
                </a:schemeClr>
              </a:solidFill>
            </a:endParaRPr>
          </a:p>
          <a:p>
            <a:pPr>
              <a:buNone/>
            </a:pPr>
            <a:r>
              <a:rPr lang="en-US" sz="2400" b="1" dirty="0">
                <a:solidFill>
                  <a:schemeClr val="accent6">
                    <a:lumMod val="60000"/>
                    <a:lumOff val="40000"/>
                  </a:schemeClr>
                </a:solidFill>
              </a:rPr>
              <a:t>What AI enables:</a:t>
            </a:r>
            <a:r>
              <a:rPr lang="en-US" sz="2400" dirty="0">
                <a:solidFill>
                  <a:schemeClr val="accent6">
                    <a:lumMod val="60000"/>
                    <a:lumOff val="40000"/>
                  </a:schemeClr>
                </a:solidFill>
              </a:rPr>
              <a:t> </a:t>
            </a:r>
          </a:p>
          <a:p>
            <a:pPr>
              <a:buNone/>
            </a:pPr>
            <a:r>
              <a:rPr lang="en-US" sz="2400" dirty="0">
                <a:solidFill>
                  <a:schemeClr val="accent6">
                    <a:lumMod val="60000"/>
                    <a:lumOff val="40000"/>
                  </a:schemeClr>
                </a:solidFill>
              </a:rPr>
              <a:t>Electronic KYC (</a:t>
            </a:r>
            <a:r>
              <a:rPr lang="en-US" sz="2400" dirty="0" err="1">
                <a:solidFill>
                  <a:schemeClr val="accent6">
                    <a:lumMod val="60000"/>
                    <a:lumOff val="40000"/>
                  </a:schemeClr>
                </a:solidFill>
              </a:rPr>
              <a:t>eKYC</a:t>
            </a:r>
            <a:r>
              <a:rPr lang="en-US" sz="2400" dirty="0">
                <a:solidFill>
                  <a:schemeClr val="accent6">
                    <a:lumMod val="60000"/>
                    <a:lumOff val="40000"/>
                  </a:schemeClr>
                </a:solidFill>
              </a:rPr>
              <a:t>) uses AI to verify identities through document scanning, facial recognition, and liveness detection — confirming that the person holding up a document is actually the person in the photo and is a live human being, not a photograph.</a:t>
            </a:r>
          </a:p>
        </p:txBody>
      </p:sp>
    </p:spTree>
    <p:extLst>
      <p:ext uri="{BB962C8B-B14F-4D97-AF65-F5344CB8AC3E}">
        <p14:creationId xmlns:p14="http://schemas.microsoft.com/office/powerpoint/2010/main" val="4246335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D789-8F78-F798-0D50-A9FBB8EDC14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307BA99-A789-B8CD-57AF-EDEF1CE6B99A}"/>
              </a:ext>
            </a:extLst>
          </p:cNvPr>
          <p:cNvSpPr txBox="1"/>
          <p:nvPr/>
        </p:nvSpPr>
        <p:spPr>
          <a:xfrm>
            <a:off x="173736" y="1028343"/>
            <a:ext cx="11558016" cy="4893647"/>
          </a:xfrm>
          <a:prstGeom prst="rect">
            <a:avLst/>
          </a:prstGeom>
          <a:noFill/>
        </p:spPr>
        <p:txBody>
          <a:bodyPr wrap="square">
            <a:spAutoFit/>
          </a:bodyPr>
          <a:lstStyle/>
          <a:p>
            <a:pPr>
              <a:buNone/>
            </a:pPr>
            <a:r>
              <a:rPr lang="en-US" sz="2400" b="1" dirty="0">
                <a:solidFill>
                  <a:schemeClr val="accent6">
                    <a:lumMod val="60000"/>
                    <a:lumOff val="40000"/>
                  </a:schemeClr>
                </a:solidFill>
              </a:rPr>
              <a:t>7. The Skills Gap — Jordan's Challenge in Realizing the Opportunity</a:t>
            </a:r>
          </a:p>
          <a:p>
            <a:pPr>
              <a:buNone/>
            </a:pPr>
            <a:endParaRPr lang="en-US" sz="2400" b="1" dirty="0">
              <a:solidFill>
                <a:schemeClr val="accent6">
                  <a:lumMod val="60000"/>
                  <a:lumOff val="40000"/>
                </a:schemeClr>
              </a:solidFill>
            </a:endParaRPr>
          </a:p>
          <a:p>
            <a:pPr>
              <a:buNone/>
            </a:pPr>
            <a:r>
              <a:rPr lang="en-US" sz="2400" dirty="0">
                <a:solidFill>
                  <a:schemeClr val="accent6">
                    <a:lumMod val="60000"/>
                    <a:lumOff val="40000"/>
                  </a:schemeClr>
                </a:solidFill>
              </a:rPr>
              <a:t>In the Jordanian market, there </a:t>
            </a:r>
            <a:r>
              <a:rPr lang="en-US" sz="2400" b="1" dirty="0">
                <a:solidFill>
                  <a:schemeClr val="accent6">
                    <a:lumMod val="60000"/>
                    <a:lumOff val="40000"/>
                  </a:schemeClr>
                </a:solidFill>
              </a:rPr>
              <a:t>is notable scarcity in some of the desired skills </a:t>
            </a:r>
            <a:r>
              <a:rPr lang="en-US" sz="2400" dirty="0">
                <a:solidFill>
                  <a:schemeClr val="accent6">
                    <a:lumMod val="60000"/>
                    <a:lumOff val="40000"/>
                  </a:schemeClr>
                </a:solidFill>
              </a:rPr>
              <a:t>— mainly in AI/ML, data science, digital security, and user experience expertise. This necessitates better coordination with the higher education sector to ensure it caters to the changing demands in the labor market. </a:t>
            </a:r>
          </a:p>
          <a:p>
            <a:pPr>
              <a:buNone/>
            </a:pPr>
            <a:endParaRPr lang="en-US" sz="2400" dirty="0">
              <a:solidFill>
                <a:schemeClr val="accent6">
                  <a:lumMod val="60000"/>
                  <a:lumOff val="40000"/>
                </a:schemeClr>
              </a:solidFill>
            </a:endParaRPr>
          </a:p>
          <a:p>
            <a:pPr>
              <a:buNone/>
            </a:pPr>
            <a:r>
              <a:rPr lang="en-US" sz="2400" dirty="0">
                <a:solidFill>
                  <a:schemeClr val="accent6">
                    <a:lumMod val="60000"/>
                    <a:lumOff val="40000"/>
                  </a:schemeClr>
                </a:solidFill>
              </a:rPr>
              <a:t>However, the educational response is underway. Jordan's </a:t>
            </a:r>
            <a:r>
              <a:rPr lang="en-US" sz="2400" b="1" dirty="0">
                <a:solidFill>
                  <a:schemeClr val="accent6">
                    <a:lumMod val="60000"/>
                    <a:lumOff val="40000"/>
                  </a:schemeClr>
                </a:solidFill>
              </a:rPr>
              <a:t>universities are swiftly integrating AI and financial technology into their academic </a:t>
            </a:r>
            <a:r>
              <a:rPr lang="en-US" sz="2400" b="1" dirty="0" err="1">
                <a:solidFill>
                  <a:schemeClr val="accent6">
                    <a:lumMod val="60000"/>
                    <a:lumOff val="40000"/>
                  </a:schemeClr>
                </a:solidFill>
              </a:rPr>
              <a:t>programmes</a:t>
            </a:r>
            <a:r>
              <a:rPr lang="en-US" sz="2400" dirty="0">
                <a:solidFill>
                  <a:schemeClr val="accent6">
                    <a:lumMod val="60000"/>
                    <a:lumOff val="40000"/>
                  </a:schemeClr>
                </a:solidFill>
              </a:rPr>
              <a:t>, aiming to graduate national talent equipped to lead the digital transformation. Leading institutions such as the University of Jordan, Jordan University of Science and Technology, and Princess Sumaya University for Technology have introduced master's </a:t>
            </a:r>
            <a:r>
              <a:rPr lang="en-US" sz="2400" dirty="0" err="1">
                <a:solidFill>
                  <a:schemeClr val="accent6">
                    <a:lumMod val="60000"/>
                    <a:lumOff val="40000"/>
                  </a:schemeClr>
                </a:solidFill>
              </a:rPr>
              <a:t>programmes</a:t>
            </a:r>
            <a:r>
              <a:rPr lang="en-US" sz="2400" dirty="0">
                <a:solidFill>
                  <a:schemeClr val="accent6">
                    <a:lumMod val="60000"/>
                    <a:lumOff val="40000"/>
                  </a:schemeClr>
                </a:solidFill>
              </a:rPr>
              <a:t> and applied courses in AI and fintech, developed in collaboration with the Central Bank of Jordan.</a:t>
            </a:r>
          </a:p>
        </p:txBody>
      </p:sp>
    </p:spTree>
    <p:extLst>
      <p:ext uri="{BB962C8B-B14F-4D97-AF65-F5344CB8AC3E}">
        <p14:creationId xmlns:p14="http://schemas.microsoft.com/office/powerpoint/2010/main" val="1297139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933C-AD97-077A-7760-4CD92684313A}"/>
            </a:ext>
          </a:extLst>
        </p:cNvPr>
        <p:cNvGrpSpPr/>
        <p:nvPr/>
      </p:nvGrpSpPr>
      <p:grpSpPr>
        <a:xfrm>
          <a:off x="0" y="0"/>
          <a:ext cx="0" cy="0"/>
          <a:chOff x="0" y="0"/>
          <a:chExt cx="0" cy="0"/>
        </a:xfrm>
      </p:grpSpPr>
    </p:spTree>
    <p:extLst>
      <p:ext uri="{BB962C8B-B14F-4D97-AF65-F5344CB8AC3E}">
        <p14:creationId xmlns:p14="http://schemas.microsoft.com/office/powerpoint/2010/main" val="1302351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A192D9-F1E5-160C-7B5C-34A205F85E09}"/>
              </a:ext>
            </a:extLst>
          </p:cNvPr>
          <p:cNvSpPr txBox="1"/>
          <p:nvPr/>
        </p:nvSpPr>
        <p:spPr>
          <a:xfrm>
            <a:off x="164592" y="243512"/>
            <a:ext cx="11173968" cy="6370975"/>
          </a:xfrm>
          <a:prstGeom prst="rect">
            <a:avLst/>
          </a:prstGeom>
          <a:noFill/>
        </p:spPr>
        <p:txBody>
          <a:bodyPr wrap="square">
            <a:spAutoFit/>
          </a:bodyPr>
          <a:lstStyle/>
          <a:p>
            <a:pPr>
              <a:buNone/>
            </a:pPr>
            <a:r>
              <a:rPr lang="en-US" sz="2400" b="1" dirty="0">
                <a:solidFill>
                  <a:schemeClr val="accent6">
                    <a:lumMod val="60000"/>
                    <a:lumOff val="40000"/>
                  </a:schemeClr>
                </a:solidFill>
              </a:rPr>
              <a:t>Discussion Questions for the Classroom</a:t>
            </a:r>
          </a:p>
          <a:p>
            <a:pPr>
              <a:buNone/>
            </a:pPr>
            <a:endParaRPr lang="en-US" sz="2400" b="1"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Jordan has 150% mobile penetration but only 42% banking inclusion. What does this tell you about the biggest obstacle — technology, or trust and regulation?</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Cairo Amman Bank uses iris scanning to give refugees bank accounts. Is this empowering or does it raise privacy concerns you should think about?</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Should an AI model built by a US company be trusted to assess whether a Jordanian SME deserves a loan? What local knowledge might it be missing?</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If Jordan successfully deploys AI-driven financial inclusion at scale, who benefits most — the people being included, the banks, or the government?</a:t>
            </a:r>
          </a:p>
          <a:p>
            <a:pPr>
              <a:buFont typeface="+mj-lt"/>
              <a:buAutoNum type="arabicPeriod"/>
            </a:pPr>
            <a:endParaRPr lang="en-US" sz="2400" dirty="0">
              <a:solidFill>
                <a:schemeClr val="accent6">
                  <a:lumMod val="60000"/>
                  <a:lumOff val="40000"/>
                </a:schemeClr>
              </a:solidFill>
            </a:endParaRPr>
          </a:p>
          <a:p>
            <a:pPr>
              <a:buFont typeface="+mj-lt"/>
              <a:buAutoNum type="arabicPeriod"/>
            </a:pPr>
            <a:r>
              <a:rPr lang="en-US" sz="2400" dirty="0">
                <a:solidFill>
                  <a:schemeClr val="accent6">
                    <a:lumMod val="60000"/>
                    <a:lumOff val="40000"/>
                  </a:schemeClr>
                </a:solidFill>
              </a:rPr>
              <a:t> Jordan's AI skills gap is real. If you were advising the Ministry of Digital Economy, what would you prioritize — training local talent, importing foreign expertise, or partnering with global tech companies?</a:t>
            </a: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1367</TotalTime>
  <Words>1395</Words>
  <Application>Microsoft Office PowerPoint</Application>
  <PresentationFormat>Widescreen</PresentationFormat>
  <Paragraphs>96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186</cp:revision>
  <dcterms:created xsi:type="dcterms:W3CDTF">2025-09-22T02:44:38Z</dcterms:created>
  <dcterms:modified xsi:type="dcterms:W3CDTF">2026-05-24T09:30:03Z</dcterms:modified>
</cp:coreProperties>
</file>