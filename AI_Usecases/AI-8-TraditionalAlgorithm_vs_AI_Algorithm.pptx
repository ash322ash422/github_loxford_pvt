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276" r:id="rId2"/>
    <p:sldId id="257" r:id="rId3"/>
    <p:sldId id="279" r:id="rId4"/>
    <p:sldId id="277" r:id="rId5"/>
    <p:sldId id="278" r:id="rId6"/>
    <p:sldId id="280" r:id="rId7"/>
    <p:sldId id="281" r:id="rId8"/>
    <p:sldId id="282" r:id="rId9"/>
    <p:sldId id="284" r:id="rId10"/>
    <p:sldId id="285" r:id="rId11"/>
    <p:sldId id="275" r:id="rId12"/>
    <p:sldId id="283" r:id="rId13"/>
    <p:sldId id="286" r:id="rId14"/>
    <p:sldId id="287" r:id="rId15"/>
    <p:sldId id="288" r:id="rId16"/>
    <p:sldId id="289" r:id="rId17"/>
    <p:sldId id="296" r:id="rId18"/>
    <p:sldId id="290" r:id="rId19"/>
    <p:sldId id="291" r:id="rId20"/>
    <p:sldId id="292" r:id="rId21"/>
    <p:sldId id="293" r:id="rId22"/>
    <p:sldId id="294" r:id="rId23"/>
    <p:sldId id="295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4D434B-D926-D91F-8DDE-EA8DD4BF2658}"/>
              </a:ext>
            </a:extLst>
          </p:cNvPr>
          <p:cNvSpPr txBox="1"/>
          <p:nvPr/>
        </p:nvSpPr>
        <p:spPr>
          <a:xfrm>
            <a:off x="1796796" y="1506707"/>
            <a:ext cx="8106156" cy="2453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200"/>
              </a:spcBef>
              <a:buNone/>
            </a:pPr>
            <a:r>
              <a:rPr lang="en-US" sz="2800" b="1" kern="18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difference between the type of problems that are solved by </a:t>
            </a:r>
          </a:p>
          <a:p>
            <a:pPr marL="0" marR="0" algn="ctr">
              <a:lnSpc>
                <a:spcPct val="107000"/>
              </a:lnSpc>
              <a:spcBef>
                <a:spcPts val="200"/>
              </a:spcBef>
              <a:buNone/>
            </a:pPr>
            <a:r>
              <a:rPr lang="en-US" sz="2800" b="1" kern="18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800" b="1" kern="18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raditional Algorithm </a:t>
            </a:r>
          </a:p>
          <a:p>
            <a:pPr marL="0" marR="0" algn="ctr">
              <a:lnSpc>
                <a:spcPct val="107000"/>
              </a:lnSpc>
              <a:spcBef>
                <a:spcPts val="200"/>
              </a:spcBef>
              <a:buNone/>
            </a:pPr>
            <a:r>
              <a:rPr lang="en-US" sz="2800" b="1" kern="18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versus </a:t>
            </a:r>
          </a:p>
          <a:p>
            <a:pPr marL="0" marR="0" algn="ctr">
              <a:lnSpc>
                <a:spcPct val="107000"/>
              </a:lnSpc>
              <a:spcBef>
                <a:spcPts val="200"/>
              </a:spcBef>
              <a:buNone/>
            </a:pPr>
            <a:r>
              <a:rPr lang="en-US" sz="2800" b="1" kern="18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AI/ML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3766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6F3EE3E-466C-D93C-98A4-CC6C57164A31}"/>
              </a:ext>
            </a:extLst>
          </p:cNvPr>
          <p:cNvSpPr txBox="1"/>
          <p:nvPr/>
        </p:nvSpPr>
        <p:spPr>
          <a:xfrm>
            <a:off x="3012948" y="3241224"/>
            <a:ext cx="6190488" cy="595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PART1</a:t>
            </a:r>
            <a:endParaRPr lang="en-US" sz="140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1193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C895B-68FB-B714-7CF9-187A53493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FAE671F-38C3-3F84-2FE3-F4F29A53B473}"/>
              </a:ext>
            </a:extLst>
          </p:cNvPr>
          <p:cNvSpPr txBox="1"/>
          <p:nvPr/>
        </p:nvSpPr>
        <p:spPr>
          <a:xfrm>
            <a:off x="2116836" y="2473128"/>
            <a:ext cx="83256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 Body"/>
                <a:ea typeface="Times New Roman" panose="02020603050405020304" pitchFamily="18" charset="0"/>
              </a:rPr>
              <a:t>When Are Traditional algorithms Superior ?</a:t>
            </a:r>
          </a:p>
        </p:txBody>
      </p:sp>
    </p:spTree>
    <p:extLst>
      <p:ext uri="{BB962C8B-B14F-4D97-AF65-F5344CB8AC3E}">
        <p14:creationId xmlns:p14="http://schemas.microsoft.com/office/powerpoint/2010/main" val="2984469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7AD99-7E82-B733-03F5-B724AC702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5B8C80A-9694-F500-4DF2-CBA44AFBC99A}"/>
              </a:ext>
            </a:extLst>
          </p:cNvPr>
          <p:cNvSpPr txBox="1"/>
          <p:nvPr/>
        </p:nvSpPr>
        <p:spPr>
          <a:xfrm>
            <a:off x="1819656" y="1353027"/>
            <a:ext cx="9957816" cy="4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iri Body"/>
                <a:ea typeface="Calibri" panose="020F0502020204030204" pitchFamily="34" charset="0"/>
                <a:cs typeface="Times New Roman" panose="02020603050405020304" pitchFamily="18" charset="0"/>
              </a:rPr>
              <a:t>a) The problem has clear, explicit rules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iri Body"/>
                <a:ea typeface="Calibri" panose="020F0502020204030204" pitchFamily="34" charset="0"/>
                <a:cs typeface="Times New Roman" panose="02020603050405020304" pitchFamily="18" charset="0"/>
              </a:rPr>
              <a:t> that can be precisely defined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6807A3-ED89-395F-DE89-EC7948AD8409}"/>
              </a:ext>
            </a:extLst>
          </p:cNvPr>
          <p:cNvSpPr txBox="1"/>
          <p:nvPr/>
        </p:nvSpPr>
        <p:spPr>
          <a:xfrm>
            <a:off x="315468" y="2019756"/>
            <a:ext cx="6752844" cy="3746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Example: 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Sorting algorithms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like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Merge Sort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Quick Sort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or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Bubble Sort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These problems have strict rules 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(e.g., "place smaller elements before larger ones")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can be solved efficiently with deterministic logic.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2, 4, 6, 2, 6   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 2, 2, 4, 6, 6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DFDB5B-85EB-EFA9-B9F2-4A3A2787A8FC}"/>
              </a:ext>
            </a:extLst>
          </p:cNvPr>
          <p:cNvSpPr txBox="1"/>
          <p:nvPr/>
        </p:nvSpPr>
        <p:spPr>
          <a:xfrm>
            <a:off x="7802880" y="3306679"/>
            <a:ext cx="4256532" cy="1963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Example: 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Mathematical calculations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Simple Interest = P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x R x T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Voltage = I x R, 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04050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9C21B-A9EC-ECCC-8F89-3EB1C1B93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9620DE1-1387-7D75-902A-8C38923F1793}"/>
              </a:ext>
            </a:extLst>
          </p:cNvPr>
          <p:cNvSpPr txBox="1"/>
          <p:nvPr/>
        </p:nvSpPr>
        <p:spPr>
          <a:xfrm>
            <a:off x="630936" y="1196292"/>
            <a:ext cx="10195560" cy="52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 Body"/>
                <a:ea typeface="Calibri" panose="020F0502020204030204" pitchFamily="34" charset="0"/>
                <a:cs typeface="Times New Roman" panose="02020603050405020304" pitchFamily="18" charset="0"/>
              </a:rPr>
              <a:t>b) Complete accuracy is required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 Body"/>
                <a:ea typeface="Calibri" panose="020F0502020204030204" pitchFamily="34" charset="0"/>
                <a:cs typeface="Calibri" panose="020F0502020204030204" pitchFamily="34" charset="0"/>
              </a:rPr>
              <a:t> with no room for probabilistic outcomes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ri Body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ri Body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 Body"/>
                <a:ea typeface="Calibri" panose="020F0502020204030204" pitchFamily="34" charset="0"/>
                <a:cs typeface="Times New Roman" panose="02020603050405020304" pitchFamily="18" charset="0"/>
              </a:rPr>
              <a:t>Example: Encryption/decryption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 Body"/>
                <a:ea typeface="Calibri" panose="020F0502020204030204" pitchFamily="34" charset="0"/>
                <a:cs typeface="Times New Roman" panose="02020603050405020304" pitchFamily="18" charset="0"/>
              </a:rPr>
              <a:t>-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 Body"/>
                <a:ea typeface="Calibri" panose="020F0502020204030204" pitchFamily="34" charset="0"/>
                <a:cs typeface="Times New Roman" panose="02020603050405020304" pitchFamily="18" charset="0"/>
              </a:rPr>
              <a:t>Cryptographic algorithms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 Body"/>
                <a:ea typeface="Calibri" panose="020F0502020204030204" pitchFamily="34" charset="0"/>
                <a:cs typeface="Calibri" panose="020F0502020204030204" pitchFamily="34" charset="0"/>
              </a:rPr>
              <a:t> like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 Body"/>
                <a:ea typeface="Calibri" panose="020F0502020204030204" pitchFamily="34" charset="0"/>
                <a:cs typeface="Calibri" panose="020F0502020204030204" pitchFamily="34" charset="0"/>
              </a:rPr>
              <a:t>RSA encryption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 Body"/>
                <a:ea typeface="Calibri" panose="020F0502020204030204" pitchFamily="34" charset="0"/>
                <a:cs typeface="Calibri" panose="020F0502020204030204" pitchFamily="34" charset="0"/>
              </a:rPr>
              <a:t> or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 Body"/>
                <a:ea typeface="Calibri" panose="020F0502020204030204" pitchFamily="34" charset="0"/>
                <a:cs typeface="Calibri" panose="020F0502020204030204" pitchFamily="34" charset="0"/>
              </a:rPr>
              <a:t>SHA-256 hashing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 Body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 Body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 Body"/>
                <a:ea typeface="Calibri" panose="020F0502020204030204" pitchFamily="34" charset="0"/>
                <a:cs typeface="Calibri" panose="020F0502020204030204" pitchFamily="34" charset="0"/>
              </a:rPr>
              <a:t>Security demands precise, repeatable outcomes — there's no tolerance for approximation or probabilistic errors.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Calibri Body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 Body"/>
                <a:ea typeface="Calibri" panose="020F0502020204030204" pitchFamily="34" charset="0"/>
                <a:cs typeface="Calibri" panose="020F0502020204030204" pitchFamily="34" charset="0"/>
              </a:rPr>
              <a:t>Example: 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 Body"/>
              </a:rPr>
              <a:t>Database queries -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 Body"/>
              </a:rPr>
              <a:t> Finding exact matches in structured data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 Body"/>
              </a:rPr>
              <a:t>Why: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 Body"/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 Body"/>
              </a:rPr>
              <a:t>When querying a database (e.g., SELECT * FROM users WHERE id = 123), you're expecting an exact, deterministic match. Any fuzziness would be incorrect in this context.</a:t>
            </a:r>
          </a:p>
        </p:txBody>
      </p:sp>
    </p:spTree>
    <p:extLst>
      <p:ext uri="{BB962C8B-B14F-4D97-AF65-F5344CB8AC3E}">
        <p14:creationId xmlns:p14="http://schemas.microsoft.com/office/powerpoint/2010/main" val="2684570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10F55-E0CD-E8E0-6997-24183FE2B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6B56E76-6718-BDB6-E87A-3D2092EDBF9B}"/>
              </a:ext>
            </a:extLst>
          </p:cNvPr>
          <p:cNvSpPr txBox="1"/>
          <p:nvPr/>
        </p:nvSpPr>
        <p:spPr>
          <a:xfrm>
            <a:off x="475488" y="1720840"/>
            <a:ext cx="1019556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c) The solution path is well-understood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can be explicitly programmed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Pathfinding in a grid-based game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using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A*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or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Dijkstra’s algorithm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optimal path can be deterministically computed using known algorithms without needing to learn from data.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Path-finding with known constraints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Like GPS navigation with defined roads</a:t>
            </a:r>
          </a:p>
        </p:txBody>
      </p:sp>
    </p:spTree>
    <p:extLst>
      <p:ext uri="{BB962C8B-B14F-4D97-AF65-F5344CB8AC3E}">
        <p14:creationId xmlns:p14="http://schemas.microsoft.com/office/powerpoint/2010/main" val="9633667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C6902-EBEB-A3BD-7EF8-26BED6297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D0BF4CC-ED46-F606-4BD3-CBA135DE11FB}"/>
              </a:ext>
            </a:extLst>
          </p:cNvPr>
          <p:cNvSpPr txBox="1"/>
          <p:nvPr/>
        </p:nvSpPr>
        <p:spPr>
          <a:xfrm>
            <a:off x="740664" y="1461468"/>
            <a:ext cx="1019556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d) The problem space is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relatively small or constrained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Sudoku solvers(or Tic-Tac-Toe)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using backtracking algorithms.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Because the space of possibilities is finite and relatively small, exhaustive or optimized deterministic techniques perform well.</a:t>
            </a:r>
          </a:p>
        </p:txBody>
      </p:sp>
    </p:spTree>
    <p:extLst>
      <p:ext uri="{BB962C8B-B14F-4D97-AF65-F5344CB8AC3E}">
        <p14:creationId xmlns:p14="http://schemas.microsoft.com/office/powerpoint/2010/main" val="6551940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ADDD5-C4F7-1DCA-E53A-F4E15C3C1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6C4C5E3-81F2-4994-D5E5-C0D6F3B7A1DB}"/>
              </a:ext>
            </a:extLst>
          </p:cNvPr>
          <p:cNvSpPr txBox="1"/>
          <p:nvPr/>
        </p:nvSpPr>
        <p:spPr>
          <a:xfrm>
            <a:off x="91440" y="1434036"/>
            <a:ext cx="1019556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e) Explainability and transparency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are critical requirements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Tax calculation software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using fixed rules from tax laws.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Auditors and users need to see the exact steps, logic, and formulas used, which rule-based algorithms can clearly provide.</a:t>
            </a:r>
          </a:p>
        </p:txBody>
      </p:sp>
    </p:spTree>
    <p:extLst>
      <p:ext uri="{BB962C8B-B14F-4D97-AF65-F5344CB8AC3E}">
        <p14:creationId xmlns:p14="http://schemas.microsoft.com/office/powerpoint/2010/main" val="11929887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2E068-2B8B-2FD3-D3C8-7850FF4F6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0EF0D3C-6653-FAC3-A4A2-BB8493EFFB6F}"/>
              </a:ext>
            </a:extLst>
          </p:cNvPr>
          <p:cNvSpPr txBox="1"/>
          <p:nvPr/>
        </p:nvSpPr>
        <p:spPr>
          <a:xfrm>
            <a:off x="210312" y="2385012"/>
            <a:ext cx="101955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Cases where it may seem that AI is needed but is not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40298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24DDB-52D9-2B80-43F7-E8DD57CBF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8D91DA0-2FE6-980B-DE23-526BF33AEC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954" y="1417320"/>
            <a:ext cx="10745479" cy="4683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7918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A47B899-512E-214F-E06E-7E8E3B365C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56" y="1179576"/>
            <a:ext cx="10568066" cy="4172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38898-9DE2-4D3D-BB26-98D136E81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BDB4C6-D204-D8CD-00D6-79F5A038DF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008"/>
            <a:ext cx="10428343" cy="4332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8107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F1EC8-B66B-BAB2-5508-C4B06E9F4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EEB2126-72FB-E2DB-1CE9-240E93D546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51" y="92300"/>
            <a:ext cx="9621593" cy="4058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7860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E959C-BC34-8B13-0C2D-48D75B887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40E0269-37BD-CF0B-E0E1-A47BBA1F255F}"/>
              </a:ext>
            </a:extLst>
          </p:cNvPr>
          <p:cNvSpPr txBox="1"/>
          <p:nvPr/>
        </p:nvSpPr>
        <p:spPr>
          <a:xfrm>
            <a:off x="2491740" y="1560499"/>
            <a:ext cx="751179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Traditional approach will be faster, cheaper, auditable, and correct.</a:t>
            </a:r>
          </a:p>
        </p:txBody>
      </p:sp>
    </p:spTree>
    <p:extLst>
      <p:ext uri="{BB962C8B-B14F-4D97-AF65-F5344CB8AC3E}">
        <p14:creationId xmlns:p14="http://schemas.microsoft.com/office/powerpoint/2010/main" val="26188914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11CEB-A485-3DC3-5308-EEF8E7072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F189474-3F9E-8D8C-8BF6-DBDB75C335F3}"/>
              </a:ext>
            </a:extLst>
          </p:cNvPr>
          <p:cNvSpPr txBox="1"/>
          <p:nvPr/>
        </p:nvSpPr>
        <p:spPr>
          <a:xfrm>
            <a:off x="2491740" y="1560499"/>
            <a:ext cx="751179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Part 2</a:t>
            </a:r>
          </a:p>
          <a:p>
            <a:pPr algn="ctr"/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When do we need AI/ML algorithms ?</a:t>
            </a:r>
          </a:p>
        </p:txBody>
      </p:sp>
    </p:spTree>
    <p:extLst>
      <p:ext uri="{BB962C8B-B14F-4D97-AF65-F5344CB8AC3E}">
        <p14:creationId xmlns:p14="http://schemas.microsoft.com/office/powerpoint/2010/main" val="29227222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49C9D-9722-C516-FFFC-884D2FB96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A60B09-02CE-1DCB-238D-C6A7125B7B9F}"/>
              </a:ext>
            </a:extLst>
          </p:cNvPr>
          <p:cNvSpPr txBox="1"/>
          <p:nvPr/>
        </p:nvSpPr>
        <p:spPr>
          <a:xfrm>
            <a:off x="292608" y="146423"/>
            <a:ext cx="11512296" cy="2255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problem is too complex to explicitly program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all possible scenarios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Example: Self-driving cars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You can’t manually code every possible road condition, pedestrian behavior, or traffic situation. 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ML models learn from vast driving data to handle unpredictable situations.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E3C2EFD-B43F-A238-0A44-CA5A0168E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3081528"/>
            <a:ext cx="10374627" cy="3392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9493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E843C-EA93-DD66-C4E1-F4E253D00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867867F-6914-AB9D-B260-8F310E83D778}"/>
              </a:ext>
            </a:extLst>
          </p:cNvPr>
          <p:cNvSpPr txBox="1"/>
          <p:nvPr/>
        </p:nvSpPr>
        <p:spPr>
          <a:xfrm>
            <a:off x="292608" y="146423"/>
            <a:ext cx="11512296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Patterns are subtle or hidden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within vast amounts of data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 Predictive maintenance: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Machines give off subtle signals --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vibration,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temperature,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steady increase in current usage, etc.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before failure.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ML models can detect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trends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predict breakdowns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earlier than rule-based thresholds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Real-World Success: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 reduced unplanned downtime by 20% in power plants using ML-based predictive maintenance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Mining companies reduced equipment failures by 25% using sensor data and ML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Airlines reduced delays and cancellations</a:t>
            </a:r>
          </a:p>
        </p:txBody>
      </p:sp>
    </p:spTree>
    <p:extLst>
      <p:ext uri="{BB962C8B-B14F-4D97-AF65-F5344CB8AC3E}">
        <p14:creationId xmlns:p14="http://schemas.microsoft.com/office/powerpoint/2010/main" val="20309777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C9D51-E150-7A88-6AC0-3A0F4AAB0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23C58E2-93DE-46FC-A1C7-36008637D1BD}"/>
              </a:ext>
            </a:extLst>
          </p:cNvPr>
          <p:cNvSpPr txBox="1"/>
          <p:nvPr/>
        </p:nvSpPr>
        <p:spPr>
          <a:xfrm>
            <a:off x="339852" y="1344287"/>
            <a:ext cx="1151229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Patterns are subtle or hidden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within vast amounts of data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Detecting fraudulent transactions in banking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Fraud patterns are often rare, dynamic, and subtle — ML models can learn from millions of examples and detect anomalies that aren’t apparent to humans or rule-based systems.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Real-World Success: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PayPal's fraud detection system (reduced fraud rates by 10% while improving customer experience)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Credit card companies' real-time fraud alerts (detecting subtle pattern changes)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Insurance claim fraud detection (identifying connections between seemingly unrelated claims)</a:t>
            </a:r>
          </a:p>
        </p:txBody>
      </p:sp>
    </p:spTree>
    <p:extLst>
      <p:ext uri="{BB962C8B-B14F-4D97-AF65-F5344CB8AC3E}">
        <p14:creationId xmlns:p14="http://schemas.microsoft.com/office/powerpoint/2010/main" val="27989023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BF76B-9F59-02DB-FDB9-FBB0A107E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1102A10-4B3A-A4DB-2EE8-9C544844019E}"/>
              </a:ext>
            </a:extLst>
          </p:cNvPr>
          <p:cNvSpPr txBox="1"/>
          <p:nvPr/>
        </p:nvSpPr>
        <p:spPr>
          <a:xfrm>
            <a:off x="292608" y="146423"/>
            <a:ext cx="97749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Rules are difficult to articulate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but examples are plentiful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108894-7B14-A872-F2DE-B230881DDA0E}"/>
              </a:ext>
            </a:extLst>
          </p:cNvPr>
          <p:cNvSpPr txBox="1"/>
          <p:nvPr/>
        </p:nvSpPr>
        <p:spPr>
          <a:xfrm>
            <a:off x="6301740" y="906200"/>
            <a:ext cx="589026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Natural Language Processing (NLP):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Understanding context, sentiment, and meaning in text. It's nearly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impossible to write deterministic rules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sarcasm,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sentiment,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grammar, 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slang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2B4B29-ADF6-E5DE-D6E6-E04C5FE90CFE}"/>
              </a:ext>
            </a:extLst>
          </p:cNvPr>
          <p:cNvSpPr txBox="1"/>
          <p:nvPr/>
        </p:nvSpPr>
        <p:spPr>
          <a:xfrm>
            <a:off x="196596" y="906200"/>
            <a:ext cx="542696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Facial recognition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can’t write explicit rules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 define every possible human face, but we can train a model on millions of labeled images to recognize faces effectively.</a:t>
            </a:r>
          </a:p>
        </p:txBody>
      </p:sp>
    </p:spTree>
    <p:extLst>
      <p:ext uri="{BB962C8B-B14F-4D97-AF65-F5344CB8AC3E}">
        <p14:creationId xmlns:p14="http://schemas.microsoft.com/office/powerpoint/2010/main" val="39087955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2837D-0983-0DB8-2C0B-D77EF8720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535201E-292D-8087-C6F5-C31BC38A7D76}"/>
              </a:ext>
            </a:extLst>
          </p:cNvPr>
          <p:cNvSpPr txBox="1"/>
          <p:nvPr/>
        </p:nvSpPr>
        <p:spPr>
          <a:xfrm>
            <a:off x="475488" y="1316855"/>
            <a:ext cx="1055217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The problem requires prediction based on incomplete information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Medical diagnosis based on symptoms and patient history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Symptoms may vary or be incomplete.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ML models can make informed predictions based on patterns learned from prior patient data.</a:t>
            </a:r>
          </a:p>
        </p:txBody>
      </p:sp>
    </p:spTree>
    <p:extLst>
      <p:ext uri="{BB962C8B-B14F-4D97-AF65-F5344CB8AC3E}">
        <p14:creationId xmlns:p14="http://schemas.microsoft.com/office/powerpoint/2010/main" val="31566101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7DB88-A273-B4DD-8668-602D17CD6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30BAE21-5D42-123B-782D-12A4D95CD465}"/>
              </a:ext>
            </a:extLst>
          </p:cNvPr>
          <p:cNvSpPr txBox="1"/>
          <p:nvPr/>
        </p:nvSpPr>
        <p:spPr>
          <a:xfrm>
            <a:off x="374904" y="1120676"/>
            <a:ext cx="1055217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5. The environment is dynamic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continually changing</a:t>
            </a:r>
          </a:p>
          <a:p>
            <a:pPr lvl="0"/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Stock market trading algorithms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market shifts constantly based on news, sentiment, and global events.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Adaptive ML models can continuously retrain and adjust to changes better than static logic.</a:t>
            </a:r>
          </a:p>
        </p:txBody>
      </p:sp>
    </p:spTree>
    <p:extLst>
      <p:ext uri="{BB962C8B-B14F-4D97-AF65-F5344CB8AC3E}">
        <p14:creationId xmlns:p14="http://schemas.microsoft.com/office/powerpoint/2010/main" val="11909313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EC4AF-420A-3D94-F25B-F25322B9E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DC4AFFD-37B3-F188-C6B4-4E4C7CD8BEA2}"/>
              </a:ext>
            </a:extLst>
          </p:cNvPr>
          <p:cNvSpPr txBox="1"/>
          <p:nvPr/>
        </p:nvSpPr>
        <p:spPr>
          <a:xfrm>
            <a:off x="292608" y="1024247"/>
            <a:ext cx="10552176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6. The solution needs to improve with experience</a:t>
            </a:r>
          </a:p>
          <a:p>
            <a:pPr lvl="0"/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Personalized recommendation systems (e.g., Netflix, Amazon)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system gets better over time by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learning user preferences and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adjusting recommendations accordingly.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Real-World Success: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Netflix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credits its recommendation engine with saving over $1 billion annually through improved retention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Amazon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generates 35% of its revenue from its recommendation system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08616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18364-2FCC-CBE9-1DAA-2ED16FD4D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9A7DE6B-0365-7B49-E132-8545CB8E581E}"/>
              </a:ext>
            </a:extLst>
          </p:cNvPr>
          <p:cNvSpPr txBox="1"/>
          <p:nvPr/>
        </p:nvSpPr>
        <p:spPr>
          <a:xfrm>
            <a:off x="310896" y="1042535"/>
            <a:ext cx="1055217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7. Approximation is acceptable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preferable to no solution</a:t>
            </a:r>
          </a:p>
          <a:p>
            <a:pPr lvl="0"/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Language translation (e.g., Google Translate)</a:t>
            </a:r>
          </a:p>
          <a:p>
            <a:r>
              <a:rPr lang="en-US" sz="2400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Perfect translation is impossible.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Here it's better to have an approximate translation than none at all, especially across languages.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Speech recognition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Converting spoken language to text may be 90% accurate.</a:t>
            </a:r>
          </a:p>
        </p:txBody>
      </p:sp>
    </p:spTree>
    <p:extLst>
      <p:ext uri="{BB962C8B-B14F-4D97-AF65-F5344CB8AC3E}">
        <p14:creationId xmlns:p14="http://schemas.microsoft.com/office/powerpoint/2010/main" val="34932953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1256</TotalTime>
  <Words>907</Words>
  <Application>Microsoft Office PowerPoint</Application>
  <PresentationFormat>Widescreen</PresentationFormat>
  <Paragraphs>104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Calibiri Body</vt:lpstr>
      <vt:lpstr>Calibri</vt:lpstr>
      <vt:lpstr>Calibri Body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200</cp:revision>
  <dcterms:created xsi:type="dcterms:W3CDTF">2025-09-22T02:44:38Z</dcterms:created>
  <dcterms:modified xsi:type="dcterms:W3CDTF">2026-08-02T14:48:32Z</dcterms:modified>
</cp:coreProperties>
</file>