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5" r:id="rId3"/>
    <p:sldId id="296" r:id="rId4"/>
    <p:sldId id="297" r:id="rId5"/>
    <p:sldId id="298" r:id="rId6"/>
    <p:sldId id="29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C6EF2-4BEF-EEA7-589D-530AB52E26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DF87B56-CB60-1D4E-F5FF-E15AA42998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DAF42E9-4A69-85A2-6A4F-27EC26871518}"/>
              </a:ext>
            </a:extLst>
          </p:cNvPr>
          <p:cNvSpPr>
            <a:spLocks noGrp="1"/>
          </p:cNvSpPr>
          <p:nvPr>
            <p:ph type="dt" sz="half" idx="10"/>
          </p:nvPr>
        </p:nvSpPr>
        <p:spPr/>
        <p:txBody>
          <a:bodyPr/>
          <a:lstStyle/>
          <a:p>
            <a:fld id="{5D145F34-E2B1-435D-8562-D872B3E6C517}" type="datetimeFigureOut">
              <a:rPr lang="en-IN" smtClean="0"/>
              <a:t>10-02-2025</a:t>
            </a:fld>
            <a:endParaRPr lang="en-IN"/>
          </a:p>
        </p:txBody>
      </p:sp>
      <p:sp>
        <p:nvSpPr>
          <p:cNvPr id="5" name="Footer Placeholder 4">
            <a:extLst>
              <a:ext uri="{FF2B5EF4-FFF2-40B4-BE49-F238E27FC236}">
                <a16:creationId xmlns:a16="http://schemas.microsoft.com/office/drawing/2014/main" id="{FA9F995E-BFEE-BE0C-1F8C-F297C7CFB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382BE7-530A-049B-ABE2-FFCB5530BEB3}"/>
              </a:ext>
            </a:extLst>
          </p:cNvPr>
          <p:cNvSpPr>
            <a:spLocks noGrp="1"/>
          </p:cNvSpPr>
          <p:nvPr>
            <p:ph type="sldNum" sz="quarter" idx="12"/>
          </p:nvPr>
        </p:nvSpPr>
        <p:spPr/>
        <p:txBody>
          <a:bodyPr/>
          <a:lstStyle/>
          <a:p>
            <a:fld id="{47D63992-E6C1-4A3A-93BB-09C1917C9644}" type="slidenum">
              <a:rPr lang="en-IN" smtClean="0"/>
              <a:t>‹#›</a:t>
            </a:fld>
            <a:endParaRPr lang="en-IN"/>
          </a:p>
        </p:txBody>
      </p:sp>
    </p:spTree>
    <p:extLst>
      <p:ext uri="{BB962C8B-B14F-4D97-AF65-F5344CB8AC3E}">
        <p14:creationId xmlns:p14="http://schemas.microsoft.com/office/powerpoint/2010/main" val="3503123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E1282-C654-8CDF-A393-CDFD9BDD62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3BA16CD-7CC5-3E5C-AB8B-247642FED0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A83535-35BB-22EB-6FE9-E034D120C113}"/>
              </a:ext>
            </a:extLst>
          </p:cNvPr>
          <p:cNvSpPr>
            <a:spLocks noGrp="1"/>
          </p:cNvSpPr>
          <p:nvPr>
            <p:ph type="dt" sz="half" idx="10"/>
          </p:nvPr>
        </p:nvSpPr>
        <p:spPr/>
        <p:txBody>
          <a:bodyPr/>
          <a:lstStyle/>
          <a:p>
            <a:fld id="{5D145F34-E2B1-435D-8562-D872B3E6C517}" type="datetimeFigureOut">
              <a:rPr lang="en-IN" smtClean="0"/>
              <a:t>10-02-2025</a:t>
            </a:fld>
            <a:endParaRPr lang="en-IN"/>
          </a:p>
        </p:txBody>
      </p:sp>
      <p:sp>
        <p:nvSpPr>
          <p:cNvPr id="5" name="Footer Placeholder 4">
            <a:extLst>
              <a:ext uri="{FF2B5EF4-FFF2-40B4-BE49-F238E27FC236}">
                <a16:creationId xmlns:a16="http://schemas.microsoft.com/office/drawing/2014/main" id="{FC380F3B-E0C7-5379-5C61-F777865CF7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FA8633-6464-5C44-56FE-45D4E8E5ECC2}"/>
              </a:ext>
            </a:extLst>
          </p:cNvPr>
          <p:cNvSpPr>
            <a:spLocks noGrp="1"/>
          </p:cNvSpPr>
          <p:nvPr>
            <p:ph type="sldNum" sz="quarter" idx="12"/>
          </p:nvPr>
        </p:nvSpPr>
        <p:spPr/>
        <p:txBody>
          <a:bodyPr/>
          <a:lstStyle/>
          <a:p>
            <a:fld id="{47D63992-E6C1-4A3A-93BB-09C1917C9644}" type="slidenum">
              <a:rPr lang="en-IN" smtClean="0"/>
              <a:t>‹#›</a:t>
            </a:fld>
            <a:endParaRPr lang="en-IN"/>
          </a:p>
        </p:txBody>
      </p:sp>
    </p:spTree>
    <p:extLst>
      <p:ext uri="{BB962C8B-B14F-4D97-AF65-F5344CB8AC3E}">
        <p14:creationId xmlns:p14="http://schemas.microsoft.com/office/powerpoint/2010/main" val="1734393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5AB50-AFB7-3DAB-D28F-DCD5ED3A90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50A523A-C63E-F553-6E83-ECD36F1558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7F7BE5-8F74-1860-BEED-56792E4C3F36}"/>
              </a:ext>
            </a:extLst>
          </p:cNvPr>
          <p:cNvSpPr>
            <a:spLocks noGrp="1"/>
          </p:cNvSpPr>
          <p:nvPr>
            <p:ph type="dt" sz="half" idx="10"/>
          </p:nvPr>
        </p:nvSpPr>
        <p:spPr/>
        <p:txBody>
          <a:bodyPr/>
          <a:lstStyle/>
          <a:p>
            <a:fld id="{5D145F34-E2B1-435D-8562-D872B3E6C517}" type="datetimeFigureOut">
              <a:rPr lang="en-IN" smtClean="0"/>
              <a:t>10-02-2025</a:t>
            </a:fld>
            <a:endParaRPr lang="en-IN"/>
          </a:p>
        </p:txBody>
      </p:sp>
      <p:sp>
        <p:nvSpPr>
          <p:cNvPr id="5" name="Footer Placeholder 4">
            <a:extLst>
              <a:ext uri="{FF2B5EF4-FFF2-40B4-BE49-F238E27FC236}">
                <a16:creationId xmlns:a16="http://schemas.microsoft.com/office/drawing/2014/main" id="{882BEE53-3883-ACD3-2541-7CD50D4537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7E5E27-2046-409C-72F6-8597C8863D87}"/>
              </a:ext>
            </a:extLst>
          </p:cNvPr>
          <p:cNvSpPr>
            <a:spLocks noGrp="1"/>
          </p:cNvSpPr>
          <p:nvPr>
            <p:ph type="sldNum" sz="quarter" idx="12"/>
          </p:nvPr>
        </p:nvSpPr>
        <p:spPr/>
        <p:txBody>
          <a:bodyPr/>
          <a:lstStyle/>
          <a:p>
            <a:fld id="{47D63992-E6C1-4A3A-93BB-09C1917C9644}" type="slidenum">
              <a:rPr lang="en-IN" smtClean="0"/>
              <a:t>‹#›</a:t>
            </a:fld>
            <a:endParaRPr lang="en-IN"/>
          </a:p>
        </p:txBody>
      </p:sp>
    </p:spTree>
    <p:extLst>
      <p:ext uri="{BB962C8B-B14F-4D97-AF65-F5344CB8AC3E}">
        <p14:creationId xmlns:p14="http://schemas.microsoft.com/office/powerpoint/2010/main" val="1563295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CB42D-D82D-19D3-6D36-44A9B7B285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050DB5-E438-0CB2-E2F4-A955A3D797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6FE0253-4D27-55DA-058A-34D8227F0A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6BA129A-3B53-0884-8962-7AE66F5792E8}"/>
              </a:ext>
            </a:extLst>
          </p:cNvPr>
          <p:cNvSpPr>
            <a:spLocks noGrp="1"/>
          </p:cNvSpPr>
          <p:nvPr>
            <p:ph type="dt" sz="half" idx="10"/>
          </p:nvPr>
        </p:nvSpPr>
        <p:spPr/>
        <p:txBody>
          <a:bodyPr/>
          <a:lstStyle/>
          <a:p>
            <a:fld id="{5D145F34-E2B1-435D-8562-D872B3E6C517}" type="datetimeFigureOut">
              <a:rPr lang="en-IN" smtClean="0"/>
              <a:t>10-02-2025</a:t>
            </a:fld>
            <a:endParaRPr lang="en-IN"/>
          </a:p>
        </p:txBody>
      </p:sp>
      <p:sp>
        <p:nvSpPr>
          <p:cNvPr id="6" name="Footer Placeholder 5">
            <a:extLst>
              <a:ext uri="{FF2B5EF4-FFF2-40B4-BE49-F238E27FC236}">
                <a16:creationId xmlns:a16="http://schemas.microsoft.com/office/drawing/2014/main" id="{6924371C-F06D-5F79-665F-721D166C0F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2E7091-E192-654A-3A89-504516D24C8C}"/>
              </a:ext>
            </a:extLst>
          </p:cNvPr>
          <p:cNvSpPr>
            <a:spLocks noGrp="1"/>
          </p:cNvSpPr>
          <p:nvPr>
            <p:ph type="sldNum" sz="quarter" idx="12"/>
          </p:nvPr>
        </p:nvSpPr>
        <p:spPr/>
        <p:txBody>
          <a:bodyPr/>
          <a:lstStyle/>
          <a:p>
            <a:fld id="{47D63992-E6C1-4A3A-93BB-09C1917C9644}" type="slidenum">
              <a:rPr lang="en-IN" smtClean="0"/>
              <a:t>‹#›</a:t>
            </a:fld>
            <a:endParaRPr lang="en-IN"/>
          </a:p>
        </p:txBody>
      </p:sp>
    </p:spTree>
    <p:extLst>
      <p:ext uri="{BB962C8B-B14F-4D97-AF65-F5344CB8AC3E}">
        <p14:creationId xmlns:p14="http://schemas.microsoft.com/office/powerpoint/2010/main" val="4112208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93EBE-CD44-3DC8-ED5D-9180A3B088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3EC967-690B-B88E-4770-91D2ABA3F2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811715-5500-7144-4547-A52302CB66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7CC3226-4B72-E680-BE48-40AA3774E8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2939FC-84E0-87E3-BF15-CAE11A4F2F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E2FA964-BF3E-44FF-E6A3-FF7ED468D35A}"/>
              </a:ext>
            </a:extLst>
          </p:cNvPr>
          <p:cNvSpPr>
            <a:spLocks noGrp="1"/>
          </p:cNvSpPr>
          <p:nvPr>
            <p:ph type="dt" sz="half" idx="10"/>
          </p:nvPr>
        </p:nvSpPr>
        <p:spPr/>
        <p:txBody>
          <a:bodyPr/>
          <a:lstStyle/>
          <a:p>
            <a:fld id="{5D145F34-E2B1-435D-8562-D872B3E6C517}" type="datetimeFigureOut">
              <a:rPr lang="en-IN" smtClean="0"/>
              <a:t>10-02-2025</a:t>
            </a:fld>
            <a:endParaRPr lang="en-IN"/>
          </a:p>
        </p:txBody>
      </p:sp>
      <p:sp>
        <p:nvSpPr>
          <p:cNvPr id="8" name="Footer Placeholder 7">
            <a:extLst>
              <a:ext uri="{FF2B5EF4-FFF2-40B4-BE49-F238E27FC236}">
                <a16:creationId xmlns:a16="http://schemas.microsoft.com/office/drawing/2014/main" id="{EF084772-3920-4BA8-9AF7-2C9A7E9E7A3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CA4B4BD-C159-E023-5748-C4F37B480DFA}"/>
              </a:ext>
            </a:extLst>
          </p:cNvPr>
          <p:cNvSpPr>
            <a:spLocks noGrp="1"/>
          </p:cNvSpPr>
          <p:nvPr>
            <p:ph type="sldNum" sz="quarter" idx="12"/>
          </p:nvPr>
        </p:nvSpPr>
        <p:spPr/>
        <p:txBody>
          <a:bodyPr/>
          <a:lstStyle/>
          <a:p>
            <a:fld id="{47D63992-E6C1-4A3A-93BB-09C1917C9644}" type="slidenum">
              <a:rPr lang="en-IN" smtClean="0"/>
              <a:t>‹#›</a:t>
            </a:fld>
            <a:endParaRPr lang="en-IN"/>
          </a:p>
        </p:txBody>
      </p:sp>
    </p:spTree>
    <p:extLst>
      <p:ext uri="{BB962C8B-B14F-4D97-AF65-F5344CB8AC3E}">
        <p14:creationId xmlns:p14="http://schemas.microsoft.com/office/powerpoint/2010/main" val="709915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7CEF-6F6D-7451-B9E3-1448EAD41A0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52BB3BC-4CFA-1F2C-82FC-E49F7891FFFC}"/>
              </a:ext>
            </a:extLst>
          </p:cNvPr>
          <p:cNvSpPr>
            <a:spLocks noGrp="1"/>
          </p:cNvSpPr>
          <p:nvPr>
            <p:ph type="dt" sz="half" idx="10"/>
          </p:nvPr>
        </p:nvSpPr>
        <p:spPr/>
        <p:txBody>
          <a:bodyPr/>
          <a:lstStyle/>
          <a:p>
            <a:fld id="{5D145F34-E2B1-435D-8562-D872B3E6C517}" type="datetimeFigureOut">
              <a:rPr lang="en-IN" smtClean="0"/>
              <a:t>10-02-2025</a:t>
            </a:fld>
            <a:endParaRPr lang="en-IN"/>
          </a:p>
        </p:txBody>
      </p:sp>
      <p:sp>
        <p:nvSpPr>
          <p:cNvPr id="4" name="Footer Placeholder 3">
            <a:extLst>
              <a:ext uri="{FF2B5EF4-FFF2-40B4-BE49-F238E27FC236}">
                <a16:creationId xmlns:a16="http://schemas.microsoft.com/office/drawing/2014/main" id="{C9B5911B-ED0C-384F-1E25-535AAB4D483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0B02EBE-7D33-C4BB-5161-4E010AA0E6BF}"/>
              </a:ext>
            </a:extLst>
          </p:cNvPr>
          <p:cNvSpPr>
            <a:spLocks noGrp="1"/>
          </p:cNvSpPr>
          <p:nvPr>
            <p:ph type="sldNum" sz="quarter" idx="12"/>
          </p:nvPr>
        </p:nvSpPr>
        <p:spPr/>
        <p:txBody>
          <a:bodyPr/>
          <a:lstStyle/>
          <a:p>
            <a:fld id="{47D63992-E6C1-4A3A-93BB-09C1917C9644}" type="slidenum">
              <a:rPr lang="en-IN" smtClean="0"/>
              <a:t>‹#›</a:t>
            </a:fld>
            <a:endParaRPr lang="en-IN"/>
          </a:p>
        </p:txBody>
      </p:sp>
    </p:spTree>
    <p:extLst>
      <p:ext uri="{BB962C8B-B14F-4D97-AF65-F5344CB8AC3E}">
        <p14:creationId xmlns:p14="http://schemas.microsoft.com/office/powerpoint/2010/main" val="1111346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8229AD-8E50-077D-B8AF-2B73D553146D}"/>
              </a:ext>
            </a:extLst>
          </p:cNvPr>
          <p:cNvSpPr>
            <a:spLocks noGrp="1"/>
          </p:cNvSpPr>
          <p:nvPr>
            <p:ph type="dt" sz="half" idx="10"/>
          </p:nvPr>
        </p:nvSpPr>
        <p:spPr/>
        <p:txBody>
          <a:bodyPr/>
          <a:lstStyle/>
          <a:p>
            <a:fld id="{5D145F34-E2B1-435D-8562-D872B3E6C517}" type="datetimeFigureOut">
              <a:rPr lang="en-IN" smtClean="0"/>
              <a:t>10-02-2025</a:t>
            </a:fld>
            <a:endParaRPr lang="en-IN"/>
          </a:p>
        </p:txBody>
      </p:sp>
      <p:sp>
        <p:nvSpPr>
          <p:cNvPr id="3" name="Footer Placeholder 2">
            <a:extLst>
              <a:ext uri="{FF2B5EF4-FFF2-40B4-BE49-F238E27FC236}">
                <a16:creationId xmlns:a16="http://schemas.microsoft.com/office/drawing/2014/main" id="{121383F7-DC57-0D1C-D49D-AA5820D8213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01D85C-6436-F81E-4E0E-031FCFE69388}"/>
              </a:ext>
            </a:extLst>
          </p:cNvPr>
          <p:cNvSpPr>
            <a:spLocks noGrp="1"/>
          </p:cNvSpPr>
          <p:nvPr>
            <p:ph type="sldNum" sz="quarter" idx="12"/>
          </p:nvPr>
        </p:nvSpPr>
        <p:spPr/>
        <p:txBody>
          <a:bodyPr/>
          <a:lstStyle/>
          <a:p>
            <a:fld id="{47D63992-E6C1-4A3A-93BB-09C1917C9644}" type="slidenum">
              <a:rPr lang="en-IN" smtClean="0"/>
              <a:t>‹#›</a:t>
            </a:fld>
            <a:endParaRPr lang="en-IN"/>
          </a:p>
        </p:txBody>
      </p:sp>
    </p:spTree>
    <p:extLst>
      <p:ext uri="{BB962C8B-B14F-4D97-AF65-F5344CB8AC3E}">
        <p14:creationId xmlns:p14="http://schemas.microsoft.com/office/powerpoint/2010/main" val="188559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362A6-8B6A-2A28-C7B7-044B761042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CA8C695-44FF-F054-8059-32A9393626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5B8BB8-0393-30E1-8261-A03311CFFB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6F8A17-5A74-15C6-6E15-03BFC1A8CE0F}"/>
              </a:ext>
            </a:extLst>
          </p:cNvPr>
          <p:cNvSpPr>
            <a:spLocks noGrp="1"/>
          </p:cNvSpPr>
          <p:nvPr>
            <p:ph type="dt" sz="half" idx="10"/>
          </p:nvPr>
        </p:nvSpPr>
        <p:spPr/>
        <p:txBody>
          <a:bodyPr/>
          <a:lstStyle/>
          <a:p>
            <a:fld id="{5D145F34-E2B1-435D-8562-D872B3E6C517}" type="datetimeFigureOut">
              <a:rPr lang="en-IN" smtClean="0"/>
              <a:t>10-02-2025</a:t>
            </a:fld>
            <a:endParaRPr lang="en-IN"/>
          </a:p>
        </p:txBody>
      </p:sp>
      <p:sp>
        <p:nvSpPr>
          <p:cNvPr id="6" name="Footer Placeholder 5">
            <a:extLst>
              <a:ext uri="{FF2B5EF4-FFF2-40B4-BE49-F238E27FC236}">
                <a16:creationId xmlns:a16="http://schemas.microsoft.com/office/drawing/2014/main" id="{A2D932CE-57DD-714A-5B65-6E06E02031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1C4E73-05DB-68F4-3120-B198E1DAF93C}"/>
              </a:ext>
            </a:extLst>
          </p:cNvPr>
          <p:cNvSpPr>
            <a:spLocks noGrp="1"/>
          </p:cNvSpPr>
          <p:nvPr>
            <p:ph type="sldNum" sz="quarter" idx="12"/>
          </p:nvPr>
        </p:nvSpPr>
        <p:spPr/>
        <p:txBody>
          <a:bodyPr/>
          <a:lstStyle/>
          <a:p>
            <a:fld id="{47D63992-E6C1-4A3A-93BB-09C1917C9644}" type="slidenum">
              <a:rPr lang="en-IN" smtClean="0"/>
              <a:t>‹#›</a:t>
            </a:fld>
            <a:endParaRPr lang="en-IN"/>
          </a:p>
        </p:txBody>
      </p:sp>
    </p:spTree>
    <p:extLst>
      <p:ext uri="{BB962C8B-B14F-4D97-AF65-F5344CB8AC3E}">
        <p14:creationId xmlns:p14="http://schemas.microsoft.com/office/powerpoint/2010/main" val="2318483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33894-1E3B-6502-BC83-FAD37F44D7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CCCE744-F1E6-8712-DFA0-8B4D33588D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3A9C39C-273B-C02A-2792-5A4D78FB6E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3A7A9B-C5AB-5AE1-A534-321A0A5386AC}"/>
              </a:ext>
            </a:extLst>
          </p:cNvPr>
          <p:cNvSpPr>
            <a:spLocks noGrp="1"/>
          </p:cNvSpPr>
          <p:nvPr>
            <p:ph type="dt" sz="half" idx="10"/>
          </p:nvPr>
        </p:nvSpPr>
        <p:spPr/>
        <p:txBody>
          <a:bodyPr/>
          <a:lstStyle/>
          <a:p>
            <a:fld id="{5D145F34-E2B1-435D-8562-D872B3E6C517}" type="datetimeFigureOut">
              <a:rPr lang="en-IN" smtClean="0"/>
              <a:t>10-02-2025</a:t>
            </a:fld>
            <a:endParaRPr lang="en-IN"/>
          </a:p>
        </p:txBody>
      </p:sp>
      <p:sp>
        <p:nvSpPr>
          <p:cNvPr id="6" name="Footer Placeholder 5">
            <a:extLst>
              <a:ext uri="{FF2B5EF4-FFF2-40B4-BE49-F238E27FC236}">
                <a16:creationId xmlns:a16="http://schemas.microsoft.com/office/drawing/2014/main" id="{3B26DC8B-5CA8-C330-DB18-6437BB1111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64C39D-AD31-619D-2B85-EFDD2BA9F573}"/>
              </a:ext>
            </a:extLst>
          </p:cNvPr>
          <p:cNvSpPr>
            <a:spLocks noGrp="1"/>
          </p:cNvSpPr>
          <p:nvPr>
            <p:ph type="sldNum" sz="quarter" idx="12"/>
          </p:nvPr>
        </p:nvSpPr>
        <p:spPr/>
        <p:txBody>
          <a:bodyPr/>
          <a:lstStyle/>
          <a:p>
            <a:fld id="{47D63992-E6C1-4A3A-93BB-09C1917C9644}" type="slidenum">
              <a:rPr lang="en-IN" smtClean="0"/>
              <a:t>‹#›</a:t>
            </a:fld>
            <a:endParaRPr lang="en-IN"/>
          </a:p>
        </p:txBody>
      </p:sp>
    </p:spTree>
    <p:extLst>
      <p:ext uri="{BB962C8B-B14F-4D97-AF65-F5344CB8AC3E}">
        <p14:creationId xmlns:p14="http://schemas.microsoft.com/office/powerpoint/2010/main" val="1831993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5E847-A942-DCFF-90E5-BB9B72ECFB8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B74D126-C1C5-060F-50F6-91E24D3468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47F33C-1C9B-D6E8-7FE3-F8C643AC072E}"/>
              </a:ext>
            </a:extLst>
          </p:cNvPr>
          <p:cNvSpPr>
            <a:spLocks noGrp="1"/>
          </p:cNvSpPr>
          <p:nvPr>
            <p:ph type="dt" sz="half" idx="10"/>
          </p:nvPr>
        </p:nvSpPr>
        <p:spPr/>
        <p:txBody>
          <a:bodyPr/>
          <a:lstStyle/>
          <a:p>
            <a:fld id="{5D145F34-E2B1-435D-8562-D872B3E6C517}" type="datetimeFigureOut">
              <a:rPr lang="en-IN" smtClean="0"/>
              <a:t>10-02-2025</a:t>
            </a:fld>
            <a:endParaRPr lang="en-IN"/>
          </a:p>
        </p:txBody>
      </p:sp>
      <p:sp>
        <p:nvSpPr>
          <p:cNvPr id="5" name="Footer Placeholder 4">
            <a:extLst>
              <a:ext uri="{FF2B5EF4-FFF2-40B4-BE49-F238E27FC236}">
                <a16:creationId xmlns:a16="http://schemas.microsoft.com/office/drawing/2014/main" id="{A5FB2328-D41F-A9B3-6C15-1D7B614A48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C8F684-EF88-B637-49DF-C5BCFD5762B6}"/>
              </a:ext>
            </a:extLst>
          </p:cNvPr>
          <p:cNvSpPr>
            <a:spLocks noGrp="1"/>
          </p:cNvSpPr>
          <p:nvPr>
            <p:ph type="sldNum" sz="quarter" idx="12"/>
          </p:nvPr>
        </p:nvSpPr>
        <p:spPr/>
        <p:txBody>
          <a:bodyPr/>
          <a:lstStyle/>
          <a:p>
            <a:fld id="{47D63992-E6C1-4A3A-93BB-09C1917C9644}" type="slidenum">
              <a:rPr lang="en-IN" smtClean="0"/>
              <a:t>‹#›</a:t>
            </a:fld>
            <a:endParaRPr lang="en-IN"/>
          </a:p>
        </p:txBody>
      </p:sp>
    </p:spTree>
    <p:extLst>
      <p:ext uri="{BB962C8B-B14F-4D97-AF65-F5344CB8AC3E}">
        <p14:creationId xmlns:p14="http://schemas.microsoft.com/office/powerpoint/2010/main" val="3286087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EFD032-5D61-B6A6-F9E4-B91B33ADB3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4BB261-18DE-3174-0B50-D19BF9DA04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E39B3E-5970-6782-F405-8410014571E7}"/>
              </a:ext>
            </a:extLst>
          </p:cNvPr>
          <p:cNvSpPr>
            <a:spLocks noGrp="1"/>
          </p:cNvSpPr>
          <p:nvPr>
            <p:ph type="dt" sz="half" idx="10"/>
          </p:nvPr>
        </p:nvSpPr>
        <p:spPr/>
        <p:txBody>
          <a:bodyPr/>
          <a:lstStyle/>
          <a:p>
            <a:fld id="{5D145F34-E2B1-435D-8562-D872B3E6C517}" type="datetimeFigureOut">
              <a:rPr lang="en-IN" smtClean="0"/>
              <a:t>10-02-2025</a:t>
            </a:fld>
            <a:endParaRPr lang="en-IN"/>
          </a:p>
        </p:txBody>
      </p:sp>
      <p:sp>
        <p:nvSpPr>
          <p:cNvPr id="5" name="Footer Placeholder 4">
            <a:extLst>
              <a:ext uri="{FF2B5EF4-FFF2-40B4-BE49-F238E27FC236}">
                <a16:creationId xmlns:a16="http://schemas.microsoft.com/office/drawing/2014/main" id="{9F4AF7B8-B803-D2CC-45C0-F9BE498D9D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0B03ED-4B37-286A-EA99-E987D451A096}"/>
              </a:ext>
            </a:extLst>
          </p:cNvPr>
          <p:cNvSpPr>
            <a:spLocks noGrp="1"/>
          </p:cNvSpPr>
          <p:nvPr>
            <p:ph type="sldNum" sz="quarter" idx="12"/>
          </p:nvPr>
        </p:nvSpPr>
        <p:spPr/>
        <p:txBody>
          <a:bodyPr/>
          <a:lstStyle/>
          <a:p>
            <a:fld id="{47D63992-E6C1-4A3A-93BB-09C1917C9644}" type="slidenum">
              <a:rPr lang="en-IN" smtClean="0"/>
              <a:t>‹#›</a:t>
            </a:fld>
            <a:endParaRPr lang="en-IN"/>
          </a:p>
        </p:txBody>
      </p:sp>
    </p:spTree>
    <p:extLst>
      <p:ext uri="{BB962C8B-B14F-4D97-AF65-F5344CB8AC3E}">
        <p14:creationId xmlns:p14="http://schemas.microsoft.com/office/powerpoint/2010/main" val="1405863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02BB4F-B3A0-C916-6ADA-89620B2640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C45921-EB98-412D-F6FA-244465961C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A7A8B9-EEFB-9087-E8B9-1D5541321F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145F34-E2B1-435D-8562-D872B3E6C517}" type="datetimeFigureOut">
              <a:rPr lang="en-IN" smtClean="0"/>
              <a:t>10-02-2025</a:t>
            </a:fld>
            <a:endParaRPr lang="en-IN"/>
          </a:p>
        </p:txBody>
      </p:sp>
      <p:sp>
        <p:nvSpPr>
          <p:cNvPr id="5" name="Footer Placeholder 4">
            <a:extLst>
              <a:ext uri="{FF2B5EF4-FFF2-40B4-BE49-F238E27FC236}">
                <a16:creationId xmlns:a16="http://schemas.microsoft.com/office/drawing/2014/main" id="{60F8B907-5AC6-D478-C297-237AEAF92B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29D30E1-3CD7-BF4B-4F79-18690EAEB4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D63992-E6C1-4A3A-93BB-09C1917C9644}" type="slidenum">
              <a:rPr lang="en-IN" smtClean="0"/>
              <a:t>‹#›</a:t>
            </a:fld>
            <a:endParaRPr lang="en-IN"/>
          </a:p>
        </p:txBody>
      </p:sp>
    </p:spTree>
    <p:extLst>
      <p:ext uri="{BB962C8B-B14F-4D97-AF65-F5344CB8AC3E}">
        <p14:creationId xmlns:p14="http://schemas.microsoft.com/office/powerpoint/2010/main" val="3677456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techtarget.com/whatis/definition/large-language-model-LL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221D7-EA7E-E9C9-CF0E-56D09379BD85}"/>
              </a:ext>
            </a:extLst>
          </p:cNvPr>
          <p:cNvSpPr>
            <a:spLocks noGrp="1"/>
          </p:cNvSpPr>
          <p:nvPr>
            <p:ph type="ctrTitle"/>
          </p:nvPr>
        </p:nvSpPr>
        <p:spPr/>
        <p:txBody>
          <a:bodyPr/>
          <a:lstStyle/>
          <a:p>
            <a:r>
              <a:rPr lang="en-US" dirty="0" err="1"/>
              <a:t>DeepSeek</a:t>
            </a:r>
            <a:endParaRPr lang="en-IN" dirty="0"/>
          </a:p>
        </p:txBody>
      </p:sp>
      <p:sp>
        <p:nvSpPr>
          <p:cNvPr id="3" name="Subtitle 2">
            <a:extLst>
              <a:ext uri="{FF2B5EF4-FFF2-40B4-BE49-F238E27FC236}">
                <a16:creationId xmlns:a16="http://schemas.microsoft.com/office/drawing/2014/main" id="{E296FE16-97B6-2B2D-FB20-48740C8EA41D}"/>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031363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2C834-CF9D-364F-1FA9-63111538CF73}"/>
              </a:ext>
            </a:extLst>
          </p:cNvPr>
          <p:cNvSpPr>
            <a:spLocks noGrp="1"/>
          </p:cNvSpPr>
          <p:nvPr>
            <p:ph type="title"/>
          </p:nvPr>
        </p:nvSpPr>
        <p:spPr>
          <a:xfrm>
            <a:off x="838200" y="243823"/>
            <a:ext cx="10515600" cy="437308"/>
          </a:xfrm>
        </p:spPr>
        <p:txBody>
          <a:bodyPr>
            <a:normAutofit fontScale="90000"/>
          </a:bodyPr>
          <a:lstStyle/>
          <a:p>
            <a:r>
              <a:rPr lang="en-US" dirty="0"/>
              <a:t>China </a:t>
            </a:r>
            <a:r>
              <a:rPr lang="en-US" dirty="0" err="1"/>
              <a:t>GenAI</a:t>
            </a:r>
            <a:r>
              <a:rPr lang="en-US" dirty="0"/>
              <a:t> </a:t>
            </a:r>
            <a:r>
              <a:rPr lang="en-US" dirty="0" err="1"/>
              <a:t>DeepSeek</a:t>
            </a:r>
            <a:r>
              <a:rPr lang="en-US" dirty="0"/>
              <a:t>(p1)</a:t>
            </a:r>
            <a:endParaRPr lang="en-IN" dirty="0"/>
          </a:p>
        </p:txBody>
      </p:sp>
      <p:sp>
        <p:nvSpPr>
          <p:cNvPr id="3" name="Content Placeholder 2">
            <a:extLst>
              <a:ext uri="{FF2B5EF4-FFF2-40B4-BE49-F238E27FC236}">
                <a16:creationId xmlns:a16="http://schemas.microsoft.com/office/drawing/2014/main" id="{E252469D-1D27-EC0E-7837-2040C43C66C6}"/>
              </a:ext>
            </a:extLst>
          </p:cNvPr>
          <p:cNvSpPr>
            <a:spLocks noGrp="1"/>
          </p:cNvSpPr>
          <p:nvPr>
            <p:ph idx="1"/>
          </p:nvPr>
        </p:nvSpPr>
        <p:spPr>
          <a:xfrm>
            <a:off x="838200" y="957878"/>
            <a:ext cx="10515600" cy="1468081"/>
          </a:xfrm>
        </p:spPr>
        <p:txBody>
          <a:bodyPr>
            <a:normAutofit/>
          </a:bodyPr>
          <a:lstStyle/>
          <a:p>
            <a:r>
              <a:rPr lang="en-US" sz="1800" dirty="0" err="1"/>
              <a:t>Deepseek</a:t>
            </a:r>
            <a:r>
              <a:rPr lang="en-US" sz="1800" dirty="0"/>
              <a:t> is </a:t>
            </a:r>
            <a:r>
              <a:rPr lang="en-US" sz="1800" dirty="0" err="1"/>
              <a:t>china</a:t>
            </a:r>
            <a:r>
              <a:rPr lang="en-US" sz="1800" dirty="0"/>
              <a:t> company name</a:t>
            </a:r>
          </a:p>
          <a:p>
            <a:r>
              <a:rPr lang="en-US" sz="1800" b="0" i="0" dirty="0">
                <a:solidFill>
                  <a:srgbClr val="666666"/>
                </a:solidFill>
                <a:effectLst/>
                <a:latin typeface="Arial" panose="020B0604020202020204" pitchFamily="34" charset="0"/>
              </a:rPr>
              <a:t>On Jan. 20, 2025, </a:t>
            </a:r>
            <a:r>
              <a:rPr lang="en-US" sz="1800" b="0" i="0" dirty="0" err="1">
                <a:solidFill>
                  <a:srgbClr val="666666"/>
                </a:solidFill>
                <a:effectLst/>
                <a:latin typeface="Arial" panose="020B0604020202020204" pitchFamily="34" charset="0"/>
              </a:rPr>
              <a:t>DeepSeek</a:t>
            </a:r>
            <a:r>
              <a:rPr lang="en-US" sz="1800" b="0" i="0" dirty="0">
                <a:solidFill>
                  <a:srgbClr val="666666"/>
                </a:solidFill>
                <a:effectLst/>
                <a:latin typeface="Arial" panose="020B0604020202020204" pitchFamily="34" charset="0"/>
              </a:rPr>
              <a:t> released its R1 </a:t>
            </a:r>
            <a:r>
              <a:rPr lang="en-US" sz="1800" b="0" i="0" u="sng" dirty="0">
                <a:solidFill>
                  <a:srgbClr val="007CAD"/>
                </a:solidFill>
                <a:effectLst/>
                <a:latin typeface="Arial" panose="020B0604020202020204" pitchFamily="34" charset="0"/>
                <a:hlinkClick r:id="rId2"/>
              </a:rPr>
              <a:t>LLM</a:t>
            </a:r>
            <a:r>
              <a:rPr lang="en-US" sz="1800" b="0" i="0" dirty="0">
                <a:solidFill>
                  <a:srgbClr val="666666"/>
                </a:solidFill>
                <a:effectLst/>
                <a:latin typeface="Arial" panose="020B0604020202020204" pitchFamily="34" charset="0"/>
              </a:rPr>
              <a:t> at a </a:t>
            </a:r>
            <a:r>
              <a:rPr lang="en-US" sz="1800" b="1" i="0" dirty="0">
                <a:solidFill>
                  <a:srgbClr val="666666"/>
                </a:solidFill>
                <a:effectLst/>
                <a:latin typeface="Arial" panose="020B0604020202020204" pitchFamily="34" charset="0"/>
              </a:rPr>
              <a:t>fraction of the cost</a:t>
            </a:r>
            <a:r>
              <a:rPr lang="en-US" sz="1800" b="0" i="0" dirty="0">
                <a:solidFill>
                  <a:srgbClr val="666666"/>
                </a:solidFill>
                <a:effectLst/>
                <a:latin typeface="Arial" panose="020B0604020202020204" pitchFamily="34" charset="0"/>
              </a:rPr>
              <a:t> that other vendors incurred in their own developments. </a:t>
            </a:r>
          </a:p>
          <a:p>
            <a:r>
              <a:rPr lang="en-US" sz="1800" b="0" i="0" dirty="0" err="1">
                <a:solidFill>
                  <a:srgbClr val="666666"/>
                </a:solidFill>
                <a:effectLst/>
                <a:latin typeface="Arial" panose="020B0604020202020204" pitchFamily="34" charset="0"/>
              </a:rPr>
              <a:t>DeepSeek</a:t>
            </a:r>
            <a:r>
              <a:rPr lang="en-US" sz="1800" b="0" i="0" dirty="0">
                <a:solidFill>
                  <a:srgbClr val="666666"/>
                </a:solidFill>
                <a:effectLst/>
                <a:latin typeface="Arial" panose="020B0604020202020204" pitchFamily="34" charset="0"/>
              </a:rPr>
              <a:t> is also providing its R1 models under an </a:t>
            </a:r>
            <a:r>
              <a:rPr lang="en-US" sz="1800" b="0" i="0" u="sng" dirty="0">
                <a:effectLst/>
                <a:latin typeface="Arial" panose="020B0604020202020204" pitchFamily="34" charset="0"/>
              </a:rPr>
              <a:t>open source</a:t>
            </a:r>
            <a:r>
              <a:rPr lang="en-US" sz="1800" b="0" i="0" dirty="0">
                <a:solidFill>
                  <a:srgbClr val="666666"/>
                </a:solidFill>
                <a:effectLst/>
                <a:latin typeface="Arial" panose="020B0604020202020204" pitchFamily="34" charset="0"/>
              </a:rPr>
              <a:t> license, enabling free use.</a:t>
            </a:r>
            <a:endParaRPr lang="en-IN" sz="1800" dirty="0"/>
          </a:p>
        </p:txBody>
      </p:sp>
      <p:pic>
        <p:nvPicPr>
          <p:cNvPr id="5" name="Picture 4">
            <a:extLst>
              <a:ext uri="{FF2B5EF4-FFF2-40B4-BE49-F238E27FC236}">
                <a16:creationId xmlns:a16="http://schemas.microsoft.com/office/drawing/2014/main" id="{CEC54735-757E-4394-8A66-5638897C39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2938" y="2351315"/>
            <a:ext cx="5802884" cy="4139348"/>
          </a:xfrm>
          <a:prstGeom prst="rect">
            <a:avLst/>
          </a:prstGeom>
        </p:spPr>
      </p:pic>
      <p:sp>
        <p:nvSpPr>
          <p:cNvPr id="6" name="TextBox 5">
            <a:extLst>
              <a:ext uri="{FF2B5EF4-FFF2-40B4-BE49-F238E27FC236}">
                <a16:creationId xmlns:a16="http://schemas.microsoft.com/office/drawing/2014/main" id="{FFF557DB-A1A0-2779-912F-AB6916C20813}"/>
              </a:ext>
            </a:extLst>
          </p:cNvPr>
          <p:cNvSpPr txBox="1"/>
          <p:nvPr/>
        </p:nvSpPr>
        <p:spPr>
          <a:xfrm>
            <a:off x="7427167" y="6092890"/>
            <a:ext cx="1583895" cy="369332"/>
          </a:xfrm>
          <a:prstGeom prst="rect">
            <a:avLst/>
          </a:prstGeom>
          <a:noFill/>
        </p:spPr>
        <p:txBody>
          <a:bodyPr wrap="none" rtlCol="0">
            <a:spAutoFit/>
          </a:bodyPr>
          <a:lstStyle/>
          <a:p>
            <a:r>
              <a:rPr lang="en-US" dirty="0"/>
              <a:t>As of Feb-2025</a:t>
            </a:r>
            <a:endParaRPr lang="en-IN" dirty="0"/>
          </a:p>
        </p:txBody>
      </p:sp>
    </p:spTree>
    <p:extLst>
      <p:ext uri="{BB962C8B-B14F-4D97-AF65-F5344CB8AC3E}">
        <p14:creationId xmlns:p14="http://schemas.microsoft.com/office/powerpoint/2010/main" val="1172151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C2FE6-51EB-5F88-4627-67E2DA60245A}"/>
              </a:ext>
            </a:extLst>
          </p:cNvPr>
          <p:cNvSpPr>
            <a:spLocks noGrp="1"/>
          </p:cNvSpPr>
          <p:nvPr>
            <p:ph type="title"/>
          </p:nvPr>
        </p:nvSpPr>
        <p:spPr/>
        <p:txBody>
          <a:bodyPr/>
          <a:lstStyle/>
          <a:p>
            <a:r>
              <a:rPr lang="en-US" dirty="0"/>
              <a:t>Key points of Deep seek</a:t>
            </a:r>
            <a:endParaRPr lang="en-IN" dirty="0"/>
          </a:p>
        </p:txBody>
      </p:sp>
      <p:sp>
        <p:nvSpPr>
          <p:cNvPr id="3" name="Content Placeholder 2">
            <a:extLst>
              <a:ext uri="{FF2B5EF4-FFF2-40B4-BE49-F238E27FC236}">
                <a16:creationId xmlns:a16="http://schemas.microsoft.com/office/drawing/2014/main" id="{3DCCB8A0-22C7-62AC-CA65-797036F84C83}"/>
              </a:ext>
            </a:extLst>
          </p:cNvPr>
          <p:cNvSpPr>
            <a:spLocks noGrp="1"/>
          </p:cNvSpPr>
          <p:nvPr>
            <p:ph idx="1"/>
          </p:nvPr>
        </p:nvSpPr>
        <p:spPr/>
        <p:txBody>
          <a:bodyPr/>
          <a:lstStyle/>
          <a:p>
            <a:pPr algn="l">
              <a:spcBef>
                <a:spcPts val="750"/>
              </a:spcBef>
              <a:spcAft>
                <a:spcPts val="750"/>
              </a:spcAft>
              <a:buFont typeface="Arial" panose="020B0604020202020204" pitchFamily="34" charset="0"/>
              <a:buChar char="•"/>
            </a:pPr>
            <a:r>
              <a:rPr lang="en-US" b="1" i="0" dirty="0">
                <a:solidFill>
                  <a:srgbClr val="666666"/>
                </a:solidFill>
                <a:effectLst/>
                <a:latin typeface="Arial" panose="020B0604020202020204" pitchFamily="34" charset="0"/>
              </a:rPr>
              <a:t>Technical achievement despite restrictions. </a:t>
            </a:r>
            <a:r>
              <a:rPr lang="en-US" b="0" i="0" dirty="0">
                <a:solidFill>
                  <a:srgbClr val="666666"/>
                </a:solidFill>
                <a:effectLst/>
                <a:latin typeface="Arial" panose="020B0604020202020204" pitchFamily="34" charset="0"/>
              </a:rPr>
              <a:t>The export of the highest-performance AI accelerator and GPU chips from the U.S. is restricted to China. Yet, despite that, </a:t>
            </a:r>
            <a:r>
              <a:rPr lang="en-US" b="0" i="0" dirty="0" err="1">
                <a:solidFill>
                  <a:srgbClr val="666666"/>
                </a:solidFill>
                <a:effectLst/>
                <a:latin typeface="Arial" panose="020B0604020202020204" pitchFamily="34" charset="0"/>
              </a:rPr>
              <a:t>DeepSeek</a:t>
            </a:r>
            <a:r>
              <a:rPr lang="en-US" b="0" i="0" dirty="0">
                <a:solidFill>
                  <a:srgbClr val="666666"/>
                </a:solidFill>
                <a:effectLst/>
                <a:latin typeface="Arial" panose="020B0604020202020204" pitchFamily="34" charset="0"/>
              </a:rPr>
              <a:t> has demonstrated that </a:t>
            </a:r>
            <a:r>
              <a:rPr lang="en-US" b="1" i="0" dirty="0">
                <a:solidFill>
                  <a:srgbClr val="666666"/>
                </a:solidFill>
                <a:effectLst/>
                <a:latin typeface="Arial" panose="020B0604020202020204" pitchFamily="34" charset="0"/>
              </a:rPr>
              <a:t>leading-edge AI development is possible without access to the most advanced U.S. technology</a:t>
            </a:r>
            <a:r>
              <a:rPr lang="en-US" b="0" i="0" dirty="0">
                <a:solidFill>
                  <a:srgbClr val="666666"/>
                </a:solidFill>
                <a:effectLst/>
                <a:latin typeface="Arial" panose="020B0604020202020204" pitchFamily="34" charset="0"/>
              </a:rPr>
              <a:t>.</a:t>
            </a:r>
          </a:p>
          <a:p>
            <a:pPr algn="l">
              <a:spcBef>
                <a:spcPts val="750"/>
              </a:spcBef>
              <a:spcAft>
                <a:spcPts val="750"/>
              </a:spcAft>
              <a:buFont typeface="Arial" panose="020B0604020202020204" pitchFamily="34" charset="0"/>
              <a:buChar char="•"/>
            </a:pPr>
            <a:r>
              <a:rPr lang="en-US" b="1" i="0" dirty="0">
                <a:solidFill>
                  <a:srgbClr val="666666"/>
                </a:solidFill>
                <a:effectLst/>
                <a:latin typeface="Arial" panose="020B0604020202020204" pitchFamily="34" charset="0"/>
              </a:rPr>
              <a:t>Business model threat.</a:t>
            </a:r>
            <a:r>
              <a:rPr lang="en-US" b="0" i="0" dirty="0">
                <a:solidFill>
                  <a:srgbClr val="666666"/>
                </a:solidFill>
                <a:effectLst/>
                <a:latin typeface="Arial" panose="020B0604020202020204" pitchFamily="34" charset="0"/>
              </a:rPr>
              <a:t> In contrast with OpenAI, which is proprietary technology, </a:t>
            </a:r>
            <a:r>
              <a:rPr lang="en-US" b="0" i="0" dirty="0" err="1">
                <a:solidFill>
                  <a:srgbClr val="666666"/>
                </a:solidFill>
                <a:effectLst/>
                <a:latin typeface="Arial" panose="020B0604020202020204" pitchFamily="34" charset="0"/>
              </a:rPr>
              <a:t>DeepSeek</a:t>
            </a:r>
            <a:r>
              <a:rPr lang="en-US" b="0" i="0" dirty="0">
                <a:solidFill>
                  <a:srgbClr val="666666"/>
                </a:solidFill>
                <a:effectLst/>
                <a:latin typeface="Arial" panose="020B0604020202020204" pitchFamily="34" charset="0"/>
              </a:rPr>
              <a:t> is </a:t>
            </a:r>
            <a:r>
              <a:rPr lang="en-US" b="1" i="0" dirty="0">
                <a:solidFill>
                  <a:srgbClr val="666666"/>
                </a:solidFill>
                <a:effectLst/>
                <a:latin typeface="Arial" panose="020B0604020202020204" pitchFamily="34" charset="0"/>
              </a:rPr>
              <a:t>open source and free</a:t>
            </a:r>
            <a:r>
              <a:rPr lang="en-US" b="0" i="0" dirty="0">
                <a:solidFill>
                  <a:srgbClr val="666666"/>
                </a:solidFill>
                <a:effectLst/>
                <a:latin typeface="Arial" panose="020B0604020202020204" pitchFamily="34" charset="0"/>
              </a:rPr>
              <a:t>, challenging the revenue model of U.S. companies charging monthly fees for AI services.</a:t>
            </a:r>
          </a:p>
          <a:p>
            <a:endParaRPr lang="en-IN" dirty="0"/>
          </a:p>
        </p:txBody>
      </p:sp>
    </p:spTree>
    <p:extLst>
      <p:ext uri="{BB962C8B-B14F-4D97-AF65-F5344CB8AC3E}">
        <p14:creationId xmlns:p14="http://schemas.microsoft.com/office/powerpoint/2010/main" val="2243809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A79F0-2B8B-63D7-2B68-E976130555A6}"/>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088A1CD0-298D-7483-3BDA-CDE41F7C229E}"/>
              </a:ext>
            </a:extLst>
          </p:cNvPr>
          <p:cNvSpPr>
            <a:spLocks noGrp="1"/>
          </p:cNvSpPr>
          <p:nvPr>
            <p:ph idx="1"/>
          </p:nvPr>
        </p:nvSpPr>
        <p:spPr/>
        <p:txBody>
          <a:bodyPr>
            <a:normAutofit/>
          </a:bodyPr>
          <a:lstStyle/>
          <a:p>
            <a:r>
              <a:rPr lang="en-US" b="1" i="0" dirty="0">
                <a:solidFill>
                  <a:srgbClr val="000000"/>
                </a:solidFill>
                <a:effectLst/>
                <a:latin typeface="Open Sans" panose="020B0606030504020204" pitchFamily="34" charset="0"/>
              </a:rPr>
              <a:t>Mixture-of-experts (</a:t>
            </a:r>
            <a:r>
              <a:rPr lang="en-US" b="1" i="0" dirty="0" err="1">
                <a:solidFill>
                  <a:srgbClr val="000000"/>
                </a:solidFill>
                <a:effectLst/>
                <a:latin typeface="Open Sans" panose="020B0606030504020204" pitchFamily="34" charset="0"/>
              </a:rPr>
              <a:t>MoE</a:t>
            </a:r>
            <a:r>
              <a:rPr lang="en-US" b="1" i="0" dirty="0">
                <a:solidFill>
                  <a:srgbClr val="000000"/>
                </a:solidFill>
                <a:effectLst/>
                <a:latin typeface="Open Sans" panose="020B0606030504020204" pitchFamily="34" charset="0"/>
              </a:rPr>
              <a:t>) architecture: </a:t>
            </a:r>
            <a:r>
              <a:rPr lang="en-US" b="0" i="0" dirty="0">
                <a:solidFill>
                  <a:srgbClr val="000000"/>
                </a:solidFill>
                <a:effectLst/>
                <a:latin typeface="Open Sans" panose="020B0606030504020204" pitchFamily="34" charset="0"/>
              </a:rPr>
              <a:t>Used in </a:t>
            </a:r>
            <a:r>
              <a:rPr lang="en-US" b="0" i="0" dirty="0" err="1">
                <a:solidFill>
                  <a:srgbClr val="000000"/>
                </a:solidFill>
                <a:effectLst/>
                <a:latin typeface="Open Sans" panose="020B0606030504020204" pitchFamily="34" charset="0"/>
              </a:rPr>
              <a:t>DeepSeek</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MoE</a:t>
            </a:r>
            <a:r>
              <a:rPr lang="en-US" b="0" i="0" dirty="0">
                <a:solidFill>
                  <a:srgbClr val="000000"/>
                </a:solidFill>
                <a:effectLst/>
                <a:latin typeface="Open Sans" panose="020B0606030504020204" pitchFamily="34" charset="0"/>
              </a:rPr>
              <a:t> architecture activates only a subset of the model’s parameters and concurrently minimizes the computational resources required for processing the query.</a:t>
            </a:r>
            <a:endParaRPr lang="en-US" b="0" i="0" dirty="0">
              <a:solidFill>
                <a:srgbClr val="000000"/>
              </a:solidFill>
              <a:effectLst/>
              <a:latin typeface="Open Sans" panose="020F0502020204030204" pitchFamily="34" charset="0"/>
            </a:endParaRPr>
          </a:p>
          <a:p>
            <a:r>
              <a:rPr lang="en-US" b="0" i="0" dirty="0" err="1">
                <a:solidFill>
                  <a:srgbClr val="000000"/>
                </a:solidFill>
                <a:effectLst/>
                <a:latin typeface="Open Sans" panose="020F0502020204030204" pitchFamily="34" charset="0"/>
              </a:rPr>
              <a:t>MoE</a:t>
            </a:r>
            <a:r>
              <a:rPr lang="en-US" b="0" i="0" dirty="0">
                <a:solidFill>
                  <a:srgbClr val="000000"/>
                </a:solidFill>
                <a:effectLst/>
                <a:latin typeface="Open Sans" panose="020F0502020204030204" pitchFamily="34" charset="0"/>
              </a:rPr>
              <a:t> uses 671 billion parameters but activates only 37 billion per query, enhancing computational efficiency. ChatGPT has a monolithic 1.8 trillion-parameter design, suitable for versatile language generation and creative tasks. </a:t>
            </a:r>
          </a:p>
          <a:p>
            <a:r>
              <a:rPr lang="en-US" b="0" i="0" dirty="0">
                <a:solidFill>
                  <a:srgbClr val="273239"/>
                </a:solidFill>
                <a:effectLst/>
                <a:latin typeface="Nunito" pitchFamily="2" charset="0"/>
              </a:rPr>
              <a:t>Use of 2,000 H800 GPUs for training instead of higher-cost alternatives.</a:t>
            </a:r>
          </a:p>
          <a:p>
            <a:endParaRPr lang="en-IN" dirty="0"/>
          </a:p>
        </p:txBody>
      </p:sp>
    </p:spTree>
    <p:extLst>
      <p:ext uri="{BB962C8B-B14F-4D97-AF65-F5344CB8AC3E}">
        <p14:creationId xmlns:p14="http://schemas.microsoft.com/office/powerpoint/2010/main" val="2288405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87D11-943C-0A28-4D78-273D6D5317CC}"/>
              </a:ext>
            </a:extLst>
          </p:cNvPr>
          <p:cNvSpPr>
            <a:spLocks noGrp="1"/>
          </p:cNvSpPr>
          <p:nvPr>
            <p:ph type="title"/>
          </p:nvPr>
        </p:nvSpPr>
        <p:spPr/>
        <p:txBody>
          <a:bodyPr/>
          <a:lstStyle/>
          <a:p>
            <a:r>
              <a:rPr lang="en-US" dirty="0"/>
              <a:t>Problems with </a:t>
            </a:r>
            <a:r>
              <a:rPr lang="en-US" dirty="0" err="1"/>
              <a:t>DeepSeek</a:t>
            </a:r>
            <a:r>
              <a:rPr lang="en-US" dirty="0"/>
              <a:t> at initial phase</a:t>
            </a:r>
            <a:endParaRPr lang="en-IN" dirty="0"/>
          </a:p>
        </p:txBody>
      </p:sp>
      <p:sp>
        <p:nvSpPr>
          <p:cNvPr id="3" name="Content Placeholder 2">
            <a:extLst>
              <a:ext uri="{FF2B5EF4-FFF2-40B4-BE49-F238E27FC236}">
                <a16:creationId xmlns:a16="http://schemas.microsoft.com/office/drawing/2014/main" id="{EF1FA8F3-8A7C-A1D1-A5A8-3F5D9BE330AB}"/>
              </a:ext>
            </a:extLst>
          </p:cNvPr>
          <p:cNvSpPr>
            <a:spLocks noGrp="1"/>
          </p:cNvSpPr>
          <p:nvPr>
            <p:ph idx="1"/>
          </p:nvPr>
        </p:nvSpPr>
        <p:spPr/>
        <p:txBody>
          <a:bodyPr>
            <a:normAutofit fontScale="77500" lnSpcReduction="20000"/>
          </a:bodyPr>
          <a:lstStyle/>
          <a:p>
            <a:r>
              <a:rPr lang="en-US" b="0" i="0" dirty="0">
                <a:solidFill>
                  <a:srgbClr val="1D1D1F"/>
                </a:solidFill>
                <a:effectLst/>
                <a:latin typeface="Nunito" pitchFamily="2" charset="0"/>
              </a:rPr>
              <a:t>In a recent cybersecurity incident, Chinese AI startup </a:t>
            </a:r>
            <a:r>
              <a:rPr lang="en-US" b="0" i="0" dirty="0" err="1">
                <a:solidFill>
                  <a:srgbClr val="1D1D1F"/>
                </a:solidFill>
                <a:effectLst/>
                <a:latin typeface="Nunito" pitchFamily="2" charset="0"/>
              </a:rPr>
              <a:t>DeepSeek</a:t>
            </a:r>
            <a:r>
              <a:rPr lang="en-US" b="0" i="0" dirty="0">
                <a:solidFill>
                  <a:srgbClr val="1D1D1F"/>
                </a:solidFill>
                <a:effectLst/>
                <a:latin typeface="Nunito" pitchFamily="2" charset="0"/>
              </a:rPr>
              <a:t> known for its </a:t>
            </a:r>
            <a:r>
              <a:rPr lang="en-US" b="1" i="0" dirty="0">
                <a:solidFill>
                  <a:srgbClr val="1D1D1F"/>
                </a:solidFill>
                <a:effectLst/>
                <a:latin typeface="Nunito" pitchFamily="2" charset="0"/>
              </a:rPr>
              <a:t>DeepSeek-R1 large language model (LLM)</a:t>
            </a:r>
            <a:r>
              <a:rPr lang="en-US" b="0" i="0" dirty="0">
                <a:solidFill>
                  <a:srgbClr val="1D1D1F"/>
                </a:solidFill>
                <a:effectLst/>
                <a:latin typeface="Nunito" pitchFamily="2" charset="0"/>
              </a:rPr>
              <a:t> accidentally exposed over one million sensitive records, including user chat histories, API keys, backend system details, and operational metadata. The breach was identified by cybersecurity firm Wiz Research, which reported that the exposed data was accessible without authentication, posing substantial risks to user privacy and company security.</a:t>
            </a:r>
          </a:p>
          <a:p>
            <a:pPr marL="0" indent="0">
              <a:buNone/>
            </a:pPr>
            <a:endParaRPr lang="en-US" dirty="0">
              <a:solidFill>
                <a:srgbClr val="1D1D1F"/>
              </a:solidFill>
              <a:latin typeface="Nunito" pitchFamily="2" charset="0"/>
            </a:endParaRPr>
          </a:p>
          <a:p>
            <a:pPr marL="0" indent="0">
              <a:buNone/>
            </a:pPr>
            <a:r>
              <a:rPr lang="en-US" dirty="0"/>
              <a:t>The exposed databases were hosted at oauth2callback.deepseek.com:9000 and dev.deepseek.com:9000, both of which were accessible without any form of authentication. Anyone with knowledge of the database URLs could have extracted the data. This flaw allowed unauthorized access to the ‘</a:t>
            </a:r>
            <a:r>
              <a:rPr lang="en-US" dirty="0" err="1"/>
              <a:t>log_stream</a:t>
            </a:r>
            <a:r>
              <a:rPr lang="en-US" dirty="0"/>
              <a:t>’ table, which contained over a million log entries.</a:t>
            </a:r>
          </a:p>
          <a:p>
            <a:pPr marL="0" indent="0">
              <a:buNone/>
            </a:pPr>
            <a:r>
              <a:rPr lang="en-US" dirty="0"/>
              <a:t>The ability to execute arbitrary SQL queries through a web interface on these databases posed a significant security risk. Attackers could have extracted plaintext passwords, proprietary data, or potentially escalated their privileges within </a:t>
            </a:r>
            <a:r>
              <a:rPr lang="en-US" dirty="0" err="1"/>
              <a:t>DeepSeek's</a:t>
            </a:r>
            <a:r>
              <a:rPr lang="en-US" dirty="0"/>
              <a:t> infrastructure,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3065217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0E83E-0FBE-941E-1462-AD4C814976D2}"/>
              </a:ext>
            </a:extLst>
          </p:cNvPr>
          <p:cNvSpPr>
            <a:spLocks noGrp="1"/>
          </p:cNvSpPr>
          <p:nvPr>
            <p:ph type="title"/>
          </p:nvPr>
        </p:nvSpPr>
        <p:spPr/>
        <p:txBody>
          <a:bodyPr/>
          <a:lstStyle/>
          <a:p>
            <a:r>
              <a:rPr lang="en-US" b="0" i="0" dirty="0">
                <a:solidFill>
                  <a:srgbClr val="000000"/>
                </a:solidFill>
                <a:effectLst/>
                <a:latin typeface="Montserrat" panose="00000500000000000000" pitchFamily="2" charset="0"/>
              </a:rPr>
              <a:t>India’s challenges in fully harnessing Gen AI’s capabilities</a:t>
            </a:r>
            <a:endParaRPr lang="en-IN" dirty="0"/>
          </a:p>
        </p:txBody>
      </p:sp>
      <p:sp>
        <p:nvSpPr>
          <p:cNvPr id="3" name="Content Placeholder 2">
            <a:extLst>
              <a:ext uri="{FF2B5EF4-FFF2-40B4-BE49-F238E27FC236}">
                <a16:creationId xmlns:a16="http://schemas.microsoft.com/office/drawing/2014/main" id="{97FE4887-3F94-5076-8CAD-303EA86B6097}"/>
              </a:ext>
            </a:extLst>
          </p:cNvPr>
          <p:cNvSpPr>
            <a:spLocks noGrp="1"/>
          </p:cNvSpPr>
          <p:nvPr>
            <p:ph idx="1"/>
          </p:nvPr>
        </p:nvSpPr>
        <p:spPr/>
        <p:txBody>
          <a:bodyPr>
            <a:normAutofit fontScale="85000" lnSpcReduction="20000"/>
          </a:bodyPr>
          <a:lstStyle/>
          <a:p>
            <a:pPr marL="0" indent="0">
              <a:buNone/>
            </a:pPr>
            <a:br>
              <a:rPr lang="en-US" dirty="0"/>
            </a:br>
            <a:br>
              <a:rPr lang="en-US" dirty="0"/>
            </a:br>
            <a:r>
              <a:rPr lang="en-US" b="1" dirty="0">
                <a:solidFill>
                  <a:srgbClr val="000000"/>
                </a:solidFill>
                <a:effectLst/>
                <a:latin typeface="Montserrat" panose="00000500000000000000" pitchFamily="2" charset="0"/>
              </a:rPr>
              <a:t>1. Talent Shortages:</a:t>
            </a:r>
            <a:r>
              <a:rPr lang="en-US" b="0" i="0" dirty="0">
                <a:solidFill>
                  <a:srgbClr val="000000"/>
                </a:solidFill>
                <a:effectLst/>
                <a:latin typeface="Montserrat" panose="00000500000000000000" pitchFamily="2" charset="0"/>
              </a:rPr>
              <a:t> There is a gap in AI-specific skills, particularly in areas like prompt engineering and model fine-tuning.</a:t>
            </a:r>
            <a:br>
              <a:rPr lang="en-US" dirty="0"/>
            </a:br>
            <a:br>
              <a:rPr lang="en-US" dirty="0"/>
            </a:br>
            <a:r>
              <a:rPr lang="en-US" b="1" dirty="0">
                <a:solidFill>
                  <a:srgbClr val="000000"/>
                </a:solidFill>
                <a:effectLst/>
                <a:latin typeface="Montserrat" panose="00000500000000000000" pitchFamily="2" charset="0"/>
              </a:rPr>
              <a:t>2. Data Access:</a:t>
            </a:r>
            <a:r>
              <a:rPr lang="en-US" b="0" i="0" dirty="0">
                <a:solidFill>
                  <a:srgbClr val="000000"/>
                </a:solidFill>
                <a:effectLst/>
                <a:latin typeface="Montserrat" panose="00000500000000000000" pitchFamily="2" charset="0"/>
              </a:rPr>
              <a:t> The availability of structured datasets, especially in local languages, remains limited.</a:t>
            </a:r>
            <a:br>
              <a:rPr lang="en-US" dirty="0"/>
            </a:br>
            <a:br>
              <a:rPr lang="en-US" dirty="0"/>
            </a:br>
            <a:r>
              <a:rPr lang="en-US" b="1" dirty="0">
                <a:solidFill>
                  <a:srgbClr val="000000"/>
                </a:solidFill>
                <a:effectLst/>
                <a:latin typeface="Montserrat" panose="00000500000000000000" pitchFamily="2" charset="0"/>
              </a:rPr>
              <a:t>3. High Infrastructure Costs:</a:t>
            </a:r>
            <a:r>
              <a:rPr lang="en-US" b="0" i="0" dirty="0">
                <a:solidFill>
                  <a:srgbClr val="000000"/>
                </a:solidFill>
                <a:effectLst/>
                <a:latin typeface="Montserrat" panose="00000500000000000000" pitchFamily="2" charset="0"/>
              </a:rPr>
              <a:t> Compute resources such as GPUs </a:t>
            </a:r>
            <a:r>
              <a:rPr lang="en-US" b="0" i="0">
                <a:solidFill>
                  <a:srgbClr val="000000"/>
                </a:solidFill>
                <a:effectLst/>
                <a:latin typeface="Montserrat" panose="00000500000000000000" pitchFamily="2" charset="0"/>
              </a:rPr>
              <a:t>and specialized </a:t>
            </a:r>
            <a:r>
              <a:rPr lang="en-US" b="0" i="0" dirty="0">
                <a:solidFill>
                  <a:srgbClr val="000000"/>
                </a:solidFill>
                <a:effectLst/>
                <a:latin typeface="Montserrat" panose="00000500000000000000" pitchFamily="2" charset="0"/>
              </a:rPr>
              <a:t>chips are expensive, creating barriers for smaller players..</a:t>
            </a:r>
            <a:br>
              <a:rPr lang="en-US" dirty="0"/>
            </a:br>
            <a:br>
              <a:rPr lang="en-US" dirty="0"/>
            </a:br>
            <a:r>
              <a:rPr lang="en-US" b="1" dirty="0">
                <a:solidFill>
                  <a:srgbClr val="000000"/>
                </a:solidFill>
                <a:effectLst/>
                <a:latin typeface="Montserrat" panose="00000500000000000000" pitchFamily="2" charset="0"/>
              </a:rPr>
              <a:t>4. Regulatory Uncertainty:</a:t>
            </a:r>
            <a:r>
              <a:rPr lang="en-US" b="0" i="0" dirty="0">
                <a:solidFill>
                  <a:srgbClr val="000000"/>
                </a:solidFill>
                <a:effectLst/>
                <a:latin typeface="Montserrat" panose="00000500000000000000" pitchFamily="2" charset="0"/>
              </a:rPr>
              <a:t> Clear policies on data privacy, intellectual property, and AI governance are needed to foster innovation.</a:t>
            </a:r>
            <a:endParaRPr lang="en-IN" dirty="0"/>
          </a:p>
        </p:txBody>
      </p:sp>
    </p:spTree>
    <p:extLst>
      <p:ext uri="{BB962C8B-B14F-4D97-AF65-F5344CB8AC3E}">
        <p14:creationId xmlns:p14="http://schemas.microsoft.com/office/powerpoint/2010/main" val="3408119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253</TotalTime>
  <Words>524</Words>
  <Application>Microsoft Office PowerPoint</Application>
  <PresentationFormat>Widescreen</PresentationFormat>
  <Paragraphs>22</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Calibri Light</vt:lpstr>
      <vt:lpstr>Montserrat</vt:lpstr>
      <vt:lpstr>Nunito</vt:lpstr>
      <vt:lpstr>Open Sans</vt:lpstr>
      <vt:lpstr>Office Theme</vt:lpstr>
      <vt:lpstr>DeepSeek</vt:lpstr>
      <vt:lpstr>China GenAI DeepSeek(p1)</vt:lpstr>
      <vt:lpstr>Key points of Deep seek</vt:lpstr>
      <vt:lpstr>PowerPoint Presentation</vt:lpstr>
      <vt:lpstr>Problems with DeepSeek at initial phase</vt:lpstr>
      <vt:lpstr>India’s challenges in fully harnessing Gen AI’s capabilities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ash322.ash422@gmail.com</dc:creator>
  <cp:lastModifiedBy>ash322.ash422@gmail.com</cp:lastModifiedBy>
  <cp:revision>11</cp:revision>
  <dcterms:created xsi:type="dcterms:W3CDTF">2025-02-10T08:34:49Z</dcterms:created>
  <dcterms:modified xsi:type="dcterms:W3CDTF">2025-02-10T12:48:04Z</dcterms:modified>
</cp:coreProperties>
</file>