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78" r:id="rId2"/>
    <p:sldId id="280" r:id="rId3"/>
    <p:sldId id="273" r:id="rId4"/>
    <p:sldId id="281" r:id="rId5"/>
    <p:sldId id="283" r:id="rId6"/>
    <p:sldId id="284" r:id="rId7"/>
    <p:sldId id="285" r:id="rId8"/>
    <p:sldId id="287" r:id="rId9"/>
    <p:sldId id="288" r:id="rId10"/>
    <p:sldId id="286" r:id="rId11"/>
    <p:sldId id="289" r:id="rId12"/>
    <p:sldId id="290" r:id="rId13"/>
    <p:sldId id="279" r:id="rId14"/>
    <p:sldId id="291" r:id="rId15"/>
    <p:sldId id="292" r:id="rId16"/>
    <p:sldId id="294" r:id="rId17"/>
    <p:sldId id="295" r:id="rId18"/>
    <p:sldId id="293" r:id="rId1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12" autoAdjust="0"/>
    <p:restoredTop sz="94660"/>
  </p:normalViewPr>
  <p:slideViewPr>
    <p:cSldViewPr>
      <p:cViewPr varScale="1">
        <p:scale>
          <a:sx n="102" d="100"/>
          <a:sy n="102" d="100"/>
        </p:scale>
        <p:origin x="1338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6B8DA-D3CB-4ECD-B82F-FA5526394ED2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2ABF3-75F4-4785-AD53-F965B364E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636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Fgfg</a:t>
            </a:r>
            <a:r>
              <a:rPr lang="en-US" dirty="0" smtClean="0"/>
              <a:t> </a:t>
            </a:r>
            <a:r>
              <a:rPr lang="en-US" dirty="0" err="1" smtClean="0"/>
              <a:t>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B2ABF3-75F4-4785-AD53-F965B364EB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71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553967"/>
            <a:ext cx="11487912" cy="33040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21791" y="0"/>
            <a:ext cx="4056888" cy="61264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3241" y="72644"/>
            <a:ext cx="10225516" cy="2128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CONFIDENTIAL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4546A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CONFIDENTIAL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4546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CONFIDENTIAL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4546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CONFIDENTIAL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CONFIDENTIAL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0125" y="371347"/>
            <a:ext cx="10491749" cy="568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4546A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9789" y="1738337"/>
            <a:ext cx="11299190" cy="4624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4500" y="6448256"/>
            <a:ext cx="114427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" dirty="0"/>
              <a:t>CONFIDENTIAL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988611" cy="9943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https://t4.ftcdn.net/jpg/04/96/60/45/240_F_496604587_GjqgVDdrDAW6hFFT13vg5ZETYSwq5AH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4" y="1970114"/>
            <a:ext cx="12185073" cy="4874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ounded Rectangle 1"/>
          <p:cNvSpPr/>
          <p:nvPr/>
        </p:nvSpPr>
        <p:spPr>
          <a:xfrm>
            <a:off x="1219200" y="2302813"/>
            <a:ext cx="9906000" cy="2650187"/>
          </a:xfrm>
          <a:prstGeom prst="roundRect">
            <a:avLst>
              <a:gd name="adj" fmla="val 0"/>
            </a:avLst>
          </a:prstGeom>
          <a:solidFill>
            <a:srgbClr val="002060">
              <a:alpha val="51000"/>
            </a:srgbClr>
          </a:solidFill>
          <a:ln>
            <a:noFill/>
          </a:ln>
          <a:effectLst>
            <a:softEdge rad="88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1223962" y="2086688"/>
            <a:ext cx="9520238" cy="2561511"/>
          </a:xfrm>
          <a:prstGeom prst="roundRect">
            <a:avLst>
              <a:gd name="adj" fmla="val 0"/>
            </a:avLst>
          </a:prstGeom>
          <a:solidFill>
            <a:schemeClr val="tx1">
              <a:alpha val="5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34390" y="2789079"/>
            <a:ext cx="9144000" cy="1156727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algn="ctr"/>
            <a:r>
              <a:rPr lang="en-US" sz="3600" b="1" spc="270" dirty="0">
                <a:solidFill>
                  <a:schemeClr val="bg1"/>
                </a:solidFill>
              </a:rPr>
              <a:t>Introduction </a:t>
            </a:r>
            <a:r>
              <a:rPr lang="en-US" sz="3600" b="1" spc="270" dirty="0" smtClean="0">
                <a:solidFill>
                  <a:schemeClr val="bg1"/>
                </a:solidFill>
              </a:rPr>
              <a:t>to </a:t>
            </a:r>
            <a:r>
              <a:rPr lang="en-US" sz="3600" b="1" spc="270" dirty="0">
                <a:solidFill>
                  <a:schemeClr val="accent6">
                    <a:lumMod val="75000"/>
                  </a:schemeClr>
                </a:solidFill>
              </a:rPr>
              <a:t>TinyML</a:t>
            </a:r>
            <a:r>
              <a:rPr lang="en-US" sz="3600" b="1" spc="270" dirty="0">
                <a:solidFill>
                  <a:schemeClr val="bg1"/>
                </a:solidFill>
              </a:rPr>
              <a:t>, </a:t>
            </a:r>
            <a:r>
              <a:rPr lang="en-US" sz="3600" b="1" spc="270" dirty="0" err="1">
                <a:solidFill>
                  <a:srgbClr val="C00000"/>
                </a:solidFill>
              </a:rPr>
              <a:t>TensorflowLite</a:t>
            </a:r>
            <a:r>
              <a:rPr lang="en-US" sz="3600" b="1" spc="270" dirty="0">
                <a:solidFill>
                  <a:schemeClr val="bg1"/>
                </a:solidFill>
              </a:rPr>
              <a:t> and </a:t>
            </a:r>
            <a:r>
              <a:rPr lang="en-US" sz="3600" b="1" spc="270" dirty="0">
                <a:solidFill>
                  <a:schemeClr val="accent3">
                    <a:lumMod val="75000"/>
                  </a:schemeClr>
                </a:solidFill>
              </a:rPr>
              <a:t>Edge Impulse</a:t>
            </a:r>
            <a:endParaRPr sz="36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85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162800" y="3200400"/>
            <a:ext cx="2725298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b="1" spc="270" dirty="0" smtClean="0">
                <a:solidFill>
                  <a:schemeClr val="bg1"/>
                </a:solidFill>
              </a:rPr>
              <a:t>TinyML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36276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6144" y="248078"/>
            <a:ext cx="39543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pc="270" dirty="0" smtClean="0">
                <a:solidFill>
                  <a:schemeClr val="bg1"/>
                </a:solidFill>
              </a:rPr>
              <a:t>What is TinyML</a:t>
            </a:r>
            <a:endParaRPr lang="en-US" sz="4000" dirty="0"/>
          </a:p>
        </p:txBody>
      </p:sp>
      <p:sp>
        <p:nvSpPr>
          <p:cNvPr id="2" name="Rectangle 1"/>
          <p:cNvSpPr/>
          <p:nvPr/>
        </p:nvSpPr>
        <p:spPr>
          <a:xfrm>
            <a:off x="533400" y="2057400"/>
            <a:ext cx="11430000" cy="3404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84200" indent="-571500">
              <a:lnSpc>
                <a:spcPct val="150000"/>
              </a:lnSpc>
              <a:spcBef>
                <a:spcPts val="1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Franklin Gothic Book"/>
                <a:cs typeface="Franklin Gothic Book"/>
              </a:rPr>
              <a:t>TinyML is a type of machine learning that shrinks deep learning networks to fit on tiny hardware. </a:t>
            </a:r>
            <a:endParaRPr lang="en-US" sz="3600" dirty="0" smtClean="0">
              <a:solidFill>
                <a:schemeClr val="bg1"/>
              </a:solidFill>
              <a:latin typeface="Franklin Gothic Book"/>
              <a:cs typeface="Franklin Gothic Book"/>
            </a:endParaRPr>
          </a:p>
          <a:p>
            <a:pPr marL="584200" indent="-571500">
              <a:lnSpc>
                <a:spcPct val="150000"/>
              </a:lnSpc>
              <a:spcBef>
                <a:spcPts val="1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chemeClr val="bg1"/>
                </a:solidFill>
                <a:latin typeface="Franklin Gothic Book"/>
                <a:cs typeface="Franklin Gothic Book"/>
              </a:rPr>
              <a:t>It </a:t>
            </a:r>
            <a:r>
              <a:rPr lang="en-US" sz="3600" dirty="0">
                <a:solidFill>
                  <a:schemeClr val="bg1"/>
                </a:solidFill>
                <a:latin typeface="Franklin Gothic Book"/>
                <a:cs typeface="Franklin Gothic Book"/>
              </a:rPr>
              <a:t>brings together Artificial Intelligence and intelligent devices.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6144" y="248078"/>
            <a:ext cx="39543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pc="270" dirty="0" smtClean="0">
                <a:solidFill>
                  <a:schemeClr val="bg1"/>
                </a:solidFill>
              </a:rPr>
              <a:t>What is TinyML</a:t>
            </a:r>
            <a:endParaRPr lang="en-US" sz="4000" dirty="0"/>
          </a:p>
        </p:txBody>
      </p:sp>
      <p:sp>
        <p:nvSpPr>
          <p:cNvPr id="2" name="Rectangle 1"/>
          <p:cNvSpPr/>
          <p:nvPr/>
        </p:nvSpPr>
        <p:spPr>
          <a:xfrm>
            <a:off x="304800" y="1600200"/>
            <a:ext cx="11430000" cy="4270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84200" indent="-571500">
              <a:lnSpc>
                <a:spcPct val="125000"/>
              </a:lnSpc>
              <a:spcBef>
                <a:spcPts val="1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Franklin Gothic Book"/>
                <a:cs typeface="Franklin Gothic Book"/>
              </a:rPr>
              <a:t>TinyML is a field of study in Machine Learning and Embedded Systems that explores the types of models you can run on small, low-powered devices like microcontrollers. </a:t>
            </a:r>
            <a:endParaRPr lang="en-US" sz="3600" dirty="0" smtClean="0">
              <a:solidFill>
                <a:schemeClr val="bg1"/>
              </a:solidFill>
              <a:latin typeface="Franklin Gothic Book"/>
              <a:cs typeface="Franklin Gothic Book"/>
            </a:endParaRPr>
          </a:p>
          <a:p>
            <a:pPr marL="584200" indent="-571500">
              <a:lnSpc>
                <a:spcPct val="125000"/>
              </a:lnSpc>
              <a:spcBef>
                <a:spcPts val="1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chemeClr val="bg1"/>
                </a:solidFill>
                <a:latin typeface="Franklin Gothic Book"/>
                <a:cs typeface="Franklin Gothic Book"/>
              </a:rPr>
              <a:t>It </a:t>
            </a:r>
            <a:r>
              <a:rPr lang="en-US" sz="3600" dirty="0">
                <a:solidFill>
                  <a:schemeClr val="bg1"/>
                </a:solidFill>
                <a:latin typeface="Franklin Gothic Book"/>
                <a:cs typeface="Franklin Gothic Book"/>
              </a:rPr>
              <a:t>enables low-latency, low power and low bandwidth model inference at edge devices.</a:t>
            </a:r>
          </a:p>
        </p:txBody>
      </p:sp>
    </p:spTree>
    <p:extLst>
      <p:ext uri="{BB962C8B-B14F-4D97-AF65-F5344CB8AC3E}">
        <p14:creationId xmlns:p14="http://schemas.microsoft.com/office/powerpoint/2010/main" val="2410883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6144" y="248078"/>
            <a:ext cx="39543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spc="270" dirty="0" smtClean="0">
                <a:solidFill>
                  <a:schemeClr val="bg1"/>
                </a:solidFill>
              </a:rPr>
              <a:t>What is TinyML</a:t>
            </a:r>
            <a:endParaRPr lang="en-US" sz="4000" dirty="0"/>
          </a:p>
        </p:txBody>
      </p:sp>
      <p:sp>
        <p:nvSpPr>
          <p:cNvPr id="2" name="Rectangle 1"/>
          <p:cNvSpPr/>
          <p:nvPr/>
        </p:nvSpPr>
        <p:spPr>
          <a:xfrm>
            <a:off x="409044" y="1371600"/>
            <a:ext cx="11430000" cy="3577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84200" indent="-571500">
              <a:lnSpc>
                <a:spcPct val="125000"/>
              </a:lnSpc>
              <a:spcBef>
                <a:spcPts val="1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Franklin Gothic Book"/>
                <a:cs typeface="Franklin Gothic Book"/>
              </a:rPr>
              <a:t>While a standard CPUs consume between 65 watts and 85 watts and standard GPU consumes anywhere between 200 watts to 500 watts, </a:t>
            </a:r>
          </a:p>
          <a:p>
            <a:pPr marL="584200" indent="-571500">
              <a:lnSpc>
                <a:spcPct val="125000"/>
              </a:lnSpc>
              <a:spcBef>
                <a:spcPts val="1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Franklin Gothic Book"/>
                <a:cs typeface="Franklin Gothic Book"/>
              </a:rPr>
              <a:t>A typical microcontroller consumes power in the order of </a:t>
            </a:r>
            <a:r>
              <a:rPr lang="en-US" sz="3600" dirty="0" err="1">
                <a:solidFill>
                  <a:schemeClr val="bg1"/>
                </a:solidFill>
                <a:latin typeface="Franklin Gothic Book"/>
                <a:cs typeface="Franklin Gothic Book"/>
              </a:rPr>
              <a:t>milliwatts</a:t>
            </a:r>
            <a:r>
              <a:rPr lang="en-US" sz="3600" dirty="0">
                <a:solidFill>
                  <a:schemeClr val="bg1"/>
                </a:solidFill>
                <a:latin typeface="Franklin Gothic Book"/>
                <a:cs typeface="Franklin Gothic Book"/>
              </a:rPr>
              <a:t> or microwatts.</a:t>
            </a:r>
          </a:p>
        </p:txBody>
      </p:sp>
    </p:spTree>
    <p:extLst>
      <p:ext uri="{BB962C8B-B14F-4D97-AF65-F5344CB8AC3E}">
        <p14:creationId xmlns:p14="http://schemas.microsoft.com/office/powerpoint/2010/main" val="120615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6144" y="248078"/>
            <a:ext cx="46468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Franklin Gothic Book"/>
                <a:cs typeface="Franklin Gothic Book"/>
              </a:rPr>
              <a:t>Advantages of TinyML?</a:t>
            </a:r>
          </a:p>
        </p:txBody>
      </p:sp>
      <p:sp>
        <p:nvSpPr>
          <p:cNvPr id="2" name="Rectangle 1"/>
          <p:cNvSpPr/>
          <p:nvPr/>
        </p:nvSpPr>
        <p:spPr>
          <a:xfrm>
            <a:off x="146144" y="1110897"/>
            <a:ext cx="1196965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 smtClean="0">
                <a:solidFill>
                  <a:schemeClr val="bg1"/>
                </a:solidFill>
              </a:rPr>
              <a:t>Low Latency: </a:t>
            </a:r>
            <a:r>
              <a:rPr lang="en-US" sz="3000" dirty="0" smtClean="0">
                <a:solidFill>
                  <a:schemeClr val="bg1"/>
                </a:solidFill>
              </a:rPr>
              <a:t>Since the model runs on the edge, the data doesn't have to be sent to a server to run inference. This reduces the latency of the </a:t>
            </a:r>
            <a:r>
              <a:rPr lang="en-US" sz="3000" dirty="0">
                <a:solidFill>
                  <a:schemeClr val="bg1"/>
                </a:solidFill>
              </a:rPr>
              <a:t>output.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b="1" dirty="0">
                <a:solidFill>
                  <a:schemeClr val="bg1"/>
                </a:solidFill>
              </a:rPr>
              <a:t>Low Power Consumption:</a:t>
            </a:r>
            <a:r>
              <a:rPr lang="en-US" sz="3000" dirty="0">
                <a:solidFill>
                  <a:schemeClr val="bg1"/>
                </a:solidFill>
              </a:rPr>
              <a:t> As we discussed before, microcontrollers consume very little power. This enables them to run without being charged for a really long time.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b="1" dirty="0">
                <a:solidFill>
                  <a:schemeClr val="bg1"/>
                </a:solidFill>
              </a:rPr>
              <a:t>Low Bandwidth:</a:t>
            </a:r>
            <a:r>
              <a:rPr lang="en-US" sz="3000" dirty="0">
                <a:solidFill>
                  <a:schemeClr val="bg1"/>
                </a:solidFill>
              </a:rPr>
              <a:t> As the data doesn’t have to be sent to the server constantly, less internet bandwidth is used.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b="1" dirty="0">
                <a:solidFill>
                  <a:schemeClr val="bg1"/>
                </a:solidFill>
              </a:rPr>
              <a:t>Privacy: </a:t>
            </a:r>
            <a:r>
              <a:rPr lang="en-US" sz="3000" dirty="0">
                <a:solidFill>
                  <a:schemeClr val="bg1"/>
                </a:solidFill>
              </a:rPr>
              <a:t>Since the model is running on the edge, your data is not stored in any servers.</a:t>
            </a:r>
          </a:p>
        </p:txBody>
      </p:sp>
    </p:spTree>
    <p:extLst>
      <p:ext uri="{BB962C8B-B14F-4D97-AF65-F5344CB8AC3E}">
        <p14:creationId xmlns:p14="http://schemas.microsoft.com/office/powerpoint/2010/main" val="3924695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6144" y="248078"/>
            <a:ext cx="40464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Franklin Gothic Book"/>
                <a:cs typeface="Franklin Gothic Book"/>
              </a:rPr>
              <a:t>How to use TinyML</a:t>
            </a:r>
            <a:r>
              <a:rPr lang="en-US" sz="3600" b="1" dirty="0">
                <a:solidFill>
                  <a:schemeClr val="bg1"/>
                </a:solidFill>
                <a:latin typeface="Franklin Gothic Book"/>
                <a:cs typeface="Franklin Gothic Book"/>
              </a:rPr>
              <a:t>?</a:t>
            </a:r>
          </a:p>
        </p:txBody>
      </p:sp>
      <p:sp>
        <p:nvSpPr>
          <p:cNvPr id="2" name="Rectangle 1"/>
          <p:cNvSpPr/>
          <p:nvPr/>
        </p:nvSpPr>
        <p:spPr>
          <a:xfrm>
            <a:off x="291616" y="1447800"/>
            <a:ext cx="11664856" cy="1156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lang="en-US" sz="3200" dirty="0">
                <a:solidFill>
                  <a:schemeClr val="bg1"/>
                </a:solidFill>
              </a:rPr>
              <a:t>It uses Edge-Impulse as development and deployment framework</a:t>
            </a:r>
            <a:r>
              <a:rPr lang="en-US" sz="3200" dirty="0" smtClean="0">
                <a:solidFill>
                  <a:schemeClr val="bg1"/>
                </a:solidFill>
              </a:rPr>
              <a:t>.</a:t>
            </a:r>
          </a:p>
          <a:p>
            <a:pPr marL="12700">
              <a:lnSpc>
                <a:spcPts val="2735"/>
              </a:lnSpc>
              <a:spcBef>
                <a:spcPts val="100"/>
              </a:spcBef>
            </a:pPr>
            <a:endParaRPr lang="en-US" sz="3200" dirty="0">
              <a:solidFill>
                <a:schemeClr val="bg1"/>
              </a:solidFill>
            </a:endParaRPr>
          </a:p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lang="en-US" sz="3200" dirty="0" smtClean="0">
                <a:solidFill>
                  <a:schemeClr val="bg1"/>
                </a:solidFill>
              </a:rPr>
              <a:t>For </a:t>
            </a:r>
            <a:r>
              <a:rPr lang="en-US" sz="3200" dirty="0">
                <a:solidFill>
                  <a:schemeClr val="bg1"/>
                </a:solidFill>
              </a:rPr>
              <a:t>optimized Deep learning libraries, it used </a:t>
            </a:r>
            <a:r>
              <a:rPr lang="en-US" sz="3200" dirty="0" err="1">
                <a:solidFill>
                  <a:schemeClr val="bg1"/>
                </a:solidFill>
              </a:rPr>
              <a:t>Tensorflow</a:t>
            </a:r>
            <a:r>
              <a:rPr lang="en-US" sz="3200" dirty="0">
                <a:solidFill>
                  <a:schemeClr val="bg1"/>
                </a:solidFill>
              </a:rPr>
              <a:t> Lite.</a:t>
            </a:r>
          </a:p>
        </p:txBody>
      </p:sp>
      <p:sp>
        <p:nvSpPr>
          <p:cNvPr id="3" name="Rectangle 2"/>
          <p:cNvSpPr/>
          <p:nvPr/>
        </p:nvSpPr>
        <p:spPr>
          <a:xfrm>
            <a:off x="291616" y="3490079"/>
            <a:ext cx="1136698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Many tools and architectures deployed in traditional machine learning workflows are used when building edge-device applications. The main difference is that </a:t>
            </a:r>
            <a:r>
              <a:rPr lang="en-US" dirty="0" err="1">
                <a:solidFill>
                  <a:schemeClr val="bg1"/>
                </a:solidFill>
              </a:rPr>
              <a:t>TinyML</a:t>
            </a:r>
            <a:r>
              <a:rPr lang="en-US" dirty="0">
                <a:solidFill>
                  <a:schemeClr val="bg1"/>
                </a:solidFill>
              </a:rPr>
              <a:t> allows these models to perform various functions on smaller devices.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Tensorflow</a:t>
            </a:r>
            <a:r>
              <a:rPr lang="en-US" dirty="0">
                <a:solidFill>
                  <a:schemeClr val="bg1"/>
                </a:solidFill>
              </a:rPr>
              <a:t> Lite for microcontrollers (TF Lite Micro) is one of the most popular frameworks for machine learning on edge devices; it was specifically designed for the task of implementing machine learning on embedded systems with only a few kilobytes of memory.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Python is often the preferred language for building machine learning models. However, </a:t>
            </a:r>
            <a:r>
              <a:rPr lang="en-US" dirty="0" err="1">
                <a:solidFill>
                  <a:schemeClr val="bg1"/>
                </a:solidFill>
              </a:rPr>
              <a:t>TensorFlow</a:t>
            </a:r>
            <a:r>
              <a:rPr lang="en-US" dirty="0">
                <a:solidFill>
                  <a:schemeClr val="bg1"/>
                </a:solidFill>
              </a:rPr>
              <a:t> Lite makes it possible to easily develop models in C, C++, or Java and deploy them without connecting to the internet. </a:t>
            </a:r>
          </a:p>
        </p:txBody>
      </p:sp>
    </p:spTree>
    <p:extLst>
      <p:ext uri="{BB962C8B-B14F-4D97-AF65-F5344CB8AC3E}">
        <p14:creationId xmlns:p14="http://schemas.microsoft.com/office/powerpoint/2010/main" val="151373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638800" y="3200400"/>
            <a:ext cx="567616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b="1" spc="270" dirty="0" smtClean="0">
                <a:solidFill>
                  <a:schemeClr val="bg1"/>
                </a:solidFill>
              </a:rPr>
              <a:t>TensorFlow Lite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90406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6144" y="248078"/>
            <a:ext cx="48858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spc="-5" dirty="0">
                <a:solidFill>
                  <a:schemeClr val="bg1"/>
                </a:solidFill>
              </a:rPr>
              <a:t>What</a:t>
            </a:r>
            <a:r>
              <a:rPr lang="en-US" sz="3600" b="1" spc="-25" dirty="0">
                <a:solidFill>
                  <a:schemeClr val="bg1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is</a:t>
            </a:r>
            <a:r>
              <a:rPr lang="en-US" sz="3600" b="1" spc="-10" dirty="0">
                <a:solidFill>
                  <a:schemeClr val="bg1"/>
                </a:solidFill>
              </a:rPr>
              <a:t> </a:t>
            </a:r>
            <a:r>
              <a:rPr lang="en-US" sz="3600" b="1" spc="-25" dirty="0">
                <a:solidFill>
                  <a:schemeClr val="bg1"/>
                </a:solidFill>
              </a:rPr>
              <a:t>TensorFlow</a:t>
            </a:r>
            <a:r>
              <a:rPr lang="en-US" sz="3600" b="1" spc="-40" dirty="0">
                <a:solidFill>
                  <a:schemeClr val="bg1"/>
                </a:solidFill>
              </a:rPr>
              <a:t> </a:t>
            </a:r>
            <a:r>
              <a:rPr lang="en-US" sz="3600" b="1" spc="-15" dirty="0">
                <a:solidFill>
                  <a:schemeClr val="bg1"/>
                </a:solidFill>
              </a:rPr>
              <a:t>Lite?</a:t>
            </a:r>
            <a:endParaRPr lang="en-US" sz="3600" b="1" dirty="0">
              <a:solidFill>
                <a:schemeClr val="bg1"/>
              </a:solidFill>
              <a:latin typeface="Franklin Gothic Book"/>
              <a:cs typeface="Franklin Gothic Book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6144" y="1131679"/>
            <a:ext cx="11817256" cy="5247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84200" indent="-571500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Franklin Gothic Book"/>
                <a:cs typeface="Franklin Gothic Book"/>
              </a:rPr>
              <a:t>TensorFlow Lite is a companion project to TensorFlow, Google’s </a:t>
            </a:r>
            <a:r>
              <a:rPr lang="en-US" sz="3600" dirty="0" smtClean="0">
                <a:solidFill>
                  <a:schemeClr val="bg1"/>
                </a:solidFill>
                <a:latin typeface="Franklin Gothic Book"/>
                <a:cs typeface="Franklin Gothic Book"/>
              </a:rPr>
              <a:t>open-source </a:t>
            </a:r>
            <a:r>
              <a:rPr lang="en-US" sz="3600" dirty="0">
                <a:solidFill>
                  <a:schemeClr val="bg1"/>
                </a:solidFill>
                <a:latin typeface="Franklin Gothic Book"/>
                <a:cs typeface="Franklin Gothic Book"/>
              </a:rPr>
              <a:t>project designed to bring machine learning to everyone.</a:t>
            </a:r>
          </a:p>
          <a:p>
            <a:pPr marL="584200" marR="1991995" indent="-571500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Franklin Gothic Book"/>
                <a:cs typeface="Franklin Gothic Book"/>
              </a:rPr>
              <a:t>It’s designed for smartphones and </a:t>
            </a:r>
            <a:r>
              <a:rPr lang="en-US" sz="3600" dirty="0" smtClean="0">
                <a:solidFill>
                  <a:schemeClr val="bg1"/>
                </a:solidFill>
                <a:latin typeface="Franklin Gothic Book"/>
                <a:cs typeface="Franklin Gothic Book"/>
              </a:rPr>
              <a:t>Linux-grade </a:t>
            </a:r>
            <a:r>
              <a:rPr lang="en-US" sz="3600" dirty="0">
                <a:solidFill>
                  <a:schemeClr val="bg1"/>
                </a:solidFill>
                <a:latin typeface="Franklin Gothic Book"/>
                <a:cs typeface="Franklin Gothic Book"/>
              </a:rPr>
              <a:t>devices like  the Raspberry Pi.</a:t>
            </a:r>
          </a:p>
          <a:p>
            <a:pPr marL="584200" indent="-571500">
              <a:lnSpc>
                <a:spcPct val="125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Franklin Gothic Book"/>
                <a:cs typeface="Franklin Gothic Book"/>
              </a:rPr>
              <a:t>It’s now deployed on over two billion mobile devices in production.</a:t>
            </a:r>
          </a:p>
        </p:txBody>
      </p:sp>
    </p:spTree>
    <p:extLst>
      <p:ext uri="{BB962C8B-B14F-4D97-AF65-F5344CB8AC3E}">
        <p14:creationId xmlns:p14="http://schemas.microsoft.com/office/powerpoint/2010/main" val="104734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6144" y="248078"/>
            <a:ext cx="48858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spc="-5" dirty="0">
                <a:solidFill>
                  <a:schemeClr val="bg1"/>
                </a:solidFill>
              </a:rPr>
              <a:t>What</a:t>
            </a:r>
            <a:r>
              <a:rPr lang="en-US" sz="3600" b="1" spc="-25" dirty="0">
                <a:solidFill>
                  <a:schemeClr val="bg1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is</a:t>
            </a:r>
            <a:r>
              <a:rPr lang="en-US" sz="3600" b="1" spc="-10" dirty="0">
                <a:solidFill>
                  <a:schemeClr val="bg1"/>
                </a:solidFill>
              </a:rPr>
              <a:t> </a:t>
            </a:r>
            <a:r>
              <a:rPr lang="en-US" sz="3600" b="1" spc="-25" dirty="0">
                <a:solidFill>
                  <a:schemeClr val="bg1"/>
                </a:solidFill>
              </a:rPr>
              <a:t>TensorFlow</a:t>
            </a:r>
            <a:r>
              <a:rPr lang="en-US" sz="3600" b="1" spc="-40" dirty="0">
                <a:solidFill>
                  <a:schemeClr val="bg1"/>
                </a:solidFill>
              </a:rPr>
              <a:t> </a:t>
            </a:r>
            <a:r>
              <a:rPr lang="en-US" sz="3600" b="1" spc="-15" dirty="0">
                <a:solidFill>
                  <a:schemeClr val="bg1"/>
                </a:solidFill>
              </a:rPr>
              <a:t>Lite?</a:t>
            </a:r>
            <a:endParaRPr lang="en-US" sz="3600" b="1" dirty="0">
              <a:solidFill>
                <a:schemeClr val="bg1"/>
              </a:solidFill>
              <a:latin typeface="Franklin Gothic Book"/>
              <a:cs typeface="Franklin Gothic Book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1616" y="1447800"/>
            <a:ext cx="11664856" cy="38340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84200" indent="-571500">
              <a:lnSpc>
                <a:spcPct val="125000"/>
              </a:lnSpc>
              <a:spcBef>
                <a:spcPts val="151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Franklin Gothic Book"/>
                <a:cs typeface="Franklin Gothic Book"/>
              </a:rPr>
              <a:t>TensorFlow Lite is a set of tools that helps developers run TensorFlow machine learning models on mobile, embedded, and Internet of Things (</a:t>
            </a:r>
            <a:r>
              <a:rPr lang="en-US" sz="3600" dirty="0" err="1">
                <a:solidFill>
                  <a:schemeClr val="bg1"/>
                </a:solidFill>
                <a:latin typeface="Franklin Gothic Book"/>
                <a:cs typeface="Franklin Gothic Book"/>
              </a:rPr>
              <a:t>IoT</a:t>
            </a:r>
            <a:r>
              <a:rPr lang="en-US" sz="3600" dirty="0">
                <a:solidFill>
                  <a:schemeClr val="bg1"/>
                </a:solidFill>
                <a:latin typeface="Franklin Gothic Book"/>
                <a:cs typeface="Franklin Gothic Book"/>
              </a:rPr>
              <a:t>) devices.</a:t>
            </a:r>
          </a:p>
          <a:p>
            <a:pPr marL="584200" indent="-571500">
              <a:lnSpc>
                <a:spcPct val="125000"/>
              </a:lnSpc>
              <a:spcBef>
                <a:spcPts val="151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Franklin Gothic Book"/>
                <a:cs typeface="Franklin Gothic Book"/>
              </a:rPr>
              <a:t>It enables device machine learning with low latency and a smaller binary volume.</a:t>
            </a:r>
          </a:p>
        </p:txBody>
      </p:sp>
    </p:spTree>
    <p:extLst>
      <p:ext uri="{BB962C8B-B14F-4D97-AF65-F5344CB8AC3E}">
        <p14:creationId xmlns:p14="http://schemas.microsoft.com/office/powerpoint/2010/main" val="100462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6144" y="248078"/>
            <a:ext cx="48858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spc="-5" dirty="0">
                <a:solidFill>
                  <a:schemeClr val="bg1"/>
                </a:solidFill>
              </a:rPr>
              <a:t>What</a:t>
            </a:r>
            <a:r>
              <a:rPr lang="en-US" sz="3600" b="1" spc="-25" dirty="0">
                <a:solidFill>
                  <a:schemeClr val="bg1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is</a:t>
            </a:r>
            <a:r>
              <a:rPr lang="en-US" sz="3600" b="1" spc="-10" dirty="0">
                <a:solidFill>
                  <a:schemeClr val="bg1"/>
                </a:solidFill>
              </a:rPr>
              <a:t> </a:t>
            </a:r>
            <a:r>
              <a:rPr lang="en-US" sz="3600" b="1" spc="-25" dirty="0">
                <a:solidFill>
                  <a:schemeClr val="bg1"/>
                </a:solidFill>
              </a:rPr>
              <a:t>TensorFlow</a:t>
            </a:r>
            <a:r>
              <a:rPr lang="en-US" sz="3600" b="1" spc="-40" dirty="0">
                <a:solidFill>
                  <a:schemeClr val="bg1"/>
                </a:solidFill>
              </a:rPr>
              <a:t> </a:t>
            </a:r>
            <a:r>
              <a:rPr lang="en-US" sz="3600" b="1" spc="-15" dirty="0">
                <a:solidFill>
                  <a:schemeClr val="bg1"/>
                </a:solidFill>
              </a:rPr>
              <a:t>Lite?</a:t>
            </a:r>
            <a:endParaRPr lang="en-US" sz="3600" b="1" dirty="0">
              <a:solidFill>
                <a:schemeClr val="bg1"/>
              </a:solidFill>
              <a:latin typeface="Franklin Gothic Book"/>
              <a:cs typeface="Franklin Gothic Book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1616" y="1447800"/>
            <a:ext cx="11664856" cy="4561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1940" marR="332396" indent="-227793">
              <a:lnSpc>
                <a:spcPct val="102200"/>
              </a:lnSpc>
              <a:buSzPct val="143750"/>
              <a:buChar char="•"/>
              <a:tabLst>
                <a:tab pos="262372" algn="l"/>
              </a:tabLst>
            </a:pPr>
            <a:r>
              <a:rPr lang="en-US" sz="3200" spc="14" dirty="0" smtClean="0">
                <a:solidFill>
                  <a:schemeClr val="bg1"/>
                </a:solidFill>
                <a:latin typeface="Arial"/>
                <a:cs typeface="Arial"/>
              </a:rPr>
              <a:t> It</a:t>
            </a:r>
            <a:r>
              <a:rPr lang="en-US" sz="3200" spc="-3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-3" dirty="0">
                <a:solidFill>
                  <a:schemeClr val="bg1"/>
                </a:solidFill>
                <a:latin typeface="Arial"/>
                <a:cs typeface="Arial"/>
              </a:rPr>
              <a:t>enables </a:t>
            </a:r>
            <a:r>
              <a:rPr lang="en-US" sz="3200" spc="20" dirty="0">
                <a:solidFill>
                  <a:schemeClr val="bg1"/>
                </a:solidFill>
                <a:latin typeface="Arial"/>
                <a:cs typeface="Arial"/>
              </a:rPr>
              <a:t>on-device</a:t>
            </a:r>
            <a:r>
              <a:rPr lang="en-US" sz="3200" spc="-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3" dirty="0">
                <a:solidFill>
                  <a:schemeClr val="bg1"/>
                </a:solidFill>
                <a:latin typeface="Arial"/>
                <a:cs typeface="Arial"/>
              </a:rPr>
              <a:t>machine</a:t>
            </a:r>
            <a:r>
              <a:rPr lang="en-US" sz="3200" spc="-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learning </a:t>
            </a:r>
            <a:r>
              <a:rPr lang="en-US" sz="3200" spc="-3" dirty="0">
                <a:solidFill>
                  <a:srgbClr val="EE210B"/>
                </a:solidFill>
                <a:latin typeface="Arial"/>
                <a:cs typeface="Arial"/>
              </a:rPr>
              <a:t>inference </a:t>
            </a:r>
            <a:r>
              <a:rPr lang="en-US" sz="3200" spc="31" dirty="0">
                <a:solidFill>
                  <a:schemeClr val="bg1"/>
                </a:solidFill>
                <a:latin typeface="Arial"/>
                <a:cs typeface="Arial"/>
              </a:rPr>
              <a:t>with</a:t>
            </a:r>
            <a:r>
              <a:rPr lang="en-US" sz="3200" spc="-3" dirty="0">
                <a:latin typeface="Arial"/>
                <a:cs typeface="Arial"/>
              </a:rPr>
              <a:t> </a:t>
            </a:r>
            <a:r>
              <a:rPr lang="en-US" sz="3200" spc="31" dirty="0">
                <a:solidFill>
                  <a:srgbClr val="EE210B"/>
                </a:solidFill>
                <a:latin typeface="Arial"/>
                <a:cs typeface="Arial"/>
              </a:rPr>
              <a:t>low </a:t>
            </a:r>
            <a:r>
              <a:rPr lang="en-US" sz="3200" spc="-442" dirty="0">
                <a:solidFill>
                  <a:srgbClr val="EE210B"/>
                </a:solidFill>
                <a:latin typeface="Arial"/>
                <a:cs typeface="Arial"/>
              </a:rPr>
              <a:t> </a:t>
            </a:r>
            <a:r>
              <a:rPr lang="en-US" sz="3200" spc="7" dirty="0">
                <a:solidFill>
                  <a:srgbClr val="EE210B"/>
                </a:solidFill>
                <a:latin typeface="Arial"/>
                <a:cs typeface="Arial"/>
              </a:rPr>
              <a:t>latency</a:t>
            </a:r>
            <a:r>
              <a:rPr lang="en-US" sz="3200" spc="-3" dirty="0">
                <a:solidFill>
                  <a:srgbClr val="EE210B"/>
                </a:solidFill>
                <a:latin typeface="Arial"/>
                <a:cs typeface="Arial"/>
              </a:rPr>
              <a:t> </a:t>
            </a:r>
            <a:r>
              <a:rPr lang="en-US" sz="3200" spc="10" dirty="0">
                <a:solidFill>
                  <a:schemeClr val="bg1"/>
                </a:solidFill>
                <a:latin typeface="Arial"/>
                <a:cs typeface="Arial"/>
              </a:rPr>
              <a:t>and</a:t>
            </a:r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-31" dirty="0">
                <a:solidFill>
                  <a:schemeClr val="bg1"/>
                </a:solidFill>
                <a:latin typeface="Arial"/>
                <a:cs typeface="Arial"/>
              </a:rPr>
              <a:t>a</a:t>
            </a:r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dirty="0">
                <a:solidFill>
                  <a:srgbClr val="EE210B"/>
                </a:solidFill>
                <a:latin typeface="Arial"/>
                <a:cs typeface="Arial"/>
              </a:rPr>
              <a:t>small </a:t>
            </a:r>
            <a:r>
              <a:rPr lang="en-US" sz="3200" spc="3" dirty="0">
                <a:solidFill>
                  <a:srgbClr val="EE210B"/>
                </a:solidFill>
                <a:latin typeface="Arial"/>
                <a:cs typeface="Arial"/>
              </a:rPr>
              <a:t>binary</a:t>
            </a:r>
            <a:r>
              <a:rPr lang="en-US" sz="3200" dirty="0">
                <a:solidFill>
                  <a:srgbClr val="EE210B"/>
                </a:solidFill>
                <a:latin typeface="Arial"/>
                <a:cs typeface="Arial"/>
              </a:rPr>
              <a:t> </a:t>
            </a:r>
            <a:r>
              <a:rPr lang="en-US" sz="3200" spc="-17" dirty="0">
                <a:solidFill>
                  <a:srgbClr val="EE210B"/>
                </a:solidFill>
                <a:latin typeface="Arial"/>
                <a:cs typeface="Arial"/>
              </a:rPr>
              <a:t>size</a:t>
            </a:r>
            <a:endParaRPr lang="en-US" sz="3200" dirty="0">
              <a:latin typeface="Arial"/>
              <a:cs typeface="Arial"/>
            </a:endParaRPr>
          </a:p>
          <a:p>
            <a:pPr>
              <a:spcBef>
                <a:spcPts val="10"/>
              </a:spcBef>
              <a:buFont typeface="Arial"/>
              <a:buChar char="•"/>
            </a:pPr>
            <a:endParaRPr lang="en-US" sz="3200" dirty="0">
              <a:latin typeface="Arial"/>
              <a:cs typeface="Arial"/>
            </a:endParaRPr>
          </a:p>
          <a:p>
            <a:pPr marL="39449" marR="20748" indent="-227793">
              <a:lnSpc>
                <a:spcPct val="102200"/>
              </a:lnSpc>
              <a:buSzPct val="143750"/>
              <a:buChar char="•"/>
              <a:tabLst>
                <a:tab pos="497081" algn="l"/>
              </a:tabLst>
            </a:pPr>
            <a:r>
              <a:rPr lang="en-US" sz="3200" spc="31" dirty="0" smtClean="0">
                <a:solidFill>
                  <a:schemeClr val="bg1"/>
                </a:solidFill>
                <a:latin typeface="Arial"/>
                <a:cs typeface="Arial"/>
              </a:rPr>
              <a:t> Low</a:t>
            </a:r>
            <a:r>
              <a:rPr lang="en-US" sz="3200" spc="3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7" dirty="0">
                <a:solidFill>
                  <a:schemeClr val="bg1"/>
                </a:solidFill>
                <a:latin typeface="Arial"/>
                <a:cs typeface="Arial"/>
              </a:rPr>
              <a:t>latency</a:t>
            </a:r>
            <a:r>
              <a:rPr lang="en-US" sz="3200" spc="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10" dirty="0">
                <a:solidFill>
                  <a:schemeClr val="bg1"/>
                </a:solidFill>
                <a:latin typeface="Arial"/>
                <a:cs typeface="Arial"/>
              </a:rPr>
              <a:t>techniques:</a:t>
            </a:r>
            <a:r>
              <a:rPr lang="en-US" sz="3200" spc="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17" dirty="0">
                <a:solidFill>
                  <a:schemeClr val="bg1"/>
                </a:solidFill>
                <a:latin typeface="Arial"/>
                <a:cs typeface="Arial"/>
              </a:rPr>
              <a:t>optimizing</a:t>
            </a:r>
            <a:r>
              <a:rPr lang="en-US" sz="3200" spc="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10" dirty="0">
                <a:solidFill>
                  <a:schemeClr val="bg1"/>
                </a:solidFill>
                <a:latin typeface="Arial"/>
                <a:cs typeface="Arial"/>
              </a:rPr>
              <a:t>the</a:t>
            </a:r>
            <a:r>
              <a:rPr lang="en-US" sz="3200" spc="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kernels</a:t>
            </a:r>
            <a:r>
              <a:rPr lang="en-US" sz="3200" spc="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20" dirty="0">
                <a:solidFill>
                  <a:schemeClr val="bg1"/>
                </a:solidFill>
                <a:latin typeface="Arial"/>
                <a:cs typeface="Arial"/>
              </a:rPr>
              <a:t>for</a:t>
            </a:r>
            <a:r>
              <a:rPr lang="en-US" sz="3200" spc="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14" dirty="0">
                <a:solidFill>
                  <a:schemeClr val="bg1"/>
                </a:solidFill>
                <a:latin typeface="Arial"/>
                <a:cs typeface="Arial"/>
              </a:rPr>
              <a:t>mobile </a:t>
            </a:r>
            <a:r>
              <a:rPr lang="en-US" sz="3200" spc="-442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17" dirty="0">
                <a:solidFill>
                  <a:schemeClr val="bg1"/>
                </a:solidFill>
                <a:latin typeface="Arial"/>
                <a:cs typeface="Arial"/>
              </a:rPr>
              <a:t>apps, pre-fused </a:t>
            </a:r>
            <a:r>
              <a:rPr lang="en-US" sz="3200" spc="14" dirty="0">
                <a:solidFill>
                  <a:schemeClr val="bg1"/>
                </a:solidFill>
                <a:latin typeface="Arial"/>
                <a:cs typeface="Arial"/>
              </a:rPr>
              <a:t>activations, </a:t>
            </a:r>
            <a:r>
              <a:rPr lang="en-US" sz="3200" spc="10" dirty="0">
                <a:solidFill>
                  <a:schemeClr val="bg1"/>
                </a:solidFill>
                <a:latin typeface="Arial"/>
                <a:cs typeface="Arial"/>
              </a:rPr>
              <a:t>and quantized </a:t>
            </a:r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kernels </a:t>
            </a:r>
            <a:r>
              <a:rPr lang="en-US" sz="3200" spc="24" dirty="0">
                <a:solidFill>
                  <a:schemeClr val="bg1"/>
                </a:solidFill>
                <a:latin typeface="Arial"/>
                <a:cs typeface="Arial"/>
              </a:rPr>
              <a:t>that </a:t>
            </a:r>
            <a:r>
              <a:rPr lang="en-US" sz="3200" spc="2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10" dirty="0">
                <a:solidFill>
                  <a:schemeClr val="bg1"/>
                </a:solidFill>
                <a:latin typeface="Arial"/>
                <a:cs typeface="Arial"/>
              </a:rPr>
              <a:t>allow</a:t>
            </a:r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-3" dirty="0">
                <a:solidFill>
                  <a:schemeClr val="bg1"/>
                </a:solidFill>
                <a:latin typeface="Arial"/>
                <a:cs typeface="Arial"/>
              </a:rPr>
              <a:t>smaller</a:t>
            </a:r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10" dirty="0">
                <a:solidFill>
                  <a:schemeClr val="bg1"/>
                </a:solidFill>
                <a:latin typeface="Arial"/>
                <a:cs typeface="Arial"/>
              </a:rPr>
              <a:t>and</a:t>
            </a:r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3" dirty="0">
                <a:solidFill>
                  <a:schemeClr val="bg1"/>
                </a:solidFill>
                <a:latin typeface="Arial"/>
                <a:cs typeface="Arial"/>
              </a:rPr>
              <a:t>faster</a:t>
            </a:r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7" dirty="0">
                <a:solidFill>
                  <a:schemeClr val="bg1"/>
                </a:solidFill>
                <a:latin typeface="Arial"/>
                <a:cs typeface="Arial"/>
              </a:rPr>
              <a:t>(</a:t>
            </a:r>
            <a:r>
              <a:rPr lang="en-US" sz="3200" spc="7" dirty="0">
                <a:solidFill>
                  <a:schemeClr val="bg1"/>
                </a:solidFill>
                <a:latin typeface="Trebuchet MS"/>
                <a:cs typeface="Trebuchet MS"/>
              </a:rPr>
              <a:t>ﬁ</a:t>
            </a:r>
            <a:r>
              <a:rPr lang="en-US" sz="3200" spc="7" dirty="0">
                <a:solidFill>
                  <a:schemeClr val="bg1"/>
                </a:solidFill>
                <a:latin typeface="Arial"/>
                <a:cs typeface="Arial"/>
              </a:rPr>
              <a:t>xed-point</a:t>
            </a:r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-10" dirty="0">
                <a:solidFill>
                  <a:schemeClr val="bg1"/>
                </a:solidFill>
                <a:latin typeface="Arial"/>
                <a:cs typeface="Arial"/>
              </a:rPr>
              <a:t>math)</a:t>
            </a:r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14" dirty="0">
                <a:solidFill>
                  <a:schemeClr val="bg1"/>
                </a:solidFill>
                <a:latin typeface="Arial"/>
                <a:cs typeface="Arial"/>
              </a:rPr>
              <a:t>models</a:t>
            </a:r>
            <a:endParaRPr lang="en-US" sz="3200" dirty="0">
              <a:solidFill>
                <a:schemeClr val="bg1"/>
              </a:solidFill>
              <a:latin typeface="Arial"/>
              <a:cs typeface="Arial"/>
            </a:endParaRPr>
          </a:p>
          <a:p>
            <a:pPr lvl="1">
              <a:spcBef>
                <a:spcPts val="10"/>
              </a:spcBef>
              <a:buFont typeface="Arial"/>
              <a:buChar char="•"/>
            </a:pPr>
            <a:endParaRPr lang="en-US" sz="3200" dirty="0">
              <a:latin typeface="Arial"/>
              <a:cs typeface="Arial"/>
            </a:endParaRPr>
          </a:p>
          <a:p>
            <a:pPr marL="261940" marR="263669" indent="-227793">
              <a:lnSpc>
                <a:spcPct val="102200"/>
              </a:lnSpc>
              <a:buSzPct val="143750"/>
              <a:buChar char="•"/>
              <a:tabLst>
                <a:tab pos="262372" algn="l"/>
              </a:tabLst>
            </a:pPr>
            <a:r>
              <a:rPr lang="en-US" sz="3200" spc="-20" dirty="0" smtClean="0">
                <a:solidFill>
                  <a:schemeClr val="bg1"/>
                </a:solidFill>
                <a:latin typeface="Arial"/>
                <a:cs typeface="Arial"/>
              </a:rPr>
              <a:t> TensorFlow</a:t>
            </a:r>
            <a:r>
              <a:rPr lang="en-US" sz="3200" spc="-7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7" dirty="0">
                <a:solidFill>
                  <a:schemeClr val="bg1"/>
                </a:solidFill>
                <a:latin typeface="Arial"/>
                <a:cs typeface="Arial"/>
              </a:rPr>
              <a:t>Lite</a:t>
            </a:r>
            <a:r>
              <a:rPr lang="en-US" sz="3200" spc="-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Arial"/>
                <a:cs typeface="Arial"/>
              </a:rPr>
              <a:t>also</a:t>
            </a:r>
            <a:r>
              <a:rPr lang="en-US" sz="3200" spc="-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27" dirty="0">
                <a:solidFill>
                  <a:schemeClr val="bg1"/>
                </a:solidFill>
                <a:latin typeface="Arial"/>
                <a:cs typeface="Arial"/>
              </a:rPr>
              <a:t>supports</a:t>
            </a:r>
            <a:r>
              <a:rPr lang="en-US" sz="3200" spc="-3" dirty="0">
                <a:solidFill>
                  <a:schemeClr val="bg1"/>
                </a:solidFill>
                <a:latin typeface="Arial"/>
                <a:cs typeface="Arial"/>
              </a:rPr>
              <a:t> hardware </a:t>
            </a:r>
            <a:r>
              <a:rPr lang="en-US" sz="3200" spc="7" dirty="0">
                <a:solidFill>
                  <a:schemeClr val="bg1"/>
                </a:solidFill>
                <a:latin typeface="Arial"/>
                <a:cs typeface="Arial"/>
              </a:rPr>
              <a:t>acceleration</a:t>
            </a:r>
            <a:r>
              <a:rPr lang="en-US" sz="3200" spc="-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31" dirty="0">
                <a:solidFill>
                  <a:schemeClr val="bg1"/>
                </a:solidFill>
                <a:latin typeface="Arial"/>
                <a:cs typeface="Arial"/>
              </a:rPr>
              <a:t>with </a:t>
            </a:r>
            <a:r>
              <a:rPr lang="en-US" sz="3200" spc="-446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10" dirty="0">
                <a:solidFill>
                  <a:schemeClr val="bg1"/>
                </a:solidFill>
                <a:latin typeface="Arial"/>
                <a:cs typeface="Arial"/>
              </a:rPr>
              <a:t>the</a:t>
            </a:r>
            <a:r>
              <a:rPr lang="en-US" sz="3200" spc="-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3200" spc="14" dirty="0">
                <a:solidFill>
                  <a:srgbClr val="029BE5"/>
                </a:solidFill>
                <a:latin typeface="Arial"/>
                <a:cs typeface="Arial"/>
              </a:rPr>
              <a:t>Android</a:t>
            </a:r>
            <a:r>
              <a:rPr lang="en-US" sz="3200" dirty="0">
                <a:solidFill>
                  <a:srgbClr val="029BE5"/>
                </a:solidFill>
                <a:latin typeface="Arial"/>
                <a:cs typeface="Arial"/>
              </a:rPr>
              <a:t> </a:t>
            </a:r>
            <a:r>
              <a:rPr lang="en-US" sz="3200" spc="-10" dirty="0">
                <a:solidFill>
                  <a:srgbClr val="029BE5"/>
                </a:solidFill>
                <a:latin typeface="Arial"/>
                <a:cs typeface="Arial"/>
              </a:rPr>
              <a:t>Neural</a:t>
            </a:r>
            <a:r>
              <a:rPr lang="en-US" sz="3200" dirty="0">
                <a:solidFill>
                  <a:srgbClr val="029BE5"/>
                </a:solidFill>
                <a:latin typeface="Arial"/>
                <a:cs typeface="Arial"/>
              </a:rPr>
              <a:t> </a:t>
            </a:r>
            <a:r>
              <a:rPr lang="en-US" sz="3200" spc="17" dirty="0">
                <a:solidFill>
                  <a:srgbClr val="029BE5"/>
                </a:solidFill>
                <a:latin typeface="Arial"/>
                <a:cs typeface="Arial"/>
              </a:rPr>
              <a:t>Networks</a:t>
            </a:r>
            <a:r>
              <a:rPr lang="en-US" sz="3200" dirty="0">
                <a:solidFill>
                  <a:srgbClr val="029BE5"/>
                </a:solidFill>
                <a:latin typeface="Arial"/>
                <a:cs typeface="Arial"/>
              </a:rPr>
              <a:t> </a:t>
            </a:r>
            <a:r>
              <a:rPr lang="en-US" sz="3200" spc="-31" dirty="0">
                <a:solidFill>
                  <a:srgbClr val="029BE5"/>
                </a:solidFill>
                <a:latin typeface="Arial"/>
                <a:cs typeface="Arial"/>
              </a:rPr>
              <a:t>API</a:t>
            </a:r>
            <a:endParaRPr lang="en-US" sz="3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90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6144" y="248078"/>
            <a:ext cx="880939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spc="-5" dirty="0">
                <a:solidFill>
                  <a:schemeClr val="bg1"/>
                </a:solidFill>
              </a:rPr>
              <a:t>What</a:t>
            </a:r>
            <a:r>
              <a:rPr lang="en-US" sz="3600" b="1" spc="-10" dirty="0">
                <a:solidFill>
                  <a:schemeClr val="bg1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is</a:t>
            </a:r>
            <a:r>
              <a:rPr lang="en-US" sz="3600" b="1" spc="10" dirty="0">
                <a:solidFill>
                  <a:schemeClr val="bg1"/>
                </a:solidFill>
              </a:rPr>
              <a:t> </a:t>
            </a:r>
            <a:r>
              <a:rPr lang="en-US" sz="3600" b="1" spc="-25" dirty="0">
                <a:solidFill>
                  <a:schemeClr val="bg1"/>
                </a:solidFill>
              </a:rPr>
              <a:t>TensorFlow </a:t>
            </a:r>
            <a:r>
              <a:rPr lang="en-US" sz="3600" b="1" spc="-15" dirty="0">
                <a:solidFill>
                  <a:schemeClr val="bg1"/>
                </a:solidFill>
              </a:rPr>
              <a:t>Lite</a:t>
            </a:r>
            <a:r>
              <a:rPr lang="en-US" sz="3600" b="1" spc="10" dirty="0">
                <a:solidFill>
                  <a:schemeClr val="bg1"/>
                </a:solidFill>
              </a:rPr>
              <a:t> </a:t>
            </a:r>
            <a:r>
              <a:rPr lang="en-US" sz="3600" b="1" spc="-15" dirty="0">
                <a:solidFill>
                  <a:schemeClr val="bg1"/>
                </a:solidFill>
              </a:rPr>
              <a:t>for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en-US" sz="3600" b="1" spc="-5" dirty="0">
                <a:solidFill>
                  <a:schemeClr val="bg1"/>
                </a:solidFill>
              </a:rPr>
              <a:t>Microcontrollers?</a:t>
            </a:r>
            <a:endParaRPr lang="en-US" sz="3600" b="1" dirty="0">
              <a:solidFill>
                <a:schemeClr val="bg1"/>
              </a:solidFill>
              <a:latin typeface="Franklin Gothic Book"/>
              <a:cs typeface="Franklin Gothic Book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2289" y="1042415"/>
            <a:ext cx="11963400" cy="5555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25000"/>
              </a:lnSpc>
              <a:spcBef>
                <a:spcPts val="1330"/>
              </a:spcBef>
            </a:pPr>
            <a:r>
              <a:rPr lang="en-US" sz="3000" spc="-10" dirty="0">
                <a:solidFill>
                  <a:schemeClr val="bg1"/>
                </a:solidFill>
                <a:latin typeface="Franklin Gothic Book"/>
                <a:cs typeface="Franklin Gothic Book"/>
              </a:rPr>
              <a:t>Even</a:t>
            </a:r>
            <a:r>
              <a:rPr lang="en-US" sz="3000" spc="-2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a</a:t>
            </a:r>
            <a:r>
              <a:rPr lang="en-US" sz="3000" spc="1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35" dirty="0">
                <a:solidFill>
                  <a:schemeClr val="bg1"/>
                </a:solidFill>
                <a:latin typeface="Franklin Gothic Book"/>
                <a:cs typeface="Franklin Gothic Book"/>
              </a:rPr>
              <a:t>few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hundred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10" dirty="0">
                <a:solidFill>
                  <a:schemeClr val="bg1"/>
                </a:solidFill>
                <a:latin typeface="Franklin Gothic Book"/>
                <a:cs typeface="Franklin Gothic Book"/>
              </a:rPr>
              <a:t>kilobytes</a:t>
            </a:r>
            <a:r>
              <a:rPr lang="en-US" sz="3000" spc="-15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is</a:t>
            </a:r>
            <a:r>
              <a:rPr lang="en-US" sz="3000" spc="-15" dirty="0">
                <a:solidFill>
                  <a:schemeClr val="bg1"/>
                </a:solidFill>
                <a:latin typeface="Franklin Gothic Book"/>
                <a:cs typeface="Franklin Gothic Book"/>
              </a:rPr>
              <a:t> too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 large</a:t>
            </a:r>
            <a:r>
              <a:rPr lang="en-US" sz="3000" spc="-1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25" dirty="0">
                <a:solidFill>
                  <a:schemeClr val="bg1"/>
                </a:solidFill>
                <a:latin typeface="Franklin Gothic Book"/>
                <a:cs typeface="Franklin Gothic Book"/>
              </a:rPr>
              <a:t>for</a:t>
            </a:r>
            <a:r>
              <a:rPr lang="en-US" sz="3000" spc="1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most</a:t>
            </a:r>
            <a:r>
              <a:rPr lang="en-US" sz="3000" spc="-2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embedded</a:t>
            </a:r>
            <a:r>
              <a:rPr lang="en-US" sz="3000" spc="-15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systems.</a:t>
            </a:r>
            <a:endParaRPr lang="en-US" sz="3000" dirty="0">
              <a:solidFill>
                <a:schemeClr val="bg1"/>
              </a:solidFill>
              <a:latin typeface="Franklin Gothic Book"/>
              <a:cs typeface="Franklin Gothic Book"/>
            </a:endParaRPr>
          </a:p>
          <a:p>
            <a:pPr marL="12700">
              <a:lnSpc>
                <a:spcPct val="125000"/>
              </a:lnSpc>
              <a:spcBef>
                <a:spcPts val="1225"/>
              </a:spcBef>
            </a:pP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If</a:t>
            </a:r>
            <a:r>
              <a:rPr lang="en-US" sz="3000" spc="-1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20" dirty="0">
                <a:solidFill>
                  <a:schemeClr val="bg1"/>
                </a:solidFill>
                <a:latin typeface="Franklin Gothic Book"/>
                <a:cs typeface="Franklin Gothic Book"/>
              </a:rPr>
              <a:t>we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10" dirty="0">
                <a:solidFill>
                  <a:schemeClr val="bg1"/>
                </a:solidFill>
                <a:latin typeface="Franklin Gothic Book"/>
                <a:cs typeface="Franklin Gothic Book"/>
              </a:rPr>
              <a:t>want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15" dirty="0">
                <a:solidFill>
                  <a:schemeClr val="bg1"/>
                </a:solidFill>
                <a:latin typeface="Franklin Gothic Book"/>
                <a:cs typeface="Franklin Gothic Book"/>
              </a:rPr>
              <a:t>to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run</a:t>
            </a:r>
            <a:r>
              <a:rPr lang="en-US" sz="3000" spc="-15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on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 MCUs,</a:t>
            </a:r>
            <a:r>
              <a:rPr lang="en-US" sz="3000" spc="-20" dirty="0">
                <a:solidFill>
                  <a:schemeClr val="bg1"/>
                </a:solidFill>
                <a:latin typeface="Franklin Gothic Book"/>
                <a:cs typeface="Franklin Gothic Book"/>
              </a:rPr>
              <a:t> we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need:</a:t>
            </a:r>
            <a:endParaRPr lang="en-US" sz="3000" dirty="0">
              <a:solidFill>
                <a:schemeClr val="bg1"/>
              </a:solidFill>
              <a:latin typeface="Franklin Gothic Book"/>
              <a:cs typeface="Franklin Gothic Book"/>
            </a:endParaRPr>
          </a:p>
          <a:p>
            <a:pPr marL="1041400" indent="-342900">
              <a:lnSpc>
                <a:spcPct val="125000"/>
              </a:lnSpc>
              <a:spcBef>
                <a:spcPts val="1225"/>
              </a:spcBef>
              <a:buFont typeface="Arial"/>
              <a:buChar char="•"/>
              <a:tabLst>
                <a:tab pos="1040765" algn="l"/>
                <a:tab pos="1041400" algn="l"/>
              </a:tabLst>
            </a:pPr>
            <a:r>
              <a:rPr lang="en-US" sz="3000" spc="-15" dirty="0">
                <a:solidFill>
                  <a:schemeClr val="bg1"/>
                </a:solidFill>
                <a:latin typeface="Franklin Gothic Book"/>
                <a:cs typeface="Franklin Gothic Book"/>
              </a:rPr>
              <a:t>Low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15" dirty="0">
                <a:solidFill>
                  <a:schemeClr val="bg1"/>
                </a:solidFill>
                <a:latin typeface="Franklin Gothic Book"/>
                <a:cs typeface="Franklin Gothic Book"/>
              </a:rPr>
              <a:t>tens</a:t>
            </a:r>
            <a:r>
              <a:rPr lang="en-US" sz="3000" spc="-2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of </a:t>
            </a:r>
            <a:r>
              <a:rPr lang="en-US" sz="3000" spc="-10" dirty="0">
                <a:solidFill>
                  <a:schemeClr val="bg1"/>
                </a:solidFill>
                <a:latin typeface="Franklin Gothic Book"/>
                <a:cs typeface="Franklin Gothic Book"/>
              </a:rPr>
              <a:t>kilobytes</a:t>
            </a:r>
            <a:r>
              <a:rPr lang="en-US" sz="3000" spc="-2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code</a:t>
            </a:r>
            <a:r>
              <a:rPr lang="en-US" sz="3000" spc="-25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10" dirty="0">
                <a:solidFill>
                  <a:schemeClr val="bg1"/>
                </a:solidFill>
                <a:latin typeface="Franklin Gothic Book"/>
                <a:cs typeface="Franklin Gothic Book"/>
              </a:rPr>
              <a:t>footprint.</a:t>
            </a:r>
            <a:endParaRPr lang="en-US" sz="3000" dirty="0">
              <a:solidFill>
                <a:schemeClr val="bg1"/>
              </a:solidFill>
              <a:latin typeface="Franklin Gothic Book"/>
              <a:cs typeface="Franklin Gothic Book"/>
            </a:endParaRPr>
          </a:p>
          <a:p>
            <a:pPr marL="1041400" indent="-342900">
              <a:lnSpc>
                <a:spcPct val="125000"/>
              </a:lnSpc>
              <a:spcBef>
                <a:spcPts val="1220"/>
              </a:spcBef>
              <a:buFont typeface="Arial"/>
              <a:buChar char="•"/>
              <a:tabLst>
                <a:tab pos="1040765" algn="l"/>
                <a:tab pos="1041400" algn="l"/>
              </a:tabLst>
            </a:pP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No</a:t>
            </a:r>
            <a:r>
              <a:rPr lang="en-US" sz="3000" spc="-2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operating</a:t>
            </a:r>
            <a:r>
              <a:rPr lang="en-US" sz="3000" spc="-2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system</a:t>
            </a:r>
            <a:r>
              <a:rPr lang="en-US" sz="3000" spc="-25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dependencies.</a:t>
            </a:r>
            <a:endParaRPr lang="en-US" sz="3000" dirty="0">
              <a:solidFill>
                <a:schemeClr val="bg1"/>
              </a:solidFill>
              <a:latin typeface="Franklin Gothic Book"/>
              <a:cs typeface="Franklin Gothic Book"/>
            </a:endParaRPr>
          </a:p>
          <a:p>
            <a:pPr marL="1041400" indent="-342900">
              <a:lnSpc>
                <a:spcPct val="125000"/>
              </a:lnSpc>
              <a:spcBef>
                <a:spcPts val="1230"/>
              </a:spcBef>
              <a:buFont typeface="Arial"/>
              <a:buChar char="•"/>
              <a:tabLst>
                <a:tab pos="1040765" algn="l"/>
                <a:tab pos="1041400" algn="l"/>
              </a:tabLst>
            </a:pP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No</a:t>
            </a:r>
            <a:r>
              <a:rPr lang="en-US" sz="3000" spc="-1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dynamic </a:t>
            </a:r>
            <a:r>
              <a:rPr lang="en-US" sz="3000" spc="10" dirty="0">
                <a:solidFill>
                  <a:schemeClr val="bg1"/>
                </a:solidFill>
                <a:latin typeface="Franklin Gothic Book"/>
                <a:cs typeface="Franklin Gothic Book"/>
              </a:rPr>
              <a:t>memory</a:t>
            </a:r>
            <a:r>
              <a:rPr lang="en-US" sz="3000" spc="-2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allocation.</a:t>
            </a:r>
            <a:endParaRPr lang="en-US" sz="3000" dirty="0">
              <a:solidFill>
                <a:schemeClr val="bg1"/>
              </a:solidFill>
              <a:latin typeface="Franklin Gothic Book"/>
              <a:cs typeface="Franklin Gothic Book"/>
            </a:endParaRPr>
          </a:p>
          <a:p>
            <a:pPr marL="12700" marR="5080">
              <a:lnSpc>
                <a:spcPct val="125000"/>
              </a:lnSpc>
              <a:spcBef>
                <a:spcPts val="1785"/>
              </a:spcBef>
            </a:pPr>
            <a:r>
              <a:rPr lang="en-US" sz="3000" spc="-35" dirty="0">
                <a:solidFill>
                  <a:schemeClr val="bg1"/>
                </a:solidFill>
                <a:latin typeface="Franklin Gothic Book"/>
                <a:cs typeface="Franklin Gothic Book"/>
              </a:rPr>
              <a:t>We</a:t>
            </a:r>
            <a:r>
              <a:rPr lang="en-US" sz="3000" spc="5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managed </a:t>
            </a:r>
            <a:r>
              <a:rPr lang="en-US" sz="3000" spc="-20" dirty="0">
                <a:solidFill>
                  <a:schemeClr val="bg1"/>
                </a:solidFill>
                <a:latin typeface="Franklin Gothic Book"/>
                <a:cs typeface="Franklin Gothic Book"/>
              </a:rPr>
              <a:t>to</a:t>
            </a:r>
            <a:r>
              <a:rPr lang="en-US" sz="3000" spc="-10" dirty="0">
                <a:solidFill>
                  <a:schemeClr val="bg1"/>
                </a:solidFill>
                <a:latin typeface="Franklin Gothic Book"/>
                <a:cs typeface="Franklin Gothic Book"/>
              </a:rPr>
              <a:t> create</a:t>
            </a:r>
            <a:r>
              <a:rPr lang="en-US" sz="3000" spc="-15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a 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version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 of</a:t>
            </a:r>
            <a:r>
              <a:rPr lang="en-US" sz="3000" spc="1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25" dirty="0">
                <a:solidFill>
                  <a:schemeClr val="bg1"/>
                </a:solidFill>
                <a:latin typeface="Franklin Gothic Book"/>
                <a:cs typeface="Franklin Gothic Book"/>
              </a:rPr>
              <a:t>TensorFlow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10" dirty="0">
                <a:solidFill>
                  <a:schemeClr val="bg1"/>
                </a:solidFill>
                <a:latin typeface="Franklin Gothic Book"/>
                <a:cs typeface="Franklin Gothic Book"/>
              </a:rPr>
              <a:t>Lite</a:t>
            </a:r>
            <a:r>
              <a:rPr lang="en-US" sz="3000" spc="-15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that</a:t>
            </a:r>
            <a:r>
              <a:rPr lang="en-US" sz="3000" spc="1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meets</a:t>
            </a:r>
            <a:r>
              <a:rPr lang="en-US" sz="3000" spc="-10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these </a:t>
            </a:r>
            <a:r>
              <a:rPr lang="en-US" sz="3000" spc="5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constraints, sharing most of the same code, 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but with </a:t>
            </a:r>
            <a:r>
              <a:rPr lang="en-US" sz="3000" dirty="0">
                <a:solidFill>
                  <a:schemeClr val="bg1"/>
                </a:solidFill>
                <a:latin typeface="Franklin Gothic Book"/>
                <a:cs typeface="Franklin Gothic Book"/>
              </a:rPr>
              <a:t>only a </a:t>
            </a:r>
            <a:r>
              <a:rPr lang="en-US" sz="3000" spc="-5" dirty="0">
                <a:solidFill>
                  <a:schemeClr val="bg1"/>
                </a:solidFill>
                <a:latin typeface="Franklin Gothic Book"/>
                <a:cs typeface="Franklin Gothic Book"/>
              </a:rPr>
              <a:t>20 </a:t>
            </a:r>
            <a:r>
              <a:rPr lang="en-US" sz="3000" spc="-15" dirty="0">
                <a:solidFill>
                  <a:schemeClr val="bg1"/>
                </a:solidFill>
                <a:latin typeface="Franklin Gothic Book"/>
                <a:cs typeface="Franklin Gothic Book"/>
              </a:rPr>
              <a:t>kilobyte </a:t>
            </a:r>
            <a:r>
              <a:rPr lang="en-US" sz="3000" spc="-585" dirty="0">
                <a:solidFill>
                  <a:schemeClr val="bg1"/>
                </a:solidFill>
                <a:latin typeface="Franklin Gothic Book"/>
                <a:cs typeface="Franklin Gothic Book"/>
              </a:rPr>
              <a:t> </a:t>
            </a:r>
            <a:r>
              <a:rPr lang="en-US" sz="3000" spc="-10" dirty="0">
                <a:solidFill>
                  <a:schemeClr val="bg1"/>
                </a:solidFill>
                <a:latin typeface="Franklin Gothic Book"/>
                <a:cs typeface="Franklin Gothic Book"/>
              </a:rPr>
              <a:t>footprint.</a:t>
            </a:r>
            <a:endParaRPr lang="en-US" sz="3000" dirty="0">
              <a:solidFill>
                <a:schemeClr val="bg1"/>
              </a:solidFill>
              <a:latin typeface="Franklin Gothic Book"/>
              <a:cs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46078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bject 4"/>
          <p:cNvSpPr txBox="1"/>
          <p:nvPr/>
        </p:nvSpPr>
        <p:spPr>
          <a:xfrm>
            <a:off x="304800" y="1524000"/>
            <a:ext cx="5486400" cy="4000427"/>
          </a:xfrm>
          <a:prstGeom prst="rect">
            <a:avLst/>
          </a:prstGeom>
        </p:spPr>
        <p:txBody>
          <a:bodyPr vert="horz" wrap="square" lIns="0" tIns="101573" rIns="0" bIns="0" rtlCol="0">
            <a:spAutoFit/>
          </a:bodyPr>
          <a:lstStyle/>
          <a:p>
            <a:pPr marL="206613" indent="-181110">
              <a:spcBef>
                <a:spcPts val="800"/>
              </a:spcBef>
              <a:buSzPct val="146511"/>
              <a:buChar char="•"/>
              <a:tabLst>
                <a:tab pos="207045" algn="l"/>
              </a:tabLst>
            </a:pPr>
            <a:r>
              <a:rPr lang="en-US" sz="2400" b="1" spc="44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400" b="1" spc="44" dirty="0" smtClean="0">
                <a:solidFill>
                  <a:schemeClr val="bg1"/>
                </a:solidFill>
                <a:latin typeface="Arial"/>
                <a:cs typeface="Arial"/>
              </a:rPr>
              <a:t>New</a:t>
            </a:r>
            <a:r>
              <a:rPr sz="2400" b="1" spc="-7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400" b="1" spc="-14" dirty="0">
                <a:solidFill>
                  <a:schemeClr val="bg1"/>
                </a:solidFill>
                <a:latin typeface="Arial"/>
                <a:cs typeface="Arial"/>
              </a:rPr>
              <a:t>TensorFlow</a:t>
            </a:r>
            <a:r>
              <a:rPr sz="2400" b="1" spc="-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400" b="1" spc="3" dirty="0">
                <a:solidFill>
                  <a:schemeClr val="bg1"/>
                </a:solidFill>
                <a:latin typeface="Arial"/>
                <a:cs typeface="Arial"/>
              </a:rPr>
              <a:t>runtime</a:t>
            </a:r>
            <a:endParaRPr sz="24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06613" indent="-181110">
              <a:spcBef>
                <a:spcPts val="1726"/>
              </a:spcBef>
              <a:buSzPct val="146511"/>
              <a:buChar char="•"/>
              <a:tabLst>
                <a:tab pos="207045" algn="l"/>
              </a:tabLst>
            </a:pPr>
            <a:r>
              <a:rPr lang="en-US" sz="2400" spc="17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400" spc="17" dirty="0" smtClean="0">
                <a:solidFill>
                  <a:schemeClr val="bg1"/>
                </a:solidFill>
                <a:latin typeface="Arial"/>
                <a:cs typeface="Arial"/>
              </a:rPr>
              <a:t>Optimized</a:t>
            </a:r>
            <a:r>
              <a:rPr sz="2400" spc="-3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schemeClr val="bg1"/>
                </a:solidFill>
                <a:latin typeface="Arial"/>
                <a:cs typeface="Arial"/>
              </a:rPr>
              <a:t>for</a:t>
            </a:r>
            <a:r>
              <a:rPr sz="2400" spc="-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400" b="1" spc="3" dirty="0">
                <a:solidFill>
                  <a:schemeClr val="bg1"/>
                </a:solidFill>
                <a:latin typeface="Arial"/>
                <a:cs typeface="Arial"/>
              </a:rPr>
              <a:t>mobile</a:t>
            </a:r>
            <a:r>
              <a:rPr sz="2400" b="1" spc="-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400" spc="14" dirty="0">
                <a:solidFill>
                  <a:schemeClr val="bg1"/>
                </a:solidFill>
                <a:latin typeface="Arial"/>
                <a:cs typeface="Arial"/>
              </a:rPr>
              <a:t>and</a:t>
            </a:r>
            <a:endParaRPr sz="24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06613">
              <a:spcBef>
                <a:spcPts val="37"/>
              </a:spcBef>
            </a:pPr>
            <a:r>
              <a:rPr sz="2400" b="1" spc="20" dirty="0">
                <a:solidFill>
                  <a:schemeClr val="bg1"/>
                </a:solidFill>
                <a:latin typeface="Arial"/>
                <a:cs typeface="Arial"/>
              </a:rPr>
              <a:t>embedded</a:t>
            </a:r>
            <a:r>
              <a:rPr sz="2400" b="1" spc="-2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400" spc="27" dirty="0">
                <a:solidFill>
                  <a:schemeClr val="bg1"/>
                </a:solidFill>
                <a:latin typeface="Arial"/>
                <a:cs typeface="Arial"/>
              </a:rPr>
              <a:t>apps</a:t>
            </a:r>
            <a:endParaRPr sz="2400" dirty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4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06613" marR="1432026" indent="-181110">
              <a:lnSpc>
                <a:spcPct val="102099"/>
              </a:lnSpc>
              <a:buSzPct val="146511"/>
              <a:buChar char="•"/>
              <a:tabLst>
                <a:tab pos="207045" algn="l"/>
              </a:tabLst>
            </a:pPr>
            <a:r>
              <a:rPr lang="en-US" sz="2400" spc="-7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400" spc="-7" dirty="0" smtClean="0">
                <a:solidFill>
                  <a:schemeClr val="bg1"/>
                </a:solidFill>
                <a:latin typeface="Arial"/>
                <a:cs typeface="Arial"/>
              </a:rPr>
              <a:t>Runs</a:t>
            </a:r>
            <a:r>
              <a:rPr sz="2400" spc="-14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400" spc="-14" dirty="0">
                <a:solidFill>
                  <a:schemeClr val="bg1"/>
                </a:solidFill>
                <a:latin typeface="Arial"/>
                <a:cs typeface="Arial"/>
              </a:rPr>
              <a:t>TensorFlow </a:t>
            </a:r>
            <a:r>
              <a:rPr sz="2400" spc="20" dirty="0">
                <a:solidFill>
                  <a:schemeClr val="bg1"/>
                </a:solidFill>
                <a:latin typeface="Arial"/>
                <a:cs typeface="Arial"/>
              </a:rPr>
              <a:t>models</a:t>
            </a:r>
            <a:r>
              <a:rPr sz="2400" spc="-14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400" spc="17" dirty="0">
                <a:solidFill>
                  <a:schemeClr val="bg1"/>
                </a:solidFill>
                <a:latin typeface="Arial"/>
                <a:cs typeface="Arial"/>
              </a:rPr>
              <a:t>on </a:t>
            </a:r>
            <a:r>
              <a:rPr sz="2400" spc="-398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400" spc="14" dirty="0">
                <a:solidFill>
                  <a:schemeClr val="bg1"/>
                </a:solidFill>
                <a:latin typeface="Arial"/>
                <a:cs typeface="Arial"/>
              </a:rPr>
              <a:t>device</a:t>
            </a:r>
            <a:endParaRPr sz="2400" dirty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4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06613" indent="-181110">
              <a:spcBef>
                <a:spcPts val="3"/>
              </a:spcBef>
              <a:buSzPct val="146511"/>
              <a:buChar char="•"/>
              <a:tabLst>
                <a:tab pos="207045" algn="l"/>
              </a:tabLst>
            </a:pPr>
            <a:r>
              <a:rPr lang="en-US" sz="2400" spc="-7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400" spc="-7" dirty="0" smtClean="0">
                <a:solidFill>
                  <a:schemeClr val="bg1"/>
                </a:solidFill>
                <a:latin typeface="Arial"/>
                <a:cs typeface="Arial"/>
              </a:rPr>
              <a:t>Leverage </a:t>
            </a:r>
            <a:r>
              <a:rPr sz="2400" spc="17" dirty="0">
                <a:solidFill>
                  <a:schemeClr val="bg1"/>
                </a:solidFill>
                <a:latin typeface="Arial"/>
                <a:cs typeface="Arial"/>
              </a:rPr>
              <a:t>Android</a:t>
            </a:r>
            <a:r>
              <a:rPr sz="2400" spc="-7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400" spc="7" dirty="0">
                <a:solidFill>
                  <a:schemeClr val="bg1"/>
                </a:solidFill>
                <a:latin typeface="Arial"/>
                <a:cs typeface="Arial"/>
              </a:rPr>
              <a:t>NN</a:t>
            </a:r>
            <a:r>
              <a:rPr sz="2400" spc="-3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2400" spc="-24" dirty="0">
                <a:solidFill>
                  <a:schemeClr val="bg1"/>
                </a:solidFill>
                <a:latin typeface="Arial"/>
                <a:cs typeface="Arial"/>
              </a:rPr>
              <a:t>API</a:t>
            </a:r>
            <a:endParaRPr sz="24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25503">
              <a:spcBef>
                <a:spcPts val="1722"/>
              </a:spcBef>
              <a:buSzPct val="146511"/>
              <a:tabLst>
                <a:tab pos="207045" algn="l"/>
              </a:tabLst>
            </a:pPr>
            <a:endParaRPr sz="2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7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8400" y="1371600"/>
            <a:ext cx="4953000" cy="5105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46144" y="248078"/>
            <a:ext cx="43411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503">
              <a:spcBef>
                <a:spcPts val="1722"/>
              </a:spcBef>
              <a:buSzPct val="146511"/>
              <a:tabLst>
                <a:tab pos="207045" algn="l"/>
              </a:tabLst>
            </a:pPr>
            <a:r>
              <a:rPr lang="en-US" sz="3600" b="1" spc="-25" dirty="0" err="1">
                <a:solidFill>
                  <a:schemeClr val="bg1"/>
                </a:solidFill>
              </a:rPr>
              <a:t>tf</a:t>
            </a:r>
            <a:r>
              <a:rPr lang="en-US" sz="3600" b="1" spc="-25" dirty="0">
                <a:solidFill>
                  <a:schemeClr val="bg1"/>
                </a:solidFill>
              </a:rPr>
              <a:t>-lite and android NN</a:t>
            </a:r>
          </a:p>
        </p:txBody>
      </p:sp>
    </p:spTree>
    <p:extLst>
      <p:ext uri="{BB962C8B-B14F-4D97-AF65-F5344CB8AC3E}">
        <p14:creationId xmlns:p14="http://schemas.microsoft.com/office/powerpoint/2010/main" val="177367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124044" y="3200400"/>
            <a:ext cx="535467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b="1" spc="270" dirty="0" smtClean="0">
                <a:solidFill>
                  <a:schemeClr val="bg1"/>
                </a:solidFill>
              </a:rPr>
              <a:t>EDGE IMPULSE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01884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46144" y="248078"/>
            <a:ext cx="30235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503">
              <a:spcBef>
                <a:spcPts val="1722"/>
              </a:spcBef>
              <a:buSzPct val="146511"/>
              <a:tabLst>
                <a:tab pos="207045" algn="l"/>
              </a:tabLst>
            </a:pPr>
            <a:r>
              <a:rPr lang="en-US" sz="3600" b="1" spc="-25" dirty="0" smtClean="0">
                <a:solidFill>
                  <a:schemeClr val="bg1"/>
                </a:solidFill>
              </a:rPr>
              <a:t>EDGE IMPULSE</a:t>
            </a:r>
            <a:endParaRPr lang="en-US" sz="3600" b="1" spc="-25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07794"/>
            <a:ext cx="9691156" cy="585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14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46144" y="248078"/>
            <a:ext cx="30235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503">
              <a:spcBef>
                <a:spcPts val="1722"/>
              </a:spcBef>
              <a:buSzPct val="146511"/>
              <a:tabLst>
                <a:tab pos="207045" algn="l"/>
              </a:tabLst>
            </a:pPr>
            <a:r>
              <a:rPr lang="en-US" sz="3600" b="1" spc="-25" dirty="0" smtClean="0">
                <a:solidFill>
                  <a:schemeClr val="bg1"/>
                </a:solidFill>
              </a:rPr>
              <a:t>EDGE IMPULSE</a:t>
            </a:r>
            <a:endParaRPr lang="en-US" sz="3600" b="1" spc="-25" dirty="0">
              <a:solidFill>
                <a:schemeClr val="bg1"/>
              </a:solidFill>
            </a:endParaRPr>
          </a:p>
        </p:txBody>
      </p:sp>
      <p:sp>
        <p:nvSpPr>
          <p:cNvPr id="2" name="AutoShape 2" descr="https://assets-global.website-files.com/618cdeef45d18e4ef2fd85f3/61c0459c8bd6744561dea827_Frame%201049%20(1)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42414"/>
            <a:ext cx="9226548" cy="581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08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46144" y="248078"/>
            <a:ext cx="30235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503">
              <a:spcBef>
                <a:spcPts val="1722"/>
              </a:spcBef>
              <a:buSzPct val="146511"/>
              <a:tabLst>
                <a:tab pos="207045" algn="l"/>
              </a:tabLst>
            </a:pPr>
            <a:r>
              <a:rPr lang="en-US" sz="3600" b="1" spc="-25" dirty="0" smtClean="0">
                <a:solidFill>
                  <a:schemeClr val="bg1"/>
                </a:solidFill>
              </a:rPr>
              <a:t>EDGE IMPULSE</a:t>
            </a:r>
            <a:endParaRPr lang="en-US" sz="3600" b="1" spc="-25" dirty="0">
              <a:solidFill>
                <a:schemeClr val="bg1"/>
              </a:solidFill>
            </a:endParaRPr>
          </a:p>
        </p:txBody>
      </p:sp>
      <p:sp>
        <p:nvSpPr>
          <p:cNvPr id="2" name="AutoShape 2" descr="https://assets-global.website-files.com/618cdeef45d18e4ef2fd85f3/61c0459c8bd6744561dea827_Frame%201049%20(1)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63197"/>
            <a:ext cx="10351537" cy="571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7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2289" y="990600"/>
            <a:ext cx="11983511" cy="51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46144" y="248078"/>
            <a:ext cx="30235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5503">
              <a:spcBef>
                <a:spcPts val="1722"/>
              </a:spcBef>
              <a:buSzPct val="146511"/>
              <a:tabLst>
                <a:tab pos="207045" algn="l"/>
              </a:tabLst>
            </a:pPr>
            <a:r>
              <a:rPr lang="en-US" sz="3600" b="1" spc="-25" dirty="0" smtClean="0">
                <a:solidFill>
                  <a:schemeClr val="bg1"/>
                </a:solidFill>
              </a:rPr>
              <a:t>EDGE IMPULSE</a:t>
            </a:r>
            <a:endParaRPr lang="en-US" sz="3600" b="1" spc="-25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727" y="1056270"/>
            <a:ext cx="6433727" cy="580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3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8545</TotalTime>
  <Words>507</Words>
  <Application>Microsoft Office PowerPoint</Application>
  <PresentationFormat>Widescreen</PresentationFormat>
  <Paragraphs>64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Franklin Gothic Book</vt:lpstr>
      <vt:lpstr>Trebuchet MS</vt:lpstr>
      <vt:lpstr>Office Theme</vt:lpstr>
      <vt:lpstr>Introduction to TinyML, TensorflowLite and Edge Impulse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 Learning</dc:title>
  <dc:creator>LENOVO</dc:creator>
  <cp:lastModifiedBy>hi</cp:lastModifiedBy>
  <cp:revision>52</cp:revision>
  <dcterms:created xsi:type="dcterms:W3CDTF">2022-04-15T16:07:10Z</dcterms:created>
  <dcterms:modified xsi:type="dcterms:W3CDTF">2025-06-06T04:06:57Z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2022-04-08T00:00:00Z</vt:filetime>
  </property>
  <property fmtid="{D5CDD505-2E9C-101B-9397-08002B2CF9AE}" pid="3" name="LastSaved">
    <vt:filetime>2022-04-15T00:00:00Z</vt:filetime>
  </property>
</Properties>
</file>