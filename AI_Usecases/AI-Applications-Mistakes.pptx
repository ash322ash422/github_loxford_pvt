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57" r:id="rId4"/>
    <p:sldId id="258" r:id="rId5"/>
    <p:sldId id="259" r:id="rId6"/>
    <p:sldId id="260" r:id="rId7"/>
    <p:sldId id="261" r:id="rId8"/>
    <p:sldId id="262" r:id="rId9"/>
    <p:sldId id="263" r:id="rId10"/>
    <p:sldId id="264" r:id="rId11"/>
    <p:sldId id="267" r:id="rId12"/>
    <p:sldId id="265" r:id="rId13"/>
    <p:sldId id="268" r:id="rId14"/>
    <p:sldId id="274" r:id="rId15"/>
    <p:sldId id="271" r:id="rId16"/>
    <p:sldId id="269" r:id="rId17"/>
    <p:sldId id="270" r:id="rId18"/>
    <p:sldId id="272" r:id="rId19"/>
    <p:sldId id="273" r:id="rId20"/>
    <p:sldId id="276" r:id="rId21"/>
    <p:sldId id="26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9" autoAdjust="0"/>
    <p:restoredTop sz="94660"/>
  </p:normalViewPr>
  <p:slideViewPr>
    <p:cSldViewPr snapToGrid="0">
      <p:cViewPr varScale="1">
        <p:scale>
          <a:sx n="96" d="100"/>
          <a:sy n="96" d="100"/>
        </p:scale>
        <p:origin x="17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5D09DC2-48EE-46C1-A8BB-DB8AF2311E8C}"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150244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D09DC2-48EE-46C1-A8BB-DB8AF2311E8C}"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1459263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5D09DC2-48EE-46C1-A8BB-DB8AF2311E8C}"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1985972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5D09DC2-48EE-46C1-A8BB-DB8AF2311E8C}"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4191227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5D09DC2-48EE-46C1-A8BB-DB8AF2311E8C}" type="datetimeFigureOut">
              <a:rPr lang="en-US" smtClean="0"/>
              <a:t>5/15/2025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4199883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5D09DC2-48EE-46C1-A8BB-DB8AF2311E8C}" type="datetimeFigureOut">
              <a:rPr lang="en-US" smtClean="0"/>
              <a:t>5/15/2025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472861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D09DC2-48EE-46C1-A8BB-DB8AF2311E8C}" type="datetimeFigureOut">
              <a:rPr lang="en-US" smtClean="0"/>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1023769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5D09DC2-48EE-46C1-A8BB-DB8AF2311E8C}"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1999710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5D09DC2-48EE-46C1-A8BB-DB8AF2311E8C}"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3620162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D09DC2-48EE-46C1-A8BB-DB8AF2311E8C}"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3781850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D09DC2-48EE-46C1-A8BB-DB8AF2311E8C}"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1833703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D09DC2-48EE-46C1-A8BB-DB8AF2311E8C}" type="datetimeFigureOut">
              <a:rPr lang="en-US" smtClean="0"/>
              <a:t>5/15/2025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EA813C-70C0-4BDF-A721-82A042EDF2E6}" type="slidenum">
              <a:rPr lang="en-US" smtClean="0"/>
              <a:t>‹#›</a:t>
            </a:fld>
            <a:endParaRPr lang="en-US"/>
          </a:p>
        </p:txBody>
      </p:sp>
    </p:spTree>
    <p:extLst>
      <p:ext uri="{BB962C8B-B14F-4D97-AF65-F5344CB8AC3E}">
        <p14:creationId xmlns:p14="http://schemas.microsoft.com/office/powerpoint/2010/main" val="2372398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teachablemachine.withgoogle.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techtarget.com/searchdatamanagement/definition/complianc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bernardmarr.com/default.asp?contentID=2041" TargetMode="External"/><Relationship Id="rId2" Type="http://schemas.openxmlformats.org/officeDocument/2006/relationships/hyperlink" Target="http://worldbeeproject.org/world-bee-project-hive-network" TargetMode="External"/><Relationship Id="rId1" Type="http://schemas.openxmlformats.org/officeDocument/2006/relationships/slideLayout" Target="../slideLayouts/slideLayout2.xml"/><Relationship Id="rId6" Type="http://schemas.openxmlformats.org/officeDocument/2006/relationships/hyperlink" Target="https://www.healtheuropa.eu/how-artificial-intelligence-can-revolutionise-healthcare/92824/" TargetMode="External"/><Relationship Id="rId5" Type="http://schemas.openxmlformats.org/officeDocument/2006/relationships/hyperlink" Target="https://medium.com/builddie/the-role-of-artificial-intelligence-in-wildlife-conservation-5dc3af2b4222" TargetMode="External"/><Relationship Id="rId4" Type="http://schemas.openxmlformats.org/officeDocument/2006/relationships/hyperlink" Target="https://www.dezeen.com/2019/01/02/huawei-app-blind-facing-emotions/"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theregister.com/2024/02/15/air_canada_chatbot_fine/" TargetMode="External"/><Relationship Id="rId2" Type="http://schemas.openxmlformats.org/officeDocument/2006/relationships/hyperlink" Target="https://themarkup.org/news/2024/03/29/nycs-ai-chatbot-tells-businesses-to-break-the-law" TargetMode="External"/><Relationship Id="rId1" Type="http://schemas.openxmlformats.org/officeDocument/2006/relationships/slideLayout" Target="../slideLayouts/slideLayout2.xml"/><Relationship Id="rId5" Type="http://schemas.openxmlformats.org/officeDocument/2006/relationships/hyperlink" Target="https://www.eeoc.gov/newsroom/eeoc-sues-itutorgroup-age-discrimination" TargetMode="External"/><Relationship Id="rId4" Type="http://schemas.openxmlformats.org/officeDocument/2006/relationships/hyperlink" Target="https://www.gtlaw.com/en/insights/2023/8/eeoc-secures-first-workplace-artificial-intelligence-settlem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AI Use cases - Mistakes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44047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0750-FD4E-1574-3866-3925ECF9BB7A}"/>
              </a:ext>
            </a:extLst>
          </p:cNvPr>
          <p:cNvSpPr>
            <a:spLocks noGrp="1"/>
          </p:cNvSpPr>
          <p:nvPr>
            <p:ph type="title"/>
          </p:nvPr>
        </p:nvSpPr>
        <p:spPr/>
        <p:txBody>
          <a:bodyPr/>
          <a:lstStyle/>
          <a:p>
            <a:r>
              <a:rPr lang="en-US" dirty="0"/>
              <a:t>Cool sites to learn principles of AI/ML</a:t>
            </a:r>
            <a:endParaRPr lang="en-IN" dirty="0"/>
          </a:p>
        </p:txBody>
      </p:sp>
      <p:sp>
        <p:nvSpPr>
          <p:cNvPr id="3" name="Content Placeholder 2">
            <a:extLst>
              <a:ext uri="{FF2B5EF4-FFF2-40B4-BE49-F238E27FC236}">
                <a16:creationId xmlns:a16="http://schemas.microsoft.com/office/drawing/2014/main" id="{52F1335D-B245-2470-0720-2C2932685A62}"/>
              </a:ext>
            </a:extLst>
          </p:cNvPr>
          <p:cNvSpPr>
            <a:spLocks noGrp="1"/>
          </p:cNvSpPr>
          <p:nvPr>
            <p:ph idx="1"/>
          </p:nvPr>
        </p:nvSpPr>
        <p:spPr/>
        <p:txBody>
          <a:bodyPr/>
          <a:lstStyle/>
          <a:p>
            <a:r>
              <a:rPr lang="en-IN" dirty="0">
                <a:hlinkClick r:id="rId2"/>
              </a:rPr>
              <a:t>https://teachablemachine.withgoogle.com/</a:t>
            </a:r>
            <a:endParaRPr lang="en-IN" dirty="0"/>
          </a:p>
          <a:p>
            <a:r>
              <a:rPr lang="en-IN"/>
              <a:t>https://www.youtube.com/watch?v=gn4nRCC9TwQ</a:t>
            </a:r>
          </a:p>
        </p:txBody>
      </p:sp>
    </p:spTree>
    <p:extLst>
      <p:ext uri="{BB962C8B-B14F-4D97-AF65-F5344CB8AC3E}">
        <p14:creationId xmlns:p14="http://schemas.microsoft.com/office/powerpoint/2010/main" val="292375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Domains where AI is used</a:t>
            </a:r>
          </a:p>
        </p:txBody>
      </p:sp>
      <p:sp>
        <p:nvSpPr>
          <p:cNvPr id="3" name="Content Placeholder 2"/>
          <p:cNvSpPr>
            <a:spLocks noGrp="1"/>
          </p:cNvSpPr>
          <p:nvPr>
            <p:ph idx="1"/>
          </p:nvPr>
        </p:nvSpPr>
        <p:spPr/>
        <p:txBody>
          <a:bodyPr/>
          <a:lstStyle/>
          <a:p>
            <a:pPr marL="514350" indent="-514350">
              <a:buFont typeface="+mj-lt"/>
              <a:buAutoNum type="arabicPeriod"/>
            </a:pPr>
            <a:r>
              <a:rPr lang="en-US" dirty="0"/>
              <a:t>Medical</a:t>
            </a:r>
          </a:p>
          <a:p>
            <a:pPr marL="514350" indent="-514350">
              <a:buFont typeface="+mj-lt"/>
              <a:buAutoNum type="arabicPeriod"/>
            </a:pPr>
            <a:r>
              <a:rPr lang="en-US" dirty="0"/>
              <a:t>Education</a:t>
            </a:r>
          </a:p>
          <a:p>
            <a:pPr marL="514350" indent="-514350">
              <a:buFont typeface="+mj-lt"/>
              <a:buAutoNum type="arabicPeriod"/>
            </a:pPr>
            <a:r>
              <a:rPr lang="en-US" dirty="0"/>
              <a:t>Insurance &amp; Banking</a:t>
            </a:r>
          </a:p>
          <a:p>
            <a:pPr marL="514350" indent="-514350">
              <a:buFont typeface="+mj-lt"/>
              <a:buAutoNum type="arabicPeriod"/>
            </a:pPr>
            <a:r>
              <a:rPr lang="en-US" dirty="0"/>
              <a:t>Finance &amp; marketing</a:t>
            </a:r>
          </a:p>
          <a:p>
            <a:pPr marL="514350" indent="-514350">
              <a:buFont typeface="+mj-lt"/>
              <a:buAutoNum type="arabicPeriod"/>
            </a:pPr>
            <a:r>
              <a:rPr lang="en-US" dirty="0"/>
              <a:t>Quality Control</a:t>
            </a:r>
          </a:p>
          <a:p>
            <a:pPr marL="514350" indent="-514350">
              <a:buFont typeface="+mj-lt"/>
              <a:buAutoNum type="arabicPeriod"/>
            </a:pPr>
            <a:r>
              <a:rPr lang="en-US" dirty="0"/>
              <a:t>Regulatory Compliance</a:t>
            </a:r>
          </a:p>
          <a:p>
            <a:pPr marL="514350" indent="-514350">
              <a:buFont typeface="+mj-lt"/>
              <a:buAutoNum type="arabicPeriod"/>
            </a:pPr>
            <a:r>
              <a:rPr lang="en-US" dirty="0"/>
              <a:t>Automotive &amp; Manufacturing</a:t>
            </a:r>
          </a:p>
          <a:p>
            <a:pPr marL="514350" indent="-514350">
              <a:buFont typeface="+mj-lt"/>
              <a:buAutoNum type="arabicPeriod"/>
            </a:pPr>
            <a:r>
              <a:rPr lang="en-US" dirty="0"/>
              <a:t>Others (Mechanical Engineering, Civil engineering,)</a:t>
            </a:r>
          </a:p>
        </p:txBody>
      </p:sp>
    </p:spTree>
    <p:extLst>
      <p:ext uri="{BB962C8B-B14F-4D97-AF65-F5344CB8AC3E}">
        <p14:creationId xmlns:p14="http://schemas.microsoft.com/office/powerpoint/2010/main" val="3657490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735"/>
            <a:ext cx="4698534" cy="725444"/>
          </a:xfrm>
        </p:spPr>
        <p:txBody>
          <a:bodyPr/>
          <a:lstStyle/>
          <a:p>
            <a:pPr algn="ctr"/>
            <a:r>
              <a:rPr lang="en-US" dirty="0"/>
              <a:t>1. Medical</a:t>
            </a:r>
          </a:p>
        </p:txBody>
      </p:sp>
      <p:sp>
        <p:nvSpPr>
          <p:cNvPr id="3" name="Content Placeholder 2"/>
          <p:cNvSpPr>
            <a:spLocks noGrp="1"/>
          </p:cNvSpPr>
          <p:nvPr>
            <p:ph idx="1"/>
          </p:nvPr>
        </p:nvSpPr>
        <p:spPr>
          <a:xfrm>
            <a:off x="125134" y="978336"/>
            <a:ext cx="8356135" cy="5791580"/>
          </a:xfrm>
        </p:spPr>
        <p:txBody>
          <a:bodyPr>
            <a:normAutofit fontScale="55000" lnSpcReduction="20000"/>
          </a:bodyPr>
          <a:lstStyle/>
          <a:p>
            <a:r>
              <a:rPr lang="en-US" dirty="0"/>
              <a:t>Medical Diagnosis: A doctor cannot remember as much as computer. </a:t>
            </a:r>
          </a:p>
          <a:p>
            <a:pPr fontAlgn="ctr"/>
            <a:r>
              <a:rPr lang="en-US" dirty="0"/>
              <a:t>Drug Discovery: </a:t>
            </a:r>
          </a:p>
          <a:p>
            <a:pPr marL="514350" indent="-514350" fontAlgn="ctr">
              <a:buFont typeface="+mj-lt"/>
              <a:buAutoNum type="arabicPeriod"/>
            </a:pPr>
            <a:r>
              <a:rPr lang="en-US" b="1" dirty="0"/>
              <a:t>Target identification</a:t>
            </a:r>
            <a:r>
              <a:rPr lang="en-US" dirty="0"/>
              <a:t>: AI can analyze large amounts of data to find targets that could interact with a drug </a:t>
            </a:r>
          </a:p>
          <a:p>
            <a:pPr marL="514350" indent="-514350" fontAlgn="ctr">
              <a:buFont typeface="+mj-lt"/>
              <a:buAutoNum type="arabicPeriod"/>
            </a:pPr>
            <a:r>
              <a:rPr lang="en-US" b="1" dirty="0"/>
              <a:t>Virtual screening</a:t>
            </a:r>
            <a:r>
              <a:rPr lang="en-US" dirty="0"/>
              <a:t>: AI can speed up the process of virtual screening by reducing false positives </a:t>
            </a:r>
          </a:p>
          <a:p>
            <a:pPr marL="514350" indent="-514350" fontAlgn="ctr">
              <a:buFont typeface="+mj-lt"/>
              <a:buAutoNum type="arabicPeriod"/>
            </a:pPr>
            <a:r>
              <a:rPr lang="en-US" b="1" dirty="0"/>
              <a:t>Predicting drug toxicity</a:t>
            </a:r>
            <a:r>
              <a:rPr lang="en-US" dirty="0"/>
              <a:t>: AI can help predict how toxic a drug might be </a:t>
            </a:r>
          </a:p>
          <a:p>
            <a:pPr marL="514350" indent="-514350" fontAlgn="ctr">
              <a:buFont typeface="+mj-lt"/>
              <a:buAutoNum type="arabicPeriod"/>
            </a:pPr>
            <a:r>
              <a:rPr lang="en-US" b="1" dirty="0"/>
              <a:t>Clinical trial design</a:t>
            </a:r>
            <a:r>
              <a:rPr lang="en-US" dirty="0"/>
              <a:t>: AI can help design clinical trials that are more likely to succeed </a:t>
            </a:r>
          </a:p>
          <a:p>
            <a:pPr marL="514350" indent="-514350" fontAlgn="ctr">
              <a:buFont typeface="+mj-lt"/>
              <a:buAutoNum type="arabicPeriod"/>
            </a:pPr>
            <a:r>
              <a:rPr lang="en-US" b="1" dirty="0"/>
              <a:t>Personalized drug dosing</a:t>
            </a:r>
            <a:r>
              <a:rPr lang="en-US" dirty="0"/>
              <a:t>: AI can help determine the best dose of a drug for a patient </a:t>
            </a:r>
          </a:p>
          <a:p>
            <a:pPr marL="514350" indent="-514350" fontAlgn="ctr">
              <a:buFont typeface="+mj-lt"/>
              <a:buAutoNum type="arabicPeriod"/>
            </a:pPr>
            <a:r>
              <a:rPr lang="en-US" b="1" dirty="0"/>
              <a:t>Drug molecule discovery</a:t>
            </a:r>
            <a:r>
              <a:rPr lang="en-US" dirty="0"/>
              <a:t>: AI can help design new drug molecules </a:t>
            </a:r>
          </a:p>
          <a:p>
            <a:pPr marL="514350" indent="-514350">
              <a:buFont typeface="+mj-lt"/>
              <a:buAutoNum type="arabicPeriod"/>
            </a:pPr>
            <a:r>
              <a:rPr lang="en-US" b="1" dirty="0"/>
              <a:t>Drug-target interaction predictions</a:t>
            </a:r>
            <a:r>
              <a:rPr lang="en-US" dirty="0"/>
              <a:t>: AI can help predict how a drug will interact with a target</a:t>
            </a:r>
          </a:p>
          <a:p>
            <a:endParaRPr lang="en-US" dirty="0"/>
          </a:p>
          <a:p>
            <a:r>
              <a:rPr lang="en-US" dirty="0"/>
              <a:t>Patient Experience: Give personalized treatments, etc.</a:t>
            </a:r>
          </a:p>
          <a:p>
            <a:r>
              <a:rPr lang="en-US" dirty="0"/>
              <a:t>Healthcare Data Management : process and use huge data</a:t>
            </a:r>
          </a:p>
          <a:p>
            <a:r>
              <a:rPr lang="en-US" dirty="0"/>
              <a:t>Medical Discovery: Life’s chemical building blocks are 20 amino acids. Scientists utilized AI to successfully solve a problem 50 years old problem: </a:t>
            </a:r>
            <a:r>
              <a:rPr lang="en-US" b="1" dirty="0"/>
              <a:t>predicting the three-dimensional structure of a protein from a sequence of amino acids.</a:t>
            </a:r>
            <a:r>
              <a:rPr lang="en-US" dirty="0"/>
              <a:t> This has allowed them to predict the structure of almost all 200 million known proteins. Also developed computerized methods for achieving what many people believed was impossible: creating proteins that did not previously exist and which, in many cases, have entirely new functions.</a:t>
            </a:r>
          </a:p>
          <a:p>
            <a:endParaRPr lang="en-US" dirty="0"/>
          </a:p>
        </p:txBody>
      </p:sp>
      <p:pic>
        <p:nvPicPr>
          <p:cNvPr id="5" name="Picture 4">
            <a:extLst>
              <a:ext uri="{FF2B5EF4-FFF2-40B4-BE49-F238E27FC236}">
                <a16:creationId xmlns:a16="http://schemas.microsoft.com/office/drawing/2014/main" id="{F255A29F-6E52-FB55-619C-245BA36B6C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8543" y="729840"/>
            <a:ext cx="3421812" cy="2214949"/>
          </a:xfrm>
          <a:prstGeom prst="rect">
            <a:avLst/>
          </a:prstGeom>
        </p:spPr>
      </p:pic>
    </p:spTree>
    <p:extLst>
      <p:ext uri="{BB962C8B-B14F-4D97-AF65-F5344CB8AC3E}">
        <p14:creationId xmlns:p14="http://schemas.microsoft.com/office/powerpoint/2010/main" val="160294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011"/>
            <a:ext cx="10515600" cy="683499"/>
          </a:xfrm>
        </p:spPr>
        <p:txBody>
          <a:bodyPr>
            <a:normAutofit fontScale="90000"/>
          </a:bodyPr>
          <a:lstStyle/>
          <a:p>
            <a:pPr algn="ctr"/>
            <a:r>
              <a:rPr lang="en-US" dirty="0"/>
              <a:t>2. Education</a:t>
            </a:r>
          </a:p>
        </p:txBody>
      </p:sp>
      <p:sp>
        <p:nvSpPr>
          <p:cNvPr id="3" name="Content Placeholder 2"/>
          <p:cNvSpPr>
            <a:spLocks noGrp="1"/>
          </p:cNvSpPr>
          <p:nvPr>
            <p:ph idx="1"/>
          </p:nvPr>
        </p:nvSpPr>
        <p:spPr>
          <a:xfrm>
            <a:off x="58723" y="830510"/>
            <a:ext cx="12046591" cy="5346453"/>
          </a:xfrm>
        </p:spPr>
        <p:txBody>
          <a:bodyPr>
            <a:normAutofit fontScale="55000" lnSpcReduction="20000"/>
          </a:bodyPr>
          <a:lstStyle/>
          <a:p>
            <a:pPr fontAlgn="base"/>
            <a:r>
              <a:rPr lang="en-US" b="1" dirty="0"/>
              <a:t>Intelligent tutoring systems: </a:t>
            </a:r>
            <a:r>
              <a:rPr lang="en-US" dirty="0"/>
              <a:t>AI-powered tutoring systems leverage algorithms to offer students personalized and real-time feedback. As students engage with learning resources, the AI analyzes their responses, identifies areas of difficulty, and tailors explanations to enhance comprehension. This individualized approach helps bridge gaps in understanding, adapting the learning pace accordingly. By providing immediate assistance and adapting to diverse learning styles, these systems empower students to grasp complex concepts more effectively. The continuous interaction with AI fosters a dynamic learning environment, boosting student confidence and overall academic performance.</a:t>
            </a:r>
          </a:p>
          <a:p>
            <a:pPr fontAlgn="base"/>
            <a:r>
              <a:rPr lang="en-US" b="1" dirty="0"/>
              <a:t>Automated grading and assessment: </a:t>
            </a:r>
            <a:r>
              <a:rPr lang="en-US" dirty="0"/>
              <a:t>AI streamlines the grading system by analyzing student work and offering swift and consistent evaluations. It lightens educators’ burdens, allowing them to concentrate on personalized guidance. </a:t>
            </a:r>
          </a:p>
          <a:p>
            <a:pPr fontAlgn="base"/>
            <a:r>
              <a:rPr lang="en-US" b="1" dirty="0" err="1"/>
              <a:t>Chatbots</a:t>
            </a:r>
            <a:r>
              <a:rPr lang="en-US" b="1" dirty="0"/>
              <a:t> and virtual assistants: </a:t>
            </a:r>
            <a:r>
              <a:rPr lang="en-US" dirty="0"/>
              <a:t>AI-driven </a:t>
            </a:r>
            <a:r>
              <a:rPr lang="en-US" dirty="0" err="1"/>
              <a:t>chatbots</a:t>
            </a:r>
            <a:r>
              <a:rPr lang="en-US" dirty="0"/>
              <a:t> and virtual assistants are pivotal in bolstering students’ learning experiences. These intelligent systems offer prompt aid, guiding students through homework tasks, addressing queries, and offering valuable feedback. These tools are available round-the-clock.</a:t>
            </a:r>
          </a:p>
          <a:p>
            <a:pPr fontAlgn="base"/>
            <a:r>
              <a:rPr lang="en-US" b="1" dirty="0"/>
              <a:t>Curriculum planning: </a:t>
            </a:r>
            <a:r>
              <a:rPr lang="en-US" dirty="0"/>
              <a:t>AI assists in curriculum planning by analyzing educational data to identify trends and gaps in learning outcomes. It can suggest updates and adjustments to curricula based on real-time insights and evolving educational standards. </a:t>
            </a:r>
          </a:p>
          <a:p>
            <a:pPr fontAlgn="base"/>
            <a:r>
              <a:rPr lang="en-US" b="1" dirty="0"/>
              <a:t>Proctoring: </a:t>
            </a:r>
            <a:r>
              <a:rPr lang="en-US" dirty="0"/>
              <a:t>AI plays a pivotal role in overseeing online exams, effectively curbing cheating and promoting fairness. AI is consistent with all students, so there is no bias. The student can take as many exams/interviews to practice. </a:t>
            </a:r>
          </a:p>
          <a:p>
            <a:pPr fontAlgn="base"/>
            <a:r>
              <a:rPr lang="en-US" b="1" dirty="0"/>
              <a:t>Dyslexia detection: </a:t>
            </a:r>
            <a:r>
              <a:rPr lang="en-US" dirty="0"/>
              <a:t>offers a valuable solution for the early detection of dyslexia in children who struggle with reading and writing. These youngsters often exhibit difficulties in concentration and irregular eye movements, deviating from the typical left-to-right, top-to-bottom reading pattern. Data can be collected and analyzed by incorporating sensors within the display unit to track eye movements. This data can then be compared to vast datasets stored in a big data repository to assess the degree of attention deficiency promptly. This streamlined approach accelerates the identification process, enabling quicker access to medical and intervention support.</a:t>
            </a:r>
          </a:p>
          <a:p>
            <a:pPr fontAlgn="base"/>
            <a:r>
              <a:rPr lang="en-US" b="1" dirty="0"/>
              <a:t>Challenge</a:t>
            </a:r>
            <a:r>
              <a:rPr lang="en-US" dirty="0"/>
              <a:t>: High volume of applications and time-consuming manual review. </a:t>
            </a:r>
            <a:r>
              <a:rPr lang="en-US" b="1" dirty="0"/>
              <a:t>Solution</a:t>
            </a:r>
            <a:r>
              <a:rPr lang="en-US" dirty="0"/>
              <a:t>: Automated application screening using AI algorithms to identify qualified candidates based on predefined criteria quickly.</a:t>
            </a:r>
          </a:p>
          <a:p>
            <a:pPr fontAlgn="base"/>
            <a:r>
              <a:rPr lang="en-US" b="1" dirty="0"/>
              <a:t>Challenge</a:t>
            </a:r>
            <a:r>
              <a:rPr lang="en-US" dirty="0"/>
              <a:t>: Balancing demand for popular courses and allocating resources efficiently. </a:t>
            </a:r>
            <a:r>
              <a:rPr lang="en-US" b="1" dirty="0"/>
              <a:t>Solution</a:t>
            </a:r>
            <a:r>
              <a:rPr lang="en-US" dirty="0"/>
              <a:t>:  </a:t>
            </a:r>
            <a:r>
              <a:rPr lang="en-US" b="1" dirty="0"/>
              <a:t>Predictive analytics</a:t>
            </a:r>
            <a:r>
              <a:rPr lang="en-US" dirty="0"/>
              <a:t> to forecast course demand and optimize scheduling to ensure resource utilization.</a:t>
            </a:r>
          </a:p>
          <a:p>
            <a:pPr marL="0" indent="0" fontAlgn="base">
              <a:buNone/>
            </a:pPr>
            <a:endParaRPr lang="en-US" dirty="0"/>
          </a:p>
          <a:p>
            <a:pPr fontAlgn="base"/>
            <a:endParaRPr lang="en-US" dirty="0"/>
          </a:p>
          <a:p>
            <a:pPr fontAlgn="base"/>
            <a:endParaRPr lang="en-US" dirty="0"/>
          </a:p>
          <a:p>
            <a:endParaRPr lang="en-US" dirty="0"/>
          </a:p>
        </p:txBody>
      </p:sp>
    </p:spTree>
    <p:extLst>
      <p:ext uri="{BB962C8B-B14F-4D97-AF65-F5344CB8AC3E}">
        <p14:creationId xmlns:p14="http://schemas.microsoft.com/office/powerpoint/2010/main" val="3974475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3. Insurance and Banking </a:t>
            </a:r>
          </a:p>
        </p:txBody>
      </p:sp>
      <p:sp>
        <p:nvSpPr>
          <p:cNvPr id="3" name="Content Placeholder 2"/>
          <p:cNvSpPr>
            <a:spLocks noGrp="1"/>
          </p:cNvSpPr>
          <p:nvPr>
            <p:ph idx="1"/>
          </p:nvPr>
        </p:nvSpPr>
        <p:spPr/>
        <p:txBody>
          <a:bodyPr/>
          <a:lstStyle/>
          <a:p>
            <a:r>
              <a:rPr lang="en-US" dirty="0"/>
              <a:t>Fraud detection and prevention: Identify anomalies and take necessary action. Like cancel credit card in case of out of normal transactions</a:t>
            </a:r>
          </a:p>
          <a:p>
            <a:r>
              <a:rPr lang="en-US" dirty="0"/>
              <a:t>Credit Decision Making: Based on customers stats, determine how risky is the credit offered to the customer.</a:t>
            </a:r>
          </a:p>
        </p:txBody>
      </p:sp>
    </p:spTree>
    <p:extLst>
      <p:ext uri="{BB962C8B-B14F-4D97-AF65-F5344CB8AC3E}">
        <p14:creationId xmlns:p14="http://schemas.microsoft.com/office/powerpoint/2010/main" val="910854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297"/>
            <a:ext cx="10515600" cy="636361"/>
          </a:xfrm>
        </p:spPr>
        <p:txBody>
          <a:bodyPr>
            <a:normAutofit fontScale="90000"/>
          </a:bodyPr>
          <a:lstStyle/>
          <a:p>
            <a:pPr algn="ctr"/>
            <a:r>
              <a:rPr lang="en-US" dirty="0"/>
              <a:t>4. Finance &amp; Marketing</a:t>
            </a:r>
          </a:p>
        </p:txBody>
      </p:sp>
      <p:sp>
        <p:nvSpPr>
          <p:cNvPr id="3" name="Content Placeholder 2"/>
          <p:cNvSpPr>
            <a:spLocks noGrp="1"/>
          </p:cNvSpPr>
          <p:nvPr>
            <p:ph idx="1"/>
          </p:nvPr>
        </p:nvSpPr>
        <p:spPr>
          <a:xfrm>
            <a:off x="326570" y="900338"/>
            <a:ext cx="5802087" cy="5761719"/>
          </a:xfrm>
        </p:spPr>
        <p:txBody>
          <a:bodyPr>
            <a:normAutofit fontScale="85000" lnSpcReduction="20000"/>
          </a:bodyPr>
          <a:lstStyle/>
          <a:p>
            <a:r>
              <a:rPr lang="en-US" dirty="0"/>
              <a:t>Portfolio management: AI can analyze market conditions and economic indicators to help investors make better decisions and optimize their portfolios. </a:t>
            </a:r>
          </a:p>
          <a:p>
            <a:r>
              <a:rPr lang="en-US" dirty="0"/>
              <a:t>Predictive analytics: AI can enable predictive modeling, which can help financial organizations anticipate market trends, potential risks and customer behavior.</a:t>
            </a:r>
          </a:p>
          <a:p>
            <a:r>
              <a:rPr lang="en-US" dirty="0"/>
              <a:t>Speech recognition. ...</a:t>
            </a:r>
          </a:p>
          <a:p>
            <a:r>
              <a:rPr lang="en-US" dirty="0"/>
              <a:t>Sentiment analysis. ...</a:t>
            </a:r>
          </a:p>
          <a:p>
            <a:r>
              <a:rPr lang="en-US" dirty="0"/>
              <a:t>Anomaly detection. ...</a:t>
            </a:r>
          </a:p>
          <a:p>
            <a:r>
              <a:rPr lang="en-US" dirty="0"/>
              <a:t>Anti-money laundering. ...</a:t>
            </a:r>
          </a:p>
          <a:p>
            <a:r>
              <a:rPr lang="en-US" dirty="0"/>
              <a:t>Recommendations. ...</a:t>
            </a:r>
          </a:p>
          <a:p>
            <a:r>
              <a:rPr lang="en-US" dirty="0"/>
              <a:t>Translation. ...</a:t>
            </a:r>
          </a:p>
          <a:p>
            <a:r>
              <a:rPr lang="en-US" dirty="0"/>
              <a:t>Document processing. ...</a:t>
            </a:r>
          </a:p>
          <a:p>
            <a:r>
              <a:rPr lang="en-US" dirty="0"/>
              <a:t>Fraud mitigation with image recognition.</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2225" y="2144485"/>
            <a:ext cx="5752869" cy="3386817"/>
          </a:xfrm>
          <a:prstGeom prst="rect">
            <a:avLst/>
          </a:prstGeom>
        </p:spPr>
      </p:pic>
    </p:spTree>
    <p:extLst>
      <p:ext uri="{BB962C8B-B14F-4D97-AF65-F5344CB8AC3E}">
        <p14:creationId xmlns:p14="http://schemas.microsoft.com/office/powerpoint/2010/main" val="3704057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5. Quality Control</a:t>
            </a:r>
          </a:p>
        </p:txBody>
      </p:sp>
      <p:sp>
        <p:nvSpPr>
          <p:cNvPr id="3" name="Content Placeholder 2"/>
          <p:cNvSpPr>
            <a:spLocks noGrp="1"/>
          </p:cNvSpPr>
          <p:nvPr>
            <p:ph idx="1"/>
          </p:nvPr>
        </p:nvSpPr>
        <p:spPr/>
        <p:txBody>
          <a:bodyPr/>
          <a:lstStyle/>
          <a:p>
            <a:r>
              <a:rPr lang="en-US" b="1" dirty="0"/>
              <a:t>Reduces human error</a:t>
            </a:r>
            <a:r>
              <a:rPr lang="en-US" dirty="0"/>
              <a:t>: AI can spot errors and not get fatigued</a:t>
            </a:r>
          </a:p>
          <a:p>
            <a:r>
              <a:rPr lang="en-US" b="1" dirty="0"/>
              <a:t>Improves brand reputation</a:t>
            </a:r>
            <a:r>
              <a:rPr lang="en-US" dirty="0"/>
              <a:t>:  AI can identify product defects before the product is sent to the customer. Example from Optical Lab</a:t>
            </a:r>
          </a:p>
          <a:p>
            <a:r>
              <a:rPr lang="en-US" b="1" dirty="0"/>
              <a:t>Helps meet regulations</a:t>
            </a:r>
            <a:r>
              <a:rPr lang="en-US" dirty="0"/>
              <a:t>: Many parts and products must meet stringent regulations, and AI helps companies do so by flagging any </a:t>
            </a:r>
            <a:r>
              <a:rPr lang="en-US" u="sng" dirty="0">
                <a:hlinkClick r:id="rId2"/>
              </a:rPr>
              <a:t>compliance</a:t>
            </a:r>
            <a:r>
              <a:rPr lang="en-US" dirty="0"/>
              <a:t> issues or other problems.</a:t>
            </a:r>
          </a:p>
          <a:p>
            <a:r>
              <a:rPr lang="en-US" b="1" dirty="0"/>
              <a:t>Reduces waste</a:t>
            </a:r>
            <a:r>
              <a:rPr lang="en-US" dirty="0"/>
              <a:t>: ML can help prevent faulty ingredients and parts from entering downstream manufacturing. Removing these flawed inputs leads to fewer products that are rejected</a:t>
            </a:r>
          </a:p>
          <a:p>
            <a:endParaRPr lang="en-US" dirty="0"/>
          </a:p>
        </p:txBody>
      </p:sp>
    </p:spTree>
    <p:extLst>
      <p:ext uri="{BB962C8B-B14F-4D97-AF65-F5344CB8AC3E}">
        <p14:creationId xmlns:p14="http://schemas.microsoft.com/office/powerpoint/2010/main" val="2485536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6. Regulatory Compliance</a:t>
            </a:r>
          </a:p>
        </p:txBody>
      </p:sp>
      <p:sp>
        <p:nvSpPr>
          <p:cNvPr id="3" name="Content Placeholder 2"/>
          <p:cNvSpPr>
            <a:spLocks noGrp="1"/>
          </p:cNvSpPr>
          <p:nvPr>
            <p:ph idx="1"/>
          </p:nvPr>
        </p:nvSpPr>
        <p:spPr/>
        <p:txBody>
          <a:bodyPr/>
          <a:lstStyle/>
          <a:p>
            <a:r>
              <a:rPr lang="en-US" dirty="0"/>
              <a:t>It can swiftly sift through vast amounts of regulatory content to spot new requirements or updates to manage adherence to regulatory requirements. AI systems can be designed to stay updated with the latest regulatory changes, ensuring businesses remain compliant.</a:t>
            </a:r>
          </a:p>
        </p:txBody>
      </p:sp>
    </p:spTree>
    <p:extLst>
      <p:ext uri="{BB962C8B-B14F-4D97-AF65-F5344CB8AC3E}">
        <p14:creationId xmlns:p14="http://schemas.microsoft.com/office/powerpoint/2010/main" val="1169289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7. Automotive &amp; Manufacturing</a:t>
            </a:r>
          </a:p>
        </p:txBody>
      </p:sp>
      <p:sp>
        <p:nvSpPr>
          <p:cNvPr id="3" name="Content Placeholder 2"/>
          <p:cNvSpPr>
            <a:spLocks noGrp="1"/>
          </p:cNvSpPr>
          <p:nvPr>
            <p:ph idx="1"/>
          </p:nvPr>
        </p:nvSpPr>
        <p:spPr>
          <a:xfrm>
            <a:off x="852055" y="1825625"/>
            <a:ext cx="10515600" cy="4351338"/>
          </a:xfrm>
        </p:spPr>
        <p:txBody>
          <a:bodyPr/>
          <a:lstStyle/>
          <a:p>
            <a:r>
              <a:rPr lang="en-US" dirty="0"/>
              <a:t>Autonomous Vehicles:  navigating roads, avoiding obstacles, and taking crucial decisions. </a:t>
            </a:r>
          </a:p>
          <a:p>
            <a:r>
              <a:rPr lang="en-US" dirty="0"/>
              <a:t>Robots can autonomously pick parts, minimize human intervention, and speed up the manufacturing process.</a:t>
            </a:r>
          </a:p>
          <a:p>
            <a:r>
              <a:rPr lang="en-US" dirty="0"/>
              <a:t>AI in automotive manufacturing utilizes robots that alert humans in case of any unexpected machine failure, preventing any mishaps.</a:t>
            </a:r>
          </a:p>
          <a:p>
            <a:r>
              <a:rPr lang="en-US" dirty="0"/>
              <a:t>Generate new design</a:t>
            </a:r>
          </a:p>
          <a:p>
            <a:r>
              <a:rPr lang="en-US" dirty="0"/>
              <a:t>Manufacturing industry generates largest data.</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75964" y="4598827"/>
            <a:ext cx="2990312" cy="1713073"/>
          </a:xfrm>
          <a:prstGeom prst="rect">
            <a:avLst/>
          </a:prstGeom>
        </p:spPr>
      </p:pic>
    </p:spTree>
    <p:extLst>
      <p:ext uri="{BB962C8B-B14F-4D97-AF65-F5344CB8AC3E}">
        <p14:creationId xmlns:p14="http://schemas.microsoft.com/office/powerpoint/2010/main" val="142324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6"/>
            <a:ext cx="10515600" cy="745218"/>
          </a:xfrm>
        </p:spPr>
        <p:txBody>
          <a:bodyPr/>
          <a:lstStyle/>
          <a:p>
            <a:r>
              <a:rPr lang="en-US" dirty="0"/>
              <a:t>Object Recognition</a:t>
            </a:r>
          </a:p>
        </p:txBody>
      </p:sp>
      <p:pic>
        <p:nvPicPr>
          <p:cNvPr id="8" name="Content Placeholder 7"/>
          <p:cNvPicPr>
            <a:picLocks noGrp="1" noChangeAspect="1"/>
          </p:cNvPicPr>
          <p:nvPr>
            <p:ph idx="1"/>
          </p:nvPr>
        </p:nvPicPr>
        <p:blipFill>
          <a:blip r:embed="rId2"/>
          <a:stretch>
            <a:fillRect/>
          </a:stretch>
        </p:blipFill>
        <p:spPr>
          <a:xfrm>
            <a:off x="5957560" y="3332990"/>
            <a:ext cx="6234440" cy="3518895"/>
          </a:xfrm>
          <a:prstGeom prst="rect">
            <a:avLst/>
          </a:prstGeom>
        </p:spPr>
      </p:pic>
      <p:pic>
        <p:nvPicPr>
          <p:cNvPr id="7" name="Picture 6"/>
          <p:cNvPicPr>
            <a:picLocks noChangeAspect="1"/>
          </p:cNvPicPr>
          <p:nvPr/>
        </p:nvPicPr>
        <p:blipFill>
          <a:blip r:embed="rId3"/>
          <a:stretch>
            <a:fillRect/>
          </a:stretch>
        </p:blipFill>
        <p:spPr>
          <a:xfrm>
            <a:off x="1143" y="1376818"/>
            <a:ext cx="5902836" cy="3337785"/>
          </a:xfrm>
          <a:prstGeom prst="rect">
            <a:avLst/>
          </a:prstGeom>
        </p:spPr>
      </p:pic>
    </p:spTree>
    <p:extLst>
      <p:ext uri="{BB962C8B-B14F-4D97-AF65-F5344CB8AC3E}">
        <p14:creationId xmlns:p14="http://schemas.microsoft.com/office/powerpoint/2010/main" val="2992100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734"/>
            <a:ext cx="10515600" cy="733833"/>
          </a:xfrm>
        </p:spPr>
        <p:txBody>
          <a:bodyPr/>
          <a:lstStyle/>
          <a:p>
            <a:pPr algn="ctr"/>
            <a:r>
              <a:rPr lang="en-US" dirty="0"/>
              <a:t>8. Others</a:t>
            </a:r>
          </a:p>
        </p:txBody>
      </p:sp>
      <p:sp>
        <p:nvSpPr>
          <p:cNvPr id="3" name="Content Placeholder 2"/>
          <p:cNvSpPr>
            <a:spLocks noGrp="1"/>
          </p:cNvSpPr>
          <p:nvPr>
            <p:ph idx="1"/>
          </p:nvPr>
        </p:nvSpPr>
        <p:spPr>
          <a:xfrm>
            <a:off x="838200" y="1230006"/>
            <a:ext cx="10515600" cy="4351338"/>
          </a:xfrm>
        </p:spPr>
        <p:txBody>
          <a:bodyPr>
            <a:normAutofit fontScale="70000" lnSpcReduction="20000"/>
          </a:bodyPr>
          <a:lstStyle/>
          <a:p>
            <a:r>
              <a:rPr lang="en-US" dirty="0"/>
              <a:t>Walmart uses AI to forecast demand on products, evaluate previous sales data and manage inventory</a:t>
            </a:r>
          </a:p>
          <a:p>
            <a:r>
              <a:rPr lang="en-US" dirty="0"/>
              <a:t>Amazon </a:t>
            </a:r>
            <a:r>
              <a:rPr lang="en-US" dirty="0" err="1"/>
              <a:t>cobot</a:t>
            </a:r>
            <a:r>
              <a:rPr lang="en-US" dirty="0"/>
              <a:t> (</a:t>
            </a:r>
            <a:r>
              <a:rPr lang="en-US" b="1" dirty="0"/>
              <a:t>co</a:t>
            </a:r>
            <a:r>
              <a:rPr lang="en-US" dirty="0"/>
              <a:t>llaborative ro</a:t>
            </a:r>
            <a:r>
              <a:rPr lang="en-US" b="1" dirty="0"/>
              <a:t>bot</a:t>
            </a:r>
            <a:r>
              <a:rPr lang="en-US" dirty="0"/>
              <a:t>) uses ML for order fulfillment and streamline logistics.</a:t>
            </a:r>
          </a:p>
          <a:p>
            <a:r>
              <a:rPr lang="en-US" dirty="0"/>
              <a:t>Travel &amp;Tourism: </a:t>
            </a:r>
          </a:p>
          <a:p>
            <a:pPr marL="0" indent="0">
              <a:buNone/>
            </a:pPr>
            <a:r>
              <a:rPr lang="en-US" dirty="0"/>
              <a:t> 1. Use flight d/b to predict optimal hotel prices and flights while offering users personalized recommendations about the most suitable time to book a flight. </a:t>
            </a:r>
          </a:p>
          <a:p>
            <a:pPr marL="0" indent="0">
              <a:buNone/>
            </a:pPr>
            <a:r>
              <a:rPr lang="en-US" dirty="0"/>
              <a:t>2. When a traveler is tracking a flight, it provides recommendations on whether he/she should buy it now or wait for a better price.</a:t>
            </a:r>
          </a:p>
          <a:p>
            <a:pPr marL="0" indent="0">
              <a:buNone/>
            </a:pPr>
            <a:r>
              <a:rPr lang="en-US" dirty="0"/>
              <a:t>3. AI-powered luggage handling systems without baggage labels. </a:t>
            </a:r>
          </a:p>
          <a:p>
            <a:r>
              <a:rPr lang="en-US" dirty="0"/>
              <a:t>Flight forecasting</a:t>
            </a:r>
          </a:p>
          <a:p>
            <a:r>
              <a:rPr lang="en-US" dirty="0"/>
              <a:t>Landscape analysis: Predicting wild fires hotspots, </a:t>
            </a:r>
            <a:r>
              <a:rPr lang="en-US" dirty="0" err="1"/>
              <a:t>etc</a:t>
            </a:r>
            <a:endParaRPr lang="en-US" dirty="0"/>
          </a:p>
          <a:p>
            <a:r>
              <a:rPr lang="en-US" dirty="0"/>
              <a:t>Use in smart cities: Using image analysis of road, pavements, etc. make predictions on maintenance. Also predict energy needs, etc. Controlling pollutions by making prediction based on historic data. Traffic management by controlling light depending on number of vehicles, types of vehicles, </a:t>
            </a:r>
            <a:r>
              <a:rPr lang="en-US" dirty="0" err="1"/>
              <a:t>etc</a:t>
            </a:r>
            <a:endParaRPr lang="en-US" dirty="0"/>
          </a:p>
        </p:txBody>
      </p:sp>
    </p:spTree>
    <p:extLst>
      <p:ext uri="{BB962C8B-B14F-4D97-AF65-F5344CB8AC3E}">
        <p14:creationId xmlns:p14="http://schemas.microsoft.com/office/powerpoint/2010/main" val="2840731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582F9-B105-E5C8-6F3B-19A526F104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0BC1F-43AF-9CFE-0CA2-E91E69B1CBEE}"/>
              </a:ext>
            </a:extLst>
          </p:cNvPr>
          <p:cNvSpPr>
            <a:spLocks noGrp="1"/>
          </p:cNvSpPr>
          <p:nvPr>
            <p:ph type="title"/>
          </p:nvPr>
        </p:nvSpPr>
        <p:spPr>
          <a:xfrm>
            <a:off x="838200" y="105067"/>
            <a:ext cx="10515600" cy="624776"/>
          </a:xfrm>
        </p:spPr>
        <p:txBody>
          <a:bodyPr>
            <a:normAutofit fontScale="90000"/>
          </a:bodyPr>
          <a:lstStyle/>
          <a:p>
            <a:pPr algn="ctr"/>
            <a:r>
              <a:rPr lang="en-US" dirty="0"/>
              <a:t>8. Others(Mechanical </a:t>
            </a:r>
            <a:r>
              <a:rPr lang="en-US" dirty="0" err="1"/>
              <a:t>Engg</a:t>
            </a:r>
            <a:r>
              <a:rPr lang="en-US" dirty="0"/>
              <a:t>)</a:t>
            </a:r>
          </a:p>
        </p:txBody>
      </p:sp>
      <p:sp>
        <p:nvSpPr>
          <p:cNvPr id="5" name="Content Placeholder 4">
            <a:extLst>
              <a:ext uri="{FF2B5EF4-FFF2-40B4-BE49-F238E27FC236}">
                <a16:creationId xmlns:a16="http://schemas.microsoft.com/office/drawing/2014/main" id="{431D1F21-6666-A1AB-95B6-B5A667905E24}"/>
              </a:ext>
            </a:extLst>
          </p:cNvPr>
          <p:cNvSpPr>
            <a:spLocks noGrp="1"/>
          </p:cNvSpPr>
          <p:nvPr>
            <p:ph idx="1"/>
          </p:nvPr>
        </p:nvSpPr>
        <p:spPr>
          <a:xfrm>
            <a:off x="838200" y="1112560"/>
            <a:ext cx="10856053" cy="1437693"/>
          </a:xfrm>
        </p:spPr>
        <p:txBody>
          <a:bodyPr>
            <a:normAutofit/>
          </a:bodyPr>
          <a:lstStyle/>
          <a:p>
            <a:pPr marL="0" indent="0">
              <a:buNone/>
            </a:pPr>
            <a:r>
              <a:rPr lang="en-US" b="0" i="0" dirty="0">
                <a:solidFill>
                  <a:srgbClr val="001D35"/>
                </a:solidFill>
                <a:effectLst/>
                <a:latin typeface="Google Sans"/>
              </a:rPr>
              <a:t>Artificial intelligence (AI) is used in mechanical engineering to improve design, manufacturing, and maintenance. AI can also help with quality control, robotics, and supply chain management. </a:t>
            </a:r>
            <a:endParaRPr lang="en-IN" dirty="0"/>
          </a:p>
        </p:txBody>
      </p:sp>
    </p:spTree>
    <p:extLst>
      <p:ext uri="{BB962C8B-B14F-4D97-AF65-F5344CB8AC3E}">
        <p14:creationId xmlns:p14="http://schemas.microsoft.com/office/powerpoint/2010/main" val="3421083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E8870-EC9C-8185-CA6E-AFACA960D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6FB84-8AB5-4169-B79B-566A32F06AF1}"/>
              </a:ext>
            </a:extLst>
          </p:cNvPr>
          <p:cNvSpPr>
            <a:spLocks noGrp="1"/>
          </p:cNvSpPr>
          <p:nvPr>
            <p:ph type="title"/>
          </p:nvPr>
        </p:nvSpPr>
        <p:spPr>
          <a:xfrm>
            <a:off x="838200" y="105067"/>
            <a:ext cx="10515600" cy="624776"/>
          </a:xfrm>
        </p:spPr>
        <p:txBody>
          <a:bodyPr>
            <a:normAutofit fontScale="90000"/>
          </a:bodyPr>
          <a:lstStyle/>
          <a:p>
            <a:pPr algn="ctr"/>
            <a:r>
              <a:rPr lang="en-US" dirty="0"/>
              <a:t>8. Others(Mechanical </a:t>
            </a:r>
            <a:r>
              <a:rPr lang="en-US" dirty="0" err="1"/>
              <a:t>Engg</a:t>
            </a:r>
            <a:r>
              <a:rPr lang="en-US" dirty="0"/>
              <a:t>)</a:t>
            </a:r>
          </a:p>
        </p:txBody>
      </p:sp>
      <p:sp>
        <p:nvSpPr>
          <p:cNvPr id="5" name="Content Placeholder 4">
            <a:extLst>
              <a:ext uri="{FF2B5EF4-FFF2-40B4-BE49-F238E27FC236}">
                <a16:creationId xmlns:a16="http://schemas.microsoft.com/office/drawing/2014/main" id="{23126E1F-99A7-7BDC-836D-8032306E81C9}"/>
              </a:ext>
            </a:extLst>
          </p:cNvPr>
          <p:cNvSpPr>
            <a:spLocks noGrp="1"/>
          </p:cNvSpPr>
          <p:nvPr>
            <p:ph idx="1"/>
          </p:nvPr>
        </p:nvSpPr>
        <p:spPr>
          <a:xfrm>
            <a:off x="838200" y="1112560"/>
            <a:ext cx="10856053" cy="1555139"/>
          </a:xfrm>
        </p:spPr>
        <p:txBody>
          <a:bodyPr>
            <a:normAutofit fontScale="77500" lnSpcReduction="20000"/>
          </a:bodyPr>
          <a:lstStyle/>
          <a:p>
            <a:pPr marL="0" indent="0">
              <a:buNone/>
            </a:pPr>
            <a:r>
              <a:rPr lang="en-US" dirty="0"/>
              <a:t>1. Design</a:t>
            </a:r>
          </a:p>
          <a:p>
            <a:r>
              <a:rPr lang="en-US" dirty="0"/>
              <a:t>Design optimization: AI can analyze many design parameters to find optimal configurations </a:t>
            </a:r>
          </a:p>
          <a:p>
            <a:r>
              <a:rPr lang="en-US" dirty="0"/>
              <a:t>Design automation: AI can automate complex design tasks </a:t>
            </a:r>
          </a:p>
          <a:p>
            <a:r>
              <a:rPr lang="en-US" dirty="0"/>
              <a:t>Virtual reality: AI can create immersive manufacturing environments for students </a:t>
            </a:r>
            <a:endParaRPr lang="en-IN" dirty="0"/>
          </a:p>
        </p:txBody>
      </p:sp>
      <p:pic>
        <p:nvPicPr>
          <p:cNvPr id="7" name="Picture 6">
            <a:extLst>
              <a:ext uri="{FF2B5EF4-FFF2-40B4-BE49-F238E27FC236}">
                <a16:creationId xmlns:a16="http://schemas.microsoft.com/office/drawing/2014/main" id="{69B83EFF-CB4E-FBB3-3549-1EB667E51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0411" y="2835625"/>
            <a:ext cx="6098796" cy="4041259"/>
          </a:xfrm>
          <a:prstGeom prst="rect">
            <a:avLst/>
          </a:prstGeom>
        </p:spPr>
      </p:pic>
    </p:spTree>
    <p:extLst>
      <p:ext uri="{BB962C8B-B14F-4D97-AF65-F5344CB8AC3E}">
        <p14:creationId xmlns:p14="http://schemas.microsoft.com/office/powerpoint/2010/main" val="2196458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E18BF-EF35-1712-A28C-09945E989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5C5BB-885F-5F7A-2537-14EEFCB82436}"/>
              </a:ext>
            </a:extLst>
          </p:cNvPr>
          <p:cNvSpPr>
            <a:spLocks noGrp="1"/>
          </p:cNvSpPr>
          <p:nvPr>
            <p:ph type="title"/>
          </p:nvPr>
        </p:nvSpPr>
        <p:spPr>
          <a:xfrm>
            <a:off x="838200" y="105067"/>
            <a:ext cx="10515600" cy="624776"/>
          </a:xfrm>
        </p:spPr>
        <p:txBody>
          <a:bodyPr>
            <a:normAutofit fontScale="90000"/>
          </a:bodyPr>
          <a:lstStyle/>
          <a:p>
            <a:pPr algn="ctr"/>
            <a:r>
              <a:rPr lang="en-US" dirty="0"/>
              <a:t>8. Others(Mechanical </a:t>
            </a:r>
            <a:r>
              <a:rPr lang="en-US" dirty="0" err="1"/>
              <a:t>Engg</a:t>
            </a:r>
            <a:r>
              <a:rPr lang="en-US" dirty="0"/>
              <a:t>)</a:t>
            </a:r>
          </a:p>
        </p:txBody>
      </p:sp>
      <p:sp>
        <p:nvSpPr>
          <p:cNvPr id="5" name="Content Placeholder 4">
            <a:extLst>
              <a:ext uri="{FF2B5EF4-FFF2-40B4-BE49-F238E27FC236}">
                <a16:creationId xmlns:a16="http://schemas.microsoft.com/office/drawing/2014/main" id="{0ECCF9B8-9BFE-EB4B-2769-B40A5483351F}"/>
              </a:ext>
            </a:extLst>
          </p:cNvPr>
          <p:cNvSpPr>
            <a:spLocks noGrp="1"/>
          </p:cNvSpPr>
          <p:nvPr>
            <p:ph idx="1"/>
          </p:nvPr>
        </p:nvSpPr>
        <p:spPr>
          <a:xfrm>
            <a:off x="167780" y="629175"/>
            <a:ext cx="12024220" cy="2401600"/>
          </a:xfrm>
        </p:spPr>
        <p:txBody>
          <a:bodyPr>
            <a:normAutofit/>
          </a:bodyPr>
          <a:lstStyle/>
          <a:p>
            <a:pPr marL="0" indent="0">
              <a:buNone/>
            </a:pPr>
            <a:r>
              <a:rPr lang="en-US" dirty="0"/>
              <a:t>2. Manufacturing</a:t>
            </a:r>
          </a:p>
          <a:p>
            <a:r>
              <a:rPr lang="en-US" dirty="0"/>
              <a:t>Quality control: AI can detect defects and deviations in real time </a:t>
            </a:r>
          </a:p>
          <a:p>
            <a:r>
              <a:rPr lang="en-US" dirty="0"/>
              <a:t>Predictive maintenance: AI can predict when machinery is likely to fail </a:t>
            </a:r>
          </a:p>
          <a:p>
            <a:r>
              <a:rPr lang="en-US" dirty="0"/>
              <a:t>Manufacturing process optimization: AI can identify inefficiencies and suggest improvements </a:t>
            </a:r>
          </a:p>
        </p:txBody>
      </p:sp>
      <p:pic>
        <p:nvPicPr>
          <p:cNvPr id="9" name="Picture 8">
            <a:extLst>
              <a:ext uri="{FF2B5EF4-FFF2-40B4-BE49-F238E27FC236}">
                <a16:creationId xmlns:a16="http://schemas.microsoft.com/office/drawing/2014/main" id="{C0C407C4-0768-E0FD-D3F4-7EACB517FF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2313" y="3030774"/>
            <a:ext cx="6538286" cy="3627034"/>
          </a:xfrm>
          <a:prstGeom prst="rect">
            <a:avLst/>
          </a:prstGeom>
        </p:spPr>
      </p:pic>
    </p:spTree>
    <p:extLst>
      <p:ext uri="{BB962C8B-B14F-4D97-AF65-F5344CB8AC3E}">
        <p14:creationId xmlns:p14="http://schemas.microsoft.com/office/powerpoint/2010/main" val="1455508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10612-DE81-3E7A-AA25-8F187D4D3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6DDC1-4A36-A42E-97F9-B58E80D7D667}"/>
              </a:ext>
            </a:extLst>
          </p:cNvPr>
          <p:cNvSpPr>
            <a:spLocks noGrp="1"/>
          </p:cNvSpPr>
          <p:nvPr>
            <p:ph type="title"/>
          </p:nvPr>
        </p:nvSpPr>
        <p:spPr>
          <a:xfrm>
            <a:off x="838200" y="105067"/>
            <a:ext cx="10515600" cy="624776"/>
          </a:xfrm>
        </p:spPr>
        <p:txBody>
          <a:bodyPr>
            <a:normAutofit fontScale="90000"/>
          </a:bodyPr>
          <a:lstStyle/>
          <a:p>
            <a:pPr algn="ctr"/>
            <a:r>
              <a:rPr lang="en-US" dirty="0"/>
              <a:t>8. Others(Mechanical </a:t>
            </a:r>
            <a:r>
              <a:rPr lang="en-US" dirty="0" err="1"/>
              <a:t>Engg</a:t>
            </a:r>
            <a:r>
              <a:rPr lang="en-US" dirty="0"/>
              <a:t>)</a:t>
            </a:r>
          </a:p>
        </p:txBody>
      </p:sp>
      <p:sp>
        <p:nvSpPr>
          <p:cNvPr id="5" name="Content Placeholder 4">
            <a:extLst>
              <a:ext uri="{FF2B5EF4-FFF2-40B4-BE49-F238E27FC236}">
                <a16:creationId xmlns:a16="http://schemas.microsoft.com/office/drawing/2014/main" id="{90325360-4206-D18B-6DCB-1B4F72403B03}"/>
              </a:ext>
            </a:extLst>
          </p:cNvPr>
          <p:cNvSpPr>
            <a:spLocks noGrp="1"/>
          </p:cNvSpPr>
          <p:nvPr>
            <p:ph idx="1"/>
          </p:nvPr>
        </p:nvSpPr>
        <p:spPr>
          <a:xfrm>
            <a:off x="838200" y="1112560"/>
            <a:ext cx="10515600" cy="1764864"/>
          </a:xfrm>
        </p:spPr>
        <p:txBody>
          <a:bodyPr>
            <a:normAutofit fontScale="92500" lnSpcReduction="20000"/>
          </a:bodyPr>
          <a:lstStyle/>
          <a:p>
            <a:pPr marL="0" indent="0">
              <a:buNone/>
            </a:pPr>
            <a:r>
              <a:rPr lang="en-US" dirty="0"/>
              <a:t>3. Robotics </a:t>
            </a:r>
          </a:p>
          <a:p>
            <a:r>
              <a:rPr lang="en-US" dirty="0"/>
              <a:t>Robotic assembly: AI can help design robots that can perform complex tasks</a:t>
            </a:r>
          </a:p>
          <a:p>
            <a:r>
              <a:rPr lang="en-US" dirty="0"/>
              <a:t>Automated welding: AI can help design robots that can perform welding tasks</a:t>
            </a:r>
            <a:endParaRPr lang="en-IN" dirty="0"/>
          </a:p>
        </p:txBody>
      </p:sp>
      <p:pic>
        <p:nvPicPr>
          <p:cNvPr id="4" name="Picture 3">
            <a:extLst>
              <a:ext uri="{FF2B5EF4-FFF2-40B4-BE49-F238E27FC236}">
                <a16:creationId xmlns:a16="http://schemas.microsoft.com/office/drawing/2014/main" id="{6D812311-668B-71FB-30F3-4CCBD3E639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2411" y="3216384"/>
            <a:ext cx="5020739" cy="2968535"/>
          </a:xfrm>
          <a:prstGeom prst="rect">
            <a:avLst/>
          </a:prstGeom>
        </p:spPr>
      </p:pic>
    </p:spTree>
    <p:extLst>
      <p:ext uri="{BB962C8B-B14F-4D97-AF65-F5344CB8AC3E}">
        <p14:creationId xmlns:p14="http://schemas.microsoft.com/office/powerpoint/2010/main" val="3202816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9A028-E7D2-034D-09B3-BA0AB8E8B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0C72F-8BC1-A59E-CD63-3806D69B654C}"/>
              </a:ext>
            </a:extLst>
          </p:cNvPr>
          <p:cNvSpPr>
            <a:spLocks noGrp="1"/>
          </p:cNvSpPr>
          <p:nvPr>
            <p:ph type="title"/>
          </p:nvPr>
        </p:nvSpPr>
        <p:spPr>
          <a:xfrm>
            <a:off x="838200" y="105067"/>
            <a:ext cx="10515600" cy="624776"/>
          </a:xfrm>
        </p:spPr>
        <p:txBody>
          <a:bodyPr>
            <a:normAutofit fontScale="90000"/>
          </a:bodyPr>
          <a:lstStyle/>
          <a:p>
            <a:pPr algn="ctr"/>
            <a:r>
              <a:rPr lang="en-US" dirty="0"/>
              <a:t>8. Others(Mechanical </a:t>
            </a:r>
            <a:r>
              <a:rPr lang="en-US" dirty="0" err="1"/>
              <a:t>Engg</a:t>
            </a:r>
            <a:r>
              <a:rPr lang="en-US" dirty="0"/>
              <a:t>)</a:t>
            </a:r>
          </a:p>
        </p:txBody>
      </p:sp>
      <p:sp>
        <p:nvSpPr>
          <p:cNvPr id="5" name="Content Placeholder 4">
            <a:extLst>
              <a:ext uri="{FF2B5EF4-FFF2-40B4-BE49-F238E27FC236}">
                <a16:creationId xmlns:a16="http://schemas.microsoft.com/office/drawing/2014/main" id="{E2247EC6-E042-ED3E-78FF-406ECC8C8645}"/>
              </a:ext>
            </a:extLst>
          </p:cNvPr>
          <p:cNvSpPr>
            <a:spLocks noGrp="1"/>
          </p:cNvSpPr>
          <p:nvPr>
            <p:ph idx="1"/>
          </p:nvPr>
        </p:nvSpPr>
        <p:spPr>
          <a:xfrm>
            <a:off x="838200" y="1112560"/>
            <a:ext cx="10515600" cy="5472798"/>
          </a:xfrm>
        </p:spPr>
        <p:txBody>
          <a:bodyPr>
            <a:normAutofit/>
          </a:bodyPr>
          <a:lstStyle/>
          <a:p>
            <a:pPr marL="0" indent="0">
              <a:buNone/>
            </a:pPr>
            <a:r>
              <a:rPr lang="en-US" dirty="0"/>
              <a:t>For more visit:</a:t>
            </a:r>
          </a:p>
          <a:p>
            <a:pPr marL="0" indent="0">
              <a:buNone/>
            </a:pPr>
            <a:r>
              <a:rPr lang="en-US" dirty="0"/>
              <a:t>https://www.imeche.org/news/news-article/why-mechanical-engineers-should-learn-a.i</a:t>
            </a:r>
            <a:endParaRPr lang="en-IN" dirty="0"/>
          </a:p>
        </p:txBody>
      </p:sp>
    </p:spTree>
    <p:extLst>
      <p:ext uri="{BB962C8B-B14F-4D97-AF65-F5344CB8AC3E}">
        <p14:creationId xmlns:p14="http://schemas.microsoft.com/office/powerpoint/2010/main" val="4270421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749DF-70DD-C9CE-65FC-47C09BD358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DEC61-8495-29D2-19AB-5D814504A904}"/>
              </a:ext>
            </a:extLst>
          </p:cNvPr>
          <p:cNvSpPr>
            <a:spLocks noGrp="1"/>
          </p:cNvSpPr>
          <p:nvPr>
            <p:ph type="title"/>
          </p:nvPr>
        </p:nvSpPr>
        <p:spPr>
          <a:xfrm>
            <a:off x="838200" y="105067"/>
            <a:ext cx="10515600" cy="624776"/>
          </a:xfrm>
        </p:spPr>
        <p:txBody>
          <a:bodyPr>
            <a:normAutofit fontScale="90000"/>
          </a:bodyPr>
          <a:lstStyle/>
          <a:p>
            <a:pPr algn="ctr"/>
            <a:r>
              <a:rPr lang="en-US" dirty="0"/>
              <a:t>8. Others(Civil </a:t>
            </a:r>
            <a:r>
              <a:rPr lang="en-US" dirty="0" err="1"/>
              <a:t>Engg</a:t>
            </a:r>
            <a:r>
              <a:rPr lang="en-US" dirty="0"/>
              <a:t>)</a:t>
            </a:r>
          </a:p>
        </p:txBody>
      </p:sp>
      <p:sp>
        <p:nvSpPr>
          <p:cNvPr id="6" name="TextBox 5">
            <a:extLst>
              <a:ext uri="{FF2B5EF4-FFF2-40B4-BE49-F238E27FC236}">
                <a16:creationId xmlns:a16="http://schemas.microsoft.com/office/drawing/2014/main" id="{9DD877F9-44DE-F159-7609-EC40A758CE32}"/>
              </a:ext>
            </a:extLst>
          </p:cNvPr>
          <p:cNvSpPr txBox="1"/>
          <p:nvPr/>
        </p:nvSpPr>
        <p:spPr>
          <a:xfrm>
            <a:off x="276837" y="1107346"/>
            <a:ext cx="11618989" cy="286232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Artificial intelligence (AI) is used in civil engineering to improve efficiency, accuracy, and safety. AI can also help identify risks, optimize resources, and reduce waste.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Applications</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Project planning</a:t>
            </a:r>
            <a:r>
              <a:rPr kumimoji="0" lang="en-US" altLang="en-US" sz="1800" b="0" i="0" u="none" strike="noStrike" cap="none" normalizeH="0" baseline="0" dirty="0">
                <a:ln>
                  <a:noFill/>
                </a:ln>
                <a:solidFill>
                  <a:srgbClr val="001D35"/>
                </a:solidFill>
                <a:effectLst/>
                <a:latin typeface="Google Sans"/>
              </a:rPr>
              <a:t>: AI can help with scheduling, resource allocation, and project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Risk identification</a:t>
            </a:r>
            <a:r>
              <a:rPr kumimoji="0" lang="en-US" altLang="en-US" sz="1800" b="0" i="0" u="none" strike="noStrike" cap="none" normalizeH="0" baseline="0" dirty="0">
                <a:ln>
                  <a:noFill/>
                </a:ln>
                <a:solidFill>
                  <a:srgbClr val="001D35"/>
                </a:solidFill>
                <a:effectLst/>
                <a:latin typeface="Google Sans"/>
              </a:rPr>
              <a:t>: AI can identify potential hazards and predict maintenance needs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Geotechnical engineering</a:t>
            </a:r>
            <a:r>
              <a:rPr kumimoji="0" lang="en-US" altLang="en-US" sz="1800" b="0" i="0" u="none" strike="noStrike" cap="none" normalizeH="0" baseline="0" dirty="0">
                <a:ln>
                  <a:noFill/>
                </a:ln>
                <a:solidFill>
                  <a:srgbClr val="001D35"/>
                </a:solidFill>
                <a:effectLst/>
                <a:latin typeface="Google Sans"/>
              </a:rPr>
              <a:t>: AI can improve soil analysis and decision making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Smart city development</a:t>
            </a:r>
            <a:r>
              <a:rPr kumimoji="0" lang="en-US" altLang="en-US" sz="1800" b="0" i="0" u="none" strike="noStrike" cap="none" normalizeH="0" baseline="0" dirty="0">
                <a:ln>
                  <a:noFill/>
                </a:ln>
                <a:solidFill>
                  <a:srgbClr val="001D35"/>
                </a:solidFill>
                <a:effectLst/>
                <a:latin typeface="Google Sans"/>
              </a:rPr>
              <a:t>: AI can optimize resource use and improve urban services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Digital twin simulations</a:t>
            </a:r>
            <a:r>
              <a:rPr kumimoji="0" lang="en-US" altLang="en-US" sz="1800" b="0" i="0" u="none" strike="noStrike" cap="none" normalizeH="0" baseline="0" dirty="0">
                <a:ln>
                  <a:noFill/>
                </a:ln>
                <a:solidFill>
                  <a:srgbClr val="001D35"/>
                </a:solidFill>
                <a:effectLst/>
                <a:latin typeface="Google Sans"/>
              </a:rPr>
              <a:t>: AI can create virtual representations of structures to help identify design flaws and test materials </a:t>
            </a:r>
            <a:endParaRPr kumimoji="0" lang="en-US" altLang="en-US" sz="24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3101730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A2E03-9BFD-5DD9-D54B-B78880135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24548-2038-F391-C033-EEF64CE5CC83}"/>
              </a:ext>
            </a:extLst>
          </p:cNvPr>
          <p:cNvSpPr>
            <a:spLocks noGrp="1"/>
          </p:cNvSpPr>
          <p:nvPr>
            <p:ph type="title"/>
          </p:nvPr>
        </p:nvSpPr>
        <p:spPr>
          <a:xfrm>
            <a:off x="838200" y="105067"/>
            <a:ext cx="10515600" cy="624776"/>
          </a:xfrm>
        </p:spPr>
        <p:txBody>
          <a:bodyPr>
            <a:normAutofit fontScale="90000"/>
          </a:bodyPr>
          <a:lstStyle/>
          <a:p>
            <a:pPr algn="ctr"/>
            <a:r>
              <a:rPr lang="en-US" dirty="0"/>
              <a:t>8. Others(Civil </a:t>
            </a:r>
            <a:r>
              <a:rPr lang="en-US" dirty="0" err="1"/>
              <a:t>Engg</a:t>
            </a:r>
            <a:r>
              <a:rPr lang="en-US" dirty="0"/>
              <a:t>)</a:t>
            </a:r>
          </a:p>
        </p:txBody>
      </p:sp>
      <p:sp>
        <p:nvSpPr>
          <p:cNvPr id="4" name="TextBox 3">
            <a:extLst>
              <a:ext uri="{FF2B5EF4-FFF2-40B4-BE49-F238E27FC236}">
                <a16:creationId xmlns:a16="http://schemas.microsoft.com/office/drawing/2014/main" id="{A44051FE-0994-1D8E-3C2A-39ECADFDBF22}"/>
              </a:ext>
            </a:extLst>
          </p:cNvPr>
          <p:cNvSpPr txBox="1"/>
          <p:nvPr/>
        </p:nvSpPr>
        <p:spPr>
          <a:xfrm>
            <a:off x="285226" y="1157681"/>
            <a:ext cx="9720674" cy="1477328"/>
          </a:xfrm>
          <a:prstGeom prst="rect">
            <a:avLst/>
          </a:prstGeom>
          <a:noFill/>
        </p:spPr>
        <p:txBody>
          <a:bodyPr wrap="none" rtlCol="0">
            <a:spAutoFit/>
          </a:bodyPr>
          <a:lstStyle/>
          <a:p>
            <a:r>
              <a:rPr lang="en-US" dirty="0"/>
              <a:t>Benefits </a:t>
            </a:r>
          </a:p>
          <a:p>
            <a:pPr marL="342900" indent="-342900">
              <a:buFont typeface="+mj-lt"/>
              <a:buAutoNum type="arabicPeriod"/>
            </a:pPr>
            <a:r>
              <a:rPr lang="en-US" dirty="0"/>
              <a:t>Cost reduction: AI can reduce waste, optimize resources, and minimize delays</a:t>
            </a:r>
          </a:p>
          <a:p>
            <a:pPr marL="342900" indent="-342900">
              <a:buFont typeface="+mj-lt"/>
              <a:buAutoNum type="arabicPeriod"/>
            </a:pPr>
            <a:r>
              <a:rPr lang="en-US" dirty="0"/>
              <a:t>Safety improvements: AI can monitor construction sites and identify risks in real time</a:t>
            </a:r>
          </a:p>
          <a:p>
            <a:pPr marL="342900" indent="-342900">
              <a:buFont typeface="+mj-lt"/>
              <a:buAutoNum type="arabicPeriod"/>
            </a:pPr>
            <a:r>
              <a:rPr lang="en-US" dirty="0"/>
              <a:t>Enhanced efficiency: AI can automate repetitive tasks, freeing up engineers to focus on innovation</a:t>
            </a:r>
          </a:p>
          <a:p>
            <a:pPr marL="342900" indent="-342900">
              <a:buFont typeface="+mj-lt"/>
              <a:buAutoNum type="arabicPeriod"/>
            </a:pPr>
            <a:r>
              <a:rPr lang="en-US" dirty="0"/>
              <a:t>Improved accuracy: AI can eliminate human error in calculations and designs</a:t>
            </a:r>
            <a:endParaRPr lang="en-IN" dirty="0"/>
          </a:p>
        </p:txBody>
      </p:sp>
    </p:spTree>
    <p:extLst>
      <p:ext uri="{BB962C8B-B14F-4D97-AF65-F5344CB8AC3E}">
        <p14:creationId xmlns:p14="http://schemas.microsoft.com/office/powerpoint/2010/main" val="955491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2977"/>
            <a:ext cx="10515600" cy="748058"/>
          </a:xfrm>
        </p:spPr>
        <p:txBody>
          <a:bodyPr/>
          <a:lstStyle/>
          <a:p>
            <a:r>
              <a:rPr lang="en-US" dirty="0" err="1"/>
              <a:t>Misc</a:t>
            </a:r>
            <a:r>
              <a:rPr lang="en-US"/>
              <a:t>: Application </a:t>
            </a:r>
            <a:r>
              <a:rPr lang="en-US" dirty="0"/>
              <a:t>(Example)</a:t>
            </a:r>
          </a:p>
        </p:txBody>
      </p:sp>
      <p:sp>
        <p:nvSpPr>
          <p:cNvPr id="3" name="Content Placeholder 2"/>
          <p:cNvSpPr>
            <a:spLocks noGrp="1"/>
          </p:cNvSpPr>
          <p:nvPr>
            <p:ph idx="1"/>
          </p:nvPr>
        </p:nvSpPr>
        <p:spPr>
          <a:xfrm>
            <a:off x="214685" y="919175"/>
            <a:ext cx="11775881" cy="4351338"/>
          </a:xfrm>
        </p:spPr>
        <p:txBody>
          <a:bodyPr>
            <a:normAutofit fontScale="47500" lnSpcReduction="20000"/>
          </a:bodyPr>
          <a:lstStyle/>
          <a:p>
            <a:r>
              <a:rPr lang="en-US" dirty="0"/>
              <a:t>A group at Mount Sinai used deep learning-based AI algorithms to predict the development of diseases with 94% accuracy, including cancers of liver, rectum, and prostate</a:t>
            </a:r>
          </a:p>
          <a:p>
            <a:r>
              <a:rPr lang="en-US" dirty="0">
                <a:hlinkClick r:id="rId2" tooltip="http://worldbeeproject.org/world-bee-project-hive-network"/>
              </a:rPr>
              <a:t> The World Bee Project</a:t>
            </a:r>
            <a:r>
              <a:rPr lang="en-US" dirty="0"/>
              <a:t> is using </a:t>
            </a:r>
            <a:r>
              <a:rPr lang="en-US" dirty="0">
                <a:hlinkClick r:id="rId3" tooltip="https://www.bernardmarr.com/default.asp?contentID=2041"/>
              </a:rPr>
              <a:t>artificial intelligence to save the bees</a:t>
            </a:r>
            <a:r>
              <a:rPr lang="en-US" dirty="0"/>
              <a:t> The global bee population is in decline, and that's bad news for our planet and our food supply. In a partnership with Oracle, The World Bee Project hopes to learn how to help bees survive and thrive by gathering data through internet-of-things sensors, microphones, and cameras on hives. </a:t>
            </a:r>
          </a:p>
          <a:p>
            <a:r>
              <a:rPr lang="en-US" dirty="0"/>
              <a:t> </a:t>
            </a:r>
            <a:r>
              <a:rPr lang="en-US" dirty="0">
                <a:hlinkClick r:id="rId4" tooltip="https://www.dezeen.com/2019/01/02/huawei-app-blind-facing-emotions/"/>
              </a:rPr>
              <a:t>Facing Emotions</a:t>
            </a:r>
            <a:r>
              <a:rPr lang="en-US" dirty="0"/>
              <a:t>, AI app created by Huawei, translates emotion into short and simple sounds. The app assesses the emotion it sees on another's face to help blind people "see" the emotion of the person they are talking with. The app uses the rear camera on the phone to evaluate the nose, mouth, eyebrows and eyes, and artificial intelligence to analyze the expression on these facial features and what emotion they convey—contempt, anger, fear, disgust, sadness, happiness and surprise.</a:t>
            </a:r>
          </a:p>
          <a:p>
            <a:r>
              <a:rPr lang="en-US" dirty="0"/>
              <a:t>AI can also help educate and predict the impacts of climate change on different regions. Researchers from the Montreal Institute for Learning Algorithms (MILA) use GANs (generative adversarial networks) to simulate the damage of severe storms and rising sea levels.</a:t>
            </a:r>
          </a:p>
          <a:p>
            <a:r>
              <a:rPr lang="en-US" dirty="0"/>
              <a:t>In another effort to</a:t>
            </a:r>
            <a:r>
              <a:rPr lang="en-US" dirty="0">
                <a:hlinkClick r:id="rId5" tooltip="https://medium.com/builddie/the-role-of-artificial-intelligence-in-wildlife-conservation-5dc3af2b4222"/>
              </a:rPr>
              <a:t> halt the decline of endangered species by using AI</a:t>
            </a:r>
            <a:r>
              <a:rPr lang="en-US" dirty="0"/>
              <a:t>, the University of Southern California Center for Artificial Intelligence in Society uses an unmanned aerial vehicle to spot poachers and locate animals. The data collected by the drone is sent back to be analyzed by machine learning tools that use game theory to help predict poacher and animal activity. AI is also used by Wild Me and Microsoft to automatically recognize, log, and track endangered animals like whale sharks by analyzing photos people upload to the internet.</a:t>
            </a:r>
          </a:p>
          <a:p>
            <a:r>
              <a:rPr lang="en-US" dirty="0"/>
              <a:t>Many applications are in use already, but one we'll highlight here is the Nutrition Early Warning System (NEWS) that uses machine learning and big data to identify regions that are at increased risk of food shortages due to crop failure, rising food prices and drought.</a:t>
            </a:r>
          </a:p>
          <a:p>
            <a:r>
              <a:rPr lang="en-US" dirty="0">
                <a:hlinkClick r:id="rId6" tooltip="https://www.healtheuropa.eu/how-artificial-intelligence-can-revolutionise-healthcare/92824/"/>
              </a:rPr>
              <a:t> German-based Siemens </a:t>
            </a:r>
            <a:r>
              <a:rPr lang="en-US" dirty="0" err="1">
                <a:hlinkClick r:id="rId6" tooltip="https://www.healtheuropa.eu/how-artificial-intelligence-can-revolutionise-healthcare/92824/"/>
              </a:rPr>
              <a:t>Healthineers</a:t>
            </a:r>
            <a:r>
              <a:rPr lang="en-US" dirty="0"/>
              <a:t> is a leading medical technology company that integrates AI into many of its innovative technologies. One of these technologies is the AI-Rad Companion.4, a radiologist assistant that supports routine reading and measurement tasks on medical imaging. AI augments the review of medical imaging to help alleviate some of the workloads for over-taxed radiologists. Another innovation is the AI-Pathway Companion5. This tool integrates insights from pathology, imaging, lab and genetics for each patient to provide status and suggest the next steps based on the data.</a:t>
            </a:r>
          </a:p>
        </p:txBody>
      </p:sp>
    </p:spTree>
    <p:extLst>
      <p:ext uri="{BB962C8B-B14F-4D97-AF65-F5344CB8AC3E}">
        <p14:creationId xmlns:p14="http://schemas.microsoft.com/office/powerpoint/2010/main" val="2164382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Example of AI mistakes</a:t>
            </a:r>
          </a:p>
        </p:txBody>
      </p:sp>
      <p:sp>
        <p:nvSpPr>
          <p:cNvPr id="3" name="Content Placeholder 2"/>
          <p:cNvSpPr>
            <a:spLocks noGrp="1"/>
          </p:cNvSpPr>
          <p:nvPr>
            <p:ph idx="1"/>
          </p:nvPr>
        </p:nvSpPr>
        <p:spPr/>
        <p:txBody>
          <a:bodyPr>
            <a:normAutofit fontScale="47500" lnSpcReduction="20000"/>
          </a:bodyPr>
          <a:lstStyle/>
          <a:p>
            <a:r>
              <a:rPr lang="en-US" dirty="0"/>
              <a:t>Facebook’s AI systems were supercharging the spread of harmful anti-</a:t>
            </a:r>
            <a:r>
              <a:rPr lang="en-US" dirty="0" err="1"/>
              <a:t>Rohingya</a:t>
            </a:r>
            <a:r>
              <a:rPr lang="en-US" dirty="0"/>
              <a:t> content in Myanmar, leading to killing of </a:t>
            </a:r>
            <a:r>
              <a:rPr lang="en-US" dirty="0" err="1"/>
              <a:t>Rohingya</a:t>
            </a:r>
            <a:r>
              <a:rPr lang="en-US" dirty="0"/>
              <a:t> people in 2017.</a:t>
            </a:r>
          </a:p>
          <a:p>
            <a:r>
              <a:rPr lang="en-US" dirty="0"/>
              <a:t>In March 2024, </a:t>
            </a:r>
            <a:r>
              <a:rPr lang="en-US" i="1" u="sng" dirty="0">
                <a:hlinkClick r:id="rId2"/>
              </a:rPr>
              <a:t>The Markup</a:t>
            </a:r>
            <a:r>
              <a:rPr lang="en-US" dirty="0"/>
              <a:t> reported that Microsoft-powered </a:t>
            </a:r>
            <a:r>
              <a:rPr lang="en-US" dirty="0" err="1"/>
              <a:t>chatbot</a:t>
            </a:r>
            <a:r>
              <a:rPr lang="en-US" dirty="0"/>
              <a:t> </a:t>
            </a:r>
            <a:r>
              <a:rPr lang="en-US" dirty="0" err="1"/>
              <a:t>MyCity</a:t>
            </a:r>
            <a:r>
              <a:rPr lang="en-US" dirty="0"/>
              <a:t> was giving entrepreneurs incorrect information that would lead to them break the law. </a:t>
            </a:r>
            <a:r>
              <a:rPr lang="en-US" i="1" dirty="0"/>
              <a:t> </a:t>
            </a:r>
            <a:r>
              <a:rPr lang="en-US" dirty="0"/>
              <a:t>It falsely claimed that business owners could take a cut of their workers’ tips, fire workers who complain of sexual harassment, and serve food that had been nibbled by rodents. It also claimed landlords could discriminate based on source of income.</a:t>
            </a:r>
          </a:p>
          <a:p>
            <a:r>
              <a:rPr lang="en-US" dirty="0"/>
              <a:t>In February 2024, Air Canada was ordered to </a:t>
            </a:r>
            <a:r>
              <a:rPr lang="en-US" u="sng" dirty="0">
                <a:hlinkClick r:id="rId3"/>
              </a:rPr>
              <a:t>pay damages to a passenger</a:t>
            </a:r>
            <a:r>
              <a:rPr lang="en-US" dirty="0"/>
              <a:t> after its virtual assistant gave him incorrect information at a particularly difficult time.</a:t>
            </a:r>
          </a:p>
          <a:p>
            <a:r>
              <a:rPr lang="en-US" dirty="0"/>
              <a:t>In August 2023, tutoring company </a:t>
            </a:r>
            <a:r>
              <a:rPr lang="en-US" dirty="0" err="1"/>
              <a:t>iTutor</a:t>
            </a:r>
            <a:r>
              <a:rPr lang="en-US" dirty="0"/>
              <a:t> Group </a:t>
            </a:r>
            <a:r>
              <a:rPr lang="en-US" u="sng" dirty="0">
                <a:hlinkClick r:id="rId4"/>
              </a:rPr>
              <a:t>agreed to pay $365,000</a:t>
            </a:r>
            <a:r>
              <a:rPr lang="en-US" dirty="0"/>
              <a:t> to settle </a:t>
            </a:r>
            <a:r>
              <a:rPr lang="en-US" u="sng" dirty="0">
                <a:hlinkClick r:id="rId5"/>
              </a:rPr>
              <a:t>a suit</a:t>
            </a:r>
            <a:r>
              <a:rPr lang="en-US" dirty="0"/>
              <a:t> brought by the US Equal Employment Opportunity Commission (EEOC). The federal agency said the company, which provides remote tutoring services to students in China, used AI-powered recruiting software that automatically rejected female applicants ages 55 and older, and male applicants ages 60 and older.</a:t>
            </a:r>
          </a:p>
          <a:p>
            <a:r>
              <a:rPr lang="en-US" dirty="0"/>
              <a:t>AI Hallucinations: Attorney Steven Schwartz learned when he found himself in hot water with US District Judge Kevin Castel in 2023 after using </a:t>
            </a:r>
            <a:r>
              <a:rPr lang="en-US" dirty="0" err="1"/>
              <a:t>ChatGPT</a:t>
            </a:r>
            <a:r>
              <a:rPr lang="en-US" dirty="0"/>
              <a:t> to research precedents in a suit against Colombian airline </a:t>
            </a:r>
            <a:r>
              <a:rPr lang="en-US" dirty="0" err="1"/>
              <a:t>Avianca</a:t>
            </a:r>
            <a:r>
              <a:rPr lang="en-US" dirty="0"/>
              <a:t>.</a:t>
            </a:r>
          </a:p>
          <a:p>
            <a:r>
              <a:rPr lang="en-US" dirty="0"/>
              <a:t>MIT Technology Review has chronicled a number of failures, most of which stem from errors in the way the tools were trained or tested. The use of mislabeled data, or data from unknown sources, was a common culprit.</a:t>
            </a:r>
          </a:p>
          <a:p>
            <a:r>
              <a:rPr lang="en-US" dirty="0"/>
              <a:t>ML researcher explored the use of deep learning models for diagnosing the virus. For example, </a:t>
            </a:r>
            <a:r>
              <a:rPr lang="en-US" dirty="0" err="1"/>
              <a:t>Driggs</a:t>
            </a:r>
            <a:r>
              <a:rPr lang="en-US" dirty="0"/>
              <a:t>’ group found that their own model was flawed because it was trained on a data set that included scans of patients that were lying down while scanned, and patients that were standing up. The patients who were lying down were much more likely to be seriously ill, so the algorithm learned to identify COVID risk based on the position of the person in the scan. A similar example includes an algorithm trained with a data set with scans of chests of healthy children. The algorithm learned to identify children, not high-risk patients.</a:t>
            </a:r>
          </a:p>
          <a:p>
            <a:r>
              <a:rPr lang="en-US" dirty="0" err="1"/>
              <a:t>Zillows</a:t>
            </a:r>
            <a:r>
              <a:rPr lang="en-US" dirty="0"/>
              <a:t> AI algorithm led it to unintentionally purchase homes at higher prices than its current estimates of future selling prices, resulting in a $304 million inventory write-down in Q3 2021.</a:t>
            </a:r>
          </a:p>
          <a:p>
            <a:r>
              <a:rPr lang="en-US" dirty="0"/>
              <a:t>Amazon AI-enabled recruitment tool only recommended men</a:t>
            </a:r>
          </a:p>
          <a:p>
            <a:endParaRPr lang="en-US" dirty="0"/>
          </a:p>
          <a:p>
            <a:endParaRPr lang="en-US" dirty="0"/>
          </a:p>
        </p:txBody>
      </p:sp>
    </p:spTree>
    <p:extLst>
      <p:ext uri="{BB962C8B-B14F-4D97-AF65-F5344CB8AC3E}">
        <p14:creationId xmlns:p14="http://schemas.microsoft.com/office/powerpoint/2010/main" val="688887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TotalTime>
  <Words>2513</Words>
  <Application>Microsoft Office PowerPoint</Application>
  <PresentationFormat>Widescreen</PresentationFormat>
  <Paragraphs>127</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Google Sans</vt:lpstr>
      <vt:lpstr>Office Theme</vt:lpstr>
      <vt:lpstr>AI Use cases - Mistakes</vt:lpstr>
      <vt:lpstr>Cool sites to learn principles of AI/ML</vt:lpstr>
      <vt:lpstr>Domains where AI is used</vt:lpstr>
      <vt:lpstr>1. Medical</vt:lpstr>
      <vt:lpstr>2. Education</vt:lpstr>
      <vt:lpstr>3. Insurance and Banking </vt:lpstr>
      <vt:lpstr>4. Finance &amp; Marketing</vt:lpstr>
      <vt:lpstr>5. Quality Control</vt:lpstr>
      <vt:lpstr>6. Regulatory Compliance</vt:lpstr>
      <vt:lpstr>7. Automotive &amp; Manufacturing</vt:lpstr>
      <vt:lpstr>Object Recognition</vt:lpstr>
      <vt:lpstr>8. Others</vt:lpstr>
      <vt:lpstr>8. Others(Mechanical Engg)</vt:lpstr>
      <vt:lpstr>8. Others(Mechanical Engg)</vt:lpstr>
      <vt:lpstr>8. Others(Mechanical Engg)</vt:lpstr>
      <vt:lpstr>8. Others(Mechanical Engg)</vt:lpstr>
      <vt:lpstr>8. Others(Mechanical Engg)</vt:lpstr>
      <vt:lpstr>8. Others(Civil Engg)</vt:lpstr>
      <vt:lpstr>8. Others(Civil Engg)</vt:lpstr>
      <vt:lpstr>Misc: Application (Example)</vt:lpstr>
      <vt:lpstr>Example of AI mistakes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Use cases</dc:title>
  <dc:creator>Windows User</dc:creator>
  <cp:lastModifiedBy>ash322.ash422@gmail.com</cp:lastModifiedBy>
  <cp:revision>73</cp:revision>
  <dcterms:created xsi:type="dcterms:W3CDTF">2025-01-14T14:02:38Z</dcterms:created>
  <dcterms:modified xsi:type="dcterms:W3CDTF">2025-05-15T07:58:37Z</dcterms:modified>
</cp:coreProperties>
</file>